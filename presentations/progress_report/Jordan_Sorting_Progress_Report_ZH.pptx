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4f3d25b18614f91" /><Relationship Type="http://schemas.openxmlformats.org/officeDocument/2006/relationships/extended-properties" Target="/docProps/app.xml" Id="R14ac838950ab40c8" /><Relationship Type="http://schemas.openxmlformats.org/officeDocument/2006/relationships/officeDocument" Target="/ppt/presentation.xml" Id="R1b57368f77ec4c1d" /></Relationships>
</file>

<file path=ppt/presentation.xml><?xml version="1.0" encoding="utf-8"?>
<p:presentation xmlns:p="http://schemas.openxmlformats.org/presentationml/2006/main">
  <p:sldMasterIdLst>
    <p:sldMasterId xmlns:r="http://schemas.openxmlformats.org/officeDocument/2006/relationships" id="2147483648" r:id="Rf7ba4c76cfb748e9"/>
  </p:sldMasterIdLst>
  <p:notesMasterIdLst>
    <p:notesMasterId xmlns:r="http://schemas.openxmlformats.org/officeDocument/2006/relationships" r:id="R9bd8e017059d460a"/>
  </p:notesMasterIdLst>
  <p:sldIdLst>
    <p:sldId xmlns:r="http://schemas.openxmlformats.org/officeDocument/2006/relationships" id="256" r:id="Rf89fca5c6d434d79"/>
    <p:sldId xmlns:r="http://schemas.openxmlformats.org/officeDocument/2006/relationships" id="257" r:id="R9b625e1d0fbe41c4"/>
    <p:sldId xmlns:r="http://schemas.openxmlformats.org/officeDocument/2006/relationships" id="258" r:id="Re55de8729af048a7"/>
    <p:sldId xmlns:r="http://schemas.openxmlformats.org/officeDocument/2006/relationships" id="259" r:id="Rc8bb640cc06642f4"/>
    <p:sldId xmlns:r="http://schemas.openxmlformats.org/officeDocument/2006/relationships" id="260" r:id="R57f1a3194c924c90"/>
    <p:sldId xmlns:r="http://schemas.openxmlformats.org/officeDocument/2006/relationships" id="261" r:id="Rbcb416c712d4489a"/>
    <p:sldId xmlns:r="http://schemas.openxmlformats.org/officeDocument/2006/relationships" id="262" r:id="Rb2c0dda682444f70"/>
    <p:sldId xmlns:r="http://schemas.openxmlformats.org/officeDocument/2006/relationships" id="263" r:id="R0b6f8ff3005346b0"/>
    <p:sldId xmlns:r="http://schemas.openxmlformats.org/officeDocument/2006/relationships" id="264" r:id="Rfc7d467870484ea8"/>
    <p:sldId xmlns:r="http://schemas.openxmlformats.org/officeDocument/2006/relationships" id="265" r:id="Rdd7e98080dd04082"/>
    <p:sldId xmlns:r="http://schemas.openxmlformats.org/officeDocument/2006/relationships" id="266" r:id="R1d59fefc5e014fca"/>
    <p:sldId xmlns:r="http://schemas.openxmlformats.org/officeDocument/2006/relationships" id="267" r:id="Rca3f955f4a234a10"/>
    <p:sldId xmlns:r="http://schemas.openxmlformats.org/officeDocument/2006/relationships" id="268" r:id="R12f240c7384c44e7"/>
    <p:sldId xmlns:r="http://schemas.openxmlformats.org/officeDocument/2006/relationships" id="269" r:id="Rd126f4d7a50a4e0b"/>
    <p:sldId xmlns:r="http://schemas.openxmlformats.org/officeDocument/2006/relationships" id="270" r:id="R17311a171f114d5b"/>
    <p:sldId xmlns:r="http://schemas.openxmlformats.org/officeDocument/2006/relationships" id="271" r:id="R14d9cee1ec674407"/>
    <p:sldId xmlns:r="http://schemas.openxmlformats.org/officeDocument/2006/relationships" id="272" r:id="R81ae2435738f4063"/>
    <p:sldId xmlns:r="http://schemas.openxmlformats.org/officeDocument/2006/relationships" id="273" r:id="R9b1a734dafdd4906"/>
    <p:sldId xmlns:r="http://schemas.openxmlformats.org/officeDocument/2006/relationships" id="274" r:id="R6ecb50270ec54bb3"/>
    <p:sldId xmlns:r="http://schemas.openxmlformats.org/officeDocument/2006/relationships" id="275" r:id="Ra9177718a8024461"/>
    <p:sldId xmlns:r="http://schemas.openxmlformats.org/officeDocument/2006/relationships" id="276" r:id="R534f22b3f0ad44f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9488e4b7834915" /><Relationship Type="http://schemas.openxmlformats.org/officeDocument/2006/relationships/slideMaster" Target="/ppt/slideMasters/slideMaster1.xml" Id="Rf7ba4c76cfb748e9" /><Relationship Type="http://schemas.openxmlformats.org/officeDocument/2006/relationships/notesMaster" Target="/ppt/notesMasters/notesMaster1.xml" Id="R9bd8e017059d460a" /><Relationship Type="http://schemas.openxmlformats.org/officeDocument/2006/relationships/presProps" Target="/ppt/presProps.xml" Id="R27175e0e01724411" /><Relationship Type="http://schemas.openxmlformats.org/officeDocument/2006/relationships/tableStyles" Target="/ppt/tableStyles.xml" Id="Rc241c382756d4453" /><Relationship Type="http://schemas.openxmlformats.org/officeDocument/2006/relationships/slide" Target="/ppt/slides/slide1.xml" Id="Rf89fca5c6d434d79" /><Relationship Type="http://schemas.openxmlformats.org/officeDocument/2006/relationships/slide" Target="/ppt/slides/slide2.xml" Id="R9b625e1d0fbe41c4" /><Relationship Type="http://schemas.openxmlformats.org/officeDocument/2006/relationships/slide" Target="/ppt/slides/slide3.xml" Id="Re55de8729af048a7" /><Relationship Type="http://schemas.openxmlformats.org/officeDocument/2006/relationships/slide" Target="/ppt/slides/slide4.xml" Id="Rc8bb640cc06642f4" /><Relationship Type="http://schemas.openxmlformats.org/officeDocument/2006/relationships/slide" Target="/ppt/slides/slide5.xml" Id="R57f1a3194c924c90" /><Relationship Type="http://schemas.openxmlformats.org/officeDocument/2006/relationships/slide" Target="/ppt/slides/slide6.xml" Id="Rbcb416c712d4489a" /><Relationship Type="http://schemas.openxmlformats.org/officeDocument/2006/relationships/slide" Target="/ppt/slides/slide7.xml" Id="Rb2c0dda682444f70" /><Relationship Type="http://schemas.openxmlformats.org/officeDocument/2006/relationships/slide" Target="/ppt/slides/slide8.xml" Id="R0b6f8ff3005346b0" /><Relationship Type="http://schemas.openxmlformats.org/officeDocument/2006/relationships/slide" Target="/ppt/slides/slide9.xml" Id="Rfc7d467870484ea8" /><Relationship Type="http://schemas.openxmlformats.org/officeDocument/2006/relationships/slide" Target="/ppt/slides/slide10.xml" Id="Rdd7e98080dd04082" /><Relationship Type="http://schemas.openxmlformats.org/officeDocument/2006/relationships/slide" Target="/ppt/slides/slide11.xml" Id="R1d59fefc5e014fca" /><Relationship Type="http://schemas.openxmlformats.org/officeDocument/2006/relationships/slide" Target="/ppt/slides/slide12.xml" Id="Rca3f955f4a234a10" /><Relationship Type="http://schemas.openxmlformats.org/officeDocument/2006/relationships/slide" Target="/ppt/slides/slide13.xml" Id="R12f240c7384c44e7" /><Relationship Type="http://schemas.openxmlformats.org/officeDocument/2006/relationships/slide" Target="/ppt/slides/slide14.xml" Id="Rd126f4d7a50a4e0b" /><Relationship Type="http://schemas.openxmlformats.org/officeDocument/2006/relationships/slide" Target="/ppt/slides/slide15.xml" Id="R17311a171f114d5b" /><Relationship Type="http://schemas.openxmlformats.org/officeDocument/2006/relationships/slide" Target="/ppt/slides/slide16.xml" Id="R14d9cee1ec674407" /><Relationship Type="http://schemas.openxmlformats.org/officeDocument/2006/relationships/slide" Target="/ppt/slides/slide17.xml" Id="R81ae2435738f4063" /><Relationship Type="http://schemas.openxmlformats.org/officeDocument/2006/relationships/slide" Target="/ppt/slides/slide18.xml" Id="R9b1a734dafdd4906" /><Relationship Type="http://schemas.openxmlformats.org/officeDocument/2006/relationships/slide" Target="/ppt/slides/slide19.xml" Id="R6ecb50270ec54bb3" /><Relationship Type="http://schemas.openxmlformats.org/officeDocument/2006/relationships/slide" Target="/ppt/slides/slide20.xml" Id="Ra9177718a8024461" /><Relationship Type="http://schemas.openxmlformats.org/officeDocument/2006/relationships/slide" Target="/ppt/slides/slide21.xml" Id="R534f22b3f0ad44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cde8907caf41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ee0362a68e4d83" /><Relationship Type="http://schemas.openxmlformats.org/officeDocument/2006/relationships/notesMaster" Target="/ppt/notesMasters/notesMaster1.xml" Id="Rca876a15b8c741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c3fa14e122471b" /><Relationship Type="http://schemas.openxmlformats.org/officeDocument/2006/relationships/notesMaster" Target="/ppt/notesMasters/notesMaster1.xml" Id="R9b768cf038c44a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1db0fbb3d24688" /><Relationship Type="http://schemas.openxmlformats.org/officeDocument/2006/relationships/notesMaster" Target="/ppt/notesMasters/notesMaster1.xml" Id="R181dd6d0c5e547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f0dcd46a3d4d41" /><Relationship Type="http://schemas.openxmlformats.org/officeDocument/2006/relationships/notesMaster" Target="/ppt/notesMasters/notesMaster1.xml" Id="R1e129c5a5da14e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d6c0a860cb4e18" /><Relationship Type="http://schemas.openxmlformats.org/officeDocument/2006/relationships/notesMaster" Target="/ppt/notesMasters/notesMaster1.xml" Id="R8b684c05c1564d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4b2199e60241d2" /><Relationship Type="http://schemas.openxmlformats.org/officeDocument/2006/relationships/notesMaster" Target="/ppt/notesMasters/notesMaster1.xml" Id="Rfe57120d5a5e46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60d0ea80e5452f" /><Relationship Type="http://schemas.openxmlformats.org/officeDocument/2006/relationships/notesMaster" Target="/ppt/notesMasters/notesMaster1.xml" Id="R10480281525b44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1133d65d414d61" /><Relationship Type="http://schemas.openxmlformats.org/officeDocument/2006/relationships/notesMaster" Target="/ppt/notesMasters/notesMaster1.xml" Id="Rce8c3332c6824a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d12ce2a0ff4d16" /><Relationship Type="http://schemas.openxmlformats.org/officeDocument/2006/relationships/notesMaster" Target="/ppt/notesMasters/notesMaster1.xml" Id="Rd30c8370e71d4a8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9b36d637a14aa4" /><Relationship Type="http://schemas.openxmlformats.org/officeDocument/2006/relationships/notesMaster" Target="/ppt/notesMasters/notesMaster1.xml" Id="R147741d7b63c49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246d3c7cd84e44" /><Relationship Type="http://schemas.openxmlformats.org/officeDocument/2006/relationships/notesMaster" Target="/ppt/notesMasters/notesMaster1.xml" Id="R3c30f569633144d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b88ff01b914c50" /><Relationship Type="http://schemas.openxmlformats.org/officeDocument/2006/relationships/notesMaster" Target="/ppt/notesMasters/notesMaster1.xml" Id="R83ef5ee5d87d4cb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95c38008a54c2b" /><Relationship Type="http://schemas.openxmlformats.org/officeDocument/2006/relationships/notesMaster" Target="/ppt/notesMasters/notesMaster1.xml" Id="R4c22ca66dad843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bd0a66d2e0446d" /><Relationship Type="http://schemas.openxmlformats.org/officeDocument/2006/relationships/notesMaster" Target="/ppt/notesMasters/notesMaster1.xml" Id="R0c6700a55f644a9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3fee052d6e495e" /><Relationship Type="http://schemas.openxmlformats.org/officeDocument/2006/relationships/notesMaster" Target="/ppt/notesMasters/notesMaster1.xml" Id="R3742d529a91b4cc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0ad027daac429d" /><Relationship Type="http://schemas.openxmlformats.org/officeDocument/2006/relationships/notesMaster" Target="/ppt/notesMasters/notesMaster1.xml" Id="Re3cd8e2301374fd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e74c49a1c1f4e24" /><Relationship Type="http://schemas.openxmlformats.org/officeDocument/2006/relationships/notesMaster" Target="/ppt/notesMasters/notesMaster1.xml" Id="R8e2d73c9069043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3d81c4064e9452a" /><Relationship Type="http://schemas.openxmlformats.org/officeDocument/2006/relationships/notesMaster" Target="/ppt/notesMasters/notesMaster1.xml" Id="Rc8bf1af438c04c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c70aa2b34614300" /><Relationship Type="http://schemas.openxmlformats.org/officeDocument/2006/relationships/notesMaster" Target="/ppt/notesMasters/notesMaster1.xml" Id="R078f94c998b14f8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982d64086b74516" /><Relationship Type="http://schemas.openxmlformats.org/officeDocument/2006/relationships/notesMaster" Target="/ppt/notesMasters/notesMaster1.xml" Id="Rafdcaee94156476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a0bacfa9724de6" /><Relationship Type="http://schemas.openxmlformats.org/officeDocument/2006/relationships/notesMaster" Target="/ppt/notesMasters/notesMaster1.xml" Id="R01c87e1639d347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大家好。这次汇报介绍我的硕士论文进展，主题是 Simplified Jordan Sorting 的可执行重构。上次我主要讨论静态结构，包括 rank interval、upper 和 lower family、family tree，以及 oracle 支持的 reference implementation。此后的核心问题是，论文描述的动态过程能否在普通 Python list 上成为真正可执行、可检查，并能从自身状态恢复输出的实现。今天我会介绍重构中的关键决定、验证方法，以及正式实验中在明确计时范围下观察到的运行时间趋势。汇报将重点解释两处需要将论文描述明确为可执行规则的地方。</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上一次实现已经把静态结构说明得比较清楚。它用 rank interval 表示输入，区分 upper 和 lower pair family，重构 laminar family tree，并计算结构指标。Oracle 用来确认输入和提供 reference output。但它还没有执行动态 Jordan-sorting procedure：没有持续维护 processed prefix，没有完成 sibling-list 的 split 和 ownership transfer，也没有从算法自己的状态恢复最终输出。这些操作中任何一次更新出错，都可能同时破坏 partial order 和 family structure。因此，主要缺口是把结构描述转化为安全而明确的动态更新。</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上次汇报之后，我集中完成了四项工作。第一，缩小范围，聚焦外部 oracle 已认证的有效输入排序。第二，实现 Step 1、Step 2 和 Step 3 的控制流。第三，加入 ownership 不变量、事务式更新、重放和有界验证。第四，在实现和验证边界稳定后，执行固定协议的正式实验。当前成果是可执行的普通列表实现，历史线性时间分析所使用的专用后端仍属于未来工作。</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随着实现逐渐明确，论文范围也有意收窄。当前研究的是 1990 年 sorting procedure 在 oracle 已认证有效的输入上如何运行。实验比较 Python sort、完整的 oracle-backed reference pipeline 和重构后的 paper core。Recognition 保持独立，不能从这次实验推断任意输入的识别能力。Paper core 也仍使用普通 Python list，而不是历史理论分析所需的专用后端。这个范围让论文可以集中回答一个具体问题：动态过程能否正确执行，并从自身维护状态恢复输出。Finger-tree 后端只是可能的扩展。</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论文有三个研究问题。RQ1 问普通列表重构能否在认证后的有效输入上，从维护状态恢复正确排序。RQ2 问 paper call 相对于 Python sort 和完整 reference pipeline，在各自计时范围下呈现什么行为。RQ3 只探索输入结构、checked operation counter 与运行时间之间的描述性关系。RQ1 是主要技术问题，RQ2 报告测量结果，RQ3 不作因果解释。</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Oracle、reference pipeline 和 paper core 的角色必须明确区分。Paper call 之前，oracle 只确认有效输入条件；调用之后，runner 才用 oracle 的排序结果作正确性比较。Reference pipeline 则有意消费完整 oracle result，包括 sorted output。Paper core 只接收原始 sequence 和已经成立的有效输入前提。它执行 Step 1、2、3，维护 partial order 与 sibling-list 状态，并从这些状态恢复输出。图中的虚线比较框位于 core 外部。两条路径面对同一个 expected answer，但输出来源不同。这样就能在不把答案作为输入的情况下检查 paper core。Oracle 排序结果不会进入 paper core，也不会决定它的返回值。</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可执行重构采用统一的控制流。先排序 z1、z2、z3，并初始化 partial order 与首批 upper、lower pair；随后每个新点都依次经过 Step 1、Step 2 和 Step 3。Step 1 计算 predecessor-side boundary A_i，Step 2 计算 successor-side boundary B_i。Step 3(a) 插入新 pair，Step 3(b) 在需要时拆分 sibling list 并转移 ownership，Step 3(c) 把新点插入维护的顺序。Increasing 与 decreasing 方向共享这些阶段，局部角色则互为镜像。在 increasing iteration 中，Step 3(a) 使用 A_i，Step 3(b) 使用 B_i；decreasing iteration 交换这两个边界的用途。1990 年论文直接描述 increasing case，decreasing case 由对称性重构。几何端点和奇数索引 z1 输出锚点则是为了得到无歧义执行行为而明确补充的局部规则。</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第一个关键问题是 Step 3(c) 应使用哪个端点。考虑有效前缀 3、2、1、4。Acquired pair P2 按 curve order 存为 3、2。如果机械地取第二个存储元素 2 作为锚点，插入 4 后得到 1、2、4、3，在 axis order 上是错误的。原因是 curve order 和 axis order 描述不同关系。Pair 的存储顺序来自曲线遍历，但 Step 3(c) 需要 x 轴上的几何极值。在这里正确端点是 3，把 4 插在 3 后得到 1、2、3、4。这是表示方式的问题，并不只是这四个数字的特例：pair 的存储顺序沿曲线排列，所以第二个元素未必位于当前 axis order 所需的一侧。于是可执行规则选择几何极值，而不是固定选择第二个存储元素。Increasing 使用右端几何极值，decreasing 使用左端几何极值。我把它称为可执行化澄清，因为 1990 年论文没有以这种形式明确给出规则。缺少这一澄清时，有效输入的例子也会失败。</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第二个问题是奇数索引的 z1 特例。例子中的有效前缀为 1、2、3、4、6、7、0。当前是 decreasing iteration，普通几何锚点为 z2，也就是值 2。若直接把 0 插到 z2 前，会得到 1、0、2、3、4、6、7，z1 仍在新点错误的一侧。因为 0 小于 z1，且 z1 小于原锚点，所以输出锚点必须从 z2 改为 z1。这样插入后得到正确顺序 0、1、2、3、4、6、7。这个修正只影响输出插入，不替代 predecessor 或 successor boundary 的计算。二者分别决定 family update 的 pair 与 partial order 更新的点，代码也将它们分开记录，便于检查诊断 trace。</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正确插入还要求 ownership 一致。每个有限 pair 必须只有一个 parent 和一个 sibling-list owner。拆分前，原 owner 控制 retained 与 acquired 两部分；拆分后，原 owner 保留 retained segment，新 owner 接收 acquired segment。实现可能为两个非空侧都创建新的 sibling list，所以两侧的 list ID 都可能改变。但只有 acquired segment 改变 parent ownership。代码把 split 与 transfer 当作一个 transaction：保存受影响状态，执行更新，检查 split boundary、ownership 与局部后置条件；失败时恢复 registry、ownership link 与 list ID。维护状态还包括已处理前缀的排序结果，以及 upper 和 lower 两类 pair family。普通列表使扫描、复制、切片和 ownership rebinding 都成为明确成本。这些检查保护正确性，但不提供历史线性时间分析所需的更新界。</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实现层面使用四类主要检查。Focused regression case 覆盖已知边界；有界穷举验证覆盖 n 不超过 8 的全部 2,074 个 oracle-valid permutation；checked-state audit 检查 parent、ownership、sibling list 与恢复输出；确定性重放再次运行同一 core 并比较状态。重放检查一致性，不是第二套独立算法。另有一条实验验证路径确认保存结果与固定实验设置及重算汇总一致，详细合同放在 Backup C。这里的重点仍是算法状态。这些检查支持已评估用例，但不是对所有 Jordan sequence 的数学证明。</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正式实验覆盖 5 个规模，每个规模 12 个 exact case，并比较 3 个算法。每个 case-algorithm cell 先做 5 次 warm-up，再做 20 次 measured call，因此得到 3,600 条记录。这 20 次是同一个 exact case 的重复调用，不是 20 个独立输入；每次调用会获得包含相同值的 fresh list。调度会轮转算法位置，避免某个算法总是先运行。对 paper algorithm，oracle certification 与 checked-state audit 在计时前完成，minimal paper call 位于计时内，其中包括从维护顺序恢复输出。返回值比较发生在计时后。Python 计时覆盖排序调用，reference 计时覆盖完整的 oracle-backed reference pipeline。Paper 与 reference 的计时范围不同，因此 paper/reference 比值不能解释为端到端加速。</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全部 60 个评估用例均通过认证，并且每个用例各通过一次 case-level checked-state audit。每次 measured call 都返回 expected output，正式运行没有记录正确性错误。实验是每个 exact case 做一次 audit；3,600 条 timing row 携带对应的 case-level audit 结果，并不表示执行了 3,600 次独立 audit。这些结果只支持本次测试的有效用例，不评估任意输入 recognition，也不是对全部 Jordan sequence 的证明。</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主要运行时间模式是 paper/reference 比值随五个测试规模下降。比值先在每个 exact case 内计算，再让每个 case 在规模中位数中具有相同权重。它从 n 等于 32 时的 3.226，降到 64 时的 2.202、128 时的 1.351，并在 256 时低于 1，达到 0.851；在 512 时为 0.567。在 n = 128 时，比值大于 1；在 n = 256 时，比值小于 1。在上述计时范围下，两个较大规模中记录的 paper 调用时间均小于 reference pipeline 调用时间。由于两者计时范围不同，这一趋势不能证明一般性的加速，五个测试规模也不能确定渐近行为。备用 A 中的 Python sort 在每个测试规模上都有最低的调用时间中位数。</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当前证据支持两类主要结论：普通列表重构可以执行，并从自身维护状态恢复输出；在测试的有效用例和固定计时范围下，记录到了正确输出与明确的运行时间趋势。主要限制也同样明确：普通 Python list 不构成线性时间实现，五个规模不能确定渐近复杂度。此外，本实验没有评估 recognition，paper 与 reference 也采用不同计时范围。因此这些数值只是当前实现和实验条件下的运行时间观测，不能作为一般性的算法复杂度界。</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一个可能的下一步是在保持 Step 1、Step 2 和 Step 3 语义不变的前提下研究 finger-tree 后端。普通列表实现提供了经过测试的参照点，详细的接口与 ownership-transfer 难点放在 Backup E。我希望向导师确认两个问题：第一，应专门实现历史 heterogeneous finger tree，还是实现支持所需列表操作的等价后端？第二，一个经过测试、语义等价的原型是否足够，还是还应证明所需的摊还操作界（amortized operation bounds）？这个选择决定扩展主要是实验性工作，还是还需要证明层面的内容。</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如果需要查看绝对时间，这一页列出三个算法在五个规模上的 median call time。数值来自一次 Apple M4、CPython 3.12.4 的执行，不能推广到其他环境。对数坐标只是为了让 Python sort 与另外两条 pipeline 同时可见。</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这页直接回答输出来源问题。Reference pipeline 返回 oracle_result 中的 sorted output；paper core 返回 state.partial_order.to_list。认证发生在 paper call 之前，比较发生在调用之后，因此二者都不会向 paper core 提供返回值。</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这页汇总有界验证证据，包括仓库测试、n 不超过 8 的有效排列穷举、固定生成用例、正式 case-level checked-state audit，以及通过 evidence-contract validation 的实验输出。这些检查互相补充，但都不是普遍性证明。</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这张表汇总镜像后的局部选择。Step 1 始终计算 predecessor-side boundary A_i，Step 2 始终计算 successor-side boundary B_i。镜像发生在 Step 3 如何使用这些 boundary。在 increasing iteration 中，获得左侧拆分片段，并使用最右 child 与右侧几何端点；decreasing iteration 则镜像为右侧拆分片段、最左 child 与左侧几何端点。</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拟议结构把 Step 1、Step 2 和 Step 3 放在一个小型 sibling-list 接口之上。普通列表后端仍是当前已验证的基线。拟议的 finger-tree 后端将独立实现相同的语义操作：创建 singleton list、在左或右边界插入、按新点值拆分、访问 first/last child，以及保持 ownership 和 stable handle。具体目标是历史 heterogeneous finger tree，还是具有等价操作界的后端，仍需与导师确认。主要风险是，高效 tree split 本身不够；若 ownership transfer 仍扫描 acquired segment 并逐项重新绑定，后端就可能无法满足历史分析所需的操作界。第一步应先保证语义等价与 differential correctness，任何复杂度主张都需要独立的证明论证。</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05f7a00ae24e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588b8ed64746e6" /><Relationship Type="http://schemas.openxmlformats.org/officeDocument/2006/relationships/slideLayout" Target="/ppt/slideLayouts/slideLayout1.xml" Id="R856ae76245d64f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6ae76245d64f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051d1f513a4dc0" /><Relationship Type="http://schemas.openxmlformats.org/officeDocument/2006/relationships/image" Target="/ppt/media/image.png" Id="R6296062fc1934160" /><Relationship Type="http://schemas.openxmlformats.org/officeDocument/2006/relationships/notesSlide" Target="/ppt/notesSlides/notesSlide1.xml" Id="R796a39c899c042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da6737c5bb41d5" /><Relationship Type="http://schemas.openxmlformats.org/officeDocument/2006/relationships/notesSlide" Target="/ppt/notesSlides/notesSlide2.xml" Id="Rbb743b6213c04b1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58d47d069144fc0" /><Relationship Type="http://schemas.openxmlformats.org/officeDocument/2006/relationships/notesSlide" Target="/ppt/notesSlides/notesSlide3.xml" Id="Rb57dea673dd04b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f8e84654ef4d04" /><Relationship Type="http://schemas.openxmlformats.org/officeDocument/2006/relationships/notesSlide" Target="/ppt/notesSlides/notesSlide4.xml" Id="R07d2c80fd8f243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41785a593c442a" /><Relationship Type="http://schemas.openxmlformats.org/officeDocument/2006/relationships/notesSlide" Target="/ppt/notesSlides/notesSlide5.xml" Id="R091e682293974a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00ab28be51446cd" /><Relationship Type="http://schemas.openxmlformats.org/officeDocument/2006/relationships/notesSlide" Target="/ppt/notesSlides/notesSlide6.xml" Id="Rb841d027dc4d44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362787959d4a1e" /><Relationship Type="http://schemas.openxmlformats.org/officeDocument/2006/relationships/notesSlide" Target="/ppt/notesSlides/notesSlide7.xml" Id="Rd140c74a62d64d7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ef2f9385ef4e4c" /><Relationship Type="http://schemas.openxmlformats.org/officeDocument/2006/relationships/notesSlide" Target="/ppt/notesSlides/notesSlide8.xml" Id="R25aca69a53ae4c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9f221252bd47c4" /><Relationship Type="http://schemas.openxmlformats.org/officeDocument/2006/relationships/notesSlide" Target="/ppt/notesSlides/notesSlide9.xml" Id="R5941bb5638094b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455aa72029f4bbd" /><Relationship Type="http://schemas.openxmlformats.org/officeDocument/2006/relationships/notesSlide" Target="/ppt/notesSlides/notesSlide10.xml" Id="Rc140d7426917441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42303bc9a764d22" /><Relationship Type="http://schemas.openxmlformats.org/officeDocument/2006/relationships/notesSlide" Target="/ppt/notesSlides/notesSlide11.xml" Id="R0804e299ab5d4a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23d86c549104715" /><Relationship Type="http://schemas.openxmlformats.org/officeDocument/2006/relationships/notesSlide" Target="/ppt/notesSlides/notesSlide12.xml" Id="R7cdbfcf7ec134a8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2d4453297b44123" /><Relationship Type="http://schemas.openxmlformats.org/officeDocument/2006/relationships/notesSlide" Target="/ppt/notesSlides/notesSlide13.xml" Id="R44e2f01096cb4d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ab976d8552e4736" /><Relationship Type="http://schemas.openxmlformats.org/officeDocument/2006/relationships/chart" Target="/ppt/slides/charts/chart1.xml" Id="R2bda0ec29d9d4bfa" /><Relationship Type="http://schemas.openxmlformats.org/officeDocument/2006/relationships/notesSlide" Target="/ppt/notesSlides/notesSlide14.xml" Id="Rb5b1ba42ef2941e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44ed2e7f68c4566" /><Relationship Type="http://schemas.openxmlformats.org/officeDocument/2006/relationships/notesSlide" Target="/ppt/notesSlides/notesSlide15.xml" Id="R3d3662be7a3e436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63414c811474cbc" /><Relationship Type="http://schemas.openxmlformats.org/officeDocument/2006/relationships/notesSlide" Target="/ppt/notesSlides/notesSlide16.xml" Id="R4c97275dcd4f47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cef1d2c56e74007" /><Relationship Type="http://schemas.openxmlformats.org/officeDocument/2006/relationships/image" Target="/ppt/media/image2.png" Id="R0767e81d63dc4a72" /><Relationship Type="http://schemas.openxmlformats.org/officeDocument/2006/relationships/notesSlide" Target="/ppt/notesSlides/notesSlide17.xml" Id="R847c99ee9be742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f1b7831701d41c1" /><Relationship Type="http://schemas.openxmlformats.org/officeDocument/2006/relationships/notesSlide" Target="/ppt/notesSlides/notesSlide18.xml" Id="R928311c5fcc240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d1a12c74ed04319" /><Relationship Type="http://schemas.openxmlformats.org/officeDocument/2006/relationships/notesSlide" Target="/ppt/notesSlides/notesSlide19.xml" Id="Re4ab13e2a9fe4d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299881b3a604d30" /><Relationship Type="http://schemas.openxmlformats.org/officeDocument/2006/relationships/notesSlide" Target="/ppt/notesSlides/notesSlide20.xml" Id="R329172a6842c4ad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22b85ee00f44c09" /><Relationship Type="http://schemas.openxmlformats.org/officeDocument/2006/relationships/notesSlide" Target="/ppt/notesSlides/notesSlide21.xml" Id="R890aad595c3c4b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比值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900">
                    <a:solidFill>
                      <a:srgbClr val="475569"/>
                    </a:solidFill>
                  </a:rPr>
                  <a:t>输入规模 n</a:t>
                </a:r>
              </a:p>
            </c:rich>
          </c:tx>
          <c:overlay val="0"/>
          <c:txPr>
            <a:bodyPr xmlns:a="http://schemas.openxmlformats.org/drawingml/2006/main" anchorCtr="1"/>
            <a:lstStyle xmlns:a="http://schemas.openxmlformats.org/drawingml/2006/main"/>
            <a:p xmlns:a="http://schemas.openxmlformats.org/drawingml/2006/main">
              <a:pPr>
                <a:defRPr sz="900">
                  <a:solidFill>
                    <a:srgbClr val="475569"/>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900">
                    <a:solidFill>
                      <a:srgbClr val="475569"/>
                    </a:solidFill>
                  </a:rPr>
                  <a:t>exact-case 中位比值</a:t>
                </a:r>
              </a:p>
            </c:rich>
          </c:tx>
          <c:overlay val="0"/>
          <c:txPr>
            <a:bodyPr xmlns:a="http://schemas.openxmlformats.org/drawingml/2006/main" anchorCtr="1"/>
            <a:lstStyle xmlns:a="http://schemas.openxmlformats.org/drawingml/2006/main"/>
            <a:p xmlns:a="http://schemas.openxmlformats.org/drawingml/2006/main">
              <a:pPr>
                <a:defRPr sz="900">
                  <a:solidFill>
                    <a:srgbClr val="475569"/>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DC5DA2-3E39-468E-B4AF-FB7CD9A873C3}"/>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296062fc1934160"/>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323668F-9159-471B-83F8-74C9EF3198D8}"/>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硕士论文进度汇报</a:t>
            </a:r>
          </a:p>
        </p:txBody>
      </p:sp>
      <p:sp>
        <p:nvSpPr>
          <p:cNvPr id="4" name="">
            <a:extLst xmlns:a="http://schemas.openxmlformats.org/drawingml/2006/main">
              <a:ext uri="{FF2B5EF4-FFF2-40B4-BE49-F238E27FC236}">
                <a16:creationId xmlns:a16="http://schemas.microsoft.com/office/drawing/2014/main" id="{2D4B6215-5D29-4D70-B820-A001698CD033}"/>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Simplified Jordan Sorting 的可执行重构进展</a:t>
            </a:r>
          </a:p>
        </p:txBody>
      </p:sp>
      <p:sp>
        <p:nvSpPr>
          <p:cNvPr id="5" name="">
            <a:extLst xmlns:a="http://schemas.openxmlformats.org/drawingml/2006/main">
              <a:ext uri="{FF2B5EF4-FFF2-40B4-BE49-F238E27FC236}">
                <a16:creationId xmlns:a16="http://schemas.microsoft.com/office/drawing/2014/main" id="{C6F75352-07CF-4387-B45B-86202AC13B47}"/>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实现进展、验证与初步实验结果</a:t>
            </a:r>
          </a:p>
        </p:txBody>
      </p:sp>
      <p:sp>
        <p:nvSpPr>
          <p:cNvPr id="6" name="">
            <a:extLst xmlns:a="http://schemas.openxmlformats.org/drawingml/2006/main">
              <a:ext uri="{FF2B5EF4-FFF2-40B4-BE49-F238E27FC236}">
                <a16:creationId xmlns:a16="http://schemas.microsoft.com/office/drawing/2014/main" id="{FE645AE1-B738-412B-B717-4A013DC90A14}"/>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28865454-8AEA-40CE-A283-B994C2BD6AD3}"/>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研究讨论课  |  柏林自由大学  |  2026 年 9 月</a:t>
            </a:r>
          </a:p>
        </p:txBody>
      </p:sp>
      <p:sp>
        <p:nvSpPr>
          <p:cNvPr id="8" name="">
            <a:extLst xmlns:a="http://schemas.openxmlformats.org/drawingml/2006/main">
              <a:ext uri="{FF2B5EF4-FFF2-40B4-BE49-F238E27FC236}">
                <a16:creationId xmlns:a16="http://schemas.microsoft.com/office/drawing/2014/main" id="{40AE0B78-71EB-4F9D-A607-5F45E7C1CF37}"/>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742920433"/>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A362742-044E-4AC8-8F5A-1D012AA6B75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上下文</a:t>
            </a:r>
          </a:p>
        </p:txBody>
      </p:sp>
      <p:sp>
        <p:nvSpPr>
          <p:cNvPr id="2" name="">
            <a:extLst xmlns:a="http://schemas.openxmlformats.org/drawingml/2006/main">
              <a:ext uri="{FF2B5EF4-FFF2-40B4-BE49-F238E27FC236}">
                <a16:creationId xmlns:a16="http://schemas.microsoft.com/office/drawing/2014/main" id="{81BCD880-9BD5-40BD-ADE0-CA279C20F5F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上次汇报建立了静态结构基线</a:t>
            </a:r>
          </a:p>
        </p:txBody>
      </p:sp>
      <p:sp>
        <p:nvSpPr>
          <p:cNvPr id="3" name="">
            <a:extLst xmlns:a="http://schemas.openxmlformats.org/drawingml/2006/main">
              <a:ext uri="{FF2B5EF4-FFF2-40B4-BE49-F238E27FC236}">
                <a16:creationId xmlns:a16="http://schemas.microsoft.com/office/drawing/2014/main" id="{7A1B2EB3-447A-4C83-8D6E-CDEC1BA6EC2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FCF905C-FDF6-4402-9792-DB0F3A4ED020}"/>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B1243C3-4EAC-4300-AF23-B9981D6D0FA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BFA87330-7C29-4EFF-9B97-A959282E2FD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5F62BDE9-C5E2-4B77-A8AC-9F429BDE3607}"/>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上次基线</a:t>
            </a:r>
          </a:p>
        </p:txBody>
      </p:sp>
      <p:sp>
        <p:nvSpPr>
          <p:cNvPr id="8" name="">
            <a:extLst xmlns:a="http://schemas.openxmlformats.org/drawingml/2006/main">
              <a:ext uri="{FF2B5EF4-FFF2-40B4-BE49-F238E27FC236}">
                <a16:creationId xmlns:a16="http://schemas.microsoft.com/office/drawing/2014/main" id="{E1AFFA78-BFD3-424F-924D-B8A312AF7407}"/>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静态参考框架</a:t>
            </a:r>
          </a:p>
        </p:txBody>
      </p:sp>
      <p:sp>
        <p:nvSpPr>
          <p:cNvPr id="9" name="">
            <a:extLst xmlns:a="http://schemas.openxmlformats.org/drawingml/2006/main">
              <a:ext uri="{FF2B5EF4-FFF2-40B4-BE49-F238E27FC236}">
                <a16:creationId xmlns:a16="http://schemas.microsoft.com/office/drawing/2014/main" id="{02B0CF09-F9FF-41EA-BFDF-9F75BCB30926}"/>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F9F1F6F4-D130-4F60-8F8D-62077D57FB08}"/>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抽象</a:t>
            </a:r>
          </a:p>
        </p:txBody>
      </p:sp>
      <p:sp>
        <p:nvSpPr>
          <p:cNvPr id="11" name="">
            <a:extLst xmlns:a="http://schemas.openxmlformats.org/drawingml/2006/main">
              <a:ext uri="{FF2B5EF4-FFF2-40B4-BE49-F238E27FC236}">
                <a16:creationId xmlns:a16="http://schemas.microsoft.com/office/drawing/2014/main" id="{068364A6-A65B-4E01-8CF9-E3FB0669E10D}"/>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45F89DF8-23FD-4D85-B04F-8038726B4160}"/>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 lower family</a:t>
            </a:r>
          </a:p>
        </p:txBody>
      </p:sp>
      <p:sp>
        <p:nvSpPr>
          <p:cNvPr id="13" name="">
            <a:extLst xmlns:a="http://schemas.openxmlformats.org/drawingml/2006/main">
              <a:ext uri="{FF2B5EF4-FFF2-40B4-BE49-F238E27FC236}">
                <a16:creationId xmlns:a16="http://schemas.microsoft.com/office/drawing/2014/main" id="{030880D6-43AC-4FD7-A0DE-9CA8CA397F6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498F38-3B52-416A-A7F9-4A98618703DD}"/>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 与结构指标</a:t>
            </a:r>
          </a:p>
        </p:txBody>
      </p:sp>
      <p:sp>
        <p:nvSpPr>
          <p:cNvPr id="15" name="">
            <a:extLst xmlns:a="http://schemas.openxmlformats.org/drawingml/2006/main">
              <a:ext uri="{FF2B5EF4-FFF2-40B4-BE49-F238E27FC236}">
                <a16:creationId xmlns:a16="http://schemas.microsoft.com/office/drawing/2014/main" id="{E997A16C-96B6-4C1C-90BF-64577D1E8F19}"/>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155289B4-30C1-4DAC-9962-DDA850C7FA5C}"/>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 支持的验证</a:t>
            </a:r>
          </a:p>
        </p:txBody>
      </p:sp>
      <p:sp>
        <p:nvSpPr>
          <p:cNvPr id="17" name="">
            <a:extLst xmlns:a="http://schemas.openxmlformats.org/drawingml/2006/main">
              <a:ext uri="{FF2B5EF4-FFF2-40B4-BE49-F238E27FC236}">
                <a16:creationId xmlns:a16="http://schemas.microsoft.com/office/drawing/2014/main" id="{CFA1EFCF-91E5-48C6-84A4-3EF806F2239A}"/>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0B3C049C-0DBB-40B6-9CA3-A487017DA414}"/>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静态</a:t>
            </a:r>
          </a:p>
        </p:txBody>
      </p:sp>
      <p:sp>
        <p:nvSpPr>
          <p:cNvPr id="19" name="">
            <a:extLst xmlns:a="http://schemas.openxmlformats.org/drawingml/2006/main">
              <a:ext uri="{FF2B5EF4-FFF2-40B4-BE49-F238E27FC236}">
                <a16:creationId xmlns:a16="http://schemas.microsoft.com/office/drawing/2014/main" id="{E547C528-A24D-4C4C-BF67-28859C247B28}"/>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30C90BE5-FB89-47AB-A42F-0E86A55F6964}"/>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88C5C20-5E3F-47E3-8741-0FE2B9226644}"/>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动态</a:t>
            </a:r>
          </a:p>
        </p:txBody>
      </p:sp>
      <p:sp>
        <p:nvSpPr>
          <p:cNvPr id="22" name="">
            <a:extLst xmlns:a="http://schemas.openxmlformats.org/drawingml/2006/main">
              <a:ext uri="{FF2B5EF4-FFF2-40B4-BE49-F238E27FC236}">
                <a16:creationId xmlns:a16="http://schemas.microsoft.com/office/drawing/2014/main" id="{B87DFF45-C213-4193-AF25-45C8936690AA}"/>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尚未解决的实现缺口</a:t>
            </a:r>
          </a:p>
        </p:txBody>
      </p:sp>
      <p:sp>
        <p:nvSpPr>
          <p:cNvPr id="23" name="">
            <a:extLst xmlns:a="http://schemas.openxmlformats.org/drawingml/2006/main">
              <a:ext uri="{FF2B5EF4-FFF2-40B4-BE49-F238E27FC236}">
                <a16:creationId xmlns:a16="http://schemas.microsoft.com/office/drawing/2014/main" id="{1A371705-7359-496C-B88A-E515241D81CE}"/>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可执行的动态重构</a:t>
            </a:r>
          </a:p>
        </p:txBody>
      </p:sp>
      <p:sp>
        <p:nvSpPr>
          <p:cNvPr id="24" name="">
            <a:extLst xmlns:a="http://schemas.openxmlformats.org/drawingml/2006/main">
              <a:ext uri="{FF2B5EF4-FFF2-40B4-BE49-F238E27FC236}">
                <a16:creationId xmlns:a16="http://schemas.microsoft.com/office/drawing/2014/main" id="{9CB59D9F-D512-4837-9642-8B13074ADBFC}"/>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DD4EADDA-EEDC-4FE3-95CC-9FCB64EBDFB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控制流</a:t>
            </a:r>
          </a:p>
        </p:txBody>
      </p:sp>
      <p:sp>
        <p:nvSpPr>
          <p:cNvPr id="26" name="">
            <a:extLst xmlns:a="http://schemas.openxmlformats.org/drawingml/2006/main">
              <a:ext uri="{FF2B5EF4-FFF2-40B4-BE49-F238E27FC236}">
                <a16:creationId xmlns:a16="http://schemas.microsoft.com/office/drawing/2014/main" id="{57298F5F-D6AA-4D4D-B47F-66B19B20B26D}"/>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59F49B7B-A2DD-41E0-B305-BECC296FE742}"/>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 list 插入与拆分</a:t>
            </a:r>
          </a:p>
        </p:txBody>
      </p:sp>
      <p:sp>
        <p:nvSpPr>
          <p:cNvPr id="28" name="">
            <a:extLst xmlns:a="http://schemas.openxmlformats.org/drawingml/2006/main">
              <a:ext uri="{FF2B5EF4-FFF2-40B4-BE49-F238E27FC236}">
                <a16:creationId xmlns:a16="http://schemas.microsoft.com/office/drawing/2014/main" id="{9A171684-9AAD-4552-AD72-4C02477C8DA0}"/>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BFD91FCE-B1DD-49DC-85B5-7DDC4019FE4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转移</a:t>
            </a:r>
          </a:p>
        </p:txBody>
      </p:sp>
      <p:sp>
        <p:nvSpPr>
          <p:cNvPr id="30" name="">
            <a:extLst xmlns:a="http://schemas.openxmlformats.org/drawingml/2006/main">
              <a:ext uri="{FF2B5EF4-FFF2-40B4-BE49-F238E27FC236}">
                <a16:creationId xmlns:a16="http://schemas.microsoft.com/office/drawing/2014/main" id="{D11D810B-1867-4744-9B01-269773B572F6}"/>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BB28ED78-BE8A-4934-A966-FD935710DF41}"/>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从维护状态恢复输出</a:t>
            </a:r>
          </a:p>
        </p:txBody>
      </p:sp>
      <p:sp>
        <p:nvSpPr>
          <p:cNvPr id="32" name="">
            <a:extLst xmlns:a="http://schemas.openxmlformats.org/drawingml/2006/main">
              <a:ext uri="{FF2B5EF4-FFF2-40B4-BE49-F238E27FC236}">
                <a16:creationId xmlns:a16="http://schemas.microsoft.com/office/drawing/2014/main" id="{3A90240D-BD5A-4606-B543-44B4B4CE868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D9DF5D3C-CEF2-42C4-BEE4-E14C4CE38055}"/>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 解释嵌套结构；可执行 Jordan sorting 还需要动态更新。</a:t>
            </a:r>
          </a:p>
        </p:txBody>
      </p:sp>
    </p:spTree>
    <p:extLst>
      <p:ext uri="{BB962C8B-B14F-4D97-AF65-F5344CB8AC3E}">
        <p14:creationId xmlns:p14="http://schemas.microsoft.com/office/powerpoint/2010/main" val="139353483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0FD6B1E4-A231-4E15-8B9C-D72CBEA5295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进展</a:t>
            </a:r>
          </a:p>
        </p:txBody>
      </p:sp>
      <p:sp>
        <p:nvSpPr>
          <p:cNvPr id="2" name="">
            <a:extLst xmlns:a="http://schemas.openxmlformats.org/drawingml/2006/main">
              <a:ext uri="{FF2B5EF4-FFF2-40B4-BE49-F238E27FC236}">
                <a16:creationId xmlns:a16="http://schemas.microsoft.com/office/drawing/2014/main" id="{D085F66D-912E-4BBA-9263-F2D07247681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上次汇报后的进展</a:t>
            </a:r>
          </a:p>
        </p:txBody>
      </p:sp>
      <p:sp>
        <p:nvSpPr>
          <p:cNvPr id="3" name="">
            <a:extLst xmlns:a="http://schemas.openxmlformats.org/drawingml/2006/main">
              <a:ext uri="{FF2B5EF4-FFF2-40B4-BE49-F238E27FC236}">
                <a16:creationId xmlns:a16="http://schemas.microsoft.com/office/drawing/2014/main" id="{831A98B8-8130-44AD-BC61-93F3410EB1F9}"/>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B36127E0-A20C-4149-BE5C-E629CD2A4E6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19777E0-AD19-4CF7-8A9C-2E8C4B25394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5DBADEA6-15A1-473F-9B73-4826C73505D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378D0AF7-7077-48A2-9FD2-BE5F4661412F}"/>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D6FCEB5-C9A1-4E0F-A6EE-8339747FD042}"/>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478209F2-A6E8-4F92-98B0-A54784EA26CB}"/>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研究范围收敛</a:t>
            </a:r>
          </a:p>
        </p:txBody>
      </p:sp>
      <p:sp>
        <p:nvSpPr>
          <p:cNvPr id="10" name="">
            <a:extLst xmlns:a="http://schemas.openxmlformats.org/drawingml/2006/main">
              <a:ext uri="{FF2B5EF4-FFF2-40B4-BE49-F238E27FC236}">
                <a16:creationId xmlns:a16="http://schemas.microsoft.com/office/drawing/2014/main" id="{87BE209A-FBD9-4FFD-9D88-77A37B0C8E56}"/>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18CD97CD-9BD3-492C-9BE8-CB669B73EEBC}"/>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区分有效输入排序、识别问题与理论后端边界</a:t>
            </a:r>
          </a:p>
        </p:txBody>
      </p:sp>
      <p:sp>
        <p:nvSpPr>
          <p:cNvPr id="12" name="">
            <a:extLst xmlns:a="http://schemas.openxmlformats.org/drawingml/2006/main">
              <a:ext uri="{FF2B5EF4-FFF2-40B4-BE49-F238E27FC236}">
                <a16:creationId xmlns:a16="http://schemas.microsoft.com/office/drawing/2014/main" id="{12EB6D81-D309-4B99-B964-EED775B69477}"/>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C4299C70-D088-453C-B36F-8A96DEE5CB1B}"/>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E85E1F06-F7A3-40B5-A68B-AE9772CD97DB}"/>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可执行重构</a:t>
            </a:r>
          </a:p>
        </p:txBody>
      </p:sp>
      <p:sp>
        <p:nvSpPr>
          <p:cNvPr id="15" name="">
            <a:extLst xmlns:a="http://schemas.openxmlformats.org/drawingml/2006/main">
              <a:ext uri="{FF2B5EF4-FFF2-40B4-BE49-F238E27FC236}">
                <a16:creationId xmlns:a16="http://schemas.microsoft.com/office/drawing/2014/main" id="{52BAF208-637A-4EDA-9201-3BF79C6DE458}"/>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196A541F-43AE-4324-8656-0F1FEE844724}"/>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实现面向论文的 Step 1/2/3 控制流</a:t>
            </a:r>
          </a:p>
        </p:txBody>
      </p:sp>
      <p:sp>
        <p:nvSpPr>
          <p:cNvPr id="17" name="">
            <a:extLst xmlns:a="http://schemas.openxmlformats.org/drawingml/2006/main">
              <a:ext uri="{FF2B5EF4-FFF2-40B4-BE49-F238E27FC236}">
                <a16:creationId xmlns:a16="http://schemas.microsoft.com/office/drawing/2014/main" id="{1025F10D-CB17-4B3A-911D-184FCFFCD828}"/>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6C792548-680A-4727-AD5E-BA6B262E36D0}"/>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86694E27-D2E0-4A75-B3D0-DD70DA6DAFE6}"/>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状态与正确性控制</a:t>
            </a:r>
          </a:p>
        </p:txBody>
      </p:sp>
      <p:sp>
        <p:nvSpPr>
          <p:cNvPr id="20" name="">
            <a:extLst xmlns:a="http://schemas.openxmlformats.org/drawingml/2006/main">
              <a:ext uri="{FF2B5EF4-FFF2-40B4-BE49-F238E27FC236}">
                <a16:creationId xmlns:a16="http://schemas.microsoft.com/office/drawing/2014/main" id="{238C650E-13DA-4241-9DC3-88D7341D7E19}"/>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B24AB1D7-D7EC-432E-B988-626B2401A0FE}"/>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加入 ownership 不变量、事务式更新与重放</a:t>
            </a:r>
          </a:p>
        </p:txBody>
      </p:sp>
      <p:sp>
        <p:nvSpPr>
          <p:cNvPr id="22" name="">
            <a:extLst xmlns:a="http://schemas.openxmlformats.org/drawingml/2006/main">
              <a:ext uri="{FF2B5EF4-FFF2-40B4-BE49-F238E27FC236}">
                <a16:creationId xmlns:a16="http://schemas.microsoft.com/office/drawing/2014/main" id="{562B4FFE-45EC-4C29-A542-EC09F7B861AC}"/>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772B6E6E-DF3F-4913-ABFC-D04F33EC07F8}"/>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79E2296A-43F9-4538-9567-CD758498ABFD}"/>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初步正式评估</a:t>
            </a:r>
          </a:p>
        </p:txBody>
      </p:sp>
      <p:sp>
        <p:nvSpPr>
          <p:cNvPr id="25" name="">
            <a:extLst xmlns:a="http://schemas.openxmlformats.org/drawingml/2006/main">
              <a:ext uri="{FF2B5EF4-FFF2-40B4-BE49-F238E27FC236}">
                <a16:creationId xmlns:a16="http://schemas.microsoft.com/office/drawing/2014/main" id="{B04AFE3A-C5B0-4EC7-A293-04DBAEF14D34}"/>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F38AE6F-F45D-40FD-9D2B-A598D4EDC2B7}"/>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执行固定的有效输入排序实验</a:t>
            </a:r>
          </a:p>
        </p:txBody>
      </p:sp>
      <p:sp>
        <p:nvSpPr>
          <p:cNvPr id="27" name="">
            <a:extLst xmlns:a="http://schemas.openxmlformats.org/drawingml/2006/main">
              <a:ext uri="{FF2B5EF4-FFF2-40B4-BE49-F238E27FC236}">
                <a16:creationId xmlns:a16="http://schemas.microsoft.com/office/drawing/2014/main" id="{97A248F1-E0C5-401C-9AEF-7CE8064A14AF}"/>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当前成果：可执行的普通列表实现；历史专用后端仍属于未来工作。</a:t>
            </a:r>
          </a:p>
        </p:txBody>
      </p:sp>
    </p:spTree>
    <p:extLst>
      <p:ext uri="{BB962C8B-B14F-4D97-AF65-F5344CB8AC3E}">
        <p14:creationId xmlns:p14="http://schemas.microsoft.com/office/powerpoint/2010/main" val="1304713572"/>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2F318AE-3622-4267-AA01-97528BE4882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研究范围</a:t>
            </a:r>
          </a:p>
        </p:txBody>
      </p:sp>
      <p:sp>
        <p:nvSpPr>
          <p:cNvPr id="2" name="">
            <a:extLst xmlns:a="http://schemas.openxmlformats.org/drawingml/2006/main">
              <a:ext uri="{FF2B5EF4-FFF2-40B4-BE49-F238E27FC236}">
                <a16:creationId xmlns:a16="http://schemas.microsoft.com/office/drawing/2014/main" id="{D145DC16-1176-4F19-9CC7-E9ED92DFE3B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当前范围：有效输入排序</a:t>
            </a:r>
          </a:p>
        </p:txBody>
      </p:sp>
      <p:sp>
        <p:nvSpPr>
          <p:cNvPr id="3" name="">
            <a:extLst xmlns:a="http://schemas.openxmlformats.org/drawingml/2006/main">
              <a:ext uri="{FF2B5EF4-FFF2-40B4-BE49-F238E27FC236}">
                <a16:creationId xmlns:a16="http://schemas.microsoft.com/office/drawing/2014/main" id="{4103E4C8-99ED-432D-ADD9-9581CC18805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20E19A2-F1E5-4F24-842B-B59653C5B6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C516E1E-F536-4DC9-9FBA-45D15EA8747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159E2D07-7621-4F0D-8AD5-0A6AFC8FA6A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E303C055-F97C-4057-9F4F-F05D51A35FB3}"/>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760773F1-1512-48DB-9CBF-CF8D06464C3A}"/>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99E7A2D6-74B7-4BD0-BD11-15F8F9D72F2C}"/>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早期计划重点</a:t>
            </a:r>
          </a:p>
        </p:txBody>
      </p:sp>
      <p:sp>
        <p:nvSpPr>
          <p:cNvPr id="10" name="">
            <a:extLst xmlns:a="http://schemas.openxmlformats.org/drawingml/2006/main">
              <a:ext uri="{FF2B5EF4-FFF2-40B4-BE49-F238E27FC236}">
                <a16:creationId xmlns:a16="http://schemas.microsoft.com/office/drawing/2014/main" id="{BB26C17B-0798-49A8-BB54-AD3586ADCE71}"/>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当前研究范围</a:t>
            </a:r>
          </a:p>
        </p:txBody>
      </p:sp>
      <p:sp>
        <p:nvSpPr>
          <p:cNvPr id="11" name="">
            <a:extLst xmlns:a="http://schemas.openxmlformats.org/drawingml/2006/main">
              <a:ext uri="{FF2B5EF4-FFF2-40B4-BE49-F238E27FC236}">
                <a16:creationId xmlns:a16="http://schemas.microsoft.com/office/drawing/2014/main" id="{3876CCA4-AB28-43AF-8334-717D67916EAA}"/>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一般结构框架</a:t>
            </a:r>
          </a:p>
        </p:txBody>
      </p:sp>
      <p:sp>
        <p:nvSpPr>
          <p:cNvPr id="12" name="">
            <a:extLst xmlns:a="http://schemas.openxmlformats.org/drawingml/2006/main">
              <a:ext uri="{FF2B5EF4-FFF2-40B4-BE49-F238E27FC236}">
                <a16:creationId xmlns:a16="http://schemas.microsoft.com/office/drawing/2014/main" id="{AB5BDA41-4674-4993-A237-59A702FE596F}"/>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EF69B4D3-311C-471F-B85D-276BD9989F90}"/>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1990 年算法过程的可执行重构</a:t>
            </a:r>
          </a:p>
        </p:txBody>
      </p:sp>
      <p:sp>
        <p:nvSpPr>
          <p:cNvPr id="14" name="">
            <a:extLst xmlns:a="http://schemas.openxmlformats.org/drawingml/2006/main">
              <a:ext uri="{FF2B5EF4-FFF2-40B4-BE49-F238E27FC236}">
                <a16:creationId xmlns:a16="http://schemas.microsoft.com/office/drawing/2014/main" id="{DA078E77-BA75-4104-B577-20A062D505C5}"/>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有效与无效输入生成器</a:t>
            </a:r>
          </a:p>
        </p:txBody>
      </p:sp>
      <p:sp>
        <p:nvSpPr>
          <p:cNvPr id="15" name="">
            <a:extLst xmlns:a="http://schemas.openxmlformats.org/drawingml/2006/main">
              <a:ext uri="{FF2B5EF4-FFF2-40B4-BE49-F238E27FC236}">
                <a16:creationId xmlns:a16="http://schemas.microsoft.com/office/drawing/2014/main" id="{6807E0E0-6770-4DD0-BF2F-4535874DD28B}"/>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5D9550AF-7DB3-4355-8CE7-9A55FC2F4AD4}"/>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 认证的有效输入排序</a:t>
            </a:r>
          </a:p>
        </p:txBody>
      </p:sp>
      <p:sp>
        <p:nvSpPr>
          <p:cNvPr id="17" name="">
            <a:extLst xmlns:a="http://schemas.openxmlformats.org/drawingml/2006/main">
              <a:ext uri="{FF2B5EF4-FFF2-40B4-BE49-F238E27FC236}">
                <a16:creationId xmlns:a16="http://schemas.microsoft.com/office/drawing/2014/main" id="{9799E871-73D4-4EA5-9D5A-0AC523280263}"/>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静态 family tree</a:t>
            </a:r>
          </a:p>
        </p:txBody>
      </p:sp>
      <p:sp>
        <p:nvSpPr>
          <p:cNvPr id="18" name="">
            <a:extLst xmlns:a="http://schemas.openxmlformats.org/drawingml/2006/main">
              <a:ext uri="{FF2B5EF4-FFF2-40B4-BE49-F238E27FC236}">
                <a16:creationId xmlns:a16="http://schemas.microsoft.com/office/drawing/2014/main" id="{8B7C64E0-27D5-4483-A394-76314982B754}"/>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FCEA6422-D148-407F-9009-77585F4561DA}"/>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动态 sibling-list 状态</a:t>
            </a:r>
          </a:p>
        </p:txBody>
      </p:sp>
      <p:sp>
        <p:nvSpPr>
          <p:cNvPr id="20" name="">
            <a:extLst xmlns:a="http://schemas.openxmlformats.org/drawingml/2006/main">
              <a:ext uri="{FF2B5EF4-FFF2-40B4-BE49-F238E27FC236}">
                <a16:creationId xmlns:a16="http://schemas.microsoft.com/office/drawing/2014/main" id="{32CCE46F-6ADF-4AF1-ACEA-3A0CA92AE150}"/>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广泛的 reference 评估</a:t>
            </a:r>
          </a:p>
        </p:txBody>
      </p:sp>
      <p:sp>
        <p:nvSpPr>
          <p:cNvPr id="21" name="">
            <a:extLst xmlns:a="http://schemas.openxmlformats.org/drawingml/2006/main">
              <a:ext uri="{FF2B5EF4-FFF2-40B4-BE49-F238E27FC236}">
                <a16:creationId xmlns:a16="http://schemas.microsoft.com/office/drawing/2014/main" id="{EFD8E478-A84E-4D80-B549-FEC46FBC1208}"/>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12CE13A-B8E5-4939-806E-7B14B7FCF322}"/>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core、reference pipeline、Python sort</a:t>
            </a:r>
          </a:p>
        </p:txBody>
      </p:sp>
      <p:sp>
        <p:nvSpPr>
          <p:cNvPr id="23" name="">
            <a:extLst xmlns:a="http://schemas.openxmlformats.org/drawingml/2006/main">
              <a:ext uri="{FF2B5EF4-FFF2-40B4-BE49-F238E27FC236}">
                <a16:creationId xmlns:a16="http://schemas.microsoft.com/office/drawing/2014/main" id="{21FD751D-49EA-4303-9592-7FD267EE258C}"/>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将 recognition 作为可能的实验</a:t>
            </a:r>
          </a:p>
        </p:txBody>
      </p:sp>
      <p:sp>
        <p:nvSpPr>
          <p:cNvPr id="24" name="">
            <a:extLst xmlns:a="http://schemas.openxmlformats.org/drawingml/2006/main">
              <a:ext uri="{FF2B5EF4-FFF2-40B4-BE49-F238E27FC236}">
                <a16:creationId xmlns:a16="http://schemas.microsoft.com/office/drawing/2014/main" id="{5080754F-013C-4FFE-AFE5-A679731AF94F}"/>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B3FA48AB-8AB5-4FDB-B999-A68275FBCA76}"/>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保持独立</a:t>
            </a:r>
          </a:p>
        </p:txBody>
      </p:sp>
      <p:sp>
        <p:nvSpPr>
          <p:cNvPr id="26" name="">
            <a:extLst xmlns:a="http://schemas.openxmlformats.org/drawingml/2006/main">
              <a:ext uri="{FF2B5EF4-FFF2-40B4-BE49-F238E27FC236}">
                <a16:creationId xmlns:a16="http://schemas.microsoft.com/office/drawing/2014/main" id="{B7AFE1CE-808E-4A07-B139-E42680CE5036}"/>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理论后端实现</a:t>
            </a:r>
          </a:p>
        </p:txBody>
      </p:sp>
      <p:sp>
        <p:nvSpPr>
          <p:cNvPr id="27" name="">
            <a:extLst xmlns:a="http://schemas.openxmlformats.org/drawingml/2006/main">
              <a:ext uri="{FF2B5EF4-FFF2-40B4-BE49-F238E27FC236}">
                <a16:creationId xmlns:a16="http://schemas.microsoft.com/office/drawing/2014/main" id="{3B9557D3-DBBD-480F-91A0-6240F769BD65}"/>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6D3599A3-0688-4316-A486-9C84F27777E1}"/>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当前实现使用普通列表</a:t>
            </a:r>
          </a:p>
        </p:txBody>
      </p:sp>
      <p:sp>
        <p:nvSpPr>
          <p:cNvPr id="29" name="">
            <a:extLst xmlns:a="http://schemas.openxmlformats.org/drawingml/2006/main">
              <a:ext uri="{FF2B5EF4-FFF2-40B4-BE49-F238E27FC236}">
                <a16:creationId xmlns:a16="http://schemas.microsoft.com/office/drawing/2014/main" id="{A633A87F-2E67-4111-ADB9-9794E2D51EE4}"/>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实验评估普通列表实现；finger-tree 后端仍只是可能的扩展。</a:t>
            </a:r>
          </a:p>
        </p:txBody>
      </p:sp>
    </p:spTree>
    <p:extLst>
      <p:ext uri="{BB962C8B-B14F-4D97-AF65-F5344CB8AC3E}">
        <p14:creationId xmlns:p14="http://schemas.microsoft.com/office/powerpoint/2010/main" val="971398733"/>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696AA8B-0D34-4866-AF2A-5E88FDCD54C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研究问题</a:t>
            </a:r>
          </a:p>
        </p:txBody>
      </p:sp>
      <p:sp>
        <p:nvSpPr>
          <p:cNvPr id="2" name="">
            <a:extLst xmlns:a="http://schemas.openxmlformats.org/drawingml/2006/main">
              <a:ext uri="{FF2B5EF4-FFF2-40B4-BE49-F238E27FC236}">
                <a16:creationId xmlns:a16="http://schemas.microsoft.com/office/drawing/2014/main" id="{210F4E8B-35E7-4137-83A5-A98E79772FC5}"/>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三个问题连接重构、测量与解释</a:t>
            </a:r>
          </a:p>
        </p:txBody>
      </p:sp>
      <p:sp>
        <p:nvSpPr>
          <p:cNvPr id="3" name="">
            <a:extLst xmlns:a="http://schemas.openxmlformats.org/drawingml/2006/main">
              <a:ext uri="{FF2B5EF4-FFF2-40B4-BE49-F238E27FC236}">
                <a16:creationId xmlns:a16="http://schemas.microsoft.com/office/drawing/2014/main" id="{55958D2B-BD92-4A2F-8CC0-E52EB02341F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D8D5DD7A-4D1E-4056-A401-21A0D33C319A}"/>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7B4DC87-00E7-494F-ADDC-6A25C146BA9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A56576AD-4C00-44D8-AAE9-18CCC98E39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07AB87D4-CB18-4F7F-B04D-05B099F378A4}"/>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5066FC97-A780-4B7D-B60C-9E81D2695C88}"/>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63B0726F-7047-41F7-93C0-C597614949AC}"/>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可执行重构与正确性</a:t>
            </a:r>
          </a:p>
        </p:txBody>
      </p:sp>
      <p:sp>
        <p:nvSpPr>
          <p:cNvPr id="10" name="">
            <a:extLst xmlns:a="http://schemas.openxmlformats.org/drawingml/2006/main">
              <a:ext uri="{FF2B5EF4-FFF2-40B4-BE49-F238E27FC236}">
                <a16:creationId xmlns:a16="http://schemas.microsoft.com/office/drawing/2014/main" id="{46A6B270-BC10-41A8-BC08-92E28D9D12D6}"/>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普通列表重构能否针对 oracle 认证的有效输入，从维护状态中恢复排序结果？</a:t>
            </a:r>
          </a:p>
        </p:txBody>
      </p:sp>
      <p:sp>
        <p:nvSpPr>
          <p:cNvPr id="11" name="">
            <a:extLst xmlns:a="http://schemas.openxmlformats.org/drawingml/2006/main">
              <a:ext uri="{FF2B5EF4-FFF2-40B4-BE49-F238E27FC236}">
                <a16:creationId xmlns:a16="http://schemas.microsoft.com/office/drawing/2014/main" id="{5297AE26-B889-42FF-BE65-025DDBD972F2}"/>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38B92742-4C40-4EAF-B2E8-C3734B5D4165}"/>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主要技术问题</a:t>
            </a:r>
          </a:p>
        </p:txBody>
      </p:sp>
      <p:sp>
        <p:nvSpPr>
          <p:cNvPr id="13" name="">
            <a:extLst xmlns:a="http://schemas.openxmlformats.org/drawingml/2006/main">
              <a:ext uri="{FF2B5EF4-FFF2-40B4-BE49-F238E27FC236}">
                <a16:creationId xmlns:a16="http://schemas.microsoft.com/office/drawing/2014/main" id="{9C5C2EAB-B6D6-42AA-AEE2-F623B0A30E7C}"/>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D31A758E-8627-4696-A94D-1BBD291D6E56}"/>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87545659-C37F-4D99-8D10-8414CB51DE60}"/>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观测到的运行时间表现</a:t>
            </a:r>
          </a:p>
        </p:txBody>
      </p:sp>
      <p:sp>
        <p:nvSpPr>
          <p:cNvPr id="16" name="">
            <a:extLst xmlns:a="http://schemas.openxmlformats.org/drawingml/2006/main">
              <a:ext uri="{FF2B5EF4-FFF2-40B4-BE49-F238E27FC236}">
                <a16:creationId xmlns:a16="http://schemas.microsoft.com/office/drawing/2014/main" id="{15938F32-87AD-4383-80AB-28699487650C}"/>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在预先认证的输入上运行时，paper core 相对于 Python sort 和完整 reference pipeline，在不同计时范围下表现如何？</a:t>
            </a:r>
          </a:p>
        </p:txBody>
      </p:sp>
      <p:sp>
        <p:nvSpPr>
          <p:cNvPr id="17" name="">
            <a:extLst xmlns:a="http://schemas.openxmlformats.org/drawingml/2006/main">
              <a:ext uri="{FF2B5EF4-FFF2-40B4-BE49-F238E27FC236}">
                <a16:creationId xmlns:a16="http://schemas.microsoft.com/office/drawing/2014/main" id="{CD99D20B-84FC-4C48-9183-30511458817C}"/>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BAC8E8AE-82A6-4CEA-A72C-F61511EF09D2}"/>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50CFF05A-4EF3-49A5-9234-D69742D341E8}"/>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结构与实现成本</a:t>
            </a:r>
          </a:p>
        </p:txBody>
      </p:sp>
      <p:sp>
        <p:nvSpPr>
          <p:cNvPr id="20" name="">
            <a:extLst xmlns:a="http://schemas.openxmlformats.org/drawingml/2006/main">
              <a:ext uri="{FF2B5EF4-FFF2-40B4-BE49-F238E27FC236}">
                <a16:creationId xmlns:a16="http://schemas.microsoft.com/office/drawing/2014/main" id="{C6651EC1-CECE-473D-A122-ABC2BA248836}"/>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输入结构、checked 操作计数与运行时间之间呈现哪些描述性关系？</a:t>
            </a:r>
          </a:p>
        </p:txBody>
      </p:sp>
    </p:spTree>
    <p:extLst>
      <p:ext uri="{BB962C8B-B14F-4D97-AF65-F5344CB8AC3E}">
        <p14:creationId xmlns:p14="http://schemas.microsoft.com/office/powerpoint/2010/main" val="85364058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53513A1-1C3E-482C-BD7C-A8060D3D72F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体系结构</a:t>
            </a:r>
          </a:p>
        </p:txBody>
      </p:sp>
      <p:sp>
        <p:nvSpPr>
          <p:cNvPr id="2" name="">
            <a:extLst xmlns:a="http://schemas.openxmlformats.org/drawingml/2006/main">
              <a:ext uri="{FF2B5EF4-FFF2-40B4-BE49-F238E27FC236}">
                <a16:creationId xmlns:a16="http://schemas.microsoft.com/office/drawing/2014/main" id="{C34501FC-538A-4F48-B9EC-F94462348E8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oracle、reference pipeline 与 paper core 各有不同职责</a:t>
            </a:r>
          </a:p>
        </p:txBody>
      </p:sp>
      <p:sp>
        <p:nvSpPr>
          <p:cNvPr id="3" name="">
            <a:extLst xmlns:a="http://schemas.openxmlformats.org/drawingml/2006/main">
              <a:ext uri="{FF2B5EF4-FFF2-40B4-BE49-F238E27FC236}">
                <a16:creationId xmlns:a16="http://schemas.microsoft.com/office/drawing/2014/main" id="{5A0FCC08-9C09-4B24-94E4-14FFB0B7BAA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D8D4F52-7CAE-439F-BBBD-270240E881F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8DF154B-E434-4908-8B49-86DB0BF3C3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C6FC0FBF-03EE-4458-ACC3-1C93213691F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72116CD6-02D1-4B9A-B4C2-0C9A89BC7823}"/>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E24A2232-815A-46A4-BFBD-817DBFE76348}"/>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认证 oracle</a:t>
            </a:r>
          </a:p>
        </p:txBody>
      </p:sp>
      <p:sp>
        <p:nvSpPr>
          <p:cNvPr id="9" name="">
            <a:extLst xmlns:a="http://schemas.openxmlformats.org/drawingml/2006/main">
              <a:ext uri="{FF2B5EF4-FFF2-40B4-BE49-F238E27FC236}">
                <a16:creationId xmlns:a16="http://schemas.microsoft.com/office/drawing/2014/main" id="{25F6DB7D-734D-4B07-A388-DC00AE7A6F3B}"/>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有效性 + 预期排序结果</a:t>
            </a:r>
          </a:p>
        </p:txBody>
      </p:sp>
      <p:sp>
        <p:nvSpPr>
          <p:cNvPr id="10" name="">
            <a:extLst xmlns:a="http://schemas.openxmlformats.org/drawingml/2006/main">
              <a:ext uri="{FF2B5EF4-FFF2-40B4-BE49-F238E27FC236}">
                <a16:creationId xmlns:a16="http://schemas.microsoft.com/office/drawing/2014/main" id="{07F7A07C-B6B1-4121-8405-43B95B16EC30}"/>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2D5102F6-92A2-4C58-ACD9-FC50647657E0}"/>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206"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207"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35F4D6F-5B6D-4722-8269-FFF0089F4309}"/>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9C2F6867-E342-42EC-B2E7-57C667998440}"/>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结果，包括排序输出</a:t>
            </a:r>
          </a:p>
        </p:txBody>
      </p:sp>
      <p:sp>
        <p:nvSpPr>
          <p:cNvPr id="16" name="">
            <a:extLst xmlns:a="http://schemas.openxmlformats.org/drawingml/2006/main">
              <a:ext uri="{FF2B5EF4-FFF2-40B4-BE49-F238E27FC236}">
                <a16:creationId xmlns:a16="http://schemas.microsoft.com/office/drawing/2014/main" id="{39F36BCD-E452-44FD-A859-D416437E09F0}"/>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3FB882ED-38CD-4EB1-8A6D-2649989B7919}"/>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仅提供有效输入认证</a:t>
            </a:r>
          </a:p>
        </p:txBody>
      </p:sp>
      <p:sp>
        <p:nvSpPr>
          <p:cNvPr id="18" name="">
            <a:extLst xmlns:a="http://schemas.openxmlformats.org/drawingml/2006/main">
              <a:ext uri="{FF2B5EF4-FFF2-40B4-BE49-F238E27FC236}">
                <a16:creationId xmlns:a16="http://schemas.microsoft.com/office/drawing/2014/main" id="{4C337CE9-C27E-4BCA-B52D-B29584866347}"/>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 支持的 reference pipeline</a:t>
            </a:r>
          </a:p>
        </p:txBody>
      </p:sp>
      <p:sp>
        <p:nvSpPr>
          <p:cNvPr id="19" name="">
            <a:extLst xmlns:a="http://schemas.openxmlformats.org/drawingml/2006/main">
              <a:ext uri="{FF2B5EF4-FFF2-40B4-BE49-F238E27FC236}">
                <a16:creationId xmlns:a16="http://schemas.microsoft.com/office/drawing/2014/main" id="{491B0796-1157-4237-ACA1-38D1F02EE668}"/>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a:t>
            </a:r>
          </a:p>
          <a:p xmlns:a="http://schemas.openxmlformats.org/drawingml/2006/main">
            <a:pPr algn="ctr">
              <a:lnSpc>
                <a:spcPct val="105000"/>
              </a:lnSpc>
              <a:buNone/>
              <a:defRPr sz="1500" b="0" i="0">
                <a:solidFill>
                  <a:srgbClr val="243B53"/>
                </a:solidFill>
              </a:defRPr>
            </a:pPr>
            <a:r>
              <a:rPr sz="1500" b="0" i="0">
                <a:solidFill>
                  <a:srgbClr val="243B53"/>
                </a:solidFill>
              </a:rPr>
              <a:t>结构信息</a:t>
            </a:r>
          </a:p>
          <a:p xmlns:a="http://schemas.openxmlformats.org/drawingml/2006/main">
            <a:pPr algn="ctr">
              <a:lnSpc>
                <a:spcPct val="105000"/>
              </a:lnSpc>
              <a:buNone/>
              <a:defRPr sz="1500" b="0" i="0">
                <a:solidFill>
                  <a:srgbClr val="243B53"/>
                </a:solidFill>
              </a:defRPr>
            </a:pPr>
            <a:r>
              <a:rPr sz="1500" b="0" i="0">
                <a:solidFill>
                  <a:srgbClr val="243B53"/>
                </a:solidFill>
              </a:rPr>
              <a:t>来自 oracle 的输出</a:t>
            </a:r>
          </a:p>
        </p:txBody>
      </p:sp>
      <p:sp>
        <p:nvSpPr>
          <p:cNvPr id="20" name="">
            <a:extLst xmlns:a="http://schemas.openxmlformats.org/drawingml/2006/main">
              <a:ext uri="{FF2B5EF4-FFF2-40B4-BE49-F238E27FC236}">
                <a16:creationId xmlns:a16="http://schemas.microsoft.com/office/drawing/2014/main" id="{96D8283A-3CC6-4ADD-B482-A4709DD1A151}"/>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普通列表 core</a:t>
            </a:r>
          </a:p>
        </p:txBody>
      </p:sp>
      <p:sp>
        <p:nvSpPr>
          <p:cNvPr id="21" name="">
            <a:extLst xmlns:a="http://schemas.openxmlformats.org/drawingml/2006/main">
              <a:ext uri="{FF2B5EF4-FFF2-40B4-BE49-F238E27FC236}">
                <a16:creationId xmlns:a16="http://schemas.microsoft.com/office/drawing/2014/main" id="{06805D31-501E-4272-B422-DE1F397CA305}"/>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输入序列 + 已认证前置条件</a:t>
            </a:r>
          </a:p>
          <a:p xmlns:a="http://schemas.openxmlformats.org/drawingml/2006/main">
            <a:pPr algn="ctr">
              <a:lnSpc>
                <a:spcPct val="105000"/>
              </a:lnSpc>
              <a:buNone/>
              <a:defRPr sz="1350" b="0" i="0">
                <a:solidFill>
                  <a:srgbClr val="243B53"/>
                </a:solidFill>
              </a:defRPr>
            </a:pPr>
            <a:r>
              <a:rPr sz="1350" b="0" i="0">
                <a:solidFill>
                  <a:srgbClr val="243B53"/>
                </a:solidFill>
              </a:rPr>
              <a:t>Step 1/2/3 与维护状态</a:t>
            </a:r>
          </a:p>
          <a:p xmlns:a="http://schemas.openxmlformats.org/drawingml/2006/main">
            <a:pPr algn="ctr">
              <a:lnSpc>
                <a:spcPct val="105000"/>
              </a:lnSpc>
              <a:buNone/>
              <a:defRPr sz="1350" b="0" i="0">
                <a:solidFill>
                  <a:srgbClr val="243B53"/>
                </a:solidFill>
              </a:defRPr>
            </a:pPr>
            <a:r>
              <a:rPr sz="1350" b="0" i="0">
                <a:solidFill>
                  <a:srgbClr val="243B53"/>
                </a:solidFill>
              </a:rPr>
              <a:t>从状态中恢复输出</a:t>
            </a:r>
          </a:p>
        </p:txBody>
      </p:sp>
      <p:sp>
        <p:nvSpPr>
          <p:cNvPr id="22" name="">
            <a:extLst xmlns:a="http://schemas.openxmlformats.org/drawingml/2006/main">
              <a:ext uri="{FF2B5EF4-FFF2-40B4-BE49-F238E27FC236}">
                <a16:creationId xmlns:a16="http://schemas.microsoft.com/office/drawing/2014/main" id="{95DA3D0E-F32A-46BE-8869-9DE21FDF5661}"/>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F9752283-6628-4DAE-92BF-6BF61D3D2091}"/>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调用后的输出比较</a:t>
            </a:r>
          </a:p>
        </p:txBody>
      </p:sp>
      <p:cxnSp>
        <p:nvCxnSpPr>
          <p:cNvPr id="218"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23B3F306-1DA3-4F6B-8029-A9F73A573103}"/>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F75EC7D9-E8CA-485F-A501-395B6D6BC25A}"/>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paper 调用前认证  |  调用后比较  |  oracle 排序结果绝不进入 paper core</a:t>
            </a:r>
          </a:p>
        </p:txBody>
      </p:sp>
    </p:spTree>
    <p:extLst>
      <p:ext uri="{BB962C8B-B14F-4D97-AF65-F5344CB8AC3E}">
        <p14:creationId xmlns:p14="http://schemas.microsoft.com/office/powerpoint/2010/main" val="747055694"/>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69E70D4B-765E-48F5-A7EB-90D46A1D92E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算法重构</a:t>
            </a:r>
          </a:p>
        </p:txBody>
      </p:sp>
      <p:sp>
        <p:nvSpPr>
          <p:cNvPr id="2" name="">
            <a:extLst xmlns:a="http://schemas.openxmlformats.org/drawingml/2006/main">
              <a:ext uri="{FF2B5EF4-FFF2-40B4-BE49-F238E27FC236}">
                <a16:creationId xmlns:a16="http://schemas.microsoft.com/office/drawing/2014/main" id="{1A2A54F6-5758-4BC2-8B9A-8EAAA4F9931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控制流与镜像方向</a:t>
            </a:r>
          </a:p>
        </p:txBody>
      </p:sp>
      <p:sp>
        <p:nvSpPr>
          <p:cNvPr id="3" name="">
            <a:extLst xmlns:a="http://schemas.openxmlformats.org/drawingml/2006/main">
              <a:ext uri="{FF2B5EF4-FFF2-40B4-BE49-F238E27FC236}">
                <a16:creationId xmlns:a16="http://schemas.microsoft.com/office/drawing/2014/main" id="{1C833EB7-46A9-41E4-A147-FB08F5E34A8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5DF899DA-9EB7-4D3E-8828-35DFF97E6DCD}"/>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EC6AAA2-3554-49A2-8B4A-1CFFF2A44F0E}"/>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3489E690-82F5-42D3-909E-8E27111D66C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0001FE6-F2C2-49F4-A681-9FD59D6C55F4}"/>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F7D4DC5F-2ED7-4523-86B4-032DFAE8DFB7}"/>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初始化</a:t>
            </a:r>
          </a:p>
        </p:txBody>
      </p:sp>
      <p:sp>
        <p:nvSpPr>
          <p:cNvPr id="9" name="">
            <a:extLst xmlns:a="http://schemas.openxmlformats.org/drawingml/2006/main">
              <a:ext uri="{FF2B5EF4-FFF2-40B4-BE49-F238E27FC236}">
                <a16:creationId xmlns:a16="http://schemas.microsoft.com/office/drawing/2014/main" id="{A9D7B850-B5AC-4327-8D2E-4CB284441822}"/>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排序 z₁、z₂、z₃</a:t>
            </a:r>
          </a:p>
        </p:txBody>
      </p:sp>
      <p:sp>
        <p:nvSpPr>
          <p:cNvPr id="10" name="">
            <a:extLst xmlns:a="http://schemas.openxmlformats.org/drawingml/2006/main">
              <a:ext uri="{FF2B5EF4-FFF2-40B4-BE49-F238E27FC236}">
                <a16:creationId xmlns:a16="http://schemas.microsoft.com/office/drawing/2014/main" id="{74F1CD79-FA11-4118-B6DB-FCD65531354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37254231-658D-40EE-BEFF-61D0AB80F85A}"/>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CB667A1A-A2DC-4163-82DE-B532DE4FEA39}"/>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 侧边界</a:t>
            </a:r>
          </a:p>
        </p:txBody>
      </p:sp>
      <p:sp>
        <p:nvSpPr>
          <p:cNvPr id="13" name="">
            <a:extLst xmlns:a="http://schemas.openxmlformats.org/drawingml/2006/main">
              <a:ext uri="{FF2B5EF4-FFF2-40B4-BE49-F238E27FC236}">
                <a16:creationId xmlns:a16="http://schemas.microsoft.com/office/drawing/2014/main" id="{7DC98B44-3D75-4AB8-9F8C-CCE48A099DCD}"/>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9CC581FE-077D-4F1C-AC2C-CF264DD4FDCB}"/>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1B66F2E-BDBC-4AC2-BBFA-B3CB4B0C83FB}"/>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 侧边界</a:t>
            </a:r>
          </a:p>
        </p:txBody>
      </p:sp>
      <p:sp>
        <p:nvSpPr>
          <p:cNvPr id="16" name="">
            <a:extLst xmlns:a="http://schemas.openxmlformats.org/drawingml/2006/main">
              <a:ext uri="{FF2B5EF4-FFF2-40B4-BE49-F238E27FC236}">
                <a16:creationId xmlns:a16="http://schemas.microsoft.com/office/drawing/2014/main" id="{3F2EE600-C198-4F7A-A68A-E9D75DBDCD1D}"/>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8479F2B8-8DD4-435C-8EDD-EB28BF9BF9AB}"/>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3570035A-50AA-417B-A98D-FCE671A07057}"/>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插入新 pair</a:t>
            </a:r>
          </a:p>
        </p:txBody>
      </p:sp>
      <p:sp>
        <p:nvSpPr>
          <p:cNvPr id="19" name="">
            <a:extLst xmlns:a="http://schemas.openxmlformats.org/drawingml/2006/main">
              <a:ext uri="{FF2B5EF4-FFF2-40B4-BE49-F238E27FC236}">
                <a16:creationId xmlns:a16="http://schemas.microsoft.com/office/drawing/2014/main" id="{7C5D222A-E0ED-48B6-9FB5-B290AD2D1325}"/>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4334D7A9-489C-45B6-AC02-142FFD2833F2}"/>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27F75B6E-4F4F-4BD9-B3A7-02CAA4971D1E}"/>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拆分 + 转移</a:t>
            </a:r>
          </a:p>
        </p:txBody>
      </p:sp>
      <p:sp>
        <p:nvSpPr>
          <p:cNvPr id="22" name="">
            <a:extLst xmlns:a="http://schemas.openxmlformats.org/drawingml/2006/main">
              <a:ext uri="{FF2B5EF4-FFF2-40B4-BE49-F238E27FC236}">
                <a16:creationId xmlns:a16="http://schemas.microsoft.com/office/drawing/2014/main" id="{8A953881-AECB-4245-977A-16D59F358D3F}"/>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A740470C-6025-4B76-96C3-2D45D22A325D}"/>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9FD8DA1-5C9F-43A1-BA1C-BA86D1E06265}"/>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将新点插入维护的顺序</a:t>
            </a:r>
          </a:p>
        </p:txBody>
      </p:sp>
      <p:cxnSp>
        <p:nvCxnSpPr>
          <p:cNvPr id="267"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68"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69"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70"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271"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7C405428-7FD7-4F00-AFAF-70AFFE9C97A3}"/>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340F1DA9-0141-4CAF-8DD6-05CB795E6562}"/>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原文明确规则</a:t>
            </a:r>
          </a:p>
        </p:txBody>
      </p:sp>
      <p:sp>
        <p:nvSpPr>
          <p:cNvPr id="32" name="">
            <a:extLst xmlns:a="http://schemas.openxmlformats.org/drawingml/2006/main">
              <a:ext uri="{FF2B5EF4-FFF2-40B4-BE49-F238E27FC236}">
                <a16:creationId xmlns:a16="http://schemas.microsoft.com/office/drawing/2014/main" id="{14D04A91-4054-4559-870F-109187CF43DF}"/>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结构</a:t>
            </a:r>
          </a:p>
        </p:txBody>
      </p:sp>
      <p:sp>
        <p:nvSpPr>
          <p:cNvPr id="33" name="">
            <a:extLst xmlns:a="http://schemas.openxmlformats.org/drawingml/2006/main">
              <a:ext uri="{FF2B5EF4-FFF2-40B4-BE49-F238E27FC236}">
                <a16:creationId xmlns:a16="http://schemas.microsoft.com/office/drawing/2014/main" id="{84D3A541-28CE-4981-90B7-19D2BBE82413}"/>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32B1C363-921C-4E7F-8076-35E0EA55D505}"/>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对称重构</a:t>
            </a:r>
          </a:p>
        </p:txBody>
      </p:sp>
      <p:sp>
        <p:nvSpPr>
          <p:cNvPr id="35" name="">
            <a:extLst xmlns:a="http://schemas.openxmlformats.org/drawingml/2006/main">
              <a:ext uri="{FF2B5EF4-FFF2-40B4-BE49-F238E27FC236}">
                <a16:creationId xmlns:a16="http://schemas.microsoft.com/office/drawing/2014/main" id="{E6297597-E023-4881-8322-DA479642E6B1}"/>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镜像的 decreasing orientation</a:t>
            </a:r>
          </a:p>
        </p:txBody>
      </p:sp>
      <p:sp>
        <p:nvSpPr>
          <p:cNvPr id="36" name="">
            <a:extLst xmlns:a="http://schemas.openxmlformats.org/drawingml/2006/main">
              <a:ext uri="{FF2B5EF4-FFF2-40B4-BE49-F238E27FC236}">
                <a16:creationId xmlns:a16="http://schemas.microsoft.com/office/drawing/2014/main" id="{0DFAD539-AD61-4FFB-A799-111B673C33EC}"/>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26A7B894-AC1A-4299-BE0E-6933FE0E237B}"/>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可执行化澄清</a:t>
            </a:r>
          </a:p>
        </p:txBody>
      </p:sp>
      <p:sp>
        <p:nvSpPr>
          <p:cNvPr id="38" name="">
            <a:extLst xmlns:a="http://schemas.openxmlformats.org/drawingml/2006/main">
              <a:ext uri="{FF2B5EF4-FFF2-40B4-BE49-F238E27FC236}">
                <a16:creationId xmlns:a16="http://schemas.microsoft.com/office/drawing/2014/main" id="{4A4D39E8-1E50-4E64-9D8B-906E0A658D1B}"/>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几何端点与奇数索引 z₁ anchor</a:t>
            </a:r>
          </a:p>
        </p:txBody>
      </p:sp>
    </p:spTree>
    <p:extLst>
      <p:ext uri="{BB962C8B-B14F-4D97-AF65-F5344CB8AC3E}">
        <p14:creationId xmlns:p14="http://schemas.microsoft.com/office/powerpoint/2010/main" val="1142159284"/>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CE383A7-F913-488A-95AF-609423FAE80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重构问题一</a:t>
            </a:r>
          </a:p>
        </p:txBody>
      </p:sp>
      <p:sp>
        <p:nvSpPr>
          <p:cNvPr id="2" name="">
            <a:extLst xmlns:a="http://schemas.openxmlformats.org/drawingml/2006/main">
              <a:ext uri="{FF2B5EF4-FFF2-40B4-BE49-F238E27FC236}">
                <a16:creationId xmlns:a16="http://schemas.microsoft.com/office/drawing/2014/main" id="{E19DBA0E-3899-494A-916E-33FFE813632B}"/>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使用几何极值，而不是第二个存储端点</a:t>
            </a:r>
          </a:p>
        </p:txBody>
      </p:sp>
      <p:sp>
        <p:nvSpPr>
          <p:cNvPr id="3" name="">
            <a:extLst xmlns:a="http://schemas.openxmlformats.org/drawingml/2006/main">
              <a:ext uri="{FF2B5EF4-FFF2-40B4-BE49-F238E27FC236}">
                <a16:creationId xmlns:a16="http://schemas.microsoft.com/office/drawing/2014/main" id="{A3B0F2EF-DE1B-4E8A-AF94-FF31D5AB2E7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8A969B9-4AE9-48A6-96F0-55D5AA4F395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755296E-FB68-464E-B3E4-59F45E5C350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A6050405-280A-49BB-BD17-62DCC8DE0B2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21E53D60-E8E4-4957-8B63-270E14379DD7}"/>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输入前缀</a:t>
            </a:r>
          </a:p>
        </p:txBody>
      </p:sp>
      <p:sp>
        <p:nvSpPr>
          <p:cNvPr id="8" name="">
            <a:extLst xmlns:a="http://schemas.openxmlformats.org/drawingml/2006/main">
              <a:ext uri="{FF2B5EF4-FFF2-40B4-BE49-F238E27FC236}">
                <a16:creationId xmlns:a16="http://schemas.microsoft.com/office/drawing/2014/main" id="{65415A9B-A7D3-4AA8-AC00-9A85CA7B96DC}"/>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B6239380-915E-4561-BEEA-AC075C2A3AAA}"/>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获得的 pair</a:t>
            </a:r>
          </a:p>
        </p:txBody>
      </p:sp>
      <p:sp>
        <p:nvSpPr>
          <p:cNvPr id="10" name="">
            <a:extLst xmlns:a="http://schemas.openxmlformats.org/drawingml/2006/main">
              <a:ext uri="{FF2B5EF4-FFF2-40B4-BE49-F238E27FC236}">
                <a16:creationId xmlns:a16="http://schemas.microsoft.com/office/drawing/2014/main" id="{7CAD6038-96A5-4B26-8CA3-4DA4F6005278}"/>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E6893848-4EA1-4632-9EDD-5C8ED3055AF7}"/>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3BC2E166-56E6-4955-AEF7-D8BD2BCDD75F}"/>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7111C24A-7FF1-4B0B-B430-9224D658B2BE}"/>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2B9EC00E-2784-4050-99DB-563F4C05866A}"/>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809756AC-3369-4AF0-9446-6F945401A8FC}"/>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DC96F826-BD8E-4E37-8F52-3D136B923139}"/>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43D694F8-B45D-4AD4-92C4-96397E53A327}"/>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72430165-32F7-4702-823B-6AE6E2DA9D68}"/>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5F2A0AC-1B40-4C79-9A57-1427DEDFFF01}"/>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0FE76C16-6441-4A8A-9899-EBBFEB2F596B}"/>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存储方向 3 → 2</a:t>
            </a:r>
          </a:p>
        </p:txBody>
      </p:sp>
      <p:sp>
        <p:nvSpPr>
          <p:cNvPr id="21" name="">
            <a:extLst xmlns:a="http://schemas.openxmlformats.org/drawingml/2006/main">
              <a:ext uri="{FF2B5EF4-FFF2-40B4-BE49-F238E27FC236}">
                <a16:creationId xmlns:a16="http://schemas.microsoft.com/office/drawing/2014/main" id="{937C9BE1-613A-46DD-A30C-76A9A7E855F1}"/>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几何坐标轴</a:t>
            </a:r>
          </a:p>
        </p:txBody>
      </p:sp>
      <p:sp>
        <p:nvSpPr>
          <p:cNvPr id="22" name="">
            <a:extLst xmlns:a="http://schemas.openxmlformats.org/drawingml/2006/main">
              <a:ext uri="{FF2B5EF4-FFF2-40B4-BE49-F238E27FC236}">
                <a16:creationId xmlns:a16="http://schemas.microsoft.com/office/drawing/2014/main" id="{E98A5A4F-1C56-4F78-8191-DC6AEDE16280}"/>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EF403E8E-447B-4D79-9544-9BAFB38E585D}"/>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曲线顺序端点</a:t>
            </a:r>
          </a:p>
        </p:txBody>
      </p:sp>
      <p:sp>
        <p:nvSpPr>
          <p:cNvPr id="24" name="">
            <a:extLst xmlns:a="http://schemas.openxmlformats.org/drawingml/2006/main">
              <a:ext uri="{FF2B5EF4-FFF2-40B4-BE49-F238E27FC236}">
                <a16:creationId xmlns:a16="http://schemas.microsoft.com/office/drawing/2014/main" id="{E81191B0-139D-457B-AAC4-70D118214B36}"/>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结果：[1, 2, 4, 3]</a:t>
            </a:r>
          </a:p>
        </p:txBody>
      </p:sp>
      <p:sp>
        <p:nvSpPr>
          <p:cNvPr id="25" name="">
            <a:extLst xmlns:a="http://schemas.openxmlformats.org/drawingml/2006/main">
              <a:ext uri="{FF2B5EF4-FFF2-40B4-BE49-F238E27FC236}">
                <a16:creationId xmlns:a16="http://schemas.microsoft.com/office/drawing/2014/main" id="{5C4F382E-3146-4F5F-9CE8-AF308F94D143}"/>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C7EC42E-392D-4F65-A3F3-9315170E3C79}"/>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几何端点</a:t>
            </a:r>
          </a:p>
        </p:txBody>
      </p:sp>
      <p:sp>
        <p:nvSpPr>
          <p:cNvPr id="27" name="">
            <a:extLst xmlns:a="http://schemas.openxmlformats.org/drawingml/2006/main">
              <a:ext uri="{FF2B5EF4-FFF2-40B4-BE49-F238E27FC236}">
                <a16:creationId xmlns:a16="http://schemas.microsoft.com/office/drawing/2014/main" id="{F93F37AD-79F9-4A70-AD7A-10E756344CD8}"/>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结果：[1, 2, 3, 4]</a:t>
            </a:r>
          </a:p>
        </p:txBody>
      </p:sp>
      <p:sp>
        <p:nvSpPr>
          <p:cNvPr id="28" name="">
            <a:extLst xmlns:a="http://schemas.openxmlformats.org/drawingml/2006/main">
              <a:ext uri="{FF2B5EF4-FFF2-40B4-BE49-F238E27FC236}">
                <a16:creationId xmlns:a16="http://schemas.microsoft.com/office/drawing/2014/main" id="{DFB12942-6C0D-4E81-A618-09D53DD743D3}"/>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可执行规则：选择几何极值。</a:t>
            </a:r>
          </a:p>
        </p:txBody>
      </p:sp>
      <p:sp>
        <p:nvSpPr>
          <p:cNvPr id="29" name="">
            <a:extLst xmlns:a="http://schemas.openxmlformats.org/drawingml/2006/main">
              <a:ext uri="{FF2B5EF4-FFF2-40B4-BE49-F238E27FC236}">
                <a16:creationId xmlns:a16="http://schemas.microsoft.com/office/drawing/2014/main" id="{F3DD4F1F-0A53-4E77-A0A9-F8FD773DB138}"/>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将其记录为重构澄清，而不是 1990 年论文的逐字规则。</a:t>
            </a:r>
          </a:p>
        </p:txBody>
      </p:sp>
    </p:spTree>
    <p:extLst>
      <p:ext uri="{BB962C8B-B14F-4D97-AF65-F5344CB8AC3E}">
        <p14:creationId xmlns:p14="http://schemas.microsoft.com/office/powerpoint/2010/main" val="198292998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CF6A973-080F-4157-AB1A-9A4E6542E6C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重构问题二</a:t>
            </a:r>
          </a:p>
        </p:txBody>
      </p:sp>
      <p:sp>
        <p:nvSpPr>
          <p:cNvPr id="2" name="">
            <a:extLst xmlns:a="http://schemas.openxmlformats.org/drawingml/2006/main">
              <a:ext uri="{FF2B5EF4-FFF2-40B4-BE49-F238E27FC236}">
                <a16:creationId xmlns:a16="http://schemas.microsoft.com/office/drawing/2014/main" id="{7CFCFE4B-AE96-4E4E-A951-F3252282CBE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奇数次迭代需要独立的 z₁ 输出 anchor 修正</a:t>
            </a:r>
          </a:p>
        </p:txBody>
      </p:sp>
      <p:sp>
        <p:nvSpPr>
          <p:cNvPr id="3" name="">
            <a:extLst xmlns:a="http://schemas.openxmlformats.org/drawingml/2006/main">
              <a:ext uri="{FF2B5EF4-FFF2-40B4-BE49-F238E27FC236}">
                <a16:creationId xmlns:a16="http://schemas.microsoft.com/office/drawing/2014/main" id="{18AD95B6-D297-44A3-8BA4-6874F17C3BE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DDC22834-9CD9-418E-81BE-345C0F898C5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20A6172-5EC5-4AFF-B0D5-BD0CD60D5A3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F776F8BE-0539-4AB2-843A-0BD7B2C0676A}"/>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68F795D3-62E6-4A90-96B1-16726182B014}"/>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8D296615-DF7C-4A5F-B754-082AF81D1221}"/>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普通几何基准 anchor = z₂ = 2</a:t>
            </a:r>
          </a:p>
        </p:txBody>
      </p:sp>
      <p:sp>
        <p:nvSpPr>
          <p:cNvPr id="9" name="">
            <a:extLst xmlns:a="http://schemas.openxmlformats.org/drawingml/2006/main">
              <a:ext uri="{FF2B5EF4-FFF2-40B4-BE49-F238E27FC236}">
                <a16:creationId xmlns:a16="http://schemas.microsoft.com/office/drawing/2014/main" id="{FE643176-DE51-4230-90B4-D34531A749C7}"/>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新点 0</a:t>
            </a:r>
          </a:p>
        </p:txBody>
      </p:sp>
      <p:sp>
        <p:nvSpPr>
          <p:cNvPr id="10" name="">
            <a:extLst xmlns:a="http://schemas.openxmlformats.org/drawingml/2006/main">
              <a:ext uri="{FF2B5EF4-FFF2-40B4-BE49-F238E27FC236}">
                <a16:creationId xmlns:a16="http://schemas.microsoft.com/office/drawing/2014/main" id="{65523251-645B-4BEF-A13F-12A485E1BCE5}"/>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890BF5D7-368C-41D7-8AB5-6BAEC8D0DE8C}"/>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插入到 2 之前</a:t>
            </a:r>
          </a:p>
        </p:txBody>
      </p:sp>
      <p:sp>
        <p:nvSpPr>
          <p:cNvPr id="12" name="">
            <a:extLst xmlns:a="http://schemas.openxmlformats.org/drawingml/2006/main">
              <a:ext uri="{FF2B5EF4-FFF2-40B4-BE49-F238E27FC236}">
                <a16:creationId xmlns:a16="http://schemas.microsoft.com/office/drawing/2014/main" id="{CA5507A9-13B6-4924-8083-C5D32B8EE51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673FEF22-9FD9-4F79-B872-39473489CDBE}"/>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09F5B03A-5E82-41FE-AA07-74E7CAC8DAF6}"/>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仍位于新点的错误一侧。</a:t>
            </a:r>
          </a:p>
        </p:txBody>
      </p:sp>
      <p:sp>
        <p:nvSpPr>
          <p:cNvPr id="15" name="">
            <a:extLst xmlns:a="http://schemas.openxmlformats.org/drawingml/2006/main">
              <a:ext uri="{FF2B5EF4-FFF2-40B4-BE49-F238E27FC236}">
                <a16:creationId xmlns:a16="http://schemas.microsoft.com/office/drawing/2014/main" id="{7AAE0A43-4793-41A3-8F86-646FEAE207CA}"/>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2974F43F-027D-4F03-9DF0-8B806B2FFC45}"/>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修正后的输出 anchor = z₁ = 1</a:t>
            </a:r>
          </a:p>
        </p:txBody>
      </p:sp>
      <p:sp>
        <p:nvSpPr>
          <p:cNvPr id="17" name="">
            <a:extLst xmlns:a="http://schemas.openxmlformats.org/drawingml/2006/main">
              <a:ext uri="{FF2B5EF4-FFF2-40B4-BE49-F238E27FC236}">
                <a16:creationId xmlns:a16="http://schemas.microsoft.com/office/drawing/2014/main" id="{0AA5D21A-357F-494A-AE57-95FFB35D6F26}"/>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新点 0</a:t>
            </a:r>
          </a:p>
        </p:txBody>
      </p:sp>
      <p:sp>
        <p:nvSpPr>
          <p:cNvPr id="18" name="">
            <a:extLst xmlns:a="http://schemas.openxmlformats.org/drawingml/2006/main">
              <a:ext uri="{FF2B5EF4-FFF2-40B4-BE49-F238E27FC236}">
                <a16:creationId xmlns:a16="http://schemas.microsoft.com/office/drawing/2014/main" id="{F56629F8-2880-4947-ADCF-424A40E6FCAA}"/>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C33638F6-AE44-4517-87D9-887F09762D18}"/>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插入到 z₁ 之前</a:t>
            </a:r>
          </a:p>
        </p:txBody>
      </p:sp>
      <p:sp>
        <p:nvSpPr>
          <p:cNvPr id="20" name="">
            <a:extLst xmlns:a="http://schemas.openxmlformats.org/drawingml/2006/main">
              <a:ext uri="{FF2B5EF4-FFF2-40B4-BE49-F238E27FC236}">
                <a16:creationId xmlns:a16="http://schemas.microsoft.com/office/drawing/2014/main" id="{5E5CA889-3395-4F17-82F2-84B8920C34A7}"/>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245C9C8C-F163-49EA-8829-5E9EB7C355AB}"/>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71F48FC6-F188-4D5F-8260-087E1971F33B}"/>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维护的 partial order 现在与几何坐标轴顺序一致。</a:t>
            </a:r>
          </a:p>
        </p:txBody>
      </p:sp>
      <p:sp>
        <p:nvSpPr>
          <p:cNvPr id="23" name="">
            <a:extLst xmlns:a="http://schemas.openxmlformats.org/drawingml/2006/main">
              <a:ext uri="{FF2B5EF4-FFF2-40B4-BE49-F238E27FC236}">
                <a16:creationId xmlns:a16="http://schemas.microsoft.com/office/drawing/2014/main" id="{168A2150-7912-4755-B72E-D07BCC9C9D3B}"/>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6702EF20-900F-4213-84A1-832499BC9913}"/>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有效前缀</a:t>
            </a:r>
          </a:p>
        </p:txBody>
      </p:sp>
      <p:sp>
        <p:nvSpPr>
          <p:cNvPr id="25" name="">
            <a:extLst xmlns:a="http://schemas.openxmlformats.org/drawingml/2006/main">
              <a:ext uri="{FF2B5EF4-FFF2-40B4-BE49-F238E27FC236}">
                <a16:creationId xmlns:a16="http://schemas.microsoft.com/office/drawing/2014/main" id="{C20C116E-979E-4610-BA2A-D59E9FD0A8C1}"/>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4BF69F51-F926-4711-91A3-B6C40ADD4701}"/>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9A6E0AC0-56F6-4CB5-BD4A-7D2397EB68A7}"/>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57B78BF2-CBDF-44B6-B89A-DE809410698E}"/>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两个独立决策</a:t>
            </a:r>
          </a:p>
        </p:txBody>
      </p:sp>
      <p:sp>
        <p:nvSpPr>
          <p:cNvPr id="29" name="">
            <a:extLst xmlns:a="http://schemas.openxmlformats.org/drawingml/2006/main">
              <a:ext uri="{FF2B5EF4-FFF2-40B4-BE49-F238E27FC236}">
                <a16:creationId xmlns:a16="http://schemas.microsoft.com/office/drawing/2014/main" id="{8AE9331B-BC56-4DF5-9B5A-0C4E2E89E3B5}"/>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边界 pair 选择</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输出 anchor 选择</a:t>
            </a:r>
          </a:p>
        </p:txBody>
      </p:sp>
      <p:sp>
        <p:nvSpPr>
          <p:cNvPr id="30" name="">
            <a:extLst xmlns:a="http://schemas.openxmlformats.org/drawingml/2006/main">
              <a:ext uri="{FF2B5EF4-FFF2-40B4-BE49-F238E27FC236}">
                <a16:creationId xmlns:a16="http://schemas.microsoft.com/office/drawing/2014/main" id="{C3D80F8D-7870-4865-9C85-B961F1F0A452}"/>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该修正独立于 predecessor / successor 边界选择。</a:t>
            </a:r>
          </a:p>
        </p:txBody>
      </p:sp>
    </p:spTree>
    <p:extLst>
      <p:ext uri="{BB962C8B-B14F-4D97-AF65-F5344CB8AC3E}">
        <p14:creationId xmlns:p14="http://schemas.microsoft.com/office/powerpoint/2010/main" val="1882387075"/>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3D54D596-F3FC-4A73-A1FC-1A5CCF23778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维护状态</a:t>
            </a:r>
          </a:p>
        </p:txBody>
      </p:sp>
      <p:sp>
        <p:nvSpPr>
          <p:cNvPr id="2" name="">
            <a:extLst xmlns:a="http://schemas.openxmlformats.org/drawingml/2006/main">
              <a:ext uri="{FF2B5EF4-FFF2-40B4-BE49-F238E27FC236}">
                <a16:creationId xmlns:a16="http://schemas.microsoft.com/office/drawing/2014/main" id="{477FCF6D-EC93-4D6E-9C5B-6EDD739E304A}"/>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 安全的拆分与转移</a:t>
            </a:r>
          </a:p>
        </p:txBody>
      </p:sp>
      <p:sp>
        <p:nvSpPr>
          <p:cNvPr id="3" name="">
            <a:extLst xmlns:a="http://schemas.openxmlformats.org/drawingml/2006/main">
              <a:ext uri="{FF2B5EF4-FFF2-40B4-BE49-F238E27FC236}">
                <a16:creationId xmlns:a16="http://schemas.microsoft.com/office/drawing/2014/main" id="{0394DA6C-4F11-44A2-A608-0700BD00728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81D18BC9-5609-4C90-A01F-63AFFFAF1B90}"/>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6C86AC6-A613-41F3-957D-C57F3AC1218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E5C45411-DFBB-452D-A6A4-7415824BA96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F36C93DA-0F5C-4879-BA19-131B281C8554}"/>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B49465D2-25CD-496D-BCE7-767399FCE1B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局部拆分与 ownership 转移</a:t>
            </a:r>
          </a:p>
        </p:txBody>
      </p:sp>
      <p:sp>
        <p:nvSpPr>
          <p:cNvPr id="9" name="">
            <a:extLst xmlns:a="http://schemas.openxmlformats.org/drawingml/2006/main">
              <a:ext uri="{FF2B5EF4-FFF2-40B4-BE49-F238E27FC236}">
                <a16:creationId xmlns:a16="http://schemas.microsoft.com/office/drawing/2014/main" id="{5D51F7EE-91BE-4054-BF6D-F4316A710F6F}"/>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之前</a:t>
            </a:r>
          </a:p>
        </p:txBody>
      </p:sp>
      <p:sp>
        <p:nvSpPr>
          <p:cNvPr id="10" name="">
            <a:extLst xmlns:a="http://schemas.openxmlformats.org/drawingml/2006/main">
              <a:ext uri="{FF2B5EF4-FFF2-40B4-BE49-F238E27FC236}">
                <a16:creationId xmlns:a16="http://schemas.microsoft.com/office/drawing/2014/main" id="{A163E281-28BB-485D-884C-D8787BF8667D}"/>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CD30A88-415D-4A39-A1D5-6A863DB96BF4}"/>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原 owner</a:t>
            </a:r>
          </a:p>
        </p:txBody>
      </p:sp>
      <p:sp>
        <p:nvSpPr>
          <p:cNvPr id="12" name="">
            <a:extLst xmlns:a="http://schemas.openxmlformats.org/drawingml/2006/main">
              <a:ext uri="{FF2B5EF4-FFF2-40B4-BE49-F238E27FC236}">
                <a16:creationId xmlns:a16="http://schemas.microsoft.com/office/drawing/2014/main" id="{DACF3EBB-63DC-4662-B765-FA601955990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拥有</a:t>
            </a:r>
          </a:p>
        </p:txBody>
      </p:sp>
      <p:sp>
        <p:nvSpPr>
          <p:cNvPr id="13" name="">
            <a:extLst xmlns:a="http://schemas.openxmlformats.org/drawingml/2006/main">
              <a:ext uri="{FF2B5EF4-FFF2-40B4-BE49-F238E27FC236}">
                <a16:creationId xmlns:a16="http://schemas.microsoft.com/office/drawing/2014/main" id="{4902CE60-DC94-46C2-8C76-D816F56508FC}"/>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5859D152-056B-4C11-8EB8-DFC0C3C9F814}"/>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保留部分  |  获得部分</a:t>
            </a:r>
          </a:p>
        </p:txBody>
      </p:sp>
      <p:sp>
        <p:nvSpPr>
          <p:cNvPr id="15" name="">
            <a:extLst xmlns:a="http://schemas.openxmlformats.org/drawingml/2006/main">
              <a:ext uri="{FF2B5EF4-FFF2-40B4-BE49-F238E27FC236}">
                <a16:creationId xmlns:a16="http://schemas.microsoft.com/office/drawing/2014/main" id="{45431B4B-9A17-4221-AD8C-1BEB98E9303F}"/>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拆分 + 转移</a:t>
            </a:r>
          </a:p>
        </p:txBody>
      </p:sp>
      <p:sp>
        <p:nvSpPr>
          <p:cNvPr id="16" name="">
            <a:extLst xmlns:a="http://schemas.openxmlformats.org/drawingml/2006/main">
              <a:ext uri="{FF2B5EF4-FFF2-40B4-BE49-F238E27FC236}">
                <a16:creationId xmlns:a16="http://schemas.microsoft.com/office/drawing/2014/main" id="{FAE9284A-398F-401D-A999-BD3FCA0AB5D1}"/>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B7D8B432-D260-41B6-A877-3F9ACC71CD31}"/>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之后</a:t>
            </a:r>
          </a:p>
        </p:txBody>
      </p:sp>
      <p:sp>
        <p:nvSpPr>
          <p:cNvPr id="18" name="">
            <a:extLst xmlns:a="http://schemas.openxmlformats.org/drawingml/2006/main">
              <a:ext uri="{FF2B5EF4-FFF2-40B4-BE49-F238E27FC236}">
                <a16:creationId xmlns:a16="http://schemas.microsoft.com/office/drawing/2014/main" id="{D3ECBD11-8C86-4339-B5B7-B73689788870}"/>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B9349E29-D777-41D0-AA9F-E5038E590A15}"/>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原 owner</a:t>
            </a:r>
          </a:p>
        </p:txBody>
      </p:sp>
      <p:sp>
        <p:nvSpPr>
          <p:cNvPr id="20" name="">
            <a:extLst xmlns:a="http://schemas.openxmlformats.org/drawingml/2006/main">
              <a:ext uri="{FF2B5EF4-FFF2-40B4-BE49-F238E27FC236}">
                <a16:creationId xmlns:a16="http://schemas.microsoft.com/office/drawing/2014/main" id="{500E3BA3-F2E8-4169-BC8F-B6DB1C98FDD9}"/>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9B0BE661-EB07-42E1-85D3-2B909787CEA3}"/>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4102A7DA-47BA-49B1-A585-34CFDF8E89D9}"/>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保留部分</a:t>
            </a:r>
          </a:p>
        </p:txBody>
      </p:sp>
      <p:sp>
        <p:nvSpPr>
          <p:cNvPr id="23" name="">
            <a:extLst xmlns:a="http://schemas.openxmlformats.org/drawingml/2006/main">
              <a:ext uri="{FF2B5EF4-FFF2-40B4-BE49-F238E27FC236}">
                <a16:creationId xmlns:a16="http://schemas.microsoft.com/office/drawing/2014/main" id="{F9385BF9-8906-4B47-8B2C-5EE4C5FEC89E}"/>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6ECC0A65-BACA-4FAA-8EFD-C3708C8CE1A2}"/>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新 owner</a:t>
            </a:r>
          </a:p>
        </p:txBody>
      </p:sp>
      <p:sp>
        <p:nvSpPr>
          <p:cNvPr id="25" name="">
            <a:extLst xmlns:a="http://schemas.openxmlformats.org/drawingml/2006/main">
              <a:ext uri="{FF2B5EF4-FFF2-40B4-BE49-F238E27FC236}">
                <a16:creationId xmlns:a16="http://schemas.microsoft.com/office/drawing/2014/main" id="{EBFE5D5D-90C7-407D-BFD6-5920C7AC1BC3}"/>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8E244710-A9E2-445F-A1D3-6556F15A6CF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8CEE874C-7992-44D2-8DB2-3165DB6F06D2}"/>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获得部分</a:t>
            </a:r>
          </a:p>
        </p:txBody>
      </p:sp>
      <p:sp>
        <p:nvSpPr>
          <p:cNvPr id="28" name="">
            <a:extLst xmlns:a="http://schemas.openxmlformats.org/drawingml/2006/main">
              <a:ext uri="{FF2B5EF4-FFF2-40B4-BE49-F238E27FC236}">
                <a16:creationId xmlns:a16="http://schemas.microsoft.com/office/drawing/2014/main" id="{D8987646-95D9-4F43-9D1A-738A6E720593}"/>
              </a:ext>
            </a:extLst>
          </p:cNvPr>
          <p:cNvSpPr>
            <a:spLocks xmlns:a="http://schemas.openxmlformats.org/drawingml/2006/main" noGrp="1"/>
          </p:cNvSpPr>
          <p:nvPr/>
        </p:nvSpPr>
        <p:spPr>
          <a:xfrm xmlns:a="http://schemas.openxmlformats.org/drawingml/2006/main">
            <a:off x="1143000" y="5010150"/>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只有 acquired 的非空片段改变 parent ownership。</a:t>
            </a:r>
          </a:p>
        </p:txBody>
      </p:sp>
      <p:sp>
        <p:nvSpPr>
          <p:cNvPr id="29" name="">
            <a:extLst xmlns:a="http://schemas.openxmlformats.org/drawingml/2006/main">
              <a:ext uri="{FF2B5EF4-FFF2-40B4-BE49-F238E27FC236}">
                <a16:creationId xmlns:a16="http://schemas.microsoft.com/office/drawing/2014/main" id="{567A850A-FEA6-4F95-82C1-D0C5A43B61BA}"/>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维护状态</a:t>
            </a:r>
          </a:p>
        </p:txBody>
      </p:sp>
      <p:sp>
        <p:nvSpPr>
          <p:cNvPr id="30" name="">
            <a:extLst xmlns:a="http://schemas.openxmlformats.org/drawingml/2006/main">
              <a:ext uri="{FF2B5EF4-FFF2-40B4-BE49-F238E27FC236}">
                <a16:creationId xmlns:a16="http://schemas.microsoft.com/office/drawing/2014/main" id="{266CC3D7-1DD3-4D89-9541-8857EDF0F390}"/>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8DA84FAF-62D9-4897-AC5A-ACA28917EF08}"/>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已处理前缀的排序结果</a:t>
            </a:r>
          </a:p>
        </p:txBody>
      </p:sp>
      <p:sp>
        <p:nvSpPr>
          <p:cNvPr id="32" name="">
            <a:extLst xmlns:a="http://schemas.openxmlformats.org/drawingml/2006/main">
              <a:ext uri="{FF2B5EF4-FFF2-40B4-BE49-F238E27FC236}">
                <a16:creationId xmlns:a16="http://schemas.microsoft.com/office/drawing/2014/main" id="{835896D2-2C4F-41C8-BAF4-1134F8E048A5}"/>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2F46D843-9631-4F02-A360-427C96AEB78A}"/>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 lower pair family</a:t>
            </a:r>
          </a:p>
        </p:txBody>
      </p:sp>
      <p:sp>
        <p:nvSpPr>
          <p:cNvPr id="34" name="">
            <a:extLst xmlns:a="http://schemas.openxmlformats.org/drawingml/2006/main">
              <a:ext uri="{FF2B5EF4-FFF2-40B4-BE49-F238E27FC236}">
                <a16:creationId xmlns:a16="http://schemas.microsoft.com/office/drawing/2014/main" id="{8B935E46-309E-4A8D-AC80-E752527565C3}"/>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5439712C-0C7D-48E0-90B1-9F6CAE188F32}"/>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每个有限 pair 仅有一个 parent</a:t>
            </a:r>
          </a:p>
        </p:txBody>
      </p:sp>
      <p:sp>
        <p:nvSpPr>
          <p:cNvPr id="36" name="">
            <a:extLst xmlns:a="http://schemas.openxmlformats.org/drawingml/2006/main">
              <a:ext uri="{FF2B5EF4-FFF2-40B4-BE49-F238E27FC236}">
                <a16:creationId xmlns:a16="http://schemas.microsoft.com/office/drawing/2014/main" id="{5B71E1E7-EF31-4DA0-8572-5055F0925075}"/>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78FDCB1C-A2A8-420D-B6F0-2E879BE8DE05}"/>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每个有限 pair 仅有一个 sibling-list owner</a:t>
            </a:r>
          </a:p>
        </p:txBody>
      </p:sp>
      <p:sp>
        <p:nvSpPr>
          <p:cNvPr id="38" name="">
            <a:extLst xmlns:a="http://schemas.openxmlformats.org/drawingml/2006/main">
              <a:ext uri="{FF2B5EF4-FFF2-40B4-BE49-F238E27FC236}">
                <a16:creationId xmlns:a16="http://schemas.microsoft.com/office/drawing/2014/main" id="{FD4B7B86-E31E-46AB-97EA-DCA8219024DA}"/>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事务式更新</a:t>
            </a:r>
          </a:p>
        </p:txBody>
      </p:sp>
      <p:sp>
        <p:nvSpPr>
          <p:cNvPr id="39" name="">
            <a:extLst xmlns:a="http://schemas.openxmlformats.org/drawingml/2006/main">
              <a:ext uri="{FF2B5EF4-FFF2-40B4-BE49-F238E27FC236}">
                <a16:creationId xmlns:a16="http://schemas.microsoft.com/office/drawing/2014/main" id="{A5787EC4-D154-4689-8A22-9C7E53D50665}"/>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保存状态  →  拆分  →  转移  →</a:t>
            </a:r>
          </a:p>
          <a:p xmlns:a="http://schemas.openxmlformats.org/drawingml/2006/main">
            <a:pPr algn="ctr">
              <a:lnSpc>
                <a:spcPct val="105000"/>
              </a:lnSpc>
              <a:buNone/>
              <a:defRPr sz="1500" b="0" i="0">
                <a:solidFill>
                  <a:srgbClr val="243B53"/>
                </a:solidFill>
              </a:defRPr>
            </a:pPr>
            <a:r>
              <a:rPr sz="1500" b="0" i="0">
                <a:solidFill>
                  <a:srgbClr val="243B53"/>
                </a:solidFill>
              </a:rPr>
              <a:t>检查后置条件  →  失败时回滚</a:t>
            </a:r>
          </a:p>
        </p:txBody>
      </p:sp>
      <p:sp>
        <p:nvSpPr>
          <p:cNvPr id="40" name="">
            <a:extLst xmlns:a="http://schemas.openxmlformats.org/drawingml/2006/main">
              <a:ext uri="{FF2B5EF4-FFF2-40B4-BE49-F238E27FC236}">
                <a16:creationId xmlns:a16="http://schemas.microsoft.com/office/drawing/2014/main" id="{9F2CFA9C-D15D-450B-B18C-C165D2649F3A}"/>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8C3B5AEA-72D8-4C34-AE28-C75B02285D04}"/>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普通列表使扫描、复制、切片与 ownership 重新绑定成为明确成本。</a:t>
            </a:r>
          </a:p>
        </p:txBody>
      </p:sp>
    </p:spTree>
    <p:extLst>
      <p:ext uri="{BB962C8B-B14F-4D97-AF65-F5344CB8AC3E}">
        <p14:creationId xmlns:p14="http://schemas.microsoft.com/office/powerpoint/2010/main" val="543944524"/>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319BA47-7323-4840-A7FC-5AACE79E3D7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验证</a:t>
            </a:r>
          </a:p>
        </p:txBody>
      </p:sp>
      <p:sp>
        <p:nvSpPr>
          <p:cNvPr id="2" name="">
            <a:extLst xmlns:a="http://schemas.openxmlformats.org/drawingml/2006/main">
              <a:ext uri="{FF2B5EF4-FFF2-40B4-BE49-F238E27FC236}">
                <a16:creationId xmlns:a16="http://schemas.microsoft.com/office/drawing/2014/main" id="{887EE91A-A99E-44AF-9B4E-608AFECE9B8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实现检查与实验一致性</a:t>
            </a:r>
          </a:p>
        </p:txBody>
      </p:sp>
      <p:sp>
        <p:nvSpPr>
          <p:cNvPr id="3" name="">
            <a:extLst xmlns:a="http://schemas.openxmlformats.org/drawingml/2006/main">
              <a:ext uri="{FF2B5EF4-FFF2-40B4-BE49-F238E27FC236}">
                <a16:creationId xmlns:a16="http://schemas.microsoft.com/office/drawing/2014/main" id="{85443379-36FE-4595-A17D-C2593229579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1B242C3-A016-4572-BDD0-E3E27DB46AB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4E3C1336-EA23-4F7D-8EDA-5D1A379931E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EB5C3392-5B82-404A-8238-3C0D70363B8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33" name="">
            <a:extLst xmlns:a="http://schemas.openxmlformats.org/drawingml/2006/main">
              <a:ext uri="{FF2B5EF4-FFF2-40B4-BE49-F238E27FC236}">
                <a16:creationId xmlns:a16="http://schemas.microsoft.com/office/drawing/2014/main" id="{F52AC86B-2CC7-4F0F-B20E-61027C928C73}"/>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a:solidFill>
                  <a:srgbClr val="187A84"/>
                </a:solidFill>
              </a:defRPr>
            </a:pPr>
            <a:r>
              <a:rPr sz="1125" b="1">
                <a:solidFill>
                  <a:srgbClr val="187A84"/>
                </a:solidFill>
              </a:rPr>
              <a:t>实现与状态验证</a:t>
            </a:r>
          </a:p>
        </p:txBody>
      </p:sp>
      <p:sp>
        <p:nvSpPr>
          <p:cNvPr id="34" name="">
            <a:extLst xmlns:a="http://schemas.openxmlformats.org/drawingml/2006/main">
              <a:ext uri="{FF2B5EF4-FFF2-40B4-BE49-F238E27FC236}">
                <a16:creationId xmlns:a16="http://schemas.microsoft.com/office/drawing/2014/main" id="{67FFC9D5-1FEB-4283-8ED5-4FE4D3D58289}"/>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a:solidFill>
                  <a:srgbClr val="D36B4A"/>
                </a:solidFill>
              </a:defRPr>
            </a:pPr>
            <a:r>
              <a:rPr sz="1125" b="1">
                <a:solidFill>
                  <a:srgbClr val="D36B4A"/>
                </a:solidFill>
              </a:rPr>
              <a:t>实验输出检查</a:t>
            </a:r>
          </a:p>
        </p:txBody>
      </p:sp>
      <p:sp>
        <p:nvSpPr>
          <p:cNvPr id="35" name="">
            <a:extLst xmlns:a="http://schemas.openxmlformats.org/drawingml/2006/main">
              <a:ext uri="{FF2B5EF4-FFF2-40B4-BE49-F238E27FC236}">
                <a16:creationId xmlns:a16="http://schemas.microsoft.com/office/drawing/2014/main" id="{DFB28C63-E5E9-48EA-9738-6109E5CAE012}"/>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4F3"/>
          </a:solidFill>
          <a:ln xmlns:a="http://schemas.openxmlformats.org/drawingml/2006/main" w="11430">
            <a:solidFill>
              <a:srgbClr val="187A84"/>
            </a:solidFill>
            <a:prstDash val="solid"/>
          </a:ln>
        </p:spPr>
      </p:sp>
      <p:sp>
        <p:nvSpPr>
          <p:cNvPr id="36" name="">
            <a:extLst xmlns:a="http://schemas.openxmlformats.org/drawingml/2006/main">
              <a:ext uri="{FF2B5EF4-FFF2-40B4-BE49-F238E27FC236}">
                <a16:creationId xmlns:a16="http://schemas.microsoft.com/office/drawing/2014/main" id="{90ABBBD4-F6B7-4D85-A16C-577D178D5C0C}"/>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a:solidFill>
                  <a:srgbClr val="243746"/>
                </a:solidFill>
              </a:defRPr>
            </a:pPr>
            <a:r>
              <a:rPr sz="1500" b="0">
                <a:solidFill>
                  <a:srgbClr val="243746"/>
                </a:solidFill>
              </a:rPr>
              <a:t>重点回归用例</a:t>
            </a:r>
          </a:p>
        </p:txBody>
      </p:sp>
      <p:sp>
        <p:nvSpPr>
          <p:cNvPr id="37" name="">
            <a:extLst xmlns:a="http://schemas.openxmlformats.org/drawingml/2006/main">
              <a:ext uri="{FF2B5EF4-FFF2-40B4-BE49-F238E27FC236}">
                <a16:creationId xmlns:a16="http://schemas.microsoft.com/office/drawing/2014/main" id="{A5E089FC-ECB9-45AD-B60A-E8AE35983B42}"/>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a:t>
            </a:r>
          </a:p>
        </p:txBody>
      </p:sp>
      <p:sp>
        <p:nvSpPr>
          <p:cNvPr id="38" name="">
            <a:extLst xmlns:a="http://schemas.openxmlformats.org/drawingml/2006/main">
              <a:ext uri="{FF2B5EF4-FFF2-40B4-BE49-F238E27FC236}">
                <a16:creationId xmlns:a16="http://schemas.microsoft.com/office/drawing/2014/main" id="{7DC4DF5D-8874-4618-96BF-42EB879878B5}"/>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4F3"/>
          </a:solidFill>
          <a:ln xmlns:a="http://schemas.openxmlformats.org/drawingml/2006/main" w="11430">
            <a:solidFill>
              <a:srgbClr val="187A84"/>
            </a:solidFill>
            <a:prstDash val="solid"/>
          </a:ln>
        </p:spPr>
      </p:sp>
      <p:sp>
        <p:nvSpPr>
          <p:cNvPr id="39" name="">
            <a:extLst xmlns:a="http://schemas.openxmlformats.org/drawingml/2006/main">
              <a:ext uri="{FF2B5EF4-FFF2-40B4-BE49-F238E27FC236}">
                <a16:creationId xmlns:a16="http://schemas.microsoft.com/office/drawing/2014/main" id="{D56ED2C9-F25D-48F5-8F3C-DBE96999C08E}"/>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a:solidFill>
                  <a:srgbClr val="243746"/>
                </a:solidFill>
              </a:defRPr>
            </a:pPr>
            <a:r>
              <a:rPr sz="1350" b="1">
                <a:solidFill>
                  <a:srgbClr val="243746"/>
                </a:solidFill>
              </a:rPr>
              <a:t>有界穷举验证</a:t>
            </a:r>
          </a:p>
          <a:p xmlns:a="http://schemas.openxmlformats.org/drawingml/2006/main">
            <a:pPr algn="ctr">
              <a:lnSpc>
                <a:spcPct val="105000"/>
              </a:lnSpc>
              <a:buNone/>
              <a:defRPr sz="1350" b="1">
                <a:solidFill>
                  <a:srgbClr val="243746"/>
                </a:solidFill>
              </a:defRPr>
            </a:pPr>
            <a:r>
              <a:rPr sz="1350" b="1">
                <a:solidFill>
                  <a:srgbClr val="243746"/>
                </a:solidFill>
              </a:rPr>
              <a:t>2,074 个 oracle-valid 排列，n ≤ 8</a:t>
            </a:r>
          </a:p>
        </p:txBody>
      </p:sp>
      <p:sp>
        <p:nvSpPr>
          <p:cNvPr id="40" name="">
            <a:extLst xmlns:a="http://schemas.openxmlformats.org/drawingml/2006/main">
              <a:ext uri="{FF2B5EF4-FFF2-40B4-BE49-F238E27FC236}">
                <a16:creationId xmlns:a16="http://schemas.microsoft.com/office/drawing/2014/main" id="{4C879051-7F58-4C2E-936A-C894B4016B9A}"/>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a:t>
            </a:r>
          </a:p>
        </p:txBody>
      </p:sp>
      <p:sp>
        <p:nvSpPr>
          <p:cNvPr id="41" name="">
            <a:extLst xmlns:a="http://schemas.openxmlformats.org/drawingml/2006/main">
              <a:ext uri="{FF2B5EF4-FFF2-40B4-BE49-F238E27FC236}">
                <a16:creationId xmlns:a16="http://schemas.microsoft.com/office/drawing/2014/main" id="{72ACB93E-B5CC-4978-A889-5E845A2AD383}"/>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4F3"/>
          </a:solidFill>
          <a:ln xmlns:a="http://schemas.openxmlformats.org/drawingml/2006/main" w="11430">
            <a:solidFill>
              <a:srgbClr val="187A84"/>
            </a:solidFill>
            <a:prstDash val="solid"/>
          </a:ln>
        </p:spPr>
      </p:sp>
      <p:sp>
        <p:nvSpPr>
          <p:cNvPr id="42" name="">
            <a:extLst xmlns:a="http://schemas.openxmlformats.org/drawingml/2006/main">
              <a:ext uri="{FF2B5EF4-FFF2-40B4-BE49-F238E27FC236}">
                <a16:creationId xmlns:a16="http://schemas.microsoft.com/office/drawing/2014/main" id="{755C337C-405F-4619-BDB3-A62D2EE00FB5}"/>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a:solidFill>
                  <a:srgbClr val="243746"/>
                </a:solidFill>
              </a:defRPr>
            </a:pPr>
            <a:r>
              <a:rPr sz="1500" b="0">
                <a:solidFill>
                  <a:srgbClr val="243746"/>
                </a:solidFill>
              </a:rPr>
              <a:t>checked-state audit</a:t>
            </a:r>
          </a:p>
        </p:txBody>
      </p:sp>
      <p:sp>
        <p:nvSpPr>
          <p:cNvPr id="43" name="">
            <a:extLst xmlns:a="http://schemas.openxmlformats.org/drawingml/2006/main">
              <a:ext uri="{FF2B5EF4-FFF2-40B4-BE49-F238E27FC236}">
                <a16:creationId xmlns:a16="http://schemas.microsoft.com/office/drawing/2014/main" id="{5CF3D8E6-9A1D-4F82-A68D-EF77417A2316}"/>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a:t>
            </a:r>
          </a:p>
        </p:txBody>
      </p:sp>
      <p:sp>
        <p:nvSpPr>
          <p:cNvPr id="44" name="">
            <a:extLst xmlns:a="http://schemas.openxmlformats.org/drawingml/2006/main">
              <a:ext uri="{FF2B5EF4-FFF2-40B4-BE49-F238E27FC236}">
                <a16:creationId xmlns:a16="http://schemas.microsoft.com/office/drawing/2014/main" id="{331B1B55-D0A6-4C42-8CC6-3B0D9FB8DDA6}"/>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4F3"/>
          </a:solidFill>
          <a:ln xmlns:a="http://schemas.openxmlformats.org/drawingml/2006/main" w="11430">
            <a:solidFill>
              <a:srgbClr val="187A84"/>
            </a:solidFill>
            <a:prstDash val="solid"/>
          </a:ln>
        </p:spPr>
      </p:sp>
      <p:sp>
        <p:nvSpPr>
          <p:cNvPr id="45" name="">
            <a:extLst xmlns:a="http://schemas.openxmlformats.org/drawingml/2006/main">
              <a:ext uri="{FF2B5EF4-FFF2-40B4-BE49-F238E27FC236}">
                <a16:creationId xmlns:a16="http://schemas.microsoft.com/office/drawing/2014/main" id="{E88503C1-7D0A-4046-B4C2-54179F3C0D7E}"/>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a:solidFill>
                  <a:srgbClr val="243746"/>
                </a:solidFill>
              </a:defRPr>
            </a:pPr>
            <a:r>
              <a:rPr sz="1500" b="0">
                <a:solidFill>
                  <a:srgbClr val="243746"/>
                </a:solidFill>
              </a:rPr>
              <a:t>同一 core 的确定性重放</a:t>
            </a:r>
          </a:p>
        </p:txBody>
      </p:sp>
      <p:sp>
        <p:nvSpPr>
          <p:cNvPr id="46" name="">
            <a:extLst xmlns:a="http://schemas.openxmlformats.org/drawingml/2006/main">
              <a:ext uri="{FF2B5EF4-FFF2-40B4-BE49-F238E27FC236}">
                <a16:creationId xmlns:a16="http://schemas.microsoft.com/office/drawing/2014/main" id="{794829F8-9718-478C-8E9D-220D28AAE38F}"/>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BEDE8"/>
          </a:solidFill>
          <a:ln xmlns:a="http://schemas.openxmlformats.org/drawingml/2006/main" w="14288">
            <a:solidFill>
              <a:srgbClr val="D36B4A"/>
            </a:solidFill>
            <a:prstDash val="solid"/>
          </a:ln>
        </p:spPr>
      </p:sp>
      <p:sp>
        <p:nvSpPr>
          <p:cNvPr id="47" name="">
            <a:extLst xmlns:a="http://schemas.openxmlformats.org/drawingml/2006/main">
              <a:ext uri="{FF2B5EF4-FFF2-40B4-BE49-F238E27FC236}">
                <a16:creationId xmlns:a16="http://schemas.microsoft.com/office/drawing/2014/main" id="{C4D1B5C1-01A3-4A67-809F-203B17D65117}"/>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a:solidFill>
                  <a:srgbClr val="243746"/>
                </a:solidFill>
              </a:defRPr>
            </a:pPr>
            <a:r>
              <a:rPr sz="1725" b="1">
                <a:solidFill>
                  <a:srgbClr val="243746"/>
                </a:solidFill>
              </a:rPr>
              <a:t>另一条验证路径确认保存的输出与固定实验设置及重算汇总一致。</a:t>
            </a:r>
          </a:p>
        </p:txBody>
      </p:sp>
      <p:sp>
        <p:nvSpPr>
          <p:cNvPr id="48" name="">
            <a:extLst xmlns:a="http://schemas.openxmlformats.org/drawingml/2006/main">
              <a:ext uri="{FF2B5EF4-FFF2-40B4-BE49-F238E27FC236}">
                <a16:creationId xmlns:a16="http://schemas.microsoft.com/office/drawing/2014/main" id="{D7D38EBF-ACA1-4562-BC5D-46BF627F7E40}"/>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a:solidFill>
                  <a:srgbClr val="5A6B78"/>
                </a:solidFill>
              </a:defRPr>
            </a:pPr>
            <a:r>
              <a:rPr sz="1275" b="0">
                <a:solidFill>
                  <a:srgbClr val="5A6B78"/>
                </a:solidFill>
              </a:rPr>
              <a:t>完整一致性检查：见备用 C</a:t>
            </a:r>
          </a:p>
        </p:txBody>
      </p:sp>
      <p:sp>
        <p:nvSpPr>
          <p:cNvPr id="49" name="">
            <a:extLst xmlns:a="http://schemas.openxmlformats.org/drawingml/2006/main">
              <a:ext uri="{FF2B5EF4-FFF2-40B4-BE49-F238E27FC236}">
                <a16:creationId xmlns:a16="http://schemas.microsoft.com/office/drawing/2014/main" id="{29B41B06-6625-435A-BF3F-D66B7B9AFF55}"/>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a:solidFill>
                  <a:srgbClr val="18324A"/>
                </a:solidFill>
              </a:defRPr>
            </a:pPr>
            <a:r>
              <a:rPr sz="1575" b="1">
                <a:solidFill>
                  <a:srgbClr val="18324A"/>
                </a:solidFill>
              </a:rPr>
              <a:t>这些检查支持已评估用例，但不是对全部 Jordan sequence 的证明。</a:t>
            </a:r>
          </a:p>
        </p:txBody>
      </p:sp>
    </p:spTree>
    <p:extLst>
      <p:ext uri="{BB962C8B-B14F-4D97-AF65-F5344CB8AC3E}">
        <p14:creationId xmlns:p14="http://schemas.microsoft.com/office/powerpoint/2010/main" val="674746864"/>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7513CB37-DA34-4751-88AB-218061CF302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实验方法</a:t>
            </a:r>
          </a:p>
        </p:txBody>
      </p:sp>
      <p:sp>
        <p:nvSpPr>
          <p:cNvPr id="2" name="">
            <a:extLst xmlns:a="http://schemas.openxmlformats.org/drawingml/2006/main">
              <a:ext uri="{FF2B5EF4-FFF2-40B4-BE49-F238E27FC236}">
                <a16:creationId xmlns:a16="http://schemas.microsoft.com/office/drawing/2014/main" id="{85AEC88A-EFF0-43DA-A58E-B87C1A40FAB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正式实验将认证与 audit 保持在 paper 计时之外</a:t>
            </a:r>
          </a:p>
        </p:txBody>
      </p:sp>
      <p:sp>
        <p:nvSpPr>
          <p:cNvPr id="3" name="">
            <a:extLst xmlns:a="http://schemas.openxmlformats.org/drawingml/2006/main">
              <a:ext uri="{FF2B5EF4-FFF2-40B4-BE49-F238E27FC236}">
                <a16:creationId xmlns:a16="http://schemas.microsoft.com/office/drawing/2014/main" id="{32DAE531-EA4D-4099-BF4B-3F1A3F9B49C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14BA395-BE0A-4CEB-AD20-FBD5B0CB1A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CB9FA0F-BB4F-4BCF-89E1-B0BD76709AA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CB40EB72-74A2-4179-85E3-779D64FC284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626BBE21-D32F-40B1-B05A-4D23DEF22A96}"/>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AFE1E696-1EAA-44AC-9EBE-349DBC716246}"/>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个规模  ×  12 个用例  ×  3 个算法  ×  20 次重复调用</a:t>
            </a:r>
          </a:p>
        </p:txBody>
      </p:sp>
      <p:sp>
        <p:nvSpPr>
          <p:cNvPr id="9" name="">
            <a:extLst xmlns:a="http://schemas.openxmlformats.org/drawingml/2006/main">
              <a:ext uri="{FF2B5EF4-FFF2-40B4-BE49-F238E27FC236}">
                <a16:creationId xmlns:a16="http://schemas.microsoft.com/office/drawing/2014/main" id="{61CF5983-0D24-409A-8414-E26BB58AEB54}"/>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条测量记录</a:t>
            </a:r>
          </a:p>
        </p:txBody>
      </p:sp>
      <p:sp>
        <p:nvSpPr>
          <p:cNvPr id="10" name="">
            <a:extLst xmlns:a="http://schemas.openxmlformats.org/drawingml/2006/main">
              <a:ext uri="{FF2B5EF4-FFF2-40B4-BE49-F238E27FC236}">
                <a16:creationId xmlns:a16="http://schemas.microsoft.com/office/drawing/2014/main" id="{3F9F505A-199E-43D8-8C96-B3679D183978}"/>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FBF02961-B189-4A46-AD65-366F3E87D773}"/>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生成</a:t>
            </a:r>
          </a:p>
        </p:txBody>
      </p:sp>
      <p:sp>
        <p:nvSpPr>
          <p:cNvPr id="12" name="">
            <a:extLst xmlns:a="http://schemas.openxmlformats.org/drawingml/2006/main">
              <a:ext uri="{FF2B5EF4-FFF2-40B4-BE49-F238E27FC236}">
                <a16:creationId xmlns:a16="http://schemas.microsoft.com/office/drawing/2014/main" id="{DBB2E503-6EF9-497C-A58F-2C1CEE7A666B}"/>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BEE9872B-EE64-402E-B56B-32C93B1FC8E0}"/>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认证</a:t>
            </a:r>
          </a:p>
        </p:txBody>
      </p:sp>
      <p:sp>
        <p:nvSpPr>
          <p:cNvPr id="14" name="">
            <a:extLst xmlns:a="http://schemas.openxmlformats.org/drawingml/2006/main">
              <a:ext uri="{FF2B5EF4-FFF2-40B4-BE49-F238E27FC236}">
                <a16:creationId xmlns:a16="http://schemas.microsoft.com/office/drawing/2014/main" id="{2405ABC9-E819-410D-BE60-05CED788AC92}"/>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23C06668-2780-45A9-B13D-2EEECD0C7712}"/>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0D9768F3-4760-4F54-9AB5-831EDA8033A8}"/>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D470E525-8303-4625-9FFA-98198A5DFF99}"/>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预热</a:t>
            </a:r>
          </a:p>
        </p:txBody>
      </p:sp>
      <p:sp>
        <p:nvSpPr>
          <p:cNvPr id="18" name="">
            <a:extLst xmlns:a="http://schemas.openxmlformats.org/drawingml/2006/main">
              <a:ext uri="{FF2B5EF4-FFF2-40B4-BE49-F238E27FC236}">
                <a16:creationId xmlns:a16="http://schemas.microsoft.com/office/drawing/2014/main" id="{7671190D-773E-4E3B-A490-F55133B097B6}"/>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28965313-1BE3-40BE-8873-B0B89494FEE3}"/>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测量</a:t>
            </a:r>
          </a:p>
        </p:txBody>
      </p:sp>
      <p:sp>
        <p:nvSpPr>
          <p:cNvPr id="20" name="">
            <a:extLst xmlns:a="http://schemas.openxmlformats.org/drawingml/2006/main">
              <a:ext uri="{FF2B5EF4-FFF2-40B4-BE49-F238E27FC236}">
                <a16:creationId xmlns:a16="http://schemas.microsoft.com/office/drawing/2014/main" id="{50A879CC-45EC-4C47-A508-523E31749C8A}"/>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77D9F07F-BD45-407B-8B8F-65CD2DF7A598}"/>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汇总</a:t>
            </a:r>
          </a:p>
        </p:txBody>
      </p:sp>
      <p:sp>
        <p:nvSpPr>
          <p:cNvPr id="22" name="">
            <a:extLst xmlns:a="http://schemas.openxmlformats.org/drawingml/2006/main">
              <a:ext uri="{FF2B5EF4-FFF2-40B4-BE49-F238E27FC236}">
                <a16:creationId xmlns:a16="http://schemas.microsoft.com/office/drawing/2014/main" id="{A5928DA0-978E-4180-86B2-6711DBDC4120}"/>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22ECAB2A-9BC3-43EB-A0B9-25728678A069}"/>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验证</a:t>
            </a:r>
          </a:p>
          <a:p xmlns:a="http://schemas.openxmlformats.org/drawingml/2006/main">
            <a:pPr algn="ctr">
              <a:lnSpc>
                <a:spcPct val="105000"/>
              </a:lnSpc>
              <a:buNone/>
              <a:defRPr sz="1350" b="1" i="0">
                <a:solidFill>
                  <a:srgbClr val="102A43"/>
                </a:solidFill>
              </a:defRPr>
            </a:pPr>
            <a:r>
              <a:rPr sz="1350" b="1" i="0">
                <a:solidFill>
                  <a:srgbClr val="102A43"/>
                </a:solidFill>
              </a:rPr>
              <a:t>并归档</a:t>
            </a:r>
          </a:p>
        </p:txBody>
      </p:sp>
      <p:cxnSp>
        <p:nvCxnSpPr>
          <p:cNvPr id="268"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69"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0"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1"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2"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273"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202C37E-C549-473E-A259-B150B9D5699E}"/>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71205807-069E-4ACF-9BFA-CA4F68F8C2CA}"/>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认证位于 paper 计时之外</a:t>
            </a:r>
          </a:p>
        </p:txBody>
      </p:sp>
      <p:sp>
        <p:nvSpPr>
          <p:cNvPr id="32" name="">
            <a:extLst xmlns:a="http://schemas.openxmlformats.org/drawingml/2006/main">
              <a:ext uri="{FF2B5EF4-FFF2-40B4-BE49-F238E27FC236}">
                <a16:creationId xmlns:a16="http://schemas.microsoft.com/office/drawing/2014/main" id="{BF133856-D029-46CA-A7C4-21C4CC1287FF}"/>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有效输入前置条件</a:t>
            </a:r>
          </a:p>
        </p:txBody>
      </p:sp>
      <p:sp>
        <p:nvSpPr>
          <p:cNvPr id="33" name="">
            <a:extLst xmlns:a="http://schemas.openxmlformats.org/drawingml/2006/main">
              <a:ext uri="{FF2B5EF4-FFF2-40B4-BE49-F238E27FC236}">
                <a16:creationId xmlns:a16="http://schemas.microsoft.com/office/drawing/2014/main" id="{1C4ED589-E1D5-4A8C-A2F1-E0CE9E4CD3BA}"/>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0D56A79E-3C0E-40C2-A0F8-E56B1B95AF68}"/>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5686"/>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位于 paper 计时之外</a:t>
            </a:r>
          </a:p>
        </p:txBody>
      </p:sp>
      <p:sp>
        <p:nvSpPr>
          <p:cNvPr id="35" name="">
            <a:extLst xmlns:a="http://schemas.openxmlformats.org/drawingml/2006/main">
              <a:ext uri="{FF2B5EF4-FFF2-40B4-BE49-F238E27FC236}">
                <a16:creationId xmlns:a16="http://schemas.microsoft.com/office/drawing/2014/main" id="{A7E6967C-C3F2-4372-A6A3-72ECC81B1DF3}"/>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每个 exact case 一次 audit</a:t>
            </a:r>
          </a:p>
        </p:txBody>
      </p:sp>
      <p:sp>
        <p:nvSpPr>
          <p:cNvPr id="36" name="">
            <a:extLst xmlns:a="http://schemas.openxmlformats.org/drawingml/2006/main">
              <a:ext uri="{FF2B5EF4-FFF2-40B4-BE49-F238E27FC236}">
                <a16:creationId xmlns:a16="http://schemas.microsoft.com/office/drawing/2014/main" id="{31DE5C6B-DECE-4C66-8AA9-9F946F9D6EF8}"/>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C8434034-BDB1-4C52-AED5-C22E5C76D413}"/>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位于计时内</a:t>
            </a:r>
          </a:p>
        </p:txBody>
      </p:sp>
      <p:sp>
        <p:nvSpPr>
          <p:cNvPr id="38" name="">
            <a:extLst xmlns:a="http://schemas.openxmlformats.org/drawingml/2006/main">
              <a:ext uri="{FF2B5EF4-FFF2-40B4-BE49-F238E27FC236}">
                <a16:creationId xmlns:a16="http://schemas.microsoft.com/office/drawing/2014/main" id="{8DDFCE0F-57C8-4CB7-AB36-B0DAF29A725F}"/>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输出恢复仍在计时内</a:t>
            </a:r>
          </a:p>
        </p:txBody>
      </p:sp>
      <p:sp>
        <p:nvSpPr>
          <p:cNvPr id="39" name="">
            <a:extLst xmlns:a="http://schemas.openxmlformats.org/drawingml/2006/main">
              <a:ext uri="{FF2B5EF4-FFF2-40B4-BE49-F238E27FC236}">
                <a16:creationId xmlns:a16="http://schemas.microsoft.com/office/drawing/2014/main" id="{E0190A84-3B4B-4B68-96A0-2BA5EDE180FB}"/>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计时包含完整 oracle-backed pipeline。Python 计时覆盖完整排序调用。</a:t>
            </a:r>
          </a:p>
        </p:txBody>
      </p:sp>
      <p:sp>
        <p:nvSpPr>
          <p:cNvPr id="40" name="">
            <a:extLst xmlns:a="http://schemas.openxmlformats.org/drawingml/2006/main">
              <a:ext uri="{FF2B5EF4-FFF2-40B4-BE49-F238E27FC236}">
                <a16:creationId xmlns:a16="http://schemas.microsoft.com/office/drawing/2014/main" id="{FFCCBD22-FAAE-4FBE-B581-D26DB2E213F8}"/>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E9570EB9-4BFA-43BC-BD53-C33383E763D5}"/>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与 reference 使用不同计时范围，因此该比值不是端到端加速。</a:t>
            </a:r>
          </a:p>
        </p:txBody>
      </p:sp>
    </p:spTree>
    <p:extLst>
      <p:ext uri="{BB962C8B-B14F-4D97-AF65-F5344CB8AC3E}">
        <p14:creationId xmlns:p14="http://schemas.microsoft.com/office/powerpoint/2010/main" val="579321941"/>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2F618C5-8E2E-47EE-B3D6-8F8EE276C0B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结果</a:t>
            </a:r>
          </a:p>
        </p:txBody>
      </p:sp>
      <p:sp>
        <p:nvSpPr>
          <p:cNvPr id="2" name="">
            <a:extLst xmlns:a="http://schemas.openxmlformats.org/drawingml/2006/main">
              <a:ext uri="{FF2B5EF4-FFF2-40B4-BE49-F238E27FC236}">
                <a16:creationId xmlns:a16="http://schemas.microsoft.com/office/drawing/2014/main" id="{9AF14AC5-B546-4912-BC78-A1FC5EBC3E3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全部 60 个评估用例均返回正确输出</a:t>
            </a:r>
          </a:p>
        </p:txBody>
      </p:sp>
      <p:sp>
        <p:nvSpPr>
          <p:cNvPr id="3" name="">
            <a:extLst xmlns:a="http://schemas.openxmlformats.org/drawingml/2006/main">
              <a:ext uri="{FF2B5EF4-FFF2-40B4-BE49-F238E27FC236}">
                <a16:creationId xmlns:a16="http://schemas.microsoft.com/office/drawing/2014/main" id="{263EBB64-9700-4695-A3FF-27D283CF1A0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04E14B0-2FAF-4AE3-A373-198079B3A14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425ADC-C883-4EF3-9401-274BCEAA7BE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4DFC0480-C3E3-4650-A8DD-CA1DCC6F912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21" name="">
            <a:extLst xmlns:a="http://schemas.openxmlformats.org/drawingml/2006/main">
              <a:ext uri="{FF2B5EF4-FFF2-40B4-BE49-F238E27FC236}">
                <a16:creationId xmlns:a16="http://schemas.microsoft.com/office/drawing/2014/main" id="{492E646C-9784-4D02-8670-7391E6743B8E}"/>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a:solidFill>
                  <a:srgbClr val="187A84"/>
                </a:solidFill>
              </a:defRPr>
            </a:pPr>
            <a:r>
              <a:rPr sz="5400" b="1">
                <a:solidFill>
                  <a:srgbClr val="187A84"/>
                </a:solidFill>
              </a:rPr>
              <a:t>60</a:t>
            </a:r>
          </a:p>
        </p:txBody>
      </p:sp>
      <p:sp>
        <p:nvSpPr>
          <p:cNvPr id="22" name="">
            <a:extLst xmlns:a="http://schemas.openxmlformats.org/drawingml/2006/main">
              <a:ext uri="{FF2B5EF4-FFF2-40B4-BE49-F238E27FC236}">
                <a16:creationId xmlns:a16="http://schemas.microsoft.com/office/drawing/2014/main" id="{276F15B7-CA4A-48D4-8A71-A9F383090FB1}"/>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18324A"/>
                </a:solidFill>
              </a:defRPr>
            </a:pPr>
            <a:r>
              <a:rPr sz="1950" b="1">
                <a:solidFill>
                  <a:srgbClr val="18324A"/>
                </a:solidFill>
              </a:rPr>
              <a:t>exact cases</a:t>
            </a:r>
          </a:p>
        </p:txBody>
      </p:sp>
      <p:sp>
        <p:nvSpPr>
          <p:cNvPr id="23" name="">
            <a:extLst xmlns:a="http://schemas.openxmlformats.org/drawingml/2006/main">
              <a:ext uri="{FF2B5EF4-FFF2-40B4-BE49-F238E27FC236}">
                <a16:creationId xmlns:a16="http://schemas.microsoft.com/office/drawing/2014/main" id="{7C110DA7-BA4A-49C9-93D3-BC17A6422A90}"/>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a:solidFill>
                  <a:srgbClr val="2E8B57"/>
                </a:solidFill>
              </a:defRPr>
            </a:pPr>
            <a:r>
              <a:rPr sz="5400" b="1">
                <a:solidFill>
                  <a:srgbClr val="2E8B57"/>
                </a:solidFill>
              </a:rPr>
              <a:t>0</a:t>
            </a:r>
          </a:p>
        </p:txBody>
      </p:sp>
      <p:sp>
        <p:nvSpPr>
          <p:cNvPr id="24" name="">
            <a:extLst xmlns:a="http://schemas.openxmlformats.org/drawingml/2006/main">
              <a:ext uri="{FF2B5EF4-FFF2-40B4-BE49-F238E27FC236}">
                <a16:creationId xmlns:a16="http://schemas.microsoft.com/office/drawing/2014/main" id="{BFF574DA-5C2F-45F9-BC3E-D6A8278BBFD6}"/>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18324A"/>
                </a:solidFill>
              </a:defRPr>
            </a:pPr>
            <a:r>
              <a:rPr sz="1950" b="1">
                <a:solidFill>
                  <a:srgbClr val="18324A"/>
                </a:solidFill>
              </a:rPr>
              <a:t>记录的正确性错误</a:t>
            </a:r>
          </a:p>
        </p:txBody>
      </p:sp>
      <p:sp>
        <p:nvSpPr>
          <p:cNvPr id="25" name="">
            <a:extLst xmlns:a="http://schemas.openxmlformats.org/drawingml/2006/main">
              <a:ext uri="{FF2B5EF4-FFF2-40B4-BE49-F238E27FC236}">
                <a16:creationId xmlns:a16="http://schemas.microsoft.com/office/drawing/2014/main" id="{7D066514-866D-4E7E-B31F-BC89F3DF3DF9}"/>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CBD5DE"/>
            </a:solidFill>
            <a:prstDash val="solid"/>
          </a:ln>
        </p:spPr>
      </p:sp>
      <p:sp>
        <p:nvSpPr>
          <p:cNvPr id="26" name="">
            <a:extLst xmlns:a="http://schemas.openxmlformats.org/drawingml/2006/main">
              <a:ext uri="{FF2B5EF4-FFF2-40B4-BE49-F238E27FC236}">
                <a16:creationId xmlns:a16="http://schemas.microsoft.com/office/drawing/2014/main" id="{E4A5421D-19F9-4626-B39F-1F9000DBF7D4}"/>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a:solidFill>
                  <a:srgbClr val="18324A"/>
                </a:solidFill>
              </a:defRPr>
            </a:pPr>
            <a:r>
              <a:rPr sz="2175" b="1">
                <a:solidFill>
                  <a:srgbClr val="18324A"/>
                </a:solidFill>
              </a:rPr>
              <a:t>每个用例均在计时前完成 oracle 认证和一次检查。</a:t>
            </a:r>
          </a:p>
        </p:txBody>
      </p:sp>
      <p:sp>
        <p:nvSpPr>
          <p:cNvPr id="27" name="">
            <a:extLst xmlns:a="http://schemas.openxmlformats.org/drawingml/2006/main">
              <a:ext uri="{FF2B5EF4-FFF2-40B4-BE49-F238E27FC236}">
                <a16:creationId xmlns:a16="http://schemas.microsoft.com/office/drawing/2014/main" id="{4258502F-41A3-4522-950E-39D6E3A705F2}"/>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8324A"/>
            </a:solidFill>
            <a:prstDash val="solid"/>
          </a:ln>
        </p:spPr>
      </p:sp>
      <p:sp>
        <p:nvSpPr>
          <p:cNvPr id="28" name="">
            <a:extLst xmlns:a="http://schemas.openxmlformats.org/drawingml/2006/main">
              <a:ext uri="{FF2B5EF4-FFF2-40B4-BE49-F238E27FC236}">
                <a16:creationId xmlns:a16="http://schemas.microsoft.com/office/drawing/2014/main" id="{A37DC4E0-6AFC-4906-B04A-E3F5609FCBC4}"/>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a:solidFill>
                  <a:srgbClr val="243746"/>
                </a:solidFill>
              </a:defRPr>
            </a:pPr>
            <a:r>
              <a:rPr sz="1650" b="0">
                <a:solidFill>
                  <a:srgbClr val="243746"/>
                </a:solidFill>
              </a:rPr>
              <a:t>3,600 条计时记录携带对应的 case-level audit 结果。</a:t>
            </a:r>
          </a:p>
        </p:txBody>
      </p:sp>
      <p:sp>
        <p:nvSpPr>
          <p:cNvPr id="29" name="">
            <a:extLst xmlns:a="http://schemas.openxmlformats.org/drawingml/2006/main">
              <a:ext uri="{FF2B5EF4-FFF2-40B4-BE49-F238E27FC236}">
                <a16:creationId xmlns:a16="http://schemas.microsoft.com/office/drawing/2014/main" id="{8D59FC4B-1354-43F8-8063-89005C000E2A}"/>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a:solidFill>
                  <a:srgbClr val="D36B4A"/>
                </a:solidFill>
              </a:defRPr>
            </a:pPr>
            <a:r>
              <a:rPr sz="1500" b="1">
                <a:solidFill>
                  <a:srgbClr val="D36B4A"/>
                </a:solidFill>
              </a:rPr>
              <a:t>这些结果仅覆盖本次测试的有效用例。</a:t>
            </a:r>
          </a:p>
        </p:txBody>
      </p:sp>
    </p:spTree>
    <p:extLst>
      <p:ext uri="{BB962C8B-B14F-4D97-AF65-F5344CB8AC3E}">
        <p14:creationId xmlns:p14="http://schemas.microsoft.com/office/powerpoint/2010/main" val="63327010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9024E2-BC7E-421E-A918-A7A3090D039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结果</a:t>
            </a:r>
          </a:p>
        </p:txBody>
      </p:sp>
      <p:sp>
        <p:nvSpPr>
          <p:cNvPr id="2" name="">
            <a:extLst xmlns:a="http://schemas.openxmlformats.org/drawingml/2006/main">
              <a:ext uri="{FF2B5EF4-FFF2-40B4-BE49-F238E27FC236}">
                <a16:creationId xmlns:a16="http://schemas.microsoft.com/office/drawing/2014/main" id="{4638B7AC-ACBC-4792-8BBB-94198C84853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paper/reference 比值随五个测试规模下降</a:t>
            </a:r>
          </a:p>
        </p:txBody>
      </p:sp>
      <p:sp>
        <p:nvSpPr>
          <p:cNvPr id="3" name="">
            <a:extLst xmlns:a="http://schemas.openxmlformats.org/drawingml/2006/main">
              <a:ext uri="{FF2B5EF4-FFF2-40B4-BE49-F238E27FC236}">
                <a16:creationId xmlns:a16="http://schemas.microsoft.com/office/drawing/2014/main" id="{05E4509C-23BE-4BC0-B4A3-902578197F0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5EA896B0-434D-46C8-98A3-1F51D3C5585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5BEA2DB-0DDC-4BDB-A9DC-8EA4147D59F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3C4826FA-B7C4-4F55-9343-BA076408AF1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7"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2bda0ec29d9d4bfa"/>
          </a:graphicData>
        </a:graphic>
      </p:graphicFrame>
      <p:sp>
        <p:nvSpPr>
          <p:cNvPr id="8" name="">
            <a:extLst xmlns:a="http://schemas.openxmlformats.org/drawingml/2006/main">
              <a:ext uri="{FF2B5EF4-FFF2-40B4-BE49-F238E27FC236}">
                <a16:creationId xmlns:a16="http://schemas.microsoft.com/office/drawing/2014/main" id="{4543DFB3-6032-4EE7-A8E5-E7EB0EF44CD7}"/>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1B1C30F-2E01-43DF-8C75-71DD049BE661}"/>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6998DE55-0D9E-447F-A52D-42DCB35861DF}"/>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n = 32 时</a:t>
            </a:r>
          </a:p>
        </p:txBody>
      </p:sp>
      <p:sp>
        <p:nvSpPr>
          <p:cNvPr id="11" name="">
            <a:extLst xmlns:a="http://schemas.openxmlformats.org/drawingml/2006/main">
              <a:ext uri="{FF2B5EF4-FFF2-40B4-BE49-F238E27FC236}">
                <a16:creationId xmlns:a16="http://schemas.microsoft.com/office/drawing/2014/main" id="{8CA81198-8D25-4B06-8E6E-0CB38F26E8CA}"/>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646AC3B2-0203-45C6-9F04-DDA21FC24C2C}"/>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DF70CD2E-9ED9-4A39-8AEA-0D7813CB89B4}"/>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n = 512 时</a:t>
            </a:r>
          </a:p>
        </p:txBody>
      </p:sp>
      <p:sp>
        <p:nvSpPr>
          <p:cNvPr id="14" name="">
            <a:extLst xmlns:a="http://schemas.openxmlformats.org/drawingml/2006/main">
              <a:ext uri="{FF2B5EF4-FFF2-40B4-BE49-F238E27FC236}">
                <a16:creationId xmlns:a16="http://schemas.microsoft.com/office/drawing/2014/main" id="{EA85DF50-7041-4223-86FE-33A2D7DA3FFB}"/>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0B46C1C1-EF2E-4B90-A50A-7FEC475990D6}"/>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观测到的交叉点</a:t>
            </a:r>
          </a:p>
        </p:txBody>
      </p:sp>
      <p:sp>
        <p:nvSpPr>
          <p:cNvPr id="16" name="">
            <a:extLst xmlns:a="http://schemas.openxmlformats.org/drawingml/2006/main">
              <a:ext uri="{FF2B5EF4-FFF2-40B4-BE49-F238E27FC236}">
                <a16:creationId xmlns:a16="http://schemas.microsoft.com/office/drawing/2014/main" id="{299B3E80-E1E6-4904-983B-18F5950AFF2E}"/>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位于测试规模 128 与 256 之间</a:t>
            </a:r>
          </a:p>
        </p:txBody>
      </p:sp>
      <p:sp>
        <p:nvSpPr>
          <p:cNvPr id="17" name="">
            <a:extLst xmlns:a="http://schemas.openxmlformats.org/drawingml/2006/main">
              <a:ext uri="{FF2B5EF4-FFF2-40B4-BE49-F238E27FC236}">
                <a16:creationId xmlns:a16="http://schemas.microsoft.com/office/drawing/2014/main" id="{91FCFDCA-B2A3-4DE1-A0E9-D5AD66CCD26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2E1AFA51-13FB-47AB-BE23-FD3E1B919571}"/>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五个规模  |  普通列表  |  不同计时范围</a:t>
            </a:r>
          </a:p>
        </p:txBody>
      </p:sp>
    </p:spTree>
    <p:extLst>
      <p:ext uri="{BB962C8B-B14F-4D97-AF65-F5344CB8AC3E}">
        <p14:creationId xmlns:p14="http://schemas.microsoft.com/office/powerpoint/2010/main" val="115269415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DA3F62F-CF26-4DDA-85E3-2C743974A5F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结果解释</a:t>
            </a:r>
          </a:p>
        </p:txBody>
      </p:sp>
      <p:sp>
        <p:nvSpPr>
          <p:cNvPr id="2" name="">
            <a:extLst xmlns:a="http://schemas.openxmlformats.org/drawingml/2006/main">
              <a:ext uri="{FF2B5EF4-FFF2-40B4-BE49-F238E27FC236}">
                <a16:creationId xmlns:a16="http://schemas.microsoft.com/office/drawing/2014/main" id="{4C0B9F2B-ED66-459E-9299-0A273B96525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当前证据说明了什么</a:t>
            </a:r>
          </a:p>
        </p:txBody>
      </p:sp>
      <p:sp>
        <p:nvSpPr>
          <p:cNvPr id="3" name="">
            <a:extLst xmlns:a="http://schemas.openxmlformats.org/drawingml/2006/main">
              <a:ext uri="{FF2B5EF4-FFF2-40B4-BE49-F238E27FC236}">
                <a16:creationId xmlns:a16="http://schemas.microsoft.com/office/drawing/2014/main" id="{C0222F51-51C4-4FD8-AA24-24F7B67846D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5CAF263-2F5B-478A-9689-F6F309D5B557}"/>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32F05FB-58DC-4BCA-A728-256A6AFFC48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418BBFBA-0FA7-4699-B755-31DB7E82449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30" name="">
            <a:extLst xmlns:a="http://schemas.openxmlformats.org/drawingml/2006/main">
              <a:ext uri="{FF2B5EF4-FFF2-40B4-BE49-F238E27FC236}">
                <a16:creationId xmlns:a16="http://schemas.microsoft.com/office/drawing/2014/main" id="{F6D9052C-2E4F-4905-AB39-60D4882E7AB0}"/>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4F3"/>
          </a:solidFill>
          <a:ln xmlns:a="http://schemas.openxmlformats.org/drawingml/2006/main" w="19050">
            <a:solidFill>
              <a:srgbClr val="187A84"/>
            </a:solidFill>
            <a:prstDash val="solid"/>
          </a:ln>
        </p:spPr>
      </p:sp>
      <p:sp>
        <p:nvSpPr>
          <p:cNvPr id="31" name="">
            <a:extLst xmlns:a="http://schemas.openxmlformats.org/drawingml/2006/main">
              <a:ext uri="{FF2B5EF4-FFF2-40B4-BE49-F238E27FC236}">
                <a16:creationId xmlns:a16="http://schemas.microsoft.com/office/drawing/2014/main" id="{1A678C18-6B9D-4719-A070-9770424D997C}"/>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BEDE8"/>
          </a:solidFill>
          <a:ln xmlns:a="http://schemas.openxmlformats.org/drawingml/2006/main" w="19050">
            <a:solidFill>
              <a:srgbClr val="D36B4A"/>
            </a:solidFill>
            <a:prstDash val="solid"/>
          </a:ln>
        </p:spPr>
      </p:sp>
      <p:sp>
        <p:nvSpPr>
          <p:cNvPr id="32" name="">
            <a:extLst xmlns:a="http://schemas.openxmlformats.org/drawingml/2006/main">
              <a:ext uri="{FF2B5EF4-FFF2-40B4-BE49-F238E27FC236}">
                <a16:creationId xmlns:a16="http://schemas.microsoft.com/office/drawing/2014/main" id="{DF786850-49F2-4FD7-A417-F5C877BB6FA1}"/>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187A84"/>
                </a:solidFill>
              </a:defRPr>
            </a:pPr>
            <a:r>
              <a:rPr sz="1950" b="1">
                <a:solidFill>
                  <a:srgbClr val="187A84"/>
                </a:solidFill>
              </a:rPr>
              <a:t>当前结果</a:t>
            </a:r>
          </a:p>
        </p:txBody>
      </p:sp>
      <p:sp>
        <p:nvSpPr>
          <p:cNvPr id="33" name="">
            <a:extLst xmlns:a="http://schemas.openxmlformats.org/drawingml/2006/main">
              <a:ext uri="{FF2B5EF4-FFF2-40B4-BE49-F238E27FC236}">
                <a16:creationId xmlns:a16="http://schemas.microsoft.com/office/drawing/2014/main" id="{776A3770-411E-4E00-8193-2A2DD1746663}"/>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a:solidFill>
                  <a:srgbClr val="D36B4A"/>
                </a:solidFill>
              </a:defRPr>
            </a:pPr>
            <a:r>
              <a:rPr sz="1950" b="1">
                <a:solidFill>
                  <a:srgbClr val="D36B4A"/>
                </a:solidFill>
              </a:rPr>
              <a:t>主要限制</a:t>
            </a:r>
          </a:p>
        </p:txBody>
      </p:sp>
      <p:sp>
        <p:nvSpPr>
          <p:cNvPr id="34" name="">
            <a:extLst xmlns:a="http://schemas.openxmlformats.org/drawingml/2006/main">
              <a:ext uri="{FF2B5EF4-FFF2-40B4-BE49-F238E27FC236}">
                <a16:creationId xmlns:a16="http://schemas.microsoft.com/office/drawing/2014/main" id="{502EEEF3-04F7-4552-BB38-0C829EAC76A3}"/>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187A84"/>
          </a:solidFill>
          <a:ln xmlns:a="http://schemas.openxmlformats.org/drawingml/2006/main" w="0">
            <a:solidFill>
              <a:srgbClr val="187A84"/>
            </a:solidFill>
            <a:prstDash val="solid"/>
          </a:ln>
        </p:spPr>
      </p:sp>
      <p:sp>
        <p:nvSpPr>
          <p:cNvPr id="35" name="">
            <a:extLst xmlns:a="http://schemas.openxmlformats.org/drawingml/2006/main">
              <a:ext uri="{FF2B5EF4-FFF2-40B4-BE49-F238E27FC236}">
                <a16:creationId xmlns:a16="http://schemas.microsoft.com/office/drawing/2014/main" id="{E032722B-3F7D-4D1D-B524-8971777C6D3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可执行重构从维护状态恢复输出</a:t>
            </a:r>
          </a:p>
        </p:txBody>
      </p:sp>
      <p:sp>
        <p:nvSpPr>
          <p:cNvPr id="36" name="">
            <a:extLst xmlns:a="http://schemas.openxmlformats.org/drawingml/2006/main">
              <a:ext uri="{FF2B5EF4-FFF2-40B4-BE49-F238E27FC236}">
                <a16:creationId xmlns:a16="http://schemas.microsoft.com/office/drawing/2014/main" id="{8063D65C-D7CF-4234-A55B-AF01D76403E4}"/>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187A84"/>
          </a:solidFill>
          <a:ln xmlns:a="http://schemas.openxmlformats.org/drawingml/2006/main" w="0">
            <a:solidFill>
              <a:srgbClr val="187A84"/>
            </a:solidFill>
            <a:prstDash val="solid"/>
          </a:ln>
        </p:spPr>
      </p:sp>
      <p:sp>
        <p:nvSpPr>
          <p:cNvPr id="37" name="">
            <a:extLst xmlns:a="http://schemas.openxmlformats.org/drawingml/2006/main">
              <a:ext uri="{FF2B5EF4-FFF2-40B4-BE49-F238E27FC236}">
                <a16:creationId xmlns:a16="http://schemas.microsoft.com/office/drawing/2014/main" id="{0C1F941E-D16C-4A04-9479-9508A35E6FB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在已评估用例中得到正确输出与固定范围的运行时间趋势</a:t>
            </a:r>
          </a:p>
        </p:txBody>
      </p:sp>
      <p:sp>
        <p:nvSpPr>
          <p:cNvPr id="38" name="">
            <a:extLst xmlns:a="http://schemas.openxmlformats.org/drawingml/2006/main">
              <a:ext uri="{FF2B5EF4-FFF2-40B4-BE49-F238E27FC236}">
                <a16:creationId xmlns:a16="http://schemas.microsoft.com/office/drawing/2014/main" id="{8ACE35F4-0638-4969-99D0-AC153FC3746E}"/>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D36B4A"/>
          </a:solidFill>
          <a:ln xmlns:a="http://schemas.openxmlformats.org/drawingml/2006/main" w="0">
            <a:solidFill>
              <a:srgbClr val="D36B4A"/>
            </a:solidFill>
            <a:prstDash val="solid"/>
          </a:ln>
        </p:spPr>
      </p:sp>
      <p:sp>
        <p:nvSpPr>
          <p:cNvPr id="39" name="">
            <a:extLst xmlns:a="http://schemas.openxmlformats.org/drawingml/2006/main">
              <a:ext uri="{FF2B5EF4-FFF2-40B4-BE49-F238E27FC236}">
                <a16:creationId xmlns:a16="http://schemas.microsoft.com/office/drawing/2014/main" id="{0DE0DC3D-E619-4D82-A371-9D1051569E38}"/>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普通列表不能证明线性时间实现</a:t>
            </a:r>
          </a:p>
        </p:txBody>
      </p:sp>
      <p:sp>
        <p:nvSpPr>
          <p:cNvPr id="40" name="">
            <a:extLst xmlns:a="http://schemas.openxmlformats.org/drawingml/2006/main">
              <a:ext uri="{FF2B5EF4-FFF2-40B4-BE49-F238E27FC236}">
                <a16:creationId xmlns:a16="http://schemas.microsoft.com/office/drawing/2014/main" id="{B5F0F9FA-698E-47D1-B599-0BFE20777A69}"/>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D36B4A"/>
          </a:solidFill>
          <a:ln xmlns:a="http://schemas.openxmlformats.org/drawingml/2006/main" w="0">
            <a:solidFill>
              <a:srgbClr val="D36B4A"/>
            </a:solidFill>
            <a:prstDash val="solid"/>
          </a:ln>
        </p:spPr>
      </p:sp>
      <p:sp>
        <p:nvSpPr>
          <p:cNvPr id="41" name="">
            <a:extLst xmlns:a="http://schemas.openxmlformats.org/drawingml/2006/main">
              <a:ext uri="{FF2B5EF4-FFF2-40B4-BE49-F238E27FC236}">
                <a16:creationId xmlns:a16="http://schemas.microsoft.com/office/drawing/2014/main" id="{1BFCD2CD-EEE3-43CC-8520-CCFE6F8F2DB0}"/>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a:solidFill>
                  <a:srgbClr val="243746"/>
                </a:solidFill>
              </a:defRPr>
            </a:pPr>
            <a:r>
              <a:rPr sz="1650" b="0">
                <a:solidFill>
                  <a:srgbClr val="243746"/>
                </a:solidFill>
              </a:rPr>
              <a:t>五个测试规模不能确定渐近复杂度</a:t>
            </a:r>
          </a:p>
        </p:txBody>
      </p:sp>
      <p:sp>
        <p:nvSpPr>
          <p:cNvPr id="42" name="">
            <a:extLst xmlns:a="http://schemas.openxmlformats.org/drawingml/2006/main">
              <a:ext uri="{FF2B5EF4-FFF2-40B4-BE49-F238E27FC236}">
                <a16:creationId xmlns:a16="http://schemas.microsoft.com/office/drawing/2014/main" id="{C61A718D-977F-4E40-899C-9AFDA2A05E3E}"/>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a:solidFill>
                  <a:srgbClr val="18324A"/>
                </a:solidFill>
              </a:defRPr>
            </a:pPr>
            <a:r>
              <a:rPr sz="1500" b="1">
                <a:solidFill>
                  <a:srgbClr val="18324A"/>
                </a:solidFill>
              </a:rPr>
              <a:t>未评估 recognition；paper 与 reference 使用不同计时范围。</a:t>
            </a:r>
          </a:p>
        </p:txBody>
      </p:sp>
    </p:spTree>
    <p:extLst>
      <p:ext uri="{BB962C8B-B14F-4D97-AF65-F5344CB8AC3E}">
        <p14:creationId xmlns:p14="http://schemas.microsoft.com/office/powerpoint/2010/main" val="1162292552"/>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67844E2-53DC-42E9-8647-FFD6FF04005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下一步</a:t>
            </a:r>
          </a:p>
        </p:txBody>
      </p:sp>
      <p:sp>
        <p:nvSpPr>
          <p:cNvPr id="2" name="">
            <a:extLst xmlns:a="http://schemas.openxmlformats.org/drawingml/2006/main">
              <a:ext uri="{FF2B5EF4-FFF2-40B4-BE49-F238E27FC236}">
                <a16:creationId xmlns:a16="http://schemas.microsoft.com/office/drawing/2014/main" id="{FEFA9BCD-7F39-4B1A-81A1-44B9EC826D64}"/>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可能的下一步：finger-tree 后端</a:t>
            </a:r>
          </a:p>
        </p:txBody>
      </p:sp>
      <p:sp>
        <p:nvSpPr>
          <p:cNvPr id="3" name="">
            <a:extLst xmlns:a="http://schemas.openxmlformats.org/drawingml/2006/main">
              <a:ext uri="{FF2B5EF4-FFF2-40B4-BE49-F238E27FC236}">
                <a16:creationId xmlns:a16="http://schemas.microsoft.com/office/drawing/2014/main" id="{75043D4A-1D16-434E-A3F5-228E7E03922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F597A85-3CED-4A2B-AEA9-69DFB2A9156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6394242-DFB9-46DF-9F8D-63F24D4936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硕士论文进度汇报</a:t>
            </a:r>
          </a:p>
        </p:txBody>
      </p:sp>
      <p:sp>
        <p:nvSpPr>
          <p:cNvPr id="6" name="">
            <a:extLst xmlns:a="http://schemas.openxmlformats.org/drawingml/2006/main">
              <a:ext uri="{FF2B5EF4-FFF2-40B4-BE49-F238E27FC236}">
                <a16:creationId xmlns:a16="http://schemas.microsoft.com/office/drawing/2014/main" id="{FB26C982-71E2-4178-BCC1-D129787DC2F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31" name="">
            <a:extLst xmlns:a="http://schemas.openxmlformats.org/drawingml/2006/main">
              <a:ext uri="{FF2B5EF4-FFF2-40B4-BE49-F238E27FC236}">
                <a16:creationId xmlns:a16="http://schemas.microsoft.com/office/drawing/2014/main" id="{EF92F3BF-6FF5-4B66-8841-11B7CAF00577}"/>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a:solidFill>
                  <a:srgbClr val="18324A"/>
                </a:solidFill>
              </a:defRPr>
            </a:pPr>
            <a:r>
              <a:rPr sz="2100" b="1">
                <a:solidFill>
                  <a:srgbClr val="18324A"/>
                </a:solidFill>
              </a:rPr>
              <a:t>普通列表实现提供了经过测试的参照点。</a:t>
            </a:r>
          </a:p>
        </p:txBody>
      </p:sp>
      <p:sp>
        <p:nvSpPr>
          <p:cNvPr id="32" name="">
            <a:extLst xmlns:a="http://schemas.openxmlformats.org/drawingml/2006/main">
              <a:ext uri="{FF2B5EF4-FFF2-40B4-BE49-F238E27FC236}">
                <a16:creationId xmlns:a16="http://schemas.microsoft.com/office/drawing/2014/main" id="{AA76D41B-9924-4413-B459-D49FC9588885}"/>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4F3"/>
          </a:solidFill>
          <a:ln xmlns:a="http://schemas.openxmlformats.org/drawingml/2006/main" w="14288">
            <a:solidFill>
              <a:srgbClr val="187A84"/>
            </a:solidFill>
            <a:prstDash val="solid"/>
          </a:ln>
        </p:spPr>
      </p:sp>
      <p:sp>
        <p:nvSpPr>
          <p:cNvPr id="33" name="">
            <a:extLst xmlns:a="http://schemas.openxmlformats.org/drawingml/2006/main">
              <a:ext uri="{FF2B5EF4-FFF2-40B4-BE49-F238E27FC236}">
                <a16:creationId xmlns:a16="http://schemas.microsoft.com/office/drawing/2014/main" id="{4EF56FE8-44CD-450D-A51C-FEADC54557D3}"/>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0">
                <a:solidFill>
                  <a:srgbClr val="243746"/>
                </a:solidFill>
              </a:defRPr>
            </a:pPr>
            <a:r>
              <a:rPr sz="1800" b="0">
                <a:solidFill>
                  <a:srgbClr val="243746"/>
                </a:solidFill>
              </a:rPr>
              <a:t>新后端保持相同的 Step 1/2/3 行为，只替换 sibling-list 操作。</a:t>
            </a:r>
          </a:p>
        </p:txBody>
      </p:sp>
      <p:sp>
        <p:nvSpPr>
          <p:cNvPr id="34" name="">
            <a:extLst xmlns:a="http://schemas.openxmlformats.org/drawingml/2006/main">
              <a:ext uri="{FF2B5EF4-FFF2-40B4-BE49-F238E27FC236}">
                <a16:creationId xmlns:a16="http://schemas.microsoft.com/office/drawing/2014/main" id="{6D45627C-BF2A-45D5-BBE6-0E5EF35B96AC}"/>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a:solidFill>
                  <a:srgbClr val="187A84"/>
                </a:solidFill>
              </a:defRPr>
            </a:pPr>
            <a:r>
              <a:rPr sz="1875" b="1">
                <a:solidFill>
                  <a:srgbClr val="187A84"/>
                </a:solidFill>
              </a:rPr>
              <a:t>与导师讨论</a:t>
            </a:r>
          </a:p>
        </p:txBody>
      </p:sp>
      <p:sp>
        <p:nvSpPr>
          <p:cNvPr id="35" name="">
            <a:extLst xmlns:a="http://schemas.openxmlformats.org/drawingml/2006/main">
              <a:ext uri="{FF2B5EF4-FFF2-40B4-BE49-F238E27FC236}">
                <a16:creationId xmlns:a16="http://schemas.microsoft.com/office/drawing/2014/main" id="{5A6D5184-261A-4019-B19A-7FA5B0A0DA8D}"/>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8324A"/>
          </a:solidFill>
          <a:ln xmlns:a="http://schemas.openxmlformats.org/drawingml/2006/main" w="11430">
            <a:solidFill>
              <a:srgbClr val="18324A"/>
            </a:solidFill>
            <a:prstDash val="solid"/>
          </a:ln>
        </p:spPr>
      </p:sp>
      <p:sp>
        <p:nvSpPr>
          <p:cNvPr id="36" name="">
            <a:extLst xmlns:a="http://schemas.openxmlformats.org/drawingml/2006/main">
              <a:ext uri="{FF2B5EF4-FFF2-40B4-BE49-F238E27FC236}">
                <a16:creationId xmlns:a16="http://schemas.microsoft.com/office/drawing/2014/main" id="{BABFCDCD-8EF6-4880-AB4F-DE4ACA3CD493}"/>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a:solidFill>
                  <a:srgbClr val="FFFFFF"/>
                </a:solidFill>
              </a:defRPr>
            </a:pPr>
            <a:r>
              <a:rPr sz="1800" b="0">
                <a:solidFill>
                  <a:srgbClr val="FFFFFF"/>
                </a:solidFill>
              </a:rPr>
              <a:t>1. 应实现历史 heterogeneous finger tree，还是具有所需操作的等价后端？</a:t>
            </a:r>
          </a:p>
          <a:p xmlns:a="http://schemas.openxmlformats.org/drawingml/2006/main">
            <a:pPr algn="l">
              <a:lnSpc>
                <a:spcPct val="105000"/>
              </a:lnSpc>
              <a:buNone/>
              <a:defRPr sz="1800" b="0">
                <a:solidFill>
                  <a:srgbClr val="FFFFFF"/>
                </a:solidFill>
              </a:defRPr>
            </a:pPr>
            <a:r>
              <a:rPr sz="1800" b="0">
                <a:solidFill>
                  <a:srgbClr val="FFFFFF"/>
                </a:solidFill>
              </a:rPr>
              <a:t>2. 经过测试且语义等价的原型是否足够，还是还需证明所需的摊还操作界？</a:t>
            </a:r>
          </a:p>
        </p:txBody>
      </p:sp>
    </p:spTree>
    <p:extLst>
      <p:ext uri="{BB962C8B-B14F-4D97-AF65-F5344CB8AC3E}">
        <p14:creationId xmlns:p14="http://schemas.microsoft.com/office/powerpoint/2010/main" val="1557979965"/>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9B2B517D-41E5-40E3-9D0D-097621E381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A</a:t>
            </a:r>
          </a:p>
        </p:txBody>
      </p:sp>
      <p:sp>
        <p:nvSpPr>
          <p:cNvPr id="2" name="">
            <a:extLst xmlns:a="http://schemas.openxmlformats.org/drawingml/2006/main">
              <a:ext uri="{FF2B5EF4-FFF2-40B4-BE49-F238E27FC236}">
                <a16:creationId xmlns:a16="http://schemas.microsoft.com/office/drawing/2014/main" id="{863BC046-FF05-4EDB-9663-B4B171D98C6B}"/>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记录的调用范围下，各输入规模的运行时间中位数</a:t>
            </a:r>
          </a:p>
        </p:txBody>
      </p:sp>
      <p:sp>
        <p:nvSpPr>
          <p:cNvPr id="3" name="">
            <a:extLst xmlns:a="http://schemas.openxmlformats.org/drawingml/2006/main">
              <a:ext uri="{FF2B5EF4-FFF2-40B4-BE49-F238E27FC236}">
                <a16:creationId xmlns:a16="http://schemas.microsoft.com/office/drawing/2014/main" id="{1C4DB0D4-A667-4DE7-8D7E-9D57D5C7FA29}"/>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4E2EB034-0430-48E7-9D0D-D254F84DEF2A}"/>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7463A7D-76FD-45E8-B002-CF79F77F253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ED73A389-E8E8-4255-8207-35E92079D25E}"/>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3" name=""/>
          <p:cNvPicPr>
            <a:picLocks xmlns:a="http://schemas.openxmlformats.org/drawingml/2006/main" noChangeAspect="1"/>
          </p:cNvPicPr>
          <p:nvPr/>
        </p:nvPicPr>
        <p:blipFill>
          <a:blip xmlns:r="http://schemas.openxmlformats.org/officeDocument/2006/relationships" xmlns:a="http://schemas.openxmlformats.org/drawingml/2006/main" r:embed="R0767e81d63dc4a72"/>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3A44C31-B259-4317-B828-6A78599E4E7C}"/>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4A8AB0D0-15DC-4AB3-85EB-30EF5DBCF405}"/>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514586B2-3148-4921-A4FF-EC61C934D885}"/>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62F34482-CB89-48F1-B2F6-3B3335B8459D}"/>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02CEC2CC-E646-47D0-AAB6-27DF8B106DE7}"/>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789AEB0-71FB-423B-809B-3C361131C2F1}"/>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864C5F5D-342A-40BE-B937-D6C5CFE28A1E}"/>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17C697CD-8579-4681-B84D-1C1579D71165}"/>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普通列表 core</a:t>
            </a:r>
          </a:p>
        </p:txBody>
      </p:sp>
      <p:sp>
        <p:nvSpPr>
          <p:cNvPr id="16" name="">
            <a:extLst xmlns:a="http://schemas.openxmlformats.org/drawingml/2006/main">
              <a:ext uri="{FF2B5EF4-FFF2-40B4-BE49-F238E27FC236}">
                <a16:creationId xmlns:a16="http://schemas.microsoft.com/office/drawing/2014/main" id="{30D6E617-4BC7-4C5D-BA2D-0EDC40FDA4C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8373DE3F-B459-4F7E-ACD0-3FFDB1DFA21F}"/>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4A95A237-2259-46F9-8C6F-6351D91316CA}"/>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8A9E5D38-1716-4682-8CB6-6980D31075F2}"/>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Python（毫秒）</a:t>
            </a:r>
          </a:p>
        </p:txBody>
      </p:sp>
      <p:sp>
        <p:nvSpPr>
          <p:cNvPr id="20" name="">
            <a:extLst xmlns:a="http://schemas.openxmlformats.org/drawingml/2006/main">
              <a:ext uri="{FF2B5EF4-FFF2-40B4-BE49-F238E27FC236}">
                <a16:creationId xmlns:a16="http://schemas.microsoft.com/office/drawing/2014/main" id="{D3F63841-0CF1-4316-9B45-B61A13E15DFA}"/>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6C5781A7-4887-4773-8E5F-147B54F23E0B}"/>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Reference（毫秒）</a:t>
            </a:r>
          </a:p>
        </p:txBody>
      </p:sp>
      <p:sp>
        <p:nvSpPr>
          <p:cNvPr id="22" name="">
            <a:extLst xmlns:a="http://schemas.openxmlformats.org/drawingml/2006/main">
              <a:ext uri="{FF2B5EF4-FFF2-40B4-BE49-F238E27FC236}">
                <a16:creationId xmlns:a16="http://schemas.microsoft.com/office/drawing/2014/main" id="{D47EB678-1276-4DB1-9671-9984A22F0609}"/>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5895A12B-AA56-4490-BE73-ABDE2B8BBD26}"/>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Paper（毫秒）</a:t>
            </a:r>
          </a:p>
        </p:txBody>
      </p:sp>
      <p:sp>
        <p:nvSpPr>
          <p:cNvPr id="24" name="">
            <a:extLst xmlns:a="http://schemas.openxmlformats.org/drawingml/2006/main">
              <a:ext uri="{FF2B5EF4-FFF2-40B4-BE49-F238E27FC236}">
                <a16:creationId xmlns:a16="http://schemas.microsoft.com/office/drawing/2014/main" id="{158B0C0F-11E6-480C-BFEF-F0A1B08D1BA0}"/>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B3F666A2-9ED1-4597-8CF0-70E5CA6A2251}"/>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6329C158-12E3-474F-91A9-963BDAE9AC17}"/>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1956542D-08F7-4F93-BE46-F41C302BD127}"/>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E14F5268-F9F9-4796-8175-16327F4308C9}"/>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E9DAE3EC-C846-4C59-BAAE-F07094A795D5}"/>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A884F09B-4C35-4AC3-9D4E-9BA6AB3A6D18}"/>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735B14CB-7285-4036-9ECD-A49963E03EF4}"/>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D5736656-283D-4274-AC7C-9717A4B070EB}"/>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3B4D2BC3-7819-4865-AE2B-304333BDB60E}"/>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3380E9C3-4D38-4B58-B667-8E5D57E9842D}"/>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7DA365D4-5F57-45B8-B055-12EC00D84630}"/>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48ECC511-FBF1-49BE-BE53-45AC3D594BC5}"/>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5C207546-34C0-47B0-8C54-12A84504C01C}"/>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1674B16B-E8E3-4D98-A385-2955EE505F6E}"/>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C7EAF5BE-1E82-4713-9F4A-93306127C44F}"/>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E6A308BE-A9B8-468C-833A-3D38C39A45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BE241944-3EC4-4062-98B9-E7855E614199}"/>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AD5BDE3F-1DCA-4C72-A1CA-3027B449CA63}"/>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FB8B982D-9423-4D07-87CA-C66D33512702}"/>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E97E25E2-7DE5-41CD-94AE-DD0C07ACA771}"/>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9EE9D827-3449-4451-93A1-8D2A9A21D23D}"/>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00F3F59-B09A-4D0E-BAF0-5BF03DFD0BE1}"/>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B4D060B9-EC5B-4645-A703-E90717441F9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136413F0-59C4-4CCF-BBAF-83B31887A971}"/>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C3B31B35-FDE1-45DC-83AA-DAAB6C78212A}"/>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65F9DCC5-290F-431B-9919-98BDB06F121B}"/>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7430904F-6B2F-4DF0-AE79-BA390884BE78}"/>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F6B69384-531F-4B52-A64B-3AE85A3F4E87}"/>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02AA4890-D20D-4F73-BFE8-495A7EC91194}"/>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E87AFCD9-D805-45BA-B88C-9EB2A7F85E20}"/>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156E550A-A9A1-4A1B-BB2B-57C553750AFD}"/>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1BE10C66-72F2-4475-9242-ADAD0547845F}"/>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1117CCE5-FFBD-4CBB-81D4-237F37FA3BB1}"/>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7803809A-596B-4916-AE6E-41D8E3D410AF}"/>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06D5D884-2437-4EC8-B83F-C41B856EC0E5}"/>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1CB7A4DC-EBB8-462C-A003-A74ADE80FDF5}"/>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FA4253A8-EC3C-4CB4-A285-DF19E5AB0C9C}"/>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E4F76E16-96DD-4B11-B3BE-955EEA69A52B}"/>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9B222E38-4575-4539-B558-200633B49312}"/>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73718E20-47AB-46C9-A310-510E0EC12371}"/>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绝对时间仅属于一次记录的 Apple M4 / CPython 3.12.4 执行。</a:t>
            </a:r>
          </a:p>
        </p:txBody>
      </p:sp>
    </p:spTree>
    <p:extLst>
      <p:ext uri="{BB962C8B-B14F-4D97-AF65-F5344CB8AC3E}">
        <p14:creationId xmlns:p14="http://schemas.microsoft.com/office/powerpoint/2010/main" val="750221354"/>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C9AE4B-9925-46EA-951B-BC124821AC5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B</a:t>
            </a:r>
          </a:p>
        </p:txBody>
      </p:sp>
      <p:sp>
        <p:nvSpPr>
          <p:cNvPr id="2" name="">
            <a:extLst xmlns:a="http://schemas.openxmlformats.org/drawingml/2006/main">
              <a:ext uri="{FF2B5EF4-FFF2-40B4-BE49-F238E27FC236}">
                <a16:creationId xmlns:a16="http://schemas.microsoft.com/office/drawing/2014/main" id="{D22E7B57-B3EC-475B-818E-0266FF8B868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输出从状态中恢复，而不是来自 oracle 结果</a:t>
            </a:r>
          </a:p>
        </p:txBody>
      </p:sp>
      <p:sp>
        <p:nvSpPr>
          <p:cNvPr id="3" name="">
            <a:extLst xmlns:a="http://schemas.openxmlformats.org/drawingml/2006/main">
              <a:ext uri="{FF2B5EF4-FFF2-40B4-BE49-F238E27FC236}">
                <a16:creationId xmlns:a16="http://schemas.microsoft.com/office/drawing/2014/main" id="{10D8CE44-CD3D-48F0-A973-1353C90B3E5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2DF309C-E064-4D75-9524-1D3B72D4EEF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FBACEE-211D-4302-863B-8D51F8F761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784024CE-FE5D-4D44-9822-6F497706F7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0F90C888-9366-4ABD-8F21-88D90FDD4C75}"/>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0F09B0C-7FE5-4AD1-8D74-B1CC22C7C17E}"/>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25BE259D-7A0F-4DF4-B7BB-581AC2D14744}"/>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024F1AF1-1390-4D78-ABB7-6AD33A5F83A1}"/>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79E18CF1-F088-4DA7-870F-6A74A10C45BF}"/>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验证、结构、trace 与可序列化结果组装均属于 reference 调用。</a:t>
            </a:r>
          </a:p>
        </p:txBody>
      </p:sp>
      <p:sp>
        <p:nvSpPr>
          <p:cNvPr id="12" name="">
            <a:extLst xmlns:a="http://schemas.openxmlformats.org/drawingml/2006/main">
              <a:ext uri="{FF2B5EF4-FFF2-40B4-BE49-F238E27FC236}">
                <a16:creationId xmlns:a16="http://schemas.microsoft.com/office/drawing/2014/main" id="{92EF39AA-1D93-42DC-A1A9-35E5AE0A63E0}"/>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1D9A468C-C306-4355-AD74-F8BAFDE003F0}"/>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0ABDF933-025A-4C94-AAC7-B1F6CD5BE9A0}"/>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认证发生在调用前，输出比较发生在调用后；二者都不提供 paper core 的返回值。</a:t>
            </a:r>
          </a:p>
        </p:txBody>
      </p:sp>
      <p:sp>
        <p:nvSpPr>
          <p:cNvPr id="15" name="">
            <a:extLst xmlns:a="http://schemas.openxmlformats.org/drawingml/2006/main">
              <a:ext uri="{FF2B5EF4-FFF2-40B4-BE49-F238E27FC236}">
                <a16:creationId xmlns:a16="http://schemas.microsoft.com/office/drawing/2014/main" id="{2D15A69B-6196-4AB8-9E17-1AD7DA20F034}"/>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预期答案相同，输出来源不同。</a:t>
            </a:r>
          </a:p>
        </p:txBody>
      </p:sp>
    </p:spTree>
    <p:extLst>
      <p:ext uri="{BB962C8B-B14F-4D97-AF65-F5344CB8AC3E}">
        <p14:creationId xmlns:p14="http://schemas.microsoft.com/office/powerpoint/2010/main" val="2090903576"/>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9D494A0-74EC-4B5B-BA7B-96DB032AC9B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C</a:t>
            </a:r>
          </a:p>
        </p:txBody>
      </p:sp>
      <p:sp>
        <p:nvSpPr>
          <p:cNvPr id="2" name="">
            <a:extLst xmlns:a="http://schemas.openxmlformats.org/drawingml/2006/main">
              <a:ext uri="{FF2B5EF4-FFF2-40B4-BE49-F238E27FC236}">
                <a16:creationId xmlns:a16="http://schemas.microsoft.com/office/drawing/2014/main" id="{855CFF3D-BB45-4DD3-8C33-CC8BD51587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当前实现基线的验证汇总</a:t>
            </a:r>
          </a:p>
        </p:txBody>
      </p:sp>
      <p:sp>
        <p:nvSpPr>
          <p:cNvPr id="3" name="">
            <a:extLst xmlns:a="http://schemas.openxmlformats.org/drawingml/2006/main">
              <a:ext uri="{FF2B5EF4-FFF2-40B4-BE49-F238E27FC236}">
                <a16:creationId xmlns:a16="http://schemas.microsoft.com/office/drawing/2014/main" id="{35127CB2-0A03-4635-B30B-E4155963A8DF}"/>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AC676BC9-4E8B-4972-919C-6356405111E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A82BBF5-A2D5-49FE-B2C4-41BB86BED14D}"/>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4D163CBE-5FF4-42A7-831C-996AECF48C9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395DA7AC-149E-47E1-971D-1E49E1A27C27}"/>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7210DC31-6C1D-4EE9-A74A-AE285B8CF581}"/>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FAC4CE24-49A5-46DD-A857-55E1CD755693}"/>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仓库测试</a:t>
            </a:r>
          </a:p>
        </p:txBody>
      </p:sp>
      <p:sp>
        <p:nvSpPr>
          <p:cNvPr id="10" name="">
            <a:extLst xmlns:a="http://schemas.openxmlformats.org/drawingml/2006/main">
              <a:ext uri="{FF2B5EF4-FFF2-40B4-BE49-F238E27FC236}">
                <a16:creationId xmlns:a16="http://schemas.microsoft.com/office/drawing/2014/main" id="{45EDC861-BE51-4F1C-8642-89EB6F7DF3A9}"/>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CC1B7341-C235-450B-AF96-2247B64398B8}"/>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7CECD67B-16C1-4656-BE08-387235125DC8}"/>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有界穷举有效排列，n ≤ 8</a:t>
            </a:r>
          </a:p>
        </p:txBody>
      </p:sp>
      <p:sp>
        <p:nvSpPr>
          <p:cNvPr id="13" name="">
            <a:extLst xmlns:a="http://schemas.openxmlformats.org/drawingml/2006/main">
              <a:ext uri="{FF2B5EF4-FFF2-40B4-BE49-F238E27FC236}">
                <a16:creationId xmlns:a16="http://schemas.microsoft.com/office/drawing/2014/main" id="{CF338DAC-D4A4-4D9D-AC28-3691474AE19E}"/>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A04FAF4D-902F-41A6-A57C-9F47D58B9B32}"/>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2A03AA54-208F-438B-ADBD-6CDE7AB72EAC}"/>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固定生成用例</a:t>
            </a:r>
          </a:p>
        </p:txBody>
      </p:sp>
      <p:sp>
        <p:nvSpPr>
          <p:cNvPr id="16" name="">
            <a:extLst xmlns:a="http://schemas.openxmlformats.org/drawingml/2006/main">
              <a:ext uri="{FF2B5EF4-FFF2-40B4-BE49-F238E27FC236}">
                <a16:creationId xmlns:a16="http://schemas.microsoft.com/office/drawing/2014/main" id="{A5B65981-7906-4DB9-BD97-3A685A9F1411}"/>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1D3C7035-C8DE-4DFB-AF6E-515A0AA132C4}"/>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04CA3564-0CEE-4F74-BE68-D40F68E83399}"/>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正式 case-level checked-state audit</a:t>
            </a:r>
          </a:p>
        </p:txBody>
      </p:sp>
      <p:sp>
        <p:nvSpPr>
          <p:cNvPr id="19" name="">
            <a:extLst xmlns:a="http://schemas.openxmlformats.org/drawingml/2006/main">
              <a:ext uri="{FF2B5EF4-FFF2-40B4-BE49-F238E27FC236}">
                <a16:creationId xmlns:a16="http://schemas.microsoft.com/office/drawing/2014/main" id="{4EE8F01E-1674-4D36-94D9-BAC325C4EE99}"/>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通过</a:t>
            </a:r>
          </a:p>
        </p:txBody>
      </p:sp>
      <p:sp>
        <p:nvSpPr>
          <p:cNvPr id="20" name="">
            <a:extLst xmlns:a="http://schemas.openxmlformats.org/drawingml/2006/main">
              <a:ext uri="{FF2B5EF4-FFF2-40B4-BE49-F238E27FC236}">
                <a16:creationId xmlns:a16="http://schemas.microsoft.com/office/drawing/2014/main" id="{46ADA90F-9A40-4401-ADAF-5E354B7B164C}"/>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059B1ED8-0884-4B2F-BAC8-7EA82BFB2EB4}"/>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正式 evidence-contract 验证</a:t>
            </a:r>
          </a:p>
        </p:txBody>
      </p:sp>
      <p:sp>
        <p:nvSpPr>
          <p:cNvPr id="22" name="">
            <a:extLst xmlns:a="http://schemas.openxmlformats.org/drawingml/2006/main">
              <a:ext uri="{FF2B5EF4-FFF2-40B4-BE49-F238E27FC236}">
                <a16:creationId xmlns:a16="http://schemas.microsoft.com/office/drawing/2014/main" id="{C9B2CE2B-1396-4BE1-9E16-4DF7E08EEB26}"/>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8F8BBA16-4776-4554-9075-FE17B9E7860F}"/>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有限验证证据并不是对每个 Jordan sequence 的证明。</a:t>
            </a:r>
          </a:p>
        </p:txBody>
      </p:sp>
    </p:spTree>
    <p:extLst>
      <p:ext uri="{BB962C8B-B14F-4D97-AF65-F5344CB8AC3E}">
        <p14:creationId xmlns:p14="http://schemas.microsoft.com/office/powerpoint/2010/main" val="68970340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52B6CFDF-D4A8-41D2-9B41-E6B249AEEF4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D</a:t>
            </a:r>
          </a:p>
        </p:txBody>
      </p:sp>
      <p:sp>
        <p:nvSpPr>
          <p:cNvPr id="2" name="">
            <a:extLst xmlns:a="http://schemas.openxmlformats.org/drawingml/2006/main">
              <a:ext uri="{FF2B5EF4-FFF2-40B4-BE49-F238E27FC236}">
                <a16:creationId xmlns:a16="http://schemas.microsoft.com/office/drawing/2014/main" id="{6C7177C2-031C-4D32-A397-8593E38D9DC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与 decreasing 迭代采用镜像的局部选择</a:t>
            </a:r>
          </a:p>
        </p:txBody>
      </p:sp>
      <p:sp>
        <p:nvSpPr>
          <p:cNvPr id="3" name="">
            <a:extLst xmlns:a="http://schemas.openxmlformats.org/drawingml/2006/main">
              <a:ext uri="{FF2B5EF4-FFF2-40B4-BE49-F238E27FC236}">
                <a16:creationId xmlns:a16="http://schemas.microsoft.com/office/drawing/2014/main" id="{EB27807E-8682-4A11-8F03-6D917FEB722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48947FE8-B9D9-405D-96CC-95BE27495AB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810B14D-6779-4663-BEFF-CA4E48E5BE80}"/>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76740A75-6D94-4E33-973B-B527B46C601A}"/>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C628746E-96ED-468B-A0CE-92A47817B969}"/>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E75C39A0-D37A-4CBA-A61D-E27B74B912C8}"/>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控制选择</a:t>
            </a:r>
          </a:p>
        </p:txBody>
      </p:sp>
      <p:sp>
        <p:nvSpPr>
          <p:cNvPr id="9" name="">
            <a:extLst xmlns:a="http://schemas.openxmlformats.org/drawingml/2006/main">
              <a:ext uri="{FF2B5EF4-FFF2-40B4-BE49-F238E27FC236}">
                <a16:creationId xmlns:a16="http://schemas.microsoft.com/office/drawing/2014/main" id="{CEF46803-D98B-4E3C-8471-A1353A3D315A}"/>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7DB500DE-8C7E-45E0-8E47-A2256D8E3E1C}"/>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E1307987-FDCF-4EB0-9B32-A8B7FA5E49E4}"/>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7345C7B2-172B-449D-9094-FE1DF4DC9153}"/>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15510D0B-7CA2-4A3A-9827-7E4731590440}"/>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771EF2B7-260D-4D7F-8FD3-4130725C91C8}"/>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边界</a:t>
            </a:r>
          </a:p>
        </p:txBody>
      </p:sp>
      <p:sp>
        <p:nvSpPr>
          <p:cNvPr id="15" name="">
            <a:extLst xmlns:a="http://schemas.openxmlformats.org/drawingml/2006/main">
              <a:ext uri="{FF2B5EF4-FFF2-40B4-BE49-F238E27FC236}">
                <a16:creationId xmlns:a16="http://schemas.microsoft.com/office/drawing/2014/main" id="{49123CB2-A646-423D-B185-6174952A5CD8}"/>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0314A370-FE95-4544-AEE8-2D7C77DE8406}"/>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 侧（Aᵢ）</a:t>
            </a:r>
          </a:p>
        </p:txBody>
      </p:sp>
      <p:sp>
        <p:nvSpPr>
          <p:cNvPr id="17" name="">
            <a:extLst xmlns:a="http://schemas.openxmlformats.org/drawingml/2006/main">
              <a:ext uri="{FF2B5EF4-FFF2-40B4-BE49-F238E27FC236}">
                <a16:creationId xmlns:a16="http://schemas.microsoft.com/office/drawing/2014/main" id="{3A5ED69A-0FB6-4D39-A22D-15FD926630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1A5106A-853C-4E5E-B135-0B6A8760CF6D}"/>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 侧（Bᵢ）</a:t>
            </a:r>
          </a:p>
        </p:txBody>
      </p:sp>
      <p:sp>
        <p:nvSpPr>
          <p:cNvPr id="19" name="">
            <a:extLst xmlns:a="http://schemas.openxmlformats.org/drawingml/2006/main">
              <a:ext uri="{FF2B5EF4-FFF2-40B4-BE49-F238E27FC236}">
                <a16:creationId xmlns:a16="http://schemas.microsoft.com/office/drawing/2014/main" id="{F836C1E1-C4C0-4A43-8D35-F27399C17DF4}"/>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4CA7C6E9-6666-4934-80AD-A400EA3AA36E}"/>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边界插入</a:t>
            </a:r>
          </a:p>
        </p:txBody>
      </p:sp>
      <p:sp>
        <p:nvSpPr>
          <p:cNvPr id="21" name="">
            <a:extLst xmlns:a="http://schemas.openxmlformats.org/drawingml/2006/main">
              <a:ext uri="{FF2B5EF4-FFF2-40B4-BE49-F238E27FC236}">
                <a16:creationId xmlns:a16="http://schemas.microsoft.com/office/drawing/2014/main" id="{628E0320-91DC-4D37-9D18-DB6F171F71FB}"/>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34411EEA-B74C-4A62-B9AC-AB832F377C46}"/>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最后一个 sibling 之后</a:t>
            </a:r>
          </a:p>
        </p:txBody>
      </p:sp>
      <p:sp>
        <p:nvSpPr>
          <p:cNvPr id="23" name="">
            <a:extLst xmlns:a="http://schemas.openxmlformats.org/drawingml/2006/main">
              <a:ext uri="{FF2B5EF4-FFF2-40B4-BE49-F238E27FC236}">
                <a16:creationId xmlns:a16="http://schemas.microsoft.com/office/drawing/2014/main" id="{C924A22B-D78B-4655-8D2E-6C26FCCF49C2}"/>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074DC159-275D-4884-9F77-75A5B433D08D}"/>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第一个 sibling 之前</a:t>
            </a:r>
          </a:p>
        </p:txBody>
      </p:sp>
      <p:sp>
        <p:nvSpPr>
          <p:cNvPr id="25" name="">
            <a:extLst xmlns:a="http://schemas.openxmlformats.org/drawingml/2006/main">
              <a:ext uri="{FF2B5EF4-FFF2-40B4-BE49-F238E27FC236}">
                <a16:creationId xmlns:a16="http://schemas.microsoft.com/office/drawing/2014/main" id="{1275F688-DBAB-4DD0-B7BB-93957127AA26}"/>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D59C919B-5351-4601-9B99-117599F40884}"/>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边界</a:t>
            </a:r>
          </a:p>
        </p:txBody>
      </p:sp>
      <p:sp>
        <p:nvSpPr>
          <p:cNvPr id="27" name="">
            <a:extLst xmlns:a="http://schemas.openxmlformats.org/drawingml/2006/main">
              <a:ext uri="{FF2B5EF4-FFF2-40B4-BE49-F238E27FC236}">
                <a16:creationId xmlns:a16="http://schemas.microsoft.com/office/drawing/2014/main" id="{314BC948-1F2A-40D6-BCE8-3F5CCE01512E}"/>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4D3E9720-4AE1-4F80-B1A1-A7B4A3F005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 侧（Bᵢ）</a:t>
            </a:r>
          </a:p>
        </p:txBody>
      </p:sp>
      <p:sp>
        <p:nvSpPr>
          <p:cNvPr id="29" name="">
            <a:extLst xmlns:a="http://schemas.openxmlformats.org/drawingml/2006/main">
              <a:ext uri="{FF2B5EF4-FFF2-40B4-BE49-F238E27FC236}">
                <a16:creationId xmlns:a16="http://schemas.microsoft.com/office/drawing/2014/main" id="{9F3603C1-F6DC-4197-AC5C-BA338F99E73F}"/>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19285F2D-5CC6-46F7-96D7-C7CE67E63363}"/>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 侧（Aᵢ）</a:t>
            </a:r>
          </a:p>
        </p:txBody>
      </p:sp>
      <p:sp>
        <p:nvSpPr>
          <p:cNvPr id="31" name="">
            <a:extLst xmlns:a="http://schemas.openxmlformats.org/drawingml/2006/main">
              <a:ext uri="{FF2B5EF4-FFF2-40B4-BE49-F238E27FC236}">
                <a16:creationId xmlns:a16="http://schemas.microsoft.com/office/drawing/2014/main" id="{88E83526-11D7-4064-A05D-6BCA8DBC8D5C}"/>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859C84C2-6296-4F87-9150-D64AC2520E5D}"/>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获得的拆分侧</a:t>
            </a:r>
          </a:p>
        </p:txBody>
      </p:sp>
      <p:sp>
        <p:nvSpPr>
          <p:cNvPr id="33" name="">
            <a:extLst xmlns:a="http://schemas.openxmlformats.org/drawingml/2006/main">
              <a:ext uri="{FF2B5EF4-FFF2-40B4-BE49-F238E27FC236}">
                <a16:creationId xmlns:a16="http://schemas.microsoft.com/office/drawing/2014/main" id="{8D965EAA-1218-49AE-A1CD-E43AA60D633B}"/>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01723DD0-4DF4-4A69-85AA-3297445DDD06}"/>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左侧</a:t>
            </a:r>
          </a:p>
        </p:txBody>
      </p:sp>
      <p:sp>
        <p:nvSpPr>
          <p:cNvPr id="35" name="">
            <a:extLst xmlns:a="http://schemas.openxmlformats.org/drawingml/2006/main">
              <a:ext uri="{FF2B5EF4-FFF2-40B4-BE49-F238E27FC236}">
                <a16:creationId xmlns:a16="http://schemas.microsoft.com/office/drawing/2014/main" id="{99FEADDC-6020-4996-AF9D-BA88DC962F11}"/>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7F8963CD-F64A-4CDA-B91D-47F3A62FF024}"/>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右侧</a:t>
            </a:r>
          </a:p>
        </p:txBody>
      </p:sp>
      <p:sp>
        <p:nvSpPr>
          <p:cNvPr id="37" name="">
            <a:extLst xmlns:a="http://schemas.openxmlformats.org/drawingml/2006/main">
              <a:ext uri="{FF2B5EF4-FFF2-40B4-BE49-F238E27FC236}">
                <a16:creationId xmlns:a16="http://schemas.microsoft.com/office/drawing/2014/main" id="{34E1F339-B5C7-4EE2-8EF1-3ECA0BF2F3F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7F78034E-3B72-4C75-A680-B89EE1FE7CB2}"/>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极值</a:t>
            </a:r>
          </a:p>
        </p:txBody>
      </p:sp>
      <p:sp>
        <p:nvSpPr>
          <p:cNvPr id="39" name="">
            <a:extLst xmlns:a="http://schemas.openxmlformats.org/drawingml/2006/main">
              <a:ext uri="{FF2B5EF4-FFF2-40B4-BE49-F238E27FC236}">
                <a16:creationId xmlns:a16="http://schemas.microsoft.com/office/drawing/2014/main" id="{C4097186-6F0D-4BBE-B71D-986E6B4AABAF}"/>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1BD02B1E-093B-405E-97D1-957E4624F14C}"/>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最右 child</a:t>
            </a:r>
          </a:p>
        </p:txBody>
      </p:sp>
      <p:sp>
        <p:nvSpPr>
          <p:cNvPr id="41" name="">
            <a:extLst xmlns:a="http://schemas.openxmlformats.org/drawingml/2006/main">
              <a:ext uri="{FF2B5EF4-FFF2-40B4-BE49-F238E27FC236}">
                <a16:creationId xmlns:a16="http://schemas.microsoft.com/office/drawing/2014/main" id="{82F611FC-A66B-453B-BE51-3B7EAA452010}"/>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5FD877D-E929-46AE-953B-17E65C502BE6}"/>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最左 child</a:t>
            </a:r>
          </a:p>
        </p:txBody>
      </p:sp>
      <p:sp>
        <p:nvSpPr>
          <p:cNvPr id="43" name="">
            <a:extLst xmlns:a="http://schemas.openxmlformats.org/drawingml/2006/main">
              <a:ext uri="{FF2B5EF4-FFF2-40B4-BE49-F238E27FC236}">
                <a16:creationId xmlns:a16="http://schemas.microsoft.com/office/drawing/2014/main" id="{9F93FB10-7045-4BD4-B7C3-5F909DEF468E}"/>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9B012065-FAD0-42EE-8A14-3E9788D313DD}"/>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几何 anchor</a:t>
            </a:r>
          </a:p>
        </p:txBody>
      </p:sp>
      <p:sp>
        <p:nvSpPr>
          <p:cNvPr id="45" name="">
            <a:extLst xmlns:a="http://schemas.openxmlformats.org/drawingml/2006/main">
              <a:ext uri="{FF2B5EF4-FFF2-40B4-BE49-F238E27FC236}">
                <a16:creationId xmlns:a16="http://schemas.microsoft.com/office/drawing/2014/main" id="{4D9A7848-D490-4BC9-A644-9193C691974E}"/>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9AA45BDE-7328-4EC1-B9D1-18AC12865911}"/>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右端点</a:t>
            </a:r>
          </a:p>
        </p:txBody>
      </p:sp>
      <p:sp>
        <p:nvSpPr>
          <p:cNvPr id="47" name="">
            <a:extLst xmlns:a="http://schemas.openxmlformats.org/drawingml/2006/main">
              <a:ext uri="{FF2B5EF4-FFF2-40B4-BE49-F238E27FC236}">
                <a16:creationId xmlns:a16="http://schemas.microsoft.com/office/drawing/2014/main" id="{790475E4-4AD5-4588-9EE3-DD5D853E1662}"/>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3F48A198-F61E-4F92-B5B3-0795BB705C7B}"/>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左端点</a:t>
            </a:r>
          </a:p>
        </p:txBody>
      </p:sp>
      <p:sp>
        <p:nvSpPr>
          <p:cNvPr id="49" name="">
            <a:extLst xmlns:a="http://schemas.openxmlformats.org/drawingml/2006/main">
              <a:ext uri="{FF2B5EF4-FFF2-40B4-BE49-F238E27FC236}">
                <a16:creationId xmlns:a16="http://schemas.microsoft.com/office/drawing/2014/main" id="{646F9A48-B4BA-4366-9A77-E3E8A03E0B38}"/>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AADDC371-ECB5-453B-9362-844F7F9E0D9A}"/>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输出插入</a:t>
            </a:r>
          </a:p>
        </p:txBody>
      </p:sp>
      <p:sp>
        <p:nvSpPr>
          <p:cNvPr id="51" name="">
            <a:extLst xmlns:a="http://schemas.openxmlformats.org/drawingml/2006/main">
              <a:ext uri="{FF2B5EF4-FFF2-40B4-BE49-F238E27FC236}">
                <a16:creationId xmlns:a16="http://schemas.microsoft.com/office/drawing/2014/main" id="{8E1A0475-EE8C-4B27-B2DD-64973801ECE9}"/>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FA63AD83-1132-4C9D-898C-1CE2FC46D5CD}"/>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anchor 之后</a:t>
            </a:r>
          </a:p>
        </p:txBody>
      </p:sp>
      <p:sp>
        <p:nvSpPr>
          <p:cNvPr id="53" name="">
            <a:extLst xmlns:a="http://schemas.openxmlformats.org/drawingml/2006/main">
              <a:ext uri="{FF2B5EF4-FFF2-40B4-BE49-F238E27FC236}">
                <a16:creationId xmlns:a16="http://schemas.microsoft.com/office/drawing/2014/main" id="{878490AE-13F3-44C7-81D6-1427FFE77566}"/>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80E08FBE-4F40-4970-A119-CBD58DACFBC8}"/>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anchor 之前</a:t>
            </a:r>
          </a:p>
        </p:txBody>
      </p:sp>
      <p:sp>
        <p:nvSpPr>
          <p:cNvPr id="55" name="">
            <a:extLst xmlns:a="http://schemas.openxmlformats.org/drawingml/2006/main">
              <a:ext uri="{FF2B5EF4-FFF2-40B4-BE49-F238E27FC236}">
                <a16:creationId xmlns:a16="http://schemas.microsoft.com/office/drawing/2014/main" id="{3FC2048A-49D1-4AD1-A2B7-9F629BC9FAAD}"/>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始终选择 Aᵢ，Step 2 始终选择 Bᵢ；Step 3 镜像这些边界的使用方式。</a:t>
            </a:r>
          </a:p>
        </p:txBody>
      </p:sp>
    </p:spTree>
    <p:extLst>
      <p:ext uri="{BB962C8B-B14F-4D97-AF65-F5344CB8AC3E}">
        <p14:creationId xmlns:p14="http://schemas.microsoft.com/office/powerpoint/2010/main" val="1475428099"/>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C9AE4B-9925-46EA-951B-BC124821AC5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备用 E</a:t>
            </a:r>
          </a:p>
        </p:txBody>
      </p:sp>
      <p:sp>
        <p:nvSpPr>
          <p:cNvPr id="2" name="">
            <a:extLst xmlns:a="http://schemas.openxmlformats.org/drawingml/2006/main">
              <a:ext uri="{FF2B5EF4-FFF2-40B4-BE49-F238E27FC236}">
                <a16:creationId xmlns:a16="http://schemas.microsoft.com/office/drawing/2014/main" id="{D22E7B57-B3EC-475B-818E-0266FF8B868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拟议的 finger-tree 后端边界</a:t>
            </a:r>
          </a:p>
        </p:txBody>
      </p:sp>
      <p:sp>
        <p:nvSpPr>
          <p:cNvPr id="3" name="">
            <a:extLst xmlns:a="http://schemas.openxmlformats.org/drawingml/2006/main">
              <a:ext uri="{FF2B5EF4-FFF2-40B4-BE49-F238E27FC236}">
                <a16:creationId xmlns:a16="http://schemas.microsoft.com/office/drawing/2014/main" id="{10D8CE44-CD3D-48F0-A973-1353C90B3E5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2DF309C-E064-4D75-9524-1D3B72D4EEF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FBACEE-211D-4302-863B-8D51F8F761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备用</a:t>
            </a:r>
          </a:p>
        </p:txBody>
      </p:sp>
      <p:sp>
        <p:nvSpPr>
          <p:cNvPr id="6" name="">
            <a:extLst xmlns:a="http://schemas.openxmlformats.org/drawingml/2006/main">
              <a:ext uri="{FF2B5EF4-FFF2-40B4-BE49-F238E27FC236}">
                <a16:creationId xmlns:a16="http://schemas.microsoft.com/office/drawing/2014/main" id="{784024CE-FE5D-4D44-9822-6F497706F7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0F90C888-9366-4ABD-8F21-88D90FDD4C75}"/>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2139"/>
            </a:avLst>
          </a:prstGeom>
          <a:noFill xmlns:a="http://schemas.openxmlformats.org/drawingml/2006/main"/>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60F09B0C-7FE5-4AD1-8D74-B1CC22C7C17E}"/>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2139"/>
            </a:avLst>
          </a:prstGeom>
          <a:noFill xmlns:a="http://schemas.openxmlformats.org/drawingml/2006/main"/>
          <a:ln xmlns:a="http://schemas.openxmlformats.org/drawingml/2006/main" w="14288">
            <a:solidFill>
              <a:srgbClr val="E76F51"/>
            </a:solidFill>
            <a:prstDash val="solid"/>
          </a:ln>
        </p:spPr>
      </p:sp>
      <p:sp>
        <p:nvSpPr>
          <p:cNvPr id="9" name="">
            <a:extLst xmlns:a="http://schemas.openxmlformats.org/drawingml/2006/main">
              <a:ext uri="{FF2B5EF4-FFF2-40B4-BE49-F238E27FC236}">
                <a16:creationId xmlns:a16="http://schemas.microsoft.com/office/drawing/2014/main" id="{25BE259D-7A0F-4DF4-B7BB-581AC2D14744}"/>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普通列表后端</a:t>
            </a:r>
          </a:p>
        </p:txBody>
      </p:sp>
      <p:sp>
        <p:nvSpPr>
          <p:cNvPr id="10" name="">
            <a:extLst xmlns:a="http://schemas.openxmlformats.org/drawingml/2006/main">
              <a:ext uri="{FF2B5EF4-FFF2-40B4-BE49-F238E27FC236}">
                <a16:creationId xmlns:a16="http://schemas.microsoft.com/office/drawing/2014/main" id="{024F1AF1-1390-4D78-ABB7-6AD33A5F83A1}"/>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当前已验证基线</a:t>
            </a:r>
          </a:p>
        </p:txBody>
      </p:sp>
      <p:sp>
        <p:nvSpPr>
          <p:cNvPr id="11" name="">
            <a:extLst xmlns:a="http://schemas.openxmlformats.org/drawingml/2006/main">
              <a:ext uri="{FF2B5EF4-FFF2-40B4-BE49-F238E27FC236}">
                <a16:creationId xmlns:a16="http://schemas.microsoft.com/office/drawing/2014/main" id="{79E18CF1-F088-4DA7-870F-6A74A10C45BF}"/>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已归档的正确性与计时证据</a:t>
            </a:r>
          </a:p>
        </p:txBody>
      </p:sp>
      <p:sp>
        <p:nvSpPr>
          <p:cNvPr id="12" name="">
            <a:extLst xmlns:a="http://schemas.openxmlformats.org/drawingml/2006/main">
              <a:ext uri="{FF2B5EF4-FFF2-40B4-BE49-F238E27FC236}">
                <a16:creationId xmlns:a16="http://schemas.microsoft.com/office/drawing/2014/main" id="{92EF39AA-1D93-42DC-A1A9-35E5AE0A63E0}"/>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Finger-tree 后端</a:t>
            </a:r>
          </a:p>
        </p:txBody>
      </p:sp>
      <p:sp>
        <p:nvSpPr>
          <p:cNvPr id="13" name="">
            <a:extLst xmlns:a="http://schemas.openxmlformats.org/drawingml/2006/main">
              <a:ext uri="{FF2B5EF4-FFF2-40B4-BE49-F238E27FC236}">
                <a16:creationId xmlns:a16="http://schemas.microsoft.com/office/drawing/2014/main" id="{1D9A468C-C306-4355-AD74-F8BAFDE003F0}"/>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拟议扩展</a:t>
            </a:r>
          </a:p>
        </p:txBody>
      </p:sp>
      <p:sp>
        <p:nvSpPr>
          <p:cNvPr id="14" name="">
            <a:extLst xmlns:a="http://schemas.openxmlformats.org/drawingml/2006/main">
              <a:ext uri="{FF2B5EF4-FFF2-40B4-BE49-F238E27FC236}">
                <a16:creationId xmlns:a16="http://schemas.microsoft.com/office/drawing/2014/main" id="{0ABDF933-025A-4C94-AAC7-B1F6CD5BE9A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语义等价目标</a:t>
            </a:r>
          </a:p>
          <a:p xmlns:a="http://schemas.openxmlformats.org/drawingml/2006/main">
            <a:pPr algn="ctr">
              <a:lnSpc>
                <a:spcPct val="105000"/>
              </a:lnSpc>
              <a:buNone/>
              <a:defRPr sz="1425" b="0" i="0">
                <a:solidFill>
                  <a:srgbClr val="243B53"/>
                </a:solidFill>
              </a:defRPr>
            </a:pPr>
            <a:r>
              <a:rPr sz="1425" b="0" i="0">
                <a:solidFill>
                  <a:srgbClr val="243B53"/>
                </a:solidFill>
              </a:rPr>
              <a:t>独立的验证与实验版本</a:t>
            </a:r>
          </a:p>
        </p:txBody>
      </p:sp>
      <p:sp>
        <p:nvSpPr>
          <p:cNvPr id="15" name="">
            <a:extLst xmlns:a="http://schemas.openxmlformats.org/drawingml/2006/main">
              <a:ext uri="{FF2B5EF4-FFF2-40B4-BE49-F238E27FC236}">
                <a16:creationId xmlns:a16="http://schemas.microsoft.com/office/drawing/2014/main" id="{2D15A69B-6196-4AB8-9E17-1AD7DA20F034}"/>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仅提高 tree split 的效率并不足够；若 ownership transfer 仍扫描并重新绑定每个元素，所需 bound 仍无法成立。</a:t>
            </a:r>
          </a:p>
        </p:txBody>
      </p:sp>
      <p:sp>
        <p:nvSpPr>
          <p:cNvPr id="17" name="">
            <a:extLst xmlns:a="http://schemas.openxmlformats.org/drawingml/2006/main">
              <a:ext uri="{FF2B5EF4-FFF2-40B4-BE49-F238E27FC236}">
                <a16:creationId xmlns:a16="http://schemas.microsoft.com/office/drawing/2014/main" id="{D7CB8B23-36E6-4CEA-80E9-2C77B5DCD0F3}"/>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noFill xmlns:a="http://schemas.openxmlformats.org/drawingml/2006/main"/>
          <a:ln xmlns:a="http://schemas.openxmlformats.org/drawingml/2006/main" w="14288">
            <a:solidFill>
              <a:srgbClr val="2A9D8F"/>
            </a:solidFill>
            <a:prstDash val="solid"/>
          </a:ln>
        </p:spPr>
      </p:sp>
      <p:sp>
        <p:nvSpPr>
          <p:cNvPr id="18" name="">
            <a:extLst xmlns:a="http://schemas.openxmlformats.org/drawingml/2006/main">
              <a:ext uri="{FF2B5EF4-FFF2-40B4-BE49-F238E27FC236}">
                <a16:creationId xmlns:a16="http://schemas.microsoft.com/office/drawing/2014/main" id="{576C10BA-A3BA-4022-9B06-BD98A6146FBA}"/>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650" b="1">
                <a:solidFill>
                  <a:srgbClr val="102A43"/>
                </a:solidFill>
              </a:defRPr>
            </a:pPr>
            <a:r>
              <a:rPr sz="1650" b="1">
                <a:solidFill>
                  <a:srgbClr val="102A43"/>
                </a:solidFill>
              </a:rPr>
              <a:t>Paper Step 1/2/3</a:t>
            </a:r>
          </a:p>
        </p:txBody>
      </p:sp>
      <p:sp>
        <p:nvSpPr>
          <p:cNvPr id="19" name="">
            <a:extLst xmlns:a="http://schemas.openxmlformats.org/drawingml/2006/main">
              <a:ext uri="{FF2B5EF4-FFF2-40B4-BE49-F238E27FC236}">
                <a16:creationId xmlns:a16="http://schemas.microsoft.com/office/drawing/2014/main" id="{EA56070B-265C-45D4-9944-AE34296950E9}"/>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noFill xmlns:a="http://schemas.openxmlformats.org/drawingml/2006/main"/>
          <a:ln xmlns:a="http://schemas.openxmlformats.org/drawingml/2006/main" w="14288">
            <a:solidFill>
              <a:srgbClr val="102A43"/>
            </a:solidFill>
            <a:prstDash val="solid"/>
          </a:ln>
        </p:spPr>
      </p:sp>
      <p:sp>
        <p:nvSpPr>
          <p:cNvPr id="20" name="">
            <a:extLst xmlns:a="http://schemas.openxmlformats.org/drawingml/2006/main">
              <a:ext uri="{FF2B5EF4-FFF2-40B4-BE49-F238E27FC236}">
                <a16:creationId xmlns:a16="http://schemas.microsoft.com/office/drawing/2014/main" id="{F2256568-2D66-41EC-9437-1704D2196F1B}"/>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650" b="1">
                <a:solidFill>
                  <a:srgbClr val="102A43"/>
                </a:solidFill>
              </a:defRPr>
            </a:pPr>
            <a:r>
              <a:rPr sz="1650" b="1">
                <a:solidFill>
                  <a:srgbClr val="102A43"/>
                </a:solidFill>
              </a:rPr>
              <a:t>Sibling-list 后端接口</a:t>
            </a:r>
          </a:p>
        </p:txBody>
      </p:sp>
      <p:sp>
        <p:nvSpPr>
          <p:cNvPr id="21" name="">
            <a:extLst xmlns:a="http://schemas.openxmlformats.org/drawingml/2006/main">
              <a:ext uri="{FF2B5EF4-FFF2-40B4-BE49-F238E27FC236}">
                <a16:creationId xmlns:a16="http://schemas.microsoft.com/office/drawing/2014/main" id="{0349E41D-4685-47E5-A2C7-C6F62230C1F6}"/>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125" b="0">
                <a:solidFill>
                  <a:srgbClr val="52606D"/>
                </a:solidFill>
              </a:defRPr>
            </a:pPr>
            <a:r>
              <a:rPr sz="1125" b="0">
                <a:solidFill>
                  <a:srgbClr val="52606D"/>
                </a:solidFill>
              </a:rPr>
              <a:t>创建 singleton list • 左/右边界插入 • 按新点值 split</a:t>
            </a:r>
          </a:p>
          <a:p xmlns:a="http://schemas.openxmlformats.org/drawingml/2006/main">
            <a:pPr algn="ctr">
              <a:lnSpc>
                <a:spcPct val="100000"/>
              </a:lnSpc>
              <a:buNone/>
              <a:defRPr sz="1125" b="0">
                <a:solidFill>
                  <a:srgbClr val="52606D"/>
                </a:solidFill>
              </a:defRPr>
            </a:pPr>
            <a:r>
              <a:rPr sz="1125" b="0">
                <a:solidFill>
                  <a:srgbClr val="52606D"/>
                </a:solidFill>
              </a:rPr>
              <a:t>访问 first/last child • 保持 ownership 与 stable handle</a:t>
            </a:r>
          </a:p>
        </p:txBody>
      </p:sp>
      <p:cxnSp>
        <p:nvCxnSpPr>
          <p:cNvPr id="68" name=""/>
          <p:cNvCxnSpPr>
            <a:stCxn xmlns:a="http://schemas.openxmlformats.org/drawingml/2006/main" id="17" idx="3"/>
            <a:endCxn xmlns:a="http://schemas.openxmlformats.org/drawingml/2006/main" id="1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69" name=""/>
          <p:cNvCxnSpPr>
            <a:stCxn xmlns:a="http://schemas.openxmlformats.org/drawingml/2006/main" id="19" idx="2"/>
            <a:endCxn xmlns:a="http://schemas.openxmlformats.org/drawingml/2006/main" id="7"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70" name=""/>
          <p:cNvCxnSpPr>
            <a:stCxn xmlns:a="http://schemas.openxmlformats.org/drawingml/2006/main" id="19" idx="2"/>
            <a:endCxn xmlns:a="http://schemas.openxmlformats.org/drawingml/2006/main" id="8"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20909035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2026-09-07T12:18:00.5090000Z</dcterms:created>
  <dcterms:modified xsi:type="dcterms:W3CDTF">2026-09-07T12:18:00.5090000Z</dcterms:modified>
</coreProperties>
</file>