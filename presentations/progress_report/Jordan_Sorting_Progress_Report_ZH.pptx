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3d25b18614f91" /><Relationship Type="http://schemas.openxmlformats.org/officeDocument/2006/relationships/extended-properties" Target="/docProps/app.xml" Id="R14ac838950ab40c8" /><Relationship Type="http://schemas.openxmlformats.org/officeDocument/2006/relationships/officeDocument" Target="/ppt/presentation.xml" Id="R1b57368f77ec4c1d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f7ba4c76cfb748e9"/>
  </p:sldMasterIdLst>
  <p:notesMasterIdLst>
    <p:notesMasterId r:id="R9bd8e017059d460a"/>
  </p:notesMasterIdLst>
  <p:sldIdLst>
    <p:sldId id="256" r:id="Rf89fca5c6d434d79"/>
    <p:sldId id="257" r:id="R9b625e1d0fbe41c4"/>
    <p:sldId id="258" r:id="Re55de8729af048a7"/>
    <p:sldId id="259" r:id="Rc8bb640cc06642f4"/>
    <p:sldId id="260" r:id="R57f1a3194c924c90"/>
    <p:sldId id="261" r:id="Rbcb416c712d4489a"/>
    <p:sldId id="262" r:id="Rb2c0dda682444f70"/>
    <p:sldId id="263" r:id="R0b6f8ff3005346b0"/>
    <p:sldId id="264" r:id="Rfc7d467870484ea8"/>
    <p:sldId id="265" r:id="Rdd7e98080dd04082"/>
    <p:sldId id="266" r:id="R1d59fefc5e014fca"/>
    <p:sldId id="267" r:id="Rca3f955f4a234a10"/>
    <p:sldId id="268" r:id="R12f240c7384c44e7"/>
    <p:sldId id="269" r:id="Rd126f4d7a50a4e0b"/>
    <p:sldId id="270" r:id="R17311a171f114d5b"/>
    <p:sldId id="271" r:id="R14d9cee1ec6744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9b9488e4b7834915" /><Relationship Type="http://schemas.openxmlformats.org/officeDocument/2006/relationships/slideMaster" Target="/ppt/slideMasters/slideMaster1.xml" Id="Rf7ba4c76cfb748e9" /><Relationship Type="http://schemas.openxmlformats.org/officeDocument/2006/relationships/notesMaster" Target="/ppt/notesMasters/notesMaster1.xml" Id="R9bd8e017059d460a" /><Relationship Type="http://schemas.openxmlformats.org/officeDocument/2006/relationships/presProps" Target="/ppt/presProps.xml" Id="R27175e0e01724411" /><Relationship Type="http://schemas.openxmlformats.org/officeDocument/2006/relationships/tableStyles" Target="/ppt/tableStyles.xml" Id="Rc241c382756d4453" /><Relationship Type="http://schemas.openxmlformats.org/officeDocument/2006/relationships/slide" Target="/ppt/slides/slide1.xml" Id="Rf89fca5c6d434d79" /><Relationship Type="http://schemas.openxmlformats.org/officeDocument/2006/relationships/slide" Target="/ppt/slides/slide2.xml" Id="R9b625e1d0fbe41c4" /><Relationship Type="http://schemas.openxmlformats.org/officeDocument/2006/relationships/slide" Target="/ppt/slides/slide3.xml" Id="Re55de8729af048a7" /><Relationship Type="http://schemas.openxmlformats.org/officeDocument/2006/relationships/slide" Target="/ppt/slides/slide4.xml" Id="Rc8bb640cc06642f4" /><Relationship Type="http://schemas.openxmlformats.org/officeDocument/2006/relationships/slide" Target="/ppt/slides/slide5.xml" Id="R57f1a3194c924c90" /><Relationship Type="http://schemas.openxmlformats.org/officeDocument/2006/relationships/slide" Target="/ppt/slides/slide6.xml" Id="Rbcb416c712d4489a" /><Relationship Type="http://schemas.openxmlformats.org/officeDocument/2006/relationships/slide" Target="/ppt/slides/slide7.xml" Id="Rb2c0dda682444f70" /><Relationship Type="http://schemas.openxmlformats.org/officeDocument/2006/relationships/slide" Target="/ppt/slides/slide8.xml" Id="R0b6f8ff3005346b0" /><Relationship Type="http://schemas.openxmlformats.org/officeDocument/2006/relationships/slide" Target="/ppt/slides/slide9.xml" Id="Rfc7d467870484ea8" /><Relationship Type="http://schemas.openxmlformats.org/officeDocument/2006/relationships/slide" Target="/ppt/slides/slide10.xml" Id="Rdd7e98080dd04082" /><Relationship Type="http://schemas.openxmlformats.org/officeDocument/2006/relationships/slide" Target="/ppt/slides/slide11.xml" Id="R1d59fefc5e014fca" /><Relationship Type="http://schemas.openxmlformats.org/officeDocument/2006/relationships/slide" Target="/ppt/slides/slide12.xml" Id="Rca3f955f4a234a10" /><Relationship Type="http://schemas.openxmlformats.org/officeDocument/2006/relationships/slide" Target="/ppt/slides/slide13.xml" Id="R12f240c7384c44e7" /><Relationship Type="http://schemas.openxmlformats.org/officeDocument/2006/relationships/slide" Target="/ppt/slides/slide14.xml" Id="Rd126f4d7a50a4e0b" /><Relationship Type="http://schemas.openxmlformats.org/officeDocument/2006/relationships/slide" Target="/ppt/slides/slide15.xml" Id="R17311a171f114d5b" /><Relationship Type="http://schemas.openxmlformats.org/officeDocument/2006/relationships/slide" Target="/ppt/slides/slide16.xml" Id="R14d9cee1ec6744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cde8907caf41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e0362a68e4d83" /><Relationship Type="http://schemas.openxmlformats.org/officeDocument/2006/relationships/notesMaster" Target="/ppt/notesMasters/notesMaster1.xml" Id="Rca876a15b8c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3fa14e122471b" /><Relationship Type="http://schemas.openxmlformats.org/officeDocument/2006/relationships/notesMaster" Target="/ppt/notesMasters/notesMaster1.xml" Id="R9b768cf038c4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db0fbb3d24688" /><Relationship Type="http://schemas.openxmlformats.org/officeDocument/2006/relationships/notesMaster" Target="/ppt/notesMasters/notesMaster1.xml" Id="R181dd6d0c5e5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0dcd46a3d4d41" /><Relationship Type="http://schemas.openxmlformats.org/officeDocument/2006/relationships/notesMaster" Target="/ppt/notesMasters/notesMaster1.xml" Id="R1e129c5a5da14e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d6c0a860cb4e18" /><Relationship Type="http://schemas.openxmlformats.org/officeDocument/2006/relationships/notesMaster" Target="/ppt/notesMasters/notesMaster1.xml" Id="R8b684c05c1564d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4b2199e60241d2" /><Relationship Type="http://schemas.openxmlformats.org/officeDocument/2006/relationships/notesMaster" Target="/ppt/notesMasters/notesMaster1.xml" Id="Rfe57120d5a5e46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60d0ea80e5452f" /><Relationship Type="http://schemas.openxmlformats.org/officeDocument/2006/relationships/notesMaster" Target="/ppt/notesMasters/notesMaster1.xml" Id="R10480281525b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3d65d414d61" /><Relationship Type="http://schemas.openxmlformats.org/officeDocument/2006/relationships/notesMaster" Target="/ppt/notesMasters/notesMaster1.xml" Id="Rce8c3332c682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12ce2a0ff4d16" /><Relationship Type="http://schemas.openxmlformats.org/officeDocument/2006/relationships/notesMaster" Target="/ppt/notesMasters/notesMaster1.xml" Id="Rd30c8370e71d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9b36d637a14aa4" /><Relationship Type="http://schemas.openxmlformats.org/officeDocument/2006/relationships/notesMaster" Target="/ppt/notesMasters/notesMaster1.xml" Id="R147741d7b63c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46d3c7cd84e44" /><Relationship Type="http://schemas.openxmlformats.org/officeDocument/2006/relationships/notesMaster" Target="/ppt/notesMasters/notesMaster1.xml" Id="R3c30f569633144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b88ff01b914c50" /><Relationship Type="http://schemas.openxmlformats.org/officeDocument/2006/relationships/notesMaster" Target="/ppt/notesMasters/notesMaster1.xml" Id="R83ef5ee5d87d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95c38008a54c2b" /><Relationship Type="http://schemas.openxmlformats.org/officeDocument/2006/relationships/notesMaster" Target="/ppt/notesMasters/notesMaster1.xml" Id="R4c22ca66dad8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bd0a66d2e0446d" /><Relationship Type="http://schemas.openxmlformats.org/officeDocument/2006/relationships/notesMaster" Target="/ppt/notesMasters/notesMaster1.xml" Id="R0c6700a55f6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3fee052d6e495e" /><Relationship Type="http://schemas.openxmlformats.org/officeDocument/2006/relationships/notesMaster" Target="/ppt/notesMasters/notesMaster1.xml" Id="R3742d529a91b4c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0ad027daac429d" /><Relationship Type="http://schemas.openxmlformats.org/officeDocument/2006/relationships/notesMaster" Target="/ppt/notesMasters/notesMaster1.xml" Id="Re3cd8e2301374f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大家好。这次汇报介绍我的硕士论文进展，主题是使用普通 Python list 对 Simplified Jordan Sorting 进行可执行重构。输入按沿曲线遇到交点的顺序给出；任务是恢复这些点沿横坐标轴的顺序。上次汇报聚焦静态结构，包括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ns0:t>
            </ns0:r>
          </ns0:p>
          <ns0:p xmlns:ns0="http://schemas.openxmlformats.org/drawingml/2006/main">
            <ns0:r>
              <ns0:t/>
            </ns0:r>
          </ns0:p>
          <ns0:p xmlns:ns0="http://schemas.openxmlformats.org/drawingml/2006/main">
            <ns0:r>
              <ns0:t/>
            </ns0:r>
          </ns0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 本次汇报重点介绍 RQ1，以及 RQ2 中的运行时间基线；不展开结构与成本关系的分析。</ns0:t>
            </ns0:r>
          </ns0:p>
          <ns0:p xmlns:ns0="http://schemas.openxmlformats.org/drawingml/2006/main">
            <ns0:r>
              <ns0:t/>
            </ns0:r>
          </ns0:p>
          <ns0:p xmlns:ns0="http://schemas.openxmlformats.org/drawingml/2006/main">
            <ns0:r>
              <ns0:t/>
            </ns0:r>
          </ns0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我们同时维护两种信息：已处理点的排序，以及 pairs 之间的父子关系。初始化只做一次，仅将前三个点按 x 坐标排序，这个有序列表称为 S₃。同时建立 upper、lower pair family，不使用 oracle 的排序答案。点的编号和 pair 的端点存储仍保持曲线顺序。从第 4 个点开始，每轮加入一个新点。我们从沿曲线的前一个点出发。Step 1、2 利用它在有序列表中的邻居，分别找到 predecessor boundary Aᵢ 和 successor boundary Bᵢ。Step 3(a) 将新 pair 放入 family 结构，并确定它的 parent。Step 3(b) 在需要时拆分 sibling list，让新包含的旧 pairs 成为新 pair 的 children。到这时，Step 3(c) 才根据维护的状态选择 anchor，将新点插入有序列表。Increasing 时，Step 3(a) 使用 Aᵢ，3(b) 使用 Bᵢ。Decreasing 交换两者的用途，并镜像左右操作；Step 1、2 仍分别返回 Aᵢ、Bᵢ。论文描述 increasing 情形；decreasing 来自对称重构，anchor 的细节属于可执行化澄清。这些类别说明重构的依据，并不分别对应某个步骤。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输入是 (3,2,1,4)。初始化后，有序列表是 [1,2,3]，但点的编号仍然按照曲线访问顺序保留。</a:t>
            </a:r>
          </a:p>
          <a:p xmlns:a="http://schemas.openxmlformats.org/drawingml/2006/main">
            <a:r>
              <a:t>现在插入第四个点，也就是 4。Step 3(b) 完成后，新 upper pair P₄ 的端点是 (1,4)，它有一个 child：P₂，按曲线顺序存为 (3,2)。</a:t>
            </a:r>
          </a:p>
          <a:p xmlns:a="http://schemas.openxmlformats.org/drawingml/2006/main">
            <a:r>
              <a:t>本次从 1 到 4，因此是 increasing。Child 的几何区间 [2,3] 位于新 pair 的区间 [1,4] 内。因此，4 必须排在 child 的两个端点之后。Child 的右边界是 3，所以我们选择 3 作为 anchor。</a:t>
            </a:r>
          </a:p>
          <a:p xmlns:a="http://schemas.openxmlformats.org/drawingml/2006/main">
            <a:r>
              <a:t>如果把 4 紧挨着插在 2 后面，它就会落在列表中 child 的两个端点之间，得到 [1,2,4,3]。插在 3 后面，才得到 [1,2,3,4]。</a:t>
            </a:r>
          </a:p>
          <a:p xmlns:a="http://schemas.openxmlformats.org/drawingml/2006/main">
            <a:r>
              <a:t>我们也可以把端点按从左到右的顺序存储，前提是保留它们的曲线身份信息。真正的错误，是把“曲线顺序中的第二个端点”当成“几何右端点”。</a:t>
            </a:r>
          </a:p>
          <a:p xmlns:a="http://schemas.openxmlformats.org/drawingml/2006/main">
            <a:r>
              <a:t>我将这一明确选择记录为可执行化澄清，而不是 1990 年论文的逐字规则。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这里在第 7 次迭代插入 0。结束下标为奇数，因此新 pair 属于 lower family；0 小于旧端点 7，因此本次为 decreasing。Step 3(b) 后，新 pair 获得图中的 P₃ 和 P₅。Step 3(c) 取最左 child P₃ 的几何左端点。P₃ 的端点为 2 和 3，所以 base anchor 是 2。但是 z₁ 的值为 1，它不是任何 lower pair 的端点，却仍在有序列表中。若直接把 0 插在 2 前，会让 0 留在 1 后面。本例下标为奇数，且 0 小于 z₁，z₁ 又小于 base anchor，因此最终 anchor 改为 z₁。这只改变输出插入，不替代先前的 boundary-pair selection。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这里的 ownership 指一张 children list 归哪个 parent pair 管理。当 children 转移时，parent 记录和列表归属必须一起保持一致。拆分前，原 parent 拥有两个片段。拆分后，它保留 retained segment，新 parent 接收 acquired segment。两个非空侧都可能得到新 list，但只有 acquired segment 改变 parent。Split 和 transfer 构成一个 transaction：保存受影响状态，执行更新，再检查边界和 ownership。若检查失败，rollback 恢复之前的状态。普通列表会产生扫描、复制、切片和 ownership rebinding 成本。这些检查不能建立历史线性时间分析所需的更新界。</ns0:t>
            </ns0:r>
          </ns0:p>
          <ns0:p xmlns:ns0="http://schemas.openxmlformats.org/drawingml/2006/main">
            <ns0:r>
              <ns0:t/>
            </ns0:r>
          </ns0:p>
          <ns0:p xmlns:ns0="http://schemas.openxmlformats.org/drawingml/2006/main">
            <ns0:r>
              <ns0:t/>
            </ns0:r>
          </ns0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左侧检查实现及其内部状态；右侧检查保存的实验记录，并重新计算汇总。左侧是互补的检查方式，包括重点回归用例、n 不超过 8 的全部 2,074 个 oracle-valid permutation，以及对 parent link、ownership、sibling list 和恢复输出的 checked-state audit。确定性重放比较同一 core 多次运行后的状态，并不是第二套独立实现。右侧将归档记录与固定实验设置及重算汇总核对。这些有限证据不是对所有 Jordan sequence 的数学证明。</ns0:t>
            </ns0:r>
          </ns0:p>
          <ns0:p xmlns:ns0="http://schemas.openxmlformats.org/drawingml/2006/main">
            <ns0:r>
              <ns0:t/>
            </ns0:r>
          </ns0:p>
          <ns0:p xmlns:ns0="http://schemas.openxmlformats.org/drawingml/2006/main">
            <ns0:r>
              <ns0:t/>
            </ns0:r>
          </ns0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实验测试从 32 到 512 个点的 5 个规模。每个规模有 1 个 flat、1 个 nested 和 10 个逐步生成的有效输入，共 60 个。Flat 输入递增；nested 输入交替取剩余值中的最小值和最大值。Incremental 生成使用固定种子并检查有效性。每种算法对每个输入预热 5 次、测量 20 次，共 3,600 条记录。重复调用使用 fresh list，算法位置轮转。认证及每个 case 一次的 checked-state audit 位于 paper 计时前。Minimal 模式对全部点运行相同核心，省略详细 trace 和部分诊断检查。Paper 计时包含初始化、Step 1 至 3 和输出恢复。输出比较在计时后。Python 计时覆盖排序；reference 计时覆盖完整 oracle-backed pipeline。运行时间页展示 paper 和 Python。</ns0:t>
            </ns0:r>
          </ns0:p>
          <ns0:p xmlns:ns0="http://schemas.openxmlformats.org/drawingml/2006/main">
            <ns0:r>
              <ns0:t/>
            </ns0:r>
          </ns0:p>
          <ns0:p xmlns:ns0="http://schemas.openxmlformats.org/drawingml/2006/main">
            <ns0:r>
              <ns0:t/>
            </ns0:r>
          </ns0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本次运行时间实验中的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ns0:t>
            </ns0:r>
          </ns0:p>
          <ns0:p xmlns:ns0="http://schemas.openxmlformats.org/drawingml/2006/main">
            <ns0:r>
              <ns0:t/>
            </ns0:r>
          </ns0:p>
          <ns0:p xmlns:ns0="http://schemas.openxmlformats.org/drawingml/2006/main">
            <ns0:r>
              <ns0:t/>
            </ns0:r>
          </ns0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这一页展示普通列表 paper core 的运行时间，并以 Python sort 作为实际排序基线。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两种方法接收相同的有效输入，各自产生排序结果。认证和外部检查位于计时之外。每种方法自身的输出构造仍在计时内。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图中每个数值是同一规模下 12 个 case 中位数的中位数，每个 case 权重相同。每个 case 的中位数来自 20 次计时调用。纵轴采用对数刻度。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Paper 的耗时从 32 个点时约 0.59 毫秒，上升到 512 个点时约 18.72 毫秒。Python sort 在每个测试规模上的中位耗时都低得多。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这些结果描述当前实现，不能证明线性时间性能，也没有隔离各个组成部分的成本。它们为后续优化和后端比较提供基线。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 (source_commit: 98868b1b705f6d5f22404ee8ad7b88ad7a834f52)</a:t>
            </a:r>
          </a:p>
          <a:p xmlns:a="http://schemas.openxmlformats.org/drawingml/2006/main">
            <a:r>
              <a:t>- results/runs/week12_formal_sorting_v1__run001/environment.json</a:t>
            </a:r>
          </a:p>
          <a:p xmlns:a="http://schemas.openxmlformats.org/drawingml/2006/main">
            <a:r>
              <a:t>- experiments/run_week11_pilot.py (timing boundaries at the manifest source_commit)</a:t>
            </a:r>
          </a:p>
          <a:p xmlns:a="http://schemas.openxmlformats.org/drawingml/2006/main">
            <a:r>
              <a:t>- src/paper_jordan_sort.py (output recovery at the manifest source_commit)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当前证据支持一个从维护状态恢复输出的可执行普通列表重构，并在运行时间实验中的 60 个用例上得到正确结果。运行时间趋势描述的是当前实现及其计时范围。普通列表不构成线性时间实现，五个测试规模也不能确定渐近复杂度。本实验没有评估 recognition。</ns0:t>
            </ns0:r>
          </ns0:p>
          <ns0:p xmlns:ns0="http://schemas.openxmlformats.org/drawingml/2006/main">
            <ns0:r>
              <ns0:t/>
            </ns0:r>
          </ns0:p>
          <ns0:p xmlns:ns0="http://schemas.openxmlformats.org/drawingml/2006/main">
            <ns0:r>
              <ns0:t/>
            </ns0:r>
          </ns0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Finger-tree 后端是可能的未来扩展，不属于当前实验证据。它将保持相同的 Step 1、Step 2 和 Step 3 行为。普通列表实现为检查新后端的行为提供了经过测试的参照点。我希望向导师确认两个问题：应实现历史 heterogeneous finger tree，还是支持所需列表操作的等价后端？一个经过测试、语义等价的原型是否足够，还是还应证明所需的摊还操作界？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5f7a00ae2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88b8ed64746e6" /><Relationship Type="http://schemas.openxmlformats.org/officeDocument/2006/relationships/slideLayout" Target="/ppt/slideLayouts/slideLayout1.xml" Id="R856ae76245d6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ae76245d6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51d1f513a4dc0" /><Relationship Type="http://schemas.openxmlformats.org/officeDocument/2006/relationships/image" Target="/ppt/media/image.png" Id="R6296062fc1934160" /><Relationship Type="http://schemas.openxmlformats.org/officeDocument/2006/relationships/notesSlide" Target="/ppt/notesSlides/notesSlide1.xml" Id="R796a39c899c0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a6737c5bb41d5" /><Relationship Type="http://schemas.openxmlformats.org/officeDocument/2006/relationships/notesSlide" Target="/ppt/notesSlides/notesSlide2.xml" Id="Rbb743b6213c04b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d47d069144fc0" /><Relationship Type="http://schemas.openxmlformats.org/officeDocument/2006/relationships/notesSlide" Target="/ppt/notesSlides/notesSlide3.xml" Id="Rb57dea673dd0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e84654ef4d04" /><Relationship Type="http://schemas.openxmlformats.org/officeDocument/2006/relationships/notesSlide" Target="/ppt/notesSlides/notesSlide4.xml" Id="R07d2c80fd8f2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785a593c442a" /><Relationship Type="http://schemas.openxmlformats.org/officeDocument/2006/relationships/notesSlide" Target="/ppt/notesSlides/notesSlide5.xml" Id="R091e682293974a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ab28be51446cd" /><Relationship Type="http://schemas.openxmlformats.org/officeDocument/2006/relationships/notesSlide" Target="/ppt/notesSlides/notesSlide6.xml" Id="Rb841d027dc4d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2787959d4a1e" /><Relationship Type="http://schemas.openxmlformats.org/officeDocument/2006/relationships/notesSlide" Target="/ppt/notesSlides/notesSlide7.xml" Id="Rd140c74a62d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2f9385ef4e4c" /><Relationship Type="http://schemas.openxmlformats.org/officeDocument/2006/relationships/notesSlide" Target="/ppt/notesSlides/notesSlide8.xml" Id="R25aca69a53ae4c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f221252bd47c4" /><Relationship Type="http://schemas.openxmlformats.org/officeDocument/2006/relationships/notesSlide" Target="/ppt/notesSlides/notesSlide9.xml" Id="R5941bb563809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5aa72029f4bbd" /><Relationship Type="http://schemas.openxmlformats.org/officeDocument/2006/relationships/notesSlide" Target="/ppt/notesSlides/notesSlide10.xml" Id="Rc140d742691744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3bc9a764d22" /><Relationship Type="http://schemas.openxmlformats.org/officeDocument/2006/relationships/notesSlide" Target="/ppt/notesSlides/notesSlide11.xml" Id="R0804e299ab5d4a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d86c549104715" /><Relationship Type="http://schemas.openxmlformats.org/officeDocument/2006/relationships/notesSlide" Target="/ppt/notesSlides/notesSlide12.xml" Id="R7cdbfcf7ec134a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453297b44123" /><Relationship Type="http://schemas.openxmlformats.org/officeDocument/2006/relationships/notesSlide" Target="/ppt/notesSlides/notesSlide13.xml" Id="R44e2f01096cb4d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976d8552e4736" /><Relationship Type="http://schemas.openxmlformats.org/officeDocument/2006/relationships/chart" Target="/ppt/slides/charts/chart1.xml" Id="R2bda0ec29d9d4bfa" /><Relationship Type="http://schemas.openxmlformats.org/officeDocument/2006/relationships/notesSlide" Target="/ppt/notesSlides/notesSlide14.xml" Id="Rb5b1ba42ef29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d2e7f68c4566" /><Relationship Type="http://schemas.openxmlformats.org/officeDocument/2006/relationships/notesSlide" Target="/ppt/notesSlides/notesSlide15.xml" Id="R3d3662be7a3e43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14c811474cbc" /><Relationship Type="http://schemas.openxmlformats.org/officeDocument/2006/relationships/notesSlide" Target="/ppt/notesSlides/notesSlide16.xml" Id="R4c97275dcd4f473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Paper 普通列表 core</c:v>
          </c:tx>
          <c:spPr>
            <a:ln xmlns:a="http://schemas.openxmlformats.org/drawingml/2006/main" w="28575">
              <a:solidFill>
                <a:srgbClr val="2A9D8F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0.####</c:formatCode>
                <c:ptCount val="5"/>
                <c:pt idx="0">
                  <c:v>0.58690625</c:v>
                </c:pt>
                <c:pt idx="1">
                  <c:v>1.2821975</c:v>
                </c:pt>
                <c:pt idx="2">
                  <c:v>2.81508325</c:v>
                </c:pt>
                <c:pt idx="3">
                  <c:v>6.72124975</c:v>
                </c:pt>
                <c:pt idx="4">
                  <c:v>18.71668725</c:v>
                </c:pt>
              </c:numCache>
            </c:numRef>
          </c:val>
          <c:smooth val="0"/>
        </c:ser>
        <c:ser>
          <c:idx val="1"/>
          <c:order val="1"/>
          <c:tx>
            <c:v>Python sort</c:v>
          </c:tx>
          <c:spPr>
            <a:ln xmlns:a="http://schemas.openxmlformats.org/drawingml/2006/main" w="28575">
              <a:solidFill>
                <a:srgbClr val="E76F51"/>
              </a:solidFill>
              <a:prstDash val="solid"/>
            </a:ln>
          </c:spPr>
          <c:marker>
            <c:symbol val="square"/>
            <c:size val="8"/>
            <c:spPr>
              <a:solidFill xmlns:a="http://schemas.openxmlformats.org/drawingml/2006/main">
                <a:srgbClr val="E76F51"/>
              </a:solidFill>
            </c:spPr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0.####</c:formatCode>
                <c:ptCount val="5"/>
                <c:pt idx="0">
                  <c:v>0.000791</c:v>
                </c:pt>
                <c:pt idx="1">
                  <c:v>0.00141675</c:v>
                </c:pt>
                <c:pt idx="2">
                  <c:v>0.00263525</c:v>
                </c:pt>
                <c:pt idx="3">
                  <c:v>0.00520825</c:v>
                </c:pt>
                <c:pt idx="4">
                  <c:v>0.0105835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2606D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2606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logBase val="10"/>
          <c:orientation val="minMax"/>
          <c:max val="100"/>
          <c:min val="0.0001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2606D"/>
                    </a:solidFill>
                  </a:rPr>
                  <a:t>调用耗时中位数（毫秒，对数刻度）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2606D"/>
                  </a:solidFill>
                </a:defRPr>
              </a:pPr>
            </a:p>
          </c:txPr>
        </c:title>
        <c:numFmt formatCode="0.####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6062fc1934160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实现进展、验证与初步实验结果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上次汇报后的进展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当前成果：可执行的普通列表实现；历史专用后端仍属于未来工作。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当前范围：有效输入排序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当前实现使用普通列表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实验评估普通列表实现；finger-tree 后端仍只是可能的扩展。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206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07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218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927F38-A182-4D88-8720-9B37F0B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A2FBA-7D2A-455E-A16D-89ECCA08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初始化一次，再逐点更新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EE3A4-F17E-4C57-8E49-28C0D659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11626-2F76-4823-8AF6-0ABFEAEF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6BE3A-915A-4391-B3FA-11F3106A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97E75-EE8D-4E64-9DE9-4C5DB98F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906C2-664D-4733-BCE7-635B744E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BD840-0CA0-4974-B06C-902617A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036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7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A. 仅初始化一次（n ≥ 3）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6BE00-3CC3-433C-A12B-9EB097BE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仅将 z₁、z₂、z₃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按 x 坐标排序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A38E9-1269-43D1-AE3C-F29E9574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8C6F4-B0D6-4C5D-A37C-087EFEC0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初始有序列表 S₃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B13BF-3957-4454-8E1D-623C631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83083F-F94B-4B8D-A172-2D9441D1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71650"/>
            <a:ext cx="342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Upper/lower pair family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P₂、P₃ 与 dummy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AE998-4FC3-4212-B157-78719B55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Core 自行局部初始化，不使用 oracle 答案。点编号与 pair 端点存储保持曲线顺序。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BD6DB-8F3E-4FFF-9585-0BD379E3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B. 对 i = 4, …, n：每轮处理一个新点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7FA74-8C71-462D-8844-36EF52B9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Sᵢ₋₁ + 新点 zᵢ → 执行下面一轮更新 → Sᵢ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16C04-A69D-46D9-A649-E4B811AF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692A13-DD32-44F6-898E-C6C588D1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F4B48D-6AA6-45EE-822F-6CBB9877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predecessor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Aᵢ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164AF-EE89-45D1-8E09-1815B366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B8E92-2DF0-4EEC-A434-C692E7C1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9F201-B049-42DF-A60A-271D438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successor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Bᵢ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9EA53-5FF1-48A9-BE62-7BB8A402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2A08C-9C73-4182-8D97-657FC3C4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77F34E-A5EC-4654-A99C-A5D0008B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插入新 pair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Pᵢ = (zᵢ₋₁, zᵢ)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947B58-A8CC-4780-95A1-F4FCEAE7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4F8A37-7ADA-4D1D-9140-BBC3897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6A6DE7-0EF1-41D7-AC1E-9365210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按需拆分 sibling list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并转移 ownership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C4B330-3C6A-48E9-B526-FBED881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A2522-D920-48D7-85E2-F914709B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FE0D9E-113C-4225-8DA9-4612CE26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将 zᵢ 插入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维护的有序列表</a:t>
            </a:r>
          </a:p>
        </p:txBody>
      </p:sp>
      <p:cxnSp>
        <p:nvCxnSpPr>
          <p:cNvPr id="76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27051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7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48958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8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0866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9" name=""/>
          <p:cNvCxnSpPr>
            <a:stCxn xmlns:a="http://schemas.openxmlformats.org/drawingml/2006/main" id="26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92773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646241-66EB-47E1-9F93-6C0583DD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两个方向都保持 Step 1 → Aᵢ、Step 2 → Bᵢ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FAE0DB-C358-44EF-A042-BD8C1660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Increasing：3(a) 用 Aᵢ，3(b) 用 Bᵢ。Decreasing 交换两者用途，并镜像左右操作。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5B4357-62BA-471E-82C3-A0179A29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74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7B8794"/>
                </a:solidFill>
              </a:defRPr>
            </a:pPr>
            <a:r>
              <a:rPr sz="1425" b="0" i="0">
                <a:solidFill>
                  <a:srgbClr val="7B8794"/>
                </a:solidFill>
              </a:rPr>
              <a:t>重构依据的类别（不分别对应算法步骤）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FE1BFB-41D7-4DFB-ADFB-5A8D9FC5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928044-5F20-4CD3-83E3-B5EFE25B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7EE3C8-23C0-4DD3-9EDC-B38B5124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635945-2DF6-4D20-882D-1C965466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8F5261-80CD-4400-AF31-908F152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3B112E-EC78-4380-9EA5-5C60D6A1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可执行化澄清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FEEE8C-58F0-4C31-A6AD-45903CCA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6D42C-F14A-424E-AF68-5948CC11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从 S₃ 到 S₄：插入需要几何 anchor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C00C0-F15D-458E-B491-A8C54CB5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C46D6-86BA-4A82-A18A-554A61B4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516AE-A0A3-4752-8B1C-9B9C6C7E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20910-E2E7-46B2-9369-42067104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B22D3-1009-4958-8D49-D3307AB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按曲线顺序输入：(z₁, z₂, z₃, z₄) = (3, 2, 1, 4)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6FA7A-C002-44B8-B391-78E3003C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5722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29CB3-E743-45CE-A9B9-3486222F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626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初始化后：S₃ = [1, 2, 3]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7728A-A695-48C2-877C-44C659A7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626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52606D"/>
                </a:solidFill>
              </a:defRPr>
            </a:pPr>
            <a:r>
              <a:rPr sz="1650" b="0" i="0">
                <a:solidFill>
                  <a:srgbClr val="52606D"/>
                </a:solidFill>
              </a:rPr>
              <a:t>对应编号：[z₃,z₂,z₁]。曲线编号保持不变。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1B4B3-E926-46A8-A808-D6AA505E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39433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EC31D-25DA-4945-8A0F-FC9108E6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859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现在处理 z₄ = 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A1861-DE75-4D0B-AF9E-5178FD88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812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z₃ = 1 → z₄ = 4：increasing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C887E-92F5-475B-9352-C455B8FA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 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EF0258-FF12-415F-B6C0-E50F0191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861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新 upper P₄ = (z₃, z₄) = (1, 4)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3143E-A3ED-4ED7-896F-CA749235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A9D8F"/>
                </a:solidFill>
              </a:defRPr>
            </a:pPr>
            <a:r>
              <a:rPr sz="1650" b="0" i="0">
                <a:solidFill>
                  <a:srgbClr val="2A9D8F"/>
                </a:solidFill>
              </a:rPr>
              <a:t>→ child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780D75-C8A8-4DF6-9887-3E943E35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610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Upper P₂ = (z₁, z₂) = (3, 2)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87672-58D9-47D5-A449-B62C735D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P₄ 获得 child P₂。本次 increasing 更新取 child 的几何右端点。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3BE2D-3992-4699-B94A-E6F39792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56071-E156-41D1-A516-5C261546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P₂ 的第二个存储端点：2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6C889-72FA-4B62-B9C7-96A4CE08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2 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3AED2-06A2-46AB-A6E9-959EC34B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[1, 2, 4, 3]  错误（示意）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6A182-029E-45EF-9243-45A34892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D7FF84-1B88-4C37-8F18-293E2DAE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P₂ 的几何右端点：3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FE610-2FC8-40F2-B8EB-099D6BBF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3 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7A764F-304E-4565-9749-333EB14B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[1, 2, 3, 4]  正确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DBB45-B7D7-44BC-9BA6-4BADE249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102A43"/>
                </a:solidFill>
              </a:defRPr>
            </a:pPr>
            <a:r>
              <a:rPr sz="1650" b="0" i="0">
                <a:solidFill>
                  <a:srgbClr val="102A43"/>
                </a:solidFill>
              </a:rPr>
              <a:t>这里的 anchor 是已有点，4 将紧接着插在它后面。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E79683-B69C-4F2E-BD94-C4263A79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341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这是可执行化澄清，非 1990 年论文的逐字规则。存储的曲线顺序 ≠ 几何顺序。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B87199-1BA7-42CE-8DAC-185DBB2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81D41-3196-49BE-98B5-3F1D31F4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为什么需要单独检查 z₁ 输出锚点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34603-B4E9-477E-9DAF-619538A7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3816A-A145-43BA-9370-2F197C4F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450E1-0894-455E-AFCB-B1E4864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D4D8A-03AA-43F0-8638-3AE3FFD1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B6FB8-1A1D-466E-86C2-E055FA3E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输入 (z₁, …, z₇) = (1, 2, 3, 4, 6, 7, 0)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1C577-5D0B-4C4E-91F7-3893B088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144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52606D"/>
                </a:solidFill>
              </a:defRPr>
            </a:pPr>
            <a:r>
              <a:rPr sz="1575" b="0" i="0">
                <a:solidFill>
                  <a:srgbClr val="52606D"/>
                </a:solidFill>
              </a:rPr>
              <a:t>S₆ = [1, 2, 3, 4, 6, 7]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AC149-304D-4AAD-A579-CEF42207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i = 7（奇数）→ lower family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43D58-5EBA-4CEC-AC04-A6284A40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z₇ = 0 &lt; z₆ = 7 → decreasing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34123-51E4-48FF-B5E4-060F6AE9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Decreasing：最左 child → 几何左端点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74932-767B-4597-AB10-73A2D7E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33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B3AFB-A1C4-4F75-A808-C6F7F271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90850"/>
            <a:ext cx="2133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P₇ = (7, 0)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EA3BD-6585-4897-B977-1B573D7B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9850"/>
            <a:ext cx="432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曲线顺序 (7, 0)；几何区间 [0, 7]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CE808-B822-46E4-A7F9-0DC3A391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72AEB-974D-477D-B50F-CCA1CD6E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2" idx="1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1943100" y="3162300"/>
            <a:ext cx="247650" cy="49530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2" idx="3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476750" y="3162300"/>
            <a:ext cx="228600" cy="4953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5D5A9-6041-4CCD-8575-36D97E63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P₃ = (2, 3)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50C4B-E128-4E86-8E65-C486F3B2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P₅ = (4, 6)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BC46C-9331-4CA1-A5DB-2D30AFC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最左 child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5369F-044C-446D-A11C-D6BDE47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P₃ → 几何左端点 2 → base anchor z₂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1DEE0-D33F-49C8-A928-BCE02072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2885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为什么还要检查 z₁？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902587-2E7C-450E-AE07-E2B37594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z₁ = 1 属于 upper pair P₂ = (1, 2)。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EE40C-BC60-48B3-B8F5-C25F79D8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它不是任何 lower pair 的端点。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D48AAC-5B90-4808-BEC0-1A2A8581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48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它仍在有序列表 S₆ 中。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C15ABF-E84C-4AFC-BAE2-FAE4A778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6240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i 为奇数且 0 &lt; z₁ = 1 &lt; base anchor = 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B160CD-16A9-4FFC-B9D5-2CB16F76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0075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最终输出 anchor：z₁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7DEBA1-AD63-48AC-B58F-A6585C55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405562-6272-4395-BFAE-8A1C2DF5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省略修正时（错误插入示意）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1454D7-FA7D-4717-9C16-CC4A17D3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2 前 → [1, 0, 2, 3, 4, 6, 7]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1BC6B-259D-4342-8C0C-7598779D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5C61AF-19A3-4A0F-9A9E-99AC414A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修正后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223CDB-9240-4D85-9911-DECDB6FE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z₁ 前 → [0, 1, 2, 3, 4, 6, 7]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271865-A5A5-4E06-9207-DD650384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只修正输出 anchor，不替代先前的 boundary-pair selection。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 安全的拆分与转移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Owner：拥有这张 children list 的 parent pair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只有 acquired 的非空片段改变 parent ownership。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仅属于一张 sibling list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实现检查与实验一致性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AC86B-2CC7-4F0F-B20E-61027C9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906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87A84"/>
                </a:solidFill>
              </a:defRPr>
            </a:pPr>
            <a:r>
              <a:rPr sz="1575" b="1">
                <a:solidFill>
                  <a:srgbClr val="187A84"/>
                </a:solidFill>
              </a:rPr>
              <a:t>排序结果和内部状态是否正确？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FC9D5-1FEB-4283-8ED5-4FE4D3D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39065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D36B4A"/>
                </a:solidFill>
              </a:defRPr>
            </a:pPr>
            <a:r>
              <a:rPr sz="1575" b="1">
                <a:solidFill>
                  <a:srgbClr val="D36B4A"/>
                </a:solidFill>
              </a:rPr>
              <a:t>实验记录与汇总是否一致？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B28C63-E5E9-48EA-9738-6109E5C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BBBD4-F6B7-4D85-A16C-577D17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重点回归用例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4DF5D-8874-4618-96BF-42EB879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6ED2C9-F25D-48F5-8F3C-DBE96999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2,074 个 oracle-valid 排列，n ≤ 8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ACB93E-B5CC-4978-A889-5E845A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5C337C-405F-4619-BDB3-A62D2EE0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checked-state audit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B1B55-D0A6-4C42-8CC6-3B0D9F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8503C1-7D0A-4046-B4C2-54179F3C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同一 core 的确定性重放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4829F8-9718-478C-8E9D-220D28A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09800"/>
            <a:ext cx="4476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4288">
            <a:solidFill>
              <a:srgbClr val="D36B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D1B5C1-01A3-4A67-809F-203B17D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790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243746"/>
                </a:solidFill>
              </a:defRPr>
            </a:pPr>
            <a:r>
              <a:rPr sz="1725" b="1">
                <a:solidFill>
                  <a:srgbClr val="243746"/>
                </a:solidFill>
              </a:rPr>
              <a:t>将保存的实验记录与固定设置核对，并重新计算汇总。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8EBF-ACA1-4562-BC5D-46BF627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5A6B78"/>
                </a:solidFill>
              </a:defRPr>
            </a:pPr>
            <a:r>
              <a:rPr sz="1275" b="0">
                <a:solidFill>
                  <a:srgbClr val="5A6B78"/>
                </a:solidFill>
              </a:rPr>
              <a:t>实验记录与汇总的一致性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B41B06-6625-435A-BF3F-D66B7B9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24A"/>
                </a:solidFill>
              </a:defRPr>
            </a:pPr>
            <a:r>
              <a:rPr sz="1575" b="1">
                <a:solidFill>
                  <a:srgbClr val="18324A"/>
                </a:solidFill>
              </a:rPr>
              <a:t>这些检查支持已评估用例，但不是对全部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383C80-CDA8-49E6-A15A-F1AD3923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396AC-384D-40C2-8AB8-CE5B6A0E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运行时间实验：输入与测量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27B8F-FBD7-46CA-859F-7ED2D2F0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FFA0BE-E6A9-4BEC-802C-BE67A214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A6DF9-59FB-49C8-B8DF-BC58A5F7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3FF19-1B5A-40E8-B641-9B025A76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0776B-B0FE-4087-8AC8-49D03A7C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02A43"/>
                </a:solidFill>
              </a:defRPr>
            </a:pPr>
            <a:r>
              <a:rPr sz="1950" b="1" i="0">
                <a:solidFill>
                  <a:srgbClr val="102A43"/>
                </a:solidFill>
              </a:rPr>
              <a:t>n = 32, 64, 128, 256, 512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608BA-776E-423A-9CF3-82E709FB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52550"/>
            <a:ext cx="413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每个规模 12 个输入，共 60 个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2FB28-E364-46F1-8CFC-3FD34B78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7642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52606D"/>
                </a:solidFill>
              </a:defRPr>
            </a:pPr>
            <a:r>
              <a:rPr sz="1425" b="1" i="0">
                <a:solidFill>
                  <a:srgbClr val="52606D"/>
                </a:solidFill>
              </a:rPr>
              <a:t>输入类型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A1FBC-084E-476A-98DE-F407598D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764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52606D"/>
                </a:solidFill>
              </a:defRPr>
            </a:pPr>
            <a:r>
              <a:rPr sz="1425" b="1" i="0">
                <a:solidFill>
                  <a:srgbClr val="52606D"/>
                </a:solidFill>
              </a:rPr>
              <a:t>每个规模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7AC07-5484-4AE9-ABFA-B935A5FA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76425"/>
            <a:ext cx="630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52606D"/>
                </a:solidFill>
              </a:defRPr>
            </a:pPr>
            <a:r>
              <a:rPr sz="1425" b="1" i="0">
                <a:solidFill>
                  <a:srgbClr val="52606D"/>
                </a:solidFill>
              </a:rPr>
              <a:t>构造方式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1FBE7B-14EB-4AD4-88C8-3274722A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3837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Flat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9D25B-995B-4A3B-907C-8A36C59E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38375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A9D8F"/>
                </a:solidFill>
              </a:defRPr>
            </a:pPr>
            <a:r>
              <a:rPr sz="1725" b="0" i="0">
                <a:solidFill>
                  <a:srgbClr val="2A9D8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83E1F-EBEB-4138-8171-43A3F3A4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38375"/>
            <a:ext cx="630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[1, 2, 3, …, n]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D39CB8-910B-46F6-A7DA-5EA10774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765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Nested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5B84A5-1C81-43B2-92BE-42178A4C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76525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A9D8F"/>
                </a:solidFill>
              </a:defRPr>
            </a:pPr>
            <a:r>
              <a:rPr sz="1725" b="0" i="0">
                <a:solidFill>
                  <a:srgbClr val="2A9D8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EAF0D6-78C4-4771-89FE-918A3060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76525"/>
            <a:ext cx="630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[1, n, 2, n−1, …]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1059AA-167C-4DD7-98B1-814B71F2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1467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Incremental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6CB5F3-3BAB-4ECB-B7E0-C96A3D9F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14675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A9D8F"/>
                </a:solidFill>
              </a:defRPr>
            </a:pPr>
            <a:r>
              <a:rPr sz="1725" b="0" i="0">
                <a:solidFill>
                  <a:srgbClr val="2A9D8F"/>
                </a:solidFill>
              </a:rPr>
              <a:t>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951E98-1668-43B1-9D0B-B683B752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14675"/>
            <a:ext cx="630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固定种子；构造过程中检查有效性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EC0A78-7549-48CC-9672-25FFC7AE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67125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每个输入、每种算法：5 次预热，再测量 20 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E07ED1-7414-4405-AAC8-9EE30A61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29075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60 个输入 × 3 个算法 × 20 次调用 = 3,600 条测量记录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077561-659E-422F-93B8-5EBB24A0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Paper 计时前：认证，每个 case 一次 checked-state audit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664057-BBB4-4293-9E6D-75527D85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Paper minimal：相同核心、全部点；不记录详细 trace，省略部分诊断检查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26E55-4107-47A9-A332-28C91FDB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Paper 计时内：初始化、Step 1–3 和输出恢复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030093-8541-4C4D-BB56-F6C31092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19750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Python：排序调用。Reference：完整 oracle-backed pipeline。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F5AB45-9F93-4707-B5E9-EF6FFA95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1059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输出比较在计时后；运行时间页重点展示 paper core 与 Python sort。</a:t>
            </a:r>
          </a:p>
        </p:txBody>
      </p:sp>
    </p:spTree>
    <p:extLst>
      <p:ext uri="{BB962C8B-B14F-4D97-AF65-F5344CB8AC3E}">
        <p14:creationId xmlns:p14="http://schemas.microsoft.com/office/powerpoint/2010/main" val="15684004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运行时间实验中的 60 个用例均返回正确输出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646C-9784-4D02-8670-7391E674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187A84"/>
                </a:solidFill>
              </a:defRPr>
            </a:pPr>
            <a:r>
              <a:rPr sz="5400" b="1">
                <a:solidFill>
                  <a:srgbClr val="187A84"/>
                </a:solidFill>
              </a:rPr>
              <a:t>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F15B7-CA4A-48D4-8A71-A9F3830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exact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0DA7-BA4A-49C9-93D3-BC17A642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2E8B57"/>
                </a:solidFill>
              </a:defRPr>
            </a:pPr>
            <a:r>
              <a:rPr sz="5400" b="1">
                <a:solidFill>
                  <a:srgbClr val="2E8B57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574DA-5C2F-45F9-BC3E-D6A8278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记录的正确性错误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66514-866D-4E7E-B31F-BC89F3D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5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5421D-19F9-4626-B39F-1F9000DB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8324A"/>
                </a:solidFill>
              </a:defRPr>
            </a:pPr>
            <a:r>
              <a:rPr sz="2175" b="1">
                <a:solidFill>
                  <a:srgbClr val="18324A"/>
                </a:solidFill>
              </a:rPr>
              <a:t>每个用例均在计时前完成 oracle 认证和一次检查。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8502F-41A3-4522-950E-39D6E3A7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14850"/>
            <a:ext cx="90297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8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DC4E0-6AFC-4906-B04A-E3F5609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86300"/>
            <a:ext cx="849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3,600 条计时记录携带对应的 case-level audit 结果。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9FC4B-1354-43F8-8063-89005C0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D36B4A"/>
                </a:solidFill>
              </a:defRPr>
            </a:pPr>
            <a:r>
              <a:rPr sz="1500" b="1">
                <a:solidFill>
                  <a:srgbClr val="D36B4A"/>
                </a:solidFill>
              </a:rPr>
              <a:t>这些结果仅覆盖本次测试的有效用例。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20C4B-E1E7-4EE4-B873-49F44EB9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368DB-4FC6-40BE-B4F0-2B712D7D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普通列表实现的运行时间基线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09F26-0838-429A-A401-3C5712F3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674A8-2F88-4ACD-A2B4-2455EA41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E8A6E-78DC-4F53-B57F-D80ACC20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0B39F-D79A-4298-B1FB-7BC8A67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71437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da0ec29d9d4bf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FB22F-D6FF-4516-A271-D770A251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23850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D32D7-1785-4A8C-AB62-C3EC5123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观测结果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E7ECC3-485B-4CBD-AD0B-24626DF9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51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在每个测试规模上，Python sort 的调用耗时中位数都低得多。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57C8D2-9EBE-4220-B39A-F5B8E4FD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23850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3FEFF4-5583-48F3-846F-BD0E26F2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957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基线的用途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A5519-F61E-48CF-B4A5-DCB114D5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81475"/>
            <a:ext cx="2819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51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为后续优化和后端比较提供参照。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34DAA-9E17-4F13-BD78-5BCCF517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24550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60 个有效用例 · Apple M4 / CPython 3.12.4 · 不作渐近复杂度结论</a:t>
            </a:r>
          </a:p>
        </p:txBody>
      </p:sp>
    </p:spTree>
    <p:extLst>
      <p:ext uri="{BB962C8B-B14F-4D97-AF65-F5344CB8AC3E}">
        <p14:creationId xmlns:p14="http://schemas.microsoft.com/office/powerpoint/2010/main" val="7395059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当前证据说明了什么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D9052C-2E4F-4905-AB39-60D4882E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9050">
            <a:solidFill>
              <a:srgbClr val="187A8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678C18-6B9D-4719-A070-9770424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9050">
            <a:solidFill>
              <a:srgbClr val="D3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86850-49F2-4FD7-A417-F5C877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当前结果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6A3770-411E-4E00-8193-2A2DD17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D36B4A"/>
                </a:solidFill>
              </a:defRPr>
            </a:pPr>
            <a:r>
              <a:rPr sz="1950" b="1">
                <a:solidFill>
                  <a:srgbClr val="D36B4A"/>
                </a:solidFill>
              </a:rPr>
              <a:t>主要限制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EEEF3-04F7-4552-BB38-0C829EA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2722B-3F7D-4D1D-B524-8971777C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可执行重构从维护状态恢复输出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3D65C-D7CF-4234-A55B-AF01D76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F941E-D16C-4A04-9479-9508A35E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本次运行时间实验的 60 个用例均正确，并记录了耗时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E35F4-0638-4969-99D0-AC153FC3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E0DC3D-E619-4D82-A371-9D10515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普通列表不能证明线性时间实现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0F9FA-698E-47D1-B599-0BFE207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CD2CD-EEE3-43CC-8520-CCFE6F8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五个测试规模不能确定渐近复杂度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1A718D-977F-4E40-899C-9AFDA2A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150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24A"/>
                </a:solidFill>
              </a:defRPr>
            </a:pPr>
            <a:r>
              <a:rPr sz="1500" b="1">
                <a:solidFill>
                  <a:srgbClr val="18324A"/>
                </a:solidFill>
              </a:rPr>
              <a:t>未评估 recognition；paper 与 reference 使用不同计时范围。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可能的下一步：finger-tree 后端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2F3BF-6FF5-4B66-8841-11B7CAF0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85900"/>
            <a:ext cx="1005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24A"/>
                </a:solidFill>
              </a:defRPr>
            </a:pPr>
            <a:r>
              <a:rPr sz="2100" b="1">
                <a:solidFill>
                  <a:srgbClr val="18324A"/>
                </a:solidFill>
              </a:rPr>
              <a:t>普通列表实现提供了经过测试的参照点。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6D41B-9924-4413-B459-D49FC95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24100"/>
            <a:ext cx="8915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4288">
            <a:solidFill>
              <a:srgbClr val="187A8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56FE8-44CD-450D-A51C-FEADC545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243746"/>
                </a:solidFill>
              </a:defRPr>
            </a:pPr>
            <a:r>
              <a:rPr sz="1800" b="0">
                <a:solidFill>
                  <a:srgbClr val="243746"/>
                </a:solidFill>
              </a:rPr>
              <a:t>新后端保持相同的 Step 1/2/3 行为，只替换 sibling-list 操作。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5627C-BF2A-45D5-BBE6-0E5EF35B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187A84"/>
                </a:solidFill>
              </a:defRPr>
            </a:pPr>
            <a:r>
              <a:rPr sz="1875" b="1">
                <a:solidFill>
                  <a:srgbClr val="187A84"/>
                </a:solidFill>
              </a:rPr>
              <a:t>与导师讨论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5184-261A-4019-B19A-7FA5B0A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0058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11430">
            <a:solidFill>
              <a:srgbClr val="18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FCDCD-8EF6-4880-AB4F-DE4ACA3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33900"/>
            <a:ext cx="9258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1. 应实现历史 heterogeneous finger tree，还是具有所需操作的等价后端？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2. 经过测试且语义等价的原型是否足够，还是还需证明所需的摊还操作界？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Walnut Exporter</Application>
  <PresentationFormat>Converted Presentation</PresentationFormat>
  <Slides>16</Slides>
  <Notes>16</Notes>
  <HiddenSlides>0</HiddenSlides>
  <SharedDoc>false</SharedDoc>
  <DocSecurity>0</DocSecurity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2026-09-07T12:18:00.5090000Z</dcterms:created>
  <dcterms:modified xsi:type="dcterms:W3CDTF">2026-09-07T12:18:00.5090000Z</dcterms:modified>
</coreProperties>
</file>