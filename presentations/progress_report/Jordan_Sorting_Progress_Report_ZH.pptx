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7ba4c76cfb748e9"/>
  </p:sldMasterIdLst>
  <p:notesMasterIdLst>
    <p:notesMasterId r:id="R9bd8e017059d460a"/>
  </p:notesMasterIdLst>
  <p:sldIdLst>
    <p:sldId id="256" r:id="Rf89fca5c6d434d79"/>
    <p:sldId id="257" r:id="R9b625e1d0fbe41c4"/>
    <p:sldId id="258" r:id="Re55de8729af048a7"/>
    <p:sldId id="259" r:id="Rc8bb640cc06642f4"/>
    <p:sldId id="260" r:id="R57f1a3194c924c90"/>
    <p:sldId id="261" r:id="Rbcb416c712d4489a"/>
    <p:sldId id="262" r:id="Rb2c0dda682444f70"/>
    <p:sldId id="263" r:id="R0b6f8ff3005346b0"/>
    <p:sldId id="264" r:id="Rfc7d467870484ea8"/>
    <p:sldId id="265" r:id="Rdd7e98080dd04082"/>
    <p:sldId id="266" r:id="R1d59fefc5e014fca"/>
    <p:sldId id="267" r:id="Rca3f955f4a234a10"/>
    <p:sldId id="268" r:id="R12f240c7384c44e7"/>
    <p:sldId id="269" r:id="Rd126f4d7a50a4e0b"/>
    <p:sldId id="270" r:id="R17311a171f114d5b"/>
    <p:sldId id="271" r:id="R14d9cee1ec6744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我们同时维护两种信息：已处理点的排序，以及 pairs 之间的父子关系。初始化只做一次，仅将前三个点按 x 坐标排序，这个有序列表称为 S₃。同时建立 upper、lower pair family，不使用 oracle 的排序答案。点的编号和 pair 的端点存储仍保持曲线顺序。从第 4 个点开始，每轮加入一个新点。我们从沿曲线的前一个点出发。Step 1、2 利用它在有序列表中的邻居，分别找到 predecessor boundary Aᵢ 和 successor boundary Bᵢ。Step 3(a) 将新 pair 放入 family 结构，并确定它的 parent。Step 3(b) 在需要时拆分 sibling list，让新包含的旧 pairs 成为新 pair 的 children。到这时，Step 3(c) 才根据维护的状态选择 anchor，将新点插入有序列表。Increasing 时，Step 3(a) 使用 Aᵢ，3(b) 使用 Bᵢ。Decreasing 交换两者的用途，并镜像左右操作；Step 1、2 仍分别返回 Aᵢ、Bᵢ。论文描述 increasing 情形；decreasing 来自对称重构，anchor 的细节属于可执行化澄清。这些类别说明重构的依据，并不分别对应某个步骤。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输入是 (3,2,1,4)。初始化后，有序列表是 [1,2,3]，但点的编号仍然按照曲线访问顺序保留。</a:t>
            </a:r>
          </a:p>
          <a:p xmlns:a="http://schemas.openxmlformats.org/drawingml/2006/main">
            <a:r>
              <a:t>现在插入第四个点，也就是 4。Step 3(b) 完成后，新 upper pair P₄ 的端点是 (1,4)，它有一个 child：P₂，按曲线顺序存为 (3,2)。</a:t>
            </a:r>
          </a:p>
          <a:p xmlns:a="http://schemas.openxmlformats.org/drawingml/2006/main">
            <a:r>
              <a:t>本次从 1 到 4，因此是 increasing。Child 的几何区间 [2,3] 位于新 pair 的区间 [1,4] 内。因此，4 必须排在 child 的两个端点之后。Child 的右边界是 3，所以我们选择 3 作为 anchor。</a:t>
            </a:r>
          </a:p>
          <a:p xmlns:a="http://schemas.openxmlformats.org/drawingml/2006/main">
            <a:r>
              <a:t>如果把 4 紧挨着插在 2 后面，它就会落在列表中 child 的两个端点之间，得到 [1,2,4,3]。插在 3 后面，才得到 [1,2,3,4]。</a:t>
            </a:r>
          </a:p>
          <a:p xmlns:a="http://schemas.openxmlformats.org/drawingml/2006/main">
            <a:r>
              <a:t>我们也可以把端点按从左到右的顺序存储，前提是保留它们的曲线身份信息。真正的错误，是把“曲线顺序中的第二个端点”当成“几何右端点”。</a:t>
            </a:r>
          </a:p>
          <a:p xmlns:a="http://schemas.openxmlformats.org/drawingml/2006/main">
            <a:r>
              <a:t>我将这一明确选择记录为可执行化澄清，而不是 1990 年论文的逐字规则。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模式下的初始化、Step 1 至 3，以及从维护顺序恢复输出。输出比较发生在计时后。Python 计时覆盖排序调用；reference 计时覆盖完整的 oracle-backed pipeline。这是三种不同的计时范围。 原实验测量了三种实现；接下来的运行时间页重点展示 paper core 和 Python sort。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这一页展示普通列表 paper core 的运行时间，并以 Python sort 作为实际排序基线。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两种方法接收相同的有效输入，各自产生排序结果。认证和外部检查位于计时之外。每种方法自身的输出构造仍在计时内。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图中每个数值是同一规模下 12 个 case 中位数的中位数，每个 case 权重相同。每个 case 的中位数来自 20 次计时调用。纵轴采用对数刻度。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Paper 的耗时从 32 个点时约 0.59 毫秒，上升到 512 个点时约 18.72 毫秒。Python sort 在每个测试规模上的中位耗时都低得多。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这些结果描述当前实现，不能证明线性时间性能，也没有隔离各个组成部分的成本。它们为后续优化和后端比较提供基线。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 (source_commit: 98868b1b705f6d5f22404ee8ad7b88ad7a834f52)</a:t>
            </a:r>
          </a:p>
          <a:p xmlns:a="http://schemas.openxmlformats.org/drawingml/2006/main">
            <a:r>
              <a:t>- results/runs/week12_formal_sorting_v1__run001/environment.json</a:t>
            </a:r>
          </a:p>
          <a:p xmlns:a="http://schemas.openxmlformats.org/drawingml/2006/main">
            <a:r>
              <a:t>- experiments/run_week11_pilot.py (timing boundaries at the manifest source_commit)</a:t>
            </a:r>
          </a:p>
          <a:p xmlns:a="http://schemas.openxmlformats.org/drawingml/2006/main">
            <a:r>
              <a:t>- src/paper_jordan_sort.py (output recovery at the manifest source_commit)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 普通列表 core</c:v>
          </c:tx>
          <c:spPr>
            <a:ln xmlns:a="http://schemas.openxmlformats.org/drawingml/2006/main" w="28575">
              <a:solidFill>
                <a:srgbClr val="2A9D8F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0.####</c:formatCode>
                <c:ptCount val="5"/>
                <c:pt idx="0">
                  <c:v>0.58690625</c:v>
                </c:pt>
                <c:pt idx="1">
                  <c:v>1.2821975</c:v>
                </c:pt>
                <c:pt idx="2">
                  <c:v>2.81508325</c:v>
                </c:pt>
                <c:pt idx="3">
                  <c:v>6.72124975</c:v>
                </c:pt>
                <c:pt idx="4">
                  <c:v>18.71668725</c:v>
                </c:pt>
              </c:numCache>
            </c:numRef>
          </c:val>
          <c:smooth val="0"/>
        </c:ser>
        <c:ser>
          <c:idx val="1"/>
          <c:order val="1"/>
          <c:tx>
            <c:v>Python sort</c:v>
          </c:tx>
          <c:spPr>
            <a:ln xmlns:a="http://schemas.openxmlformats.org/drawingml/2006/main" w="28575">
              <a:solidFill>
                <a:srgbClr val="E76F51"/>
              </a:solidFill>
              <a:prstDash val="solid"/>
            </a:ln>
          </c:spPr>
          <c:marker>
            <c:symbol val="square"/>
            <c:size val="8"/>
            <c:spPr>
              <a:solidFill xmlns:a="http://schemas.openxmlformats.org/drawingml/2006/main">
                <a:srgbClr val="E76F51"/>
              </a:solidFill>
            </c:spPr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0.####</c:formatCode>
                <c:ptCount val="5"/>
                <c:pt idx="0">
                  <c:v>0.000791</c:v>
                </c:pt>
                <c:pt idx="1">
                  <c:v>0.00141675</c:v>
                </c:pt>
                <c:pt idx="2">
                  <c:v>0.00263525</c:v>
                </c:pt>
                <c:pt idx="3">
                  <c:v>0.00520825</c:v>
                </c:pt>
                <c:pt idx="4">
                  <c:v>0.0105835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2606D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2606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logBase val="10"/>
          <c:orientation val="minMax"/>
          <c:max val="100"/>
          <c:min val="0.000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2606D"/>
                    </a:solidFill>
                  </a:rPr>
                  <a:t>调用耗时中位数（毫秒，对数刻度）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2606D"/>
                  </a:solidFill>
                </a:defRPr>
              </a:pPr>
            </a:p>
          </c:txPr>
        </c:title>
        <c:numFmt formatCode="0.####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927F38-A182-4D88-8720-9B37F0B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2FBA-7D2A-455E-A16D-89ECCA0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初始化一次，再逐点更新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EE3A4-F17E-4C57-8E49-28C0D659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11626-2F76-4823-8AF6-0ABFEAEF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6BE3A-915A-4391-B3FA-11F3106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97E75-EE8D-4E64-9DE9-4C5DB98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906C2-664D-4733-BCE7-635B744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BD840-0CA0-4974-B06C-902617A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036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7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A. 仅初始化一次（n ≥ 3）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6BE00-3CC3-433C-A12B-9EB097BE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仅将 z₁、z₂、z₃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按 x 坐标排序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A38E9-1269-43D1-AE3C-F29E957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8C6F4-B0D6-4C5D-A37C-087EFEC0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初始有序列表 S₃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B13BF-3957-4454-8E1D-623C631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3083F-F94B-4B8D-A172-2D9441D1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71650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Upper/lower pair family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P₂、P₃ 与 dummy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AE998-4FC3-4212-B157-78719B55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Core 自行局部初始化，不使用 oracle 答案。点编号与 pair 端点存储保持曲线顺序。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BD6DB-8F3E-4FFF-9585-0BD379E3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B. 对 i = 4, …, n：每轮处理一个新点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7FA74-8C71-462D-8844-36EF52B9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Sᵢ₋₁ + 新点 zᵢ → 执行下面一轮更新 → Sᵢ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16C04-A69D-46D9-A649-E4B811AF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92A13-DD32-44F6-898E-C6C588D1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4B48D-6AA6-45EE-822F-6CBB9877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predecessor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Aᵢ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164AF-EE89-45D1-8E09-1815B366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B8E92-2DF0-4EEC-A434-C692E7C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9F201-B049-42DF-A60A-271D438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successor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Bᵢ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9EA53-5FF1-48A9-BE62-7BB8A402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2A08C-9C73-4182-8D97-657FC3C4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7F34E-A5EC-4654-A99C-A5D0008B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插入新 pair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Pᵢ = (zᵢ₋₁, zᵢ)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947B58-A8CC-4780-95A1-F4FCEAE7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F8A37-7ADA-4D1D-9140-BBC3897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A6DE7-0EF1-41D7-AC1E-9365210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按需拆分 sibling list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并转移 ownership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C4B330-3C6A-48E9-B526-FBED881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A2522-D920-48D7-85E2-F914709B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FE0D9E-113C-4225-8DA9-4612CE2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将 zᵢ 插入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维护的有序列表</a:t>
            </a:r>
          </a:p>
        </p:txBody>
      </p:sp>
      <p:cxnSp>
        <p:nvCxnSpPr>
          <p:cNvPr id="76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7051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8958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0866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6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92773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646241-66EB-47E1-9F93-6C0583DD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两个方向都保持 Step 1 → Aᵢ、Step 2 → Bᵢ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FAE0DB-C358-44EF-A042-BD8C1660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Increasing：3(a) 用 Aᵢ，3(b) 用 Bᵢ。Decreasing 交换两者用途，并镜像左右操作。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5B4357-62BA-471E-82C3-A0179A29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7B8794"/>
                </a:solidFill>
              </a:defRPr>
            </a:pPr>
            <a:r>
              <a:rPr sz="1425" b="0" i="0">
                <a:solidFill>
                  <a:srgbClr val="7B8794"/>
                </a:solidFill>
              </a:rPr>
              <a:t>重构依据的类别（不分别对应算法步骤）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FE1BFB-41D7-4DFB-ADFB-5A8D9FC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28044-5F20-4CD3-83E3-B5EFE25B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7EE3C8-23C0-4DD3-9EDC-B38B512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635945-2DF6-4D20-882D-1C965466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8F5261-80CD-4400-AF31-908F152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3B112E-EC78-4380-9EA5-5C60D6A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可执行化澄清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FEEE8C-58F0-4C31-A6AD-45903CCA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6D42C-F14A-424E-AF68-5948CC1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从 S₃ 到 S₄：插入需要几何 anchor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C00C0-F15D-458E-B491-A8C54CB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C46D6-86BA-4A82-A18A-554A61B4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16AE-A0A3-4752-8B1C-9B9C6C7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20910-E2E7-46B2-9369-42067104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B22D3-1009-4958-8D49-D3307AB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按曲线顺序输入：(z₁, z₂, z₃, z₄) = (3, 2, 1, 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6FA7A-C002-44B8-B391-78E3003C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722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29CB3-E743-45CE-A9B9-3486222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626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初始化后：S₃ = [1, 2, 3]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7728A-A695-48C2-877C-44C659A7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626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52606D"/>
                </a:solidFill>
              </a:defRPr>
            </a:pPr>
            <a:r>
              <a:rPr sz="1650" b="0" i="0">
                <a:solidFill>
                  <a:srgbClr val="52606D"/>
                </a:solidFill>
              </a:rPr>
              <a:t>对应编号：[z₃,z₂,z₁]。曲线编号保持不变。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1B4B3-E926-46A8-A808-D6AA505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9433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EC31D-25DA-4945-8A0F-FC9108E6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859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现在处理 z₄ = 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A1861-DE75-4D0B-AF9E-5178FD8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z₃ = 1 → z₄ = 4：increasing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C887E-92F5-475B-9352-C455B8FA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 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F0258-FF12-415F-B6C0-E50F0191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新 upper P₄ = (z₃, z₄) = (1, 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3143E-A3ED-4ED7-896F-CA749235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A9D8F"/>
                </a:solidFill>
              </a:defRPr>
            </a:pPr>
            <a:r>
              <a:rPr sz="1650" b="0" i="0">
                <a:solidFill>
                  <a:srgbClr val="2A9D8F"/>
                </a:solidFill>
              </a:rPr>
              <a:t>→ child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80D75-C8A8-4DF6-9887-3E943E35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610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Upper P₂ = (z₁, z₂) = (3, 2)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87672-58D9-47D5-A449-B62C735D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P₄ 获得 child P₂。本次 increasing 更新取 child 的几何右端点。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3BE2D-3992-4699-B94A-E6F39792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56071-E156-41D1-A516-5C261546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P₂ 的第二个存储端点：2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C889-72FA-4B62-B9C7-96A4CE08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2 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3AED2-06A2-46AB-A6E9-959EC34B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[1, 2, 4, 3]  错误（示意）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6A182-029E-45EF-9243-45A34892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7FF84-1B88-4C37-8F18-293E2DA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P₂ 的几何右端点：3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FE610-2FC8-40F2-B8EB-099D6BBF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3 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A764F-304E-4565-9749-333EB14B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[1, 2, 3, 4]  正确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DBB45-B7D7-44BC-9BA6-4BADE249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102A43"/>
                </a:solidFill>
              </a:defRPr>
            </a:pPr>
            <a:r>
              <a:rPr sz="1650" b="0" i="0">
                <a:solidFill>
                  <a:srgbClr val="102A43"/>
                </a:solidFill>
              </a:rPr>
              <a:t>这里的 anchor 是已有点，4 将紧接着插在它后面。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79683-B69C-4F2E-BD94-C4263A7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这是可执行化澄清，非 1990 年论文的逐字规则。存储的曲线顺序 ≠ 几何顺序。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B87199-1BA7-42CE-8DAC-185DBB2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81D41-3196-49BE-98B5-3F1D31F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为什么需要单独检查 z₁ 输出锚点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34603-B4E9-477E-9DAF-619538A7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816A-A145-43BA-9370-2F197C4F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50E1-0894-455E-AFCB-B1E4864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4D8A-03AA-43F0-8638-3AE3FFD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B6FB8-1A1D-466E-86C2-E055FA3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输入 (z₁, …, z₇) = (1, 2, 3, 4, 6, 7, 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1C577-5D0B-4C4E-91F7-3893B08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144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606D"/>
                </a:solidFill>
              </a:defRPr>
            </a:pPr>
            <a:r>
              <a:rPr sz="1575" b="0" i="0">
                <a:solidFill>
                  <a:srgbClr val="52606D"/>
                </a:solidFill>
              </a:rPr>
              <a:t>S₆ = [1, 2, 3, 4, 6, 7]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AC149-304D-4AAD-A579-CEF4220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7（奇数）→ lower family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43D58-5EBA-4CEC-AC04-A6284A4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34123-51E4-48FF-B5E4-060F6AE9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Decreasing：最左 child → 几何左端点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4932-767B-4597-AB10-73A2D7E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33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B3AFB-A1C4-4F75-A808-C6F7F27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90850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P₇ = (7, 0)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A3BD-6585-4897-B977-1B573D7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432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曲线顺序 (7, 0)；几何区间 [0, 7]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E808-B822-46E4-A7F9-0DC3A391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2AEB-974D-477D-B50F-CCA1CD6E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1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43100" y="3162300"/>
            <a:ext cx="247650" cy="4953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476750" y="3162300"/>
            <a:ext cx="228600" cy="4953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5D5A9-6041-4CCD-8575-36D97E6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0C4B-E128-4E86-8E65-C486F3B2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C46C-9331-4CA1-A5DB-2D30AFC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最左 child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5369F-044C-446D-A11C-D6BDE47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P₃ → 几何左端点 2 → base anchor z₂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1DEE0-D33F-49C8-A928-BCE02072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为什么还要检查 z₁？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902587-2E7C-450E-AE07-E2B37594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属于 upper pair P₂ = (1, 2)。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E40C-BC60-48B3-B8F5-C25F79D8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它不是任何 lower pair 的端点。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48AAC-5B90-4808-BEC0-1A2A8581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它仍在有序列表 S₆ 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C15ABF-E84C-4AFC-BAE2-FAE4A77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i 为奇数且 0 &lt; z₁ = 1 &lt; base anchor =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160CD-16A9-4FFC-B9D5-2CB16F7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0075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最终输出 anchor：z₁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DEBA1-AD63-48AC-B58F-A6585C5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05562-6272-4395-BFAE-8A1C2DF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省略修正时（错误插入示意）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454D7-FA7D-4717-9C16-CC4A17D3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2 前 → [1, 0, 2, 3, 4, 6, 7]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BC6B-259D-4342-8C0C-7598779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5C61AF-19A3-4A0F-9A9E-99AC414A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修正后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223CDB-9240-4D85-9911-DECDB6F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z₁ 前 → [0, 1, 2, 3, 4, 6, 7]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271865-A5A5-4E06-9207-DD650384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只修正输出 anchor，不替代先前的 boundary-pair selection。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依据归档实验输出进行核对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原实验测量三种实现；运行时间页重点展示 paper core 与 Python sort。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20C4B-E1E7-4EE4-B873-49F44EB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368DB-4FC6-40BE-B4F0-2B712D7D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普通列表实现的运行时间基线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09F26-0838-429A-A401-3C5712F3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674A8-2F88-4ACD-A2B4-2455EA41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E8A6E-78DC-4F53-B57F-D80ACC20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0B39F-D79A-4298-B1FB-7BC8A67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71437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FB22F-D6FF-4516-A271-D770A251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23850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D32D7-1785-4A8C-AB62-C3EC5123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观测结果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E7ECC3-485B-4CBD-AD0B-24626DF9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1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在每个测试规模上，Python sort 的调用耗时中位数都低得多。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7C8D2-9EBE-4220-B39A-F5B8E4FD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23850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3FEFF4-5583-48F3-846F-BD0E26F2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957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基线的用途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A5519-F61E-48CF-B4A5-DCB114D5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8147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1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为后续优化和后端比较提供参照。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34DAA-9E17-4F13-BD78-5BCCF517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245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60 个有效用例 · Apple M4 / CPython 3.12.4 · 不作渐近复杂度结论</a:t>
            </a:r>
          </a:p>
        </p:txBody>
      </p:sp>
    </p:spTree>
    <p:extLst>
      <p:ext uri="{BB962C8B-B14F-4D97-AF65-F5344CB8AC3E}">
        <p14:creationId xmlns:p14="http://schemas.microsoft.com/office/powerpoint/2010/main" val="7395059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Walnut Exporter</Application>
  <PresentationFormat>Converted Presentation</PresentationFormat>
  <Slides>16</Slides>
  <Notes>16</Notes>
  <HiddenSlides>0</HiddenSlides>
  <SharedDoc>false</SharedDoc>
  <DocSecurity>0</DocSecurity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