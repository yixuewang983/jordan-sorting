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slides/charts/chart1.xml" ContentType="application/vnd.openxmlformats-officedocument.drawingml.chart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4f3d25b18614f91" /><Relationship Type="http://schemas.openxmlformats.org/officeDocument/2006/relationships/extended-properties" Target="/docProps/app.xml" Id="R14ac838950ab40c8" /><Relationship Type="http://schemas.openxmlformats.org/officeDocument/2006/relationships/officeDocument" Target="/ppt/presentation.xml" Id="R1b57368f77ec4c1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f7ba4c76cfb748e9"/>
  </p:sldMasterIdLst>
  <p:notesMasterIdLst>
    <p:notesMasterId xmlns:r="http://schemas.openxmlformats.org/officeDocument/2006/relationships" r:id="R9bd8e017059d460a"/>
  </p:notesMasterIdLst>
  <p:sldIdLst>
    <p:sldId xmlns:r="http://schemas.openxmlformats.org/officeDocument/2006/relationships" id="256" r:id="Rf89fca5c6d434d79"/>
    <p:sldId xmlns:r="http://schemas.openxmlformats.org/officeDocument/2006/relationships" id="257" r:id="R9b625e1d0fbe41c4"/>
    <p:sldId xmlns:r="http://schemas.openxmlformats.org/officeDocument/2006/relationships" id="258" r:id="Re55de8729af048a7"/>
    <p:sldId xmlns:r="http://schemas.openxmlformats.org/officeDocument/2006/relationships" id="259" r:id="Rc8bb640cc06642f4"/>
    <p:sldId xmlns:r="http://schemas.openxmlformats.org/officeDocument/2006/relationships" id="260" r:id="R57f1a3194c924c90"/>
    <p:sldId xmlns:r="http://schemas.openxmlformats.org/officeDocument/2006/relationships" id="261" r:id="Rbcb416c712d4489a"/>
    <p:sldId xmlns:r="http://schemas.openxmlformats.org/officeDocument/2006/relationships" id="262" r:id="Rb2c0dda682444f70"/>
    <p:sldId xmlns:r="http://schemas.openxmlformats.org/officeDocument/2006/relationships" id="263" r:id="R0b6f8ff3005346b0"/>
    <p:sldId xmlns:r="http://schemas.openxmlformats.org/officeDocument/2006/relationships" id="264" r:id="Rfc7d467870484ea8"/>
    <p:sldId xmlns:r="http://schemas.openxmlformats.org/officeDocument/2006/relationships" id="265" r:id="Rdd7e98080dd04082"/>
    <p:sldId xmlns:r="http://schemas.openxmlformats.org/officeDocument/2006/relationships" id="266" r:id="R1d59fefc5e014fca"/>
    <p:sldId xmlns:r="http://schemas.openxmlformats.org/officeDocument/2006/relationships" id="267" r:id="Rca3f955f4a234a10"/>
    <p:sldId xmlns:r="http://schemas.openxmlformats.org/officeDocument/2006/relationships" id="268" r:id="R12f240c7384c44e7"/>
    <p:sldId xmlns:r="http://schemas.openxmlformats.org/officeDocument/2006/relationships" id="269" r:id="Rd126f4d7a50a4e0b"/>
    <p:sldId xmlns:r="http://schemas.openxmlformats.org/officeDocument/2006/relationships" id="270" r:id="R17311a171f114d5b"/>
    <p:sldId xmlns:r="http://schemas.openxmlformats.org/officeDocument/2006/relationships" id="271" r:id="R14d9cee1ec674407"/>
    <p:sldId xmlns:r="http://schemas.openxmlformats.org/officeDocument/2006/relationships" id="272" r:id="R81ae2435738f4063"/>
    <p:sldId xmlns:r="http://schemas.openxmlformats.org/officeDocument/2006/relationships" id="273" r:id="R9b1a734dafdd4906"/>
    <p:sldId xmlns:r="http://schemas.openxmlformats.org/officeDocument/2006/relationships" id="274" r:id="R6ecb50270ec54bb3"/>
    <p:sldId xmlns:r="http://schemas.openxmlformats.org/officeDocument/2006/relationships" id="275" r:id="Ra9177718a8024461"/>
    <p:sldId xmlns:r="http://schemas.openxmlformats.org/officeDocument/2006/relationships" id="276" r:id="R534f22b3f0ad44f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488e4b7834915" /><Relationship Type="http://schemas.openxmlformats.org/officeDocument/2006/relationships/slideMaster" Target="/ppt/slideMasters/slideMaster1.xml" Id="Rf7ba4c76cfb748e9" /><Relationship Type="http://schemas.openxmlformats.org/officeDocument/2006/relationships/notesMaster" Target="/ppt/notesMasters/notesMaster1.xml" Id="R9bd8e017059d460a" /><Relationship Type="http://schemas.openxmlformats.org/officeDocument/2006/relationships/presProps" Target="/ppt/presProps.xml" Id="R27175e0e01724411" /><Relationship Type="http://schemas.openxmlformats.org/officeDocument/2006/relationships/tableStyles" Target="/ppt/tableStyles.xml" Id="Rc241c382756d4453" /><Relationship Type="http://schemas.openxmlformats.org/officeDocument/2006/relationships/slide" Target="/ppt/slides/slide1.xml" Id="Rf89fca5c6d434d79" /><Relationship Type="http://schemas.openxmlformats.org/officeDocument/2006/relationships/slide" Target="/ppt/slides/slide2.xml" Id="R9b625e1d0fbe41c4" /><Relationship Type="http://schemas.openxmlformats.org/officeDocument/2006/relationships/slide" Target="/ppt/slides/slide3.xml" Id="Re55de8729af048a7" /><Relationship Type="http://schemas.openxmlformats.org/officeDocument/2006/relationships/slide" Target="/ppt/slides/slide4.xml" Id="Rc8bb640cc06642f4" /><Relationship Type="http://schemas.openxmlformats.org/officeDocument/2006/relationships/slide" Target="/ppt/slides/slide5.xml" Id="R57f1a3194c924c90" /><Relationship Type="http://schemas.openxmlformats.org/officeDocument/2006/relationships/slide" Target="/ppt/slides/slide6.xml" Id="Rbcb416c712d4489a" /><Relationship Type="http://schemas.openxmlformats.org/officeDocument/2006/relationships/slide" Target="/ppt/slides/slide7.xml" Id="Rb2c0dda682444f70" /><Relationship Type="http://schemas.openxmlformats.org/officeDocument/2006/relationships/slide" Target="/ppt/slides/slide8.xml" Id="R0b6f8ff3005346b0" /><Relationship Type="http://schemas.openxmlformats.org/officeDocument/2006/relationships/slide" Target="/ppt/slides/slide9.xml" Id="Rfc7d467870484ea8" /><Relationship Type="http://schemas.openxmlformats.org/officeDocument/2006/relationships/slide" Target="/ppt/slides/slide10.xml" Id="Rdd7e98080dd04082" /><Relationship Type="http://schemas.openxmlformats.org/officeDocument/2006/relationships/slide" Target="/ppt/slides/slide11.xml" Id="R1d59fefc5e014fca" /><Relationship Type="http://schemas.openxmlformats.org/officeDocument/2006/relationships/slide" Target="/ppt/slides/slide12.xml" Id="Rca3f955f4a234a10" /><Relationship Type="http://schemas.openxmlformats.org/officeDocument/2006/relationships/slide" Target="/ppt/slides/slide13.xml" Id="R12f240c7384c44e7" /><Relationship Type="http://schemas.openxmlformats.org/officeDocument/2006/relationships/slide" Target="/ppt/slides/slide14.xml" Id="Rd126f4d7a50a4e0b" /><Relationship Type="http://schemas.openxmlformats.org/officeDocument/2006/relationships/slide" Target="/ppt/slides/slide15.xml" Id="R17311a171f114d5b" /><Relationship Type="http://schemas.openxmlformats.org/officeDocument/2006/relationships/slide" Target="/ppt/slides/slide16.xml" Id="R14d9cee1ec674407" /><Relationship Type="http://schemas.openxmlformats.org/officeDocument/2006/relationships/slide" Target="/ppt/slides/slide17.xml" Id="R81ae2435738f4063" /><Relationship Type="http://schemas.openxmlformats.org/officeDocument/2006/relationships/slide" Target="/ppt/slides/slide18.xml" Id="R9b1a734dafdd4906" /><Relationship Type="http://schemas.openxmlformats.org/officeDocument/2006/relationships/slide" Target="/ppt/slides/slide19.xml" Id="R6ecb50270ec54bb3" /><Relationship Type="http://schemas.openxmlformats.org/officeDocument/2006/relationships/slide" Target="/ppt/slides/slide20.xml" Id="Ra9177718a8024461" /><Relationship Type="http://schemas.openxmlformats.org/officeDocument/2006/relationships/slide" Target="/ppt/slides/slide21.xml" Id="R534f22b3f0ad44f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fcde8907caf41e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aee0362a68e4d83" /><Relationship Type="http://schemas.openxmlformats.org/officeDocument/2006/relationships/notesMaster" Target="/ppt/notesMasters/notesMaster1.xml" Id="Rca876a15b8c7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c3fa14e122471b" /><Relationship Type="http://schemas.openxmlformats.org/officeDocument/2006/relationships/notesMaster" Target="/ppt/notesMasters/notesMaster1.xml" Id="R9b768cf038c44a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1db0fbb3d24688" /><Relationship Type="http://schemas.openxmlformats.org/officeDocument/2006/relationships/notesMaster" Target="/ppt/notesMasters/notesMaster1.xml" Id="R181dd6d0c5e547d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3f0dcd46a3d4d41" /><Relationship Type="http://schemas.openxmlformats.org/officeDocument/2006/relationships/notesMaster" Target="/ppt/notesMasters/notesMaster1.xml" Id="R1e129c5a5da14ec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cd6c0a860cb4e18" /><Relationship Type="http://schemas.openxmlformats.org/officeDocument/2006/relationships/notesMaster" Target="/ppt/notesMasters/notesMaster1.xml" Id="R8b684c05c1564d2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4b2199e60241d2" /><Relationship Type="http://schemas.openxmlformats.org/officeDocument/2006/relationships/notesMaster" Target="/ppt/notesMasters/notesMaster1.xml" Id="Rfe57120d5a5e461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a60d0ea80e5452f" /><Relationship Type="http://schemas.openxmlformats.org/officeDocument/2006/relationships/notesMaster" Target="/ppt/notesMasters/notesMaster1.xml" Id="R10480281525b444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41133d65d414d61" /><Relationship Type="http://schemas.openxmlformats.org/officeDocument/2006/relationships/notesMaster" Target="/ppt/notesMasters/notesMaster1.xml" Id="Rce8c3332c6824af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ed12ce2a0ff4d16" /><Relationship Type="http://schemas.openxmlformats.org/officeDocument/2006/relationships/notesMaster" Target="/ppt/notesMasters/notesMaster1.xml" Id="Rd30c8370e71d4a89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d9b36d637a14aa4" /><Relationship Type="http://schemas.openxmlformats.org/officeDocument/2006/relationships/notesMaster" Target="/ppt/notesMasters/notesMaster1.xml" Id="R147741d7b63c49d6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f246d3c7cd84e44" /><Relationship Type="http://schemas.openxmlformats.org/officeDocument/2006/relationships/notesMaster" Target="/ppt/notesMasters/notesMaster1.xml" Id="R3c30f569633144d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8b88ff01b914c50" /><Relationship Type="http://schemas.openxmlformats.org/officeDocument/2006/relationships/notesMaster" Target="/ppt/notesMasters/notesMaster1.xml" Id="R83ef5ee5d87d4c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595c38008a54c2b" /><Relationship Type="http://schemas.openxmlformats.org/officeDocument/2006/relationships/notesMaster" Target="/ppt/notesMasters/notesMaster1.xml" Id="R4c22ca66dad843b0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bbd0a66d2e0446d" /><Relationship Type="http://schemas.openxmlformats.org/officeDocument/2006/relationships/notesMaster" Target="/ppt/notesMasters/notesMaster1.xml" Id="R0c6700a55f644a91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813fee052d6e495e" /><Relationship Type="http://schemas.openxmlformats.org/officeDocument/2006/relationships/notesMaster" Target="/ppt/notesMasters/notesMaster1.xml" Id="R3742d529a91b4c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770ad027daac429d" /><Relationship Type="http://schemas.openxmlformats.org/officeDocument/2006/relationships/notesMaster" Target="/ppt/notesMasters/notesMaster1.xml" Id="Re3cd8e2301374fd3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ce74c49a1c1f4e24" /><Relationship Type="http://schemas.openxmlformats.org/officeDocument/2006/relationships/notesMaster" Target="/ppt/notesMasters/notesMaster1.xml" Id="R8e2d73c90690435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f3d81c4064e9452a" /><Relationship Type="http://schemas.openxmlformats.org/officeDocument/2006/relationships/notesMaster" Target="/ppt/notesMasters/notesMaster1.xml" Id="Rc8bf1af438c04ca4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0c70aa2b34614300" /><Relationship Type="http://schemas.openxmlformats.org/officeDocument/2006/relationships/notesMaster" Target="/ppt/notesMasters/notesMaster1.xml" Id="R078f94c998b14f8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c982d64086b74516" /><Relationship Type="http://schemas.openxmlformats.org/officeDocument/2006/relationships/notesMaster" Target="/ppt/notesMasters/notesMaster1.xml" Id="Rafdcaee94156476f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32a0bacfa9724de6" /><Relationship Type="http://schemas.openxmlformats.org/officeDocument/2006/relationships/notesMaster" Target="/ppt/notesMasters/notesMaster1.xml" Id="R01c87e1639d347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大家好。这次汇报介绍我的硕士论文进展，主题是使用普通 Python list 对 Simplified Jordan Sorting 进行可执行重构。上次汇报聚焦静态结构，包括 rank interval、upper 和 lower pair family、family tree，以及 oracle 支持的 reference。核心问题是，论文中的动态过程能否维护自身状态，并从中恢复输出。我将重点解释两处重构决定，再介绍验证检查和正式实验的运行时间结果。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thesis/frontmatter/abstract.tex</a:t>
            </a:r>
          </a:p>
          <a:p xmlns:a="http://schemas.openxmlformats.org/drawingml/2006/main">
            <a:r>
              <a:t>- thesis/chapters/introduction.tex</a:t>
            </a:r>
          </a:p>
          <a:p xmlns:a="http://schemas.openxmlformats.org/drawingml/2006/main">
            <a:r>
              <a:t>- thesis/figures/jordan_sorting_problem.pdf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上次实现用 rank interval 表示输入，区分 upper 和 lower pair family，重构 laminar family tree，并计算结构指标。Oracle 检查输入有效性并提供参考答案。尚未实现的是动态过程：更新 processed prefix、拆分 sibling list、转移 ownership，以及从维护状态恢复输出。每次更新都必须保持 partial order 和 family structure 一致。一次更新出错就可能同时破坏两者，因此安全的动态更新是当时的主要实现缺口。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thesis/chapters/background.tex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Hoffmann et al. (1986), doi:10.1016/S0019-9958(86)80033-X</a:t>
            </a:r>
          </a:p>
          <a:p xmlns:a="http://schemas.openxmlformats.org/drawingml/2006/main">
            <a:r>
              <a:t>- Fung et al. (1990), doi:10.1016/0020-0190(90)90111-A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此后，我将范围缩小到外部 oracle 已认证的有效输入，并实现 Step 1、Step 2 和 Step 3 控制流。我加入 ownership 检查、事务式更新、重放和有界验证。实现通过这些检查后，我按固定协议运行了正式实验。当前成果是可执行的普通列表重构。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thesis/chapters/introduction.tex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thesis/chapters/methodology.tex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论文研究的是 1990 年 sorting procedure 在 oracle 已认证有效的输入上的运行。实验比较 Python sort、完整的 oracle-backed reference pipeline 和重构后的 paper core。Recognition 不在本次实验范围内。当前 core 使用普通 Python list，尚未实现历史线性时间分析所使用的专用后端。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thesis/chapters/introduction.tex</a:t>
            </a:r>
          </a:p>
          <a:p xmlns:a="http://schemas.openxmlformats.org/drawingml/2006/main">
            <a:r>
              <a:t>- thesis/chapters/limitations.tex</a:t>
            </a:r>
          </a:p>
          <a:p xmlns:a="http://schemas.openxmlformats.org/drawingml/2006/main">
            <a:r>
              <a:t>- thesis/chapters/methodology.tex</a:t>
            </a:r>
          </a:p>
          <a:p xmlns:a="http://schemas.openxmlformats.org/drawingml/2006/main">
            <a:r>
              <a:t>- Supervisor feedback,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RQ1 是主要技术问题：普通列表重构能否在认证后的有效输入上，从维护状态恢复正确排序？RQ2 比较 paper call、Python sort 和完整 reference pipeline 在各自计时范围下的表现。RQ3 探索输入结构、checked operation counter 与运行时间之间的描述性关系，不作因果解释。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thesis/chapters/introduction.tex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Paper call 之前，oracle 认证输入有效性；调用之后，runner 将返回值与 oracle 的排序结果比较。Reference pipeline 使用完整 oracle result，包括 sorted output。Paper core 只接收原始序列，并以已认证有效为前提。它执行 Step 1、Step 2 和 Step 3，维护 partial order 与 sibling list，再从 partial order 恢复输出。两条路径使用同一个 expected answer 检查，但输出来源不同。Oracle 的排序答案不会进入 paper core，因此图中的虚线比较框位于 core 外部。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thesis/chapters/methodology.tex</a:t>
            </a:r>
          </a:p>
          <a:p xmlns:a="http://schemas.openxmlformats.org/drawingml/2006/main">
            <a:r>
              <a:t>- src/paper_jordan.py</a:t>
            </a:r>
          </a:p>
          <a:p xmlns:a="http://schemas.openxmlformats.org/drawingml/2006/main">
            <a:r>
              <a:t>- src/simplified_jordan.py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我们同时维护两种信息：已处理点的排序，以及 pairs 之间的父子关系。初始化只做一次，仅将前三个点按 x 坐标排序，这个有序列表称为 S₃。同时建立 upper、lower pair family，不使用 oracle 的排序答案。点的编号和 pair 的端点存储仍保持曲线顺序。从第 4 个点开始，每轮加入一个新点。我们从沿曲线的前一个点出发。Step 1、2 利用它在有序列表中的邻居，分别找到 predecessor boundary Aᵢ 和 successor boundary Bᵢ。Step 3(a) 将新 pair 放入 family 结构，并确定它的 parent。Step 3(b) 在需要时拆分 sibling list，让新包含的旧 pairs 成为新 pair 的 children。到这时，Step 3(c) 才根据维护的状态选择 anchor，将新点插入有序列表。Increasing 时，Step 3(a) 使用 Aᵢ，3(b) 使用 Bᵢ。Decreasing 交换两者的用途，并镜像左右操作；Step 1、2 仍分别返回 Aᵢ、Bᵢ。论文描述 increasing 情形；decreasing 来自对称重构，anchor 的细节属于可执行化澄清。这些类别说明重构的依据，并不分别对应某个步骤。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thesis/chapters/algorithm.tex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Fung et al. (1990), doi:10.1016/0020-0190(90)90111-A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输入是 (3,2,1,4)。初始化后，有序列表是 [1,2,3]，但点的编号仍然按照曲线访问顺序保留。</a:t>
            </a:r>
          </a:p>
          <a:p xmlns:a="http://schemas.openxmlformats.org/drawingml/2006/main">
            <a:r>
              <a:t>现在插入第四个点，也就是 4。Step 3(b) 完成后，新 upper pair P₄ 的端点是 (1,4)，它有一个 child：P₂，按曲线顺序存为 (3,2)。</a:t>
            </a:r>
          </a:p>
          <a:p xmlns:a="http://schemas.openxmlformats.org/drawingml/2006/main">
            <a:r>
              <a:t>本次从 1 到 4，因此是 increasing。Child 的几何区间 [2,3] 位于新 pair 的区间 [1,4] 内。因此，4 必须排在 child 的两个端点之后。Child 的右边界是 3，所以我们选择 3 作为 anchor。</a:t>
            </a:r>
          </a:p>
          <a:p xmlns:a="http://schemas.openxmlformats.org/drawingml/2006/main">
            <a:r>
              <a:t>如果把 4 紧挨着插在 2 后面，它就会落在列表中 child 的两个端点之间，得到 [1,2,4,3]。插在 3 后面，才得到 [1,2,3,4]。</a:t>
            </a:r>
          </a:p>
          <a:p xmlns:a="http://schemas.openxmlformats.org/drawingml/2006/main">
            <a:r>
              <a:t>我们也可以把端点按从左到右的顺序存储，前提是保留它们的曲线身份信息。真正的错误，是把“曲线顺序中的第二个端点”当成“几何右端点”。</a:t>
            </a:r>
          </a:p>
          <a:p xmlns:a="http://schemas.openxmlformats.org/drawingml/2006/main">
            <a:r>
              <a:t>我将这一明确选择记录为可执行化澄清，而不是 1990 年论文的逐字规则。</a:t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thesis/chapters/algorithm.tex</a:t>
            </a:r>
          </a:p>
          <a:p xmlns:a="http://schemas.openxmlformats.org/drawingml/2006/main">
            <a:r>
              <a:t>- src/paper_jordan.py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这里在第 7 次迭代插入 0。结束下标为奇数，因此新 pair 属于 lower family；0 小于旧端点 7，因此本次为 decreasing。Step 3(b) 后，新 pair 获得图中的 P₃ 和 P₅。Step 3(c) 取最左 child P₃ 的几何左端点。P₃ 的端点为 2 和 3，所以 base anchor 是 2。但是 z₁ 的值为 1，它不是任何 lower pair 的端点，却仍在有序列表中。若直接把 0 插在 2 前，会让 0 留在 1 后面。本例下标为奇数，且 0 小于 z₁，z₁ 又小于 base anchor，因此最终 anchor 改为 z₁。这只改变输出插入，不替代先前的 boundary-pair selection。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thesis/chapters/algorithm.tex</a:t>
            </a:r>
          </a:p>
          <a:p xmlns:a="http://schemas.openxmlformats.org/drawingml/2006/main">
            <a:r>
              <a:t>- thesis/figures/step3c_anchor_z1_anomaly.pdf</a:t>
            </a:r>
          </a:p>
          <a:p xmlns:a="http://schemas.openxmlformats.org/drawingml/2006/main">
            <a:r>
              <a:t>- Hoffmann et al. (1986), p. 175, doi:10.1016/S0019-9958(86)80033-X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每个有限 pair 只有一个 parent 和一个 sibling-list owner。拆分前，原 owner 控制 retained 和 acquired 两部分。拆分后，原 owner 保留 retained segment，新 owner 接收 acquired segment。两个非空侧都可能得到新 list，但只有 acquired segment 改变 parent。Split 和 transfer 构成一个 transaction：保存受影响状态，执行更新，再检查 split boundary、ownership 和局部后置条件。若检查失败，rollback 恢复 registry、ownership link 和 list ID。维护状态还包括已处理前缀的排序结果，以及两类 pair family。普通列表会产生扫描、复制、切片和 ownership rebinding 成本。这些正确性检查不能建立历史线性时间分析所需的更新界。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thesis/figures/family_sibling_structure.pdf</a:t>
            </a:r>
          </a:p>
          <a:p xmlns:a="http://schemas.openxmlformats.org/drawingml/2006/main">
            <a:r>
              <a:t>- src/paper_jordan.py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Focused regression case 覆盖已知边界条件。有界穷举验证覆盖 n 不超过 8 的全部 2,074 个 oracle-valid permutation。Checked-state audit 检查 parent link、ownership、sibling list 与恢复输出。确定性重放比较同一 core 多次运行后的状态，并不是第二套独立实现。重放检查的是同一过程是否得到一致状态。另有实验检查，将保存的输出与固定设置及重算汇总比较，详情见 Backup C。这些有限证据支持已评估用例，但不是对所有 Jordan sequence 的数学证明。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thesis/chapters/methodology.tex</a:t>
            </a:r>
          </a:p>
          <a:p xmlns:a="http://schemas.openxmlformats.org/drawingml/2006/main">
            <a:r>
              <a:t>- docs/thesis/latex_final_audit.md</a:t>
            </a:r>
          </a:p>
          <a:p xmlns:a="http://schemas.openxmlformats.org/drawingml/2006/main">
            <a:r>
              <a:t>- experiments/validate_week12_formal_sorting_outputs.py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实验使用 5 个规模，每个规模 12 个 exact case，并比较 3 个算法。每个 case-algorithm cell 包含 5 次 warm-up 和 20 次 measured call，共得到 3,600 条测量记录。这 20 次调用重复同一个 exact case，并非 20 个独立输入。每次调用获得包含相同值的 fresh list。算法位置轮转，避免某个算法总是先运行。Paper 的认证与 checked-state audit 在计时前完成。Paper 计时包含 minimal core call，以及从维护顺序恢复输出。输出比较发生在计时后。Python 计时覆盖排序调用；reference 计时覆盖完整的 oracle-backed pipeline。这是三种不同的计时范围。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thesis/chapters/methodology.tex</a:t>
            </a:r>
          </a:p>
          <a:p xmlns:a="http://schemas.openxmlformats.org/drawingml/2006/main">
            <a:r>
              <a:t>- thesis/figures/formal_experiment_pipeline.pdf</a:t>
            </a:r>
          </a:p>
          <a:p xmlns:a="http://schemas.openxmlformats.org/drawingml/2006/main">
            <a:r>
              <a:t>- results/runs/week12_formal_sorting_v1__run001/config.json</a:t>
            </a:r>
          </a:p>
          <a:p xmlns:a="http://schemas.openxmlformats.org/drawingml/2006/main">
            <a:r>
              <a:t>- results/runs/week12_formal_sorting_v1__run001/manifest.json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全部 60 个 case 均通过认证，并各通过一次 checked-state audit。每次 measured call 都返回 expected output，没有记录正确性错误。3,600 条测量记录携带各自的 case-level audit 结果，不代表进行了 3,600 次独立 audit。这些结果仅覆盖本次测试的有效用例。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thesis/chapters/results.tex</a:t>
            </a:r>
          </a:p>
          <a:p xmlns:a="http://schemas.openxmlformats.org/drawingml/2006/main">
            <a:r>
              <a:t>- results/runs/week12_formal_sorting_v1__run001/raw.csv</a:t>
            </a:r>
          </a:p>
          <a:p xmlns:a="http://schemas.openxmlformats.org/drawingml/2006/main">
            <a:r>
              <a:t>- results/runs/week12_formal_sorting_v1__run001/case_audit.csv</a:t>
            </a:r>
          </a:p>
          <a:p xmlns:a="http://schemas.openxmlformats.org/drawingml/2006/main">
            <a:r>
              <a:t>- results/runs/week12_formal_sorting_v1__run001/validation_report.json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对每个 case，我用 paper 调用时间的中位数除以 reference 调用时间的中位数。然后对每个规模下的这些比值取中位数。比值在 n 为 32 时是 3.226，64 时是 2.202，128 时是 1.351，256 时是 0.851，512 时是 0.567。因此，128 时比值大于 1，256 时小于 1。在这些计时范围下，两个较大规模的 paper 调用耗时更少。由于计时范围不同，这不能证明端到端加速。Python sort 在每个测试规模上都有最低的调用时间中位数，见 Backup A。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thesis/chapters/results.tex</a:t>
            </a:r>
          </a:p>
          <a:p xmlns:a="http://schemas.openxmlformats.org/drawingml/2006/main">
            <a:r>
              <a:t>- results/runs/week12_formal_sorting_v1__run001/case_summary.csv</a:t>
            </a:r>
          </a:p>
          <a:p xmlns:a="http://schemas.openxmlformats.org/drawingml/2006/main">
            <a:r>
              <a:t>- docs/analysis/week12_runtime_ratios.csv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当前证据支持一个从维护状态恢复输出的可执行普通列表重构，并在已评估用例上得到正确结果。运行时间趋势描述的是当前实现及其计时范围。普通列表不构成线性时间实现，五个测试规模也不能确定渐近复杂度。本实验没有评估 recognition。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thesis/chapters/limitations.tex</a:t>
            </a:r>
          </a:p>
          <a:p xmlns:a="http://schemas.openxmlformats.org/drawingml/2006/main">
            <a:r>
              <a:t>- thesis/chapters/conclusion.tex</a:t>
            </a:r>
          </a:p>
          <a:p xmlns:a="http://schemas.openxmlformats.org/drawingml/2006/main">
            <a:r>
              <a:t>- Supervisor feedback,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Finger-tree 后端是可能的未来扩展，不属于当前实验证据。它将保持相同的 Step 1、Step 2 和 Step 3 行为。普通列表实现为检查新后端的行为提供了经过测试的参照点。Backup E 说明接口及 ownership-transfer 难点。我希望向导师确认两个问题：应实现历史 heterogeneous finger tree，还是支持所需列表操作的等价后端？一个经过测试、语义等价的原型是否足够，还是还应证明所需的摊还操作界？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thesis/chapters/limitations.tex</a:t>
            </a:r>
          </a:p>
          <a:p xmlns:a="http://schemas.openxmlformats.org/drawingml/2006/main">
            <a:r>
              <a:t>- thesis/README.md</a:t>
            </a:r>
          </a:p>
          <a:p xmlns:a="http://schemas.openxmlformats.org/drawingml/2006/main">
            <a:r>
              <a:t>- Fung et al. (1990), doi:10.1016/0020-0190(90)90111-A</a:t>
            </a:r>
          </a:p>
          <a:p xmlns:a="http://schemas.openxmlformats.org/drawingml/2006/main">
            <a:r>
              <a:t>- Supervisor feedback,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如果需要查看绝对时间，这一页列出三个算法在五个规模上的 median call time。数值来自一次 Apple M4、CPython 3.12.4 的执行，不能推广到其他环境。对数坐标只是为了让 Python sort 与另外两条 pipeline 同时可见。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thesis/chapters/results.tex</a:t>
            </a:r>
          </a:p>
          <a:p xmlns:a="http://schemas.openxmlformats.org/drawingml/2006/main">
            <a:r>
              <a:t>- results/runs/week12_formal_sorting_v1__run001/case_summary.csv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这页直接回答输出来源问题。Reference pipeline 返回 oracle_result 中的 sorted output；paper core 返回 state.partial_order.to_list。认证发生在 paper call 之前，比较发生在调用之后，因此二者都不会向 paper core 提供返回值。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src/paper_jordan.py</a:t>
            </a:r>
          </a:p>
          <a:p xmlns:a="http://schemas.openxmlformats.org/drawingml/2006/main">
            <a:r>
              <a:t>- src/simplified_jordan.py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这页汇总有界验证证据，包括仓库测试、n 不超过 8 的有效排列穷举、固定生成用例、正式 case-level checked-state audit，以及通过 evidence-contract validation 的实验输出。这些检查互相补充，但都不是普遍性证明。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docs/thesis/latex_final_audit.md</a:t>
            </a:r>
          </a:p>
          <a:p xmlns:a="http://schemas.openxmlformats.org/drawingml/2006/main">
            <a:r>
              <a:t>- experiments/validate_paper_algorithm.py</a:t>
            </a:r>
          </a:p>
          <a:p xmlns:a="http://schemas.openxmlformats.org/drawingml/2006/main">
            <a:r>
              <a:t>- results/runs/week12_formal_sorting_v1__run001/validation_report.json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这张表汇总镜像后的局部选择。Step 1 始终计算 predecessor-side boundary A_i，Step 2 始终计算 successor-side boundary B_i。镜像发生在 Step 3 如何使用这些 boundary。在 increasing iteration 中，获得左侧拆分片段，并使用最右 child 与右侧几何端点；decreasing iteration 则镜像为右侧拆分片段、最左 child 与左侧几何端点。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thesis/chapters/algorithm.tex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Fung et al. (1990), doi:10.1016/0020-0190(90)90111-A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拟议结构把 Step 1、Step 2 和 Step 3 放在一个小型 sibling-list 接口之上。普通列表后端仍是当前已验证的基线。拟议的 finger-tree 后端将独立实现相同的语义操作：创建 singleton list、在左或右边界插入、按新点值拆分、访问 first/last child，以及保持 ownership 和 stable handle。具体目标是历史 heterogeneous finger tree，还是具有等价操作界的后端，仍需与导师确认。主要风险是，高效 tree split 本身不够；若 ownership transfer 仍扫描 acquired segment 并逐项重新绑定，后端就可能无法满足历史分析所需的操作界。第一步应先保证语义等价与 differential correctness，任何复杂度主张都需要独立的证明论证。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thesis/chapters/implementation.tex</a:t>
            </a:r>
          </a:p>
          <a:p xmlns:a="http://schemas.openxmlformats.org/drawingml/2006/main">
            <a:r>
              <a:t>- thesis/chapters/limitations.tex</a:t>
            </a:r>
          </a:p>
          <a:p xmlns:a="http://schemas.openxmlformats.org/drawingml/2006/main">
            <a:r>
              <a:t>- Fung et al. (1990), doi:10.1016/0020-0190(90)90111-A</a:t>
            </a:r>
          </a:p>
          <a:p xmlns:a="http://schemas.openxmlformats.org/drawingml/2006/main">
            <a:r>
              <a:t>- Supervisor feedback, September 2026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105f7a00ae24ed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6588b8ed64746e6" /><Relationship Type="http://schemas.openxmlformats.org/officeDocument/2006/relationships/slideLayout" Target="/ppt/slideLayouts/slideLayout1.xml" Id="R856ae76245d64f4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56ae76245d64f4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051d1f513a4dc0" /><Relationship Type="http://schemas.openxmlformats.org/officeDocument/2006/relationships/image" Target="/ppt/media/image.png" Id="R6296062fc1934160" /><Relationship Type="http://schemas.openxmlformats.org/officeDocument/2006/relationships/notesSlide" Target="/ppt/notesSlides/notesSlide1.xml" Id="R796a39c899c04260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a6737c5bb41d5" /><Relationship Type="http://schemas.openxmlformats.org/officeDocument/2006/relationships/notesSlide" Target="/ppt/notesSlides/notesSlide2.xml" Id="Rbb743b6213c04b1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8d47d069144fc0" /><Relationship Type="http://schemas.openxmlformats.org/officeDocument/2006/relationships/notesSlide" Target="/ppt/notesSlides/notesSlide3.xml" Id="Rb57dea673dd04b9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f8e84654ef4d04" /><Relationship Type="http://schemas.openxmlformats.org/officeDocument/2006/relationships/notesSlide" Target="/ppt/notesSlides/notesSlide4.xml" Id="R07d2c80fd8f243d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a41785a593c442a" /><Relationship Type="http://schemas.openxmlformats.org/officeDocument/2006/relationships/notesSlide" Target="/ppt/notesSlides/notesSlide5.xml" Id="R091e682293974ab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ab28be51446cd" /><Relationship Type="http://schemas.openxmlformats.org/officeDocument/2006/relationships/notesSlide" Target="/ppt/notesSlides/notesSlide6.xml" Id="Rb841d027dc4d44e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362787959d4a1e" /><Relationship Type="http://schemas.openxmlformats.org/officeDocument/2006/relationships/notesSlide" Target="/ppt/notesSlides/notesSlide7.xml" Id="Rd140c74a62d64d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ef2f9385ef4e4c" /><Relationship Type="http://schemas.openxmlformats.org/officeDocument/2006/relationships/notesSlide" Target="/ppt/notesSlides/notesSlide8.xml" Id="R25aca69a53ae4ca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9f221252bd47c4" /><Relationship Type="http://schemas.openxmlformats.org/officeDocument/2006/relationships/notesSlide" Target="/ppt/notesSlides/notesSlide9.xml" Id="R5941bb5638094b1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455aa72029f4bbd" /><Relationship Type="http://schemas.openxmlformats.org/officeDocument/2006/relationships/notesSlide" Target="/ppt/notesSlides/notesSlide10.xml" Id="Rc140d742691744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42303bc9a764d22" /><Relationship Type="http://schemas.openxmlformats.org/officeDocument/2006/relationships/notesSlide" Target="/ppt/notesSlides/notesSlide11.xml" Id="R0804e299ab5d4a1e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3d86c549104715" /><Relationship Type="http://schemas.openxmlformats.org/officeDocument/2006/relationships/notesSlide" Target="/ppt/notesSlides/notesSlide12.xml" Id="R7cdbfcf7ec134a8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d4453297b44123" /><Relationship Type="http://schemas.openxmlformats.org/officeDocument/2006/relationships/notesSlide" Target="/ppt/notesSlides/notesSlide13.xml" Id="R44e2f01096cb4d3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b976d8552e4736" /><Relationship Type="http://schemas.openxmlformats.org/officeDocument/2006/relationships/chart" Target="/ppt/slides/charts/chart1.xml" Id="R2bda0ec29d9d4bfa" /><Relationship Type="http://schemas.openxmlformats.org/officeDocument/2006/relationships/notesSlide" Target="/ppt/notesSlides/notesSlide14.xml" Id="Rb5b1ba42ef2941e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44ed2e7f68c4566" /><Relationship Type="http://schemas.openxmlformats.org/officeDocument/2006/relationships/notesSlide" Target="/ppt/notesSlides/notesSlide15.xml" Id="R3d3662be7a3e4365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3414c811474cbc" /><Relationship Type="http://schemas.openxmlformats.org/officeDocument/2006/relationships/notesSlide" Target="/ppt/notesSlides/notesSlide16.xml" Id="R4c97275dcd4f473f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f1d2c56e74007" /><Relationship Type="http://schemas.openxmlformats.org/officeDocument/2006/relationships/image" Target="/ppt/media/image2.png" Id="R0767e81d63dc4a72" /><Relationship Type="http://schemas.openxmlformats.org/officeDocument/2006/relationships/notesSlide" Target="/ppt/notesSlides/notesSlide17.xml" Id="R847c99ee9be742eb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f1b7831701d41c1" /><Relationship Type="http://schemas.openxmlformats.org/officeDocument/2006/relationships/notesSlide" Target="/ppt/notesSlides/notesSlide18.xml" Id="R928311c5fcc2403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1a12c74ed04319" /><Relationship Type="http://schemas.openxmlformats.org/officeDocument/2006/relationships/notesSlide" Target="/ppt/notesSlides/notesSlide19.xml" Id="Re4ab13e2a9fe4de6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99881b3a604d30" /><Relationship Type="http://schemas.openxmlformats.org/officeDocument/2006/relationships/notesSlide" Target="/ppt/notesSlides/notesSlide20.xml" Id="R329172a6842c4ad2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2b85ee00f44c09" /><Relationship Type="http://schemas.openxmlformats.org/officeDocument/2006/relationships/notesSlide" Target="/ppt/notesSlides/notesSlide21.xml" Id="R890aad595c3c4b41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varyColors val="0"/>
        <c:ser>
          <c:idx val="0"/>
          <c:order val="0"/>
          <c:tx>
            <c:v>paper/reference</c:v>
          </c:tx>
          <c:spPr>
            <a:ln xmlns:a="http://schemas.openxmlformats.org/drawingml/2006/main" w="38100">
              <a:solidFill>
                <a:srgbClr val="2A9D8F"/>
              </a:solidFill>
              <a:prstDash val="solid"/>
            </a:ln>
          </c:spPr>
          <c:marker>
            <c:symbol val="circle"/>
            <c:size val="9"/>
            <c:spPr>
              <a:solidFill xmlns:a="http://schemas.openxmlformats.org/drawingml/2006/main">
                <a:srgbClr val="2A9D8F"/>
              </a:solidFill>
            </c:spPr>
          </c:marker>
          <c:cat>
            <c:numRef>
              <c:f>'Chart Data'!$A$2:$A$6</c:f>
              <c:numCache>
                <c:formatCode>General</c:formatCode>
                <c:ptCount val="5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  <c:pt idx="3">
                  <c:v>256</c:v>
                </c:pt>
                <c:pt idx="4">
                  <c:v>512</c:v>
                </c:pt>
              </c:numCache>
            </c:num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3.22642</c:v>
                </c:pt>
                <c:pt idx="1">
                  <c:v>2.202394</c:v>
                </c:pt>
                <c:pt idx="2">
                  <c:v>1.351064</c:v>
                </c:pt>
                <c:pt idx="3">
                  <c:v>0.850597</c:v>
                </c:pt>
                <c:pt idx="4">
                  <c:v>0.567187</c:v>
                </c:pt>
              </c:numCache>
            </c:numRef>
          </c:val>
          <c:smooth val="0"/>
        </c:ser>
        <c:ser>
          <c:idx val="1"/>
          <c:order val="1"/>
          <c:tx>
            <c:v>比值 = 1</c:v>
          </c:tx>
          <c:spPr>
            <a:ln xmlns:a="http://schemas.openxmlformats.org/drawingml/2006/main" w="19050">
              <a:solidFill>
                <a:srgbClr val="E76F51"/>
              </a:solidFill>
              <a:prstDash val="dash"/>
            </a:ln>
          </c:spPr>
          <c:marker>
            <c:symbol val="none"/>
          </c:marker>
          <c:cat>
            <c:numRef>
              <c:f>'Chart Data'!$C$2:$C$6</c:f>
              <c:numCache>
                <c:formatCode>General</c:formatCode>
                <c:ptCount val="5"/>
                <c:pt idx="0">
                  <c:v>32</c:v>
                </c:pt>
                <c:pt idx="1">
                  <c:v>64</c:v>
                </c:pt>
                <c:pt idx="2">
                  <c:v>128</c:v>
                </c:pt>
                <c:pt idx="3">
                  <c:v>256</c:v>
                </c:pt>
                <c:pt idx="4">
                  <c:v>512</c:v>
                </c:pt>
              </c:numCache>
            </c:num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smooth val="0"/>
        </c:ser>
        <c:smooth val="0"/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75569"/>
                    </a:solidFill>
                  </a:rPr>
                  <a:t>输入规模 n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75569"/>
                  </a:solidFill>
                </a:defRPr>
              </a:pPr>
            </a:p>
          </c:txPr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52606D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3.5"/>
          <c:min val="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6EDF3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900">
                    <a:solidFill>
                      <a:srgbClr val="475569"/>
                    </a:solidFill>
                  </a:rPr>
                  <a:t>exact-case 中位比值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900">
                  <a:solidFill>
                    <a:srgbClr val="475569"/>
                  </a:solidFill>
                </a:defRPr>
              </a:pPr>
            </a:p>
          </c:txPr>
        </c:title>
        <c:numFmt formatCode="0.0"/>
        <c:majorTickMark val="none"/>
        <c:minorTickMark val="none"/>
        <c:spPr>
          <a:ln xmlns:a="http://schemas.openxmlformats.org/drawingml/2006/main" w="9525">
            <a:solidFill>
              <a:srgbClr val="D9E2EC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06D"/>
                </a:solidFill>
              </a:defRPr>
            </a:pPr>
          </a:p>
        </c:txPr>
        <c:crossAx val="48650112"/>
        <c:crossBetween val="between"/>
        <c:majorUnit val="0.5"/>
      </c:valAx>
      <c:spPr>
        <a:solidFill xmlns:a="http://schemas.openxmlformats.org/drawingml/2006/main">
          <a:srgbClr val="FFFFFF"/>
        </a:solidFill>
        <a:ln xmlns:a="http://schemas.openxmlformats.org/drawingml/2006/main" w="9525">
          <a:solidFill>
            <a:srgbClr val="D9E2EC"/>
          </a:solidFill>
          <a:prstDash val="solid"/>
        </a:ln>
      </c:spPr>
    </c:plotArea>
    <c:legend>
      <c:legendPos val="b"/>
      <c:overlay val="0"/>
      <c:txPr>
        <a:bodyPr xmlns:a="http://schemas.openxmlformats.org/drawingml/2006/main" anchorCtr="1"/>
        <a:lstStyle xmlns:a="http://schemas.openxmlformats.org/drawingml/2006/main"/>
        <a:p xmlns:a="http://schemas.openxmlformats.org/drawingml/2006/main">
          <a:pPr>
            <a:defRPr sz="1125">
              <a:solidFill>
                <a:srgbClr val="52606D"/>
              </a:solidFill>
            </a:defRPr>
          </a:pPr>
        </a:p>
      </c:txPr>
    </c:legend>
    <c:plotVisOnly val="1"/>
  </c:chart>
  <c:spPr>
    <a:solidFill xmlns:a="http://schemas.openxmlformats.org/drawingml/2006/main">
      <a:srgbClr val="FFFFFF"/>
    </a:solidFill>
    <a:ln xmlns:a="http://schemas.openxmlformats.org/drawingml/2006/main" w="9525">
      <a:solidFill>
        <a:srgbClr val="D9E2EC"/>
      </a:solidFill>
      <a:prstDash val="solid"/>
    </a:ln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2A4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EDC5DA2-3E39-468E-B4AF-FB7CD9A87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0"/>
            <a:ext cx="4953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296062fc1934160"/>
          <a:stretch xmlns:a="http://schemas.openxmlformats.org/drawingml/2006/main"/>
        </p:blipFill>
        <p:spPr>
          <a:xfrm xmlns:a="http://schemas.openxmlformats.org/drawingml/2006/main">
            <a:off x="7334250" y="1695818"/>
            <a:ext cx="4667250" cy="2666263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23668F-9159-471B-83F8-74C9EF31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61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050" b="1" i="0">
                <a:solidFill>
                  <a:srgbClr val="2A9D8F"/>
                </a:solidFill>
              </a:defRPr>
            </a:pPr>
            <a:r>
              <a:rPr sz="1050" b="1" i="0">
                <a:solidFill>
                  <a:srgbClr val="2A9D8F"/>
                </a:solidFill>
              </a:rPr>
              <a:t>硕士论文进度汇报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4B6215-5D29-4D70-B820-A001698CD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19200"/>
            <a:ext cx="590550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3750" b="1" i="0">
                <a:solidFill>
                  <a:srgbClr val="FFFFFF"/>
                </a:solidFill>
              </a:defRPr>
            </a:pPr>
            <a:r>
              <a:rPr sz="3750" b="1" i="0">
                <a:solidFill>
                  <a:srgbClr val="FFFFFF"/>
                </a:solidFill>
              </a:rPr>
              <a:t>Simplified Jordan Sorting 的可执行重构进展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F75352-07CF-4387-B45B-86202AC13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57625"/>
            <a:ext cx="5334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 i="0">
                <a:solidFill>
                  <a:srgbClr val="D9EAF2"/>
                </a:solidFill>
              </a:defRPr>
            </a:pPr>
            <a:r>
              <a:rPr sz="1800" b="0" i="0">
                <a:solidFill>
                  <a:srgbClr val="D9EAF2"/>
                </a:solidFill>
              </a:rPr>
              <a:t>实现进展、验证与初步实验结果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45AE1-B738-412B-B717-4A013DC90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38700"/>
            <a:ext cx="142875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E76F5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865454-8AEA-40CE-A283-B994C2BD6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086350"/>
            <a:ext cx="590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275" b="0" i="0">
                <a:solidFill>
                  <a:srgbClr val="BCCCDC"/>
                </a:solidFill>
              </a:defRPr>
            </a:pPr>
            <a:r>
              <a:rPr sz="1275" b="0" i="0">
                <a:solidFill>
                  <a:srgbClr val="BCCCDC"/>
                </a:solidFill>
              </a:rPr>
              <a:t>研究讨论课  |  柏林自由大学  |  2026 年 9 月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AE0B78-71EB-4F9D-A607-5F45E7C1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10900" y="6477000"/>
            <a:ext cx="7048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0" i="0">
                <a:solidFill>
                  <a:srgbClr val="7B8794"/>
                </a:solidFill>
              </a:defRPr>
            </a:pPr>
            <a:r>
              <a:rPr sz="825" b="0" i="0">
                <a:solidFill>
                  <a:srgbClr val="7B8794"/>
                </a:solidFill>
              </a:rPr>
              <a:t>1 / 16</a:t>
            </a:r>
          </a:p>
        </p:txBody>
      </p:sp>
    </p:spTree>
    <p:extLst>
      <p:ext uri="{BB962C8B-B14F-4D97-AF65-F5344CB8AC3E}">
        <p14:creationId xmlns:p14="http://schemas.microsoft.com/office/powerpoint/2010/main" val="74292043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A362742-044E-4AC8-8F5A-1D012AA6B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上下文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CD880-9BD5-40BD-ADE0-CA279C20F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上次汇报建立了静态结构基线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A1B2EB3-447A-4C83-8D6E-CDEC1BA6E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CF905C-FDF6-4402-9792-DB0F3A4ED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1243C3-4EAC-4300-AF23-B9981D6D0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87330-7C29-4EFF-9B97-A959282E2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62BDE9-C5E2-4B77-A8AC-9F429BDE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428750"/>
            <a:ext cx="3714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2A9D8F"/>
                </a:solidFill>
              </a:defRPr>
            </a:pPr>
            <a:r>
              <a:rPr sz="1125" b="1" i="0">
                <a:solidFill>
                  <a:srgbClr val="2A9D8F"/>
                </a:solidFill>
              </a:rPr>
              <a:t>上次基线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AFFA78-BFD3-424F-924D-B8A312AF74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62125"/>
            <a:ext cx="3714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静态参考框架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B0CF09-F9FF-41EA-BFDF-9F75BCB30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F1F6F4-D130-4F60-8F8D-62077D57F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3812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rank-interval 抽象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364A6-A65B-4E01-8CF9-E3FB0669E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527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F89DF8-23FD-4D85-B04F-8038726B41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765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upper / lower family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0880D6-43AC-4FD7-A0DE-9CA8CA397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4480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498F38-3B52-416A-A7F9-4A9861870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3718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family tree 与结构指标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7A16C-96B6-4C1C-90BF-64577D1E8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9433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5289B4-30C1-4DAC-9962-DDA850C7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867150"/>
            <a:ext cx="35052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oracle 支持的验证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FA1EFCF-91E5-48C6-84A4-3EF806F22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2971800"/>
            <a:ext cx="114300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B3C049C-0DBB-40B6-9CA3-A487017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28950"/>
            <a:ext cx="11049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静态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547C528-A24D-4C4C-BF67-28859C247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2981325"/>
            <a:ext cx="6667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E76F51"/>
                </a:solidFill>
              </a:defRPr>
            </a:pPr>
            <a:r>
              <a:rPr sz="28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0C90BE5-FB89-47AB-A42F-0E86A55F6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971800"/>
            <a:ext cx="1238250" cy="5524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88C5C20-5E3F-47E3-8741-0FE2B9226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028950"/>
            <a:ext cx="11620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动态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87DFF45-C213-4193-AF25-45C893669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428750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 i="0">
                <a:solidFill>
                  <a:srgbClr val="E76F51"/>
                </a:solidFill>
              </a:defRPr>
            </a:pPr>
            <a:r>
              <a:rPr sz="1125" b="1" i="0">
                <a:solidFill>
                  <a:srgbClr val="E76F51"/>
                </a:solidFill>
              </a:rPr>
              <a:t>尚未解决的实现缺口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A371705-7359-496C-B88A-E515241D8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1762125"/>
            <a:ext cx="285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025" b="1" i="0">
                <a:solidFill>
                  <a:srgbClr val="102A43"/>
                </a:solidFill>
              </a:defRPr>
            </a:pPr>
            <a:r>
              <a:rPr sz="2025" b="1" i="0">
                <a:solidFill>
                  <a:srgbClr val="102A43"/>
                </a:solidFill>
              </a:rPr>
              <a:t>可执行的动态重构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B59D9F-D512-4837-9642-8B13074AD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D4EADDA-EEDC-4FE3-95CC-9FCB64EBD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5717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Step 1/2/3 控制流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298F5F-D6AA-4D4D-B47F-66B19B20B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143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9F49B7B-A2DD-41E0-B305-BECC296FE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0670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sibling list 插入与拆分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71684-9AAD-4552-AD72-4C02477C8D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36385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D91FCE-B1DD-49DC-85B5-7DDC4019F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623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ownership 转移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D810B-1867-4744-9B01-269773B57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41338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0">
            <a:solidFill>
              <a:srgbClr val="E76F51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B28ED78-BE8A-4934-A966-FD935710D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057650"/>
            <a:ext cx="25908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从维护状态恢复输出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A90240D-BD5A-4606-B543-44B4B4CE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72125"/>
            <a:ext cx="1053465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DF5D3C-CEF2-42C4-BEE4-E14C4CE38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619750"/>
            <a:ext cx="10191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FFFFFF"/>
                </a:solidFill>
              </a:defRPr>
            </a:pPr>
            <a:r>
              <a:rPr sz="1575" b="1" i="0">
                <a:solidFill>
                  <a:srgbClr val="FFFFFF"/>
                </a:solidFill>
              </a:rPr>
              <a:t>Family tree 解释嵌套结构；可执行 Jordan sorting 还需要动态更新。</a:t>
            </a:r>
          </a:p>
        </p:txBody>
      </p:sp>
    </p:spTree>
    <p:extLst>
      <p:ext uri="{BB962C8B-B14F-4D97-AF65-F5344CB8AC3E}">
        <p14:creationId xmlns:p14="http://schemas.microsoft.com/office/powerpoint/2010/main" val="139353483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FD6B1E4-A231-4E15-8B9C-D72CBEA52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进展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85F66D-912E-4BBA-9263-F2D072476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上次汇报后的进展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31A98B8-8130-44AD-BC61-93F3410E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6127E0-A20C-4149-BE5C-E629CD2A4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9777E0-AD19-4CF7-8A9C-2E8C4B2539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DBADEA6-15A1-473F-9B73-4826C7350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3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8D0AF7-7077-48A2-9FD2-BE5F46614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619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102A43"/>
                </a:solidFill>
              </a:defRPr>
            </a:pPr>
            <a:r>
              <a:rPr sz="3000" b="1" i="0">
                <a:solidFill>
                  <a:srgbClr val="102A43"/>
                </a:solidFill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6FCEB5-C9A1-4E0F-A6EE-8339747FD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09800"/>
            <a:ext cx="195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02A43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8209F2-A6E8-4F92-98B0-A54784EA2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研究范围收敛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BE209A-FBD9-4FFD-9D88-77A37B0C8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2152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EAF1F8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CD97CD-9BD3-492C-9BE8-CB669B73E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486150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区分有效输入排序、识别问题与理论后端边界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EB6D81-D309-4B99-B964-EED775B69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1619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2A9D8F"/>
                </a:solidFill>
              </a:defRPr>
            </a:pPr>
            <a:r>
              <a:rPr sz="3000" b="1" i="0">
                <a:solidFill>
                  <a:srgbClr val="2A9D8F"/>
                </a:solidFill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299C70-D088-453C-B36F-8A96DEE5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209800"/>
            <a:ext cx="195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A9D8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5E1F06-F7A3-40B5-A68B-AE9772CD9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可执行重构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2BAF208-637A-4EDA-9201-3BF79C6DE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775" y="3333750"/>
            <a:ext cx="2152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E8F5F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6A541F-43AE-4324-8656-0F1FEE84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3486150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实现面向论文的 Step 1/2/3 控制流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25F10D-CB17-4B3A-911D-184FCFFCD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619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E76F51"/>
                </a:solidFill>
              </a:defRPr>
            </a:pPr>
            <a:r>
              <a:rPr sz="3000" b="1" i="0">
                <a:solidFill>
                  <a:srgbClr val="E76F51"/>
                </a:solidFill>
              </a:rPr>
              <a:t>03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792548-680A-4727-AD5E-BA6B262E3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09800"/>
            <a:ext cx="195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94E27-D2E0-4A75-B3D0-DD70DA6D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状态与正确性控制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8C650E-13DA-4241-9DC3-88D7341D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333750"/>
            <a:ext cx="2152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FCEEE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4AB1D7-D7EC-432E-B988-626B2401A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486150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加入 ownership 不变量、事务式更新与重放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2B4FFE-45EC-4C29-A542-EC09F7B86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1619250"/>
            <a:ext cx="68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3000" b="1" i="0">
                <a:solidFill>
                  <a:srgbClr val="52606D"/>
                </a:solidFill>
              </a:defRPr>
            </a:pPr>
            <a:r>
              <a:rPr sz="3000" b="1" i="0">
                <a:solidFill>
                  <a:srgbClr val="52606D"/>
                </a:solidFill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72B6E6E-DF3F-4913-ABFC-D04F33EC0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209800"/>
            <a:ext cx="1952625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526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E2296A-43F9-4538-9567-CD758498A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2457450"/>
            <a:ext cx="2095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初步正式评估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04AFE3A-C5B0-4EC7-A293-04DBAEF14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53525" y="3333750"/>
            <a:ext cx="215265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EDF2F7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F38AE6F-F45D-40FD-9D2B-A598D4EDC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6875" y="3486150"/>
            <a:ext cx="188595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执行固定的有效输入排序实验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7A248F1-E0C5-401C-9AEF-7CE8064A1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5524500"/>
            <a:ext cx="971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当前成果：可执行的普通列表实现；历史专用后端仍属于未来工作。</a:t>
            </a:r>
          </a:p>
        </p:txBody>
      </p:sp>
    </p:spTree>
    <p:extLst>
      <p:ext uri="{BB962C8B-B14F-4D97-AF65-F5344CB8AC3E}">
        <p14:creationId xmlns:p14="http://schemas.microsoft.com/office/powerpoint/2010/main" val="130471357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2F318AE-3622-4267-AA01-97528BE48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研究范围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145DC16-1176-4F19-9CC7-E9ED92DFE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当前范围：有效输入排序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03E4C8-99ED-432D-ADD9-9581CC188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E19A2-F1E5-4F24-842B-B59653C5B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C516E1E-F536-4DC9-9FBA-45D15EA87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9E2D07-7621-4F0D-8AD5-0A6AFC8F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4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03C055-F97C-4057-9F4F-F05D51A3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47800"/>
            <a:ext cx="4953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0773F1-1512-48DB-9CBF-CF8D06464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447800"/>
            <a:ext cx="4953000" cy="3905250"/>
          </a:xfrm>
          <a:prstGeom xmlns:a="http://schemas.openxmlformats.org/drawingml/2006/main" prst="roundRect">
            <a:avLst>
              <a:gd name="adj" fmla="val 195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E7A2D6-74B7-4BD0-BD11-15F8F9D72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764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52606D"/>
                </a:solidFill>
              </a:defRPr>
            </a:pPr>
            <a:r>
              <a:rPr sz="1875" b="1" i="0">
                <a:solidFill>
                  <a:srgbClr val="52606D"/>
                </a:solidFill>
              </a:rPr>
              <a:t>早期计划重点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26C17B-0798-49A8-BB54-AD3586ADC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67640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A9D8F"/>
                </a:solidFill>
              </a:defRPr>
            </a:pPr>
            <a:r>
              <a:rPr sz="1875" b="1" i="0">
                <a:solidFill>
                  <a:srgbClr val="2A9D8F"/>
                </a:solidFill>
              </a:rPr>
              <a:t>当前研究范围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76CCA4-AB28-43AF-8334-717D67916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2669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一般结构框架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5BDA41-4674-4993-A237-59A702FE5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2669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F69B4D3-311C-471F-B85D-276BD9989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2669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3B53"/>
                </a:solidFill>
              </a:defRPr>
            </a:pPr>
            <a:r>
              <a:rPr sz="1350" b="1" i="0">
                <a:solidFill>
                  <a:srgbClr val="243B53"/>
                </a:solidFill>
              </a:rPr>
              <a:t>1990 年算法过程的可执行重构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078E77-BA75-4104-B577-20A062D50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7432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有效与无效输入生成器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7E0E0-6770-4DD0-BF2F-4535874D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743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D9550AF-7DB3-4355-8CE7-9A55FC2F4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7432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oracle 认证的有效输入排序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99E871-73D4-4EA5-9D5A-0AC523280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2194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静态 family tree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7C64E0-27D5-4483-A394-76314982B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2194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EA6422-D148-407F-9009-77585F4561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2194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243B53"/>
                </a:solidFill>
              </a:defRPr>
            </a:pPr>
            <a:r>
              <a:rPr sz="1350" b="1" i="0">
                <a:solidFill>
                  <a:srgbClr val="243B53"/>
                </a:solidFill>
              </a:rPr>
              <a:t>动态 sibling-list 状态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CE46F-6ADF-4AF1-ACEA-3A0CA92AE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957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广泛的 reference 评估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D8E478-A84E-4D80-B549-FEC46FBC1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6957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12CE13A-B8E5-4939-806E-7B14B7FCF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6957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paper core、reference pipeline、Python sort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FD751D-49EA-4303-9592-7FD267EE2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1719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将 recognition 作为可能的实验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080754F-013C-4FFE-AFE5-A679731AF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17195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A48AB-8AB5-4FDB-B999-A68275FBC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recognition 保持独立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7AFE1CE-808E-4A07-B139-E42680CE5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6482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理论后端实现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B9557D3-DBBD-480F-91A0-6240F769BD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648200"/>
            <a:ext cx="552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 i="0">
                <a:solidFill>
                  <a:srgbClr val="E76F51"/>
                </a:solidFill>
              </a:defRPr>
            </a:pPr>
            <a:r>
              <a:rPr sz="1950" b="1" i="0">
                <a:solidFill>
                  <a:srgbClr val="E76F51"/>
                </a:solidFill>
              </a:rPr>
              <a:t>→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D3599A3-0688-4316-A486-9C84F2777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648200"/>
            <a:ext cx="433387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当前实现使用普通列表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633A87F-2E67-4111-ADB9-9794E2D51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05450"/>
            <a:ext cx="9906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实验评估普通列表实现；finger-tree 后端仍只是可能的扩展。</a:t>
            </a:r>
          </a:p>
        </p:txBody>
      </p:sp>
    </p:spTree>
    <p:extLst>
      <p:ext uri="{BB962C8B-B14F-4D97-AF65-F5344CB8AC3E}">
        <p14:creationId xmlns:p14="http://schemas.microsoft.com/office/powerpoint/2010/main" val="97139873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696AA8B-0D34-4866-AF2A-5E88FDCD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研究问题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0F4E8B-35E7-4137-83A5-A98E79772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三个问题连接重构、测量与解释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958D2B-BD92-4A2F-8CC0-E52EB023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8D5DD7A-4D1E-4056-A401-21A0D33C3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B4DC87-00E7-494F-ADDC-6A25C146B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6576AD-4C00-44D8-AAE9-18CCC98E3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5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AB87D4-CB18-4F7F-B04D-05B099F37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85900"/>
            <a:ext cx="10744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E8F5F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6FC97-A780-4B7D-B60C-9E81D269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573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2A9D8F"/>
                </a:solidFill>
              </a:defRPr>
            </a:pPr>
            <a:r>
              <a:rPr sz="2100" b="1" i="0">
                <a:solidFill>
                  <a:srgbClr val="2A9D8F"/>
                </a:solidFill>
              </a:rPr>
              <a:t>RQ1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B0726F-7047-41F7-93C0-C59761494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16192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可执行重构与正确性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A6B270-BC10-41A8-BC08-92E28D9D1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20574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普通列表重构能否针对 oracle 认证的有效输入，从维护状态中恢复排序结果？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97AE26-B889-42FF-BE65-025DDBD97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47825"/>
            <a:ext cx="2571750" cy="285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A9D8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92742-4C40-4EAF-B2E8-C3734B5D4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6573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975" b="1" i="0">
                <a:solidFill>
                  <a:srgbClr val="FFFFFF"/>
                </a:solidFill>
              </a:defRPr>
            </a:pPr>
            <a:r>
              <a:rPr sz="975" b="1" i="0">
                <a:solidFill>
                  <a:srgbClr val="FFFFFF"/>
                </a:solidFill>
              </a:rPr>
              <a:t>主要技术问题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5C2EAB-B6D6-42AA-AEE2-F623B0A30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90850"/>
            <a:ext cx="10744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FCEEE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31A758E-8627-4696-A94D-1BBD291D6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6230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E76F51"/>
                </a:solidFill>
              </a:defRPr>
            </a:pPr>
            <a:r>
              <a:rPr sz="2100" b="1" i="0">
                <a:solidFill>
                  <a:srgbClr val="E76F51"/>
                </a:solidFill>
              </a:rPr>
              <a:t>RQ2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545659-C37F-4D99-8D10-8414CB51D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12420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观测到的运行时间表现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5938F32-87AD-4383-80AB-286994876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356235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在预先认证的输入上运行时，paper core 相对于 Python sort 和完整 reference pipeline，在不同计时范围下表现如何？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99D20B-84FC-4C48-9183-305114588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95800"/>
            <a:ext cx="107442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EDF2F7"/>
          </a:solidFill>
          <a:ln xmlns:a="http://schemas.openxmlformats.org/drawingml/2006/main" w="11430">
            <a:solidFill>
              <a:srgbClr val="EDF2F7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C8E8AE-82A6-4CEA-A72C-F61511EF0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67250"/>
            <a:ext cx="1143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2100" b="1" i="0">
                <a:solidFill>
                  <a:srgbClr val="52606D"/>
                </a:solidFill>
              </a:defRPr>
            </a:pPr>
            <a:r>
              <a:rPr sz="2100" b="1" i="0">
                <a:solidFill>
                  <a:srgbClr val="52606D"/>
                </a:solidFill>
              </a:rPr>
              <a:t>RQ3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0CFF05A-4EF3-49A5-9234-D69742D34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4629150"/>
            <a:ext cx="4953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结构与实现成本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6651EC1-CECE-473D-A122-ABC2BA248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5067300"/>
            <a:ext cx="88582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输入结构、checked 操作计数与运行时间之间呈现哪些描述性关系？</a:t>
            </a:r>
          </a:p>
        </p:txBody>
      </p:sp>
    </p:spTree>
    <p:extLst>
      <p:ext uri="{BB962C8B-B14F-4D97-AF65-F5344CB8AC3E}">
        <p14:creationId xmlns:p14="http://schemas.microsoft.com/office/powerpoint/2010/main" val="85364058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53513A1-1C3E-482C-BD7C-A8060D3D7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体系结构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34501FC-538A-4F48-B9EC-F94462348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oracle、reference pipeline 与 paper core 各有不同职责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0FCC08-9C09-4B24-94E4-14FFB0B7B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8D4F52-7CAE-439F-BBBD-270240E88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DF154B-E434-4908-8B49-86DB0BF3C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FC0FBF-03EE-4458-ACC3-1C9321369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6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2116CD6-02D1-4B9A-B4C2-0C9A89BC7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352550"/>
            <a:ext cx="37147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905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4A2232-815A-46A4-BFBD-817DBFE76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4859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认证 oracle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F6DB7D-734D-4B07-A388-DC00AE7A6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47850"/>
            <a:ext cx="3333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有效性 + 预期排序结果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F7A07C-B6B1-4121-8405-43B95B16E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05150"/>
            <a:ext cx="4333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D5102F6-92A2-4C58-ACD9-FC5064765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1825" y="3105150"/>
            <a:ext cx="4333875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cxnSp>
        <p:nvCxnSpPr>
          <p:cNvPr id="206" name=""/>
          <p:cNvCxnSpPr>
            <a:stCxn xmlns:a="http://schemas.openxmlformats.org/drawingml/2006/main" id="7" idx="2"/>
            <a:endCxn xmlns:a="http://schemas.openxmlformats.org/drawingml/2006/main" id="10" idx="0"/>
          </p:cNvCxnSpPr>
          <p:nvPr/>
        </p:nvCxnSpPr>
        <p:spPr>
          <a:xfrm xmlns:a="http://schemas.openxmlformats.org/drawingml/2006/main" flipH="1">
            <a:off x="3043238" y="2228850"/>
            <a:ext cx="3052763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med" len="med"/>
          </a:ln>
        </p:spPr>
      </p:cxnSp>
      <p:cxnSp>
        <p:nvCxnSpPr>
          <p:cNvPr id="207" name=""/>
          <p:cNvCxnSpPr>
            <a:stCxn xmlns:a="http://schemas.openxmlformats.org/drawingml/2006/main" id="7" idx="2"/>
            <a:endCxn xmlns:a="http://schemas.openxmlformats.org/drawingml/2006/main" id="11" idx="0"/>
          </p:cNvCxnSpPr>
          <p:nvPr/>
        </p:nvCxnSpPr>
        <p:spPr>
          <a:xfrm xmlns:a="http://schemas.openxmlformats.org/drawingml/2006/main">
            <a:off x="6096000" y="2228850"/>
            <a:ext cx="3052763" cy="8763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med" len="med"/>
          </a:ln>
        </p:spPr>
      </p:cxn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35F4D6F-5B6D-4722-8269-FFF0089F4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19350"/>
            <a:ext cx="33909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C2F6867-E342-42EC-B2E7-57C66799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24765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E76F51"/>
                </a:solidFill>
              </a:defRPr>
            </a:pPr>
            <a:r>
              <a:rPr sz="1275" b="1" i="0">
                <a:solidFill>
                  <a:srgbClr val="E76F51"/>
                </a:solidFill>
              </a:rPr>
              <a:t>oracle 结果，包括排序输出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F36BCD-E452-44FD-A859-D416437E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19350"/>
            <a:ext cx="33909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FB882ED-38CD-4EB1-8A6D-2649989B7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2476500"/>
            <a:ext cx="3124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A9D8F"/>
                </a:solidFill>
              </a:defRPr>
            </a:pPr>
            <a:r>
              <a:rPr sz="1275" b="1" i="0">
                <a:solidFill>
                  <a:srgbClr val="2A9D8F"/>
                </a:solidFill>
              </a:rPr>
              <a:t>仅提供有效输入认证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C337CE9-C27E-4BCA-B52D-B29584866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32766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E76F51"/>
                </a:solidFill>
              </a:defRPr>
            </a:pPr>
            <a:r>
              <a:rPr sz="1875" b="1" i="0">
                <a:solidFill>
                  <a:srgbClr val="E76F51"/>
                </a:solidFill>
              </a:rPr>
              <a:t>oracle 支持的 reference pipeline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1B0796-1157-4237-ACA1-38D1F02EE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48100"/>
            <a:ext cx="3667125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family tree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结构信息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来自 oracle 的输出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6D8283A-3CC6-4ADD-B482-A4709DD1A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3276600"/>
            <a:ext cx="38576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A9D8F"/>
                </a:solidFill>
              </a:defRPr>
            </a:pPr>
            <a:r>
              <a:rPr sz="1875" b="1" i="0">
                <a:solidFill>
                  <a:srgbClr val="2A9D8F"/>
                </a:solidFill>
              </a:rPr>
              <a:t>Paper 普通列表 core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6805D31-501E-4272-B422-DE1F397CA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810000"/>
            <a:ext cx="3619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输入序列 + 已认证前置条件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Step 1/2/3 与维护状态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243B53"/>
                </a:solidFill>
              </a:defRPr>
            </a:pPr>
            <a:r>
              <a:rPr sz="1350" b="0" i="0">
                <a:solidFill>
                  <a:srgbClr val="243B53"/>
                </a:solidFill>
              </a:rPr>
              <a:t>从状态中恢复输出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5DA3D0E-F32A-46BE-8869-9DE21FDF5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5010150"/>
            <a:ext cx="2724150" cy="342900"/>
          </a:xfrm>
          <a:prstGeom xmlns:a="http://schemas.openxmlformats.org/drawingml/2006/main" prst="roundRect">
            <a:avLst>
              <a:gd name="adj" fmla="val 1388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2606D"/>
            </a:solidFill>
            <a:prstDash val="dash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752283-6628-4DAE-92BF-6BF61D3D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57775"/>
            <a:ext cx="2533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1" i="0">
                <a:solidFill>
                  <a:srgbClr val="52606D"/>
                </a:solidFill>
              </a:defRPr>
            </a:pPr>
            <a:r>
              <a:rPr sz="1200" b="1" i="0">
                <a:solidFill>
                  <a:srgbClr val="52606D"/>
                </a:solidFill>
              </a:rPr>
              <a:t>调用后的输出比较</a:t>
            </a:r>
          </a:p>
        </p:txBody>
      </p:sp>
      <p:cxnSp>
        <p:nvCxnSpPr>
          <p:cNvPr id="218" name=""/>
          <p:cNvCxnSpPr>
            <a:stCxn xmlns:a="http://schemas.openxmlformats.org/drawingml/2006/main" id="11" idx="2"/>
            <a:endCxn xmlns:a="http://schemas.openxmlformats.org/drawingml/2006/main" id="22" idx="0"/>
          </p:cNvCxnSpPr>
          <p:nvPr/>
        </p:nvCxnSpPr>
        <p:spPr>
          <a:xfrm xmlns:a="http://schemas.openxmlformats.org/drawingml/2006/main">
            <a:off x="9148763" y="4914900"/>
            <a:ext cx="385763" cy="95250"/>
          </a:xfrm>
          <a:prstGeom xmlns:a="http://schemas.openxmlformats.org/drawingml/2006/main" prst="straightConnector1">
            <a:avLst/>
          </a:prstGeom>
          <a:ln xmlns:a="http://schemas.openxmlformats.org/drawingml/2006/main" w="14288">
            <a:solidFill>
              <a:srgbClr val="52606D"/>
            </a:solidFill>
            <a:prstDash val="dash"/>
            <a:tailEnd type="arrow" w="sm" len="sm"/>
          </a:ln>
        </p:spPr>
      </p:cxn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B3F306-1DA3-4F6B-8029-A9F73A573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5543550"/>
            <a:ext cx="9677400" cy="51435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75EC7D9-E8CA-485F-A501-395B6D6B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610225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FFFFFF"/>
                </a:solidFill>
              </a:defRPr>
            </a:pPr>
            <a:r>
              <a:rPr sz="1350" b="1" i="0">
                <a:solidFill>
                  <a:srgbClr val="FFFFFF"/>
                </a:solidFill>
              </a:rPr>
              <a:t>paper 调用前认证  |  调用后比较  |  oracle 排序结果绝不进入 paper core</a:t>
            </a:r>
          </a:p>
        </p:txBody>
      </p:sp>
    </p:spTree>
    <p:extLst>
      <p:ext uri="{BB962C8B-B14F-4D97-AF65-F5344CB8AC3E}">
        <p14:creationId xmlns:p14="http://schemas.microsoft.com/office/powerpoint/2010/main" val="74705569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3927F38-A182-4D88-8720-9B37F0B0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算法重构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4A2FBA-7D2A-455E-A16D-89ECCA08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初始化一次，再逐点更新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7EE3A4-F17E-4C57-8E49-28C0D659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0711626-2F76-4823-8AF6-0ABFEAEFA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376BE3A-915A-4391-B3FA-11F3106A10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697E75-EE8D-4E64-9DE9-4C5DB98FA4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7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7906C2-664D-4733-BCE7-635B744E4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150495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1BD840-0CA0-4974-B06C-902617A98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390650"/>
            <a:ext cx="10363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897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A. 仅初始化一次（n ≥ 3）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6BE00-3CC3-433C-A12B-9EB097BE5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0975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仅将 z₁、z₂、z₃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按 x 坐标排序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56A38E9-1269-43D1-AE3C-F29E9574F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1847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 i="0">
                <a:solidFill>
                  <a:srgbClr val="2A9D8F"/>
                </a:solidFill>
              </a:defRPr>
            </a:pPr>
            <a:r>
              <a:rPr sz="2250" b="0" i="0">
                <a:solidFill>
                  <a:srgbClr val="2A9D8F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D78C6F4-B0D6-4C5D-A37C-087EFEC0F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1847850"/>
            <a:ext cx="295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2A9D8F"/>
                </a:solidFill>
              </a:defRPr>
            </a:pPr>
            <a:r>
              <a:rPr sz="1800" b="1" i="0">
                <a:solidFill>
                  <a:srgbClr val="2A9D8F"/>
                </a:solidFill>
              </a:rPr>
              <a:t>初始有序列表 S₃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E9B13BF-3957-4454-8E1D-623C631D2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1847850"/>
            <a:ext cx="4381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250" b="0" i="0">
                <a:solidFill>
                  <a:srgbClr val="2A9D8F"/>
                </a:solidFill>
              </a:defRPr>
            </a:pPr>
            <a:r>
              <a:rPr sz="2250" b="0" i="0">
                <a:solidFill>
                  <a:srgbClr val="2A9D8F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83083F-F94B-4B8D-A172-2D9441D146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1771650"/>
            <a:ext cx="342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Upper/lower pair family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P₂、P₃ 与 dummy roots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25AE998-4FC3-4212-B157-78719B551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57450"/>
            <a:ext cx="1040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2606D"/>
                </a:solidFill>
              </a:defRPr>
            </a:pPr>
            <a:r>
              <a:rPr sz="1500" b="0" i="0">
                <a:solidFill>
                  <a:srgbClr val="52606D"/>
                </a:solidFill>
              </a:rPr>
              <a:t>Core 自行局部初始化，不使用 oracle 答案。点编号与 pair 端点存储保持曲线顺序。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5BD6DB-8F3E-4FFF-9585-0BD379E32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97180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A9D8F"/>
                </a:solidFill>
              </a:defRPr>
            </a:pPr>
            <a:r>
              <a:rPr sz="1800" b="1" i="0">
                <a:solidFill>
                  <a:srgbClr val="2A9D8F"/>
                </a:solidFill>
              </a:rPr>
              <a:t>B. 对 i = 4, …, n：每轮处理一个新点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A7FA74-8C71-462D-8844-36EF52B92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Sᵢ₋₁ + 新点 zᵢ → 执行下面一轮更新 → Sᵢ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C16C04-A69D-46D9-A649-E4B811AFD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790950"/>
            <a:ext cx="19812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692A13-DD32-44F6-898E-C6C588D1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8671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F4B48D-6AA6-45EE-822F-6CBB9877D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" y="42005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找 predecessor 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boundary Aᵢ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74164AF-EE89-45D1-8E09-1815B366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790950"/>
            <a:ext cx="19812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B2B8E92-2DF0-4EEC-A434-C692E7C1A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8671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4C9F201-B049-42DF-A60A-271D43828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81325" y="42005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找 successor 侧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boundary Bᵢ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49EA53-5FF1-48A9-BE62-7BB8A402D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790950"/>
            <a:ext cx="19812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7F2A08C-9C73-4182-8D97-657FC3C4E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8671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3(a)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77F34E-A5EC-4654-A99C-A5D0008BD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2075" y="42005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插入新 pair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Pᵢ = (zᵢ₋₁, zᵢ)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947B58-A8CC-4780-95A1-F4FCEAE75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790950"/>
            <a:ext cx="19812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F4F8A37-7ADA-4D1D-9140-BBC389770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8671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3(b)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16A6DE7-0EF1-41D7-AC1E-936521006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42005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按需拆分 sibling list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并转移 ownership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4AC4B330-3C6A-48E9-B526-FBED8814D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790950"/>
            <a:ext cx="1981200" cy="108585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D2A2522-D920-48D7-85E2-F914709B7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867150"/>
            <a:ext cx="1828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3(c)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FE0D9E-113C-4225-8DA9-4612CE266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53575" y="4200525"/>
            <a:ext cx="18478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将 zᵢ 插入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维护的有序列表</a:t>
            </a:r>
          </a:p>
        </p:txBody>
      </p:sp>
      <p:cxnSp>
        <p:nvCxnSpPr>
          <p:cNvPr id="76" name=""/>
          <p:cNvCxnSpPr>
            <a:stCxn xmlns:a="http://schemas.openxmlformats.org/drawingml/2006/main" id="17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2705100" y="4333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sm" len="sm"/>
          </a:ln>
        </p:spPr>
      </p:cxnSp>
      <p:cxnSp>
        <p:nvCxnSpPr>
          <p:cNvPr id="77" name=""/>
          <p:cNvCxnSpPr>
            <a:stCxn xmlns:a="http://schemas.openxmlformats.org/drawingml/2006/main" id="20" idx="3"/>
            <a:endCxn xmlns:a="http://schemas.openxmlformats.org/drawingml/2006/main" id="23" idx="1"/>
          </p:cNvCxnSpPr>
          <p:nvPr/>
        </p:nvCxnSpPr>
        <p:spPr>
          <a:xfrm xmlns:a="http://schemas.openxmlformats.org/drawingml/2006/main">
            <a:off x="4895850" y="4333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sm" len="sm"/>
          </a:ln>
        </p:spPr>
      </p:cxnSp>
      <p:cxnSp>
        <p:nvCxnSpPr>
          <p:cNvPr id="78" name=""/>
          <p:cNvCxnSpPr>
            <a:stCxn xmlns:a="http://schemas.openxmlformats.org/drawingml/2006/main" id="23" idx="3"/>
            <a:endCxn xmlns:a="http://schemas.openxmlformats.org/drawingml/2006/main" id="26" idx="1"/>
          </p:cNvCxnSpPr>
          <p:nvPr/>
        </p:nvCxnSpPr>
        <p:spPr>
          <a:xfrm xmlns:a="http://schemas.openxmlformats.org/drawingml/2006/main">
            <a:off x="7086600" y="4333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sm" len="sm"/>
          </a:ln>
        </p:spPr>
      </p:cxnSp>
      <p:cxnSp>
        <p:nvCxnSpPr>
          <p:cNvPr id="79" name=""/>
          <p:cNvCxnSpPr>
            <a:stCxn xmlns:a="http://schemas.openxmlformats.org/drawingml/2006/main" id="26" idx="3"/>
            <a:endCxn xmlns:a="http://schemas.openxmlformats.org/drawingml/2006/main" id="29" idx="1"/>
          </p:cNvCxnSpPr>
          <p:nvPr/>
        </p:nvCxnSpPr>
        <p:spPr>
          <a:xfrm xmlns:a="http://schemas.openxmlformats.org/drawingml/2006/main">
            <a:off x="9277350" y="4333875"/>
            <a:ext cx="2095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sm" len="sm"/>
          </a:ln>
        </p:spPr>
      </p:cxn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3646241-66EB-47E1-9F93-6C0583DD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0703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两个方向都保持 Step 1 → Aᵢ、Step 2 → Bᵢ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4FAE0DB-C358-44EF-A042-BD8C16605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2578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2606D"/>
                </a:solidFill>
              </a:defRPr>
            </a:pPr>
            <a:r>
              <a:rPr sz="1500" b="0" i="0">
                <a:solidFill>
                  <a:srgbClr val="52606D"/>
                </a:solidFill>
              </a:rPr>
              <a:t>Increasing：3(a) 用 Aᵢ，3(b) 用 Bᵢ。Decreasing 交换两者用途，并镜像左右操作。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F5B4357-62BA-471E-82C3-A0179A292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657850"/>
            <a:ext cx="107442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189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425" b="0" i="0">
                <a:solidFill>
                  <a:srgbClr val="7B8794"/>
                </a:solidFill>
              </a:defRPr>
            </a:pPr>
            <a:r>
              <a:rPr sz="1425" b="0" i="0">
                <a:solidFill>
                  <a:srgbClr val="7B8794"/>
                </a:solidFill>
              </a:rPr>
              <a:t>重构依据的类别（不分别对应算法步骤）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AFE1BFB-41D7-4DFB-ADFB-5A8D9FC5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000750"/>
            <a:ext cx="3429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5928044-5F20-4CD3-83E3-B5EFE25B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0388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原文明确规则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7EE3C8-23C0-4DD3-9EDC-B38B5124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6000750"/>
            <a:ext cx="3429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D635945-2DF6-4D20-882D-1C965466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60388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A9D8F"/>
                </a:solidFill>
              </a:defRPr>
            </a:pPr>
            <a:r>
              <a:rPr sz="1575" b="1" i="0">
                <a:solidFill>
                  <a:srgbClr val="2A9D8F"/>
                </a:solidFill>
              </a:rPr>
              <a:t>对称重构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A8F5261-80CD-4400-AF31-908F1527F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6000750"/>
            <a:ext cx="3429000" cy="38100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A03B112E-EC78-4380-9EA5-5C60D6A17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6038850"/>
            <a:ext cx="3276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E76F51"/>
                </a:solidFill>
              </a:defRPr>
            </a:pPr>
            <a:r>
              <a:rPr sz="1575" b="1" i="0">
                <a:solidFill>
                  <a:srgbClr val="E76F51"/>
                </a:solidFill>
              </a:rPr>
              <a:t>可执行化澄清</a:t>
            </a:r>
          </a:p>
        </p:txBody>
      </p:sp>
    </p:spTree>
    <p:extLst>
      <p:ext uri="{BB962C8B-B14F-4D97-AF65-F5344CB8AC3E}">
        <p14:creationId xmlns:p14="http://schemas.microsoft.com/office/powerpoint/2010/main" val="114215928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AFEEE8C-58F0-4C31-A6AD-45903CCA3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重构问题一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E6D42C-F14A-424E-AF68-5948CC1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从 S₃ 到 S₄：插入需要几何 anchor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AC00C0-F15D-458E-B491-A8C54CB56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ABC46D6-86BA-4A82-A18A-554A61B44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A516AE-A0A3-4752-8B1C-9B9C6C7E3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C320910-E2E7-46B2-9369-42067104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8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CB22D3-1009-4958-8D49-D3307ABA6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314450"/>
            <a:ext cx="10744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按曲线顺序输入：(z₁, z₂, z₃, z₄) = (3, 2, 1, 4)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A6FA7A-C002-44B8-B391-78E3003C9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90700"/>
            <a:ext cx="65722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929CB3-E743-45CE-A9B9-3486222F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85950"/>
            <a:ext cx="6267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初始化后：S₃ = [1, 2, 3]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AF7728A-A695-48C2-877C-44C659A7D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6267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52606D"/>
                </a:solidFill>
              </a:defRPr>
            </a:pPr>
            <a:r>
              <a:rPr sz="1650" b="0" i="0">
                <a:solidFill>
                  <a:srgbClr val="52606D"/>
                </a:solidFill>
              </a:rPr>
              <a:t>对应编号：[z₃,z₂,z₁]。曲线编号保持不变。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231B4B3-E926-46A8-A808-D6AA505E0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90700"/>
            <a:ext cx="3943350" cy="1066800"/>
          </a:xfrm>
          <a:prstGeom xmlns:a="http://schemas.openxmlformats.org/drawingml/2006/main" prst="roundRect">
            <a:avLst>
              <a:gd name="adj" fmla="val 5357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DEC31D-25DA-4945-8A0F-FC9108E67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1885950"/>
            <a:ext cx="36385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A9D8F"/>
                </a:solidFill>
              </a:defRPr>
            </a:pPr>
            <a:r>
              <a:rPr sz="1875" b="1" i="0">
                <a:solidFill>
                  <a:srgbClr val="2A9D8F"/>
                </a:solidFill>
              </a:rPr>
              <a:t>现在处理 z₄ = 4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0A1861-DE75-4D0B-AF9E-5178FD887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381250"/>
            <a:ext cx="36385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z₃ = 1 → z₄ = 4：increasing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9C887E-92F5-475B-9352-C455B8FAD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86100"/>
            <a:ext cx="23050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Step 3(b) 后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EF0258-FF12-415F-B6C0-E50F0191D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86100"/>
            <a:ext cx="4000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A9D8F"/>
                </a:solidFill>
              </a:defRPr>
            </a:pPr>
            <a:r>
              <a:rPr sz="1650" b="1" i="0">
                <a:solidFill>
                  <a:srgbClr val="2A9D8F"/>
                </a:solidFill>
              </a:rPr>
              <a:t>新 upper P₄ = (z₃, z₄) = (1, 4)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BC3143E-A3ED-4ED7-896F-CA749235A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086100"/>
            <a:ext cx="10096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A9D8F"/>
                </a:solidFill>
              </a:defRPr>
            </a:pPr>
            <a:r>
              <a:rPr sz="1650" b="0" i="0">
                <a:solidFill>
                  <a:srgbClr val="2A9D8F"/>
                </a:solidFill>
              </a:rPr>
              <a:t>→ child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780D75-C8A8-4DF6-9887-3E943E353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86100"/>
            <a:ext cx="33718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Upper P₂ = (z₁, z₂) = (3, 2)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8487672-58D9-47D5-A449-B62C735D7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552825"/>
            <a:ext cx="10744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1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P₄ 获得 child P₂。本次 increasing 更新取 child 的几何右端点。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A53BE2D-3992-4699-B94A-E6F397925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67175"/>
            <a:ext cx="5257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D556071-E156-41D1-A516-5C2615467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62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E76F51"/>
                </a:solidFill>
              </a:defRPr>
            </a:pPr>
            <a:r>
              <a:rPr sz="1725" b="1" i="0">
                <a:solidFill>
                  <a:srgbClr val="E76F51"/>
                </a:solidFill>
              </a:rPr>
              <a:t>P₂ 的第二个存储端点：2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F6C889-72FA-4B62-B9C7-96A4CE08A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将 4 紧接着插在 2 后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83AED2-06A2-46AB-A6E9-959EC34B0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95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[1, 2, 4, 3]  错误（示意）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96A182-029E-45EF-9243-45A34892E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067175"/>
            <a:ext cx="5257800" cy="1524000"/>
          </a:xfrm>
          <a:prstGeom xmlns:a="http://schemas.openxmlformats.org/drawingml/2006/main" prst="roundRect">
            <a:avLst>
              <a:gd name="adj" fmla="val 50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FD7FF84-1B88-4C37-8F18-293E2DAE8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16242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A9D8F"/>
                </a:solidFill>
              </a:defRPr>
            </a:pPr>
            <a:r>
              <a:rPr sz="1725" b="1" i="0">
                <a:solidFill>
                  <a:srgbClr val="2A9D8F"/>
                </a:solidFill>
              </a:rPr>
              <a:t>P₂ 的几何右端点：3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E5FE610-2FC8-40F2-B8EB-099D6BBF4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610100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661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将 4 紧接着插在 3 后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47A764F-304E-4565-9749-333EB14B1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95875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2A9D8F"/>
                </a:solidFill>
              </a:defRPr>
            </a:pPr>
            <a:r>
              <a:rPr sz="1800" b="1" i="0">
                <a:solidFill>
                  <a:srgbClr val="2A9D8F"/>
                </a:solidFill>
              </a:rPr>
              <a:t>[1, 2, 3, 4]  正确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DEDBB45-B7D7-44BC-9BA6-4BADE249C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762625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 i="0">
                <a:solidFill>
                  <a:srgbClr val="102A43"/>
                </a:solidFill>
              </a:defRPr>
            </a:pPr>
            <a:r>
              <a:rPr sz="1650" b="0" i="0">
                <a:solidFill>
                  <a:srgbClr val="102A43"/>
                </a:solidFill>
              </a:rPr>
              <a:t>这里的 anchor 是已有点，4 将紧接着插在它后面。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BE79683-B69C-4F2E-BD94-C4263A790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34100"/>
            <a:ext cx="10744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52606D"/>
                </a:solidFill>
              </a:defRPr>
            </a:pPr>
            <a:r>
              <a:rPr sz="1500" b="0" i="0">
                <a:solidFill>
                  <a:srgbClr val="52606D"/>
                </a:solidFill>
              </a:rPr>
              <a:t>这是可执行化澄清，非 1990 年论文的逐字规则。存储的曲线顺序 ≠ 几何顺序。</a:t>
            </a:r>
          </a:p>
        </p:txBody>
      </p:sp>
    </p:spTree>
    <p:extLst>
      <p:ext uri="{BB962C8B-B14F-4D97-AF65-F5344CB8AC3E}">
        <p14:creationId xmlns:p14="http://schemas.microsoft.com/office/powerpoint/2010/main" val="198292998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B87199-1BA7-42CE-8DAC-185DBB2A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重构问题二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81D41-3196-49BE-98B5-3F1D31F4E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为什么需要单独检查 z₁ 输出锚点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A34603-B4E9-477E-9DAF-619538A79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33816A-A145-43BA-9370-2F197C4F9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56450E1-0894-455E-AFCB-B1E4864443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7D4D8A-03AA-43F0-8638-3AE3FFD13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9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B6FB8-1A1D-466E-86C2-E055FA3EE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2954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输入 (z₁, …, z₇) = (1, 2, 3, 4, 6, 7, 0)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E1C577-5D0B-4C4E-91F7-3893B088A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314450"/>
            <a:ext cx="3829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0" i="0">
                <a:solidFill>
                  <a:srgbClr val="52606D"/>
                </a:solidFill>
              </a:defRPr>
            </a:pPr>
            <a:r>
              <a:rPr sz="1575" b="0" i="0">
                <a:solidFill>
                  <a:srgbClr val="52606D"/>
                </a:solidFill>
              </a:rPr>
              <a:t>S₆ = [1, 2, 3, 4, 6, 7]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38AC149-304D-4AAD-A579-CEF42207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33550"/>
            <a:ext cx="5048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A9D8F"/>
                </a:solidFill>
              </a:defRPr>
            </a:pPr>
            <a:r>
              <a:rPr sz="1650" b="1" i="0">
                <a:solidFill>
                  <a:srgbClr val="2A9D8F"/>
                </a:solidFill>
              </a:rPr>
              <a:t>i = 7（奇数）→ lower family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E43D58-5EBA-4CEC-AC04-A6284A404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33550"/>
            <a:ext cx="51054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79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2A9D8F"/>
                </a:solidFill>
              </a:defRPr>
            </a:pPr>
            <a:r>
              <a:rPr sz="1650" b="1" i="0">
                <a:solidFill>
                  <a:srgbClr val="2A9D8F"/>
                </a:solidFill>
              </a:rPr>
              <a:t>z₇ = 0 &lt; z₆ = 7 → decreasing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034123-51E4-48FF-B5E4-060F6AE9C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2885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Decreasing：最左 child → 几何左端点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674932-767B-4597-AB10-73A2D7ED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933700"/>
            <a:ext cx="22860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57B3AFB-A1C4-4F75-A808-C6F7F271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990850"/>
            <a:ext cx="2133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P₇ = (7, 0)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DEA3BD-6585-4897-B977-1B573D7BD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609850"/>
            <a:ext cx="432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曲线顺序 (7, 0)；几何区间 [0, 7]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80CE808-B822-46E4-A7F9-0DC3A3910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5760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572AEB-974D-477D-B50F-CCA1CD6E0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657600"/>
            <a:ext cx="20955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cxnSp>
        <p:nvCxnSpPr>
          <p:cNvPr id="52" name=""/>
          <p:cNvCxnSpPr>
            <a:stCxn xmlns:a="http://schemas.openxmlformats.org/drawingml/2006/main" id="12" idx="1"/>
            <a:endCxn xmlns:a="http://schemas.openxmlformats.org/drawingml/2006/main" id="15" idx="0"/>
          </p:cNvCxnSpPr>
          <p:nvPr/>
        </p:nvCxnSpPr>
        <p:spPr>
          <a:xfrm xmlns:a="http://schemas.openxmlformats.org/drawingml/2006/main" flipH="1">
            <a:off x="1943100" y="3162300"/>
            <a:ext cx="247650" cy="495300"/>
          </a:xfrm>
          <a:prstGeom xmlns:a="http://schemas.openxmlformats.org/drawingml/2006/main" prst="bentConnector2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sm" len="sm"/>
          </a:ln>
        </p:spPr>
      </p:cxnSp>
      <p:cxnSp>
        <p:nvCxnSpPr>
          <p:cNvPr id="53" name=""/>
          <p:cNvCxnSpPr>
            <a:stCxn xmlns:a="http://schemas.openxmlformats.org/drawingml/2006/main" id="12" idx="3"/>
            <a:endCxn xmlns:a="http://schemas.openxmlformats.org/drawingml/2006/main" id="16" idx="0"/>
          </p:cNvCxnSpPr>
          <p:nvPr/>
        </p:nvCxnSpPr>
        <p:spPr>
          <a:xfrm xmlns:a="http://schemas.openxmlformats.org/drawingml/2006/main">
            <a:off x="4476750" y="3162300"/>
            <a:ext cx="228600" cy="495300"/>
          </a:xfrm>
          <a:prstGeom xmlns:a="http://schemas.openxmlformats.org/drawingml/2006/main" prst="bentConnector4">
            <a:avLst/>
          </a:prstGeom>
          <a:ln xmlns:a="http://schemas.openxmlformats.org/drawingml/2006/main" w="19050">
            <a:solidFill>
              <a:srgbClr val="52606D"/>
            </a:solidFill>
            <a:prstDash val="solid"/>
            <a:tailEnd type="arrow" w="sm" len="sm"/>
          </a:ln>
        </p:spPr>
      </p:cxn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35D5A9-6041-4CCD-8575-36D97E63C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7052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2A9D8F"/>
                </a:solidFill>
              </a:defRPr>
            </a:pPr>
            <a:r>
              <a:rPr sz="1800" b="1" i="0">
                <a:solidFill>
                  <a:srgbClr val="2A9D8F"/>
                </a:solidFill>
              </a:rPr>
              <a:t>P₃ = (2, 3)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8C50C4B-E128-4E86-8E65-C486F3B2C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705225"/>
            <a:ext cx="1943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P₅ = (4, 6)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ABC46C-9331-4CA1-A5DB-2D30AFC1A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338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7002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最左 child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05369F-044C-446D-A11C-D6BDE474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5257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2A9D8F"/>
                </a:solidFill>
              </a:defRPr>
            </a:pPr>
            <a:r>
              <a:rPr sz="1575" b="1" i="0">
                <a:solidFill>
                  <a:srgbClr val="2A9D8F"/>
                </a:solidFill>
              </a:rPr>
              <a:t>P₃ → 几何左端点 2 → base anchor z₂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4F1DEE0-D33F-49C8-A928-BCE020721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228850"/>
            <a:ext cx="51054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为什么还要检查 z₁？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902587-2E7C-450E-AE07-E2B37594B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6860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z₁ = 1 属于 upper pair P₂ = (1, 2)。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1EEE40C-BC60-48B3-B8F5-C25F79D85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0670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1" i="0">
                <a:solidFill>
                  <a:srgbClr val="102A43"/>
                </a:solidFill>
              </a:defRPr>
            </a:pPr>
            <a:r>
              <a:rPr sz="1650" b="1" i="0">
                <a:solidFill>
                  <a:srgbClr val="102A43"/>
                </a:solidFill>
              </a:rPr>
              <a:t>它不是任何 lower pair 的端点。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CD48AAC-5B90-4808-BEC0-1A2A8581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448050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它仍在有序列表 S₆ 中。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C15ABF-E84C-4AFC-BAE2-FAE4A7786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62400"/>
            <a:ext cx="5105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1" i="0">
                <a:solidFill>
                  <a:srgbClr val="E76F51"/>
                </a:solidFill>
              </a:defRPr>
            </a:pPr>
            <a:r>
              <a:rPr sz="1800" b="1" i="0">
                <a:solidFill>
                  <a:srgbClr val="E76F51"/>
                </a:solidFill>
              </a:rPr>
              <a:t>i 为奇数且 0 &lt; z₁ = 1 &lt; base anchor = 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B160CD-16A9-4FFC-B9D5-2CB16F76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410075"/>
            <a:ext cx="5105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1" i="0">
                <a:solidFill>
                  <a:srgbClr val="2A9D8F"/>
                </a:solidFill>
              </a:defRPr>
            </a:pPr>
            <a:r>
              <a:rPr sz="1725" b="1" i="0">
                <a:solidFill>
                  <a:srgbClr val="2A9D8F"/>
                </a:solidFill>
              </a:rPr>
              <a:t>最终输出 anchor：z₁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7DEBA1-AD63-48AC-B58F-A6585C556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972050"/>
            <a:ext cx="52578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2405562-6272-4395-BFAE-8A1C2DF5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E76F51"/>
                </a:solidFill>
              </a:defRPr>
            </a:pPr>
            <a:r>
              <a:rPr sz="1575" b="1" i="0">
                <a:solidFill>
                  <a:srgbClr val="E76F51"/>
                </a:solidFill>
              </a:rPr>
              <a:t>省略修正时（错误插入示意）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01454D7-FA7D-4717-9C16-CC4A17D3E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6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将 0 插在 2 前 → [1, 0, 2, 3, 4, 6, 7]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A21BC6B-259D-4342-8C0C-7598779D38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972050"/>
            <a:ext cx="5257800" cy="990600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25C61AF-19A3-4A0F-9A9E-99AC414A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95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75" b="1" i="0">
                <a:solidFill>
                  <a:srgbClr val="2A9D8F"/>
                </a:solidFill>
              </a:defRPr>
            </a:pPr>
            <a:r>
              <a:rPr sz="1575" b="1" i="0">
                <a:solidFill>
                  <a:srgbClr val="2A9D8F"/>
                </a:solidFill>
              </a:rPr>
              <a:t>修正后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0223CDB-9240-4D85-9911-DECDB6FED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46735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650" b="0" i="0">
                <a:solidFill>
                  <a:srgbClr val="243B53"/>
                </a:solidFill>
              </a:defRPr>
            </a:pPr>
            <a:r>
              <a:rPr sz="1650" b="0" i="0">
                <a:solidFill>
                  <a:srgbClr val="243B53"/>
                </a:solidFill>
              </a:rPr>
              <a:t>将 0 插在 z₁ 前 → [0, 1, 2, 3, 4, 6, 7]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E271865-A5A5-4E06-9207-DD6503843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15050"/>
            <a:ext cx="10744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826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 i="0">
                <a:solidFill>
                  <a:srgbClr val="102A43"/>
                </a:solidFill>
              </a:defRPr>
            </a:pPr>
            <a:r>
              <a:rPr sz="1575" b="1" i="0">
                <a:solidFill>
                  <a:srgbClr val="102A43"/>
                </a:solidFill>
              </a:rPr>
              <a:t>只修正输出 anchor，不替代先前的 boundary-pair selection。</a:t>
            </a:r>
          </a:p>
        </p:txBody>
      </p:sp>
    </p:spTree>
    <p:extLst>
      <p:ext uri="{BB962C8B-B14F-4D97-AF65-F5344CB8AC3E}">
        <p14:creationId xmlns:p14="http://schemas.microsoft.com/office/powerpoint/2010/main" val="1882387075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D54D596-F3FC-4A73-A1FC-1A5CCF237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维护状态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7FCF6D-EC93-4D6E-9C5B-6EDD739E3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Ownership 安全的拆分与转移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94DA6C-4F11-44A2-A608-0700BD007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D18BC9-5609-4C90-A01F-63AFFFAF1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6C86AC6-A613-41F3-957D-C57F3AC12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C45411-DFBB-452D-A6A4-7415824BA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10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36C93DA-0F5C-4879-BA19-131B281C8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28750"/>
            <a:ext cx="6248400" cy="4000500"/>
          </a:xfrm>
          <a:prstGeom xmlns:a="http://schemas.openxmlformats.org/drawingml/2006/main" prst="roundRect">
            <a:avLst>
              <a:gd name="adj" fmla="val 190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9465D2-25CD-496D-BCE7-767399FCE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619250"/>
            <a:ext cx="5772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局部拆分与 ownership 转移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51F7EE-91BE-4054-BF6D-F4316A710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526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7B8794"/>
                </a:solidFill>
              </a:defRPr>
            </a:pPr>
            <a:r>
              <a:rPr sz="1350" b="1" i="0">
                <a:solidFill>
                  <a:srgbClr val="7B8794"/>
                </a:solidFill>
              </a:rPr>
              <a:t>之前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63E281-28BB-485D-884C-D8787BF86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76450"/>
            <a:ext cx="15621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CD30A88-415D-4A39-A1D5-6A863DB96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1526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原 owner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F3EBB-63DC-4662-B765-FA60195599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152650"/>
            <a:ext cx="666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拥有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902CE60-DC94-46C2-8C76-D816F5650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019300"/>
            <a:ext cx="2095500" cy="60960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52606D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9D152-056B-4C11-8EB8-DFC0C3C9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114550"/>
            <a:ext cx="18669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43B53"/>
                </a:solidFill>
              </a:defRPr>
            </a:pPr>
            <a:r>
              <a:rPr sz="1350" b="1" i="0">
                <a:solidFill>
                  <a:srgbClr val="243B53"/>
                </a:solidFill>
              </a:rPr>
              <a:t>保留部分  |  获得部分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5431B4B-9A17-4221-AD8C-1BEB98E93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876550"/>
            <a:ext cx="238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76F51"/>
                </a:solidFill>
              </a:defRPr>
            </a:pPr>
            <a:r>
              <a:rPr sz="1500" b="1" i="0">
                <a:solidFill>
                  <a:srgbClr val="E76F51"/>
                </a:solidFill>
              </a:rPr>
              <a:t>拆分 + 转移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AE9284A-398F-401D-A999-BD3FCA0A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3200400"/>
            <a:ext cx="6858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3371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550" b="1" i="0">
                <a:solidFill>
                  <a:srgbClr val="E76F51"/>
                </a:solidFill>
              </a:defRPr>
            </a:pPr>
            <a:r>
              <a:rPr sz="2550" b="1" i="0">
                <a:solidFill>
                  <a:srgbClr val="E76F51"/>
                </a:solidFill>
              </a:rPr>
              <a:t>↓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D8B432-D260-41B6-A877-3F9ACC71C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14750"/>
            <a:ext cx="876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350" b="1" i="0">
                <a:solidFill>
                  <a:srgbClr val="7B8794"/>
                </a:solidFill>
              </a:defRPr>
            </a:pPr>
            <a:r>
              <a:rPr sz="1350" b="1" i="0">
                <a:solidFill>
                  <a:srgbClr val="7B8794"/>
                </a:solidFill>
              </a:rPr>
              <a:t>之后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ECBD11-8C86-4339-B5B7-B73689788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638550"/>
            <a:ext cx="15621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349E29-D777-41D0-AA9F-E5038E590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71475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102A43"/>
                </a:solidFill>
              </a:defRPr>
            </a:pPr>
            <a:r>
              <a:rPr sz="1425" b="1" i="0">
                <a:solidFill>
                  <a:srgbClr val="102A43"/>
                </a:solidFill>
              </a:rPr>
              <a:t>原 owner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0E3BA3-F2E8-4169-BC8F-B6DB1C98F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71475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52606D"/>
                </a:solidFill>
              </a:defRPr>
            </a:pPr>
            <a:r>
              <a:rPr sz="1800" b="1" i="0">
                <a:solidFill>
                  <a:srgbClr val="52606D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0BE661-EB07-42E1-85D3-2B909787C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3638550"/>
            <a:ext cx="13906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102A7DA-47BA-49B1-A585-34CFDF8E8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71475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保留部分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9385BF9-8906-4B47-8B2C-5EE4C5F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381500"/>
            <a:ext cx="15621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CC0A65-BACA-4FAA-8EFD-C3708C8CE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4457700"/>
            <a:ext cx="1371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2A9D8F"/>
                </a:solidFill>
              </a:defRPr>
            </a:pPr>
            <a:r>
              <a:rPr sz="1425" b="1" i="0">
                <a:solidFill>
                  <a:srgbClr val="2A9D8F"/>
                </a:solidFill>
              </a:rPr>
              <a:t>新 owner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FE5D5D-90C7-407D-BFD6-5920C7AC1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4457700"/>
            <a:ext cx="5143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2A9D8F"/>
                </a:solidFill>
              </a:defRPr>
            </a:pPr>
            <a:r>
              <a:rPr sz="1800" b="1" i="0">
                <a:solidFill>
                  <a:srgbClr val="2A9D8F"/>
                </a:solidFill>
              </a:rPr>
              <a:t>→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244710-A9E2-445F-A1D3-6556F15A6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4381500"/>
            <a:ext cx="139065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EE874C-7992-44D2-8DB2-3165DB6F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4457700"/>
            <a:ext cx="1200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获得部分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8987646-95D9-4F43-9D1A-738A6E720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010150"/>
            <a:ext cx="5257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只有 acquired 的非空片段改变 parent ownership。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67A850A-FEA6-4F95-82C1-D0C5A43B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14478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维护状态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66CC3D7-1DD3-4D89-9541-8857EDF0F3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2882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DA84FAF-62D9-4897-AC5A-ACA28917E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1952625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已处理前缀的排序结果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5896D2-2C4F-41C8-BAF4-1134F8E04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4574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F46D843-9631-4F02-A360-427C96AEB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381250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upper / lower pair family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B935E46-309E-4A8D-AC80-E75252756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886075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439712C-0C7D-48E0-90B1-9F6CAE188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809875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每个有限 pair 仅有一个 parent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5B71E1E7-EF31-4DA0-8572-5055F0925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331470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0">
            <a:solidFill>
              <a:srgbClr val="2A9D8F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8FDCB1C-A2A8-420D-B6F0-2E879BE8D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238500"/>
            <a:ext cx="369570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每个有限 pair 仅有一个 sibling-list owner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D4B7B86-E31E-46AB-97EA-DCA82190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3886200"/>
            <a:ext cx="3714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75" b="1" i="0">
                <a:solidFill>
                  <a:srgbClr val="2A9D8F"/>
                </a:solidFill>
              </a:defRPr>
            </a:pPr>
            <a:r>
              <a:rPr sz="1875" b="1" i="0">
                <a:solidFill>
                  <a:srgbClr val="2A9D8F"/>
                </a:solidFill>
              </a:rPr>
              <a:t>事务式更新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A5787EC4-D154-4689-8A22-9C7E53D50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4324350"/>
            <a:ext cx="3905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保存状态  →  拆分  →  转移  →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检查后置条件  →  失败时回滚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F2CFA9C-D15D-450B-B18C-C165D2649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15000"/>
            <a:ext cx="10058400" cy="476250"/>
          </a:xfrm>
          <a:prstGeom xmlns:a="http://schemas.openxmlformats.org/drawingml/2006/main" prst="roundRect">
            <a:avLst>
              <a:gd name="adj" fmla="val 12000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3B5AEA-72D8-4C34-AE28-C75B0228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762625"/>
            <a:ext cx="9753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76F51"/>
                </a:solidFill>
              </a:defRPr>
            </a:pPr>
            <a:r>
              <a:rPr sz="1500" b="1" i="0">
                <a:solidFill>
                  <a:srgbClr val="E76F51"/>
                </a:solidFill>
              </a:rPr>
              <a:t>普通列表使扫描、复制、切片与 ownership 重新绑定成为明确成本。</a:t>
            </a:r>
          </a:p>
        </p:txBody>
      </p:sp>
    </p:spTree>
    <p:extLst>
      <p:ext uri="{BB962C8B-B14F-4D97-AF65-F5344CB8AC3E}">
        <p14:creationId xmlns:p14="http://schemas.microsoft.com/office/powerpoint/2010/main" val="543944524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319BA47-7323-4840-A7FC-5AACE79E3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验证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7EE91A-A99E-44AF-9B4E-608AFECE9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实现检查与实验一致性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443379-36FE-4595-A17D-C25932295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B242C3-A016-4572-BDD0-E3E27DB46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3C1336-EA23-4F7D-8EDA-5D1A3799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5C3392-5B82-404A-8238-3C0D70363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11 / 16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2AC86B-2CC7-4F0F-B20E-61027C928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504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187A84"/>
                </a:solidFill>
              </a:defRPr>
            </a:pPr>
            <a:r>
              <a:rPr sz="1125" b="1">
                <a:solidFill>
                  <a:srgbClr val="187A84"/>
                </a:solidFill>
              </a:rPr>
              <a:t>实现与状态验证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7FFC9D5-1FEB-4283-8ED5-4FE4D3D58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150495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125" b="1">
                <a:solidFill>
                  <a:srgbClr val="D36B4A"/>
                </a:solidFill>
              </a:defRPr>
            </a:pPr>
            <a:r>
              <a:rPr sz="1125" b="1">
                <a:solidFill>
                  <a:srgbClr val="D36B4A"/>
                </a:solidFill>
              </a:rPr>
              <a:t>实验输出检查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FB28C63-E5E9-48EA-9738-6109E5CAE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924050"/>
            <a:ext cx="4476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1430">
            <a:solidFill>
              <a:srgbClr val="187A8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0ABBBD4-F6B7-4D85-A16C-577D178D5C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0002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43746"/>
                </a:solidFill>
              </a:defRPr>
            </a:pPr>
            <a:r>
              <a:rPr sz="1500" b="0">
                <a:solidFill>
                  <a:srgbClr val="243746"/>
                </a:solidFill>
              </a:rPr>
              <a:t>重点回归用例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E089FC-ECB9-45AD-B60A-E8AE35983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505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7A84"/>
                </a:solidFill>
              </a:defRPr>
            </a:pPr>
            <a:r>
              <a:rPr sz="1950" b="1">
                <a:solidFill>
                  <a:srgbClr val="187A84"/>
                </a:solidFill>
              </a:rPr>
              <a:t>↓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DC4DF5D-8874-4618-96BF-42EB87987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00350"/>
            <a:ext cx="447675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1430">
            <a:solidFill>
              <a:srgbClr val="187A8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56ED2C9-F25D-48F5-8F3C-DBE96999C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876550"/>
            <a:ext cx="4171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3746"/>
                </a:solidFill>
              </a:defRPr>
            </a:pPr>
            <a:r>
              <a:rPr sz="1350" b="1">
                <a:solidFill>
                  <a:srgbClr val="243746"/>
                </a:solidFill>
              </a:rPr>
              <a:t>有界穷举验证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>
                <a:solidFill>
                  <a:srgbClr val="243746"/>
                </a:solidFill>
              </a:defRPr>
            </a:pPr>
            <a:r>
              <a:rPr sz="1350" b="1">
                <a:solidFill>
                  <a:srgbClr val="243746"/>
                </a:solidFill>
              </a:rPr>
              <a:t>2,074 个 oracle-valid 排列，n ≤ 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C879051-7F58-4C2E-936A-C894B4016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5282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7A84"/>
                </a:solidFill>
              </a:defRPr>
            </a:pPr>
            <a:r>
              <a:rPr sz="1950" b="1">
                <a:solidFill>
                  <a:srgbClr val="187A84"/>
                </a:solidFill>
              </a:rPr>
              <a:t>↓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2ACB93E-B5CC-4978-A889-5E845A2AD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829050"/>
            <a:ext cx="4476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1430">
            <a:solidFill>
              <a:srgbClr val="187A8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5C337C-405F-4619-BDB3-A62D2EE00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052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43746"/>
                </a:solidFill>
              </a:defRPr>
            </a:pPr>
            <a:r>
              <a:rPr sz="1500" b="0">
                <a:solidFill>
                  <a:srgbClr val="243746"/>
                </a:solidFill>
              </a:rPr>
              <a:t>checked-state audit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CF3D8E6-9A1D-4F82-A68D-EF77417A2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410075"/>
            <a:ext cx="6858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7326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7A84"/>
                </a:solidFill>
              </a:defRPr>
            </a:pPr>
            <a:r>
              <a:rPr sz="1950" b="1">
                <a:solidFill>
                  <a:srgbClr val="187A84"/>
                </a:solidFill>
              </a:rPr>
              <a:t>↓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1B1B55-D0A6-4C42-8CC6-3B0D9FB8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5350"/>
            <a:ext cx="4476750" cy="609600"/>
          </a:xfrm>
          <a:prstGeom xmlns:a="http://schemas.openxmlformats.org/drawingml/2006/main" prst="roundRect">
            <a:avLst>
              <a:gd name="adj" fmla="val 10938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1430">
            <a:solidFill>
              <a:srgbClr val="187A8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88503C1-7D0A-4046-B4C2-54179F3C0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781550"/>
            <a:ext cx="41719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0">
                <a:solidFill>
                  <a:srgbClr val="243746"/>
                </a:solidFill>
              </a:defRPr>
            </a:pPr>
            <a:r>
              <a:rPr sz="1500" b="0">
                <a:solidFill>
                  <a:srgbClr val="243746"/>
                </a:solidFill>
              </a:rPr>
              <a:t>同一 core 的确定性重放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94829F8-9718-478C-8E9D-220D28AAE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209800"/>
            <a:ext cx="4476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14288">
            <a:solidFill>
              <a:srgbClr val="D36B4A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4D1B5C1-01A3-4A67-809F-203B17D651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2686050"/>
            <a:ext cx="379095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>
                <a:solidFill>
                  <a:srgbClr val="243746"/>
                </a:solidFill>
              </a:defRPr>
            </a:pPr>
            <a:r>
              <a:rPr sz="1725" b="1">
                <a:solidFill>
                  <a:srgbClr val="243746"/>
                </a:solidFill>
              </a:rPr>
              <a:t>另一条验证路径确认保存的输出与固定实验设置及重算汇总一致。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D7D38EBF-ACA1-4562-BC5D-46BF627F7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4819650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>
                <a:solidFill>
                  <a:srgbClr val="5A6B78"/>
                </a:solidFill>
              </a:defRPr>
            </a:pPr>
            <a:r>
              <a:rPr sz="1275" b="0">
                <a:solidFill>
                  <a:srgbClr val="5A6B78"/>
                </a:solidFill>
              </a:rPr>
              <a:t>完整一致性检查：见备用 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29B41B06-6625-435A-BF3F-D66B7B9A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5810250"/>
            <a:ext cx="9525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75" b="1">
                <a:solidFill>
                  <a:srgbClr val="18324A"/>
                </a:solidFill>
              </a:defRPr>
            </a:pPr>
            <a:r>
              <a:rPr sz="1575" b="1">
                <a:solidFill>
                  <a:srgbClr val="18324A"/>
                </a:solidFill>
              </a:rPr>
              <a:t>这些检查支持已评估用例，但不是对全部 Jordan sequence 的证明。</a:t>
            </a:r>
          </a:p>
        </p:txBody>
      </p:sp>
    </p:spTree>
    <p:extLst>
      <p:ext uri="{BB962C8B-B14F-4D97-AF65-F5344CB8AC3E}">
        <p14:creationId xmlns:p14="http://schemas.microsoft.com/office/powerpoint/2010/main" val="67474686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513CB37-DA34-4751-88AB-218061CF30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实验方法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AEC88A-EFF0-43DA-A58E-B87C1A40F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正式实验将认证与 audit 保持在 paper 计时之外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DAE531-EA4D-4099-BF4B-3F1A3F9B4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4BA395-BE0A-4CEB-AD20-FBD5B0CB1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B9FA0F-BB4F-4BCF-89E1-B0BD76709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40EB72-74A2-4179-85E3-779D64FC2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12 / 16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6BBE21-D32F-40B1-B05A-4D23DEF22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409700"/>
            <a:ext cx="107442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1E696-1EAA-44AC-9EBE-349DBC716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504950"/>
            <a:ext cx="69342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5 个规模  ×  12 个用例  ×  3 个算法  ×  20 次重复调用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CF5983-0D24-409A-8414-E26BB58AE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504950"/>
            <a:ext cx="3105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2A9D8F"/>
                </a:solidFill>
              </a:defRPr>
            </a:pPr>
            <a:r>
              <a:rPr sz="1875" b="1" i="0">
                <a:solidFill>
                  <a:srgbClr val="2A9D8F"/>
                </a:solidFill>
              </a:rPr>
              <a:t>3,600 条测量记录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F9F505A-199E-43D8-8C96-B3679D18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02961-B189-4A46-AD65-366F3E87D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生成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B2E503-6EF9-497C-A58F-2C1CEE7A6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E9872B-EE64-402E-B56B-32C93B1FC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认证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05ABC9-E819-410D-BE60-05CED788A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3C06668-2780-45A9-B13D-2EEECD0C7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checked-state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125" b="1" i="0">
                <a:solidFill>
                  <a:srgbClr val="102A43"/>
                </a:solidFill>
              </a:defRPr>
            </a:pPr>
            <a:r>
              <a:rPr sz="1125" b="1" i="0">
                <a:solidFill>
                  <a:srgbClr val="102A43"/>
                </a:solidFill>
              </a:rPr>
              <a:t>audit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D9768F3-4760-4F54-9AB5-831EDA803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0E525-8303-4625-9FFA-98198A5DF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673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预热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71190D-773E-4E3B-A490-F55133B09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965313-1BE3-40BE-8873-B0B89494F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76F51"/>
                </a:solidFill>
              </a:defRPr>
            </a:pPr>
            <a:r>
              <a:rPr sz="1350" b="1" i="0">
                <a:solidFill>
                  <a:srgbClr val="E76F51"/>
                </a:solidFill>
              </a:rPr>
              <a:t>测量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0A879CC-45EC-4C47-A508-523E3174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D9F07F-BD45-407B-8B8F-65CD2DF7A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汇总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5928DA0-978E-4180-86B2-6711DBDC4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2647950"/>
            <a:ext cx="1295400" cy="781050"/>
          </a:xfrm>
          <a:prstGeom xmlns:a="http://schemas.openxmlformats.org/drawingml/2006/main" prst="roundRect">
            <a:avLst>
              <a:gd name="adj" fmla="val 853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52606D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2ECAB2A-9BC3-43EB-A0B9-25728678A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762250"/>
            <a:ext cx="114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验证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并归档</a:t>
            </a:r>
          </a:p>
        </p:txBody>
      </p:sp>
      <p:cxnSp>
        <p:nvCxnSpPr>
          <p:cNvPr id="268" name=""/>
          <p:cNvCxnSpPr>
            <a:stCxn xmlns:a="http://schemas.openxmlformats.org/drawingml/2006/main" id="10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20002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269" name=""/>
          <p:cNvCxnSpPr>
            <a:stCxn xmlns:a="http://schemas.openxmlformats.org/drawingml/2006/main" id="12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35623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270" name=""/>
          <p:cNvCxnSpPr>
            <a:stCxn xmlns:a="http://schemas.openxmlformats.org/drawingml/2006/main" id="14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51244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271" name=""/>
          <p:cNvCxnSpPr>
            <a:stCxn xmlns:a="http://schemas.openxmlformats.org/drawingml/2006/main" id="16" idx="3"/>
            <a:endCxn xmlns:a="http://schemas.openxmlformats.org/drawingml/2006/main" id="18" idx="1"/>
          </p:cNvCxnSpPr>
          <p:nvPr/>
        </p:nvCxnSpPr>
        <p:spPr>
          <a:xfrm xmlns:a="http://schemas.openxmlformats.org/drawingml/2006/main">
            <a:off x="66865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272" name=""/>
          <p:cNvCxnSpPr>
            <a:stCxn xmlns:a="http://schemas.openxmlformats.org/drawingml/2006/main" id="18" idx="3"/>
            <a:endCxn xmlns:a="http://schemas.openxmlformats.org/drawingml/2006/main" id="20" idx="1"/>
          </p:cNvCxnSpPr>
          <p:nvPr/>
        </p:nvCxnSpPr>
        <p:spPr>
          <a:xfrm xmlns:a="http://schemas.openxmlformats.org/drawingml/2006/main">
            <a:off x="82486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cxnSp>
        <p:nvCxnSpPr>
          <p:cNvPr id="273" name=""/>
          <p:cNvCxnSpPr>
            <a:stCxn xmlns:a="http://schemas.openxmlformats.org/drawingml/2006/main" id="20" idx="3"/>
            <a:endCxn xmlns:a="http://schemas.openxmlformats.org/drawingml/2006/main" id="22" idx="1"/>
          </p:cNvCxnSpPr>
          <p:nvPr/>
        </p:nvCxnSpPr>
        <p:spPr>
          <a:xfrm xmlns:a="http://schemas.openxmlformats.org/drawingml/2006/main">
            <a:off x="9810750" y="3038475"/>
            <a:ext cx="266700" cy="0"/>
          </a:xfrm>
          <a:prstGeom xmlns:a="http://schemas.openxmlformats.org/drawingml/2006/main" prst="straightConnector1">
            <a:avLst/>
          </a:prstGeom>
          <a:ln xmlns:a="http://schemas.openxmlformats.org/drawingml/2006/main" w="15240">
            <a:solidFill>
              <a:srgbClr val="52606D"/>
            </a:solidFill>
            <a:prstDash val="solid"/>
            <a:tailEnd type="arrow" w="sm" len="sm"/>
          </a:ln>
        </p:spPr>
      </p:cxn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202C37E-C549-473E-A259-B150B9D56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05250"/>
            <a:ext cx="3219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205807-069E-4ACF-9BFA-CA4F68F8C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386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认证位于 paper 计时之外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F133856-D029-46CA-A7C4-21C4CC128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958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有效输入前置条件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C4ED589-E1D5-4A8C-A2F1-E0CE9E4CD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05250"/>
            <a:ext cx="3219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D56A79E-3C0E-40C2-A0F8-E56B1B95A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0386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568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2A9D8F"/>
                </a:solidFill>
              </a:defRPr>
            </a:pPr>
            <a:r>
              <a:rPr sz="1350" b="1" i="0">
                <a:solidFill>
                  <a:srgbClr val="2A9D8F"/>
                </a:solidFill>
              </a:rPr>
              <a:t>checked-state audit 位于 paper 计时之外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7E6967C-C3F2-4372-A6A3-72ECC81B1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44958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每个 exact case 一次 audit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1DE5C6B-DECE-4C66-8AA9-9F946F9D6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905250"/>
            <a:ext cx="32194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434034-BDB1-4C52-AED5-C22E5C76D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4038600"/>
            <a:ext cx="29146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76F51"/>
                </a:solidFill>
              </a:defRPr>
            </a:pPr>
            <a:r>
              <a:rPr sz="1350" b="1" i="0">
                <a:solidFill>
                  <a:srgbClr val="E76F51"/>
                </a:solidFill>
              </a:rPr>
              <a:t>minimal paper call 位于计时内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DDFCE0F-57C8-4CB7-AB36-B0DAF29A7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8765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输出恢复仍在计时内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0190A84-3B4B-4B68-96A0-2BA5EDE18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24450"/>
            <a:ext cx="9906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0" i="0">
                <a:solidFill>
                  <a:srgbClr val="52606D"/>
                </a:solidFill>
              </a:defRPr>
            </a:pPr>
            <a:r>
              <a:rPr sz="1350" b="0" i="0">
                <a:solidFill>
                  <a:srgbClr val="52606D"/>
                </a:solidFill>
              </a:rPr>
              <a:t>Reference 计时包含完整 oracle-backed pipeline。Python 计时覆盖完整排序调用。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FCCBD22-FAAE-4FBE-B581-D26DB2E21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5581650"/>
            <a:ext cx="8153400" cy="4953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9570EB9-4BFA-43BC-BD53-C33383E76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38800"/>
            <a:ext cx="781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E76F51"/>
                </a:solidFill>
              </a:defRPr>
            </a:pPr>
            <a:r>
              <a:rPr sz="1350" b="1" i="0">
                <a:solidFill>
                  <a:srgbClr val="E76F51"/>
                </a:solidFill>
              </a:rPr>
              <a:t>Paper 与 reference 使用不同计时范围，因此该比值不是端到端加速。</a:t>
            </a:r>
          </a:p>
        </p:txBody>
      </p:sp>
    </p:spTree>
    <p:extLst>
      <p:ext uri="{BB962C8B-B14F-4D97-AF65-F5344CB8AC3E}">
        <p14:creationId xmlns:p14="http://schemas.microsoft.com/office/powerpoint/2010/main" val="57932194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F618C5-8E2E-47EE-B3D6-8F8EE276C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AF14AC5-B546-4912-BC78-A1FC5EBC3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全部 60 个评估用例均返回正确输出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3EBB64-9700-4695-A3FF-27D283CF1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E14B0-2FAF-4AE3-A373-198079B3A1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425ADC-C883-4EF3-9401-274BCEAA7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FC0480-C3E3-4650-A8DD-CA1DCC6F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13 / 16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92E646C-9784-4D02-8670-7391E6743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6764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400" b="1">
                <a:solidFill>
                  <a:srgbClr val="187A84"/>
                </a:solidFill>
              </a:defRPr>
            </a:pPr>
            <a:r>
              <a:rPr sz="5400" b="1">
                <a:solidFill>
                  <a:srgbClr val="187A84"/>
                </a:solidFill>
              </a:rPr>
              <a:t>60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76F15B7-CA4A-48D4-8A71-A9F38309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324A"/>
                </a:solidFill>
              </a:defRPr>
            </a:pPr>
            <a:r>
              <a:rPr sz="1950" b="1">
                <a:solidFill>
                  <a:srgbClr val="18324A"/>
                </a:solidFill>
              </a:rPr>
              <a:t>exact cases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110DA7-BA4A-49C9-93D3-BC17A6422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1676400"/>
            <a:ext cx="3905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5400" b="1">
                <a:solidFill>
                  <a:srgbClr val="2E8B57"/>
                </a:solidFill>
              </a:defRPr>
            </a:pPr>
            <a:r>
              <a:rPr sz="5400" b="1">
                <a:solidFill>
                  <a:srgbClr val="2E8B57"/>
                </a:solidFill>
              </a:rPr>
              <a:t>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FF574DA-5C2F-45F9-BC3E-D6A8278BB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47950"/>
            <a:ext cx="3905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324A"/>
                </a:solidFill>
              </a:defRPr>
            </a:pPr>
            <a:r>
              <a:rPr sz="1950" b="1">
                <a:solidFill>
                  <a:srgbClr val="18324A"/>
                </a:solidFill>
              </a:rPr>
              <a:t>记录的正确性错误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066514-866D-4E7E-B31F-BC89F3DF3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107442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CBD5D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A5421D-19F9-4626-B39F-1F9000DBF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638550"/>
            <a:ext cx="91440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75" b="1">
                <a:solidFill>
                  <a:srgbClr val="18324A"/>
                </a:solidFill>
              </a:defRPr>
            </a:pPr>
            <a:r>
              <a:rPr sz="2175" b="1">
                <a:solidFill>
                  <a:srgbClr val="18324A"/>
                </a:solidFill>
              </a:rPr>
              <a:t>每个用例均在计时前完成 oracle 认证和一次检查。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258502F-41A3-4522-950E-39D6E3A70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514850"/>
            <a:ext cx="90297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EAF1F8"/>
          </a:solidFill>
          <a:ln xmlns:a="http://schemas.openxmlformats.org/drawingml/2006/main" w="14288">
            <a:solidFill>
              <a:srgbClr val="18324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37DC4E0-6AFC-4906-B04A-E3F5609F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686300"/>
            <a:ext cx="84963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650" b="0">
                <a:solidFill>
                  <a:srgbClr val="243746"/>
                </a:solidFill>
              </a:defRPr>
            </a:pPr>
            <a:r>
              <a:rPr sz="1650" b="0">
                <a:solidFill>
                  <a:srgbClr val="243746"/>
                </a:solidFill>
              </a:rPr>
              <a:t>3,600 条计时记录携带对应的 case-level audit 结果。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59FC4B-1354-43F8-8063-89005C000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5772150"/>
            <a:ext cx="9220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D36B4A"/>
                </a:solidFill>
              </a:defRPr>
            </a:pPr>
            <a:r>
              <a:rPr sz="1500" b="1">
                <a:solidFill>
                  <a:srgbClr val="D36B4A"/>
                </a:solidFill>
              </a:rPr>
              <a:t>这些结果仅覆盖本次测试的有效用例。</a:t>
            </a:r>
          </a:p>
        </p:txBody>
      </p:sp>
    </p:spTree>
    <p:extLst>
      <p:ext uri="{BB962C8B-B14F-4D97-AF65-F5344CB8AC3E}">
        <p14:creationId xmlns:p14="http://schemas.microsoft.com/office/powerpoint/2010/main" val="633270109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F9024E2-BC7E-421E-A918-A7A3090D0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结果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638B7AC-ACBC-4792-8BBB-94198C84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paper/reference 比值随五个测试规模下降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E4509C-23BE-4BC0-B4A3-902578197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EA896B0-434D-46C8-98A3-1F51D3C55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BEA2DB-0DDC-4BDB-A9DC-8EA4147D5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4826FA-B7C4-4F55-9343-BA076408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14 / 16</a:t>
            </a:r>
          </a:p>
        </p:txBody>
      </p:sp>
      <p:graphicFrame>
        <p:nvGraphicFramePr>
          <p:cNvPr id="27" name="Chart"/>
          <p:cNvGraphicFramePr/>
          <p:nvPr/>
        </p:nvGraphicFramePr>
        <p:xfrm>
          <a:off xmlns:a="http://schemas.openxmlformats.org/drawingml/2006/main" x="647700" y="1409700"/>
          <a:ext xmlns:a="http://schemas.openxmlformats.org/drawingml/2006/main" cx="6858000" cy="4095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2bda0ec29d9d4bfa"/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543DFB3-6032-4EE7-A8E5-E7EB0EF44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152400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B1C30F-2E01-43DF-8C75-71DD049BE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3830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2A9D8F"/>
                </a:solidFill>
              </a:defRPr>
            </a:pPr>
            <a:r>
              <a:rPr sz="2850" b="1" i="0">
                <a:solidFill>
                  <a:srgbClr val="2A9D8F"/>
                </a:solidFill>
              </a:rPr>
              <a:t>3.226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998DE55-0D9E-447F-A52D-42DCB3586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175260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n = 32 时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81198-8D25-4B06-8E6E-0CB38F26E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86050"/>
            <a:ext cx="3333750" cy="990600"/>
          </a:xfrm>
          <a:prstGeom xmlns:a="http://schemas.openxmlformats.org/drawingml/2006/main" prst="roundRect">
            <a:avLst>
              <a:gd name="adj" fmla="val 7692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6AC3B2-0203-45C6-9F04-DDA21FC24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800350"/>
            <a:ext cx="12001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850" b="1" i="0">
                <a:solidFill>
                  <a:srgbClr val="E76F51"/>
                </a:solidFill>
              </a:defRPr>
            </a:pPr>
            <a:r>
              <a:rPr sz="2850" b="1" i="0">
                <a:solidFill>
                  <a:srgbClr val="E76F51"/>
                </a:solidFill>
              </a:rPr>
              <a:t>0.567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70CD2E-9ED9-4A39-8AEA-0D7813CB8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14650"/>
            <a:ext cx="1676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500" b="0" i="0">
                <a:solidFill>
                  <a:srgbClr val="243B53"/>
                </a:solidFill>
              </a:defRPr>
            </a:pPr>
            <a:r>
              <a:rPr sz="1500" b="0" i="0">
                <a:solidFill>
                  <a:srgbClr val="243B53"/>
                </a:solidFill>
              </a:rPr>
              <a:t>n = 512 时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A85DF50-7041-4223-86FE-33A2D7D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3981450"/>
            <a:ext cx="33337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B46C1C1-EF2E-4B90-A50A-7FEC47599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114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99206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1" i="0">
                <a:solidFill>
                  <a:srgbClr val="102A43"/>
                </a:solidFill>
              </a:defRPr>
            </a:pPr>
            <a:r>
              <a:rPr sz="1800" b="1" i="0">
                <a:solidFill>
                  <a:srgbClr val="102A43"/>
                </a:solidFill>
              </a:rPr>
              <a:t>观测到的交叉点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9B3E80-E1E6-4904-983B-18F5950AF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533900"/>
            <a:ext cx="29146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位于测试规模 128 与 256 之间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FCFDCA-B2A3-4DE1-A0E9-D5AD66CCD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5391150"/>
            <a:ext cx="3543300" cy="647700"/>
          </a:xfrm>
          <a:prstGeom xmlns:a="http://schemas.openxmlformats.org/drawingml/2006/main" prst="roundRect">
            <a:avLst>
              <a:gd name="adj" fmla="val 8824"/>
            </a:avLst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102A43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1AFA51-13FB-47AB-BE23-FD3E1B9195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5486400"/>
            <a:ext cx="32004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五个规模  |  普通列表  |  不同计时范围</a:t>
            </a:r>
          </a:p>
        </p:txBody>
      </p:sp>
    </p:spTree>
    <p:extLst>
      <p:ext uri="{BB962C8B-B14F-4D97-AF65-F5344CB8AC3E}">
        <p14:creationId xmlns:p14="http://schemas.microsoft.com/office/powerpoint/2010/main" val="115269415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DA3F62F-CF26-4DDA-85E3-2C743974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结果解释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0B9F2B-ED66-459E-9299-0A273B965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当前证据说明了什么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222F51-51C4-4FD8-AA24-24F7B6784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5CAF263-2F5B-478A-9689-F6F309D5B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2F05FB-58DC-4BCA-A728-256A6AFFC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8BBFBA-0FA7-4699-B755-31DB7E824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15 / 16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6D9052C-2E4F-4905-AB39-60D4882E7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447800"/>
            <a:ext cx="51054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9050">
            <a:solidFill>
              <a:srgbClr val="187A8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678C18-6B9D-4719-A070-9770424D9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447800"/>
            <a:ext cx="5105400" cy="3848100"/>
          </a:xfrm>
          <a:prstGeom xmlns:a="http://schemas.openxmlformats.org/drawingml/2006/main" prst="roundRect">
            <a:avLst>
              <a:gd name="adj" fmla="val 1980"/>
            </a:avLst>
          </a:prstGeom>
          <a:solidFill xmlns:a="http://schemas.openxmlformats.org/drawingml/2006/main">
            <a:srgbClr val="FBEDE8"/>
          </a:solidFill>
          <a:ln xmlns:a="http://schemas.openxmlformats.org/drawingml/2006/main" w="19050">
            <a:solidFill>
              <a:srgbClr val="D36B4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F786850-49F2-4FD7-A417-F5C877BB6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1695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187A84"/>
                </a:solidFill>
              </a:defRPr>
            </a:pPr>
            <a:r>
              <a:rPr sz="1950" b="1">
                <a:solidFill>
                  <a:srgbClr val="187A84"/>
                </a:solidFill>
              </a:rPr>
              <a:t>当前结果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76A3770-411E-4E00-8193-2A2DD1746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1695450"/>
            <a:ext cx="4572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950" b="1">
                <a:solidFill>
                  <a:srgbClr val="D36B4A"/>
                </a:solidFill>
              </a:defRPr>
            </a:pPr>
            <a:r>
              <a:rPr sz="1950" b="1">
                <a:solidFill>
                  <a:srgbClr val="D36B4A"/>
                </a:solidFill>
              </a:rPr>
              <a:t>主要限制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02EEEF3-04F7-4552-BB38-0C829EAC7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84"/>
          </a:solidFill>
          <a:ln xmlns:a="http://schemas.openxmlformats.org/drawingml/2006/main" w="0">
            <a:solidFill>
              <a:srgbClr val="187A84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032722B-3F7D-4D1D-B524-8971777C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571750"/>
            <a:ext cx="4133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243746"/>
                </a:solidFill>
              </a:defRPr>
            </a:pPr>
            <a:r>
              <a:rPr sz="1650" b="0">
                <a:solidFill>
                  <a:srgbClr val="243746"/>
                </a:solidFill>
              </a:rPr>
              <a:t>可执行重构从维护状态恢复输出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063D65C-D7CF-4234-A55B-AF01D7640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7A84"/>
          </a:solidFill>
          <a:ln xmlns:a="http://schemas.openxmlformats.org/drawingml/2006/main" w="0">
            <a:solidFill>
              <a:srgbClr val="187A84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C1F941E-D16C-4A04-9479-9508A35E6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3829050"/>
            <a:ext cx="4133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243746"/>
                </a:solidFill>
              </a:defRPr>
            </a:pPr>
            <a:r>
              <a:rPr sz="1650" b="0">
                <a:solidFill>
                  <a:srgbClr val="243746"/>
                </a:solidFill>
              </a:rPr>
              <a:t>在已评估用例中得到正确输出与固定范围的运行时间趋势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8ACE35F4-0638-4969-99D0-AC153FC37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479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6B4A"/>
          </a:solidFill>
          <a:ln xmlns:a="http://schemas.openxmlformats.org/drawingml/2006/main" w="0">
            <a:solidFill>
              <a:srgbClr val="D36B4A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0DE0DC3D-E619-4D82-A371-9D1051569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571750"/>
            <a:ext cx="4133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243746"/>
                </a:solidFill>
              </a:defRPr>
            </a:pPr>
            <a:r>
              <a:rPr sz="1650" b="0">
                <a:solidFill>
                  <a:srgbClr val="243746"/>
                </a:solidFill>
              </a:rPr>
              <a:t>普通列表不能证明线性时间实现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5F0F9FA-698E-47D1-B599-0BFE20777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3905250"/>
            <a:ext cx="95250" cy="95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36B4A"/>
          </a:solidFill>
          <a:ln xmlns:a="http://schemas.openxmlformats.org/drawingml/2006/main" w="0">
            <a:solidFill>
              <a:srgbClr val="D36B4A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BFCD2CD-EEE3-43CC-8520-CCFE6F8F2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3829050"/>
            <a:ext cx="41338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0000"/>
              </a:lnSpc>
              <a:buNone/>
              <a:defRPr sz="1650" b="0">
                <a:solidFill>
                  <a:srgbClr val="243746"/>
                </a:solidFill>
              </a:defRPr>
            </a:pPr>
            <a:r>
              <a:rPr sz="1650" b="0">
                <a:solidFill>
                  <a:srgbClr val="243746"/>
                </a:solidFill>
              </a:rPr>
              <a:t>五个测试规模不能确定渐近复杂度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C61A718D-977F-4E40-899C-9AFDA2A05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715000"/>
            <a:ext cx="9334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>
                <a:solidFill>
                  <a:srgbClr val="18324A"/>
                </a:solidFill>
              </a:defRPr>
            </a:pPr>
            <a:r>
              <a:rPr sz="1500" b="1">
                <a:solidFill>
                  <a:srgbClr val="18324A"/>
                </a:solidFill>
              </a:rPr>
              <a:t>未评估 recognition；paper 与 reference 使用不同计时范围。</a:t>
            </a:r>
          </a:p>
        </p:txBody>
      </p:sp>
    </p:spTree>
    <p:extLst>
      <p:ext uri="{BB962C8B-B14F-4D97-AF65-F5344CB8AC3E}">
        <p14:creationId xmlns:p14="http://schemas.microsoft.com/office/powerpoint/2010/main" val="1162292552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67844E2-53DC-42E9-8647-FFD6FF040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2A9D8F"/>
                </a:solidFill>
              </a:defRPr>
            </a:pPr>
            <a:r>
              <a:rPr sz="900" b="1" i="0">
                <a:solidFill>
                  <a:srgbClr val="2A9D8F"/>
                </a:solidFill>
              </a:rPr>
              <a:t>下一步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FA9BCD-7F39-4B1A-81A1-44B9EC82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可能的下一步：finger-tree 后端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043D4A-1D16-434E-A3F5-228E7E03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A9D8F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97A85-3CED-4A2B-AEA9-69DFB2A91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6394242-DFB9-46DF-9F8D-63F24D493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硕士论文进度汇报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26C982-71E2-4178-BCC1-D129787DC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16 / 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F92F3BF-6FF5-4B66-8841-11B7CAF00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485900"/>
            <a:ext cx="10058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>
                <a:solidFill>
                  <a:srgbClr val="18324A"/>
                </a:solidFill>
              </a:defRPr>
            </a:pPr>
            <a:r>
              <a:rPr sz="2100" b="1">
                <a:solidFill>
                  <a:srgbClr val="18324A"/>
                </a:solidFill>
              </a:rPr>
              <a:t>普通列表实现提供了经过测试的参照点。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A76D41B-9924-4413-B459-D49FC958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38300" y="2324100"/>
            <a:ext cx="891540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E8F4F3"/>
          </a:solidFill>
          <a:ln xmlns:a="http://schemas.openxmlformats.org/drawingml/2006/main" w="14288">
            <a:solidFill>
              <a:srgbClr val="187A84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EF56FE8-44CD-450D-A51C-FEADC5455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2552700"/>
            <a:ext cx="8305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00" b="0">
                <a:solidFill>
                  <a:srgbClr val="243746"/>
                </a:solidFill>
              </a:defRPr>
            </a:pPr>
            <a:r>
              <a:rPr sz="1800" b="0">
                <a:solidFill>
                  <a:srgbClr val="243746"/>
                </a:solidFill>
              </a:rPr>
              <a:t>新后端保持相同的 Step 1/2/3 行为，只替换 sibling-list 操作。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D45627C-BF2A-45D5-BBE6-0E5EF35B9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29050"/>
            <a:ext cx="10058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>
                <a:solidFill>
                  <a:srgbClr val="187A84"/>
                </a:solidFill>
              </a:defRPr>
            </a:pPr>
            <a:r>
              <a:rPr sz="1875" b="1">
                <a:solidFill>
                  <a:srgbClr val="187A84"/>
                </a:solidFill>
              </a:rPr>
              <a:t>与导师讨论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5A6D5184-261A-4019-B19A-7FA5B0A0DA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10058400" cy="1543050"/>
          </a:xfrm>
          <a:prstGeom xmlns:a="http://schemas.openxmlformats.org/drawingml/2006/main" prst="roundRect">
            <a:avLst>
              <a:gd name="adj" fmla="val 4938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11430">
            <a:solidFill>
              <a:srgbClr val="18324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BABFCDCD-8EF6-4880-AB4F-DE4ACA3CD4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533900"/>
            <a:ext cx="92583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1. 应实现历史 heterogeneous finger tree，还是具有所需操作的等价后端？</a:t>
            </a:r>
          </a:p>
          <a:p xmlns:a="http://schemas.openxmlformats.org/drawingml/2006/main">
            <a:pPr algn="l">
              <a:lnSpc>
                <a:spcPct val="105000"/>
              </a:lnSpc>
              <a:buNone/>
              <a:defRPr sz="1800" b="0">
                <a:solidFill>
                  <a:srgbClr val="FFFFFF"/>
                </a:solidFill>
              </a:defRPr>
            </a:pPr>
            <a:r>
              <a:rPr sz="1800" b="0">
                <a:solidFill>
                  <a:srgbClr val="FFFFFF"/>
                </a:solidFill>
              </a:rPr>
              <a:t>2. 经过测试且语义等价的原型是否足够，还是还需证明所需的摊还操作界？</a:t>
            </a:r>
          </a:p>
        </p:txBody>
      </p:sp>
    </p:spTree>
    <p:extLst>
      <p:ext uri="{BB962C8B-B14F-4D97-AF65-F5344CB8AC3E}">
        <p14:creationId xmlns:p14="http://schemas.microsoft.com/office/powerpoint/2010/main" val="155797996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B2B517D-41E5-40E3-9D0D-097621E38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6F51"/>
                </a:solidFill>
              </a:defRPr>
            </a:pPr>
            <a:r>
              <a:rPr sz="900" b="1" i="0">
                <a:solidFill>
                  <a:srgbClr val="E76F51"/>
                </a:solidFill>
              </a:rPr>
              <a:t>备用 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3BC046-FF05-4EDB-9663-B4B171D98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记录的调用范围下，各输入规模的运行时间中位数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C4DB0D4-A667-4DE7-8D7E-9D57D5C7F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2EB034-0430-48E7-9D0D-D254F84DE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7463A7D-76FD-45E8-B002-CF79F77F2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73A389-E8E8-4255-8207-35E92079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A</a:t>
            </a:r>
          </a:p>
        </p:txBody>
      </p:sp>
      <p:pic>
        <p:nvPicPr>
          <p:cNvPr id="7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767e81d63dc4a72"/>
          <a:stretch xmlns:a="http://schemas.openxmlformats.org/drawingml/2006/main"/>
        </p:blipFill>
        <p:spPr>
          <a:xfrm xmlns:a="http://schemas.openxmlformats.org/drawingml/2006/main">
            <a:off x="628650" y="1749972"/>
            <a:ext cx="6858000" cy="351045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A44C31-B259-4317-B828-6A78599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562100"/>
            <a:ext cx="6858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8AB0D0-15DC-4AB3-85EB-30EF5DBCF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057400"/>
            <a:ext cx="1447800" cy="1123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FFFFFF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4586B2-3148-4921-A4FF-EC61C934D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2669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1F8A70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F34482-CB89-48F1-B2F6-3B3335B84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43125"/>
            <a:ext cx="895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243B53"/>
                </a:solidFill>
              </a:defRPr>
            </a:pPr>
            <a:r>
              <a:rPr sz="975" b="0" i="0">
                <a:solidFill>
                  <a:srgbClr val="243B53"/>
                </a:solidFill>
              </a:rPr>
              <a:t>Python sort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2CEC2CC-E646-47D0-AAB6-27DF8B106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6098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2E7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789AEB0-71FB-423B-809B-3C361131C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486025"/>
            <a:ext cx="9334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8368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75" b="0" i="0">
                <a:solidFill>
                  <a:srgbClr val="243B53"/>
                </a:solidFill>
              </a:defRPr>
            </a:pPr>
            <a:r>
              <a:rPr sz="975" b="0" i="0">
                <a:solidFill>
                  <a:srgbClr val="243B53"/>
                </a:solidFill>
              </a:rPr>
              <a:t>Reference pipeline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64C5F5D-342A-40BE-B937-D6C5CFE28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952750"/>
            <a:ext cx="2286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7C697CD-8579-4681-B84D-1C1579D71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828925"/>
            <a:ext cx="9334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259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0" i="0">
                <a:solidFill>
                  <a:srgbClr val="243B53"/>
                </a:solidFill>
              </a:defRPr>
            </a:pPr>
            <a:r>
              <a:rPr sz="900" b="0" i="0">
                <a:solidFill>
                  <a:srgbClr val="243B53"/>
                </a:solidFill>
              </a:rPr>
              <a:t>Paper 普通列表 core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D6E617-4BC7-4C5D-BA2D-0EDC40FDA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638300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373DE3F-B459-4F7E-ACD0-3FFDB1DFA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1676400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95A237-2259-46F9-8C6F-6351D9131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16383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9E5D38-1716-4682-8CB6-6980D3107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764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Python（毫秒）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3F63841-0CF1-4316-9B45-B61A13E1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1638300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5781A7-4887-4773-8E5F-147B54F23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1676400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Reference（毫秒）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47EB678-1276-4DB1-9671-9984A22F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16383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895A12B-AA56-4490-BE73-ABDE2B8BB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16764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050" b="1" i="0">
                <a:solidFill>
                  <a:srgbClr val="FFFFFF"/>
                </a:solidFill>
              </a:defRPr>
            </a:pPr>
            <a:r>
              <a:rPr sz="1050" b="1" i="0">
                <a:solidFill>
                  <a:srgbClr val="FFFFFF"/>
                </a:solidFill>
              </a:rPr>
              <a:t>Paper（毫秒）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58B0C0F-11E6-480C-BFEF-F0A1B08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62175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F666A2-9ED1-4597-8CF0-70E5CA6A2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200275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32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29C158-12E3-474F-91A9-963BDAE9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1621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956542D-08F7-4F93-BE46-F41C302BD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002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0.000791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14F5268-F9F9-4796-8175-16327F430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162175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9DAE3EC-C846-4C59-BAAE-F07094A79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200275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0.181177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84F09B-4C35-4AC3-9D4E-9BA6AB3A6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1621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5B14CB-7285-4036-9ECD-A49963E03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2002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0.586906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736656-283D-4274-AC7C-9717A4B0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686050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B4D2BC3-7819-4865-AE2B-304333BDB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724150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64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380E9C3-4D38-4B58-B667-8E5D57E98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860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DA365D4-5F57-45B8-B055-12EC00D84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72415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0.001417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ECC511-FBF1-49BE-BE53-45AC3D594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686050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C207546-34C0-47B0-8C54-12A84504C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724150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0.585667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1674B16B-E8E3-4D98-A385-2955EE505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268605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7EAF5BE-1E82-4713-9F4A-93306127C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272415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1.282198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6A308BE-A9B8-468C-833A-3D38C39A4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9925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E241944-3EC4-4062-98B9-E7855E61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248025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128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D5BDE3F-1DCA-4C72-A1CA-3027B449C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20992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B8B982D-9423-4D07-87CA-C66D33512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480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0.002635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97E25E2-7DE5-41CD-94AE-DD0C07ACA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209925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EE9D827-3449-4451-93A1-8D2A9A21D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48025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2.077959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500F3F59-B09A-4D0E-BAF0-5BF03DFD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20992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D060B9-EC5B-4645-A703-E9071744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24802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2.815083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36413F0-59C4-4CCF-BBAF-83B31887A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733800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3B31B35-FDE1-45DC-83AA-DAAB6C782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771900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256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5F9DCC5-290F-431B-9919-98BDB06F1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338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7430904F-6B2F-4DF0-AE79-BA390884B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7719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0.005208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6B69384-531F-4B52-A64B-3AE85A3F4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3733800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2AA4890-D20D-4F73-BFE8-495A7EC911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771900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7.929646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7AFCD9-D805-45BA-B88C-9EB2A7F85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3733800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1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56E550A-A9A1-4A1B-BB2B-57C55375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3771900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6.721250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1BE10C66-72F2-4475-9242-ADAD054784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66675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1117CCE5-FFBD-4CBB-81D4-237F37FA3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95775"/>
            <a:ext cx="6286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512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7803809A-596B-4916-AE6E-41D8E3D41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42576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06D5D884-2437-4EC8-B83F-C41B856EC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2957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0.010584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1CB7A4DC-EBB8-462C-A003-A74ADE80F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257675"/>
            <a:ext cx="12192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A4253A8-EC3C-4CB4-A285-DF19E5AB0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295775"/>
            <a:ext cx="11811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33.014458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4F76E16-96DD-4B11-B3BE-955EEA69A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4257675"/>
            <a:ext cx="1066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9B222E38-4575-4539-B558-200633B4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44200" y="4295775"/>
            <a:ext cx="102870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00" b="0" i="0">
                <a:solidFill>
                  <a:srgbClr val="243B53"/>
                </a:solidFill>
              </a:defRPr>
            </a:pPr>
            <a:r>
              <a:rPr sz="1200" b="0" i="0">
                <a:solidFill>
                  <a:srgbClr val="243B53"/>
                </a:solidFill>
              </a:rPr>
              <a:t>18.716687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73718E20-47AB-46C9-A310-510E0EC1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5086350"/>
            <a:ext cx="3905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52606D"/>
                </a:solidFill>
              </a:defRPr>
            </a:pPr>
            <a:r>
              <a:rPr sz="1275" b="0" i="0">
                <a:solidFill>
                  <a:srgbClr val="52606D"/>
                </a:solidFill>
              </a:rPr>
              <a:t>绝对时间仅属于一次记录的 Apple M4 / CPython 3.12.4 执行。</a:t>
            </a:r>
          </a:p>
        </p:txBody>
      </p:sp>
    </p:spTree>
    <p:extLst>
      <p:ext uri="{BB962C8B-B14F-4D97-AF65-F5344CB8AC3E}">
        <p14:creationId xmlns:p14="http://schemas.microsoft.com/office/powerpoint/2010/main" val="75022135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AE4B-9925-46EA-951B-BC12482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6F51"/>
                </a:solidFill>
              </a:defRPr>
            </a:pPr>
            <a:r>
              <a:rPr sz="900" b="1" i="0">
                <a:solidFill>
                  <a:srgbClr val="E76F51"/>
                </a:solidFill>
              </a:rPr>
              <a:t>备用 B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E7B57-B3EC-475B-818E-0266FF8B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Paper 输出从状态中恢复，而不是来自 oracle 结果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8CE44-CD3D-48F0-A973-1353C90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309C-E064-4D75-9524-1D3B72D4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ACEE-211D-4302-863B-8D51F8F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024CE-FE5D-4D44-9822-6F49770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B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0C888-9366-4ABD-8F21-88D90FD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543050"/>
            <a:ext cx="40957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9050">
            <a:solidFill>
              <a:srgbClr val="E76F51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09B0C-7FE5-4AD1-8D74-B1CC22C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1543050"/>
            <a:ext cx="4095750" cy="3562350"/>
          </a:xfrm>
          <a:prstGeom xmlns:a="http://schemas.openxmlformats.org/drawingml/2006/main" prst="roundRect">
            <a:avLst>
              <a:gd name="adj" fmla="val 2139"/>
            </a:avLst>
          </a:prstGeom>
          <a:solidFill xmlns:a="http://schemas.openxmlformats.org/drawingml/2006/main">
            <a:srgbClr val="E8F5F3"/>
          </a:solidFill>
          <a:ln xmlns:a="http://schemas.openxmlformats.org/drawingml/2006/main" w="1905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E259D-7A0F-4DF4-B7BB-581AC2D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7907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E76F51"/>
                </a:solidFill>
              </a:defRPr>
            </a:pPr>
            <a:r>
              <a:rPr sz="2100" b="1" i="0">
                <a:solidFill>
                  <a:srgbClr val="E76F51"/>
                </a:solidFill>
              </a:rPr>
              <a:t>Reference pipeline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F1AF1-1390-4D78-ABB7-6AD33A5F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717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oracle_result["sorted"]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18CF1-F088-4DA7-870F-6A74A10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429000"/>
            <a:ext cx="3181350" cy="1009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oracle 验证、结构、trace 与可序列化结果组装均属于 reference 调用。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F39AA-1D93-42DC-A1A9-35E5AE0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790700"/>
            <a:ext cx="35623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A9D8F"/>
                </a:solidFill>
              </a:defRPr>
            </a:pPr>
            <a:r>
              <a:rPr sz="2100" b="1" i="0">
                <a:solidFill>
                  <a:srgbClr val="2A9D8F"/>
                </a:solidFill>
              </a:rPr>
              <a:t>Paper core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A468C-C306-4355-AD74-F8BAFDE0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35623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state.partial_order.to_list()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DF933-025A-4C94-AAC7-B1F6CD5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352800"/>
            <a:ext cx="318135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认证发生在调用前，输出比较发生在调用后；二者都不提供 paper core 的返回值。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5A69B-6196-4AB8-9E17-1AD7DA2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619750"/>
            <a:ext cx="781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预期答案相同，输出来源不同。</a:t>
            </a:r>
          </a:p>
        </p:txBody>
      </p:sp>
    </p:spTree>
    <p:extLst>
      <p:ext uri="{BB962C8B-B14F-4D97-AF65-F5344CB8AC3E}">
        <p14:creationId xmlns:p14="http://schemas.microsoft.com/office/powerpoint/2010/main" val="209090357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9D494A0-74EC-4B5B-BA7B-96DB032AC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6F51"/>
                </a:solidFill>
              </a:defRPr>
            </a:pPr>
            <a:r>
              <a:rPr sz="900" b="1" i="0">
                <a:solidFill>
                  <a:srgbClr val="E76F51"/>
                </a:solidFill>
              </a:rPr>
              <a:t>备用 C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5CFF3D-BB45-4DD3-8C33-CC8BD5158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当前实现基线的验证汇总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127CB2-0A03-4635-B30B-E4155963A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676BC9-4E8B-4972-919C-635640511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A82BBF5-A2D5-49FE-B2C4-41BB86BED1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163CBE-5FF4-42A7-831C-996AECF48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95DA7AC-149E-47E1-971D-1E49E1A27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5049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150" b="1" i="0">
                <a:solidFill>
                  <a:srgbClr val="2A9D8F"/>
                </a:solidFill>
              </a:defRPr>
            </a:pPr>
            <a:r>
              <a:rPr sz="3150" b="1" i="0">
                <a:solidFill>
                  <a:srgbClr val="2A9D8F"/>
                </a:solidFill>
              </a:rPr>
              <a:t>537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10DC31-6C1D-4EE9-A74A-AE285B8C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16192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AC4CE24-49A5-46DD-A857-55E1CD755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15049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仓库测试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EDC861-BE51-4F1C-8642-89EB6F7DF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3431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150" b="1" i="0">
                <a:solidFill>
                  <a:srgbClr val="E76F51"/>
                </a:solidFill>
              </a:defRPr>
            </a:pPr>
            <a:r>
              <a:rPr sz="3150" b="1" i="0">
                <a:solidFill>
                  <a:srgbClr val="E76F51"/>
                </a:solidFill>
              </a:rPr>
              <a:t>2,074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C1B7341-C235-450B-AF96-2247B64398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24574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CECD67B-16C1-4656-BE08-387235125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431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有界穷举有效排列，n ≤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F338DAC-D4A4-4D9D-AC28-3691474AE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1813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150" b="1" i="0">
                <a:solidFill>
                  <a:srgbClr val="2A9D8F"/>
                </a:solidFill>
              </a:defRPr>
            </a:pPr>
            <a:r>
              <a:rPr sz="3150" b="1" i="0">
                <a:solidFill>
                  <a:srgbClr val="2A9D8F"/>
                </a:solidFill>
              </a:rPr>
              <a:t>48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04FAF4D-902F-41A6-A57C-9F47D58B9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2956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A03AA54-208F-438B-ADBD-6CDE7AB72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1813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固定生成用例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5B65981-7906-4DB9-BD97-3A685A9F14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195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3150" b="1" i="0">
                <a:solidFill>
                  <a:srgbClr val="E76F51"/>
                </a:solidFill>
              </a:defRPr>
            </a:pPr>
            <a:r>
              <a:rPr sz="3150" b="1" i="0">
                <a:solidFill>
                  <a:srgbClr val="E76F51"/>
                </a:solidFill>
              </a:rPr>
              <a:t>60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3C7035-C8DE-4DFB-AF6E-515A0AA13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1338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76F51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4CA3564-0CEE-4F74-BE68-D40F68E8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0195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正式 case-level checked-state audit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EE8F01E-1674-4D36-94D9-BAC325C4E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857750"/>
            <a:ext cx="238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2550" b="1" i="0">
                <a:solidFill>
                  <a:srgbClr val="2A9D8F"/>
                </a:solidFill>
              </a:defRPr>
            </a:pPr>
            <a:r>
              <a:rPr sz="2550" b="1" i="0">
                <a:solidFill>
                  <a:srgbClr val="2A9D8F"/>
                </a:solidFill>
              </a:rPr>
              <a:t>通过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6ADA90F-9A40-4401-ADAF-5E354B7B1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972050"/>
            <a:ext cx="381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A9D8F"/>
          </a:solidFill>
          <a:ln xmlns:a="http://schemas.openxmlformats.org/drawingml/2006/main" w="11430">
            <a:solidFill>
              <a:srgbClr val="2A9D8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9B1ED8-0884-4B2F-BAC8-7EA82BFB2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6858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1725" b="0" i="0">
                <a:solidFill>
                  <a:srgbClr val="243B53"/>
                </a:solidFill>
              </a:defRPr>
            </a:pPr>
            <a:r>
              <a:rPr sz="1725" b="0" i="0">
                <a:solidFill>
                  <a:srgbClr val="243B53"/>
                </a:solidFill>
              </a:rPr>
              <a:t>正式 evidence-contract 验证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9B2CE2B-1396-4BE1-9E16-4DF7E08E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5810250"/>
            <a:ext cx="8458200" cy="4572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E76F5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8BBA16-4776-4554-9075-FE17B9E78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848350"/>
            <a:ext cx="8077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500" b="1" i="0">
                <a:solidFill>
                  <a:srgbClr val="E76F51"/>
                </a:solidFill>
              </a:defRPr>
            </a:pPr>
            <a:r>
              <a:rPr sz="1500" b="1" i="0">
                <a:solidFill>
                  <a:srgbClr val="E76F51"/>
                </a:solidFill>
              </a:rPr>
              <a:t>有限验证证据并不是对每个 Jordan sequence 的证明。</a:t>
            </a:r>
          </a:p>
        </p:txBody>
      </p:sp>
    </p:spTree>
    <p:extLst>
      <p:ext uri="{BB962C8B-B14F-4D97-AF65-F5344CB8AC3E}">
        <p14:creationId xmlns:p14="http://schemas.microsoft.com/office/powerpoint/2010/main" val="689703409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2B6CFDF-D4A8-41D2-9B41-E6B249AEE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6F51"/>
                </a:solidFill>
              </a:defRPr>
            </a:pPr>
            <a:r>
              <a:rPr sz="900" b="1" i="0">
                <a:solidFill>
                  <a:srgbClr val="E76F51"/>
                </a:solidFill>
              </a:rPr>
              <a:t>备用 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7177C2-031C-4D32-A397-8593E38D9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increasing 与 decreasing 迭代采用镜像的局部选择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B27807E-8682-4A11-8F03-6D917FEB7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947FE8-B9D9-405D-96CC-95BE2749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10B14D-6779-4663-BEFF-CA4E48E5B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740A75-6D94-4E33-973B-B527B46C60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28746E-96ED-468B-A0CE-92A47817B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466850"/>
            <a:ext cx="33147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A4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5C39A0-D37A-4CBA-A61D-E27B74B91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31623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FFFFFF"/>
                </a:solidFill>
              </a:defRPr>
            </a:pPr>
            <a:r>
              <a:rPr sz="1425" b="1" i="0">
                <a:solidFill>
                  <a:srgbClr val="FFFFFF"/>
                </a:solidFill>
              </a:rPr>
              <a:t>控制选择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F46803-D98B-4E3C-8471-A1353A3D3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466850"/>
            <a:ext cx="32956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F5F3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DB500DE-8C7E-45E0-8E47-A2256D8E3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52400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2A9D8F"/>
                </a:solidFill>
              </a:defRPr>
            </a:pPr>
            <a:r>
              <a:rPr sz="1425" b="1" i="0">
                <a:solidFill>
                  <a:srgbClr val="2A9D8F"/>
                </a:solidFill>
              </a:rPr>
              <a:t>increasing orientation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307987-FDCF-4EB0-9B32-A8B7FA5E4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466850"/>
            <a:ext cx="37528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CEEEA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345C7B2-172B-449D-9094-FE1DF4DC9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1524000"/>
            <a:ext cx="3600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1" i="0">
                <a:solidFill>
                  <a:srgbClr val="E76F51"/>
                </a:solidFill>
              </a:defRPr>
            </a:pPr>
            <a:r>
              <a:rPr sz="1425" b="1" i="0">
                <a:solidFill>
                  <a:srgbClr val="E76F51"/>
                </a:solidFill>
              </a:rPr>
              <a:t>decreasing orientation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510D0B-7CA2-4A3A-9827-7E4731590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96215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71EF2B7-260D-4D7F-8FD3-4130725C9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0193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Step 3(a) 边界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9123CB2-A646-423D-B185-6174952A5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196215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14A370-FE95-4544-AEE8-2D7C77DE8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193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predecessor 侧（Aᵢ）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5ED69A-0FB6-4D39-A22D-15FD92663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196215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A5106A-853C-4E5E-B135-0B6A8760C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0193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successor 侧（Bᵢ）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836C1E1-C4C0-4A43-8D35-F27399C17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47650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CA7C6E9-6666-4934-80AD-A400EA3AA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5336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边界插入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28E0320-91DC-4D37-9D18-DB6F171F7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4765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4411EEA-B74C-4A62-B9AC-AB832F377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336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最后一个 sibling 之后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24A22B-D78B-4655-8D2E-6C26FCCF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4765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74DC159-275D-4884-9F77-75A5B433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5336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第一个 sibling 之前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75F688-DBAB-4DD0-B7BB-93957127A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59C919B-5351-4601-9B99-117599F40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0480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Step 3(b) 边界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14BC948-1F2A-40D6-BCE8-3F5CCE015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99085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D3E9720-4AE1-4F80-B1A1-A7B4A3F00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0480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successor 侧（Bᵢ）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3603C1-F6DC-4197-AC5C-BA338F99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299085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285F2D-5CC6-46F7-96D7-C7CE67E633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0480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predecessor 侧（Aᵢ）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8E83526-11D7-4064-A05D-6BCA8DBC8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59C84C2-6296-4F87-9150-D64AC2520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623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获得的拆分侧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D965EAA-1218-49AE-A1CD-E43AA60D6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5052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1723DD0-4DF4-4A69-85AA-3297445DD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5623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左侧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9FEADDC-6020-4996-AF9D-BA88DC962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35052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F8963CD-F64A-4CDA-B91D-47F3A62FF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35623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右侧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4E1F339-B5C7-4EE2-8EF1-3ECA0BF2F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1955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F78034E-3B72-4C75-A680-B89EE1FE7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0767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child 极值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C4097186-6F0D-4BBE-B71D-986E6B4AA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01955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BD02B1E-093B-405E-97D1-957E4624F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0767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最右 child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2F611FC-A66B-453B-BE51-3B7EAA45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01955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5FD877D-E929-46AE-953B-17E65C502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0767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最左 child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F93FB10-7045-4BD4-B7C3-5F909DEF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3390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B012065-FAD0-42EE-8A14-3E9788D31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59105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几何 anchor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4D9A7848-D490-4BC9-A644-9193C691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53390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AA45BDE-7328-4EC1-B9D1-18AC12865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459105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右端点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90475E4-4AD5-4588-9EE3-DD5D853E1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453390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F4F8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48A198-F61E-4F92-B5B3-0795BB70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5910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左端点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46F9A48-B4BA-4366-9A77-E3E8A03E0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48250"/>
            <a:ext cx="33147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ADDC371-ECB5-453B-9362-844F7F9E0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05400"/>
            <a:ext cx="31623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1" i="0">
                <a:solidFill>
                  <a:srgbClr val="243B53"/>
                </a:solidFill>
              </a:defRPr>
            </a:pPr>
            <a:r>
              <a:rPr sz="1275" b="1" i="0">
                <a:solidFill>
                  <a:srgbClr val="243B53"/>
                </a:solidFill>
              </a:rPr>
              <a:t>输出插入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E1A0475-EE8C-4B27-B2DD-64973801E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48250"/>
            <a:ext cx="32956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A63AD83-1132-4C9D-898C-1CE2FC46D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5105400"/>
            <a:ext cx="3143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anchor 之后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878490AE-13F3-44C7-81D6-1427FFE77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6650" y="5048250"/>
            <a:ext cx="37528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2EC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0E08FBE-4F40-4970-A119-CBD58DACF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510540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275" b="0" i="0">
                <a:solidFill>
                  <a:srgbClr val="243B53"/>
                </a:solidFill>
              </a:defRPr>
            </a:pPr>
            <a:r>
              <a:rPr sz="1275" b="0" i="0">
                <a:solidFill>
                  <a:srgbClr val="243B53"/>
                </a:solidFill>
              </a:rPr>
              <a:t>anchor 之前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FC2048A-49D1-4AD1-A2B7-9F629BC9F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73405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350" b="1" i="0">
                <a:solidFill>
                  <a:srgbClr val="102A43"/>
                </a:solidFill>
              </a:defRPr>
            </a:pPr>
            <a:r>
              <a:rPr sz="1350" b="1" i="0">
                <a:solidFill>
                  <a:srgbClr val="102A43"/>
                </a:solidFill>
              </a:rPr>
              <a:t>Step 1 始终选择 Aᵢ，Step 2 始终选择 Bᵢ；Step 3 镜像这些边界的使用方式。</a:t>
            </a:r>
          </a:p>
        </p:txBody>
      </p:sp>
    </p:spTree>
    <p:extLst>
      <p:ext uri="{BB962C8B-B14F-4D97-AF65-F5344CB8AC3E}">
        <p14:creationId xmlns:p14="http://schemas.microsoft.com/office/powerpoint/2010/main" val="147542809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C9AE4B-9925-46EA-951B-BC124821A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7650"/>
            <a:ext cx="342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900" b="1" i="0">
                <a:solidFill>
                  <a:srgbClr val="E76F51"/>
                </a:solidFill>
              </a:defRPr>
            </a:pPr>
            <a:r>
              <a:rPr sz="900" b="1" i="0">
                <a:solidFill>
                  <a:srgbClr val="E76F51"/>
                </a:solidFill>
              </a:rPr>
              <a:t>备用 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2E7B57-B3EC-475B-818E-0266FF8B8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2700" b="1" i="0">
                <a:solidFill>
                  <a:srgbClr val="102A43"/>
                </a:solidFill>
              </a:defRPr>
            </a:pPr>
            <a:r>
              <a:rPr sz="2700" b="1" i="0">
                <a:solidFill>
                  <a:srgbClr val="102A43"/>
                </a:solidFill>
              </a:rPr>
              <a:t>拟议的 finger-tree 后端边界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D8CE44-CD3D-48F0-A973-1353C90B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8585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E76F5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DF309C-E064-4D75-9524-1D3B72D4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77000"/>
            <a:ext cx="10972800" cy="95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9E2E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AFBACEE-211D-4302-863B-8D51F8F76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534150"/>
            <a:ext cx="3619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5000"/>
              </a:lnSpc>
              <a:buNone/>
              <a:defRPr sz="825" b="1" i="0">
                <a:solidFill>
                  <a:srgbClr val="E76F51"/>
                </a:solidFill>
              </a:defRPr>
            </a:pPr>
            <a:r>
              <a:rPr sz="825" b="1" i="0">
                <a:solidFill>
                  <a:srgbClr val="E76F51"/>
                </a:solidFill>
              </a:rPr>
              <a:t>备用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024CE-FE5D-4D44-9822-6F497706F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6534150"/>
            <a:ext cx="876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5000"/>
              </a:lnSpc>
              <a:buNone/>
              <a:defRPr sz="825" b="1" i="0">
                <a:solidFill>
                  <a:srgbClr val="7B8794"/>
                </a:solidFill>
              </a:defRPr>
            </a:pPr>
            <a:r>
              <a:rPr sz="825" b="1" i="0">
                <a:solidFill>
                  <a:srgbClr val="7B8794"/>
                </a:solidFill>
              </a:rPr>
              <a:t>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90C888-9366-4ABD-8F21-88D90FDD4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52800"/>
            <a:ext cx="4762500" cy="17335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F09B0C-7FE5-4AD1-8D74-B1CC22C7C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352800"/>
            <a:ext cx="4762500" cy="1733550"/>
          </a:xfrm>
          <a:prstGeom xmlns:a="http://schemas.openxmlformats.org/drawingml/2006/main" prst="roundRect">
            <a:avLst>
              <a:gd name="adj" fmla="val 2139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E76F51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BE259D-7A0F-4DF4-B7BB-581AC2D14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524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2A9D8F"/>
                </a:solidFill>
              </a:defRPr>
            </a:pPr>
            <a:r>
              <a:rPr sz="2100" b="1" i="0">
                <a:solidFill>
                  <a:srgbClr val="2A9D8F"/>
                </a:solidFill>
              </a:rPr>
              <a:t>普通列表后端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24F1AF1-1390-4D78-ABB7-6AD33A5F8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43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当前已验证基线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E18CF1-F088-4DA7-870F-6A74A10C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4005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ordinary Python lists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已归档的正确性与计时证据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EF39AA-1D93-42DC-A1A9-35E5AE0A6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524250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2100" b="1" i="0">
                <a:solidFill>
                  <a:srgbClr val="E76F51"/>
                </a:solidFill>
              </a:defRPr>
            </a:pPr>
            <a:r>
              <a:rPr sz="2100" b="1" i="0">
                <a:solidFill>
                  <a:srgbClr val="E76F51"/>
                </a:solidFill>
              </a:rPr>
              <a:t>Finger-tree 后端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9A468C-C306-4355-AD74-F8BAFDE00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943350"/>
            <a:ext cx="4191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725" b="1" i="0">
                <a:solidFill>
                  <a:srgbClr val="102A43"/>
                </a:solidFill>
              </a:defRPr>
            </a:pPr>
            <a:r>
              <a:rPr sz="1725" b="1" i="0">
                <a:solidFill>
                  <a:srgbClr val="102A43"/>
                </a:solidFill>
              </a:rPr>
              <a:t>拟议扩展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ABDF933-025A-4C94-AAC7-B1F6CD5BE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400550"/>
            <a:ext cx="3810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语义等价目标</a:t>
            </a:r>
          </a:p>
          <a:p xmlns:a="http://schemas.openxmlformats.org/drawingml/2006/main">
            <a:pPr algn="ctr">
              <a:lnSpc>
                <a:spcPct val="105000"/>
              </a:lnSpc>
              <a:buNone/>
              <a:defRPr sz="1425" b="0" i="0">
                <a:solidFill>
                  <a:srgbClr val="243B53"/>
                </a:solidFill>
              </a:defRPr>
            </a:pPr>
            <a:r>
              <a:rPr sz="1425" b="0" i="0">
                <a:solidFill>
                  <a:srgbClr val="243B53"/>
                </a:solidFill>
              </a:rPr>
              <a:t>独立的验证与实验版本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D15A69B-6196-4AB8-9E17-1AD7DA20F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429250"/>
            <a:ext cx="88773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95238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5000"/>
              </a:lnSpc>
              <a:buNone/>
              <a:defRPr sz="1875" b="1" i="0">
                <a:solidFill>
                  <a:srgbClr val="102A43"/>
                </a:solidFill>
              </a:defRPr>
            </a:pPr>
            <a:r>
              <a:rPr sz="1875" b="1" i="0">
                <a:solidFill>
                  <a:srgbClr val="102A43"/>
                </a:solidFill>
              </a:rPr>
              <a:t>仅提高 tree split 的效率并不足够；若 ownership transfer 仍扫描并重新绑定每个元素，所需 bound 仍无法成立。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CB8B23-36E6-4CEA-80E9-2C77B5DCD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524000"/>
            <a:ext cx="2762250" cy="685800"/>
          </a:xfrm>
          <a:prstGeom xmlns:a="http://schemas.openxmlformats.org/drawingml/2006/main" prst="roundRect">
            <a:avLst>
              <a:gd name="adj" fmla="val 11111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2A9D8F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76C10BA-A3BA-4022-9B06-BD98A6146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657350"/>
            <a:ext cx="2495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Paper Step 1/2/3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A56070B-265C-45D4-9944-AE3429695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409700"/>
            <a:ext cx="6534150" cy="914400"/>
          </a:xfrm>
          <a:prstGeom xmlns:a="http://schemas.openxmlformats.org/drawingml/2006/main" prst="roundRect">
            <a:avLst>
              <a:gd name="adj" fmla="val 8333"/>
            </a:avLst>
          </a:prstGeom>
          <a:noFill xmlns:a="http://schemas.openxmlformats.org/drawingml/2006/main"/>
          <a:ln xmlns:a="http://schemas.openxmlformats.org/drawingml/2006/main" w="14288">
            <a:solidFill>
              <a:srgbClr val="102A43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256568-2D66-41EC-9437-1704D2196F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485900"/>
            <a:ext cx="61531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650" b="1">
                <a:solidFill>
                  <a:srgbClr val="102A43"/>
                </a:solidFill>
              </a:defRPr>
            </a:pPr>
            <a:r>
              <a:rPr sz="1650" b="1">
                <a:solidFill>
                  <a:srgbClr val="102A43"/>
                </a:solidFill>
              </a:rPr>
              <a:t>Sibling-list 后端接口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49E41D-4685-47E5-A2C7-C6F62230C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847850"/>
            <a:ext cx="6076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square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创建 singleton list • 左/右边界插入 • 按新点值 split</a:t>
            </a:r>
          </a:p>
          <a:p xmlns:a="http://schemas.openxmlformats.org/drawingml/2006/main">
            <a:pPr algn="ctr">
              <a:lnSpc>
                <a:spcPct val="100000"/>
              </a:lnSpc>
              <a:buNone/>
              <a:defRPr sz="1125" b="0">
                <a:solidFill>
                  <a:srgbClr val="52606D"/>
                </a:solidFill>
              </a:defRPr>
            </a:pPr>
            <a:r>
              <a:rPr sz="1125" b="0">
                <a:solidFill>
                  <a:srgbClr val="52606D"/>
                </a:solidFill>
              </a:rPr>
              <a:t>访问 first/last child • 保持 ownership 与 stable handle</a:t>
            </a:r>
          </a:p>
        </p:txBody>
      </p:sp>
      <p:cxnSp>
        <p:nvCxnSpPr>
          <p:cNvPr id="68" name=""/>
          <p:cNvCxnSpPr>
            <a:stCxn xmlns:a="http://schemas.openxmlformats.org/drawingml/2006/main" id="17" idx="3"/>
            <a:endCxn xmlns:a="http://schemas.openxmlformats.org/drawingml/2006/main" id="19" idx="1"/>
          </p:cNvCxnSpPr>
          <p:nvPr/>
        </p:nvCxnSpPr>
        <p:spPr>
          <a:xfrm xmlns:a="http://schemas.openxmlformats.org/drawingml/2006/main">
            <a:off x="3657600" y="1866900"/>
            <a:ext cx="11049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med" len="med"/>
          </a:ln>
        </p:spPr>
      </p:cxnSp>
      <p:cxnSp>
        <p:nvCxnSpPr>
          <p:cNvPr id="69" name=""/>
          <p:cNvCxnSpPr>
            <a:stCxn xmlns:a="http://schemas.openxmlformats.org/drawingml/2006/main" id="19" idx="2"/>
            <a:endCxn xmlns:a="http://schemas.openxmlformats.org/drawingml/2006/main" id="7" idx="0"/>
          </p:cNvCxnSpPr>
          <p:nvPr/>
        </p:nvCxnSpPr>
        <p:spPr>
          <a:xfrm xmlns:a="http://schemas.openxmlformats.org/drawingml/2006/main" flipH="1">
            <a:off x="3257550" y="2324100"/>
            <a:ext cx="477202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2A9D8F"/>
            </a:solidFill>
            <a:prstDash val="solid"/>
            <a:tailEnd type="arrow" w="med" len="med"/>
          </a:ln>
        </p:spPr>
      </p:cxnSp>
      <p:cxnSp>
        <p:nvCxnSpPr>
          <p:cNvPr id="70" name=""/>
          <p:cNvCxnSpPr>
            <a:stCxn xmlns:a="http://schemas.openxmlformats.org/drawingml/2006/main" id="19" idx="2"/>
            <a:endCxn xmlns:a="http://schemas.openxmlformats.org/drawingml/2006/main" id="8" idx="0"/>
          </p:cNvCxnSpPr>
          <p:nvPr/>
        </p:nvCxnSpPr>
        <p:spPr>
          <a:xfrm xmlns:a="http://schemas.openxmlformats.org/drawingml/2006/main">
            <a:off x="8029575" y="2324100"/>
            <a:ext cx="904875" cy="1028700"/>
          </a:xfrm>
          <a:prstGeom xmlns:a="http://schemas.openxmlformats.org/drawingml/2006/main" prst="bentConnector4">
            <a:avLst>
              <a:gd name="adj1" fmla="val 0"/>
              <a:gd name="adj2" fmla="val 50000"/>
            </a:avLst>
          </a:prstGeom>
          <a:ln xmlns:a="http://schemas.openxmlformats.org/drawingml/2006/main" w="19050">
            <a:solidFill>
              <a:srgbClr val="E76F51"/>
            </a:solidFill>
            <a:prstDash val="solid"/>
            <a:tailEnd type="arrow" w="med" len="med"/>
          </a:ln>
        </p:spPr>
      </p:cxnSp>
    </p:spTree>
    <p:extLst>
      <p:ext uri="{BB962C8B-B14F-4D97-AF65-F5344CB8AC3E}">
        <p14:creationId xmlns:p14="http://schemas.microsoft.com/office/powerpoint/2010/main" val="20909035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2026-09-07T12:18:00.5090000Z</dcterms:created>
  <dcterms:modified xsi:type="dcterms:W3CDTF">2026-09-07T12:18:00.5090000Z</dcterms:modified>
</coreProperties>
</file>