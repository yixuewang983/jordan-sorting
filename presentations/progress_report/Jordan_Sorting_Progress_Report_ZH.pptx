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b4e9f535c446cb" /><Relationship Type="http://schemas.openxmlformats.org/officeDocument/2006/relationships/extended-properties" Target="/docProps/app.xml" Id="R8a32c21b19cc4433" /><Relationship Type="http://schemas.openxmlformats.org/officeDocument/2006/relationships/officeDocument" Target="/ppt/presentation.xml" Id="R3e748636929944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2472bae986d4603"/>
  </p:sldMasterIdLst>
  <p:notesMasterIdLst>
    <p:notesMasterId xmlns:r="http://schemas.openxmlformats.org/officeDocument/2006/relationships" r:id="Rb8b50e5edf884864"/>
  </p:notesMasterIdLst>
  <p:sldIdLst>
    <p:sldId xmlns:r="http://schemas.openxmlformats.org/officeDocument/2006/relationships" id="256" r:id="R29f0577659d5429e"/>
    <p:sldId xmlns:r="http://schemas.openxmlformats.org/officeDocument/2006/relationships" id="257" r:id="Rdcc05ef92b8047ce"/>
    <p:sldId xmlns:r="http://schemas.openxmlformats.org/officeDocument/2006/relationships" id="258" r:id="Ra21b36831ed44c26"/>
    <p:sldId xmlns:r="http://schemas.openxmlformats.org/officeDocument/2006/relationships" id="259" r:id="R413d1ee1d5cb448a"/>
    <p:sldId xmlns:r="http://schemas.openxmlformats.org/officeDocument/2006/relationships" id="260" r:id="R8218938f03364a23"/>
    <p:sldId xmlns:r="http://schemas.openxmlformats.org/officeDocument/2006/relationships" id="261" r:id="Rffe12564364446bc"/>
    <p:sldId xmlns:r="http://schemas.openxmlformats.org/officeDocument/2006/relationships" id="262" r:id="Rc956749fe186443a"/>
    <p:sldId xmlns:r="http://schemas.openxmlformats.org/officeDocument/2006/relationships" id="263" r:id="R59f88042d9594cb1"/>
    <p:sldId xmlns:r="http://schemas.openxmlformats.org/officeDocument/2006/relationships" id="264" r:id="R088de24cdb134ab9"/>
    <p:sldId xmlns:r="http://schemas.openxmlformats.org/officeDocument/2006/relationships" id="265" r:id="R38dd0fc2893a4823"/>
    <p:sldId xmlns:r="http://schemas.openxmlformats.org/officeDocument/2006/relationships" id="266" r:id="R915871d46fba4f45"/>
    <p:sldId xmlns:r="http://schemas.openxmlformats.org/officeDocument/2006/relationships" id="267" r:id="R198bc995ed5341f8"/>
    <p:sldId xmlns:r="http://schemas.openxmlformats.org/officeDocument/2006/relationships" id="268" r:id="R9123943ae28b4a44"/>
    <p:sldId xmlns:r="http://schemas.openxmlformats.org/officeDocument/2006/relationships" id="269" r:id="Rd69fa393f0274dcb"/>
    <p:sldId xmlns:r="http://schemas.openxmlformats.org/officeDocument/2006/relationships" id="270" r:id="R3a08dc82316f4207"/>
    <p:sldId xmlns:r="http://schemas.openxmlformats.org/officeDocument/2006/relationships" id="271" r:id="Ra98d44ffe7d54916"/>
    <p:sldId xmlns:r="http://schemas.openxmlformats.org/officeDocument/2006/relationships" id="272" r:id="Rd03c5ae92f8d4362"/>
    <p:sldId xmlns:r="http://schemas.openxmlformats.org/officeDocument/2006/relationships" id="273" r:id="R9c4c3645f8934896"/>
    <p:sldId xmlns:r="http://schemas.openxmlformats.org/officeDocument/2006/relationships" id="274" r:id="Rfbf2fac97fad4894"/>
    <p:sldId xmlns:r="http://schemas.openxmlformats.org/officeDocument/2006/relationships" id="275" r:id="R31e97695c37e4267"/>
    <p:sldId xmlns:r="http://schemas.openxmlformats.org/officeDocument/2006/relationships" id="276" r:id="R968aa3e3653a4ef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38f2416d4247d1" /><Relationship Type="http://schemas.openxmlformats.org/officeDocument/2006/relationships/slideMaster" Target="/ppt/slideMasters/slideMaster1.xml" Id="R12472bae986d4603" /><Relationship Type="http://schemas.openxmlformats.org/officeDocument/2006/relationships/notesMaster" Target="/ppt/notesMasters/notesMaster1.xml" Id="Rb8b50e5edf884864" /><Relationship Type="http://schemas.openxmlformats.org/officeDocument/2006/relationships/presProps" Target="/ppt/presProps.xml" Id="Rf7f29dba2eb747e8" /><Relationship Type="http://schemas.openxmlformats.org/officeDocument/2006/relationships/tableStyles" Target="/ppt/tableStyles.xml" Id="R810080d5a2d4458b" /><Relationship Type="http://schemas.openxmlformats.org/officeDocument/2006/relationships/slide" Target="/ppt/slides/slide1.xml" Id="R29f0577659d5429e" /><Relationship Type="http://schemas.openxmlformats.org/officeDocument/2006/relationships/slide" Target="/ppt/slides/slide2.xml" Id="Rdcc05ef92b8047ce" /><Relationship Type="http://schemas.openxmlformats.org/officeDocument/2006/relationships/slide" Target="/ppt/slides/slide3.xml" Id="Ra21b36831ed44c26" /><Relationship Type="http://schemas.openxmlformats.org/officeDocument/2006/relationships/slide" Target="/ppt/slides/slide4.xml" Id="R413d1ee1d5cb448a" /><Relationship Type="http://schemas.openxmlformats.org/officeDocument/2006/relationships/slide" Target="/ppt/slides/slide5.xml" Id="R8218938f03364a23" /><Relationship Type="http://schemas.openxmlformats.org/officeDocument/2006/relationships/slide" Target="/ppt/slides/slide6.xml" Id="Rffe12564364446bc" /><Relationship Type="http://schemas.openxmlformats.org/officeDocument/2006/relationships/slide" Target="/ppt/slides/slide7.xml" Id="Rc956749fe186443a" /><Relationship Type="http://schemas.openxmlformats.org/officeDocument/2006/relationships/slide" Target="/ppt/slides/slide8.xml" Id="R59f88042d9594cb1" /><Relationship Type="http://schemas.openxmlformats.org/officeDocument/2006/relationships/slide" Target="/ppt/slides/slide9.xml" Id="R088de24cdb134ab9" /><Relationship Type="http://schemas.openxmlformats.org/officeDocument/2006/relationships/slide" Target="/ppt/slides/slide10.xml" Id="R38dd0fc2893a4823" /><Relationship Type="http://schemas.openxmlformats.org/officeDocument/2006/relationships/slide" Target="/ppt/slides/slide11.xml" Id="R915871d46fba4f45" /><Relationship Type="http://schemas.openxmlformats.org/officeDocument/2006/relationships/slide" Target="/ppt/slides/slide12.xml" Id="R198bc995ed5341f8" /><Relationship Type="http://schemas.openxmlformats.org/officeDocument/2006/relationships/slide" Target="/ppt/slides/slide13.xml" Id="R9123943ae28b4a44" /><Relationship Type="http://schemas.openxmlformats.org/officeDocument/2006/relationships/slide" Target="/ppt/slides/slide14.xml" Id="Rd69fa393f0274dcb" /><Relationship Type="http://schemas.openxmlformats.org/officeDocument/2006/relationships/slide" Target="/ppt/slides/slide15.xml" Id="R3a08dc82316f4207" /><Relationship Type="http://schemas.openxmlformats.org/officeDocument/2006/relationships/slide" Target="/ppt/slides/slide16.xml" Id="Ra98d44ffe7d54916" /><Relationship Type="http://schemas.openxmlformats.org/officeDocument/2006/relationships/slide" Target="/ppt/slides/slide17.xml" Id="Rd03c5ae92f8d4362" /><Relationship Type="http://schemas.openxmlformats.org/officeDocument/2006/relationships/slide" Target="/ppt/slides/slide18.xml" Id="R9c4c3645f8934896" /><Relationship Type="http://schemas.openxmlformats.org/officeDocument/2006/relationships/slide" Target="/ppt/slides/slide19.xml" Id="Rfbf2fac97fad4894" /><Relationship Type="http://schemas.openxmlformats.org/officeDocument/2006/relationships/slide" Target="/ppt/slides/slide20.xml" Id="R31e97695c37e4267" /><Relationship Type="http://schemas.openxmlformats.org/officeDocument/2006/relationships/slide" Target="/ppt/slides/slide21.xml" Id="R968aa3e3653a4ef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c3f32135204e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847b4e0c11485b" /><Relationship Type="http://schemas.openxmlformats.org/officeDocument/2006/relationships/notesMaster" Target="/ppt/notesMasters/notesMaster1.xml" Id="R9ce1aed0325142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7168396f9d94d0f" /><Relationship Type="http://schemas.openxmlformats.org/officeDocument/2006/relationships/notesMaster" Target="/ppt/notesMasters/notesMaster1.xml" Id="R17f5bb29c36e48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f897c11e1a491a" /><Relationship Type="http://schemas.openxmlformats.org/officeDocument/2006/relationships/notesMaster" Target="/ppt/notesMasters/notesMaster1.xml" Id="R7b20ba8f694540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6c18ed346b4de9" /><Relationship Type="http://schemas.openxmlformats.org/officeDocument/2006/relationships/notesMaster" Target="/ppt/notesMasters/notesMaster1.xml" Id="R3a341a4404c647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d4eb7775c543cd" /><Relationship Type="http://schemas.openxmlformats.org/officeDocument/2006/relationships/notesMaster" Target="/ppt/notesMasters/notesMaster1.xml" Id="R16af6eee819d4b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7371485de14c7a" /><Relationship Type="http://schemas.openxmlformats.org/officeDocument/2006/relationships/notesMaster" Target="/ppt/notesMasters/notesMaster1.xml" Id="Rc5c07af14e4e46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570eae54d8a46a4" /><Relationship Type="http://schemas.openxmlformats.org/officeDocument/2006/relationships/notesMaster" Target="/ppt/notesMasters/notesMaster1.xml" Id="R7056ec6e00214c4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a5e1206342d455f" /><Relationship Type="http://schemas.openxmlformats.org/officeDocument/2006/relationships/notesMaster" Target="/ppt/notesMasters/notesMaster1.xml" Id="R478bf8121a5c447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cefe500655542fa" /><Relationship Type="http://schemas.openxmlformats.org/officeDocument/2006/relationships/notesMaster" Target="/ppt/notesMasters/notesMaster1.xml" Id="R91619d6f6885467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4161fc5ee0644bc" /><Relationship Type="http://schemas.openxmlformats.org/officeDocument/2006/relationships/notesMaster" Target="/ppt/notesMasters/notesMaster1.xml" Id="Rc1ab1205e00d4df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24f301813cb4698" /><Relationship Type="http://schemas.openxmlformats.org/officeDocument/2006/relationships/notesMaster" Target="/ppt/notesMasters/notesMaster1.xml" Id="R7a8d2ec1584f467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cf93f40202a44cd" /><Relationship Type="http://schemas.openxmlformats.org/officeDocument/2006/relationships/notesMaster" Target="/ppt/notesMasters/notesMaster1.xml" Id="R821abf70e10e4b8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c58b3a1e59740a8" /><Relationship Type="http://schemas.openxmlformats.org/officeDocument/2006/relationships/notesMaster" Target="/ppt/notesMasters/notesMaster1.xml" Id="Ra1451cbb373b47f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bbe6c254d8244f8" /><Relationship Type="http://schemas.openxmlformats.org/officeDocument/2006/relationships/notesMaster" Target="/ppt/notesMasters/notesMaster1.xml" Id="R1bae949aae5f433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061378aaa9448df" /><Relationship Type="http://schemas.openxmlformats.org/officeDocument/2006/relationships/notesMaster" Target="/ppt/notesMasters/notesMaster1.xml" Id="R22f549b9a3b74cc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9589f8a206f47b9" /><Relationship Type="http://schemas.openxmlformats.org/officeDocument/2006/relationships/notesMaster" Target="/ppt/notesMasters/notesMaster1.xml" Id="R1cbd023bb101461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5250cda5cb14f8c" /><Relationship Type="http://schemas.openxmlformats.org/officeDocument/2006/relationships/notesMaster" Target="/ppt/notesMasters/notesMaster1.xml" Id="R36484a6d181a4ba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edbd190c89e4868" /><Relationship Type="http://schemas.openxmlformats.org/officeDocument/2006/relationships/notesMaster" Target="/ppt/notesMasters/notesMaster1.xml" Id="Re402173244c14bd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fdc74b731f046f4" /><Relationship Type="http://schemas.openxmlformats.org/officeDocument/2006/relationships/notesMaster" Target="/ppt/notesMasters/notesMaster1.xml" Id="R7ad7c0714425476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d041917b6724d5e" /><Relationship Type="http://schemas.openxmlformats.org/officeDocument/2006/relationships/notesMaster" Target="/ppt/notesMasters/notesMaster1.xml" Id="R8f72f96e887d4c1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07e5073f0a841db" /><Relationship Type="http://schemas.openxmlformats.org/officeDocument/2006/relationships/notesMaster" Target="/ppt/notesMasters/notesMaster1.xml" Id="R1ba79eda363d46f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Simplified Jordan Sorting 的可执行重构进展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大家好。这次汇报介绍我的硕士论文目前的进展，研究主题是 Simplified Jordan Sorting 的可执行重构。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在上一次研究讨论课汇报中，我主要介绍了静态结构框架，包括 rank interval、upper family 和 lower family、family tree，以及一个由 oracle 支持的 reference implementation。此后的核心问题是：论文中描述的动态过程，能否在普通 Python list 上被重构成一套真正可执行、可以检查、并且能够从自身状态恢复输出的实现。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今天我会依次介绍这套重构、验证策略，以及在明确限定的计时范围下得到的正式实验结果。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thesis/frontmatter/abstract.tex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thesis/figures/jordan_sorting_problem.pdf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上一次汇报建立了静态结构基线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上一次实现已经提供了一个有用的静态基线。它用 rank interval 表示输入，区分 upper 和 lower 两个 pair family，重构它们的 laminar family tree，并计算相应的结构指标。它还使用 oracle 验证输入，并提供 reference output。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这个框架能够解释为什么同一 family 内的 interval 只能 nested 或 disjoint，但它还没有真正执行动态的 Jordan-sorting procedure。具体来说，它没有随着新 point 的加入持续维护 processed prefix，没有执行 sibling list 的 split 或 transfer ownership，也没有从算法自己维护的状态中恢复最终 sorted output。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因此，主要缺口不是再增加一个静态数据模型，而是把结构描述转化成一系列安全、明确、可执行的动态更新。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thesis/chapters/background.tex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Hoffmann et al. (1986), doi:10.1016/S0019-9958(86)80033-X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四个工作包共同处理主要实现缺口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我把这个过程分成四个相互关联的工作包。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第一，稳定研究 scope，把 valid-input sorting、recognition 和历史 linear-time bound 所需的 specialized backend 分开。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第二，把论文中的 Step 1、Step 2 和 Step 3 控制流重构为可执行代码。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第三，加入 state invariant、ownership 检查、transactional update、deterministic replay 和 bounded validation。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第四，在 implementation 和 validation boundary 稳定之后，按照预先固定的 protocol 完成第一轮正式 evaluation。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最终得到的是一套稳定的 ordinary-list implementation baseline。这里的区别很重要：它是对算法控制流的可执行重构，但不是对历史 linear-time bound 所需 specialized data structure 的实现。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随着实现逐渐明确，研究范围也进行了有意的收敛。早期计划把 valid/invalid input 生成、静态 family tree、recognition、更广泛的 reference evaluation，以及理论 backend 的可能实现放在一起。当前 scope 更窄，但技术上更清楚：论文重构的是 1990 年 sorting procedure，输入已经预先通过 oracle certification；实验比较 Python sort、完整的 oracle-backed reference pipeline 和重构后的 paper core。Recognition 不属于正式实验，backend 仍然使用普通 Python list。这个 ordinary-list implementation 继续作为已经验证的基线。按照导师的新建议，我也在研究是否可以在不改变 paper-facing control flow 的前提下，把 sibling-list representation 替换成 finger-tree backend。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三个研究问题连接重构、测量和解释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由此得到三个研究问题。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第一个，也是主要技术问题，是 ordinary-list reconstruction 能否针对 oracle-certified valid input，从自己维护的状态中恢复正确的 sorted order。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第二个问题关注观测到的 runtime behavior：paper core 在 pre-certified input 上调用时，相对于 Python sort 和完整 reference pipeline，在各自定义的 timing scope 下表现如何。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第三个问题是 exploratory 的：input structure、checked operation counter 和 runtime 之间出现了哪些描述性关系。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这些区别会贯穿整个汇报。第一个问题对应可执行重构和有限正确性证据；第二个问题对应不同 timing scope 下的测量，而不是一般性能主张；第三个问题只做描述，不做因果解释。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Oracle、reference pipeline 和 paper core 承担不同角色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在介绍控制流之前，需要先明确 oracle、reference pipeline 和 paper core 的不同角色。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Oracle 有两个外部角色。在 paper call 之前，它确认 valid-input precondition；在调用之后，它提供用于 correctness comparison 的 expected sorted order。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相比之下，reference pipeline 有意使用完整的 oracle result，包括 sorted output，并把它与 family tree 和 structural information 组合起来。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Paper ordinary-list core 接收原始 sequence，以及已经成立的 valid-input precondition。它执行 Step 1、Step 2 和 Step 3，维护自己的 partial sorted order 和 sibling-list state，最后从这些状态中恢复输出。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右下方的虚线框明确位于 core 之外，说明 output comparison 只在调用结束后发生。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因此，两条路径共享同一个 expected answer，但输出来源完全不同。Oracle-derived sorted list 从未传入 paper core，也不会决定它的返回值。这样可以使用 oracle 检查正确性，而不把答案交给被研究的实现。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src/paper_jordan.py</a:t>
            </a:r>
          </a:p>
          <a:p xmlns:a="http://schemas.openxmlformats.org/drawingml/2006/main">
            <a:r>
              <a:t>- src/simplified_jordan.py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一套 Step 1/2/3 控制流支持反射后的 decreasing orientation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可执行重构使用一套统一的主控制流。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在最初三个 point 排序完成后，每个新 point 都依次经过 Step 1、Step 2 和 Step 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1 找到 predecessor-side boundary；Step 2 找到 successor-side boundary。Step 3(a) 插入新 pair，Step 3(b) 在需要时执行 sibling-list split 和 ownership transfer，Step 3(c) 把新 point 插入 maintained sorted order。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更精确地说，Step 1 始终计算 predecessor-side boundary A_i，Step 2 始终计算 successor-side boundary B_i。真正发生反射的是 Step 3：increasing iteration 在 Step 3(a) 使用 A_i、在 Step 3(b) 使用 B_i；decreasing iteration 则交换这两个 boundary 的用途。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下方单独列出了不同的重构依据。1990 年论文明确描述 increasing case；decreasing case 通过 reflection 重构；geometric endpoint 和 odd-index z_1 output anchor 则属于局部 executable clarification。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这样可以清楚区分：哪些规则由论文直接给出，哪些由镜像对称性重构，哪些是为了得到无歧义的可执行行为而明确补充的。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Step 3(c) 使用 geometric extreme，而不是第二个 stored endpoint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第一个 clarification 与 Step 3(c) 使用的 endpoint 有关。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考虑这里的 valid prefix：3、2、1、4。Acquired pair 是 P_2，并按照 curve order 保存为 3、2。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一种机械式解释是：直接把 stored pair 的第二个元素 2 当作 insertion anchor。这样会得到 1、2、4、3，它并没有按 axis order 排序。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原因是 curve order 和 axis order 是两个不同概念。Pair 的存储顺序来自沿 curve 的遍历顺序，而 Step 3(c) 需要的是 x-axis 上的 geometric extreme。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在这个例子中，正确的 geometric endpoint 是 3，把 4 插在 3 之后会得到正确顺序 1、2、3、4。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在反射后的控制流中，orientation 决定使用哪一个 geometric extreme：increasing case 使用 right endpoint，decreasing case 使用 left endpoint。这和“哪个元素刚好排在 stored pair 的第二位”不是同一个问题。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因此，可执行规则是选择 geometric extreme，而不是简单选择第二个 stored endpoint。我把它视为 reconstruction clarification，而不把这条规则直接归于 1990 年论文。缺少它时，maintained order 会在有效输入上出错。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Odd iteration 需要独立的 z_1 output-anchor correction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第二个 clarification 是 odd-index z_1 anomaly。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这里的 valid prefix 是 1、2、3、4、6、7、0。在这个 decreasing iteration 中，普通 geometric base anchor 是 z_2，它的值为 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如果直接把新 point 0 插入 2 之前，会得到 1、0、2、3、4、6、7。这样 z_1，也就是值 1，仍然位于新 point 的错误一侧。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这里的关键顺序是：0 小于 z_1，而 z_1 又小于原来的 anchor 2。在这个 odd-index condition 下，output anchor 必须从 z_2 修正为 z_1。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把 0 插入 z_1 之前后，得到正确 axis order：0、1、2、3、4、6、7。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这里不能把它和 predecessor/successor boundary adjustment 合并。它们是两个独立决定：一个选择 family update 使用的 boundary pair，另一个选择 maintained order 更新时使用的 output anchor。只有明确分离这两个职责，maintained order 才能保持正确。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thesis/figures/step3c_anchor_z1_anomaly.pdf</a:t>
            </a:r>
          </a:p>
          <a:p xmlns:a="http://schemas.openxmlformats.org/drawingml/2006/main">
            <a:r>
              <a:t>- Hoffmann et al. (1986), p. 175, doi:10.1016/S0019-9958(86)80033-X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正确插入还要求 ownership-safe transactional 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Sorted-order insertion 只是 state 问题的一部分。每个 finite pair 还必须恰好拥有一个 parent 和一个 sibling-list owner。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左侧图展示了局部 transaction。Split 之前，existing owner 控制一个 sibling list，其中包含 retained segment 和即将被 acquired 的 segment。Split 之后，existing owner 保留 retained segment，而 new owner 接收 acquired 的非空 segment。只有 transferred segment 的 ownership 会被重新绑定。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因此，实现把 split 和 transfer 当作 transaction：先保存受影响状态，再执行 split，发布 ownership transfer，检查局部 postcondition；如果任何检查失败，就 rollback。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检查还会拒绝无效的 split boundary 和不一致的 ownership state。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Maintained state 同时还包括 sorted processed prefix，以及 upper 和 lower pair family。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由于 backend 使用 ordinary list，scanning、copying、slicing 和 ownership rebinding 都仍然是实际成本。Transaction 可以保护正确性，但 ordinary list 并不提供历史 linear-time analysis 所需的 update bound。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thesis/figures/family_sibling_structure.pdf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Validation 同时覆盖 implementation state 和 evidence integrity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验证策略分成两个不同侧面。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左侧是 implementation 和 state validation。Focused regression case 覆盖已知 edge condition；bounded exhaustive validation 覆盖 n 不超过 8 的 2,074 个 oracle-valid permutation；checked-state audit 检查完整 maintained state，包括 parent chain、ownership、list registry、split pair 和 recovered output；same-core deterministic replay 检查结果状态的 deterministic consistency。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Replay 不是第二套独立的 Jordan-sorting implementation，而是对同一 core 的一致性检查。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右侧是 evidence integrity 和 reproducibility。正式实验采用 pre-specified protocol、manifest-bound archive、schema 和 schedule 检查、row count、summary recomputation 和 hash verification。单独的 evidence-contract validator 会重新生成 expected case、重算相关 summary，并验证 archive。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这两类 validation 支持不同主张。它们共同提供 bounded correctness evidence 和可复现的 evidence chain，但不构成对所有 Jordan sequence 的数学证明。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docs/thesis/latex_final_audit.md</a:t>
            </a:r>
          </a:p>
          <a:p xmlns:a="http://schemas.openxmlformats.org/drawingml/2006/main">
            <a:r>
              <a:t>- experiments/validate_week12_formal_sorting_outputs.py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正式实验把 certification 和 audit 放在 paper timing 之外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正式实验的设计重点之一，是让 paper timing boundary 可以被清楚观察。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Protocol 包含 5 个 input size、每个 size 12 个 exact case、3 个 algorithm，以及每个 case-algorithm cell 的 20 次 measured call，因此一共产生 3,600 条 measured row。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每个 exact case 只生成一次、certify 一次，并在计时前执行一次 checked-state audit。每个 case-algorithm cell 先执行 5 次 warm-up，再执行 20 次 measured call。Schedule 是确定性的，并在 measured round 中轮转 algorithm position。每次 timed call 都使用 fresh input list。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 paper algorithm 来说，certification 和 checked-state audit 位于 timer 之外，而 pre-certified input 上的 minimal paper-core call 位于 timer 内。需要特别强调的是，从 maintained partial order 恢复 output 仍属于 paper timed call。Runner-level normalization 和 correctness comparison 在计时后执行。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三个 pipeline 的 timed scope 并不相同。Python timing 覆盖完整 sorting call；reference timing 包含完整 oracle-backed pipeline。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因此，后面看到的 paper/reference 数值被称为 pipeline-scope ratio。它可以描述这次固定实验，但不是 like-for-like end-to-end speedup。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测量完成后，runner 聚合 raw row，写入 manifest-bound archive，并执行 evidence-contract validation。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thesis/figures/formal_experiment_pipeline.pdf</a:t>
            </a:r>
          </a:p>
          <a:p xmlns:a="http://schemas.openxmlformats.org/drawingml/2006/main">
            <a:r>
              <a:t>- results/runs/week12_formal_sorting_v1__run001/config.json</a:t>
            </a:r>
          </a:p>
          <a:p xmlns:a="http://schemas.openxmlformats.org/drawingml/2006/main">
            <a:r>
              <a:t>- results/runs/week12_formal_sorting_v1__run001/manifest.json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所有预先指定的 formal case 都通过检查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全部 60 个 pre-specified formal case 都通过了相应检查。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Archive 包含 3,600 条 measured row，60 个 case-level checked-state audit 全部通过，并且没有记录 correctness error。每个 case 在计时前都通过 oracle certification，每次 measured call 都返回 expected output。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这里必须区分 row 和 audit。实验只执行了 60 次 audit，也就是每个 exact case 一次；audit result 随后关联到该 case 的 timing row。并不是执行了 3,600 次独立 audit。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这些结果为 protocol 中受控的 valid case 提供经验正确性证据。它们不评估 arbitrary-input recognition，也不是对所有 Jordan sequence 的正确性证明。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results/runs/week12_formal_sorting_v1__run001/raw.csv</a:t>
            </a:r>
          </a:p>
          <a:p xmlns:a="http://schemas.openxmlformats.org/drawingml/2006/main">
            <a:r>
              <a:t>- results/runs/week12_formal_sorting_v1__run001/case_audit.csv</a:t>
            </a:r>
          </a:p>
          <a:p xmlns:a="http://schemas.openxmlformats.org/drawingml/2006/main">
            <a:r>
              <a:t>- results/runs/week12_formal_sorting_v1__run001/validation_report.json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Paper/reference ratio 随五个测试规模下降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主要 runtime pattern 是 median exact-case paper/reference ratio 随五个 tested size 持续下降。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计算时，先在每个 exact case 内用 paper median 除以 reference median，再让各个 case 以相同权重进行汇总。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 n 等于 32 时，median ratio 是 3.226，因此在定义的 timing scope 下，paper call 大于 reference call。在 n 等于 64 时 ratio 降到 2.202，在 n 等于 128 时降到 1.351。在 n 等于 256 时，ratio 是 0.851；在 n 等于 512 时，ratio 是 0.567。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因此，observed crossover 位于测试规模 128 和 256 之间。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这只是有限范围内的 empirical pattern，不是 asymptotic claim。它也不代表 paper implementation 在一般意义上更快，因为 numerator 和 denominator 对应不同 pipeline。Reference call 包含 oracle-backed work，而 paper call 从 certified valid input 开始，只计时 minimal core。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Backup A 中还可以看到，Python sort 在每个 tested size 上仍然具有最低的 median call time。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results/runs/week12_formal_sorting_v1__run001/case_summary.csv</a:t>
            </a:r>
          </a:p>
          <a:p xmlns:a="http://schemas.openxmlformats.org/drawingml/2006/main">
            <a:r>
              <a:t>- docs/analysis/week12_runtime_ratios.csv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 evidence 支持四个有限结论：ordinary-list reconstruction 是可执行的；它从 maintained state 恢复 output；每个 evaluated valid case 都返回正确结果；在定义的 timing scope 下，runtime observation 可复现。但更强的结论仍未成立：这不是 linear-time implementation；五个 tested size 不能确定 asymptotic complexity；实验没有评估 arbitrary-input recognition；paper/reference ratio 也不是 like-for-like end-to-end speedup。本页的限制适用于今天报告的 ordinary-list evidence。未来的 finger-tree backend 必须拥有自己的正确性验证、复杂度分析和实验证据。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thesis/chapters/conclusion.tex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已验证的 ordinary-list baseline 现在为 finger-tree 扩展提供了一个受控起点。可执行重构已经稳定，输出从 maintained state 恢复，state 和 ownership validation 已经建立，formal evidence 也已经归档。归档的 ordinary-list experiment 会继续作为固定基线，不会被覆盖。如果 finger-tree backend 进入论文，它必须使用独立的源码版本、validation pass 和 experiment，不能复用现有结果。第一目标是实现语义等价的 backend，并通过 differential tests 与 Jordan-sorting correctness tests。更强的 complexity claim 还需要额外论证：split、boundary insertion 和 ownership handling 必须满足历史分析所使用的 operation bounds。因此我希望向导师确认两点：扩展应特别针对历史 heterogeneous finger tree，还是一个支持所需列表操作的等价后端；语义等价加实验比较是否足够，还是还需要 amortized operation-bound 论证。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thesis/README.md</a:t>
            </a:r>
          </a:p>
          <a:p xmlns:a="http://schemas.openxmlformats.org/drawingml/2006/main">
            <a:r>
              <a:t>- Fung et al. (1990), doi:10.1016/0020-0190(90)90111-A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按输入规模列出的 median runtime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如果有人询问精确 runtime，可以使用这一页。表格给出三个 algorithm 的 median call time。数值只属于一次记录的 Apple M4、CPython 3.12.4 执行环境。图采用 logarithmic scale，使 Python 数值能够与 reference 和 paper 数值同时显示。绝对时间不能直接推广到其他硬件或软件环境。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results/runs/week12_formal_sorting_v1__run001/case_summary.csv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Paper output 的来源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这一页直接回答 output provenance 问题。Reference pipeline 返回 oracle_result["sorted"]；paper core 返回 state.partial_order.to_list()。Certification 位于 paper call 之前，comparison 位于调用之后，因此两者都不会向 paper core 提供返回值。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src/paper_jordan.py</a:t>
            </a:r>
          </a:p>
          <a:p xmlns:a="http://schemas.openxmlformats.org/drawingml/2006/main">
            <a:r>
              <a:t>- src/simplified_jordan.py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 implementation baseline 的 validation summary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这一页汇总 bounded validation evidence，包括 repository tests、n 不超过 8 的 exhaustive valid permutation、fixed generated case、formal case-level checked-state audit，以及一份通过 evidence-contract validation 的 formal evidence archive。这些检查相互补充，但都不是 universal proof。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docs/thesis/latex_final_audit.md</a:t>
            </a:r>
          </a:p>
          <a:p xmlns:a="http://schemas.openxmlformats.org/drawingml/2006/main">
            <a:r>
              <a:t>- experiments/validate_paper_algorithm.py</a:t>
            </a:r>
          </a:p>
          <a:p xmlns:a="http://schemas.openxmlformats.org/drawingml/2006/main">
            <a:r>
              <a:t>- results/runs/week12_formal_sorting_v1__run001/validation_report.json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Increasing 和 decreasing iteration 的反射关系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1 始终选择 predecessor-side boundary A_i，Step 2 始终选择 successor-side boundary B_i。Step 3 反射的是这些 boundary 的使用方式。Increasing iteration 获取 left split side，并使用 rightmost child 和 right endpoint；decreasing iteration 对这些局部选择进行镜像。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这一拟议边界把 paper-facing 的 Step 1、Step 2 和 Step 3 control flow 放在一个小型 sibling-list interface 之上。当前 ordinary-list backend 继续作为已验证基线；finger-tree backend 则是同一组语义操作的独立实现，包括 singleton creation、boundary insertion、split、extreme-child access、ownership preservation 和 stable handles。具体的数据结构目标——是历史 heterogeneous finger tree，还是一个具有等价效率的后端——仍需与导师确认。最关键的风险是：高效的 tree splitting 本身并不足够。如果 ownership transfer 仍然扫描 acquired segment 并逐个重新绑定元素，这个 backend 仍可能无法满足历史分析所需的 operation bounds。因此第一里程碑是语义等价和 differential correctness；任何复杂度主张都需要另外的证明层论证。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Fung et al. (1990), doi:10.1016/0020-0190(90)90111-A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4c9f871d394de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8a9a733580f404c" /><Relationship Type="http://schemas.openxmlformats.org/officeDocument/2006/relationships/slideLayout" Target="/ppt/slideLayouts/slideLayout1.xml" Id="R58ad4667a9074b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ad4667a9074b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671cd8656148ff" /><Relationship Type="http://schemas.openxmlformats.org/officeDocument/2006/relationships/image" Target="/ppt/media/image.png" Id="R934ea58fea55426d" /><Relationship Type="http://schemas.openxmlformats.org/officeDocument/2006/relationships/notesSlide" Target="/ppt/notesSlides/notesSlide1.xml" Id="Rd65b72262a5b4a5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b4f1ca0bda4cdb" /><Relationship Type="http://schemas.openxmlformats.org/officeDocument/2006/relationships/notesSlide" Target="/ppt/notesSlides/notesSlide2.xml" Id="R17c7fc15e1b143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cd33994e7c4d9c" /><Relationship Type="http://schemas.openxmlformats.org/officeDocument/2006/relationships/notesSlide" Target="/ppt/notesSlides/notesSlide3.xml" Id="R6537eedfd85f49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8bec20211942ec" /><Relationship Type="http://schemas.openxmlformats.org/officeDocument/2006/relationships/notesSlide" Target="/ppt/notesSlides/notesSlide4.xml" Id="Rf780e8c755264b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efb78ecc804f9d" /><Relationship Type="http://schemas.openxmlformats.org/officeDocument/2006/relationships/notesSlide" Target="/ppt/notesSlides/notesSlide5.xml" Id="R6d8ae7ac162647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06584d12b04aa7" /><Relationship Type="http://schemas.openxmlformats.org/officeDocument/2006/relationships/notesSlide" Target="/ppt/notesSlides/notesSlide6.xml" Id="R6e8e6df483e4463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1eb85931d44333" /><Relationship Type="http://schemas.openxmlformats.org/officeDocument/2006/relationships/notesSlide" Target="/ppt/notesSlides/notesSlide7.xml" Id="R2aac22d6088b486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d07407b02e4657" /><Relationship Type="http://schemas.openxmlformats.org/officeDocument/2006/relationships/notesSlide" Target="/ppt/notesSlides/notesSlide8.xml" Id="R0db9ddd6914145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69936c5994fb2" /><Relationship Type="http://schemas.openxmlformats.org/officeDocument/2006/relationships/notesSlide" Target="/ppt/notesSlides/notesSlide9.xml" Id="Rc202a41806fa4c8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feecbf03864848" /><Relationship Type="http://schemas.openxmlformats.org/officeDocument/2006/relationships/notesSlide" Target="/ppt/notesSlides/notesSlide10.xml" Id="R81cc400a59864f7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ef9fc1efb94dc2" /><Relationship Type="http://schemas.openxmlformats.org/officeDocument/2006/relationships/notesSlide" Target="/ppt/notesSlides/notesSlide11.xml" Id="Rb43693299b00491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ab3af9d3f4670" /><Relationship Type="http://schemas.openxmlformats.org/officeDocument/2006/relationships/notesSlide" Target="/ppt/notesSlides/notesSlide12.xml" Id="R15667608c1aa4e4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572c6866fe44c3" /><Relationship Type="http://schemas.openxmlformats.org/officeDocument/2006/relationships/notesSlide" Target="/ppt/notesSlides/notesSlide13.xml" Id="R8f49495fe06f426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0572981a8a4f27" /><Relationship Type="http://schemas.openxmlformats.org/officeDocument/2006/relationships/chart" Target="/ppt/slides/charts/chart1.xml" Id="R4cb7ac3985154cd2" /><Relationship Type="http://schemas.openxmlformats.org/officeDocument/2006/relationships/notesSlide" Target="/ppt/notesSlides/notesSlide14.xml" Id="R26a97efd088b4d6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1beca63f94c09" /><Relationship Type="http://schemas.openxmlformats.org/officeDocument/2006/relationships/notesSlide" Target="/ppt/notesSlides/notesSlide15.xml" Id="R6970b10968a9427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3636c75bd6493f" /><Relationship Type="http://schemas.openxmlformats.org/officeDocument/2006/relationships/notesSlide" Target="/ppt/notesSlides/notesSlide16.xml" Id="R7af61127e2eb4d4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12e71b499a4dd3" /><Relationship Type="http://schemas.openxmlformats.org/officeDocument/2006/relationships/image" Target="/ppt/media/image2.png" Id="Ra1ea5027077a401d" /><Relationship Type="http://schemas.openxmlformats.org/officeDocument/2006/relationships/notesSlide" Target="/ppt/notesSlides/notesSlide17.xml" Id="Rff9719a7f280476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ed8b267f764a8b" /><Relationship Type="http://schemas.openxmlformats.org/officeDocument/2006/relationships/notesSlide" Target="/ppt/notesSlides/notesSlide18.xml" Id="R922ea71dbe0c49f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14f41919fc4ed3" /><Relationship Type="http://schemas.openxmlformats.org/officeDocument/2006/relationships/notesSlide" Target="/ppt/notesSlides/notesSlide19.xml" Id="R435648be53bc442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5120c3e7164607" /><Relationship Type="http://schemas.openxmlformats.org/officeDocument/2006/relationships/notesSlide" Target="/ppt/notesSlides/notesSlide20.xml" Id="R5fcfd5ad48e74be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3a6ddd07eb4fdf" /><Relationship Type="http://schemas.openxmlformats.org/officeDocument/2006/relationships/notesSlide" Target="/ppt/notesSlides/notesSlide21.xml" Id="R67cd8586eaf44e00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paper/reference</c:v>
          </c:tx>
          <c:spPr>
            <a:ln xmlns:a="http://schemas.openxmlformats.org/drawingml/2006/main" w="38100">
              <a:solidFill>
                <a:srgbClr val="2A9D8F"/>
              </a:solidFill>
              <a:prstDash val="solid"/>
            </a:ln>
          </c:spPr>
          <c:marker>
            <c:symbol val="circle"/>
            <c:size val="9"/>
            <c:spPr>
              <a:solidFill xmlns:a="http://schemas.openxmlformats.org/drawingml/2006/main">
                <a:srgbClr val="2A9D8F"/>
              </a:solidFill>
            </c:spPr>
          </c:marker>
          <c:cat>
            <c:numLit>
              <c:formatCode>General</c:formatCode>
              <c:ptCount val="5"/>
              <c:pt idx="0">
                <c:v>32</c:v>
              </c:pt>
              <c:pt idx="1">
                <c:v>64</c:v>
              </c:pt>
              <c:pt idx="2">
                <c:v>128</c:v>
              </c:pt>
              <c:pt idx="3">
                <c:v>256</c:v>
              </c:pt>
              <c:pt idx="4">
                <c:v>512</c:v>
              </c:pt>
            </c:numLit>
          </c:cat>
          <c:val>
            <c:numLit>
              <c:formatCode>0.0</c:formatCode>
              <c:ptCount val="5"/>
              <c:pt idx="0">
                <c:v>3.22642</c:v>
              </c:pt>
              <c:pt idx="1">
                <c:v>2.202394</c:v>
              </c:pt>
              <c:pt idx="2">
                <c:v>1.351064</c:v>
              </c:pt>
              <c:pt idx="3">
                <c:v>0.850597</c:v>
              </c:pt>
              <c:pt idx="4">
                <c:v>0.567187</c:v>
              </c:pt>
            </c:numLit>
          </c:val>
          <c:smooth val="0"/>
        </c:ser>
        <c:ser>
          <c:idx val="1"/>
          <c:order val="1"/>
          <c:tx>
            <c:v>比值 = 1</c:v>
          </c:tx>
          <c:spPr>
            <a:ln xmlns:a="http://schemas.openxmlformats.org/drawingml/2006/main" w="19050">
              <a:solidFill>
                <a:srgbClr val="E76F51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5"/>
              <c:pt idx="0">
                <c:v>32</c:v>
              </c:pt>
              <c:pt idx="1">
                <c:v>64</c:v>
              </c:pt>
              <c:pt idx="2">
                <c:v>128</c:v>
              </c:pt>
              <c:pt idx="3">
                <c:v>256</c:v>
              </c:pt>
              <c:pt idx="4">
                <c:v>512</c:v>
              </c:pt>
            </c:numLit>
          </c:cat>
          <c:val>
            <c:numLit>
              <c:formatCode>0.0</c:formatCode>
              <c:ptCount val="5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  <c:pt idx="4">
                <c:v>1</c:v>
              </c:pt>
            </c:numLit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475569"/>
                    </a:solidFill>
                  </a:rPr>
                  <a:t>输入规模 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475569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06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3.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475569"/>
                    </a:solidFill>
                  </a:rPr>
                  <a:t>exact-case 中位比值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475569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06D"/>
                </a:solidFill>
              </a:defRPr>
            </a:pPr>
          </a:p>
        </c:txPr>
        <c:crossAx val="48650112"/>
        <c:crossBetween val="between"/>
        <c:majorUnit val="0.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9E2EC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52606D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D9E2EC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C5DA2-3E39-468E-B4AF-FB7CD9A8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4ea58fea55426d"/>
          <a:stretch xmlns:a="http://schemas.openxmlformats.org/drawingml/2006/main"/>
        </p:blipFill>
        <p:spPr>
          <a:xfrm xmlns:a="http://schemas.openxmlformats.org/drawingml/2006/main">
            <a:off x="7334250" y="1695818"/>
            <a:ext cx="4667250" cy="266626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3668F-9159-471B-83F8-74C9EF31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2A9D8F"/>
                </a:solidFill>
              </a:defRPr>
            </a:pPr>
            <a:r>
              <a:rPr sz="1050" b="1" i="0">
                <a:solidFill>
                  <a:srgbClr val="2A9D8F"/>
                </a:solidFill>
              </a:rPr>
              <a:t>硕士论文进度汇报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B6215-5D29-4D70-B820-A001698C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5905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Simplified Jordan Sorting 的可执行重构进展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F75352-07CF-4387-B45B-86202AC1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D9EAF2"/>
                </a:solidFill>
              </a:defRPr>
            </a:pPr>
            <a:r>
              <a:rPr sz="1800" b="0" i="0">
                <a:solidFill>
                  <a:srgbClr val="D9EAF2"/>
                </a:solidFill>
              </a:rPr>
              <a:t>实现、验证与正式实验证据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45AE1-B738-412B-B717-4A013DC9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1428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6F5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65454-8AEA-40CE-A283-B994C2BD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BCCCDC"/>
                </a:solidFill>
              </a:defRPr>
            </a:pPr>
            <a:r>
              <a:rPr sz="1275" b="0" i="0">
                <a:solidFill>
                  <a:srgbClr val="BCCCDC"/>
                </a:solidFill>
              </a:rPr>
              <a:t>研究讨论课  |  柏林自由大学  |  2026 年 9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AE0B78-71EB-4F9D-A607-5F45E7C1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770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 i="0">
                <a:solidFill>
                  <a:srgbClr val="7B8794"/>
                </a:solidFill>
              </a:defRPr>
            </a:pPr>
            <a:r>
              <a:rPr sz="825" b="0" i="0">
                <a:solidFill>
                  <a:srgbClr val="7B8794"/>
                </a:solidFill>
              </a:rPr>
              <a:t>1 / 16</a:t>
            </a:r>
          </a:p>
        </p:txBody>
      </p:sp>
    </p:spTree>
    <p:extLst>
      <p:ext uri="{BB962C8B-B14F-4D97-AF65-F5344CB8AC3E}">
        <p14:creationId xmlns:p14="http://schemas.microsoft.com/office/powerpoint/2010/main" val="7429204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362742-044E-4AC8-8F5A-1D012AA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上下文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BCD880-9BD5-40BD-ADE0-CA279C20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上次汇报建立了静态结构基线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B2EB3-447A-4C83-8D6E-CDEC1BA6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F905C-FDF6-4402-9792-DB0F3A4E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243C3-4EAC-4300-AF23-B9981D6D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87330-7C29-4EFF-9B97-A959282E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2BDE9-C5E2-4B77-A8AC-9F429BDE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A9D8F"/>
                </a:solidFill>
              </a:defRPr>
            </a:pPr>
            <a:r>
              <a:rPr sz="1125" b="1" i="0">
                <a:solidFill>
                  <a:srgbClr val="2A9D8F"/>
                </a:solidFill>
              </a:rPr>
              <a:t>上次基线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FFA78-BFD3-424F-924D-B8A312AF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6212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静态参考框架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B0CF09-F9FF-41EA-BFDF-9F75BCB3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F1F6F4-D130-4F60-8F8D-62077D57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812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rank-interval 抽象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8364A6-A65B-4E01-8CF9-E3FB0669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89DF8-23FD-4D85-B04F-8038726B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765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upper / lower family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0880D6-43AC-4FD7-A0DE-9CA8CA39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48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498F38-3B52-416A-A7F9-4A986187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718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 与结构指标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7A16C-96B6-4C1C-90BF-64577D1E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5289B4-30C1-4DAC-9962-DDA850C7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671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oracle 支持的验证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A1EFCF-91E5-48C6-84A4-3EF806F2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71800"/>
            <a:ext cx="11430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3C049C-0DBB-40B6-9CA3-A487017D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28950"/>
            <a:ext cx="110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静态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47C528-A24D-4C4C-BF67-28859C24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81325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C90BE5-FB89-47AB-A42F-0E86A55F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71800"/>
            <a:ext cx="12382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8C5C20-5E3F-47E3-8741-0FE2B922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28950"/>
            <a:ext cx="1162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动态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7DFF45-C213-4193-AF25-45C89366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E76F51"/>
                </a:solidFill>
              </a:defRPr>
            </a:pPr>
            <a:r>
              <a:rPr sz="1125" b="1" i="0">
                <a:solidFill>
                  <a:srgbClr val="E76F51"/>
                </a:solidFill>
              </a:rPr>
              <a:t>尚未解决的实现缺口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71705-7359-496C-B88A-E515241D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62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可执行的动态重构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B59D9F-D512-4837-9642-8B13074A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4EADDA-EEDC-4FE3-95CC-9FCB64EB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717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Step 1/2/3 控制流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298F5F-D6AA-4D4D-B47F-66B19B20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43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F49B7B-A2DD-41E0-B305-BECC296F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670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sibling list 插入与拆分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171684-9AAD-4552-AD72-4C02477C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D91FCE-B1DD-49DC-85B5-7DDC4019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623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ownership 转移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1D810B-1867-4744-9B01-269773B5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133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28ED78-BE8A-4934-A966-FD935710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576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从维护状态恢复输出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90240D-BD5A-4606-B543-44B4B4CE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72125"/>
            <a:ext cx="1053465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DF5D3C-CEF2-42C4-BEE4-E14C4CE3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19750"/>
            <a:ext cx="1019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Family tree 解释嵌套结构；可执行 Jordan sorting 还需要动态更新。</a:t>
            </a:r>
          </a:p>
        </p:txBody>
      </p:sp>
    </p:spTree>
    <p:extLst>
      <p:ext uri="{BB962C8B-B14F-4D97-AF65-F5344CB8AC3E}">
        <p14:creationId xmlns:p14="http://schemas.microsoft.com/office/powerpoint/2010/main" val="13935348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D6B1E4-A231-4E15-8B9C-D72CBEA5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5F66D-912E-4BBA-9263-F2D07247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四项工作解决了主要实现缺口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A98B8-8130-44AD-BC61-93F3410E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127E0-A20C-4149-BE5C-E629CD2A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777E0-AD19-4CF7-8A9C-2E8C4B25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ADEA6-15A1-473F-9B73-4826C735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3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D0AF7-7077-48A2-9FD2-BE5F4661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FCEB5-C9A1-4E0F-A6EE-8339747F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2A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8209F2-A6E8-4F92-98B0-A54784EA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研究范围收敛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E209A-FBD9-4FFD-9D88-77A37B0C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EAF1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D97CD-9BD3-492C-9BE8-CB669B73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区分有效输入排序、识别问题与理论后端主张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B6D81-D309-4B99-B964-EED775B6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2A9D8F"/>
                </a:solidFill>
              </a:defRPr>
            </a:pPr>
            <a:r>
              <a:rPr sz="3000" b="1" i="0">
                <a:solidFill>
                  <a:srgbClr val="2A9D8F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99C70-D088-453C-B36F-8A96DEE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5E1F06-F7A3-40B5-A68B-AE9772CD9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BAF208-637A-4EDA-9201-3BF79C6D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6A541F-43AE-4324-8656-0F1FEE84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实现面向论文的 Step 1/2/3 控制流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25F10D-CB17-4B3A-911D-184FCFFC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E76F51"/>
                </a:solidFill>
              </a:defRPr>
            </a:pPr>
            <a:r>
              <a:rPr sz="3000" b="1" i="0">
                <a:solidFill>
                  <a:srgbClr val="E76F51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792548-680A-4727-AD5E-BA6B262E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94E27-D2E0-4A75-B3D0-DD70DA6D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状态与正确性控制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C650E-13DA-4241-9DC3-88D7341D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4AB1D7-D7EC-432E-B988-626B2401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加入 ownership 不变量、事务式更新与重放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B4FFE-45EC-4C29-A542-EC09F7B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52606D"/>
                </a:solidFill>
              </a:defRPr>
            </a:pPr>
            <a:r>
              <a:rPr sz="3000" b="1" i="0">
                <a:solidFill>
                  <a:srgbClr val="52606D"/>
                </a:solidFill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2B6E6E-DF3F-4913-ABFC-D04F33EC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260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2296A-43F9-4538-9567-CD758498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初步正式评估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AFE3A-C5B0-4EC7-A293-04DBAEF1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38AE6F-F45D-40FD-9D2B-A598D4ED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执行固定的有效输入排序实验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A248F1-E0C5-401C-9AEF-7CE8064A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524500"/>
            <a:ext cx="971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成果是稳定的普通列表研究基线，而不是历史上的线性时间后端。</a:t>
            </a:r>
          </a:p>
        </p:txBody>
      </p:sp>
    </p:spTree>
    <p:extLst>
      <p:ext uri="{BB962C8B-B14F-4D97-AF65-F5344CB8AC3E}">
        <p14:creationId xmlns:p14="http://schemas.microsoft.com/office/powerpoint/2010/main" val="13047135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F318AE-3622-4267-AA01-97528BE4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5DC16-1176-4F19-9CC7-E9ED92DF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论文现在将有效输入排序与两个相邻问题分开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3E4C8-99ED-432D-ADD9-9581CC18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E19A2-F1E5-4F24-842B-B59653C5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516E1E-F536-4DC9-9FBA-45D15EA8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E2D07-7621-4F0D-8AD5-0A6AFC8F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4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3C055-F97C-4057-9F4F-F05D51A3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0773F1-1512-48DB-9CBF-CF8D0646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E7A2D6-74B7-4BD0-BD11-15F8F9D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52606D"/>
                </a:solidFill>
              </a:defRPr>
            </a:pPr>
            <a:r>
              <a:rPr sz="1875" b="1" i="0">
                <a:solidFill>
                  <a:srgbClr val="52606D"/>
                </a:solidFill>
              </a:rPr>
              <a:t>早期计划重点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26C17B-0798-49A8-BB54-AD3586AD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当前研究范围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6CCA4-AB28-43AF-8334-717D6791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一般结构框架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5BDA41-4674-4993-A237-59A702FE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66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9B4D3-311C-471F-B85D-276BD998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1990 年算法过程的可执行重构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078E77-BA75-4104-B577-20A062D5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有效与无效输入生成器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7E0E0-6770-4DD0-BF2F-4535874D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43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9550AF-7DB3-4355-8CE7-9A55FC2F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oracle 认证的有效输入排序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99E871-73D4-4EA5-9D5A-0AC52328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静态 family tree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7C64E0-27D5-4483-A394-76314982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194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EA6422-D148-407F-9009-77585F45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动态 sibling-list 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CCE46F-6ADF-4AF1-ACEA-3A0CA92A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广泛的 reference 评估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D8E478-A84E-4D80-B549-FEC46FBC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2CE13A-B8E5-4939-806E-7B14B7FC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paper core、reference pipeline、Python sort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FD751D-49EA-4303-9592-7FD267EE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将 recognition 作为可能的实验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0754F-013C-4FFE-AFE5-A679731A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71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A48AB-8AB5-4FDB-B999-A68275FB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recognition 保持独立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AFE1CE-808E-4A07-B139-E42680CE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理论后端实现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9557D3-DBBD-480F-91A0-6240F769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48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3599A3-0688-4316-A486-9C84F277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普通列表后端作为已验证基线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33A87F-2E67-4111-ADB9-9794E2D5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054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当前证据仍绑定于普通列表基线；finger-tree 后端正作为独立扩展进行研究。</a:t>
            </a:r>
          </a:p>
        </p:txBody>
      </p:sp>
    </p:spTree>
    <p:extLst>
      <p:ext uri="{BB962C8B-B14F-4D97-AF65-F5344CB8AC3E}">
        <p14:creationId xmlns:p14="http://schemas.microsoft.com/office/powerpoint/2010/main" val="9713987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96AA8B-0D34-4866-AF2A-5E88FDCD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F4E8B-35E7-4137-83A5-A98E7977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三个问题连接重构、测量与解释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58D2B-BD92-4A2F-8CC0-E52EB023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5DD7A-4D1E-4056-A401-21A0D33C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4DC87-00E7-494F-ADDC-6A25C146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576AD-4C00-44D8-AAE9-18CCC98E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5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B87D4-CB18-4F7F-B04D-05B099F3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59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6FC97-A780-4B7D-B60C-9E81D269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RQ1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B0726F-7047-41F7-93C0-C5976149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6192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可执行重构与正确性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6B270-BC10-41A8-BC08-92E28D9D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0574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普通列表重构能否针对 oracle 认证的有效输入，从维护状态中恢复排序结果？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7AE26-B889-42FF-BE65-025DDBD9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47825"/>
            <a:ext cx="2571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B92742-4C40-4EAF-B2E8-C3734B5D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573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主要技术问题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C2EAB-B6D6-42AA-AEE2-F623B0A3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1A758E-8627-4696-A94D-1BBD291D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RQ2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45659-C37F-4D99-8D10-8414CB51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242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观测到的运行时间表现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938F32-87AD-4383-80AB-28699487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56235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在预先认证的输入上运行时，paper core 相对于 Python sort 和完整 reference pipeline，在不同计时范围下表现如何？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99D20B-84FC-4C48-9183-30511458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C8E8AE-82A6-4CEA-A72C-F61511EF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52606D"/>
                </a:solidFill>
              </a:defRPr>
            </a:pPr>
            <a:r>
              <a:rPr sz="2100" b="1" i="0">
                <a:solidFill>
                  <a:srgbClr val="52606D"/>
                </a:solidFill>
              </a:rPr>
              <a:t>RQ3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CFF05A-4EF3-49A5-9234-D69742D3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6291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结构与实现成本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651EC1-CECE-473D-A122-ABC2BA24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673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输入结构、checked 操作计数与运行时间之间呈现哪些描述性关系？</a:t>
            </a:r>
          </a:p>
        </p:txBody>
      </p:sp>
    </p:spTree>
    <p:extLst>
      <p:ext uri="{BB962C8B-B14F-4D97-AF65-F5344CB8AC3E}">
        <p14:creationId xmlns:p14="http://schemas.microsoft.com/office/powerpoint/2010/main" val="8536405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3513A1-1C3E-482C-BD7C-A8060D3D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体系结构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501FC-538A-4F48-B9EC-F9446234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oracle、reference pipeline 与 paper core 各有不同职责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FCC08-9C09-4B24-94E4-14FFB0B7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D4F52-7CAE-439F-BBBD-270240E8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F154B-E434-4908-8B49-86DB0BF3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C0FBF-03EE-4458-ACC3-1C932136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6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16CD6-02D1-4B9A-B4C2-0C9A89BC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352550"/>
            <a:ext cx="371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4A2232-815A-46A4-BFBD-817DBFE7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4859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认证 oracle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6DB7D-734D-4B07-A388-DC00AE7A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478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有效性 + 预期排序结果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F7A07C-B6B1-4121-8405-43B95B16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102F6-92A2-4C58-ACD9-FC506476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cxnSp>
        <p:nvCxnSpPr>
          <p:cNvPr id="182" name="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3043238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183" name=""/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6096000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5F4D6F-5B6D-4722-8269-FFF0089F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F6867-E342-42EC-B2E7-57C66799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E76F51"/>
                </a:solidFill>
              </a:defRPr>
            </a:pPr>
            <a:r>
              <a:rPr sz="1275" b="1" i="0">
                <a:solidFill>
                  <a:srgbClr val="E76F51"/>
                </a:solidFill>
              </a:rPr>
              <a:t>oracle 结果，包括排序输出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36BCD-E452-44FD-A859-D416437E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B882ED-38CD-4EB1-8A6D-2649989B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A9D8F"/>
                </a:solidFill>
              </a:defRPr>
            </a:pPr>
            <a:r>
              <a:rPr sz="1275" b="1" i="0">
                <a:solidFill>
                  <a:srgbClr val="2A9D8F"/>
                </a:solidFill>
              </a:rPr>
              <a:t>仅提供有效输入认证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337CE9-C27E-4BCA-B52D-B2958486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E76F51"/>
                </a:solidFill>
              </a:defRPr>
            </a:pPr>
            <a:r>
              <a:rPr sz="1875" b="1" i="0">
                <a:solidFill>
                  <a:srgbClr val="E76F51"/>
                </a:solidFill>
              </a:rPr>
              <a:t>oracle 支持的 reference pipeline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1B0796-1157-4237-ACA1-38D1F02E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48100"/>
            <a:ext cx="3667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结构信息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来自 oracle 的输出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D8283A-3CC6-4ADD-B482-A4709DD1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Paper 普通列表 core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805D31-501E-4272-B422-DE1F397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10000"/>
            <a:ext cx="361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输入序列 + 已认证前置条件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Step 1/2/3 与维护状态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从状态中恢复输出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DA3D0E-F32A-46BE-8869-9DE21FDF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10150"/>
            <a:ext cx="2724150" cy="3429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dash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752283-6628-4DAE-92BF-6BF61D3D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057775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 i="0">
                <a:solidFill>
                  <a:srgbClr val="52606D"/>
                </a:solidFill>
              </a:defRPr>
            </a:pPr>
            <a:r>
              <a:rPr sz="1200" b="1" i="0">
                <a:solidFill>
                  <a:srgbClr val="52606D"/>
                </a:solidFill>
              </a:rPr>
              <a:t>调用后的输出比较</a:t>
            </a:r>
          </a:p>
        </p:txBody>
      </p:sp>
      <p:cxnSp>
        <p:nvCxnSpPr>
          <p:cNvPr id="194" name=""/>
          <p:cNvCxnSpPr>
            <a:stCxn xmlns:a="http://schemas.openxmlformats.org/drawingml/2006/main" id="11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9148763" y="4914900"/>
            <a:ext cx="385763" cy="952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52606D"/>
            </a:solidFill>
            <a:prstDash val="dash"/>
            <a:tailEnd type="arrow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B3F306-1DA3-4F6B-8029-A9F73A57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43550"/>
            <a:ext cx="96774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5EC7D9-E8CA-485F-A501-395B6D6B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1022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paper 调用前认证  |  调用后比较  |  oracle 排序结果绝不进入 paper core</a:t>
            </a:r>
          </a:p>
        </p:txBody>
      </p:sp>
    </p:spTree>
    <p:extLst>
      <p:ext uri="{BB962C8B-B14F-4D97-AF65-F5344CB8AC3E}">
        <p14:creationId xmlns:p14="http://schemas.microsoft.com/office/powerpoint/2010/main" val="7470556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9E70D4B-765E-48F5-A7EB-90D46A1D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算法重构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2A54F6-5758-4BC2-8B9A-8EAAA4F99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同一套 Step 1/2/3 控制流支持镜像的 decreasing orientation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833EB7-46A9-41E4-A147-FB08F5E3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899DA-9EB7-4D3E-8828-35DFF97E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6AAA2-3554-49A2-8B4A-1CFFF2A4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89E690-82F5-42D3-909E-8E27111D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7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001FE6-F2C2-49F4-A681-9FD59D6C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D4DC5F-2ED7-4523-86B4-032DFAE8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初始化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D7B850-B5AC-4327-8D2E-4CB28444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排序 z₁、z₂、z₃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F1CD79-FA11-4118-B6DB-FCD65531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54231-658D-40EE-BEFF-61D0AB80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67A1A-A2DC-4163-82DE-B532DE4F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predecessor 侧边界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98B44-3D75-4AB8-9F8C-CCE48A09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C581FE-077D-4F1C-AC2C-CF264DD4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B66F2E-BDBC-4AC2-BBFA-B3CB4B0C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successor 侧边界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2EE600-C198-4F7A-A68A-E9D75DBD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79F2B8-8DD4-435C-8EDD-EB28BF9B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3(a)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70035A-50AA-417B-A98D-FCE671A0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插入新 pair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5D222A-E0ED-48B6-9FB5-B290AD2D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34D7A9-489C-45B6-AC02-142FFD28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3(b)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F75B6E-4F4F-4BD9-B3A7-02CAA497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拆分 + 转移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953881-AECB-4245-977A-16D59F35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09900"/>
            <a:ext cx="26670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40470C-6025-4B76-96C3-2D45D22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105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3(c)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FD8DA1-5C9F-43A1-BA1C-BA86D1E06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099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将新点插入维护的顺序</a:t>
            </a:r>
          </a:p>
        </p:txBody>
      </p:sp>
      <p:cxnSp>
        <p:nvCxnSpPr>
          <p:cNvPr id="238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571750" y="2019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39" name=""/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705350" y="2019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40" name=""/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6838950" y="2019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41" name=""/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972550" y="2019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42" name=""/>
          <p:cNvCxnSpPr>
            <a:stCxn xmlns:a="http://schemas.openxmlformats.org/drawingml/2006/main" id="19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 flipH="1">
            <a:off x="6096000" y="2419350"/>
            <a:ext cx="4133850" cy="590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405428-7FD7-4F00-AFAF-70AFFE9C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3105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0F1DA9-0141-4CAF-8DD6-05CB795E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2838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原文明确规则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D04A91-4054-4559-870F-109187CF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101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increasing Step 1/2/3 结构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D3A541-28CE-4981-90B7-19D2BBE8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476750"/>
            <a:ext cx="3105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B1C363-921C-4E7F-8076-35E0EA55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610100"/>
            <a:ext cx="2838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对称重构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297597-E023-4881-8322-DA479642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101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镜像的 decreasing orientation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FAD539-AD61-4FFB-A799-111B673C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76750"/>
            <a:ext cx="3105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A7B894-AC1A-4299-BE0E-6933FE0E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610100"/>
            <a:ext cx="2838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E76F51"/>
                </a:solidFill>
              </a:defRPr>
            </a:pPr>
            <a:r>
              <a:rPr sz="1425" b="1" i="0">
                <a:solidFill>
                  <a:srgbClr val="E76F51"/>
                </a:solidFill>
              </a:rPr>
              <a:t>可执行化澄清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4D39E8-1E50-4E64-9D8B-906E0A65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0101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几何端点与奇数索引 z₁ anchor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C214E00-70DE-4F4D-85F4-1C7B7390C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72150"/>
            <a:ext cx="922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颜色表示重构依据，而不是各算法步骤的归属。</a:t>
            </a:r>
          </a:p>
        </p:txBody>
      </p:sp>
    </p:spTree>
    <p:extLst>
      <p:ext uri="{BB962C8B-B14F-4D97-AF65-F5344CB8AC3E}">
        <p14:creationId xmlns:p14="http://schemas.microsoft.com/office/powerpoint/2010/main" val="11421592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E383A7-F913-488A-95AF-609423FA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9DBA0E-3899-494A-916E-33FFE813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Step 3(c) 使用几何极值，而不是第二个存储端点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B0F2EF-DE1B-4E8A-AF94-FF31D5AB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A969B9-4AE9-48A6-96F0-55D5AA4F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55296E-FB68-464E-B3E4-59F45E5C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050405-280A-49BB-BD17-62DCC8DE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8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E53D60-E8E4-4957-8B63-270E1437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7B8794"/>
                </a:solidFill>
              </a:defRPr>
            </a:pPr>
            <a:r>
              <a:rPr sz="1200" b="1" i="0">
                <a:solidFill>
                  <a:srgbClr val="7B8794"/>
                </a:solidFill>
              </a:rPr>
              <a:t>输入前缀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415A9B-A7D3-4AA8-AC00-9A85CA7B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102A43"/>
                </a:solidFill>
              </a:defRPr>
            </a:pPr>
            <a:r>
              <a:rPr sz="2400" b="1" i="0">
                <a:solidFill>
                  <a:srgbClr val="102A43"/>
                </a:solidFill>
              </a:rPr>
              <a:t>(3, 2, 1, 4)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239380-915E-4561-BEEA-AC075C2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7B8794"/>
                </a:solidFill>
              </a:defRPr>
            </a:pPr>
            <a:r>
              <a:rPr sz="1200" b="1" i="0">
                <a:solidFill>
                  <a:srgbClr val="7B8794"/>
                </a:solidFill>
              </a:rPr>
              <a:t>获得的 pair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D6038-96A5-4B26-8CA3-4DA4F600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E76F51"/>
                </a:solidFill>
              </a:defRPr>
            </a:pPr>
            <a:r>
              <a:rPr sz="2250" b="1" i="0">
                <a:solidFill>
                  <a:srgbClr val="E76F51"/>
                </a:solidFill>
              </a:rPr>
              <a:t>P₂ = (3, 2)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893848-4EA1-4632-9EDD-5C8ED3055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00300"/>
            <a:ext cx="6477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2606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C2E166-56E6-4955-AEF7-D8BD2BCD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11C24A-7FF1-4B0B-B430-9224D658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288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9EC00E-2784-4050-99DB-563F4C05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9756AC-3369-4AF0-9446-6F945401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2288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96F826-BD8E-4E37-8F52-3D136B92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D694F8-B45D-4AD4-92C4-96397E53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288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430165-32F7-4702-823B-6AE6E2DA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F2A0AC-1B40-4C79-9A57-1427DEDF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2288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E76C16-6441-4A8A-9899-EBBFEB2F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811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存储方向 3 → 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7C9BE1-613A-46DD-A30C-76A9A7E8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241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7B8794"/>
                </a:solidFill>
              </a:defRPr>
            </a:pPr>
            <a:r>
              <a:rPr sz="1200" b="0" i="0">
                <a:solidFill>
                  <a:srgbClr val="7B8794"/>
                </a:solidFill>
              </a:rPr>
              <a:t>几何坐标轴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8A5A4F-1C56-4F78-8191-DC6AEDE1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09950"/>
            <a:ext cx="3143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403E8E-447B-4D79-9544-9BAFB38E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623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E76F51"/>
                </a:solidFill>
              </a:defRPr>
            </a:pPr>
            <a:r>
              <a:rPr sz="1725" b="1" i="0">
                <a:solidFill>
                  <a:srgbClr val="E76F51"/>
                </a:solidFill>
              </a:rPr>
              <a:t>曲线顺序端点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1191B0-139D-457B-AAC4-70D11821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98145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anchor = 2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结果：[1, 2, 4, 3]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4F382E-3146-4F5F-9CE8-AF308F94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09950"/>
            <a:ext cx="3143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7EC42E-392D-4F65-A3F3-9315170E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5623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几何端点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3F37AD-79F9-4A70-AD7A-10E75634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8145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anchor = 3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结果：[1, 2, 3, 4]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B12942-6C0D-4E81-A618-09D53DD7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149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可执行规则：选择几何极值。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DD4F1F-0A53-4E77-A0A9-F8FD773D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将其记录为重构澄清，而不是 1990 年论文的逐字规则。</a:t>
            </a:r>
          </a:p>
        </p:txBody>
      </p:sp>
    </p:spTree>
    <p:extLst>
      <p:ext uri="{BB962C8B-B14F-4D97-AF65-F5344CB8AC3E}">
        <p14:creationId xmlns:p14="http://schemas.microsoft.com/office/powerpoint/2010/main" val="19829299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F6A973-080F-4157-AB1A-9A4E6542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CFE4B-AE96-4E4E-A951-F3252282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奇数次迭代需要独立的 z₁ 输出 anchor 修正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D95B6-D297-44A3-8BA4-6874F17C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C22834-9CD9-418E-81BE-345C0F89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0A6172-5EC5-4AFF-B0D5-BD0CD60D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76F8BE-0539-4AB2-843A-0BD7B2C0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9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F795D3-62E6-4A90-96B1-16726182B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723900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96615-DF7C-4A5F-B754-082AF81D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78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E76F51"/>
                </a:solidFill>
              </a:defRPr>
            </a:pPr>
            <a:r>
              <a:rPr sz="1725" b="1" i="0">
                <a:solidFill>
                  <a:srgbClr val="E76F51"/>
                </a:solidFill>
              </a:rPr>
              <a:t>普通几何基准 anchor = z₂ =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643176-DE51-4230-90B4-D34531A74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907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新点 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523251-645B-4BEF-A13F-12A485E1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15265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3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0BF5D7-368C-41D7-8AB5-6BAEC8D0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90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插入到 2 之前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5507A9-13B6-4924-8083-C5D32B8E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5265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3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3FEF22-9FD9-4F79-B872-39473489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9075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43B53"/>
                </a:solidFill>
              </a:defRPr>
            </a:pPr>
            <a:r>
              <a:rPr sz="1575" b="1" i="0">
                <a:solidFill>
                  <a:srgbClr val="243B53"/>
                </a:solidFill>
              </a:rPr>
              <a:t>1, 0, 2, 3, 4, 6, 7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F5B03A-5E82-41FE-AA07-74E7CAC8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62250"/>
            <a:ext cx="638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52606D"/>
                </a:solidFill>
              </a:defRPr>
            </a:pPr>
            <a:r>
              <a:rPr sz="1425" b="0" i="0">
                <a:solidFill>
                  <a:srgbClr val="52606D"/>
                </a:solidFill>
              </a:rPr>
              <a:t>z₁ = 1 仍位于新点的错误一侧。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AE0A43-4793-41A3-8F86-646FEAE2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723900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74F43F-027D-4F03-9DF0-8B806B2F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678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修正后的输出 anchor = z₁ = 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A5D21A-357F-494A-AE57-95FFB35D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0530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新点 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6629F8-2880-4947-ADCF-424A40E6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26720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3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3638F6-AE44-4517-87D9-887F0976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2A9D8F"/>
                </a:solidFill>
              </a:defRPr>
            </a:pPr>
            <a:r>
              <a:rPr sz="1500" b="1" i="0">
                <a:solidFill>
                  <a:srgbClr val="2A9D8F"/>
                </a:solidFill>
              </a:rPr>
              <a:t>插入到 z₁ 之前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5CA889-3395-4F17-82F2-84B8920C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26720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3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5C9C8C-F163-49EA-8829-5E9EB7C3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30530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43B53"/>
                </a:solidFill>
              </a:defRPr>
            </a:pPr>
            <a:r>
              <a:rPr sz="1575" b="1" i="0">
                <a:solidFill>
                  <a:srgbClr val="243B53"/>
                </a:solidFill>
              </a:rPr>
              <a:t>0, 1, 2, 3, 4, 6, 7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F48FC6-F188-4D5F-8260-087E1971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76800"/>
            <a:ext cx="638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52606D"/>
                </a:solidFill>
              </a:defRPr>
            </a:pPr>
            <a:r>
              <a:rPr sz="1425" b="0" i="0">
                <a:solidFill>
                  <a:srgbClr val="52606D"/>
                </a:solidFill>
              </a:rPr>
              <a:t>维护的 partial order 现在与几何坐标轴顺序一致。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8A2150-7912-4755-B72E-D07BCC9C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24000"/>
            <a:ext cx="31432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02EF20-900F-4213-84A1-832499BC9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695450"/>
            <a:ext cx="2724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7B8794"/>
                </a:solidFill>
              </a:defRPr>
            </a:pPr>
            <a:r>
              <a:rPr sz="1200" b="1" i="0">
                <a:solidFill>
                  <a:srgbClr val="7B8794"/>
                </a:solidFill>
              </a:rPr>
              <a:t>有效前缀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0C116E-979E-4610-BA2A-D59E9FD0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00250"/>
            <a:ext cx="272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(1, 2, 3, 4, 6, 7, 0)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F69F51-F926-4711-91A3-B6C40ADD4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5270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94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 i="0">
                <a:solidFill>
                  <a:srgbClr val="E76F51"/>
                </a:solidFill>
              </a:defRPr>
            </a:pPr>
            <a:r>
              <a:rPr sz="2025" b="1" i="0">
                <a:solidFill>
                  <a:srgbClr val="E76F51"/>
                </a:solidFill>
              </a:rPr>
              <a:t>0 &lt; z₁ &lt; 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6E0AC0-56F6-4CB5-BD4A-7D2397EB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433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B78BF2-CBDF-44B6-B89A-DE809410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147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两个独立决策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E9331B-BC56-4DF5-9B5A-0C4E2E89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14800"/>
            <a:ext cx="2571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边界 pair 选择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≠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输出 anchor 选择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D80F8D-7870-4865-9C85-B961F1F0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52450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该修正独立于 predecessor / successor 边界选择。</a:t>
            </a:r>
          </a:p>
        </p:txBody>
      </p:sp>
    </p:spTree>
    <p:extLst>
      <p:ext uri="{BB962C8B-B14F-4D97-AF65-F5344CB8AC3E}">
        <p14:creationId xmlns:p14="http://schemas.microsoft.com/office/powerpoint/2010/main" val="18823870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54D596-F3FC-4A73-A1FC-1A5CCF23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维护状态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FCF6D-EC93-4D6E-9C5B-6EDD739E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正确插入还需要 ownership 安全的事务式更新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94DA6C-4F11-44A2-A608-0700BD00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18BC9-5609-4C90-A01F-63AFFFAF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86AC6-A613-41F3-957D-C57F3AC1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C45411-DFBB-452D-A6A4-7415824B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10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C93DA-0F5C-4879-BA19-131B281C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28750"/>
            <a:ext cx="62484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9465D2-25CD-496D-BCE7-767399FC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19250"/>
            <a:ext cx="5772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局部拆分与 ownership 转移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1F7EE-91BE-4054-BF6D-F4316A71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526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63E281-28BB-485D-884C-D8787BF8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0764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30A88-415D-4A39-A1D5-6A863DB9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526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F3EBB-63DC-4662-B765-FA601955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5265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拥有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2CE60-DC94-46C2-8C76-D816F565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19300"/>
            <a:ext cx="20955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59D152-056B-4C11-8EB8-DFC0C3C9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14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保留部分  |  获得部分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431B4B-9A17-4221-AD8C-1BEB98E9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765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拆分 + 转移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E9284A-398F-401D-A999-BD3FCA0A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004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1" i="0">
                <a:solidFill>
                  <a:srgbClr val="E76F51"/>
                </a:solidFill>
              </a:defRPr>
            </a:pPr>
            <a:r>
              <a:rPr sz="2550" b="1" i="0">
                <a:solidFill>
                  <a:srgbClr val="E76F51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D8B432-D260-41B6-A877-3F9ACC71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ECBD11-8C86-4339-B5B7-B7368978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6385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349E29-D777-41D0-AA9F-E5038E59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7147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0E3BA3-F2E8-4169-BC8F-B6DB1C98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147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52606D"/>
                </a:solidFill>
              </a:defRPr>
            </a:pPr>
            <a:r>
              <a:rPr sz="1800" b="1" i="0">
                <a:solidFill>
                  <a:srgbClr val="52606D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0BE661-EB07-42E1-85D3-2B909787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63855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02A7DA-47BA-49B1-A585-34CFDF8E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71475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保留部分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85BF9-8906-4B47-8B2C-5EE4C5FE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38150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CC0A65-BACA-4FAA-8EFD-C3708C8C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45770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新 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FE5D5D-90C7-407D-BFD6-5920C7AC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577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244710-A9E2-445F-A1D3-6556F15A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8150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EE874C-7992-44D2-8DB2-3165DB6F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5770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获得部分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987646-95D9-4F43-9D1A-738A6E72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525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只重新绑定获得的非空片段。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7A850A-FEA6-4F95-82C1-D0C5A43B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4478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维护状态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6CC3D7-1DD3-4D89-9541-8857EDF0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28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A84FAF-62D9-4897-AC5A-ACA28917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5262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已处理前缀的排序结果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5896D2-2C4F-41C8-BAF4-1134F8E0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46D843-9631-4F02-A360-427C96AE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8125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upper / lower pair family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935E46-309E-4A8D-AC80-E7525275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86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39712C-0C7D-48E0-90B1-9F6CAE18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0987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parent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71E1E7-EF31-4DA0-8572-5055F092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FDCB1C-A2A8-420D-B6F0-2E879BE8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sibling-list owner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4B7B86-E31E-46AB-97EA-DCA82190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862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事务式更新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787EC4-D154-4689-8A22-9C7E53D5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243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保存状态  →  拆分  →  转移  →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检查后置条件  →  失败时回滚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2CFA9C-D15D-450B-B18C-C165D264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15000"/>
            <a:ext cx="10058400" cy="4762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3B5AEA-72D8-4C34-AE28-C75B0228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62625"/>
            <a:ext cx="975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普通列表使扫描、复制、切片与 ownership 重新绑定成为明确成本。</a:t>
            </a:r>
          </a:p>
        </p:txBody>
      </p:sp>
    </p:spTree>
    <p:extLst>
      <p:ext uri="{BB962C8B-B14F-4D97-AF65-F5344CB8AC3E}">
        <p14:creationId xmlns:p14="http://schemas.microsoft.com/office/powerpoint/2010/main" val="543944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19BA47-7323-4840-A7FC-5AACE79E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EE91A-A99E-44AF-9B4E-608AFECE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验证同时覆盖实现状态与证据完整性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43379-36FE-4595-A17D-C2593229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B242C3-A016-4572-BDD0-E3E27DB4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3C1336-EA23-4F7D-8EDA-5D1A3799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C3392-5B82-404A-8238-3C0D7036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11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13557C-438B-4912-9E93-02F2C3B8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049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A9D8F"/>
                </a:solidFill>
              </a:defRPr>
            </a:pPr>
            <a:r>
              <a:rPr sz="1125" b="1" i="0">
                <a:solidFill>
                  <a:srgbClr val="2A9D8F"/>
                </a:solidFill>
              </a:rPr>
              <a:t>实现与状态验证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757D5B-7A88-4F7A-B010-57A2C555F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049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E76F51"/>
                </a:solidFill>
              </a:defRPr>
            </a:pPr>
            <a:r>
              <a:rPr sz="1125" b="1" i="0">
                <a:solidFill>
                  <a:srgbClr val="E76F51"/>
                </a:solidFill>
              </a:rPr>
              <a:t>证据完整性与可复现性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6CB57-9841-4BEA-80FB-2A26E0DE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24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601CF1-9398-4518-8CCF-0913AD69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00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重点回归用例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ADD423-AB34-4710-AF0D-66E73478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24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018C57-28E1-4440-B72D-290612D4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00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预先规定的协议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9B8142-6A54-4023-BCCE-7D86A809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05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2A9D8F"/>
                </a:solidFill>
              </a:defRPr>
            </a:pPr>
            <a:r>
              <a:rPr sz="1950" b="1" i="0">
                <a:solidFill>
                  <a:srgbClr val="2A9D8F"/>
                </a:solidFill>
              </a:rPr>
              <a:t>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F6E43E-1B53-40BA-AA8F-250FDD86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05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D2361B-060F-4D25-88E6-89E53529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447675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4B3F2D-0EED-4CE1-83A9-02DB0E00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4171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有界穷举验证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2,074 个 oracle-valid 排列，n ≤ 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A845BD-3B9E-4C5C-A54E-6C9929D5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003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E88922-4C23-4B23-AB96-289A8527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765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manifest 绑定的归档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4FF898-2FA2-4322-829A-4A8948FE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5282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2A9D8F"/>
                </a:solidFill>
              </a:defRPr>
            </a:pPr>
            <a:r>
              <a:rPr sz="1950" b="1" i="0">
                <a:solidFill>
                  <a:srgbClr val="2A9D8F"/>
                </a:solidFill>
              </a:rPr>
              <a:t>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6E73D2-3E6F-43D0-9DBD-E263708E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813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E030A7-93DA-4ED0-A3FB-A295E17F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A1CCD9-DB2A-4D62-8452-8565060A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checked-state audit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E47573-43D2-4B72-98C3-BD3F15DC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29050"/>
            <a:ext cx="447675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BFADAA-B675-47AC-81E1-48934210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905250"/>
            <a:ext cx="4171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schema、调度、数量与哈希检查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FE2EFF-ABD4-4A6B-9E6F-66103C41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410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2A9D8F"/>
                </a:solidFill>
              </a:defRPr>
            </a:pPr>
            <a:r>
              <a:rPr sz="1950" b="1" i="0">
                <a:solidFill>
                  <a:srgbClr val="2A9D8F"/>
                </a:solidFill>
              </a:rPr>
              <a:t>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DBB88E-9897-4AC7-A8D8-2D0C358C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8152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7B6672-FB8F-4AD3-AEC9-93B198A0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C750BD-53D1-4D53-BD62-DC088761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815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同一 core 的确定性重放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F30508-B3A6-45F6-9BF9-5D173C37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053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B8475D-8C0B-4AA1-BEC3-4C095858B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7815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独立的 evidence-contract 验证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AE8468-4E2A-4C66-9B7E-530B391F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两者共同提供有界正确性证据与可复现证据链，而不是普遍性证明。</a:t>
            </a:r>
          </a:p>
        </p:txBody>
      </p:sp>
    </p:spTree>
    <p:extLst>
      <p:ext uri="{BB962C8B-B14F-4D97-AF65-F5344CB8AC3E}">
        <p14:creationId xmlns:p14="http://schemas.microsoft.com/office/powerpoint/2010/main" val="6747468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13CB37-DA34-4751-88AB-218061CF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实验方法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AEC88A-EFF0-43DA-A58E-B87C1A40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正式实验将认证与 audit 保持在 paper 计时之外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DAE531-EA4D-4099-BF4B-3F1A3F9B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BA395-BE0A-4CEB-AD20-FBD5B0CB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9FA0F-BB4F-4BCF-89E1-B0BD7670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0EB72-74A2-4179-85E3-779D64FC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BBE21-D32F-40B1-B05A-4D23DEF2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09700"/>
            <a:ext cx="10744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E1E696-1EAA-44AC-9EBE-349DBC71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04950"/>
            <a:ext cx="693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</a:defRPr>
            </a:pPr>
            <a:r>
              <a:rPr sz="1725" b="1" i="0">
                <a:solidFill>
                  <a:srgbClr val="FFFFFF"/>
                </a:solidFill>
              </a:rPr>
              <a:t>5 个规模  ×  12 个用例  ×  3 个算法  ×  20 次调用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CF5983-0D24-409A-8414-E26BB58A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0495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3,600 条测量记录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9F505A-199E-43D8-8C96-B3679D18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F02961-B189-4A46-AD65-366F3E87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生成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2E503-6EF9-497C-A58F-2C1CEE7A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9872B-EE64-402E-B56B-32C93B1F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认证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05ABC9-E819-410D-BE60-05CED788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06668-2780-45A9-B13D-2EEECD0C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checked-state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audit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9768F3-4760-4F54-9AB5-831EDA80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70E525-8303-4625-9FFA-98198A5D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预热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71190D-773E-4E3B-A490-F55133B0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965313-1BE3-40BE-8873-B0B89494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测量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A879CC-45EC-4C47-A508-523E3174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D9F07F-BD45-407B-8B8F-65CD2DF7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汇总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928DA0-978E-4180-86B2-6711DBDC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CAB2A-9BC3-43EB-A0B9-25728678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并归档</a:t>
            </a:r>
          </a:p>
        </p:txBody>
      </p:sp>
      <p:cxnSp>
        <p:nvCxnSpPr>
          <p:cNvPr id="239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0002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40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41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1244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42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6865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43" name=""/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82486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44" name=""/>
          <p:cNvCxnSpPr>
            <a:stCxn xmlns:a="http://schemas.openxmlformats.org/drawingml/2006/main" id="20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8107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02C37E-C549-473E-A259-B150B9D5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205807-069E-4ACF-9BFA-CA4F68F8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认证位于 paper 计时之外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133856-D029-46CA-A7C4-21C4CC12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有效输入前置条件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4ED589-E1D5-4A8C-A2F1-E0CE9E4C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56A79E-3C0E-40C2-A0F8-E56B1B95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56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checked-state audit 位于 paper 计时之外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E6967C-C3F2-4372-A6A3-72ECC81B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每个 exact case 一次 audit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DE5C6B-DECE-4C66-8AA9-9F946F9D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434034-BDB1-4C52-AED5-C22E5C76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minimal paper call 位于计时内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DFCE0F-57C8-4CB7-AB36-B0DAF29A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输出恢复仍在计时内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190A84-3B4B-4B68-96A0-2BA5EDE1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244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reference 计时包含完整 oracle-backed pipeline；Python 计时覆盖完整排序调用。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CCBD22-FAAE-4FBE-B581-D26DB2E2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581650"/>
            <a:ext cx="81534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570EB9-4BFA-43BC-BD53-C33383E7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38800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paper/reference 是 pipeline-scope 比值，不是同口径的端到端加速。</a:t>
            </a:r>
          </a:p>
        </p:txBody>
      </p:sp>
    </p:spTree>
    <p:extLst>
      <p:ext uri="{BB962C8B-B14F-4D97-AF65-F5344CB8AC3E}">
        <p14:creationId xmlns:p14="http://schemas.microsoft.com/office/powerpoint/2010/main" val="5793219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F618C5-8E2E-47EE-B3D6-8F8EE276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14AC5-B546-4912-BC78-A1FC5EBC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所有预先规定的正式用例都通过认证、audit 与输出检查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3EBB64-9700-4695-A3FF-27D283CF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E14B0-2FAF-4AE3-A373-198079B3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25ADC-C883-4EF3-9401-274BCEAA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C0480-C3E3-4650-A8DD-CA1DCC6F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13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2472BF-5158-474D-8AAA-F81CBD39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600" b="1" i="0">
                <a:solidFill>
                  <a:srgbClr val="102A43"/>
                </a:solidFill>
              </a:defRPr>
            </a:pPr>
            <a:r>
              <a:rPr sz="3600" b="1" i="0">
                <a:solidFill>
                  <a:srgbClr val="102A43"/>
                </a:solidFill>
              </a:rPr>
              <a:t>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07EB4D-D72A-402F-8A5A-ED9A30B5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2305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exact cases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DD1D4F-BD28-4837-BECB-F3D4E447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1925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600" b="1" i="0">
                <a:solidFill>
                  <a:srgbClr val="2A9D8F"/>
                </a:solidFill>
              </a:defRPr>
            </a:pPr>
            <a:r>
              <a:rPr sz="3600" b="1" i="0">
                <a:solidFill>
                  <a:srgbClr val="2A9D8F"/>
                </a:solidFill>
              </a:rPr>
              <a:t>3,600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A4207D-A418-4BD8-BAFE-8C086ED3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66950"/>
            <a:ext cx="2305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测量记录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5453A3-709A-4440-9EB8-1541C07C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1925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600" b="1" i="0">
                <a:solidFill>
                  <a:srgbClr val="E76F51"/>
                </a:solidFill>
              </a:defRPr>
            </a:pPr>
            <a:r>
              <a:rPr sz="3600" b="1" i="0">
                <a:solidFill>
                  <a:srgbClr val="E76F51"/>
                </a:solidFill>
              </a:rPr>
              <a:t>60 / 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BF964A-9181-4337-8BF7-2F2E7A75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66950"/>
            <a:ext cx="2305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checked-state audit 通过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E862D5-AC9C-4049-B0F4-3EAAC0B0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1925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600" b="1" i="0">
                <a:solidFill>
                  <a:srgbClr val="1F8A70"/>
                </a:solidFill>
              </a:defRPr>
            </a:pPr>
            <a:r>
              <a:rPr sz="3600" b="1" i="0">
                <a:solidFill>
                  <a:srgbClr val="1F8A70"/>
                </a:solidFill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177758-FA1F-4460-AC5C-E8094613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66950"/>
            <a:ext cx="2305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记录的正确性错误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925198-3B5D-4E88-9FD8-B38F4227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10744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FAB753-788B-4413-A600-2E60A4D6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2900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1" i="0">
                <a:solidFill>
                  <a:srgbClr val="102A43"/>
                </a:solidFill>
              </a:defRPr>
            </a:pPr>
            <a:r>
              <a:rPr sz="2250" b="1" i="0">
                <a:solidFill>
                  <a:srgbClr val="102A43"/>
                </a:solidFill>
              </a:rPr>
              <a:t>每个用例均在计时前通过 oracle 认证。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10ACE7-8FA2-47FB-8F49-BF141E21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362450"/>
            <a:ext cx="9029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685324-0F96-428C-9D51-A8E26B8D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533900"/>
            <a:ext cx="8496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3,600 条记录来自 60 个 exact case；每个用例在计时前接受一次不计时的 checked-state audit。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5FA943-A04F-436F-BE58-8B224C8E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34050"/>
            <a:ext cx="922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E76F51"/>
                </a:solidFill>
              </a:defRPr>
            </a:pPr>
            <a:r>
              <a:rPr sz="1425" b="1" i="0">
                <a:solidFill>
                  <a:srgbClr val="E76F51"/>
                </a:solidFill>
              </a:rPr>
              <a:t>这是受控有效用例的证据，不是 recognition 证据，也不是对全部 Jordan sequence 的证明。</a:t>
            </a:r>
          </a:p>
        </p:txBody>
      </p:sp>
    </p:spTree>
    <p:extLst>
      <p:ext uri="{BB962C8B-B14F-4D97-AF65-F5344CB8AC3E}">
        <p14:creationId xmlns:p14="http://schemas.microsoft.com/office/powerpoint/2010/main" val="63327010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9024E2-BC7E-421E-A918-A7A3090D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38B7AC-ACBC-4792-8BBB-94198C84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paper/reference 比值随五个测试规模下降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E4509C-23BE-4BC0-B4A3-90257819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896B0-434D-46C8-98A3-1F51D3C5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EA2DB-0DDC-4BDB-A9DC-8EA4147D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4826FA-B7C4-4F55-9343-BA076408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14 / 16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47700" y="1409700"/>
          <a:ext xmlns:a="http://schemas.openxmlformats.org/drawingml/2006/main" cx="6858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b7ac3985154cd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43DFB3-6032-4EE7-A8E5-E7EB0EF4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2400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B1C30F-2E01-43DF-8C75-71DD049B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383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2A9D8F"/>
                </a:solidFill>
              </a:defRPr>
            </a:pPr>
            <a:r>
              <a:rPr sz="2850" b="1" i="0">
                <a:solidFill>
                  <a:srgbClr val="2A9D8F"/>
                </a:solidFill>
              </a:rPr>
              <a:t>3.226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98DE55-0D9E-447F-A52D-42DCB358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526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n = 32 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A81198-8D25-4B06-8E6E-0CB38F26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8605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6AC3B2-0203-45C6-9F04-DDA21FC2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035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0.567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70CD2E-9ED9-4A39-8AEA-0D7813CB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146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n = 512 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85DF50-7041-4223-86FE-33A2D7DA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81450"/>
            <a:ext cx="3333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46C1C1-EF2E-4B90-A50A-7FEC4759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14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观测到的交叉点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9B3E80-E1E6-4904-983B-18F5950A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3390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位于测试规模 128 与 256 之间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FCFDCA-B2A3-4DE1-A0E9-D5AD66CC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91150"/>
            <a:ext cx="35433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1AFA51-13FB-47AB-BE23-FD3E1B91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486400"/>
            <a:ext cx="320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五个规模  |  普通列表  |  不同计时范围</a:t>
            </a:r>
          </a:p>
        </p:txBody>
      </p:sp>
    </p:spTree>
    <p:extLst>
      <p:ext uri="{BB962C8B-B14F-4D97-AF65-F5344CB8AC3E}">
        <p14:creationId xmlns:p14="http://schemas.microsoft.com/office/powerpoint/2010/main" val="11526941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A3F62F-CF26-4DDA-85E3-2C743974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结果解释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0B9F2B-ED66-459E-9299-0A273B96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证据支持有界重构结论，而非线性时间主张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222F51-51C4-4FD8-AA24-24F7B678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AF263-2F5B-478A-9689-F6F309D5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F05FB-58DC-4BCA-A728-256A6AFF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BBFBA-0FA7-4699-B755-31DB7E82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15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5F2E63-7ABA-457A-9805-B7097F3A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61065A-9010-42DC-B6B1-0640A5D5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3B3CE2-88CA-4363-AFA4-64B66100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2A9D8F"/>
                </a:solidFill>
              </a:defRPr>
            </a:pPr>
            <a:r>
              <a:rPr sz="1950" b="1" i="0">
                <a:solidFill>
                  <a:srgbClr val="2A9D8F"/>
                </a:solidFill>
              </a:rPr>
              <a:t>当前证据支持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88945C-8D1A-46D4-935E-50A02653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尚未成立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1AF135-79D3-49DD-BAA5-0517C6C8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76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3DDF7A-B57D-460C-85A3-F17FFB9A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400300"/>
            <a:ext cx="4133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可执行的普通列表重构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387360-41FA-4298-92C5-3845EF7C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436BDE-292F-443B-9202-6A9C86EC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028950"/>
            <a:ext cx="4133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从维护状态恢复输出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DF8471-699C-4DD1-BDA4-5EFAE03A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33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3A7B7C-CABE-4847-8B5C-9D7291D6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57600"/>
            <a:ext cx="4133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在已评估有效用例上的正确性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076827-D6DB-4F15-B27A-830F95F2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62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0D107B-1145-43F5-A816-07919A6B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286250"/>
            <a:ext cx="4133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固定范围下可复现的运行时间观测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89C5A8-51D9-40B5-8E5C-60D495BF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76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F9BA62-7963-43CB-97EA-13F38A21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400300"/>
            <a:ext cx="4133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线性时间实现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9635E4-96E3-4C3F-8E68-5184FC520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05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1AA781-D403-46C5-AAEB-F50659EE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28950"/>
            <a:ext cx="4133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渐近复杂度结论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59F660-67E2-48F1-A787-E1D39FB7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33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C8EDD-55B5-4AFA-8F9F-F8E86D34B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657600"/>
            <a:ext cx="4133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任意输入 recognition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A589B4-4853-4C1A-A937-6942E283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62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65F424-0F9D-47F8-9F86-CD67BE6E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286250"/>
            <a:ext cx="4133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同口径的端到端加速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3FEA0E-998C-4010-80D6-2FF023C0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864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结构关系仍是描述性的；finger-tree 后端尚未纳入已验证基线。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79034E-4414-43E5-9649-A0D78344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6740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本次报告的结论仍仅适用于普通列表基线。</a:t>
            </a:r>
          </a:p>
        </p:txBody>
      </p:sp>
    </p:spTree>
    <p:extLst>
      <p:ext uri="{BB962C8B-B14F-4D97-AF65-F5344CB8AC3E}">
        <p14:creationId xmlns:p14="http://schemas.microsoft.com/office/powerpoint/2010/main" val="116229255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7844E2-53DC-42E9-8647-FFD6FF04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当前里程碑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FA9BCD-7F39-4B1A-81A1-44B9EC82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已验证基线为限定范围的 finger-tree 扩展提供受控基础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043D4A-1D16-434E-A3F5-228E7E03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97A85-3CED-4A2B-AEA9-69DFB2A9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394242-DFB9-46DF-9F8D-63F24D49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6C982-71E2-4178-BCC1-D129787D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16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81D98-B273-4148-BC1F-732F1880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049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A9D8F"/>
                </a:solidFill>
              </a:defRPr>
            </a:pPr>
            <a:r>
              <a:rPr sz="1125" b="1" i="0">
                <a:solidFill>
                  <a:srgbClr val="2A9D8F"/>
                </a:solidFill>
              </a:rPr>
              <a:t>已验证基线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692A19-E969-495F-BC2D-2B7577BA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5049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E76F51"/>
                </a:solidFill>
              </a:defRPr>
            </a:pPr>
            <a:r>
              <a:rPr sz="1125" b="1" i="0">
                <a:solidFill>
                  <a:srgbClr val="E76F51"/>
                </a:solidFill>
              </a:rPr>
              <a:t>FINGER-TREE 扩展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E94FFF-8F4C-4029-9F9A-705AA33F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57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D824BA-589D-4ABC-9A76-1F3FDDB8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81200"/>
            <a:ext cx="4438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 i="0">
                <a:solidFill>
                  <a:srgbClr val="243B53"/>
                </a:solidFill>
              </a:defRPr>
            </a:pPr>
            <a:r>
              <a:rPr sz="1575" b="0" i="0">
                <a:solidFill>
                  <a:srgbClr val="243B53"/>
                </a:solidFill>
              </a:rPr>
              <a:t>可执行的普通列表重构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115D28-2166-4E97-84BC-C47FBE5F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5EFC05-BD2E-4DF6-96B3-9EB7625E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09850"/>
            <a:ext cx="4438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 i="0">
                <a:solidFill>
                  <a:srgbClr val="243B53"/>
                </a:solidFill>
              </a:defRPr>
            </a:pPr>
            <a:r>
              <a:rPr sz="1575" b="0" i="0">
                <a:solidFill>
                  <a:srgbClr val="243B53"/>
                </a:solidFill>
              </a:rPr>
              <a:t>从维护状态恢复输出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5D569D-0C53-4AA0-90C6-841E9BCE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562512-AD2B-42F9-9FDF-B0A74A66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38500"/>
            <a:ext cx="4438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 i="0">
                <a:solidFill>
                  <a:srgbClr val="243B53"/>
                </a:solidFill>
              </a:defRPr>
            </a:pPr>
            <a:r>
              <a:rPr sz="1575" b="0" i="0">
                <a:solidFill>
                  <a:srgbClr val="243B53"/>
                </a:solidFill>
              </a:rPr>
              <a:t>状态与 ownership 验证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9414E3-BC16-488F-A44C-4B174082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85E4AB-D846-4465-A2C3-A12DDF33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67150"/>
            <a:ext cx="4438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 i="0">
                <a:solidFill>
                  <a:srgbClr val="243B53"/>
                </a:solidFill>
              </a:defRPr>
            </a:pPr>
            <a:r>
              <a:rPr sz="1575" b="0" i="0">
                <a:solidFill>
                  <a:srgbClr val="243B53"/>
                </a:solidFill>
              </a:rPr>
              <a:t>已归档的普通列表正式证据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DA597A-AC8A-4A56-991A-17B6D75B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00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B92819-C01A-4581-A66C-6DED016E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924050"/>
            <a:ext cx="4305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抽取与后端无关的接口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2025DB-2761-4C0C-AF4E-01942F37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43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00892D-EDA7-4832-95BB-229219DF6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66975"/>
            <a:ext cx="4305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实现 finger-tree sibling-list 后端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9FD031-63B6-4C90-9C7D-B235A311B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86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3042B2-BA08-4ADF-B27D-40278FF9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09900"/>
            <a:ext cx="4305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与普通列表基线比较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435D58-F95E-479A-B97E-D8943A645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29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9683B0-A2B8-4F21-AF89-5491F806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52825"/>
            <a:ext cx="4305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评估所需 operation bound 能否得到论证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7731E9-311C-43D4-BDD6-9216AA21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10439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79671C-6EC3-4DF7-9795-EB682AF7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讨论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597526-2092-4671-B4F7-40C604C4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010150"/>
            <a:ext cx="82105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FFFFFF"/>
                </a:solidFill>
              </a:defRPr>
            </a:pPr>
            <a:r>
              <a:rPr sz="1500" b="0" i="0">
                <a:solidFill>
                  <a:srgbClr val="FFFFFF"/>
                </a:solidFill>
              </a:rPr>
              <a:t>1. 扩展应特别针对历史 heterogeneous finger tree，还是针对支持所需列表操作的等价后端？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FFFFFF"/>
                </a:solidFill>
              </a:defRPr>
            </a:pPr>
            <a:r>
              <a:rPr sz="1500" b="0" i="0">
                <a:solidFill>
                  <a:srgbClr val="FFFFFF"/>
                </a:solidFill>
              </a:rPr>
              <a:t>2. 语义等价加实验比较是否足够，还是论文还应包含 amortized operation-bound 论证？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F12E6E-FF94-4346-AEBC-DE2EF6494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0100"/>
            <a:ext cx="10439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现有普通列表证据保持只读；finger-tree 结果必须使用独立的验证与实验版本。</a:t>
            </a:r>
          </a:p>
        </p:txBody>
      </p:sp>
    </p:spTree>
    <p:extLst>
      <p:ext uri="{BB962C8B-B14F-4D97-AF65-F5344CB8AC3E}">
        <p14:creationId xmlns:p14="http://schemas.microsoft.com/office/powerpoint/2010/main" val="15579799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B2B517D-41E5-40E3-9D0D-097621E3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3BC046-FF05-4EDB-9663-B4B171D9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记录的调用范围下，各输入规模的运行时间中位数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DB0D4-A667-4DE7-8D7E-9D57D5C7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EB034-0430-48E7-9D0D-D254F84D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63A7D-76FD-45E8-B002-CF79F77F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3A389-E8E8-4255-8207-35E92079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A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ea5027077a401d"/>
          <a:stretch xmlns:a="http://schemas.openxmlformats.org/drawingml/2006/main"/>
        </p:blipFill>
        <p:spPr>
          <a:xfrm xmlns:a="http://schemas.openxmlformats.org/drawingml/2006/main">
            <a:off x="628650" y="1749972"/>
            <a:ext cx="6858000" cy="351045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A44C31-B259-4317-B828-6A78599E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685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AB0D0-15DC-4AB3-85EB-30EF5DBC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57400"/>
            <a:ext cx="14478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586B2-3148-4921-A4FF-EC61C934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8A7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34482-CB89-48F1-B2F6-3B3335B8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43125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Python sort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CEC2CC-E646-47D0-AAB6-27DF8B10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098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E75B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89AEB0-71FB-423B-809B-3C361131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860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36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Reference pipeline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4C5F5D-342A-40BE-B937-D6C5CFE2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527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C697CD-8579-4681-B84D-1C1579D7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28925"/>
            <a:ext cx="933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243B53"/>
                </a:solidFill>
              </a:defRPr>
            </a:pPr>
            <a:r>
              <a:rPr sz="900" b="0" i="0">
                <a:solidFill>
                  <a:srgbClr val="243B53"/>
                </a:solidFill>
              </a:rPr>
              <a:t>Paper 普通列表 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D6E617-4BC7-4C5D-BA2D-0EDC40FD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3830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3DE3F-B459-4F7E-ACD0-3FFDB1DF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67640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95A237-2259-46F9-8C6F-6351D913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6383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9E5D38-1716-4682-8CB6-6980D310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764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Python（毫秒）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F63841-0CF1-4316-9B45-B61A13E1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3830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5781A7-4887-4773-8E5F-147B54F2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67640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Reference（毫秒）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7EB678-1276-4DB1-9671-9984A22F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16383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95A12B-AA56-4490-BE73-ABDE2B8B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16764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Paper（毫秒）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8B0C0F-11E6-480C-BFEF-F0A1B08D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6217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666A2-9ED1-4597-8CF0-70E5CA6A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0027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32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29C158-12E3-474F-91A9-963BDAE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621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56542D-08F7-4F93-BE46-F41C302B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02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0.000791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4F5268-F9F9-4796-8175-16327F43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16217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DAE3EC-C846-4C59-BAAE-F07094A7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0027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0.181177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84F09B-4C35-4AC3-9D4E-9BA6AB3A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1621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5B14CB-7285-4036-9ECD-A49963E0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2002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0.586906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736656-283D-4274-AC7C-9717A4B0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8605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4D2BC3-7819-4865-AE2B-304333BD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64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80E9C3-4D38-4B58-B667-8E5D57E9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8605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A365D4-5F57-45B8-B055-12EC00D8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2415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0.001417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ECC511-FBF1-49BE-BE53-45AC3D59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68605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207546-34C0-47B0-8C54-12A84504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0.585667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74B16B-E8E3-4D98-A385-2955EE50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68605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EAF5BE-1E82-4713-9F4A-93306127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1.282198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A308BE-A9B8-468C-833A-3D38C39A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0992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241944-3EC4-4062-98B9-E7855E61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4802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128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5BDE3F-1DCA-4C72-A1CA-3027B449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0992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8B982D-9423-4D07-87CA-C66D3351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24802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0.002635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7E25E2-7DE5-41CD-94AE-DD0C07AC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0992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EE9D827-3449-4451-93A1-8D2A9A21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4802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2.077959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0F3F59-B09A-4D0E-BAF0-5BF03DFD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20992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4D060B9-EC5B-4645-A703-E9071744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24802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2.815083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36413F0-59C4-4CCF-BBAF-83B31887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3380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3B31B35-FDE1-45DC-83AA-DAAB6C78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7190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256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5F9DCC5-290F-431B-9919-98BDB06F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338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430904F-6B2F-4DF0-AE79-BA390884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719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0.005208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6B69384-531F-4B52-A64B-3AE85A3F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73380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2AA4890-D20D-4F73-BFE8-495A7EC9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7190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7.929646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87AFCD9-D805-45BA-B88C-9EB2A7F8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7338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6E550A-A9A1-4A1B-BB2B-57C55375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7719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6.721250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BE10C66-72F2-4475-9242-ADAD0547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5767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117CCE5-FFBD-4CBB-81D4-237F37FA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29577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512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803809A-596B-4916-AE6E-41D8E3D4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576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6D5D884-2437-4EC8-B83F-C41B856E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957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0.010584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CB7A4DC-EBB8-462C-A003-A74ADE80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5767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A4253A8-EC3C-4CB4-A285-DF19E5AB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9577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33.014458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4F76E16-96DD-4B11-B3BE-955EEA69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2576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222E38-4575-4539-B558-200633B4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2957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18.716687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3718E20-47AB-46C9-A310-510E0EC1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863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绝对时间仅属于一次记录的 Apple M4 / CPython 3.12.4 执行。</a:t>
            </a:r>
          </a:p>
        </p:txBody>
      </p:sp>
    </p:spTree>
    <p:extLst>
      <p:ext uri="{BB962C8B-B14F-4D97-AF65-F5344CB8AC3E}">
        <p14:creationId xmlns:p14="http://schemas.microsoft.com/office/powerpoint/2010/main" val="75022135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9AE4B-9925-46EA-951B-BC124821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E7B57-B3EC-475B-818E-0266FF8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Paper 输出从状态中恢复，而不是来自 oracle 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8CE44-CD3D-48F0-A973-1353C90B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F309C-E064-4D75-9524-1D3B72D4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BACEE-211D-4302-863B-8D51F8F7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024CE-FE5D-4D44-9822-6F497706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0C888-9366-4ABD-8F21-88D90FDD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43050"/>
            <a:ext cx="409575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09B0C-7FE5-4AD1-8D74-B1CC22C7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543050"/>
            <a:ext cx="409575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E259D-7A0F-4DF4-B7BB-581AC2D1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907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Reference pipeline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F1AF1-1390-4D78-ABB7-6AD33A5F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3562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oracle_result["sorted"]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18CF1-F088-4DA7-870F-6A74A10C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29000"/>
            <a:ext cx="3181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oracle 验证、结构、trace 与可序列化结果组装均属于 reference 调用。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F39AA-1D93-42DC-A1A9-35E5AE0A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7907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Paper 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9A468C-C306-4355-AD74-F8BAFDE0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71750"/>
            <a:ext cx="3562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state.partial_order.to_list()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DF933-025A-4C94-AAC7-B1F6CD5B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352800"/>
            <a:ext cx="31813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认证发生在调用前，输出比较发生在调用后；二者都不提供 paper core 的返回值。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5A69B-6196-4AB8-9E17-1AD7DA20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1975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预期答案相同，输出来源不同。</a:t>
            </a:r>
          </a:p>
        </p:txBody>
      </p:sp>
    </p:spTree>
    <p:extLst>
      <p:ext uri="{BB962C8B-B14F-4D97-AF65-F5344CB8AC3E}">
        <p14:creationId xmlns:p14="http://schemas.microsoft.com/office/powerpoint/2010/main" val="20909035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D494A0-74EC-4B5B-BA7B-96DB032A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CFF3D-BB45-4DD3-8C33-CC8BD515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当前实现基线的验证汇总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27CB2-0A03-4635-B30B-E4155963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76BC9-4E8B-4972-919C-63564051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82BBF5-A2D5-49FE-B2C4-41BB86BE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63CBE-5FF4-42A7-831C-996AECF4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A7AC-149E-47E1-971D-1E49E1A2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049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2A9D8F"/>
                </a:solidFill>
              </a:defRPr>
            </a:pPr>
            <a:r>
              <a:rPr sz="3150" b="1" i="0">
                <a:solidFill>
                  <a:srgbClr val="2A9D8F"/>
                </a:solidFill>
              </a:rPr>
              <a:t>537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10DC31-6C1D-4EE9-A74A-AE285B8C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192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C4CE24-49A5-46DD-A857-55E1CD75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049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仓库测试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DC861-BE51-4F1C-8642-89EB6F7D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E76F51"/>
                </a:solidFill>
              </a:defRPr>
            </a:pPr>
            <a:r>
              <a:rPr sz="3150" b="1" i="0">
                <a:solidFill>
                  <a:srgbClr val="E76F51"/>
                </a:solidFill>
              </a:rPr>
              <a:t>2,074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1B7341-C235-450B-AF96-2247B643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574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ECD67B-16C1-4656-BE08-38723512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431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有界穷举有效排列，n ≤ 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38DAC-D4A4-4D9D-AC28-3691474A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2A9D8F"/>
                </a:solidFill>
              </a:defRPr>
            </a:pPr>
            <a:r>
              <a:rPr sz="3150" b="1" i="0">
                <a:solidFill>
                  <a:srgbClr val="2A9D8F"/>
                </a:solidFill>
              </a:rPr>
              <a:t>48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4FAF4D-902F-41A6-A57C-9F47D58B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956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3AA54-208F-438B-ADBD-6CDE7AB7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813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固定生成用例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B65981-7906-4DB9-BD97-3A685A9F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E76F51"/>
                </a:solidFill>
              </a:defRPr>
            </a:pPr>
            <a:r>
              <a:rPr sz="3150" b="1" i="0">
                <a:solidFill>
                  <a:srgbClr val="E76F51"/>
                </a:solidFill>
              </a:rPr>
              <a:t>60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3C7035-C8DE-4DFB-AF6E-515A0AA1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338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CA3564-0CEE-4F74-BE68-D40F68E8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195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正式 case-level checked-state audit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E8F01E-1674-4D36-94D9-BAC325C4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577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2550" b="1" i="0">
                <a:solidFill>
                  <a:srgbClr val="2A9D8F"/>
                </a:solidFill>
              </a:defRPr>
            </a:pPr>
            <a:r>
              <a:rPr sz="2550" b="1" i="0">
                <a:solidFill>
                  <a:srgbClr val="2A9D8F"/>
                </a:solidFill>
              </a:rPr>
              <a:t>通过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ADA90F-9A40-4401-ADAF-5E354B7B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720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9B1ED8-0884-4B2F-BAC8-7EA82BFB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8577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正式 evidence-contract 验证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B2CE2B-1396-4BE1-9E16-4DF7E08E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810250"/>
            <a:ext cx="84582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8BBA16-4776-4554-9075-FE17B9E7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848350"/>
            <a:ext cx="807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有限验证证据并不是对每个 Jordan sequence 的证明。</a:t>
            </a:r>
          </a:p>
        </p:txBody>
      </p:sp>
    </p:spTree>
    <p:extLst>
      <p:ext uri="{BB962C8B-B14F-4D97-AF65-F5344CB8AC3E}">
        <p14:creationId xmlns:p14="http://schemas.microsoft.com/office/powerpoint/2010/main" val="68970340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B6CFDF-D4A8-41D2-9B41-E6B249AE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7177C2-031C-4D32-A397-8593E38D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increasing 与 decreasing 迭代采用镜像的局部选择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7807E-8682-4A11-8F03-6D917FEB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47FE8-B9D9-405D-96CC-95BE2749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0B14D-6779-4663-BEFF-CA4E48E5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40A75-6D94-4E33-973B-B527B46C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8746E-96ED-468B-A0CE-92A47817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66850"/>
            <a:ext cx="3314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C39A0-D37A-4CBA-A61D-E27B74B9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控制选择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F46803-D98B-4E3C-8471-A1353A3D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466850"/>
            <a:ext cx="3295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B500DE-8C7E-45E0-8E47-A2256D8E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increasing orientation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307987-FDCF-4EB0-9B32-A8B7FA5E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466850"/>
            <a:ext cx="3752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45C7B2-172B-449D-9094-FE1DF4DC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524000"/>
            <a:ext cx="3600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E76F51"/>
                </a:solidFill>
              </a:defRPr>
            </a:pPr>
            <a:r>
              <a:rPr sz="1425" b="1" i="0">
                <a:solidFill>
                  <a:srgbClr val="E76F51"/>
                </a:solidFill>
              </a:rPr>
              <a:t>decreasing orientation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10D0B-7CA2-4A3A-9827-7E473159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1EF2B7-260D-4D7F-8FD3-4130725C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Step 3(a) 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23CB2-A646-423D-B185-6174952A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621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14A370-FE95-4544-AEE8-2D7C77DE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193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predecessor 侧（Aᵢ）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5ED69A-0FB6-4D39-A22D-15FD9266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621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5106A-853C-4E5E-B135-0B6A8760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193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successor 侧（Bᵢ）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6C1E1-C4C0-4A43-8D35-F27399C1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A7C6E9-6666-4934-80AD-A400EA3A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336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边界插入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8E0320-91DC-4D37-9D18-DB6F171F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765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411EEA-B74C-4A62-B9AC-AB832F37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336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最后一个 sibling 之后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24A22B-D78B-4655-8D2E-6C26FCCF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765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4DC159-275D-4884-9F77-75A5B433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336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第一个 sibling 之前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75F688-DBAB-4DD0-B7BB-93957127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9C919B-5351-4601-9B99-117599F4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Step 3(b) 边界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4BC948-1F2A-40D6-BCE8-3F5CCE01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908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3E9720-4AE1-4F80-B1A1-A7B4A3F0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480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successor 侧（Bᵢ）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3603C1-F6DC-4197-AC5C-BA338F99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908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285F2D-5CC6-46F7-96D7-C7CE67E6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480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predecessor 侧（Aᵢ）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E83526-11D7-4064-A05D-6BCA8DBC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9C84C2-6296-4F87-9150-D64AC252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623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获得的拆分侧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965EAA-1218-49AE-A1CD-E43AA60D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5052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723DD0-4DF4-4A69-85AA-3297445D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5623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左侧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FEADDC-6020-4996-AF9D-BA88DC96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052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8963CD-F64A-4CDA-B91D-47F3A62F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623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右侧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E1F339-B5C7-4EE2-8EF1-3ECA0BF2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78034E-3B72-4C75-A680-B89EE1FE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child 极值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097186-6F0D-4BBE-B71D-986E6B4A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195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D02B1E-093B-405E-97D1-957E4624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0767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最右 child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F611FC-A66B-453B-BE51-3B7EAA45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0195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FD877D-E929-46AE-953B-17E65C50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0767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最左 child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F93FB10-7045-4BD4-B7C3-5F909DEF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012065-FAD0-42EE-8A14-3E9788D3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几何 anchor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9A7848-D490-4BC9-A644-9193C691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339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A45BDE-7328-4EC1-B9D1-18AC1286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91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右端点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90475E4-4AD5-4588-9EE3-DD5D853E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5339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48A198-F61E-4F92-B5B3-0795BB70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5910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左端点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46F9A48-B4BA-4366-9A77-E3E8A03E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ADDC371-ECB5-453B-9362-844F7F9E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054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输出插入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E1A0475-EE8C-4B27-B2DD-64973801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0482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A63AD83-1132-4C9D-898C-1CE2FC46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054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anchor 之后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78490AE-13F3-44C7-81D6-1427FFE7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482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0E08FBE-4F40-4970-A119-CBD58DAC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1054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anchor 之前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FC2048A-49D1-4AD1-A2B7-9F629BC9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340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Step 1 始终选择 Aᵢ，Step 2 始终选择 Bᵢ；Step 3 镜像这些边界的使用方式。</a:t>
            </a:r>
          </a:p>
        </p:txBody>
      </p:sp>
    </p:spTree>
    <p:extLst>
      <p:ext uri="{BB962C8B-B14F-4D97-AF65-F5344CB8AC3E}">
        <p14:creationId xmlns:p14="http://schemas.microsoft.com/office/powerpoint/2010/main" val="147542809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9AE4B-9925-46EA-951B-BC124821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E7B57-B3EC-475B-818E-0266FF8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拟议的 finger-tree 后端边界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8CE44-CD3D-48F0-A973-1353C90B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F309C-E064-4D75-9524-1D3B72D4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BACEE-211D-4302-863B-8D51F8F7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024CE-FE5D-4D44-9822-6F497706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0C888-9366-4ABD-8F21-88D90FDD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4762500" cy="1733550"/>
          </a:xfrm>
          <a:prstGeom xmlns:a="http://schemas.openxmlformats.org/drawingml/2006/main" prst="roundRect">
            <a:avLst>
              <a:gd name="adj" fmla="val 2139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09B0C-7FE5-4AD1-8D74-B1CC22C7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52800"/>
            <a:ext cx="4762500" cy="1733550"/>
          </a:xfrm>
          <a:prstGeom xmlns:a="http://schemas.openxmlformats.org/drawingml/2006/main" prst="roundRect">
            <a:avLst>
              <a:gd name="adj" fmla="val 2139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E259D-7A0F-4DF4-B7BB-581AC2D1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242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普通列表后端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F1AF1-1390-4D78-ABB7-6AD33A5F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当前已验证基线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18CF1-F088-4DA7-870F-6A74A10C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005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ordinary Python lists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已归档的正确性与计时证据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F39AA-1D93-42DC-A1A9-35E5AE0A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242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Finger-tree 后端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9A468C-C306-4355-AD74-F8BAFDE0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433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拟议扩展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DF933-025A-4C94-AAC7-B1F6CD5B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005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语义等价目标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独立的验证与实验版本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5A69B-6196-4AB8-9E17-1AD7DA20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29250"/>
            <a:ext cx="8877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仅提高 tree split 的效率并不足够；若 ownership transfer 仍扫描并重新绑定每个元素，所需 bound 仍无法成立。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B8B23-36E6-4CEA-80E9-2C77B5DC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24000"/>
            <a:ext cx="2762250" cy="685800"/>
          </a:xfrm>
          <a:prstGeom xmlns:a="http://schemas.openxmlformats.org/drawingml/2006/main" prst="roundRect">
            <a:avLst>
              <a:gd name="adj" fmla="val 11111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6C10BA-A3BA-4022-9B06-BD98A614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2495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Paper Step 1/2/3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56070B-265C-45D4-9944-AE342969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09700"/>
            <a:ext cx="6534150" cy="914400"/>
          </a:xfrm>
          <a:prstGeom xmlns:a="http://schemas.openxmlformats.org/drawingml/2006/main" prst="roundRect">
            <a:avLst>
              <a:gd name="adj" fmla="val 8333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256568-2D66-41EC-9437-1704D219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85900"/>
            <a:ext cx="6153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Sibling-list 后端接口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49E41D-4685-47E5-A2C7-C6F62230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47850"/>
            <a:ext cx="607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创建 singleton list • 左/右边界插入 • 按新点值 split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访问 first/last child • 保持 ownership 与 stable handle</a:t>
            </a:r>
          </a:p>
        </p:txBody>
      </p:sp>
      <p:cxnSp>
        <p:nvCxnSpPr>
          <p:cNvPr id="45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3657600" y="1866900"/>
            <a:ext cx="1104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med" len="med"/>
          </a:ln>
        </p:spPr>
      </p:cxnSp>
      <p:cxnSp>
        <p:nvCxnSpPr>
          <p:cNvPr id="46" name=""/>
          <p:cNvCxnSpPr>
            <a:stCxn xmlns:a="http://schemas.openxmlformats.org/drawingml/2006/main" id="19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3257550" y="2324100"/>
            <a:ext cx="4772025" cy="1028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med" len="med"/>
          </a:ln>
        </p:spPr>
      </p:cxnSp>
      <p:cxnSp>
        <p:nvCxnSpPr>
          <p:cNvPr id="47" name=""/>
          <p:cNvCxnSpPr>
            <a:stCxn xmlns:a="http://schemas.openxmlformats.org/drawingml/2006/main" id="19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8029575" y="2324100"/>
            <a:ext cx="904875" cy="1028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E76F51"/>
            </a:solidFill>
            <a:prstDash val="soli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2090903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2026-09-02T21:35:39.8950000Z</dcterms:created>
  <dcterms:modified xsi:type="dcterms:W3CDTF">2026-09-02T21:35:39.8950000Z</dcterms:modified>
</coreProperties>
</file>