
<file path=[Content_Types].xml><?xml version="1.0" encoding="utf-8"?>
<Types xmlns="http://schemas.openxmlformats.org/package/2006/content-types">
  <Default Extension="xml" ContentType="application/xml"/>
  <Default Extension="xlsx" ContentType="application/vnd.openxmlformats-officedocument.spreadsheetml.sheet"/>
  <Default Extension="jpeg" ContentType="image/jpeg"/>
  <Default Extension="wmf" ContentType="image/x-wmf"/>
  <Default Extension="png" ContentType="image/png"/>
  <Default Extension="rels" ContentType="application/vnd.openxmlformats-package.relationships+xml"/>
  <Default Extension="bin" ContentType="application/vnd.openxmlformats-officedocument.oleObject"/>
  <Override PartName="/ppt/notesSlides/notesSlide19.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slides/slide21.xml" ContentType="application/vnd.openxmlformats-officedocument.presentationml.slide+xml"/>
  <Override PartName="/ppt/notesSlides/notesSlide11.xml" ContentType="application/vnd.openxmlformats-officedocument.presentationml.notesSlide+xml"/>
  <Override PartName="/ppt/presProps.xml" ContentType="application/vnd.openxmlformats-officedocument.presentationml.presProps+xml"/>
  <Override PartName="/ppt/notesSlides/notesSlide7.xml" ContentType="application/vnd.openxmlformats-officedocument.presentationml.notesSlide+xml"/>
  <Override PartName="/ppt/slides/slide20.xml" ContentType="application/vnd.openxmlformats-officedocument.presentationml.slide+xml"/>
  <Override PartName="/ppt/slides/slide19.xml" ContentType="application/vnd.openxmlformats-officedocument.presentationml.slide+xml"/>
  <Override PartName="/ppt/notesSlides/notesSlide21.xml" ContentType="application/vnd.openxmlformats-officedocument.presentationml.notesSlide+xml"/>
  <Override PartName="/ppt/charts/chart1.xml" ContentType="application/vnd.openxmlformats-officedocument.drawingml.chart+xml"/>
  <Override PartName="/ppt/slides/slide16.xml" ContentType="application/vnd.openxmlformats-officedocument.presentationml.slide+xml"/>
  <Override PartName="/ppt/slides/slide13.xml" ContentType="application/vnd.openxmlformats-officedocument.presentationml.slide+xml"/>
  <Override PartName="/docProps/app.xml" ContentType="application/vnd.openxmlformats-officedocument.extended-properties+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slides/slide17.xml" ContentType="application/vnd.openxmlformats-officedocument.presentationml.slide+xml"/>
  <Override PartName="/ppt/slideMasters/slideMaster1.xml" ContentType="application/vnd.openxmlformats-officedocument.presentationml.slideMaster+xml"/>
  <Override PartName="/ppt/slides/slide7.xml" ContentType="application/vnd.openxmlformats-officedocument.presentationml.slide+xml"/>
  <Override PartName="/ppt/notesSlides/notesSlide20.xml" ContentType="application/vnd.openxmlformats-officedocument.presentationml.notesSlide+xml"/>
  <Override PartName="/ppt/slides/slide4.xml" ContentType="application/vnd.openxmlformats-officedocument.presentationml.slide+xml"/>
  <Override PartName="/ppt/slides/slide3.xml" ContentType="application/vnd.openxmlformats-officedocument.presentationml.slide+xml"/>
  <Override PartName="/ppt/notesSlides/notesSlide8.xml" ContentType="application/vnd.openxmlformats-officedocument.presentationml.notesSlide+xml"/>
  <Override PartName="/ppt/slides/slide2.xml" ContentType="application/vnd.openxmlformats-officedocument.presentationml.slide+xml"/>
  <Override PartName="/ppt/slideLayouts/slideLayout1.xml" ContentType="application/vnd.openxmlformats-officedocument.presentationml.slideLayout+xml"/>
  <Override PartName="/ppt/slides/slide18.xml" ContentType="application/vnd.openxmlformats-officedocument.presentationml.slide+xml"/>
  <Override PartName="/ppt/viewProps.xml" ContentType="application/vnd.openxmlformats-officedocument.presentationml.viewProps+xml"/>
  <Override PartName="/ppt/slides/slide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notesSlides/notesSlide18.xml" ContentType="application/vnd.openxmlformats-officedocument.presentationml.notesSlide+xml"/>
  <Override PartName="/ppt/presentation.xml" ContentType="application/vnd.openxmlformats-officedocument.presentationml.presentation.main+xml"/>
  <Override PartName="/docProps/core.xml" ContentType="application/vnd.openxmlformats-package.core-properties+xml"/>
  <Override PartName="/ppt/slides/slide6.xml" ContentType="application/vnd.openxmlformats-officedocument.presentationml.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tableStyles.xml" ContentType="application/vnd.openxmlformats-officedocument.presentationml.tableStyles+xml"/>
  <Override PartName="/ppt/notesSlides/notesSlide10.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2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0" d="0"/>
          <a:sy n="0" d="0"/>
        </p:scale>
        <p:origin x="0" y="0"/>
      </p:cViewPr>
      <p:guideLst>
        <p:guide pos="3840"/>
        <p:guide pos="216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notesMaster" Target="notesMasters/notesMaster1.xml"/><Relationship Id="rId26" Type="http://schemas.openxmlformats.org/officeDocument/2006/relationships/presProps" Target="presProps.xml" /><Relationship Id="rId27" Type="http://schemas.openxmlformats.org/officeDocument/2006/relationships/tableStyles" Target="tableStyles.xml" /><Relationship Id="rId28" Type="http://schemas.openxmlformats.org/officeDocument/2006/relationships/viewProps" Target="viewProps.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 /></Relationships>
</file>

<file path=ppt/charts/chart1.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lineChart>
        <c:grouping val="standard"/>
        <c:varyColors val="0"/>
        <c:ser>
          <c:idx val="0"/>
          <c:order val="0"/>
          <c:tx>
            <c:v>paper/reference</c:v>
          </c:tx>
          <c:spPr bwMode="auto">
            <a:prstGeom prst="rect">
              <a:avLst/>
            </a:prstGeom>
            <a:ln w="38100">
              <a:solidFill>
                <a:srgbClr val="2A9D8F"/>
              </a:solidFill>
              <a:prstDash val="solid"/>
            </a:ln>
          </c:spPr>
          <c:marker>
            <c:symbol val="circle"/>
            <c:size val="9"/>
            <c:spPr bwMode="auto">
              <a:prstGeom prst="rect">
                <a:avLst/>
              </a:prstGeom>
              <a:solidFill>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ratio = 1</c:v>
          </c:tx>
          <c:spPr bwMode="auto">
            <a:prstGeom prst="rect">
              <a:avLst/>
            </a:prstGeom>
            <a:l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dLbls>
          <c:showBubbleSize val="0"/>
          <c:showCatName val="0"/>
          <c:showLegendKey val="0"/>
          <c:showPercent val="0"/>
          <c:showSerName val="0"/>
          <c:showVal val="0"/>
        </c:dLbls>
        <c:smooth val="0"/>
        <c:axId val="48650112"/>
        <c:axId val="48672768"/>
      </c:lineChart>
      <c:catAx>
        <c:axId val="48650112"/>
        <c:scaling>
          <c:orientation val="minMax"/>
        </c:scaling>
        <c:delete val="0"/>
        <c:axPos val="b"/>
        <c:title>
          <c:tx>
            <c:rich>
              <a:bodyPr/>
              <a:lstStyle/>
              <a:p>
                <a:pPr>
                  <a:defRPr/>
                </a:pPr>
                <a:r>
                  <a:rPr sz="1150">
                    <a:solidFill>
                      <a:srgbClr val="52606D"/>
                    </a:solidFill>
                  </a:rPr>
                  <a:t>input size n</a:t>
                </a:r>
                <a:endParaRPr/>
              </a:p>
            </c:rich>
          </c:tx>
          <c:layout/>
          <c:overlay val="0"/>
          <c:txPr>
            <a:bodyPr anchorCtr="1"/>
            <a:lstStyle/>
            <a:p>
              <a:pPr>
                <a:defRPr sz="1150">
                  <a:solidFill>
                    <a:srgbClr val="52606D"/>
                  </a:solidFill>
                </a:defRPr>
              </a:pPr>
              <a:endParaRPr/>
            </a:p>
          </c:txPr>
        </c:title>
        <c:numFmt formatCode="General"/>
        <c:majorTickMark val="none"/>
        <c:minorTickMark val="none"/>
        <c:spPr bwMode="auto">
          <a:prstGeom prst="rect">
            <a:avLst/>
          </a:prstGeom>
          <a:ln w="9525">
            <a:solidFill>
              <a:srgbClr val="D9E2EC"/>
            </a:solidFill>
            <a:prstDash val="solid"/>
          </a:ln>
        </c:spPr>
        <c:txPr>
          <a:bodyPr anchorCtr="1"/>
          <a:lstStyle/>
          <a:p>
            <a:pPr>
              <a:defRPr sz="1150">
                <a:solidFill>
                  <a:srgbClr val="52606D"/>
                </a:solidFill>
              </a:defRPr>
            </a:pPr>
            <a:endParaRPr/>
          </a:p>
        </c:txPr>
        <c:crossAx val="48672768"/>
        <c:crosses val="autoZero"/>
        <c:noMultiLvlLbl val="0"/>
      </c:catAx>
      <c:valAx>
        <c:axId val="48672768"/>
        <c:scaling>
          <c:orientation val="minMax"/>
          <c:max val="3.500000"/>
          <c:min val="0.000000"/>
        </c:scaling>
        <c:delete val="0"/>
        <c:axPos val="l"/>
        <c:majorGridlines>
          <c:spPr bwMode="auto">
            <a:prstGeom prst="rect">
              <a:avLst/>
            </a:prstGeom>
            <a:ln w="9525">
              <a:solidFill>
                <a:srgbClr val="E6EDF3"/>
              </a:solidFill>
              <a:prstDash val="solid"/>
            </a:ln>
          </c:spPr>
        </c:majorGridlines>
        <c:title>
          <c:tx>
            <c:rich>
              <a:bodyPr/>
              <a:lstStyle/>
              <a:p>
                <a:pPr>
                  <a:defRPr/>
                </a:pPr>
                <a:r>
                  <a:rPr sz="1150">
                    <a:solidFill>
                      <a:srgbClr val="52606D"/>
                    </a:solidFill>
                  </a:rPr>
                  <a:t>median exact-case ratio</a:t>
                </a:r>
                <a:endParaRPr/>
              </a:p>
            </c:rich>
          </c:tx>
          <c:layout/>
          <c:overlay val="0"/>
          <c:txPr>
            <a:bodyPr anchorCtr="1"/>
            <a:lstStyle/>
            <a:p>
              <a:pPr>
                <a:defRPr sz="1150">
                  <a:solidFill>
                    <a:srgbClr val="52606D"/>
                  </a:solidFill>
                </a:defRPr>
              </a:pPr>
              <a:endParaRPr/>
            </a:p>
          </c:txPr>
        </c:title>
        <c:numFmt formatCode="0.0"/>
        <c:majorTickMark val="none"/>
        <c:minorTickMark val="none"/>
        <c:spPr bwMode="auto">
          <a:prstGeom prst="rect">
            <a:avLst/>
          </a:prstGeom>
          <a:ln w="9525">
            <a:solidFill>
              <a:srgbClr val="D9E2EC"/>
            </a:solidFill>
            <a:prstDash val="solid"/>
          </a:ln>
        </c:spPr>
        <c:txPr>
          <a:bodyPr anchorCtr="1"/>
          <a:lstStyle/>
          <a:p>
            <a:pPr>
              <a:defRPr sz="1050">
                <a:solidFill>
                  <a:srgbClr val="52606D"/>
                </a:solidFill>
              </a:defRPr>
            </a:pPr>
            <a:endParaRPr/>
          </a:p>
        </c:txPr>
        <c:crossAx val="48650112"/>
        <c:crosses val="autoZero"/>
        <c:crossBetween val="between"/>
        <c:majorUnit val="0.500000"/>
      </c:valAx>
      <c:spPr bwMode="auto">
        <a:prstGeom prst="rect">
          <a:avLst/>
        </a:prstGeom>
        <a:solidFill>
          <a:srgbClr val="FFFFFF"/>
        </a:solidFill>
        <a:ln w="9525">
          <a:solidFill>
            <a:srgbClr val="D9E2EC"/>
          </a:solidFill>
          <a:prstDash val="solid"/>
        </a:ln>
      </c:spPr>
    </c:plotArea>
    <c:legend>
      <c:legendPos val="b"/>
      <c:layout/>
      <c:overlay val="0"/>
      <c:txPr>
        <a:bodyPr anchorCtr="1"/>
        <a:lstStyle/>
        <a:p>
          <a:pPr>
            <a:defRPr sz="1150">
              <a:solidFill>
                <a:srgbClr val="52606D"/>
              </a:solidFill>
            </a:defRPr>
          </a:pPr>
          <a:endParaRPr/>
        </a:p>
      </c:txPr>
    </c:legend>
    <c:plotVisOnly val="1"/>
    <c:showDLblsOverMax val="0"/>
  </c:chart>
  <c:spPr bwMode="auto">
    <a:xfrm rot="0">
      <a:off x="647700" y="1409700"/>
      <a:ext cx="6858000" cy="4095750"/>
    </a:xfrm>
    <a:prstGeom prst="rect">
      <a:avLst/>
    </a:prstGeom>
    <a:solidFill>
      <a:srgbClr val="FFFFFF"/>
    </a:solidFill>
    <a:ln w="9525">
      <a:solidFill>
        <a:srgbClr val="D9E2EC"/>
      </a:solidFill>
      <a:prstDash val="solid"/>
    </a:ln>
  </c:spPr>
  <c:externalData r:id="rId1">
    <c:autoUpdate val="1"/>
  </c:externalData>
</c:chartSpace>
</file>

<file path=ppt/embeddings/_rels/Microsoft_Excel_Worksheet1.xlsx.rels><?xml version="1.0" encoding="UTF-8" standalone="yes"?><Relationships xmlns="http://schemas.openxmlformats.org/package/2006/relationships"></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981698837" name="Header Placeholder"/>
          <p:cNvSpPr/>
          <p:nvPr>
            <p:ph type="hdr" sz="quarter"/>
          </p:nvPr>
        </p:nvSpPr>
        <p:spPr bwMode="auto">
          <a:prstGeom prst="rect">
            <a:avLst/>
          </a:prstGeom>
        </p:spPr>
        <p:txBody>
          <a:bodyPr/>
          <a:lstStyle/>
          <a:p>
            <a:pPr>
              <a:defRPr/>
            </a:pPr>
            <a:endParaRPr/>
          </a:p>
        </p:txBody>
      </p:sp>
      <p:sp>
        <p:nvSpPr>
          <p:cNvPr id="2007738914" name="Date Placeholder"/>
          <p:cNvSpPr/>
          <p:nvPr>
            <p:ph type="dt" sz="quarter" idx="1"/>
          </p:nvPr>
        </p:nvSpPr>
        <p:spPr bwMode="auto">
          <a:prstGeom prst="rect">
            <a:avLst/>
          </a:prstGeom>
        </p:spPr>
        <p:txBody>
          <a:bodyPr/>
          <a:lstStyle/>
          <a:p>
            <a:pPr>
              <a:defRPr/>
            </a:pPr>
            <a:endParaRPr/>
          </a:p>
        </p:txBody>
      </p:sp>
      <p:sp>
        <p:nvSpPr>
          <p:cNvPr id="1179475449" name="Slide Image Placeholder"/>
          <p:cNvSpPr/>
          <p:nvPr>
            <p:ph type="sldImg" idx="2"/>
          </p:nvPr>
        </p:nvSpPr>
        <p:spPr bwMode="auto">
          <a:prstGeom prst="rect">
            <a:avLst/>
          </a:prstGeom>
        </p:spPr>
        <p:txBody>
          <a:bodyPr/>
          <a:lstStyle/>
          <a:p>
            <a:pPr>
              <a:defRPr/>
            </a:pPr>
            <a:endParaRPr/>
          </a:p>
        </p:txBody>
      </p:sp>
      <p:sp>
        <p:nvSpPr>
          <p:cNvPr id="593832657" name="Notes Placeholder"/>
          <p:cNvSpPr/>
          <p:nvPr>
            <p:ph type="body" sz="quarter" idx="3"/>
          </p:nvPr>
        </p:nvSpPr>
        <p:spPr bwMode="auto">
          <a:prstGeom prst="rect">
            <a:avLst/>
          </a:prstGeom>
        </p:spPr>
        <p:txBody>
          <a:bodyPr/>
          <a:lstStyle/>
          <a:p>
            <a:pPr>
              <a:defRPr/>
            </a:pPr>
            <a:endParaRPr/>
          </a:p>
        </p:txBody>
      </p:sp>
      <p:sp>
        <p:nvSpPr>
          <p:cNvPr id="1495774748" name="Footer Placeholder"/>
          <p:cNvSpPr/>
          <p:nvPr>
            <p:ph type="ftr" sz="quarter" idx="4"/>
          </p:nvPr>
        </p:nvSpPr>
        <p:spPr bwMode="auto">
          <a:prstGeom prst="rect">
            <a:avLst/>
          </a:prstGeom>
        </p:spPr>
        <p:txBody>
          <a:bodyPr/>
          <a:lstStyle/>
          <a:p>
            <a:pPr>
              <a:defRPr/>
            </a:pPr>
            <a:endParaRPr/>
          </a:p>
        </p:txBody>
      </p:sp>
      <p:sp>
        <p:nvSpPr>
          <p:cNvPr id="1678459814"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3537270" name="Slide Image Placeholder 1"/>
          <p:cNvSpPr>
            <a:spLocks noGrp="1"/>
          </p:cNvSpPr>
          <p:nvPr>
            <p:ph type="sldImg" idx="0"/>
          </p:nvPr>
        </p:nvSpPr>
        <p:spPr bwMode="auto"/>
      </p:sp>
      <p:sp>
        <p:nvSpPr>
          <p:cNvPr id="411702891" name="Notes Placeholder 2"/>
          <p:cNvSpPr>
            <a:spLocks noGrp="1"/>
          </p:cNvSpPr>
          <p:nvPr>
            <p:ph type="body" idx="1"/>
          </p:nvPr>
        </p:nvSpPr>
        <p:spPr bwMode="auto"/>
        <p:txBody>
          <a:bodyPr/>
          <a:lstStyle/>
          <a:p>
            <a:pPr>
              <a:defRPr/>
            </a:pPr>
            <a:r>
              <a:rPr/>
              <a:t>Good afternoon. This presentation updates my master's thesis on an executable reconstruction of Simplified Jordan Sorting using ordinary Python lists. My previous report focused on static structure: rank intervals, upper and lower pair families, family trees, and an oracle-backed reference. The main question is whether the paper's dynamic procedure can maintain its own state and recover its own output. I will focus on two reconstruction decisions, then explain the validation checks and the runtime results from the formal experiment.</a:t>
            </a:r>
            <a:endParaRPr/>
          </a:p>
          <a:p>
            <a:pPr>
              <a:defRPr/>
            </a:pPr>
            <a:endParaRPr/>
          </a:p>
          <a:p>
            <a:pPr>
              <a:defRPr/>
            </a:pPr>
            <a:r>
              <a:rPr lang="en-US" sz="1200" b="0" i="0" u="none" strike="noStrike" cap="none" spc="0">
                <a:solidFill>
                  <a:srgbClr val="000000"/>
                </a:solidFill>
                <a:latin typeface="+mn-lt"/>
                <a:ea typeface="+mn-ea"/>
                <a:cs typeface="+mn-cs"/>
              </a:rPr>
              <a:t>大家好。这次汇报介绍我的硕士论文进展，主题是使用普通 Python list 对 Simplified Jordan Sorting 进行可执行重构。上次汇报聚焦静态结构，包括 rank interval、upper 和 lower pair family、family tree，以及 oracle 支持的 reference。核心问题是，论文中的动态过程能否维护自身状态，并从中恢复输出。我将重点解释两处重构决定，再介绍验证检查和正式实验的运行时间结果。</a:t>
            </a:r>
            <a:endParaRPr/>
          </a:p>
        </p:txBody>
      </p:sp>
      <p:sp>
        <p:nvSpPr>
          <p:cNvPr id="7671997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1069531" name="Slide Image Placeholder 1"/>
          <p:cNvSpPr>
            <a:spLocks noGrp="1"/>
          </p:cNvSpPr>
          <p:nvPr>
            <p:ph type="sldImg" idx="0"/>
          </p:nvPr>
        </p:nvSpPr>
        <p:spPr bwMode="auto"/>
      </p:sp>
      <p:sp>
        <p:nvSpPr>
          <p:cNvPr id="1183140250" name="Notes Placeholder 2"/>
          <p:cNvSpPr>
            <a:spLocks noGrp="1"/>
          </p:cNvSpPr>
          <p:nvPr>
            <p:ph type="body" idx="1"/>
          </p:nvPr>
        </p:nvSpPr>
        <p:spPr bwMode="auto"/>
        <p:txBody>
          <a:bodyPr/>
          <a:lstStyle/>
          <a:p>
            <a:pPr>
              <a:defRPr/>
            </a:pPr>
            <a:r>
              <a:rPr/>
              <a:t>The previous implementation represented rank intervals, separated upper and lower pair families, rebuilt their laminar family trees, and computed structural metrics. An oracle checked input validity and supplied a reference answer. The missing part was the dynamic procedure: updating the processed prefix, splitting sibling lists, transferring ownership, and recovering output from maintained state. Each update must preserve both the partial order and the family structure. An error in one update can corrupt both, so safe dynamic updates were the main implementation gap.</a:t>
            </a:r>
            <a:endParaRPr/>
          </a:p>
          <a:p>
            <a:pPr>
              <a:defRPr/>
            </a:pPr>
            <a:endParaRPr/>
          </a:p>
          <a:p>
            <a:pPr>
              <a:defRPr/>
            </a:pPr>
            <a:r>
              <a:rPr lang="en-US" sz="1200" b="0" i="0" u="none" strike="noStrike" cap="none" spc="0">
                <a:solidFill>
                  <a:srgbClr val="000000"/>
                </a:solidFill>
                <a:latin typeface="+mn-lt"/>
                <a:ea typeface="+mn-ea"/>
                <a:cs typeface="+mn-cs"/>
              </a:rPr>
              <a:t>上次实现用 rank interval 表示输入，区分 upper 和 lower pair family，重构 laminar family tree，并计算结构指标。Oracle 检查输入有效性并提供参考答案。尚未实现的是动态过程：更新 processed prefix、拆分 sibling list、转移 ownership，以及从维护状态恢复输出。每次更新都必须保持 partial order 和 family structure 一致。一次更新出错就可能同时破坏两者，因此安全的动态更新是当时的主要实现缺口。</a:t>
            </a:r>
            <a:endParaRPr/>
          </a:p>
        </p:txBody>
      </p:sp>
      <p:sp>
        <p:nvSpPr>
          <p:cNvPr id="207012889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5642194" name="Slide Image Placeholder 1"/>
          <p:cNvSpPr>
            <a:spLocks noGrp="1"/>
          </p:cNvSpPr>
          <p:nvPr>
            <p:ph type="sldImg" idx="0"/>
          </p:nvPr>
        </p:nvSpPr>
        <p:spPr bwMode="auto"/>
      </p:sp>
      <p:sp>
        <p:nvSpPr>
          <p:cNvPr id="1479531452" name="Notes Placeholder 2"/>
          <p:cNvSpPr>
            <a:spLocks noGrp="1"/>
          </p:cNvSpPr>
          <p:nvPr>
            <p:ph type="body" idx="1"/>
          </p:nvPr>
        </p:nvSpPr>
        <p:spPr bwMode="auto"/>
        <p:txBody>
          <a:bodyPr/>
          <a:lstStyle/>
          <a:p>
            <a:pPr>
              <a:defRPr/>
            </a:pPr>
            <a:r>
              <a:rPr/>
              <a:t>Since then, I narrowed the scope to externally certified valid inputs and implemented the Step 1, Step 2, and Step 3 control flow. I added ownership checks, transactional updates, replay, and bounded validation. Once the implementation passed these checks, I ran a formal experiment with a fixed protocol. The result is an executable ordinary-list reconstruction.</a:t>
            </a:r>
            <a:endParaRPr/>
          </a:p>
          <a:p>
            <a:pPr>
              <a:defRPr/>
            </a:pPr>
            <a:endParaRPr/>
          </a:p>
          <a:p>
            <a:pPr>
              <a:defRPr/>
            </a:pPr>
            <a:r>
              <a:rPr lang="en-US" sz="1200" b="0" i="0" u="none" strike="noStrike" cap="none" spc="0">
                <a:solidFill>
                  <a:srgbClr val="000000"/>
                </a:solidFill>
                <a:latin typeface="+mn-lt"/>
                <a:ea typeface="+mn-ea"/>
                <a:cs typeface="+mn-cs"/>
              </a:rPr>
              <a:t>此后，我将范围缩小到外部 oracle 已认证的有效输入，并实现 Step 1、Step 2 和 Step 3 控制流。我加入 ownership 检查、事务式更新、重放和有界验证。实现通过这些检查后，我按固定协议运行了正式实验。当前成果是可执行的普通列表重构。</a:t>
            </a:r>
            <a:endParaRPr/>
          </a:p>
        </p:txBody>
      </p:sp>
      <p:sp>
        <p:nvSpPr>
          <p:cNvPr id="30003381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95822122" name="Slide Image Placeholder 1"/>
          <p:cNvSpPr>
            <a:spLocks noGrp="1"/>
          </p:cNvSpPr>
          <p:nvPr>
            <p:ph type="sldImg" idx="0"/>
          </p:nvPr>
        </p:nvSpPr>
        <p:spPr bwMode="auto"/>
      </p:sp>
      <p:sp>
        <p:nvSpPr>
          <p:cNvPr id="192844650" name="Notes Placeholder 2"/>
          <p:cNvSpPr>
            <a:spLocks noGrp="1"/>
          </p:cNvSpPr>
          <p:nvPr>
            <p:ph type="body" idx="1"/>
          </p:nvPr>
        </p:nvSpPr>
        <p:spPr bwMode="auto"/>
        <p:txBody>
          <a:bodyPr/>
          <a:lstStyle/>
          <a:p>
            <a:pPr>
              <a:defRPr/>
            </a:pPr>
            <a:r>
              <a:rPr/>
              <a:t>The thesis studies the 1990 sorting procedure on inputs already certified as valid by an oracle. The experiment compares Python sort, the complete oracle-backed reference pipeline, and the reconstructed paper core. Recognition remains outside this experiment. The current core uses ordinary Python lists. It does not implement the specialized backend used in the historical linear-time analysis.</a:t>
            </a:r>
            <a:endParaRPr/>
          </a:p>
          <a:p>
            <a:pPr>
              <a:defRPr/>
            </a:pPr>
            <a:endParaRPr/>
          </a:p>
          <a:p>
            <a:pPr>
              <a:defRPr/>
            </a:pPr>
            <a:r>
              <a:rPr lang="en-US" sz="1200" b="0" i="0" u="none" strike="noStrike" cap="none" spc="0">
                <a:solidFill>
                  <a:srgbClr val="000000"/>
                </a:solidFill>
                <a:latin typeface="+mn-lt"/>
                <a:ea typeface="+mn-ea"/>
                <a:cs typeface="+mn-cs"/>
              </a:rPr>
              <a:t>论文研究的是 1990 年 sorting procedure 在 oracle 已认证有效的输入上的运行。实验比较 Python sort、完整的 oracle-backed reference pipeline 和重构后的 paper core。Recognition 不在本次实验范围内。当前 core 使用普通 Python list，尚未实现历史线性时间分析所使用的专用后端。</a:t>
            </a:r>
            <a:endParaRPr/>
          </a:p>
        </p:txBody>
      </p:sp>
      <p:sp>
        <p:nvSpPr>
          <p:cNvPr id="4179915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07396428" name="Slide Image Placeholder 1"/>
          <p:cNvSpPr>
            <a:spLocks noGrp="1"/>
          </p:cNvSpPr>
          <p:nvPr>
            <p:ph type="sldImg" idx="0"/>
          </p:nvPr>
        </p:nvSpPr>
        <p:spPr bwMode="auto"/>
      </p:sp>
      <p:sp>
        <p:nvSpPr>
          <p:cNvPr id="493208875" name="Notes Placeholder 2"/>
          <p:cNvSpPr>
            <a:spLocks noGrp="1"/>
          </p:cNvSpPr>
          <p:nvPr>
            <p:ph type="body" idx="1"/>
          </p:nvPr>
        </p:nvSpPr>
        <p:spPr bwMode="auto"/>
        <p:txBody>
          <a:bodyPr/>
          <a:lstStyle/>
          <a:p>
            <a:pPr>
              <a:defRPr/>
            </a:pPr>
            <a:r>
              <a:rPr/>
              <a:t>RQ1 is the main technical question: can the ordinary-list reconstruction recover the correct sorted order from maintained state on certified valid inputs? RQ2 compares the paper call with Python sort and the complete reference pipeline under their stated timing scopes. RQ3 explores descriptive relationships between input structure, checked operation counters, and runtime. It does not claim a causal explanation.</a:t>
            </a:r>
            <a:endParaRPr/>
          </a:p>
          <a:p>
            <a:pPr>
              <a:defRPr/>
            </a:pPr>
            <a:endParaRPr/>
          </a:p>
          <a:p>
            <a:pPr>
              <a:defRPr/>
            </a:pPr>
            <a:r>
              <a:rPr lang="en-US" sz="1200" b="0" i="0" u="none" strike="noStrike" cap="none" spc="0">
                <a:solidFill>
                  <a:srgbClr val="000000"/>
                </a:solidFill>
                <a:latin typeface="+mn-lt"/>
                <a:ea typeface="+mn-ea"/>
                <a:cs typeface="+mn-cs"/>
              </a:rPr>
              <a:t>RQ1 是主要技术问题：普通列表重构能否在认证后的有效输入上，从维护状态恢复正确排序？RQ2 比较 paper call、Python sort 和完整 reference pipeline 在各自计时范围下的表现。RQ3 探索输入结构、checked operation counter 与运行时间之间的描述性关系，不作因果解释。</a:t>
            </a:r>
            <a:endParaRPr/>
          </a:p>
        </p:txBody>
      </p:sp>
      <p:sp>
        <p:nvSpPr>
          <p:cNvPr id="66406628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9975990" name="Slide Image Placeholder 1"/>
          <p:cNvSpPr>
            <a:spLocks noGrp="1"/>
          </p:cNvSpPr>
          <p:nvPr>
            <p:ph type="sldImg" idx="0"/>
          </p:nvPr>
        </p:nvSpPr>
        <p:spPr bwMode="auto"/>
      </p:sp>
      <p:sp>
        <p:nvSpPr>
          <p:cNvPr id="602906243" name="Notes Placeholder 2"/>
          <p:cNvSpPr>
            <a:spLocks noGrp="1"/>
          </p:cNvSpPr>
          <p:nvPr>
            <p:ph type="body" idx="1"/>
          </p:nvPr>
        </p:nvSpPr>
        <p:spPr bwMode="auto"/>
        <p:txBody>
          <a:bodyPr/>
          <a:lstStyle/>
          <a:p>
            <a:pPr>
              <a:defRPr/>
            </a:pPr>
            <a:r>
              <a:rPr/>
              <a:t>Before the paper call, the oracle certifies input validity. After the call, the runner compares the returned output with the oracle's sorted result. The reference pipeline uses the complete oracle result, including that sorted output. The paper core receives only the original sequence under the certified precondition. It executes Step 1, Step 2, and Step 3, maintains the partial order and sibling lists, and recovers output from the partial order. Both methods are checked against the same expected answer, but they produce their outputs differently. The oracle-sorted answer never enters the paper core. The dashed comparison box therefore sits outside it.</a:t>
            </a:r>
            <a:endParaRPr/>
          </a:p>
          <a:p>
            <a:pPr>
              <a:defRPr/>
            </a:pPr>
            <a:endParaRPr/>
          </a:p>
          <a:p>
            <a:pPr>
              <a:defRPr/>
            </a:pPr>
            <a:r>
              <a:rPr lang="en-US" sz="1200" b="0" i="0" u="none" strike="noStrike" cap="none" spc="0">
                <a:solidFill>
                  <a:srgbClr val="000000"/>
                </a:solidFill>
                <a:latin typeface="+mn-lt"/>
                <a:ea typeface="+mn-ea"/>
                <a:cs typeface="+mn-cs"/>
              </a:rPr>
              <a:t>Paper call 之前，oracle 认证输入有效性；调用之后，runner 将返回值与 oracle 的排序结果比较。Reference pipeline 使用完整 oracle result，包括 sorted output。Paper core 只接收原始序列，并以已认证有效为前提。它执行 Step 1、Step 2 和 Step 3，维护 partial order 与 sibling list，再从 partial order 恢复输出。两条路径使用同一个 expected answer 检查，但输出来源不同。Oracle 的排序答案不会进入 paper core，因此图中的虚线比较框位于 core 外部。</a:t>
            </a:r>
            <a:endParaRPr sz="1200"/>
          </a:p>
          <a:p>
            <a:pPr>
              <a:defRPr/>
            </a:pPr>
            <a:endParaRPr/>
          </a:p>
        </p:txBody>
      </p:sp>
      <p:sp>
        <p:nvSpPr>
          <p:cNvPr id="18661931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880731" name="Slide Image Placeholder 1"/>
          <p:cNvSpPr>
            <a:spLocks noGrp="1"/>
          </p:cNvSpPr>
          <p:nvPr>
            <p:ph type="sldImg" idx="0"/>
          </p:nvPr>
        </p:nvSpPr>
        <p:spPr bwMode="auto"/>
      </p:sp>
      <p:sp>
        <p:nvSpPr>
          <p:cNvPr id="619145997" name="Notes Placeholder 2"/>
          <p:cNvSpPr>
            <a:spLocks noGrp="1"/>
          </p:cNvSpPr>
          <p:nvPr>
            <p:ph type="body" idx="1"/>
          </p:nvPr>
        </p:nvSpPr>
        <p:spPr bwMode="auto"/>
        <p:txBody>
          <a:bodyPr/>
          <a:lstStyle/>
          <a:p>
            <a:pPr>
              <a:defRPr/>
            </a:pPr>
            <a:r>
              <a:rPr/>
              <a:t>We initialize once. The core sorts only the first three points by x-coordinate to build S three and the upper and lower pair families. It uses no oracle answer. Labels and stored pair endpoints keep curve order. From point four onward, each round adds one point. Steps one and two inspect the neighbors of z i minus one in S i minus one. They do not simply take z i minus two or first locate the new point. They find predecessor boundary A sub i and successor boundary B sub i. Step three A inserts the new pair. Step three B splits sibling lists and transfers ownership when needed. Step three C inserts the new point into the sorted list. Increasing Step three A uses A sub i, and three B uses B sub i. Decreasing swaps these uses and reflects left and right operations. Steps one and two still return A and B. The paper explicitly states the increasing case. Decreasing is a symmetric reconstruction; anchor details are executable clarifications. These categories do not correspond to separate steps. The next two slides explain the anchor clarifications.</a:t>
            </a:r>
            <a:endParaRPr/>
          </a:p>
          <a:p>
            <a:r>
              <a:t>中文参考</a:t>
            </a:r>
          </a:p>
          <a:p>
            <a:pPr>
              <a:defRPr/>
            </a:pPr>
            <a:r>
              <a:rPr lang="en-US" sz="1200" b="0" i="0" u="none" strike="noStrike" cap="none" spc="0">
                <a:solidFill>
                  <a:srgbClr val="000000"/>
                </a:solidFill>
                <a:latin typeface="+mn-lt"/>
                <a:ea typeface="+mn-ea"/>
                <a:cs typeface="+mn-cs"/>
              </a:rPr>
              <a:t>初始化只做一次。Core 仅将前三个点按 x 坐标排序，建立 S₃ 和 upper、lower pair family，不使用 oracle 的排序答案。点的编号和 pair 的端点存储仍保持曲线顺序。从第 4 个点开始，每轮加入一个新点。Step 1、2 查看旧端点 zᵢ₋₁ 在维护列表中的邻居，不是直接取前一个曲线点 zᵢ₋₂，也不是先查新点的排序位置。它们分别找到 predecessor boundary Aᵢ 和 successor boundary Bᵢ。Step 3(a) 插入新 pair；Step 3(b) 在需要时拆分 sibling list 并转移 ownership；Step 3(c) 将新点插入有序列表。Increasing 时，Step 3(a) 使用 Aᵢ，3(b) 使用 Bᵢ。Decreasing 交换这两者的用途，并镜像左右操作；Step 1、2 仍分别返回 Aᵢ、Bᵢ。论文明确描述 increasing 情形；decreasing 来自对称重构，anchor 的细节属于可执行化澄清。这三个类别并不分别对应某个步骤。接下来两页解释 anchor 的澄清。</a:t>
            </a:r>
            <a:endParaRPr sz="1200"/>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211065726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2714178" name="Slide Image Placeholder 1"/>
          <p:cNvSpPr>
            <a:spLocks noGrp="1"/>
          </p:cNvSpPr>
          <p:nvPr>
            <p:ph type="sldImg" idx="0"/>
          </p:nvPr>
        </p:nvSpPr>
        <p:spPr bwMode="auto"/>
      </p:sp>
      <p:sp>
        <p:nvSpPr>
          <p:cNvPr id="937718641" name="Notes Placeholder 2"/>
          <p:cNvSpPr>
            <a:spLocks noGrp="1"/>
          </p:cNvSpPr>
          <p:nvPr>
            <p:ph type="body" idx="1"/>
          </p:nvPr>
        </p:nvSpPr>
        <p:spPr bwMode="auto"/>
        <p:txBody>
          <a:bodyPr/>
          <a:lstStyle/>
          <a:p>
            <a:pPr>
              <a:defRPr/>
            </a:pPr>
            <a:r>
              <a:rPr/>
              <a:t>Take the input three, two, one, four. Initialization sorts only the first three values into one, two, three. Their IDs remain z three, z two, z one. We now insert z four, with value four. The new upper pair P four has endpoints one and four. After Step three B, it has child P two, stored as three, two. This update goes from one to four, so it is increasing. We choose the child's geometric right endpoint as the anchor: the existing point after which we insert four. Choosing the second stored endpoint, two, would give one, two, four, three. Choosing the geometric right endpoint, three, gives one, two, three, four. The wrong order is illustrative. Stored curve order is not geometric order. This is an executable clarification, not a rule stated in exactly this form in the 1990 paper.</a:t>
            </a:r>
            <a:endParaRPr/>
          </a:p>
          <a:p>
            <a:pPr>
              <a:defRPr/>
            </a:pPr>
            <a:endParaRPr/>
          </a:p>
          <a:p>
            <a:r>
              <a:t>中文参考</a:t>
            </a:r>
          </a:p>
          <a:p>
            <a:pPr>
              <a:defRPr/>
            </a:pPr>
            <a:r>
              <a:rPr lang="en-US" sz="1200" b="0" i="0" u="none" strike="noStrike" cap="none" spc="0">
                <a:solidFill>
                  <a:srgbClr val="000000"/>
                </a:solidFill>
                <a:latin typeface="+mn-lt"/>
                <a:ea typeface="+mn-ea"/>
                <a:cs typeface="+mn-cs"/>
              </a:rPr>
              <a:t>输入是 (3,2,1,4)。初始化只将前三个值排成 [1,2,3]，对应编号仍是 [z₃,z₂,z₁]。现在插入值为 4 的 z₄。新 upper pair P₄ 的端点是 (1,4)。Step 3(b) 后，它获得 child P₂；P₂ 仍按曲线顺序存为 (3,2)。本次从 1 到 4，因此是 increasing。我们取 child 的几何右端点作为 anchor，也就是要紧接着插入 4 的已有点。若取第二个存储端点 2，会得到 [1,2,4,3]；取几何右端点 3，则得到 [1,2,3,4]。错误顺序只是示意。存储的曲线顺序不等于几何顺序。这属于可执行化澄清，1990 年论文并未以这一具体形式表述该规则。</a:t>
            </a:r>
            <a:endParaRPr sz="1200"/>
          </a:p>
          <a:p>
            <a:r>
              <a:t/>
            </a:r>
          </a:p>
          <a:p>
            <a:r>
              <a:t>[Sources]</a:t>
            </a:r>
          </a:p>
          <a:p>
            <a:r>
              <a:t>- thesis/chapters/algorithm.tex</a:t>
            </a:r>
          </a:p>
          <a:p>
            <a:r>
              <a:t>- src/paper_jordan.py</a:t>
            </a:r>
          </a:p>
          <a:p>
            <a:pPr>
              <a:defRPr/>
            </a:pPr>
            <a:endParaRPr/>
          </a:p>
        </p:txBody>
      </p:sp>
      <p:sp>
        <p:nvSpPr>
          <p:cNvPr id="96692048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8433726" name="Slide Image Placeholder 1"/>
          <p:cNvSpPr>
            <a:spLocks noGrp="1"/>
          </p:cNvSpPr>
          <p:nvPr>
            <p:ph type="sldImg" idx="0"/>
          </p:nvPr>
        </p:nvSpPr>
        <p:spPr bwMode="auto"/>
      </p:sp>
      <p:sp>
        <p:nvSpPr>
          <p:cNvPr id="1634483840" name="Notes Placeholder 2"/>
          <p:cNvSpPr>
            <a:spLocks noGrp="1"/>
          </p:cNvSpPr>
          <p:nvPr>
            <p:ph type="body" idx="1"/>
          </p:nvPr>
        </p:nvSpPr>
        <p:spPr bwMode="auto"/>
        <p:txBody>
          <a:bodyPr/>
          <a:lstStyle/>
          <a:p>
            <a:pPr>
              <a:defRPr/>
            </a:pPr>
            <a:r>
              <a:rPr/>
              <a:t>Here we insert zero at iteration seven. The odd index makes the new pair a lower pair. Since zero is less than seven, this iteration is decreasing. After Step three B, the new pair has children P three and P five, shown here. Step three C takes the left endpoint of the leftmost child, P three, with endpoints two and three. So the base anchor is two. However, z one, with value one, is not an endpoint of any lower pair. It is still in the sorted list. Inserting zero before two would leave zero after one. Here the index is odd, and zero is smaller than z one, which is smaller than the base anchor. We therefore change the anchor to z one. This changes only output insertion, not the earlier boundary-pair selection.</a:t>
            </a:r>
            <a:endParaRPr/>
          </a:p>
          <a:p>
            <a:pPr>
              <a:defRPr/>
            </a:pPr>
            <a:endParaRPr/>
          </a:p>
          <a:p>
            <a:r>
              <a:t>中文参考</a:t>
            </a:r>
          </a:p>
          <a:p>
            <a:pPr>
              <a:defRPr/>
            </a:pPr>
            <a:r>
              <a:rPr lang="en-US" sz="1200" b="0" i="0" u="none" strike="noStrike" cap="none" spc="0">
                <a:solidFill>
                  <a:srgbClr val="000000"/>
                </a:solidFill>
                <a:latin typeface="+mn-lt"/>
                <a:ea typeface="+mn-ea"/>
                <a:cs typeface="+mn-cs"/>
              </a:rPr>
              <a:t>这里在第 7 次迭代插入 0。结束下标为奇数，因此新 pair 属于 lower family；0 小于旧端点 7，因此本次为 decreasing。Step 3(b) 后，新 pair 获得图中的 P₃ 和 P₅。Step 3(c) 取最左 child P₃ 的几何左端点。P₃ 的端点为 2 和 3，所以 base anchor 是 2。但是 z₁ 的值为 1，它不是任何 lower pair 的端点，却仍在有序列表中。若直接把 0 插在 2 前，会让 0 留在 1 后面。本例下标为奇数，且 0 小于 z₁，z₁ 又小于 base anchor，因此最终 anchor 改为 z₁。这只改变输出插入，不替代先前的 boundary-pair selection。</a:t>
            </a:r>
            <a:endParaRPr/>
          </a:p>
          <a:p/>
          <a:p>
            <a:r>
              <a:t>[Sources]</a:t>
            </a:r>
          </a:p>
          <a:p>
            <a:r>
              <a:t>- thesis/chapters/algorithm.tex</a:t>
            </a:r>
          </a:p>
          <a:p>
            <a:r>
              <a:t>- thesis/figures/step3c_anchor_z1_anomaly.pdf</a:t>
            </a:r>
          </a:p>
          <a:p>
            <a:r>
              <a:t>- Hoffmann et al. (1986), p. 175, doi:10.1016/S0019-9958(86)80033-X</a:t>
            </a:r>
          </a:p>
        </p:txBody>
      </p:sp>
      <p:sp>
        <p:nvSpPr>
          <p:cNvPr id="111374493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749061" name="Slide Image Placeholder 1"/>
          <p:cNvSpPr>
            <a:spLocks noGrp="1"/>
          </p:cNvSpPr>
          <p:nvPr>
            <p:ph type="sldImg" idx="0"/>
          </p:nvPr>
        </p:nvSpPr>
        <p:spPr bwMode="auto"/>
      </p:sp>
      <p:sp>
        <p:nvSpPr>
          <p:cNvPr id="2125367235" name="Notes Placeholder 2"/>
          <p:cNvSpPr>
            <a:spLocks noGrp="1"/>
          </p:cNvSpPr>
          <p:nvPr>
            <p:ph type="body" idx="1"/>
          </p:nvPr>
        </p:nvSpPr>
        <p:spPr bwMode="auto"/>
        <p:txBody>
          <a:bodyPr/>
          <a:lstStyle/>
          <a:p>
            <a:pPr>
              <a:defRPr/>
            </a:pPr>
            <a:r>
              <a:rPr/>
              <a:t>Every finite pair has one parent and one sibling-list owner. Before a split, the existing owner controls both the retained and acquired segments. After a split, the original owner keeps the retained segment, while the new owner receives the acquired segment. Both nonempty sides may get new lists, but only the acquired segment changes parent. Split and transfer form one transaction: save the affected state, update it, then check the split boundary, ownership, and local postconditions. If a check fails, rollback restores the registry, ownership links, and list identifiers. The maintained state also contains the sorted processed prefix and both pair families. Ordinary lists incur scanning, copying, slicing, and ownership-rebinding costs. These correctness checks do not establish the update bounds required by the historical linear-time analysis.</a:t>
            </a:r>
            <a:endParaRPr/>
          </a:p>
          <a:p>
            <a:pPr>
              <a:defRPr/>
            </a:pPr>
            <a:endParaRPr/>
          </a:p>
          <a:p>
            <a:pPr>
              <a:defRPr/>
            </a:pPr>
            <a:r>
              <a:rPr lang="en-US" sz="1200" b="0" i="0" u="none" strike="noStrike" cap="none" spc="0">
                <a:solidFill>
                  <a:srgbClr val="000000"/>
                </a:solidFill>
                <a:latin typeface="+mn-lt"/>
                <a:ea typeface="+mn-ea"/>
                <a:cs typeface="+mn-cs"/>
              </a:rPr>
              <a:t>每个有限 pair 只有一个 parent 和一个 sibling-list owner。拆分前，原 owner 控制 retained 和 acquired 两部分。拆分后，原 owner 保留 retained segment，新 owner 接收 acquired segment。两个非空侧都可能得到新 list，但只有 acquired segment 改变 parent。Split 和 transfer 构成一个 transaction：保存受影响状态，执行更新，再检查 split boundary、ownership 和局部后置条件。若检查失败，rollback 恢复 registry、ownership link 和 list ID。维护状态还包括已处理前缀的排序结果，以及两类 pair family。普通列表会产生扫描、复制、切片和 ownership rebinding 成本。这些正确性检查不能建立历史线性时间分析所需的更新界。</a:t>
            </a:r>
            <a:endParaRPr/>
          </a:p>
        </p:txBody>
      </p:sp>
      <p:sp>
        <p:nvSpPr>
          <p:cNvPr id="74359108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8257856" name="Slide Image Placeholder 1"/>
          <p:cNvSpPr>
            <a:spLocks noGrp="1"/>
          </p:cNvSpPr>
          <p:nvPr>
            <p:ph type="sldImg" idx="0"/>
          </p:nvPr>
        </p:nvSpPr>
        <p:spPr bwMode="auto"/>
      </p:sp>
      <p:sp>
        <p:nvSpPr>
          <p:cNvPr id="1321311572" name="Notes Placeholder 2"/>
          <p:cNvSpPr>
            <a:spLocks noGrp="1"/>
          </p:cNvSpPr>
          <p:nvPr>
            <p:ph type="body" idx="1"/>
          </p:nvPr>
        </p:nvSpPr>
        <p:spPr bwMode="auto"/>
        <p:txBody>
          <a:bodyPr/>
          <a:lstStyle/>
          <a:p>
            <a:pPr>
              <a:defRPr/>
            </a:pPr>
            <a:r>
              <a:rPr/>
              <a:t>Focused regression cases cover known edge conditions. Bounded exhaustive validation covers all 2,074 oracle-valid permutations up to size eight. Checked-state audits inspect parent links, ownership, sibling lists, and recovered output. Deterministic replay compares states from repeated runs of the same core; it is not a second independent implementation. Replay checks whether the same procedure gives a consistent state. Separate experiment checks compare saved outputs with the fixed setup and recomputed summaries. Backup C gives the details. This finite evidence supports the evaluated cases, but is not a mathematical proof for every Jordan sequence.</a:t>
            </a:r>
            <a:endParaRPr/>
          </a:p>
          <a:p>
            <a:pPr>
              <a:defRPr/>
            </a:pPr>
            <a:endParaRPr/>
          </a:p>
          <a:p>
            <a:pPr>
              <a:defRPr/>
            </a:pPr>
            <a:r>
              <a:rPr lang="en-US" sz="1200" b="0" i="0" u="none" strike="noStrike" cap="none" spc="0">
                <a:solidFill>
                  <a:srgbClr val="000000"/>
                </a:solidFill>
                <a:latin typeface="+mn-lt"/>
                <a:ea typeface="+mn-ea"/>
                <a:cs typeface="+mn-cs"/>
              </a:rPr>
              <a:t>Focused regression case 覆盖已知边界条件。有界穷举验证覆盖 n 不超过 8 的全部 2,074 个 oracle-valid permutation。Checked-state audit 检查 parent link、ownership、sibling list 与恢复输出。确定性重放比较同一 core 多次运行后的状态，并不是第二套独立实现。重放检查的是同一过程是否得到一致状态。另有实验检查，将保存的输出与固定设置及重算汇总比较，详情见 Backup C。这些有限证据支持已评估用例，但不是对所有 Jordan sequence 的数学证明。</a:t>
            </a:r>
            <a:endParaRPr/>
          </a:p>
        </p:txBody>
      </p:sp>
      <p:sp>
        <p:nvSpPr>
          <p:cNvPr id="157640984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332166" name="Slide Image Placeholder 1"/>
          <p:cNvSpPr>
            <a:spLocks noGrp="1"/>
          </p:cNvSpPr>
          <p:nvPr>
            <p:ph type="sldImg" idx="0"/>
          </p:nvPr>
        </p:nvSpPr>
        <p:spPr bwMode="auto"/>
      </p:sp>
      <p:sp>
        <p:nvSpPr>
          <p:cNvPr id="1288727801" name="Notes Placeholder 2"/>
          <p:cNvSpPr>
            <a:spLocks noGrp="1"/>
          </p:cNvSpPr>
          <p:nvPr>
            <p:ph type="body" idx="1"/>
          </p:nvPr>
        </p:nvSpPr>
        <p:spPr bwMode="auto"/>
        <p:txBody>
          <a:bodyPr/>
          <a:lstStyle/>
          <a:p>
            <a:pPr>
              <a:defRPr/>
            </a:pPr>
            <a:r>
              <a:rPr/>
              <a:t>The experiment uses five sizes, twelve exact cases per size, and three algorithms. Each case-algorithm cell has five warm-up calls and twenty measured calls, giving 3,600 measured rows. The twenty calls repeat one exact case; they are not twenty independent inputs. Each call receives a fresh list with the same values. Algorithm positions rotate so that one method does not always run first. Paper certification and the checked-state audit happen before timing. Paper timing includes the minimal core call and output recovery from maintained order. Output comparison follows timing. Python timing covers its sorting call; reference timing covers the complete oracle-backed pipeline. These are three different timing scopes.</a:t>
            </a:r>
            <a:endParaRPr/>
          </a:p>
          <a:p>
            <a:pPr>
              <a:defRPr/>
            </a:pPr>
            <a:endParaRPr/>
          </a:p>
          <a:p>
            <a:pPr>
              <a:defRPr/>
            </a:pPr>
            <a:r>
              <a:rPr lang="en-US" sz="1200" b="0" i="0" u="none" strike="noStrike" cap="none" spc="0">
                <a:solidFill>
                  <a:srgbClr val="000000"/>
                </a:solidFill>
                <a:latin typeface="+mn-lt"/>
                <a:ea typeface="+mn-ea"/>
                <a:cs typeface="+mn-cs"/>
              </a:rPr>
              <a:t>实验使用 5 个规模，每个规模 12 个 exact case，并比较 3 个算法。每个 case-algorithm cell 包含 5 次 warm-up 和 20 次 measured call，共得到 3,600 条测量记录。这 20 次调用重复同一个 exact case，并非 20 个独立输入。每次调用获得包含相同值的 fresh list。算法位置轮转，避免某个算法总是先运行。Paper 的认证与 checked-state audit 在计时前完成。Paper 计时包含 minimal core call，以及从维护顺序恢复输出。输出比较发生在计时后。Python 计时覆盖排序调用；reference 计时覆盖完整的 oracle-backed pipeline。这是三种不同的计时范围。</a:t>
            </a:r>
            <a:endParaRPr/>
          </a:p>
        </p:txBody>
      </p:sp>
      <p:sp>
        <p:nvSpPr>
          <p:cNvPr id="194837921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2494640" name="Slide Image Placeholder 1"/>
          <p:cNvSpPr>
            <a:spLocks noGrp="1"/>
          </p:cNvSpPr>
          <p:nvPr>
            <p:ph type="sldImg" idx="0"/>
          </p:nvPr>
        </p:nvSpPr>
        <p:spPr bwMode="auto"/>
      </p:sp>
      <p:sp>
        <p:nvSpPr>
          <p:cNvPr id="1544276917" name="Notes Placeholder 2"/>
          <p:cNvSpPr>
            <a:spLocks noGrp="1"/>
          </p:cNvSpPr>
          <p:nvPr>
            <p:ph type="body" idx="1"/>
          </p:nvPr>
        </p:nvSpPr>
        <p:spPr bwMode="auto"/>
        <p:txBody>
          <a:bodyPr/>
          <a:lstStyle/>
          <a:p>
            <a:pPr>
              <a:defRPr/>
            </a:pPr>
            <a:r>
              <a:rPr/>
              <a:t>All 60 cases passed certification and one checked-state audit each. Every measured call returned the expected output, with no recorded correctness errors. The 3,600 measured rows carry their case-level audit results; they do not represent 3,600 independent audits. These results cover the tested valid cases only.</a:t>
            </a:r>
            <a:endParaRPr/>
          </a:p>
          <a:p>
            <a:pPr>
              <a:defRPr/>
            </a:pPr>
            <a:endParaRPr/>
          </a:p>
          <a:p>
            <a:pPr>
              <a:defRPr/>
            </a:pPr>
            <a:r>
              <a:rPr lang="en-US" sz="1200" b="0" i="0" u="none" strike="noStrike" cap="none" spc="0">
                <a:solidFill>
                  <a:srgbClr val="000000"/>
                </a:solidFill>
                <a:latin typeface="+mn-lt"/>
                <a:ea typeface="+mn-ea"/>
                <a:cs typeface="+mn-cs"/>
              </a:rPr>
              <a:t>全部 60 个 case 均通过认证，并各通过一次 checked-state audit。每次 measured call 都返回 expected output，没有记录正确性错误。3,600 条测量记录携带各自的 case-level audit 结果，不代表进行了 3,600 次独立 audit。这些结果仅覆盖本次测试的有效用例。</a:t>
            </a:r>
            <a:endParaRPr/>
          </a:p>
        </p:txBody>
      </p:sp>
      <p:sp>
        <p:nvSpPr>
          <p:cNvPr id="14396583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0915313" name="Slide Image Placeholder 1"/>
          <p:cNvSpPr>
            <a:spLocks noGrp="1"/>
          </p:cNvSpPr>
          <p:nvPr>
            <p:ph type="sldImg" idx="0"/>
          </p:nvPr>
        </p:nvSpPr>
        <p:spPr bwMode="auto"/>
      </p:sp>
      <p:sp>
        <p:nvSpPr>
          <p:cNvPr id="1333349161" name="Notes Placeholder 2"/>
          <p:cNvSpPr>
            <a:spLocks noGrp="1"/>
          </p:cNvSpPr>
          <p:nvPr>
            <p:ph type="body" idx="1"/>
          </p:nvPr>
        </p:nvSpPr>
        <p:spPr bwMode="auto"/>
        <p:txBody>
          <a:bodyPr/>
          <a:lstStyle/>
          <a:p>
            <a:pPr>
              <a:defRPr/>
            </a:pPr>
            <a:r>
              <a:rPr/>
              <a:t>For each case, I divide the median paper time by the median reference time. I then take the median of these ratios for each size. The ratios are 3.226 at n equals 32, 2.202 at 64, 1.351 at 128, 0.851 at 256, and 0.567 at 512. Thus, the ratio is above one at 128 and below one at 256. Paper calls take less time at the two larger sizes under these scopes. Since the scopes differ, this does not establish an end-to-end speedup. Python sort has the lowest median call time at every tested size, as shown in Backup A.</a:t>
            </a:r>
            <a:endParaRPr/>
          </a:p>
          <a:p>
            <a:pPr>
              <a:defRPr/>
            </a:pPr>
            <a:endParaRPr/>
          </a:p>
          <a:p>
            <a:pPr>
              <a:defRPr/>
            </a:pPr>
            <a:r>
              <a:rPr lang="en-US" sz="1200" b="0" i="0" u="none" strike="noStrike" cap="none" spc="0">
                <a:solidFill>
                  <a:srgbClr val="000000"/>
                </a:solidFill>
                <a:latin typeface="+mn-lt"/>
                <a:ea typeface="+mn-ea"/>
                <a:cs typeface="+mn-cs"/>
              </a:rPr>
              <a:t>对每个 case，我用 paper 调用时间的中位数除以 reference 调用时间的中位数。然后对每个规模下的这些比值取中位数。比值在 n 为 32 时是 3.226，64 时是 2.202，128 时是 1.351，256 时是 0.851，512 时是 0.567。因此，128 时比值大于 1，256 时小于 1。在这些计时范围下，两个较大规模的 paper 调用耗时更少。由于计时范围不同，这不能证明端到端加速。Python sort 在每个测试规模上都有最低的调用时间中位数，见 Backup A。</a:t>
            </a:r>
            <a:endParaRPr sz="1200"/>
          </a:p>
          <a:p>
            <a:pPr>
              <a:defRPr/>
            </a:pPr>
            <a:endParaRPr/>
          </a:p>
        </p:txBody>
      </p:sp>
      <p:sp>
        <p:nvSpPr>
          <p:cNvPr id="1495788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2442978" name="Slide Image Placeholder 1"/>
          <p:cNvSpPr>
            <a:spLocks noGrp="1"/>
          </p:cNvSpPr>
          <p:nvPr>
            <p:ph type="sldImg" idx="0"/>
          </p:nvPr>
        </p:nvSpPr>
        <p:spPr bwMode="auto"/>
      </p:sp>
      <p:sp>
        <p:nvSpPr>
          <p:cNvPr id="375347897" name="Notes Placeholder 2"/>
          <p:cNvSpPr>
            <a:spLocks noGrp="1"/>
          </p:cNvSpPr>
          <p:nvPr>
            <p:ph type="body" idx="1"/>
          </p:nvPr>
        </p:nvSpPr>
        <p:spPr bwMode="auto"/>
        <p:txBody>
          <a:bodyPr/>
          <a:lstStyle/>
          <a:p>
            <a:pPr>
              <a:defRPr/>
            </a:pPr>
            <a:r>
              <a:rPr/>
              <a:t>The evidence supports an executable ordinary-list reconstruction that recovers output from maintained state, with correct results on the evaluated cases. The runtime trend describes this implementation under the stated timing scopes. Ordinary lists do not establish a linear-time implementation, and five tested sizes do not establish asymptotic complexity. Recognition was not evaluated.</a:t>
            </a:r>
            <a:endParaRPr/>
          </a:p>
          <a:p>
            <a:pPr>
              <a:defRPr/>
            </a:pPr>
            <a:endParaRPr/>
          </a:p>
          <a:p>
            <a:pPr>
              <a:defRPr/>
            </a:pPr>
            <a:r>
              <a:rPr lang="en-US" sz="1200" b="0" i="0" u="none" strike="noStrike" cap="none" spc="0">
                <a:solidFill>
                  <a:srgbClr val="000000"/>
                </a:solidFill>
                <a:latin typeface="+mn-lt"/>
                <a:ea typeface="+mn-ea"/>
                <a:cs typeface="+mn-cs"/>
              </a:rPr>
              <a:t>当前证据支持一个从维护状态恢复输出的可执行普通列表重构，并在已评估用例上得到正确结果。运行时间趋势描述的是当前实现及其计时范围。普通列表不构成线性时间实现，五个测试规模也不能确定渐近复杂度。本实验没有评估 recognition。</a:t>
            </a:r>
            <a:endParaRPr/>
          </a:p>
        </p:txBody>
      </p:sp>
      <p:sp>
        <p:nvSpPr>
          <p:cNvPr id="39636886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262061" name="Slide Image Placeholder 1"/>
          <p:cNvSpPr>
            <a:spLocks noGrp="1"/>
          </p:cNvSpPr>
          <p:nvPr>
            <p:ph type="sldImg" idx="0"/>
          </p:nvPr>
        </p:nvSpPr>
        <p:spPr bwMode="auto"/>
      </p:sp>
      <p:sp>
        <p:nvSpPr>
          <p:cNvPr id="378658108" name="Notes Placeholder 2"/>
          <p:cNvSpPr>
            <a:spLocks noGrp="1"/>
          </p:cNvSpPr>
          <p:nvPr>
            <p:ph type="body" idx="1"/>
          </p:nvPr>
        </p:nvSpPr>
        <p:spPr bwMode="auto"/>
        <p:txBody>
          <a:bodyPr/>
          <a:lstStyle/>
          <a:p>
            <a:pPr>
              <a:defRPr/>
            </a:pPr>
            <a:r>
              <a:rPr/>
              <a:t>A finger-tree backend is a possible future extension, outside the current experimental evidence. It would keep the same Step 1, Step 2, and Step 3 behavior. The ordinary-list implementation provides a tested reference point for checking the behavior of a new backend. Backup E explains the interface and ownership-transfer difficulty. I would like guidance on two questions. Should I target the historical heterogeneous finger tree, or an equivalent backend supporting the required list operations? Is a tested, semantically equivalent prototype enough, or should I also prove the required amortized operation bounds?</a:t>
            </a:r>
            <a:endParaRPr/>
          </a:p>
          <a:p>
            <a:pPr>
              <a:defRPr/>
            </a:pPr>
            <a:endParaRPr/>
          </a:p>
          <a:p>
            <a:pPr>
              <a:defRPr/>
            </a:pPr>
            <a:r>
              <a:rPr lang="en-US" sz="1200" b="0" i="0" u="none" strike="noStrike" cap="none" spc="0">
                <a:solidFill>
                  <a:srgbClr val="000000"/>
                </a:solidFill>
                <a:latin typeface="+mn-lt"/>
                <a:ea typeface="+mn-ea"/>
                <a:cs typeface="+mn-cs"/>
              </a:rPr>
              <a:t>Finger-tree 后端是可能的未来扩展，不属于当前实验证据。它将保持相同的 Step 1、Step 2 和 Step 3 行为。普通列表实现为检查新后端的行为提供了经过测试的参照点。Backup E 说明接口及 ownership-transfer 难点。我希望向导师确认两个问题：应实现历史 heterogeneous finger tree，还是支持所需列表操作的等价后端？一个经过测试、语义等价的原型是否足够，还是还应证明所需的摊还操作界？</a:t>
            </a:r>
            <a:endParaRPr/>
          </a:p>
        </p:txBody>
      </p:sp>
      <p:sp>
        <p:nvSpPr>
          <p:cNvPr id="123499225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7241688" name="Slide Image Placeholder 1"/>
          <p:cNvSpPr>
            <a:spLocks noGrp="1"/>
          </p:cNvSpPr>
          <p:nvPr>
            <p:ph type="sldImg" idx="0"/>
          </p:nvPr>
        </p:nvSpPr>
        <p:spPr bwMode="auto"/>
      </p:sp>
      <p:sp>
        <p:nvSpPr>
          <p:cNvPr id="2017514702" name="Notes Placeholder 2"/>
          <p:cNvSpPr>
            <a:spLocks noGrp="1"/>
          </p:cNvSpPr>
          <p:nvPr>
            <p:ph type="body" idx="1"/>
          </p:nvPr>
        </p:nvSpPr>
        <p:spPr bwMode="auto"/>
        <p:txBody>
          <a:bodyPr/>
          <a:lstStyle/>
          <a:p>
            <a:pPr>
              <a:defRPr/>
            </a:pPr>
            <a:r>
              <a:rP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endParaRPr/>
          </a:p>
          <a:p>
            <a:pPr>
              <a:defRPr/>
            </a:pPr>
            <a:endParaRPr/>
          </a:p>
          <a:p>
            <a:pPr>
              <a:defRPr/>
            </a:pPr>
            <a:r>
              <a:rPr/>
              <a:t>[Sources]</a:t>
            </a:r>
            <a:endParaRPr/>
          </a:p>
          <a:p>
            <a:pPr>
              <a:defRPr/>
            </a:pPr>
            <a:r>
              <a:rPr/>
              <a:t>- thesis/chapters/results.tex</a:t>
            </a:r>
            <a:endParaRPr/>
          </a:p>
          <a:p>
            <a:pPr>
              <a:defRPr/>
            </a:pPr>
            <a:r>
              <a:rPr/>
              <a:t>- results/runs/week12_formal_sorting_v1__run001/case_summary.csv</a:t>
            </a:r>
            <a:endParaRPr/>
          </a:p>
        </p:txBody>
      </p:sp>
      <p:sp>
        <p:nvSpPr>
          <p:cNvPr id="21264179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7415884" name="Slide Image Placeholder 1"/>
          <p:cNvSpPr>
            <a:spLocks noGrp="1"/>
          </p:cNvSpPr>
          <p:nvPr>
            <p:ph type="sldImg" idx="0"/>
          </p:nvPr>
        </p:nvSpPr>
        <p:spPr bwMode="auto"/>
      </p:sp>
      <p:sp>
        <p:nvSpPr>
          <p:cNvPr id="1421846334" name="Notes Placeholder 2"/>
          <p:cNvSpPr>
            <a:spLocks noGrp="1"/>
          </p:cNvSpPr>
          <p:nvPr>
            <p:ph type="body" idx="1"/>
          </p:nvPr>
        </p:nvSpPr>
        <p:spPr bwMode="auto"/>
        <p:txBody>
          <a:bodyPr/>
          <a:lstStyle/>
          <a:p>
            <a:pPr>
              <a:defRPr/>
            </a:pPr>
            <a:r>
              <a:rP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endParaRPr/>
          </a:p>
          <a:p>
            <a:pPr>
              <a:defRPr/>
            </a:pPr>
            <a:endParaRPr/>
          </a:p>
          <a:p>
            <a:pPr>
              <a:defRPr/>
            </a:pPr>
            <a:r>
              <a:rPr/>
              <a:t>[Sources]</a:t>
            </a:r>
            <a:endParaRPr/>
          </a:p>
          <a:p>
            <a:pPr>
              <a:defRPr/>
            </a:pPr>
            <a:r>
              <a:rPr/>
              <a:t>- thesis/chapters/implementation.tex</a:t>
            </a:r>
            <a:endParaRPr/>
          </a:p>
          <a:p>
            <a:pPr>
              <a:defRPr/>
            </a:pPr>
            <a:r>
              <a:rPr/>
              <a:t>- src/paper_jordan.py</a:t>
            </a:r>
            <a:endParaRPr/>
          </a:p>
          <a:p>
            <a:pPr>
              <a:defRPr/>
            </a:pPr>
            <a:r>
              <a:rPr/>
              <a:t>- src/simplified_jordan.py</a:t>
            </a:r>
            <a:endParaRPr/>
          </a:p>
        </p:txBody>
      </p:sp>
      <p:sp>
        <p:nvSpPr>
          <p:cNvPr id="12195376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8738845" name="Slide Image Placeholder 1"/>
          <p:cNvSpPr>
            <a:spLocks noGrp="1"/>
          </p:cNvSpPr>
          <p:nvPr>
            <p:ph type="sldImg" idx="0"/>
          </p:nvPr>
        </p:nvSpPr>
        <p:spPr bwMode="auto"/>
      </p:sp>
      <p:sp>
        <p:nvSpPr>
          <p:cNvPr id="1766172275" name="Notes Placeholder 2"/>
          <p:cNvSpPr>
            <a:spLocks noGrp="1"/>
          </p:cNvSpPr>
          <p:nvPr>
            <p:ph type="body" idx="1"/>
          </p:nvPr>
        </p:nvSpPr>
        <p:spPr bwMode="auto"/>
        <p:txBody>
          <a:bodyPr/>
          <a:lstStyle/>
          <a:p>
            <a:pPr>
              <a:defRPr/>
            </a:pPr>
            <a:r>
              <a:rP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endParaRPr/>
          </a:p>
          <a:p>
            <a:pPr>
              <a:defRPr/>
            </a:pPr>
            <a:endParaRPr/>
          </a:p>
          <a:p>
            <a:pPr>
              <a:defRPr/>
            </a:pPr>
            <a:r>
              <a:rPr/>
              <a:t>[Sources]</a:t>
            </a:r>
            <a:endParaRPr/>
          </a:p>
          <a:p>
            <a:pPr>
              <a:defRPr/>
            </a:pPr>
            <a:r>
              <a:rPr/>
              <a:t>- docs/thesis/latex_final_audit.md</a:t>
            </a:r>
            <a:endParaRPr/>
          </a:p>
          <a:p>
            <a:pPr>
              <a:defRPr/>
            </a:pPr>
            <a:r>
              <a:rPr/>
              <a:t>- experiments/validate_paper_algorithm.py</a:t>
            </a:r>
            <a:endParaRPr/>
          </a:p>
          <a:p>
            <a:pPr>
              <a:defRPr/>
            </a:pPr>
            <a:r>
              <a:rPr/>
              <a:t>- results/runs/week12_formal_sorting_v1__run001/validation_report.json</a:t>
            </a:r>
            <a:endParaRPr/>
          </a:p>
        </p:txBody>
      </p:sp>
      <p:sp>
        <p:nvSpPr>
          <p:cNvPr id="133145252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2125292" name="Slide Image Placeholder 1"/>
          <p:cNvSpPr>
            <a:spLocks noGrp="1"/>
          </p:cNvSpPr>
          <p:nvPr>
            <p:ph type="sldImg" idx="0"/>
          </p:nvPr>
        </p:nvSpPr>
        <p:spPr bwMode="auto"/>
      </p:sp>
      <p:sp>
        <p:nvSpPr>
          <p:cNvPr id="879383354" name="Notes Placeholder 2"/>
          <p:cNvSpPr>
            <a:spLocks noGrp="1"/>
          </p:cNvSpPr>
          <p:nvPr>
            <p:ph type="body" idx="1"/>
          </p:nvPr>
        </p:nvSpPr>
        <p:spPr bwMode="auto"/>
        <p:txBody>
          <a:bodyPr/>
          <a:lstStyle/>
          <a:p>
            <a:pPr>
              <a:defRPr/>
            </a:pPr>
            <a:r>
              <a:rP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endParaRPr/>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15214639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2040893" name="Slide Image Placeholder 1"/>
          <p:cNvSpPr>
            <a:spLocks noGrp="1"/>
          </p:cNvSpPr>
          <p:nvPr>
            <p:ph type="sldImg" idx="0"/>
          </p:nvPr>
        </p:nvSpPr>
        <p:spPr bwMode="auto"/>
      </p:sp>
      <p:sp>
        <p:nvSpPr>
          <p:cNvPr id="1767692239" name="Notes Placeholder 2"/>
          <p:cNvSpPr>
            <a:spLocks noGrp="1"/>
          </p:cNvSpPr>
          <p:nvPr>
            <p:ph type="body" idx="1"/>
          </p:nvPr>
        </p:nvSpPr>
        <p:spPr bwMode="auto"/>
        <p:txBody>
          <a:bodyPr/>
          <a:lstStyle/>
          <a:p>
            <a:pPr>
              <a:defRPr/>
            </a:pPr>
            <a:r>
              <a:rP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endParaRPr/>
          </a:p>
          <a:p>
            <a:pPr>
              <a:defRPr/>
            </a:pPr>
            <a:endParaRPr/>
          </a:p>
          <a:p>
            <a:pPr>
              <a:defRPr/>
            </a:pPr>
            <a:r>
              <a:rPr/>
              <a:t>[Sources]</a:t>
            </a:r>
            <a:endParaRPr/>
          </a:p>
          <a:p>
            <a:pPr>
              <a:defRPr/>
            </a:pPr>
            <a:r>
              <a:rPr/>
              <a:t>- thesis/chapters/implementation.tex</a:t>
            </a:r>
            <a:endParaRPr/>
          </a:p>
          <a:p>
            <a:pPr>
              <a:defRPr/>
            </a:pPr>
            <a:r>
              <a:rPr/>
              <a:t>- thesis/chapters/limitations.tex</a:t>
            </a:r>
            <a:endParaRPr/>
          </a:p>
          <a:p>
            <a:pPr>
              <a:defRPr/>
            </a:pPr>
            <a:r>
              <a:rPr/>
              <a:t>- Fung et al. (1990), doi:10.1016/0020-0190(90)90111-A</a:t>
            </a:r>
            <a:endParaRPr/>
          </a:p>
          <a:p>
            <a:pPr>
              <a:defRPr/>
            </a:pPr>
            <a:r>
              <a:rPr/>
              <a:t>- Supervisor feedback, September 2026</a:t>
            </a:r>
            <a:endParaRPr/>
          </a:p>
        </p:txBody>
      </p:sp>
      <p:sp>
        <p:nvSpPr>
          <p:cNvPr id="575834024"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1.xml" /></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02A43"/>
        </a:solidFill>
      </p:bgPr>
    </p:bg>
    <p:spTree>
      <p:nvGrpSpPr>
        <p:cNvPr id="1" name=""/>
        <p:cNvGrpSpPr/>
        <p:nvPr/>
      </p:nvGrpSpPr>
      <p:grpSpPr bwMode="auto">
        <a:xfrm>
          <a:off x="0" y="0"/>
          <a:ext cx="0" cy="0"/>
          <a:chOff x="0" y="0"/>
          <a:chExt cx="0" cy="0"/>
        </a:xfrm>
      </p:grpSpPr>
      <p:sp>
        <p:nvSpPr>
          <p:cNvPr id="1293274465" name=""/>
          <p:cNvSpPr>
            <a:spLocks noGrp="1"/>
          </p:cNvSpPr>
          <p:nvPr/>
        </p:nvSpPr>
        <p:spPr bwMode="auto">
          <a:xfrm>
            <a:off x="7239000" y="0"/>
            <a:ext cx="4953000" cy="6858000"/>
          </a:xfrm>
          <a:prstGeom prst="rect">
            <a:avLst/>
          </a:prstGeom>
          <a:solidFill>
            <a:srgbClr val="FFFFFF"/>
          </a:solidFill>
          <a:ln w="11430">
            <a:solidFill>
              <a:srgbClr val="FFFFFF"/>
            </a:solidFill>
            <a:prstDash val="solid"/>
          </a:ln>
        </p:spPr>
      </p:sp>
      <p:pic>
        <p:nvPicPr>
          <p:cNvPr id="2128876395" name=""/>
          <p:cNvPicPr>
            <a:picLocks noChangeAspect="1"/>
          </p:cNvPicPr>
          <p:nvPr/>
        </p:nvPicPr>
        <p:blipFill rotWithShape="1">
          <a:blip r:embed="rId3"/>
          <a:stretch/>
        </p:blipFill>
        <p:spPr bwMode="auto">
          <a:xfrm>
            <a:off x="7334250" y="1695818"/>
            <a:ext cx="4667250" cy="2666262"/>
          </a:xfrm>
          <a:prstGeom prst="rect">
            <a:avLst/>
          </a:prstGeom>
        </p:spPr>
      </p:pic>
      <p:sp>
        <p:nvSpPr>
          <p:cNvPr id="1291996254" name=""/>
          <p:cNvSpPr>
            <a:spLocks noGrp="1"/>
          </p:cNvSpPr>
          <p:nvPr/>
        </p:nvSpPr>
        <p:spPr bwMode="auto">
          <a:xfrm>
            <a:off x="685800" y="666750"/>
            <a:ext cx="56197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50" b="1" i="0">
                <a:solidFill>
                  <a:srgbClr val="2A9D8F"/>
                </a:solidFill>
              </a:defRPr>
            </a:pPr>
            <a:r>
              <a:rPr sz="1050" b="1" i="0">
                <a:solidFill>
                  <a:srgbClr val="2A9D8F"/>
                </a:solidFill>
              </a:rPr>
              <a:t>MASTER'S THESIS PROGRESS REPORT</a:t>
            </a:r>
            <a:endParaRPr/>
          </a:p>
        </p:txBody>
      </p:sp>
      <p:sp>
        <p:nvSpPr>
          <p:cNvPr id="1938799175" name=""/>
          <p:cNvSpPr>
            <a:spLocks noGrp="1"/>
          </p:cNvSpPr>
          <p:nvPr/>
        </p:nvSpPr>
        <p:spPr bwMode="auto">
          <a:xfrm>
            <a:off x="685800" y="1219200"/>
            <a:ext cx="5905500" cy="2476500"/>
          </a:xfrm>
          <a:prstGeom prst="rect">
            <a:avLst/>
          </a:prstGeom>
          <a:noFill/>
          <a:ln w="0">
            <a:noFill/>
            <a:prstDash val="solid"/>
          </a:ln>
        </p:spPr>
        <p:txBody>
          <a:bodyPr wrap="square" lIns="38100" tIns="19050" rIns="38100" bIns="19050" anchor="ctr">
            <a:normAutofit fontScale="100000"/>
          </a:bodyPr>
          <a:lstStyle/>
          <a:p>
            <a:pPr algn="l">
              <a:lnSpc>
                <a:spcPct val="92000"/>
              </a:lnSpc>
              <a:buNone/>
              <a:defRPr sz="3750" b="1" i="0">
                <a:solidFill>
                  <a:srgbClr val="FFFFFF"/>
                </a:solidFill>
              </a:defRPr>
            </a:pPr>
            <a:r>
              <a:rPr sz="3750" b="1" i="0">
                <a:solidFill>
                  <a:srgbClr val="FFFFFF"/>
                </a:solidFill>
              </a:rPr>
              <a:t>Progress on the Executable Reconstruction of Simplified Jordan Sorting</a:t>
            </a:r>
            <a:endParaRPr/>
          </a:p>
        </p:txBody>
      </p:sp>
      <p:sp>
        <p:nvSpPr>
          <p:cNvPr id="535286088" name=""/>
          <p:cNvSpPr>
            <a:spLocks noGrp="1"/>
          </p:cNvSpPr>
          <p:nvPr/>
        </p:nvSpPr>
        <p:spPr bwMode="auto">
          <a:xfrm>
            <a:off x="723900" y="3857625"/>
            <a:ext cx="5334000" cy="6858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D9EAF2"/>
                </a:solidFill>
              </a:defRPr>
            </a:pPr>
            <a:r>
              <a:rPr sz="1800" b="0" i="0">
                <a:solidFill>
                  <a:srgbClr val="D9EAF2"/>
                </a:solidFill>
              </a:rPr>
              <a:t>Implementation progress, validation, and initial experimental results</a:t>
            </a:r>
            <a:endParaRPr/>
          </a:p>
        </p:txBody>
      </p:sp>
      <p:sp>
        <p:nvSpPr>
          <p:cNvPr id="972319501" name=""/>
          <p:cNvSpPr>
            <a:spLocks noGrp="1"/>
          </p:cNvSpPr>
          <p:nvPr/>
        </p:nvSpPr>
        <p:spPr bwMode="auto">
          <a:xfrm>
            <a:off x="723900" y="4838700"/>
            <a:ext cx="1428750" cy="9525"/>
          </a:xfrm>
          <a:prstGeom prst="line">
            <a:avLst/>
          </a:prstGeom>
          <a:noFill/>
          <a:ln w="47625">
            <a:solidFill>
              <a:srgbClr val="E76F51"/>
            </a:solidFill>
            <a:prstDash val="solid"/>
          </a:ln>
        </p:spPr>
      </p:sp>
      <p:sp>
        <p:nvSpPr>
          <p:cNvPr id="1551301648" name=""/>
          <p:cNvSpPr>
            <a:spLocks noGrp="1"/>
          </p:cNvSpPr>
          <p:nvPr/>
        </p:nvSpPr>
        <p:spPr bwMode="auto">
          <a:xfrm>
            <a:off x="723900" y="5086350"/>
            <a:ext cx="5905500" cy="400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00" b="0" i="0">
                <a:solidFill>
                  <a:srgbClr val="BCCCDC"/>
                </a:solidFill>
              </a:defRPr>
            </a:pPr>
            <a:r>
              <a:rPr sz="1300" b="0" i="0">
                <a:solidFill>
                  <a:srgbClr val="BCCCDC"/>
                </a:solidFill>
              </a:rPr>
              <a:t>Research Seminar  |  Freie Universität Berlin  |  September 2026</a:t>
            </a:r>
            <a:endParaRPr/>
          </a:p>
        </p:txBody>
      </p:sp>
      <p:sp>
        <p:nvSpPr>
          <p:cNvPr id="1014010911" name=""/>
          <p:cNvSpPr>
            <a:spLocks noGrp="1"/>
          </p:cNvSpPr>
          <p:nvPr/>
        </p:nvSpPr>
        <p:spPr bwMode="auto">
          <a:xfrm>
            <a:off x="11010900" y="6477000"/>
            <a:ext cx="704850" cy="190500"/>
          </a:xfrm>
          <a:prstGeom prst="rect">
            <a:avLst/>
          </a:prstGeom>
          <a:noFill/>
          <a:ln w="0">
            <a:noFill/>
            <a:prstDash val="solid"/>
          </a:ln>
        </p:spPr>
        <p:txBody>
          <a:bodyPr wrap="square" lIns="38100" tIns="19050" rIns="38100" bIns="19050" anchor="t">
            <a:normAutofit fontScale="100000"/>
          </a:bodyPr>
          <a:lstStyle/>
          <a:p>
            <a:pPr algn="r">
              <a:lnSpc>
                <a:spcPct val="105000"/>
              </a:lnSpc>
              <a:buNone/>
              <a:defRPr sz="850" b="0" i="0">
                <a:solidFill>
                  <a:srgbClr val="7B8794"/>
                </a:solidFill>
              </a:defRPr>
            </a:pPr>
            <a:r>
              <a:rPr sz="850" b="0" i="0">
                <a:solidFill>
                  <a:srgbClr val="7B8794"/>
                </a:solidFill>
              </a:rPr>
              <a:t>1 / 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343266937"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CONTEXT</a:t>
            </a:r>
            <a:endParaRPr/>
          </a:p>
        </p:txBody>
      </p:sp>
      <p:sp>
        <p:nvSpPr>
          <p:cNvPr id="111308080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previous report established a static structural baseline</a:t>
            </a:r>
            <a:endParaRPr/>
          </a:p>
        </p:txBody>
      </p:sp>
      <p:sp>
        <p:nvSpPr>
          <p:cNvPr id="1152852288"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7037424" name=""/>
          <p:cNvSpPr>
            <a:spLocks noGrp="1"/>
          </p:cNvSpPr>
          <p:nvPr/>
        </p:nvSpPr>
        <p:spPr bwMode="auto">
          <a:xfrm>
            <a:off x="609600" y="6477000"/>
            <a:ext cx="10972800" cy="9525"/>
          </a:xfrm>
          <a:prstGeom prst="line">
            <a:avLst/>
          </a:prstGeom>
          <a:noFill/>
          <a:ln w="9525">
            <a:solidFill>
              <a:srgbClr val="D9E2EC"/>
            </a:solidFill>
            <a:prstDash val="solid"/>
          </a:ln>
        </p:spPr>
      </p:sp>
      <p:sp>
        <p:nvSpPr>
          <p:cNvPr id="18593793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7934398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2 / 16</a:t>
            </a:r>
            <a:endParaRPr/>
          </a:p>
        </p:txBody>
      </p:sp>
      <p:sp>
        <p:nvSpPr>
          <p:cNvPr id="1000527749" name=""/>
          <p:cNvSpPr>
            <a:spLocks noGrp="1"/>
          </p:cNvSpPr>
          <p:nvPr/>
        </p:nvSpPr>
        <p:spPr bwMode="auto">
          <a:xfrm>
            <a:off x="895350" y="1428750"/>
            <a:ext cx="37147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PREVIOUS BASELINE</a:t>
            </a:r>
            <a:endParaRPr/>
          </a:p>
        </p:txBody>
      </p:sp>
      <p:sp>
        <p:nvSpPr>
          <p:cNvPr id="830597" name=""/>
          <p:cNvSpPr>
            <a:spLocks noGrp="1"/>
          </p:cNvSpPr>
          <p:nvPr/>
        </p:nvSpPr>
        <p:spPr bwMode="auto">
          <a:xfrm>
            <a:off x="895350" y="1762125"/>
            <a:ext cx="3714750" cy="428625"/>
          </a:xfrm>
          <a:prstGeom prst="rect">
            <a:avLst/>
          </a:prstGeom>
          <a:noFill/>
          <a:ln w="0">
            <a:noFill/>
            <a:prstDash val="solid"/>
          </a:ln>
        </p:spPr>
        <p:txBody>
          <a:bodyPr wrap="square" lIns="38100" tIns="19050" rIns="38100" bIns="19050" anchor="t">
            <a:normAutofit fontScale="94383"/>
          </a:bodyPr>
          <a:lstStyle/>
          <a:p>
            <a:pPr algn="l">
              <a:lnSpc>
                <a:spcPct val="105000"/>
              </a:lnSpc>
              <a:buNone/>
              <a:defRPr sz="2050" b="1" i="0">
                <a:solidFill>
                  <a:srgbClr val="102A43"/>
                </a:solidFill>
              </a:defRPr>
            </a:pPr>
            <a:r>
              <a:rPr sz="2050" b="1" i="0">
                <a:solidFill>
                  <a:srgbClr val="102A43"/>
                </a:solidFill>
              </a:rPr>
              <a:t>Structural reference framework</a:t>
            </a:r>
            <a:endParaRPr/>
          </a:p>
        </p:txBody>
      </p:sp>
      <p:sp>
        <p:nvSpPr>
          <p:cNvPr id="618629846" name=""/>
          <p:cNvSpPr>
            <a:spLocks noGrp="1"/>
          </p:cNvSpPr>
          <p:nvPr/>
        </p:nvSpPr>
        <p:spPr bwMode="auto">
          <a:xfrm>
            <a:off x="971550" y="2457450"/>
            <a:ext cx="95250" cy="95250"/>
          </a:xfrm>
          <a:prstGeom prst="ellipse">
            <a:avLst/>
          </a:prstGeom>
          <a:solidFill>
            <a:srgbClr val="2A9D8F"/>
          </a:solidFill>
          <a:ln w="0">
            <a:solidFill>
              <a:srgbClr val="2A9D8F"/>
            </a:solidFill>
            <a:prstDash val="solid"/>
          </a:ln>
        </p:spPr>
      </p:sp>
      <p:sp>
        <p:nvSpPr>
          <p:cNvPr id="838816431" name=""/>
          <p:cNvSpPr>
            <a:spLocks noGrp="1"/>
          </p:cNvSpPr>
          <p:nvPr/>
        </p:nvSpPr>
        <p:spPr bwMode="auto">
          <a:xfrm>
            <a:off x="1181099" y="23812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rank-interval abstraction</a:t>
            </a:r>
            <a:endParaRPr/>
          </a:p>
        </p:txBody>
      </p:sp>
      <p:sp>
        <p:nvSpPr>
          <p:cNvPr id="1488874509" name=""/>
          <p:cNvSpPr>
            <a:spLocks noGrp="1"/>
          </p:cNvSpPr>
          <p:nvPr/>
        </p:nvSpPr>
        <p:spPr bwMode="auto">
          <a:xfrm>
            <a:off x="971550" y="2952750"/>
            <a:ext cx="95250" cy="95250"/>
          </a:xfrm>
          <a:prstGeom prst="ellipse">
            <a:avLst/>
          </a:prstGeom>
          <a:solidFill>
            <a:srgbClr val="2A9D8F"/>
          </a:solidFill>
          <a:ln w="0">
            <a:solidFill>
              <a:srgbClr val="2A9D8F"/>
            </a:solidFill>
            <a:prstDash val="solid"/>
          </a:ln>
        </p:spPr>
      </p:sp>
      <p:sp>
        <p:nvSpPr>
          <p:cNvPr id="363210506" name=""/>
          <p:cNvSpPr>
            <a:spLocks noGrp="1"/>
          </p:cNvSpPr>
          <p:nvPr/>
        </p:nvSpPr>
        <p:spPr bwMode="auto">
          <a:xfrm>
            <a:off x="1181099" y="28765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upper and lower families</a:t>
            </a:r>
            <a:endParaRPr/>
          </a:p>
        </p:txBody>
      </p:sp>
      <p:sp>
        <p:nvSpPr>
          <p:cNvPr id="428314246" name=""/>
          <p:cNvSpPr>
            <a:spLocks noGrp="1"/>
          </p:cNvSpPr>
          <p:nvPr/>
        </p:nvSpPr>
        <p:spPr bwMode="auto">
          <a:xfrm>
            <a:off x="971550" y="3448050"/>
            <a:ext cx="95250" cy="95250"/>
          </a:xfrm>
          <a:prstGeom prst="ellipse">
            <a:avLst/>
          </a:prstGeom>
          <a:solidFill>
            <a:srgbClr val="2A9D8F"/>
          </a:solidFill>
          <a:ln w="0">
            <a:solidFill>
              <a:srgbClr val="2A9D8F"/>
            </a:solidFill>
            <a:prstDash val="solid"/>
          </a:ln>
        </p:spPr>
      </p:sp>
      <p:sp>
        <p:nvSpPr>
          <p:cNvPr id="1984953390" name=""/>
          <p:cNvSpPr>
            <a:spLocks noGrp="1"/>
          </p:cNvSpPr>
          <p:nvPr/>
        </p:nvSpPr>
        <p:spPr bwMode="auto">
          <a:xfrm>
            <a:off x="1181099" y="33718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family trees and structural metrics</a:t>
            </a:r>
            <a:endParaRPr/>
          </a:p>
        </p:txBody>
      </p:sp>
      <p:sp>
        <p:nvSpPr>
          <p:cNvPr id="450278671" name=""/>
          <p:cNvSpPr>
            <a:spLocks noGrp="1"/>
          </p:cNvSpPr>
          <p:nvPr/>
        </p:nvSpPr>
        <p:spPr bwMode="auto">
          <a:xfrm>
            <a:off x="971550" y="3943350"/>
            <a:ext cx="95250" cy="95250"/>
          </a:xfrm>
          <a:prstGeom prst="ellipse">
            <a:avLst/>
          </a:prstGeom>
          <a:solidFill>
            <a:srgbClr val="2A9D8F"/>
          </a:solidFill>
          <a:ln w="0">
            <a:solidFill>
              <a:srgbClr val="2A9D8F"/>
            </a:solidFill>
            <a:prstDash val="solid"/>
          </a:ln>
        </p:spPr>
      </p:sp>
      <p:sp>
        <p:nvSpPr>
          <p:cNvPr id="123451485" name=""/>
          <p:cNvSpPr>
            <a:spLocks noGrp="1"/>
          </p:cNvSpPr>
          <p:nvPr/>
        </p:nvSpPr>
        <p:spPr bwMode="auto">
          <a:xfrm>
            <a:off x="1181099" y="38671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oracle-backed validation</a:t>
            </a:r>
            <a:endParaRPr/>
          </a:p>
        </p:txBody>
      </p:sp>
      <p:sp>
        <p:nvSpPr>
          <p:cNvPr id="1664718634" name=""/>
          <p:cNvSpPr>
            <a:spLocks noGrp="1"/>
          </p:cNvSpPr>
          <p:nvPr/>
        </p:nvSpPr>
        <p:spPr bwMode="auto">
          <a:xfrm>
            <a:off x="5219700" y="2971800"/>
            <a:ext cx="1143000" cy="552450"/>
          </a:xfrm>
          <a:prstGeom prst="roundRect">
            <a:avLst>
              <a:gd name="adj" fmla="val 50000"/>
            </a:avLst>
          </a:prstGeom>
          <a:solidFill>
            <a:srgbClr val="EAF1F8"/>
          </a:solidFill>
          <a:ln w="11430">
            <a:solidFill>
              <a:srgbClr val="102A43"/>
            </a:solidFill>
            <a:prstDash val="solid"/>
          </a:ln>
        </p:spPr>
      </p:sp>
      <p:sp>
        <p:nvSpPr>
          <p:cNvPr id="1876080076" name=""/>
          <p:cNvSpPr>
            <a:spLocks noGrp="1"/>
          </p:cNvSpPr>
          <p:nvPr/>
        </p:nvSpPr>
        <p:spPr bwMode="auto">
          <a:xfrm>
            <a:off x="5238750" y="3028950"/>
            <a:ext cx="110490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static</a:t>
            </a:r>
            <a:endParaRPr/>
          </a:p>
        </p:txBody>
      </p:sp>
      <p:sp>
        <p:nvSpPr>
          <p:cNvPr id="67422079" name=""/>
          <p:cNvSpPr>
            <a:spLocks noGrp="1"/>
          </p:cNvSpPr>
          <p:nvPr/>
        </p:nvSpPr>
        <p:spPr bwMode="auto">
          <a:xfrm>
            <a:off x="6334125" y="2981325"/>
            <a:ext cx="666750" cy="5238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850" b="1" i="0">
                <a:solidFill>
                  <a:srgbClr val="E76F51"/>
                </a:solidFill>
              </a:defRPr>
            </a:pPr>
            <a:r>
              <a:rPr sz="2850" b="1" i="0">
                <a:solidFill>
                  <a:srgbClr val="E76F51"/>
                </a:solidFill>
              </a:rPr>
              <a:t>→</a:t>
            </a:r>
            <a:endParaRPr/>
          </a:p>
        </p:txBody>
      </p:sp>
      <p:sp>
        <p:nvSpPr>
          <p:cNvPr id="1176760023" name=""/>
          <p:cNvSpPr>
            <a:spLocks noGrp="1"/>
          </p:cNvSpPr>
          <p:nvPr/>
        </p:nvSpPr>
        <p:spPr bwMode="auto">
          <a:xfrm>
            <a:off x="6953250" y="2971800"/>
            <a:ext cx="1238250" cy="552450"/>
          </a:xfrm>
          <a:prstGeom prst="roundRect">
            <a:avLst>
              <a:gd name="adj" fmla="val 50000"/>
            </a:avLst>
          </a:prstGeom>
          <a:solidFill>
            <a:srgbClr val="E8F5F3"/>
          </a:solidFill>
          <a:ln w="11430">
            <a:solidFill>
              <a:srgbClr val="2A9D8F"/>
            </a:solidFill>
            <a:prstDash val="solid"/>
          </a:ln>
        </p:spPr>
      </p:sp>
      <p:sp>
        <p:nvSpPr>
          <p:cNvPr id="1248821814" name=""/>
          <p:cNvSpPr>
            <a:spLocks noGrp="1"/>
          </p:cNvSpPr>
          <p:nvPr/>
        </p:nvSpPr>
        <p:spPr bwMode="auto">
          <a:xfrm>
            <a:off x="6991350" y="3028950"/>
            <a:ext cx="116205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dynamic</a:t>
            </a:r>
            <a:endParaRPr/>
          </a:p>
        </p:txBody>
      </p:sp>
      <p:sp>
        <p:nvSpPr>
          <p:cNvPr id="1469576454" name=""/>
          <p:cNvSpPr>
            <a:spLocks noGrp="1"/>
          </p:cNvSpPr>
          <p:nvPr/>
        </p:nvSpPr>
        <p:spPr bwMode="auto">
          <a:xfrm>
            <a:off x="8572500" y="1428750"/>
            <a:ext cx="285750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OPEN IMPLEMENTATION GAP</a:t>
            </a:r>
            <a:endParaRPr/>
          </a:p>
        </p:txBody>
      </p:sp>
      <p:sp>
        <p:nvSpPr>
          <p:cNvPr id="2016169865" name=""/>
          <p:cNvSpPr>
            <a:spLocks noGrp="1"/>
          </p:cNvSpPr>
          <p:nvPr/>
        </p:nvSpPr>
        <p:spPr bwMode="auto">
          <a:xfrm>
            <a:off x="8572500" y="1762125"/>
            <a:ext cx="2857500" cy="666750"/>
          </a:xfrm>
          <a:prstGeom prst="rect">
            <a:avLst/>
          </a:prstGeom>
          <a:noFill/>
          <a:ln w="0">
            <a:noFill/>
            <a:prstDash val="solid"/>
          </a:ln>
        </p:spPr>
        <p:txBody>
          <a:bodyPr wrap="square" lIns="38100" tIns="19050" rIns="38100" bIns="19050" anchor="t">
            <a:normAutofit fontScale="97002"/>
          </a:bodyPr>
          <a:lstStyle/>
          <a:p>
            <a:pPr algn="l">
              <a:lnSpc>
                <a:spcPct val="105000"/>
              </a:lnSpc>
              <a:buNone/>
              <a:defRPr sz="2050" b="1" i="0">
                <a:solidFill>
                  <a:srgbClr val="102A43"/>
                </a:solidFill>
              </a:defRPr>
            </a:pPr>
            <a:r>
              <a:rPr sz="2050" b="1" i="0">
                <a:solidFill>
                  <a:srgbClr val="102A43"/>
                </a:solidFill>
              </a:rPr>
              <a:t>Executable dynamic reconstruction</a:t>
            </a:r>
            <a:endParaRPr/>
          </a:p>
        </p:txBody>
      </p:sp>
      <p:sp>
        <p:nvSpPr>
          <p:cNvPr id="1481711614" name=""/>
          <p:cNvSpPr>
            <a:spLocks noGrp="1"/>
          </p:cNvSpPr>
          <p:nvPr/>
        </p:nvSpPr>
        <p:spPr bwMode="auto">
          <a:xfrm>
            <a:off x="8648700" y="2647949"/>
            <a:ext cx="95250" cy="95250"/>
          </a:xfrm>
          <a:prstGeom prst="ellipse">
            <a:avLst/>
          </a:prstGeom>
          <a:solidFill>
            <a:srgbClr val="E76F51"/>
          </a:solidFill>
          <a:ln w="0">
            <a:solidFill>
              <a:srgbClr val="E76F51"/>
            </a:solidFill>
            <a:prstDash val="solid"/>
          </a:ln>
        </p:spPr>
      </p:sp>
      <p:sp>
        <p:nvSpPr>
          <p:cNvPr id="6687534" name=""/>
          <p:cNvSpPr>
            <a:spLocks noGrp="1"/>
          </p:cNvSpPr>
          <p:nvPr/>
        </p:nvSpPr>
        <p:spPr bwMode="auto">
          <a:xfrm>
            <a:off x="8858250" y="25717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Step 1/2/3 control flow</a:t>
            </a:r>
            <a:endParaRPr/>
          </a:p>
        </p:txBody>
      </p:sp>
      <p:sp>
        <p:nvSpPr>
          <p:cNvPr id="988588896" name=""/>
          <p:cNvSpPr>
            <a:spLocks noGrp="1"/>
          </p:cNvSpPr>
          <p:nvPr/>
        </p:nvSpPr>
        <p:spPr bwMode="auto">
          <a:xfrm>
            <a:off x="8648700" y="3143250"/>
            <a:ext cx="95250" cy="95250"/>
          </a:xfrm>
          <a:prstGeom prst="ellipse">
            <a:avLst/>
          </a:prstGeom>
          <a:solidFill>
            <a:srgbClr val="E76F51"/>
          </a:solidFill>
          <a:ln w="0">
            <a:solidFill>
              <a:srgbClr val="E76F51"/>
            </a:solidFill>
            <a:prstDash val="solid"/>
          </a:ln>
        </p:spPr>
      </p:sp>
      <p:sp>
        <p:nvSpPr>
          <p:cNvPr id="1345348921" name=""/>
          <p:cNvSpPr>
            <a:spLocks noGrp="1"/>
          </p:cNvSpPr>
          <p:nvPr/>
        </p:nvSpPr>
        <p:spPr bwMode="auto">
          <a:xfrm>
            <a:off x="8858250" y="30670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sibling-list insertion and splitting</a:t>
            </a:r>
            <a:endParaRPr/>
          </a:p>
        </p:txBody>
      </p:sp>
      <p:sp>
        <p:nvSpPr>
          <p:cNvPr id="1682931564" name=""/>
          <p:cNvSpPr>
            <a:spLocks noGrp="1"/>
          </p:cNvSpPr>
          <p:nvPr/>
        </p:nvSpPr>
        <p:spPr bwMode="auto">
          <a:xfrm>
            <a:off x="8648700" y="3638550"/>
            <a:ext cx="95250" cy="95250"/>
          </a:xfrm>
          <a:prstGeom prst="ellipse">
            <a:avLst/>
          </a:prstGeom>
          <a:solidFill>
            <a:srgbClr val="E76F51"/>
          </a:solidFill>
          <a:ln w="0">
            <a:solidFill>
              <a:srgbClr val="E76F51"/>
            </a:solidFill>
            <a:prstDash val="solid"/>
          </a:ln>
        </p:spPr>
      </p:sp>
      <p:sp>
        <p:nvSpPr>
          <p:cNvPr id="1712193865" name=""/>
          <p:cNvSpPr>
            <a:spLocks noGrp="1"/>
          </p:cNvSpPr>
          <p:nvPr/>
        </p:nvSpPr>
        <p:spPr bwMode="auto">
          <a:xfrm>
            <a:off x="8858250" y="35623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ownership transfer</a:t>
            </a:r>
            <a:endParaRPr/>
          </a:p>
        </p:txBody>
      </p:sp>
      <p:sp>
        <p:nvSpPr>
          <p:cNvPr id="481489209" name=""/>
          <p:cNvSpPr>
            <a:spLocks noGrp="1"/>
          </p:cNvSpPr>
          <p:nvPr/>
        </p:nvSpPr>
        <p:spPr bwMode="auto">
          <a:xfrm>
            <a:off x="8648700" y="4133850"/>
            <a:ext cx="95250" cy="95250"/>
          </a:xfrm>
          <a:prstGeom prst="ellipse">
            <a:avLst/>
          </a:prstGeom>
          <a:solidFill>
            <a:srgbClr val="E76F51"/>
          </a:solidFill>
          <a:ln w="0">
            <a:solidFill>
              <a:srgbClr val="E76F51"/>
            </a:solidFill>
            <a:prstDash val="solid"/>
          </a:ln>
        </p:spPr>
      </p:sp>
      <p:sp>
        <p:nvSpPr>
          <p:cNvPr id="638449929" name=""/>
          <p:cNvSpPr>
            <a:spLocks noGrp="1"/>
          </p:cNvSpPr>
          <p:nvPr/>
        </p:nvSpPr>
        <p:spPr bwMode="auto">
          <a:xfrm>
            <a:off x="8858250" y="40576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output recovery from maintained state</a:t>
            </a:r>
            <a:endParaRPr/>
          </a:p>
        </p:txBody>
      </p:sp>
      <p:sp>
        <p:nvSpPr>
          <p:cNvPr id="351720209" name=""/>
          <p:cNvSpPr>
            <a:spLocks noGrp="1"/>
          </p:cNvSpPr>
          <p:nvPr/>
        </p:nvSpPr>
        <p:spPr bwMode="auto">
          <a:xfrm>
            <a:off x="895350" y="5572125"/>
            <a:ext cx="10534650" cy="514350"/>
          </a:xfrm>
          <a:prstGeom prst="roundRect">
            <a:avLst>
              <a:gd name="adj" fmla="val 11111"/>
            </a:avLst>
          </a:prstGeom>
          <a:solidFill>
            <a:srgbClr val="102A43"/>
          </a:solidFill>
          <a:ln w="11430">
            <a:solidFill>
              <a:srgbClr val="102A43"/>
            </a:solidFill>
            <a:prstDash val="solid"/>
          </a:ln>
        </p:spPr>
      </p:sp>
      <p:sp>
        <p:nvSpPr>
          <p:cNvPr id="22785590" name=""/>
          <p:cNvSpPr>
            <a:spLocks noGrp="1"/>
          </p:cNvSpPr>
          <p:nvPr/>
        </p:nvSpPr>
        <p:spPr bwMode="auto">
          <a:xfrm>
            <a:off x="1066800" y="5619750"/>
            <a:ext cx="101917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00" b="1" i="0">
                <a:solidFill>
                  <a:srgbClr val="FFFFFF"/>
                </a:solidFill>
              </a:defRPr>
            </a:pPr>
            <a:r>
              <a:rPr sz="1600" b="1" i="0">
                <a:solidFill>
                  <a:srgbClr val="FFFFFF"/>
                </a:solidFill>
              </a:rPr>
              <a:t>Family trees explain nesting; executable Jordan sorting requires dynamic updates.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01602041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PROGRESS</a:t>
            </a:r>
            <a:endParaRPr/>
          </a:p>
        </p:txBody>
      </p:sp>
      <p:sp>
        <p:nvSpPr>
          <p:cNvPr id="60992724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Progress since the previous report</a:t>
            </a:r>
            <a:endParaRPr/>
          </a:p>
        </p:txBody>
      </p:sp>
      <p:sp>
        <p:nvSpPr>
          <p:cNvPr id="132656929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8075511" name=""/>
          <p:cNvSpPr>
            <a:spLocks noGrp="1"/>
          </p:cNvSpPr>
          <p:nvPr/>
        </p:nvSpPr>
        <p:spPr bwMode="auto">
          <a:xfrm>
            <a:off x="609600" y="6477000"/>
            <a:ext cx="10972800" cy="9525"/>
          </a:xfrm>
          <a:prstGeom prst="line">
            <a:avLst/>
          </a:prstGeom>
          <a:noFill/>
          <a:ln w="9525">
            <a:solidFill>
              <a:srgbClr val="D9E2EC"/>
            </a:solidFill>
            <a:prstDash val="solid"/>
          </a:ln>
        </p:spPr>
      </p:sp>
      <p:sp>
        <p:nvSpPr>
          <p:cNvPr id="161308309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4028784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3 / 16</a:t>
            </a:r>
            <a:endParaRPr/>
          </a:p>
        </p:txBody>
      </p:sp>
      <p:sp>
        <p:nvSpPr>
          <p:cNvPr id="141872462" name=""/>
          <p:cNvSpPr>
            <a:spLocks noGrp="1"/>
          </p:cNvSpPr>
          <p:nvPr/>
        </p:nvSpPr>
        <p:spPr bwMode="auto">
          <a:xfrm>
            <a:off x="72390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102A43"/>
                </a:solidFill>
              </a:defRPr>
            </a:pPr>
            <a:r>
              <a:rPr sz="3000" b="1" i="0">
                <a:solidFill>
                  <a:srgbClr val="102A43"/>
                </a:solidFill>
              </a:rPr>
              <a:t>01</a:t>
            </a:r>
            <a:endParaRPr/>
          </a:p>
        </p:txBody>
      </p:sp>
      <p:sp>
        <p:nvSpPr>
          <p:cNvPr id="1063764662" name=""/>
          <p:cNvSpPr>
            <a:spLocks noGrp="1"/>
          </p:cNvSpPr>
          <p:nvPr/>
        </p:nvSpPr>
        <p:spPr bwMode="auto">
          <a:xfrm>
            <a:off x="723900" y="2209800"/>
            <a:ext cx="1952625" cy="9525"/>
          </a:xfrm>
          <a:prstGeom prst="line">
            <a:avLst/>
          </a:prstGeom>
          <a:noFill/>
          <a:ln w="38100">
            <a:solidFill>
              <a:srgbClr val="102A43"/>
            </a:solidFill>
            <a:prstDash val="solid"/>
          </a:ln>
        </p:spPr>
      </p:sp>
      <p:sp>
        <p:nvSpPr>
          <p:cNvPr id="1796883904" name=""/>
          <p:cNvSpPr>
            <a:spLocks noGrp="1"/>
          </p:cNvSpPr>
          <p:nvPr/>
        </p:nvSpPr>
        <p:spPr bwMode="auto">
          <a:xfrm>
            <a:off x="723900"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Scope stabilization</a:t>
            </a:r>
            <a:endParaRPr/>
          </a:p>
        </p:txBody>
      </p:sp>
      <p:sp>
        <p:nvSpPr>
          <p:cNvPr id="630761637" name=""/>
          <p:cNvSpPr>
            <a:spLocks noGrp="1"/>
          </p:cNvSpPr>
          <p:nvPr/>
        </p:nvSpPr>
        <p:spPr bwMode="auto">
          <a:xfrm>
            <a:off x="723900" y="3333750"/>
            <a:ext cx="2152650" cy="1619250"/>
          </a:xfrm>
          <a:prstGeom prst="roundRect">
            <a:avLst>
              <a:gd name="adj" fmla="val 4706"/>
            </a:avLst>
          </a:prstGeom>
          <a:solidFill>
            <a:srgbClr val="EAF1F8"/>
          </a:solidFill>
          <a:ln w="11430">
            <a:solidFill>
              <a:srgbClr val="EAF1F8"/>
            </a:solidFill>
            <a:prstDash val="solid"/>
          </a:ln>
        </p:spPr>
      </p:sp>
      <p:sp>
        <p:nvSpPr>
          <p:cNvPr id="532135422" name=""/>
          <p:cNvSpPr>
            <a:spLocks noGrp="1"/>
          </p:cNvSpPr>
          <p:nvPr/>
        </p:nvSpPr>
        <p:spPr bwMode="auto">
          <a:xfrm>
            <a:off x="85725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Separated valid-input sorting, recognition, and theoretical-backend claims</a:t>
            </a:r>
            <a:endParaRPr/>
          </a:p>
        </p:txBody>
      </p:sp>
      <p:sp>
        <p:nvSpPr>
          <p:cNvPr id="2092905854" name=""/>
          <p:cNvSpPr>
            <a:spLocks noGrp="1"/>
          </p:cNvSpPr>
          <p:nvPr/>
        </p:nvSpPr>
        <p:spPr bwMode="auto">
          <a:xfrm>
            <a:off x="353377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2A9D8F"/>
                </a:solidFill>
              </a:defRPr>
            </a:pPr>
            <a:r>
              <a:rPr sz="3000" b="1" i="0">
                <a:solidFill>
                  <a:srgbClr val="2A9D8F"/>
                </a:solidFill>
              </a:rPr>
              <a:t>02</a:t>
            </a:r>
            <a:endParaRPr/>
          </a:p>
        </p:txBody>
      </p:sp>
      <p:sp>
        <p:nvSpPr>
          <p:cNvPr id="522634354" name=""/>
          <p:cNvSpPr>
            <a:spLocks noGrp="1"/>
          </p:cNvSpPr>
          <p:nvPr/>
        </p:nvSpPr>
        <p:spPr bwMode="auto">
          <a:xfrm>
            <a:off x="3533775" y="2209800"/>
            <a:ext cx="1952625" cy="9525"/>
          </a:xfrm>
          <a:prstGeom prst="line">
            <a:avLst/>
          </a:prstGeom>
          <a:noFill/>
          <a:ln w="38100">
            <a:solidFill>
              <a:srgbClr val="2A9D8F"/>
            </a:solidFill>
            <a:prstDash val="solid"/>
          </a:ln>
        </p:spPr>
      </p:sp>
      <p:sp>
        <p:nvSpPr>
          <p:cNvPr id="1396707771" name=""/>
          <p:cNvSpPr>
            <a:spLocks noGrp="1"/>
          </p:cNvSpPr>
          <p:nvPr/>
        </p:nvSpPr>
        <p:spPr bwMode="auto">
          <a:xfrm>
            <a:off x="353377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a:t>
            </a:r>
            <a:endParaRPr/>
          </a:p>
        </p:txBody>
      </p:sp>
      <p:sp>
        <p:nvSpPr>
          <p:cNvPr id="68162823" name=""/>
          <p:cNvSpPr>
            <a:spLocks noGrp="1"/>
          </p:cNvSpPr>
          <p:nvPr/>
        </p:nvSpPr>
        <p:spPr bwMode="auto">
          <a:xfrm>
            <a:off x="3533775" y="3333750"/>
            <a:ext cx="2152650" cy="1619250"/>
          </a:xfrm>
          <a:prstGeom prst="roundRect">
            <a:avLst>
              <a:gd name="adj" fmla="val 4706"/>
            </a:avLst>
          </a:prstGeom>
          <a:solidFill>
            <a:srgbClr val="E8F5F3"/>
          </a:solidFill>
          <a:ln w="11430">
            <a:solidFill>
              <a:srgbClr val="E8F5F3"/>
            </a:solidFill>
            <a:prstDash val="solid"/>
          </a:ln>
        </p:spPr>
      </p:sp>
      <p:sp>
        <p:nvSpPr>
          <p:cNvPr id="2062215111" name=""/>
          <p:cNvSpPr>
            <a:spLocks noGrp="1"/>
          </p:cNvSpPr>
          <p:nvPr/>
        </p:nvSpPr>
        <p:spPr bwMode="auto">
          <a:xfrm>
            <a:off x="366712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Implemented the paper-facing Step 1/2/3 control flow</a:t>
            </a:r>
            <a:endParaRPr/>
          </a:p>
        </p:txBody>
      </p:sp>
      <p:sp>
        <p:nvSpPr>
          <p:cNvPr id="2037489999" name=""/>
          <p:cNvSpPr>
            <a:spLocks noGrp="1"/>
          </p:cNvSpPr>
          <p:nvPr/>
        </p:nvSpPr>
        <p:spPr bwMode="auto">
          <a:xfrm>
            <a:off x="634365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E76F51"/>
                </a:solidFill>
              </a:defRPr>
            </a:pPr>
            <a:r>
              <a:rPr sz="3000" b="1" i="0">
                <a:solidFill>
                  <a:srgbClr val="E76F51"/>
                </a:solidFill>
              </a:rPr>
              <a:t>03</a:t>
            </a:r>
            <a:endParaRPr/>
          </a:p>
        </p:txBody>
      </p:sp>
      <p:sp>
        <p:nvSpPr>
          <p:cNvPr id="1149234741" name=""/>
          <p:cNvSpPr>
            <a:spLocks noGrp="1"/>
          </p:cNvSpPr>
          <p:nvPr/>
        </p:nvSpPr>
        <p:spPr bwMode="auto">
          <a:xfrm>
            <a:off x="6343650" y="2209800"/>
            <a:ext cx="1952625" cy="9525"/>
          </a:xfrm>
          <a:prstGeom prst="line">
            <a:avLst/>
          </a:prstGeom>
          <a:noFill/>
          <a:ln w="38100">
            <a:solidFill>
              <a:srgbClr val="E76F51"/>
            </a:solidFill>
            <a:prstDash val="solid"/>
          </a:ln>
        </p:spPr>
      </p:sp>
      <p:sp>
        <p:nvSpPr>
          <p:cNvPr id="777577296" name=""/>
          <p:cNvSpPr>
            <a:spLocks noGrp="1"/>
          </p:cNvSpPr>
          <p:nvPr/>
        </p:nvSpPr>
        <p:spPr bwMode="auto">
          <a:xfrm>
            <a:off x="6343650" y="2457450"/>
            <a:ext cx="2095500" cy="723900"/>
          </a:xfrm>
          <a:prstGeom prst="rect">
            <a:avLst/>
          </a:prstGeom>
          <a:noFill/>
          <a:ln w="0">
            <a:noFill/>
            <a:prstDash val="solid"/>
          </a:ln>
        </p:spPr>
        <p:txBody>
          <a:bodyPr wrap="square" lIns="38100" tIns="19050" rIns="38100" bIns="19050" anchor="ctr">
            <a:normAutofit fontScale="89573"/>
          </a:bodyPr>
          <a:lstStyle/>
          <a:p>
            <a:pPr algn="l">
              <a:lnSpc>
                <a:spcPct val="105000"/>
              </a:lnSpc>
              <a:buNone/>
              <a:defRPr sz="1800" b="1" i="0">
                <a:solidFill>
                  <a:srgbClr val="102A43"/>
                </a:solidFill>
              </a:defRPr>
            </a:pPr>
            <a:r>
              <a:rPr sz="1800" b="1" i="0">
                <a:solidFill>
                  <a:srgbClr val="102A43"/>
                </a:solidFill>
              </a:rPr>
              <a:t>State and correctness controls</a:t>
            </a:r>
            <a:endParaRPr/>
          </a:p>
        </p:txBody>
      </p:sp>
      <p:sp>
        <p:nvSpPr>
          <p:cNvPr id="1269564898" name=""/>
          <p:cNvSpPr>
            <a:spLocks noGrp="1"/>
          </p:cNvSpPr>
          <p:nvPr/>
        </p:nvSpPr>
        <p:spPr bwMode="auto">
          <a:xfrm>
            <a:off x="6343650" y="3333750"/>
            <a:ext cx="2152650" cy="1619250"/>
          </a:xfrm>
          <a:prstGeom prst="roundRect">
            <a:avLst>
              <a:gd name="adj" fmla="val 4706"/>
            </a:avLst>
          </a:prstGeom>
          <a:solidFill>
            <a:srgbClr val="FCEEEA"/>
          </a:solidFill>
          <a:ln w="11430">
            <a:solidFill>
              <a:srgbClr val="FCEEEA"/>
            </a:solidFill>
            <a:prstDash val="solid"/>
          </a:ln>
        </p:spPr>
      </p:sp>
      <p:sp>
        <p:nvSpPr>
          <p:cNvPr id="827854878" name=""/>
          <p:cNvSpPr>
            <a:spLocks noGrp="1"/>
          </p:cNvSpPr>
          <p:nvPr/>
        </p:nvSpPr>
        <p:spPr bwMode="auto">
          <a:xfrm>
            <a:off x="647700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Added ownership invariants, transactional updates, and replay</a:t>
            </a:r>
            <a:endParaRPr/>
          </a:p>
        </p:txBody>
      </p:sp>
      <p:sp>
        <p:nvSpPr>
          <p:cNvPr id="1551312125" name=""/>
          <p:cNvSpPr>
            <a:spLocks noGrp="1"/>
          </p:cNvSpPr>
          <p:nvPr/>
        </p:nvSpPr>
        <p:spPr bwMode="auto">
          <a:xfrm>
            <a:off x="915352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52606D"/>
                </a:solidFill>
              </a:defRPr>
            </a:pPr>
            <a:r>
              <a:rPr sz="3000" b="1" i="0">
                <a:solidFill>
                  <a:srgbClr val="52606D"/>
                </a:solidFill>
              </a:rPr>
              <a:t>04</a:t>
            </a:r>
            <a:endParaRPr/>
          </a:p>
        </p:txBody>
      </p:sp>
      <p:sp>
        <p:nvSpPr>
          <p:cNvPr id="1383848733" name=""/>
          <p:cNvSpPr>
            <a:spLocks noGrp="1"/>
          </p:cNvSpPr>
          <p:nvPr/>
        </p:nvSpPr>
        <p:spPr bwMode="auto">
          <a:xfrm>
            <a:off x="9153525" y="2209800"/>
            <a:ext cx="1952625" cy="9525"/>
          </a:xfrm>
          <a:prstGeom prst="line">
            <a:avLst/>
          </a:prstGeom>
          <a:noFill/>
          <a:ln w="38100">
            <a:solidFill>
              <a:srgbClr val="52606D"/>
            </a:solidFill>
            <a:prstDash val="solid"/>
          </a:ln>
        </p:spPr>
      </p:sp>
      <p:sp>
        <p:nvSpPr>
          <p:cNvPr id="1772220580" name=""/>
          <p:cNvSpPr>
            <a:spLocks noGrp="1"/>
          </p:cNvSpPr>
          <p:nvPr/>
        </p:nvSpPr>
        <p:spPr bwMode="auto">
          <a:xfrm>
            <a:off x="915352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Initial formal evaluation</a:t>
            </a:r>
            <a:endParaRPr/>
          </a:p>
        </p:txBody>
      </p:sp>
      <p:sp>
        <p:nvSpPr>
          <p:cNvPr id="2112567080" name=""/>
          <p:cNvSpPr>
            <a:spLocks noGrp="1"/>
          </p:cNvSpPr>
          <p:nvPr/>
        </p:nvSpPr>
        <p:spPr bwMode="auto">
          <a:xfrm>
            <a:off x="9153525" y="3333750"/>
            <a:ext cx="2152650" cy="1619250"/>
          </a:xfrm>
          <a:prstGeom prst="roundRect">
            <a:avLst>
              <a:gd name="adj" fmla="val 4706"/>
            </a:avLst>
          </a:prstGeom>
          <a:solidFill>
            <a:srgbClr val="EDF2F7"/>
          </a:solidFill>
          <a:ln w="11430">
            <a:solidFill>
              <a:srgbClr val="EDF2F7"/>
            </a:solidFill>
            <a:prstDash val="solid"/>
          </a:ln>
        </p:spPr>
      </p:sp>
      <p:sp>
        <p:nvSpPr>
          <p:cNvPr id="100980637" name=""/>
          <p:cNvSpPr>
            <a:spLocks noGrp="1"/>
          </p:cNvSpPr>
          <p:nvPr/>
        </p:nvSpPr>
        <p:spPr bwMode="auto">
          <a:xfrm>
            <a:off x="928687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Executed a fixed valid-input sorting experiment</a:t>
            </a:r>
            <a:endParaRPr/>
          </a:p>
        </p:txBody>
      </p:sp>
      <p:sp>
        <p:nvSpPr>
          <p:cNvPr id="1537557088" name=""/>
          <p:cNvSpPr>
            <a:spLocks noGrp="1"/>
          </p:cNvSpPr>
          <p:nvPr/>
        </p:nvSpPr>
        <p:spPr bwMode="auto">
          <a:xfrm>
            <a:off x="1238250" y="5524500"/>
            <a:ext cx="9715500" cy="533400"/>
          </a:xfrm>
          <a:prstGeom prst="rect">
            <a:avLst/>
          </a:prstGeom>
          <a:noFill/>
          <a:ln w="0">
            <a:noFill/>
            <a:prstDash val="solid"/>
          </a:ln>
        </p:spPr>
        <p:txBody>
          <a:bodyPr wrap="square" lIns="38100" tIns="19050" rIns="38100" bIns="19050" anchor="ctr">
            <a:normAutofit fontScale="89776"/>
          </a:bodyPr>
          <a:lstStyle/>
          <a:p>
            <a:pPr algn="ctr">
              <a:lnSpc>
                <a:spcPct val="105000"/>
              </a:lnSpc>
              <a:buNone/>
              <a:defRPr sz="1750" b="1" i="0">
                <a:solidFill>
                  <a:srgbClr val="102A43"/>
                </a:solidFill>
              </a:defRPr>
            </a:pPr>
            <a:r>
              <a:rPr sz="1750" b="1" i="0">
                <a:solidFill>
                  <a:srgbClr val="102A43"/>
                </a:solidFill>
              </a:rPr>
              <a:t>Current result: an executable ordinary-list implementation. The historical backend remains future work.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30586673"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SCOPE</a:t>
            </a:r>
            <a:endParaRPr/>
          </a:p>
        </p:txBody>
      </p:sp>
      <p:sp>
        <p:nvSpPr>
          <p:cNvPr id="14060597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Current scope: valid-input sorting</a:t>
            </a:r>
            <a:endParaRPr/>
          </a:p>
        </p:txBody>
      </p:sp>
      <p:sp>
        <p:nvSpPr>
          <p:cNvPr id="1861578134"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19706203" name=""/>
          <p:cNvSpPr>
            <a:spLocks noGrp="1"/>
          </p:cNvSpPr>
          <p:nvPr/>
        </p:nvSpPr>
        <p:spPr bwMode="auto">
          <a:xfrm>
            <a:off x="609600" y="6477000"/>
            <a:ext cx="10972800" cy="9525"/>
          </a:xfrm>
          <a:prstGeom prst="line">
            <a:avLst/>
          </a:prstGeom>
          <a:noFill/>
          <a:ln w="9525">
            <a:solidFill>
              <a:srgbClr val="D9E2EC"/>
            </a:solidFill>
            <a:prstDash val="solid"/>
          </a:ln>
        </p:spPr>
      </p:sp>
      <p:sp>
        <p:nvSpPr>
          <p:cNvPr id="462335349"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565185754"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4 / 16</a:t>
            </a:r>
            <a:endParaRPr/>
          </a:p>
        </p:txBody>
      </p:sp>
      <p:sp>
        <p:nvSpPr>
          <p:cNvPr id="1925567592" name=""/>
          <p:cNvSpPr>
            <a:spLocks noGrp="1"/>
          </p:cNvSpPr>
          <p:nvPr/>
        </p:nvSpPr>
        <p:spPr bwMode="auto">
          <a:xfrm>
            <a:off x="723900" y="1447800"/>
            <a:ext cx="4953000" cy="3905250"/>
          </a:xfrm>
          <a:prstGeom prst="roundRect">
            <a:avLst>
              <a:gd name="adj" fmla="val 1951"/>
            </a:avLst>
          </a:prstGeom>
          <a:solidFill>
            <a:srgbClr val="FFFFFF"/>
          </a:solidFill>
          <a:ln w="11430">
            <a:solidFill>
              <a:srgbClr val="D9E2EC"/>
            </a:solidFill>
            <a:prstDash val="solid"/>
          </a:ln>
        </p:spPr>
      </p:sp>
      <p:sp>
        <p:nvSpPr>
          <p:cNvPr id="1693779921" name=""/>
          <p:cNvSpPr>
            <a:spLocks noGrp="1"/>
          </p:cNvSpPr>
          <p:nvPr/>
        </p:nvSpPr>
        <p:spPr bwMode="auto">
          <a:xfrm>
            <a:off x="6515100" y="1447800"/>
            <a:ext cx="4953000" cy="3905250"/>
          </a:xfrm>
          <a:prstGeom prst="roundRect">
            <a:avLst>
              <a:gd name="adj" fmla="val 1951"/>
            </a:avLst>
          </a:prstGeom>
          <a:solidFill>
            <a:srgbClr val="FFFFFF"/>
          </a:solidFill>
          <a:ln w="19050">
            <a:solidFill>
              <a:srgbClr val="2A9D8F"/>
            </a:solidFill>
            <a:prstDash val="solid"/>
          </a:ln>
        </p:spPr>
      </p:sp>
      <p:sp>
        <p:nvSpPr>
          <p:cNvPr id="118258959" name=""/>
          <p:cNvSpPr>
            <a:spLocks noGrp="1"/>
          </p:cNvSpPr>
          <p:nvPr/>
        </p:nvSpPr>
        <p:spPr bwMode="auto">
          <a:xfrm>
            <a:off x="9525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52606D"/>
                </a:solidFill>
              </a:defRPr>
            </a:pPr>
            <a:r>
              <a:rPr sz="1900" b="1" i="0">
                <a:solidFill>
                  <a:srgbClr val="52606D"/>
                </a:solidFill>
              </a:rPr>
              <a:t>Earlier planning emphasis</a:t>
            </a:r>
            <a:endParaRPr/>
          </a:p>
        </p:txBody>
      </p:sp>
      <p:sp>
        <p:nvSpPr>
          <p:cNvPr id="770008342" name=""/>
          <p:cNvSpPr>
            <a:spLocks noGrp="1"/>
          </p:cNvSpPr>
          <p:nvPr/>
        </p:nvSpPr>
        <p:spPr bwMode="auto">
          <a:xfrm>
            <a:off x="67437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Current research scope</a:t>
            </a:r>
            <a:endParaRPr/>
          </a:p>
        </p:txBody>
      </p:sp>
      <p:sp>
        <p:nvSpPr>
          <p:cNvPr id="1049566201" name=""/>
          <p:cNvSpPr>
            <a:spLocks noGrp="1"/>
          </p:cNvSpPr>
          <p:nvPr/>
        </p:nvSpPr>
        <p:spPr bwMode="auto">
          <a:xfrm>
            <a:off x="9715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General structural framework</a:t>
            </a:r>
            <a:endParaRPr/>
          </a:p>
        </p:txBody>
      </p:sp>
      <p:sp>
        <p:nvSpPr>
          <p:cNvPr id="1178320154" name=""/>
          <p:cNvSpPr>
            <a:spLocks noGrp="1"/>
          </p:cNvSpPr>
          <p:nvPr/>
        </p:nvSpPr>
        <p:spPr bwMode="auto">
          <a:xfrm>
            <a:off x="5810250" y="2266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649686391" name=""/>
          <p:cNvSpPr>
            <a:spLocks noGrp="1"/>
          </p:cNvSpPr>
          <p:nvPr/>
        </p:nvSpPr>
        <p:spPr bwMode="auto">
          <a:xfrm>
            <a:off x="67627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Executable reconstruction of the 1990 procedure</a:t>
            </a:r>
            <a:endParaRPr/>
          </a:p>
        </p:txBody>
      </p:sp>
      <p:sp>
        <p:nvSpPr>
          <p:cNvPr id="362040313" name=""/>
          <p:cNvSpPr>
            <a:spLocks noGrp="1"/>
          </p:cNvSpPr>
          <p:nvPr/>
        </p:nvSpPr>
        <p:spPr bwMode="auto">
          <a:xfrm>
            <a:off x="9715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Valid and invalid generators</a:t>
            </a:r>
            <a:endParaRPr/>
          </a:p>
        </p:txBody>
      </p:sp>
      <p:sp>
        <p:nvSpPr>
          <p:cNvPr id="354358921" name=""/>
          <p:cNvSpPr>
            <a:spLocks noGrp="1"/>
          </p:cNvSpPr>
          <p:nvPr/>
        </p:nvSpPr>
        <p:spPr bwMode="auto">
          <a:xfrm>
            <a:off x="5810250" y="2743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697194533" name=""/>
          <p:cNvSpPr>
            <a:spLocks noGrp="1"/>
          </p:cNvSpPr>
          <p:nvPr/>
        </p:nvSpPr>
        <p:spPr bwMode="auto">
          <a:xfrm>
            <a:off x="67627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Oracle-certified valid-input sorting</a:t>
            </a:r>
            <a:endParaRPr/>
          </a:p>
        </p:txBody>
      </p:sp>
      <p:sp>
        <p:nvSpPr>
          <p:cNvPr id="1737326444" name=""/>
          <p:cNvSpPr>
            <a:spLocks noGrp="1"/>
          </p:cNvSpPr>
          <p:nvPr/>
        </p:nvSpPr>
        <p:spPr bwMode="auto">
          <a:xfrm>
            <a:off x="9715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Static family trees</a:t>
            </a:r>
            <a:endParaRPr/>
          </a:p>
        </p:txBody>
      </p:sp>
      <p:sp>
        <p:nvSpPr>
          <p:cNvPr id="1216564816" name=""/>
          <p:cNvSpPr>
            <a:spLocks noGrp="1"/>
          </p:cNvSpPr>
          <p:nvPr/>
        </p:nvSpPr>
        <p:spPr bwMode="auto">
          <a:xfrm>
            <a:off x="5810250" y="3219449"/>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097903543" name=""/>
          <p:cNvSpPr>
            <a:spLocks noGrp="1"/>
          </p:cNvSpPr>
          <p:nvPr/>
        </p:nvSpPr>
        <p:spPr bwMode="auto">
          <a:xfrm>
            <a:off x="67627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Dynamic sibling-list state</a:t>
            </a:r>
            <a:endParaRPr/>
          </a:p>
        </p:txBody>
      </p:sp>
      <p:sp>
        <p:nvSpPr>
          <p:cNvPr id="81237401" name=""/>
          <p:cNvSpPr>
            <a:spLocks noGrp="1"/>
          </p:cNvSpPr>
          <p:nvPr/>
        </p:nvSpPr>
        <p:spPr bwMode="auto">
          <a:xfrm>
            <a:off x="9715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Broad reference evaluation</a:t>
            </a:r>
            <a:endParaRPr/>
          </a:p>
        </p:txBody>
      </p:sp>
      <p:sp>
        <p:nvSpPr>
          <p:cNvPr id="120365097" name=""/>
          <p:cNvSpPr>
            <a:spLocks noGrp="1"/>
          </p:cNvSpPr>
          <p:nvPr/>
        </p:nvSpPr>
        <p:spPr bwMode="auto">
          <a:xfrm>
            <a:off x="5810250" y="36957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340728693" name=""/>
          <p:cNvSpPr>
            <a:spLocks noGrp="1"/>
          </p:cNvSpPr>
          <p:nvPr/>
        </p:nvSpPr>
        <p:spPr bwMode="auto">
          <a:xfrm>
            <a:off x="67627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Paper core, reference pipeline, Python sort</a:t>
            </a:r>
            <a:endParaRPr/>
          </a:p>
        </p:txBody>
      </p:sp>
      <p:sp>
        <p:nvSpPr>
          <p:cNvPr id="1829970919" name=""/>
          <p:cNvSpPr>
            <a:spLocks noGrp="1"/>
          </p:cNvSpPr>
          <p:nvPr/>
        </p:nvSpPr>
        <p:spPr bwMode="auto">
          <a:xfrm>
            <a:off x="9715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Recognition as a possible experiment</a:t>
            </a:r>
            <a:endParaRPr/>
          </a:p>
        </p:txBody>
      </p:sp>
      <p:sp>
        <p:nvSpPr>
          <p:cNvPr id="1971836839" name=""/>
          <p:cNvSpPr>
            <a:spLocks noGrp="1"/>
          </p:cNvSpPr>
          <p:nvPr/>
        </p:nvSpPr>
        <p:spPr bwMode="auto">
          <a:xfrm>
            <a:off x="5810250" y="4171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912703277" name=""/>
          <p:cNvSpPr>
            <a:spLocks noGrp="1"/>
          </p:cNvSpPr>
          <p:nvPr/>
        </p:nvSpPr>
        <p:spPr bwMode="auto">
          <a:xfrm>
            <a:off x="67627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Recognition remains separate</a:t>
            </a:r>
            <a:endParaRPr/>
          </a:p>
        </p:txBody>
      </p:sp>
      <p:sp>
        <p:nvSpPr>
          <p:cNvPr id="341205741" name=""/>
          <p:cNvSpPr>
            <a:spLocks noGrp="1"/>
          </p:cNvSpPr>
          <p:nvPr/>
        </p:nvSpPr>
        <p:spPr bwMode="auto">
          <a:xfrm>
            <a:off x="9715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Theoretical backend implementation</a:t>
            </a:r>
            <a:endParaRPr/>
          </a:p>
        </p:txBody>
      </p:sp>
      <p:sp>
        <p:nvSpPr>
          <p:cNvPr id="856566814" name=""/>
          <p:cNvSpPr>
            <a:spLocks noGrp="1"/>
          </p:cNvSpPr>
          <p:nvPr/>
        </p:nvSpPr>
        <p:spPr bwMode="auto">
          <a:xfrm>
            <a:off x="5810250" y="4648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2079123593" name=""/>
          <p:cNvSpPr>
            <a:spLocks noGrp="1"/>
          </p:cNvSpPr>
          <p:nvPr/>
        </p:nvSpPr>
        <p:spPr bwMode="auto">
          <a:xfrm>
            <a:off x="67627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Ordinary lists in the current implementation</a:t>
            </a:r>
            <a:endParaRPr/>
          </a:p>
        </p:txBody>
      </p:sp>
      <p:sp>
        <p:nvSpPr>
          <p:cNvPr id="486994709" name=""/>
          <p:cNvSpPr>
            <a:spLocks noGrp="1"/>
          </p:cNvSpPr>
          <p:nvPr/>
        </p:nvSpPr>
        <p:spPr bwMode="auto">
          <a:xfrm>
            <a:off x="1143000" y="5505450"/>
            <a:ext cx="9906000" cy="6096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89510831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RESEARCH QUESTIONS</a:t>
            </a:r>
            <a:endParaRPr/>
          </a:p>
        </p:txBody>
      </p:sp>
      <p:sp>
        <p:nvSpPr>
          <p:cNvPr id="77658384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0096"/>
          </a:bodyPr>
          <a:lstStyle/>
          <a:p>
            <a:pPr algn="l">
              <a:lnSpc>
                <a:spcPct val="95000"/>
              </a:lnSpc>
              <a:buNone/>
              <a:defRPr sz="2700" b="1" i="0">
                <a:solidFill>
                  <a:srgbClr val="102A43"/>
                </a:solidFill>
              </a:defRPr>
            </a:pPr>
            <a:r>
              <a:rPr sz="2700" b="1" i="0">
                <a:solidFill>
                  <a:srgbClr val="102A43"/>
                </a:solidFill>
              </a:rPr>
              <a:t>Three questions connect reconstruction, measurement, and interpretation</a:t>
            </a:r>
            <a:endParaRPr/>
          </a:p>
        </p:txBody>
      </p:sp>
      <p:sp>
        <p:nvSpPr>
          <p:cNvPr id="645055912" name=""/>
          <p:cNvSpPr>
            <a:spLocks noGrp="1"/>
          </p:cNvSpPr>
          <p:nvPr/>
        </p:nvSpPr>
        <p:spPr bwMode="auto">
          <a:xfrm>
            <a:off x="609600" y="1085850"/>
            <a:ext cx="10972800" cy="9525"/>
          </a:xfrm>
          <a:prstGeom prst="line">
            <a:avLst/>
          </a:prstGeom>
          <a:noFill/>
          <a:ln w="28575">
            <a:solidFill>
              <a:srgbClr val="2A9D8F"/>
            </a:solidFill>
            <a:prstDash val="solid"/>
          </a:ln>
        </p:spPr>
      </p:sp>
      <p:sp>
        <p:nvSpPr>
          <p:cNvPr id="1723174067" name=""/>
          <p:cNvSpPr>
            <a:spLocks noGrp="1"/>
          </p:cNvSpPr>
          <p:nvPr/>
        </p:nvSpPr>
        <p:spPr bwMode="auto">
          <a:xfrm>
            <a:off x="609600" y="6477000"/>
            <a:ext cx="10972800" cy="9525"/>
          </a:xfrm>
          <a:prstGeom prst="line">
            <a:avLst/>
          </a:prstGeom>
          <a:noFill/>
          <a:ln w="9525">
            <a:solidFill>
              <a:srgbClr val="D9E2EC"/>
            </a:solidFill>
            <a:prstDash val="solid"/>
          </a:ln>
        </p:spPr>
      </p:sp>
      <p:sp>
        <p:nvSpPr>
          <p:cNvPr id="190644517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25038554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5 / 16</a:t>
            </a:r>
            <a:endParaRPr/>
          </a:p>
        </p:txBody>
      </p:sp>
      <p:sp>
        <p:nvSpPr>
          <p:cNvPr id="1043602090" name=""/>
          <p:cNvSpPr>
            <a:spLocks noGrp="1"/>
          </p:cNvSpPr>
          <p:nvPr/>
        </p:nvSpPr>
        <p:spPr bwMode="auto">
          <a:xfrm>
            <a:off x="723900" y="1485900"/>
            <a:ext cx="10744200" cy="1200150"/>
          </a:xfrm>
          <a:prstGeom prst="roundRect">
            <a:avLst>
              <a:gd name="adj" fmla="val 6349"/>
            </a:avLst>
          </a:prstGeom>
          <a:solidFill>
            <a:srgbClr val="E8F5F3"/>
          </a:solidFill>
          <a:ln w="11430">
            <a:solidFill>
              <a:srgbClr val="E8F5F3"/>
            </a:solidFill>
            <a:prstDash val="solid"/>
          </a:ln>
        </p:spPr>
      </p:sp>
      <p:sp>
        <p:nvSpPr>
          <p:cNvPr id="107738835" name=""/>
          <p:cNvSpPr>
            <a:spLocks noGrp="1"/>
          </p:cNvSpPr>
          <p:nvPr/>
        </p:nvSpPr>
        <p:spPr bwMode="auto">
          <a:xfrm>
            <a:off x="914400" y="16573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2A9D8F"/>
                </a:solidFill>
              </a:defRPr>
            </a:pPr>
            <a:r>
              <a:rPr sz="2100" b="1" i="0">
                <a:solidFill>
                  <a:srgbClr val="2A9D8F"/>
                </a:solidFill>
              </a:rPr>
              <a:t>RQ1</a:t>
            </a:r>
            <a:endParaRPr/>
          </a:p>
        </p:txBody>
      </p:sp>
      <p:sp>
        <p:nvSpPr>
          <p:cNvPr id="1245773708" name=""/>
          <p:cNvSpPr>
            <a:spLocks noGrp="1"/>
          </p:cNvSpPr>
          <p:nvPr/>
        </p:nvSpPr>
        <p:spPr bwMode="auto">
          <a:xfrm>
            <a:off x="2152650" y="16192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 and correctness</a:t>
            </a:r>
            <a:endParaRPr/>
          </a:p>
        </p:txBody>
      </p:sp>
      <p:sp>
        <p:nvSpPr>
          <p:cNvPr id="769165958" name=""/>
          <p:cNvSpPr>
            <a:spLocks noGrp="1"/>
          </p:cNvSpPr>
          <p:nvPr/>
        </p:nvSpPr>
        <p:spPr bwMode="auto">
          <a:xfrm>
            <a:off x="2152650" y="20574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endParaRPr/>
          </a:p>
        </p:txBody>
      </p:sp>
      <p:sp>
        <p:nvSpPr>
          <p:cNvPr id="448999697" name=""/>
          <p:cNvSpPr>
            <a:spLocks noGrp="1"/>
          </p:cNvSpPr>
          <p:nvPr/>
        </p:nvSpPr>
        <p:spPr bwMode="auto">
          <a:xfrm>
            <a:off x="8477250" y="1647825"/>
            <a:ext cx="2571750" cy="285750"/>
          </a:xfrm>
          <a:prstGeom prst="roundRect">
            <a:avLst>
              <a:gd name="adj" fmla="val 20000"/>
            </a:avLst>
          </a:prstGeom>
          <a:solidFill>
            <a:srgbClr val="2A9D8F"/>
          </a:solidFill>
          <a:ln w="11430">
            <a:solidFill>
              <a:srgbClr val="2A9D8F"/>
            </a:solidFill>
            <a:prstDash val="solid"/>
          </a:ln>
        </p:spPr>
      </p:sp>
      <p:sp>
        <p:nvSpPr>
          <p:cNvPr id="1414552401" name=""/>
          <p:cNvSpPr>
            <a:spLocks noGrp="1"/>
          </p:cNvSpPr>
          <p:nvPr/>
        </p:nvSpPr>
        <p:spPr bwMode="auto">
          <a:xfrm>
            <a:off x="8477250" y="1657350"/>
            <a:ext cx="25717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00" b="1" i="0">
                <a:solidFill>
                  <a:srgbClr val="FFFFFF"/>
                </a:solidFill>
              </a:defRPr>
            </a:pPr>
            <a:r>
              <a:rPr sz="1000" b="1" i="0">
                <a:solidFill>
                  <a:srgbClr val="FFFFFF"/>
                </a:solidFill>
              </a:rPr>
              <a:t>PRIMARY TECHNICAL QUESTION</a:t>
            </a:r>
            <a:endParaRPr/>
          </a:p>
        </p:txBody>
      </p:sp>
      <p:sp>
        <p:nvSpPr>
          <p:cNvPr id="1709611198" name=""/>
          <p:cNvSpPr>
            <a:spLocks noGrp="1"/>
          </p:cNvSpPr>
          <p:nvPr/>
        </p:nvSpPr>
        <p:spPr bwMode="auto">
          <a:xfrm>
            <a:off x="723900" y="2990850"/>
            <a:ext cx="10744200" cy="1200150"/>
          </a:xfrm>
          <a:prstGeom prst="roundRect">
            <a:avLst>
              <a:gd name="adj" fmla="val 6349"/>
            </a:avLst>
          </a:prstGeom>
          <a:solidFill>
            <a:srgbClr val="FCEEEA"/>
          </a:solidFill>
          <a:ln w="11430">
            <a:solidFill>
              <a:srgbClr val="FCEEEA"/>
            </a:solidFill>
            <a:prstDash val="solid"/>
          </a:ln>
        </p:spPr>
      </p:sp>
      <p:sp>
        <p:nvSpPr>
          <p:cNvPr id="1039917671" name=""/>
          <p:cNvSpPr>
            <a:spLocks noGrp="1"/>
          </p:cNvSpPr>
          <p:nvPr/>
        </p:nvSpPr>
        <p:spPr bwMode="auto">
          <a:xfrm>
            <a:off x="914400" y="316230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E76F51"/>
                </a:solidFill>
              </a:defRPr>
            </a:pPr>
            <a:r>
              <a:rPr sz="2100" b="1" i="0">
                <a:solidFill>
                  <a:srgbClr val="E76F51"/>
                </a:solidFill>
              </a:rPr>
              <a:t>RQ2</a:t>
            </a:r>
            <a:endParaRPr/>
          </a:p>
        </p:txBody>
      </p:sp>
      <p:sp>
        <p:nvSpPr>
          <p:cNvPr id="1980155225" name=""/>
          <p:cNvSpPr>
            <a:spLocks noGrp="1"/>
          </p:cNvSpPr>
          <p:nvPr/>
        </p:nvSpPr>
        <p:spPr bwMode="auto">
          <a:xfrm>
            <a:off x="2152650" y="312420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Observed runtime behavior</a:t>
            </a:r>
            <a:endParaRPr/>
          </a:p>
        </p:txBody>
      </p:sp>
      <p:sp>
        <p:nvSpPr>
          <p:cNvPr id="1699308625" name=""/>
          <p:cNvSpPr>
            <a:spLocks noGrp="1"/>
          </p:cNvSpPr>
          <p:nvPr/>
        </p:nvSpPr>
        <p:spPr bwMode="auto">
          <a:xfrm>
            <a:off x="2152650" y="356235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endParaRPr/>
          </a:p>
        </p:txBody>
      </p:sp>
      <p:sp>
        <p:nvSpPr>
          <p:cNvPr id="750678642" name=""/>
          <p:cNvSpPr>
            <a:spLocks noGrp="1"/>
          </p:cNvSpPr>
          <p:nvPr/>
        </p:nvSpPr>
        <p:spPr bwMode="auto">
          <a:xfrm>
            <a:off x="723900" y="4495800"/>
            <a:ext cx="10744200" cy="1200150"/>
          </a:xfrm>
          <a:prstGeom prst="roundRect">
            <a:avLst>
              <a:gd name="adj" fmla="val 6349"/>
            </a:avLst>
          </a:prstGeom>
          <a:solidFill>
            <a:srgbClr val="EDF2F7"/>
          </a:solidFill>
          <a:ln w="11430">
            <a:solidFill>
              <a:srgbClr val="EDF2F7"/>
            </a:solidFill>
            <a:prstDash val="solid"/>
          </a:ln>
        </p:spPr>
      </p:sp>
      <p:sp>
        <p:nvSpPr>
          <p:cNvPr id="316413252" name=""/>
          <p:cNvSpPr>
            <a:spLocks noGrp="1"/>
          </p:cNvSpPr>
          <p:nvPr/>
        </p:nvSpPr>
        <p:spPr bwMode="auto">
          <a:xfrm>
            <a:off x="914400" y="46672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52606D"/>
                </a:solidFill>
              </a:defRPr>
            </a:pPr>
            <a:r>
              <a:rPr sz="2100" b="1" i="0">
                <a:solidFill>
                  <a:srgbClr val="52606D"/>
                </a:solidFill>
              </a:rPr>
              <a:t>RQ3</a:t>
            </a:r>
            <a:endParaRPr/>
          </a:p>
        </p:txBody>
      </p:sp>
      <p:sp>
        <p:nvSpPr>
          <p:cNvPr id="1629730160" name=""/>
          <p:cNvSpPr>
            <a:spLocks noGrp="1"/>
          </p:cNvSpPr>
          <p:nvPr/>
        </p:nvSpPr>
        <p:spPr bwMode="auto">
          <a:xfrm>
            <a:off x="2152650" y="46291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Structure and implementation cost</a:t>
            </a:r>
            <a:endParaRPr/>
          </a:p>
        </p:txBody>
      </p:sp>
      <p:sp>
        <p:nvSpPr>
          <p:cNvPr id="678494328" name=""/>
          <p:cNvSpPr>
            <a:spLocks noGrp="1"/>
          </p:cNvSpPr>
          <p:nvPr/>
        </p:nvSpPr>
        <p:spPr bwMode="auto">
          <a:xfrm>
            <a:off x="2152650" y="50673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27656671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ARCHITECTURE</a:t>
            </a:r>
            <a:endParaRPr/>
          </a:p>
        </p:txBody>
      </p:sp>
      <p:sp>
        <p:nvSpPr>
          <p:cNvPr id="25785189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oracle, reference pipeline, and paper core have distinct roles</a:t>
            </a:r>
            <a:endParaRPr/>
          </a:p>
        </p:txBody>
      </p:sp>
      <p:sp>
        <p:nvSpPr>
          <p:cNvPr id="1377401116" name=""/>
          <p:cNvSpPr>
            <a:spLocks noGrp="1"/>
          </p:cNvSpPr>
          <p:nvPr/>
        </p:nvSpPr>
        <p:spPr bwMode="auto">
          <a:xfrm>
            <a:off x="609600" y="1085850"/>
            <a:ext cx="10972800" cy="9525"/>
          </a:xfrm>
          <a:prstGeom prst="line">
            <a:avLst/>
          </a:prstGeom>
          <a:noFill/>
          <a:ln w="28575">
            <a:solidFill>
              <a:srgbClr val="2A9D8F"/>
            </a:solidFill>
            <a:prstDash val="solid"/>
          </a:ln>
        </p:spPr>
      </p:sp>
      <p:sp>
        <p:nvSpPr>
          <p:cNvPr id="325780496" name=""/>
          <p:cNvSpPr>
            <a:spLocks noGrp="1"/>
          </p:cNvSpPr>
          <p:nvPr/>
        </p:nvSpPr>
        <p:spPr bwMode="auto">
          <a:xfrm>
            <a:off x="609600" y="6477000"/>
            <a:ext cx="10972800" cy="9525"/>
          </a:xfrm>
          <a:prstGeom prst="line">
            <a:avLst/>
          </a:prstGeom>
          <a:noFill/>
          <a:ln w="9525">
            <a:solidFill>
              <a:srgbClr val="D9E2EC"/>
            </a:solidFill>
            <a:prstDash val="solid"/>
          </a:ln>
        </p:spPr>
      </p:sp>
      <p:sp>
        <p:nvSpPr>
          <p:cNvPr id="1233310694"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581042068"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6 / 16</a:t>
            </a:r>
            <a:endParaRPr/>
          </a:p>
        </p:txBody>
      </p:sp>
      <p:sp>
        <p:nvSpPr>
          <p:cNvPr id="1030524291" name=""/>
          <p:cNvSpPr>
            <a:spLocks noGrp="1"/>
          </p:cNvSpPr>
          <p:nvPr/>
        </p:nvSpPr>
        <p:spPr bwMode="auto">
          <a:xfrm>
            <a:off x="4238625" y="1352550"/>
            <a:ext cx="3714750" cy="876299"/>
          </a:xfrm>
          <a:prstGeom prst="roundRect">
            <a:avLst>
              <a:gd name="adj" fmla="val 8696"/>
            </a:avLst>
          </a:prstGeom>
          <a:solidFill>
            <a:srgbClr val="EAF1F8"/>
          </a:solidFill>
          <a:ln w="19050">
            <a:solidFill>
              <a:srgbClr val="102A43"/>
            </a:solidFill>
            <a:prstDash val="solid"/>
          </a:ln>
        </p:spPr>
      </p:sp>
      <p:sp>
        <p:nvSpPr>
          <p:cNvPr id="851915053" name=""/>
          <p:cNvSpPr>
            <a:spLocks noGrp="1"/>
          </p:cNvSpPr>
          <p:nvPr/>
        </p:nvSpPr>
        <p:spPr bwMode="auto">
          <a:xfrm>
            <a:off x="4429125" y="1485900"/>
            <a:ext cx="3333750" cy="32385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900" b="1" i="0">
                <a:solidFill>
                  <a:srgbClr val="102A43"/>
                </a:solidFill>
              </a:defRPr>
            </a:pPr>
            <a:r>
              <a:rPr sz="1900" b="1" i="0">
                <a:solidFill>
                  <a:srgbClr val="102A43"/>
                </a:solidFill>
              </a:rPr>
              <a:t>Certification oracle</a:t>
            </a:r>
            <a:endParaRPr/>
          </a:p>
        </p:txBody>
      </p:sp>
      <p:sp>
        <p:nvSpPr>
          <p:cNvPr id="443735121" name=""/>
          <p:cNvSpPr>
            <a:spLocks noGrp="1"/>
          </p:cNvSpPr>
          <p:nvPr/>
        </p:nvSpPr>
        <p:spPr bwMode="auto">
          <a:xfrm>
            <a:off x="4429125" y="1847850"/>
            <a:ext cx="3333750" cy="247650"/>
          </a:xfrm>
          <a:prstGeom prst="rect">
            <a:avLst/>
          </a:prstGeom>
          <a:noFill/>
          <a:ln w="0">
            <a:noFill/>
            <a:prstDash val="solid"/>
          </a:ln>
        </p:spPr>
        <p:txBody>
          <a:bodyPr wrap="square" lIns="38100" tIns="19050" rIns="38100" bIns="19050" anchor="t">
            <a:normAutofit fontScale="97002"/>
          </a:bodyPr>
          <a:lstStyle/>
          <a:p>
            <a:pPr algn="ctr">
              <a:lnSpc>
                <a:spcPct val="105000"/>
              </a:lnSpc>
              <a:buNone/>
              <a:defRPr sz="1350" b="0" i="0">
                <a:solidFill>
                  <a:srgbClr val="52606D"/>
                </a:solidFill>
              </a:defRPr>
            </a:pPr>
            <a:r>
              <a:rPr sz="1350" b="0" i="0">
                <a:solidFill>
                  <a:srgbClr val="52606D"/>
                </a:solidFill>
              </a:rPr>
              <a:t>validity + expected sorted order</a:t>
            </a:r>
            <a:endParaRPr/>
          </a:p>
        </p:txBody>
      </p:sp>
      <p:sp>
        <p:nvSpPr>
          <p:cNvPr id="2018044695" name=""/>
          <p:cNvSpPr>
            <a:spLocks noGrp="1"/>
          </p:cNvSpPr>
          <p:nvPr/>
        </p:nvSpPr>
        <p:spPr bwMode="auto">
          <a:xfrm>
            <a:off x="876299" y="3105150"/>
            <a:ext cx="4333875" cy="1809750"/>
          </a:xfrm>
          <a:prstGeom prst="roundRect">
            <a:avLst>
              <a:gd name="adj" fmla="val 4211"/>
            </a:avLst>
          </a:prstGeom>
          <a:solidFill>
            <a:srgbClr val="FCEEEA"/>
          </a:solidFill>
          <a:ln w="19050">
            <a:solidFill>
              <a:srgbClr val="E76F51"/>
            </a:solidFill>
            <a:prstDash val="solid"/>
          </a:ln>
        </p:spPr>
      </p:sp>
      <p:sp>
        <p:nvSpPr>
          <p:cNvPr id="2067338948" name=""/>
          <p:cNvSpPr>
            <a:spLocks noGrp="1"/>
          </p:cNvSpPr>
          <p:nvPr/>
        </p:nvSpPr>
        <p:spPr bwMode="auto">
          <a:xfrm>
            <a:off x="6981825" y="3105150"/>
            <a:ext cx="4333875" cy="1809750"/>
          </a:xfrm>
          <a:prstGeom prst="roundRect">
            <a:avLst>
              <a:gd name="adj" fmla="val 4211"/>
            </a:avLst>
          </a:prstGeom>
          <a:solidFill>
            <a:srgbClr val="E8F5F3"/>
          </a:solidFill>
          <a:ln w="19050">
            <a:solidFill>
              <a:srgbClr val="2A9D8F"/>
            </a:solidFill>
            <a:prstDash val="solid"/>
          </a:ln>
        </p:spPr>
      </p:sp>
      <p:cxnSp>
        <p:nvCxnSpPr>
          <p:cNvPr id="1912550261" name=""/>
          <p:cNvCxnSpPr>
            <a:stCxn id="1030524291" idx="2"/>
            <a:endCxn id="2018044695" idx="0"/>
          </p:cNvCxnSpPr>
          <p:nvPr/>
        </p:nvCxnSpPr>
        <p:spPr bwMode="auto">
          <a:xfrm flipH="1">
            <a:off x="3043238" y="2228850"/>
            <a:ext cx="3052763" cy="876299"/>
          </a:xfrm>
          <a:prstGeom prst="bentConnector4">
            <a:avLst>
              <a:gd name="adj1" fmla="val 0"/>
              <a:gd name="adj2" fmla="val 50000"/>
            </a:avLst>
          </a:prstGeom>
          <a:ln w="19050">
            <a:solidFill>
              <a:srgbClr val="52606D"/>
            </a:solidFill>
            <a:prstDash val="solid"/>
            <a:tailEnd type="arrow" w="med" len="med"/>
          </a:ln>
        </p:spPr>
      </p:cxnSp>
      <p:cxnSp>
        <p:nvCxnSpPr>
          <p:cNvPr id="253548307" name=""/>
          <p:cNvCxnSpPr>
            <a:stCxn id="1030524291" idx="2"/>
            <a:endCxn id="2067338948" idx="0"/>
          </p:cNvCxnSpPr>
          <p:nvPr/>
        </p:nvCxnSpPr>
        <p:spPr bwMode="auto">
          <a:xfrm>
            <a:off x="6096000" y="2228850"/>
            <a:ext cx="3052763" cy="876299"/>
          </a:xfrm>
          <a:prstGeom prst="bentConnector4">
            <a:avLst>
              <a:gd name="adj1" fmla="val 0"/>
              <a:gd name="adj2" fmla="val 50000"/>
            </a:avLst>
          </a:prstGeom>
          <a:ln w="19050">
            <a:solidFill>
              <a:srgbClr val="52606D"/>
            </a:solidFill>
            <a:prstDash val="solid"/>
            <a:tailEnd type="arrow" w="med" len="med"/>
          </a:ln>
        </p:spPr>
      </p:cxnSp>
      <p:sp>
        <p:nvSpPr>
          <p:cNvPr id="1482504181" name=""/>
          <p:cNvSpPr>
            <a:spLocks noGrp="1"/>
          </p:cNvSpPr>
          <p:nvPr/>
        </p:nvSpPr>
        <p:spPr bwMode="auto">
          <a:xfrm>
            <a:off x="1352550" y="2419350"/>
            <a:ext cx="3390900" cy="457200"/>
          </a:xfrm>
          <a:prstGeom prst="roundRect">
            <a:avLst>
              <a:gd name="adj" fmla="val 12500"/>
            </a:avLst>
          </a:prstGeom>
          <a:solidFill>
            <a:srgbClr val="FFFFFF"/>
          </a:solidFill>
          <a:ln w="11430">
            <a:solidFill>
              <a:srgbClr val="E76F51"/>
            </a:solidFill>
            <a:prstDash val="solid"/>
          </a:ln>
        </p:spPr>
      </p:sp>
      <p:sp>
        <p:nvSpPr>
          <p:cNvPr id="1854491649" name=""/>
          <p:cNvSpPr>
            <a:spLocks noGrp="1"/>
          </p:cNvSpPr>
          <p:nvPr/>
        </p:nvSpPr>
        <p:spPr bwMode="auto">
          <a:xfrm>
            <a:off x="1485900"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E76F51"/>
                </a:solidFill>
              </a:defRPr>
            </a:pPr>
            <a:r>
              <a:rPr sz="1300" b="1" i="0">
                <a:solidFill>
                  <a:srgbClr val="E76F51"/>
                </a:solidFill>
              </a:rPr>
              <a:t>oracle result, including sorted output</a:t>
            </a:r>
            <a:endParaRPr/>
          </a:p>
        </p:txBody>
      </p:sp>
      <p:sp>
        <p:nvSpPr>
          <p:cNvPr id="196468955" name=""/>
          <p:cNvSpPr>
            <a:spLocks noGrp="1"/>
          </p:cNvSpPr>
          <p:nvPr/>
        </p:nvSpPr>
        <p:spPr bwMode="auto">
          <a:xfrm>
            <a:off x="7448550" y="2419350"/>
            <a:ext cx="3390900" cy="457200"/>
          </a:xfrm>
          <a:prstGeom prst="roundRect">
            <a:avLst>
              <a:gd name="adj" fmla="val 12500"/>
            </a:avLst>
          </a:prstGeom>
          <a:solidFill>
            <a:srgbClr val="FFFFFF"/>
          </a:solidFill>
          <a:ln w="11430">
            <a:solidFill>
              <a:srgbClr val="2A9D8F"/>
            </a:solidFill>
            <a:prstDash val="solid"/>
          </a:ln>
        </p:spPr>
      </p:sp>
      <p:sp>
        <p:nvSpPr>
          <p:cNvPr id="2061916024" name=""/>
          <p:cNvSpPr>
            <a:spLocks noGrp="1"/>
          </p:cNvSpPr>
          <p:nvPr/>
        </p:nvSpPr>
        <p:spPr bwMode="auto">
          <a:xfrm>
            <a:off x="7581899"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A9D8F"/>
                </a:solidFill>
              </a:defRPr>
            </a:pPr>
            <a:r>
              <a:rPr sz="1300" b="1" i="0">
                <a:solidFill>
                  <a:srgbClr val="2A9D8F"/>
                </a:solidFill>
              </a:rPr>
              <a:t>valid-input certification only</a:t>
            </a:r>
            <a:endParaRPr/>
          </a:p>
        </p:txBody>
      </p:sp>
      <p:sp>
        <p:nvSpPr>
          <p:cNvPr id="1065400191" name=""/>
          <p:cNvSpPr>
            <a:spLocks noGrp="1"/>
          </p:cNvSpPr>
          <p:nvPr/>
        </p:nvSpPr>
        <p:spPr bwMode="auto">
          <a:xfrm>
            <a:off x="1104900" y="3276600"/>
            <a:ext cx="3857625" cy="457200"/>
          </a:xfrm>
          <a:prstGeom prst="rect">
            <a:avLst/>
          </a:prstGeom>
          <a:noFill/>
          <a:ln w="0">
            <a:noFill/>
            <a:prstDash val="solid"/>
          </a:ln>
        </p:spPr>
        <p:txBody>
          <a:bodyPr wrap="square" lIns="38100" tIns="19050" rIns="38100" bIns="19050" anchor="t">
            <a:normAutofit fontScale="99746"/>
          </a:bodyPr>
          <a:lstStyle/>
          <a:p>
            <a:pPr algn="ctr">
              <a:lnSpc>
                <a:spcPct val="105000"/>
              </a:lnSpc>
              <a:buNone/>
              <a:defRPr sz="1900" b="1" i="0">
                <a:solidFill>
                  <a:srgbClr val="E76F51"/>
                </a:solidFill>
              </a:defRPr>
            </a:pPr>
            <a:r>
              <a:rPr sz="1900" b="1" i="0">
                <a:solidFill>
                  <a:srgbClr val="E76F51"/>
                </a:solidFill>
              </a:rPr>
              <a:t>Oracle-backed reference pipeline</a:t>
            </a:r>
            <a:endParaRPr/>
          </a:p>
        </p:txBody>
      </p:sp>
      <p:sp>
        <p:nvSpPr>
          <p:cNvPr id="2077958495" name=""/>
          <p:cNvSpPr>
            <a:spLocks noGrp="1"/>
          </p:cNvSpPr>
          <p:nvPr/>
        </p:nvSpPr>
        <p:spPr bwMode="auto">
          <a:xfrm>
            <a:off x="1200150" y="3848100"/>
            <a:ext cx="3667125" cy="838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family trees</a:t>
            </a:r>
            <a:endParaRPr/>
          </a:p>
          <a:p>
            <a:pPr algn="ctr">
              <a:lnSpc>
                <a:spcPct val="105000"/>
              </a:lnSpc>
              <a:buNone/>
              <a:defRPr sz="1500" b="0" i="0">
                <a:solidFill>
                  <a:srgbClr val="243B53"/>
                </a:solidFill>
              </a:defRPr>
            </a:pPr>
            <a:r>
              <a:rPr sz="1500" b="0" i="0">
                <a:solidFill>
                  <a:srgbClr val="243B53"/>
                </a:solidFill>
              </a:rPr>
              <a:t>structural information</a:t>
            </a:r>
            <a:endParaRPr/>
          </a:p>
          <a:p>
            <a:pPr algn="ctr">
              <a:lnSpc>
                <a:spcPct val="105000"/>
              </a:lnSpc>
              <a:buNone/>
              <a:defRPr sz="1500" b="0" i="0">
                <a:solidFill>
                  <a:srgbClr val="243B53"/>
                </a:solidFill>
              </a:defRPr>
            </a:pPr>
            <a:r>
              <a:rPr sz="1500" b="0" i="0">
                <a:solidFill>
                  <a:srgbClr val="243B53"/>
                </a:solidFill>
              </a:rPr>
              <a:t>oracle-derived output</a:t>
            </a:r>
            <a:endParaRPr/>
          </a:p>
        </p:txBody>
      </p:sp>
      <p:sp>
        <p:nvSpPr>
          <p:cNvPr id="1421651123" name=""/>
          <p:cNvSpPr>
            <a:spLocks noGrp="1"/>
          </p:cNvSpPr>
          <p:nvPr/>
        </p:nvSpPr>
        <p:spPr bwMode="auto">
          <a:xfrm>
            <a:off x="7210425" y="3276600"/>
            <a:ext cx="3857625" cy="4572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2A9D8F"/>
                </a:solidFill>
              </a:defRPr>
            </a:pPr>
            <a:r>
              <a:rPr sz="1900" b="1" i="0">
                <a:solidFill>
                  <a:srgbClr val="2A9D8F"/>
                </a:solidFill>
              </a:rPr>
              <a:t>Paper ordinary-list core</a:t>
            </a:r>
            <a:endParaRPr/>
          </a:p>
        </p:txBody>
      </p:sp>
      <p:sp>
        <p:nvSpPr>
          <p:cNvPr id="1252707283" name=""/>
          <p:cNvSpPr>
            <a:spLocks noGrp="1"/>
          </p:cNvSpPr>
          <p:nvPr/>
        </p:nvSpPr>
        <p:spPr bwMode="auto">
          <a:xfrm>
            <a:off x="7334250" y="3810000"/>
            <a:ext cx="361950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243B53"/>
                </a:solidFill>
              </a:defRPr>
            </a:pPr>
            <a:r>
              <a:rPr sz="1350" b="0" i="0">
                <a:solidFill>
                  <a:srgbClr val="243B53"/>
                </a:solidFill>
              </a:rPr>
              <a:t>input sequence + certified precondition</a:t>
            </a:r>
            <a:endParaRPr/>
          </a:p>
          <a:p>
            <a:pPr algn="ctr">
              <a:lnSpc>
                <a:spcPct val="105000"/>
              </a:lnSpc>
              <a:buNone/>
              <a:defRPr sz="1350" b="0" i="0">
                <a:solidFill>
                  <a:srgbClr val="243B53"/>
                </a:solidFill>
              </a:defRPr>
            </a:pPr>
            <a:r>
              <a:rPr sz="1350" b="0" i="0">
                <a:solidFill>
                  <a:srgbClr val="243B53"/>
                </a:solidFill>
              </a:rPr>
              <a:t>Step 1/2/3 and maintained state</a:t>
            </a:r>
            <a:endParaRPr/>
          </a:p>
          <a:p>
            <a:pPr algn="ctr">
              <a:lnSpc>
                <a:spcPct val="105000"/>
              </a:lnSpc>
              <a:buNone/>
              <a:defRPr sz="1350" b="0" i="0">
                <a:solidFill>
                  <a:srgbClr val="243B53"/>
                </a:solidFill>
              </a:defRPr>
            </a:pPr>
            <a:r>
              <a:rPr sz="1350" b="0" i="0">
                <a:solidFill>
                  <a:srgbClr val="243B53"/>
                </a:solidFill>
              </a:rPr>
              <a:t>output recovered from state</a:t>
            </a:r>
            <a:endParaRPr/>
          </a:p>
        </p:txBody>
      </p:sp>
      <p:sp>
        <p:nvSpPr>
          <p:cNvPr id="1604536548" name=""/>
          <p:cNvSpPr>
            <a:spLocks noGrp="1"/>
          </p:cNvSpPr>
          <p:nvPr/>
        </p:nvSpPr>
        <p:spPr bwMode="auto">
          <a:xfrm>
            <a:off x="8172450" y="5010149"/>
            <a:ext cx="2724150" cy="342900"/>
          </a:xfrm>
          <a:prstGeom prst="roundRect">
            <a:avLst>
              <a:gd name="adj" fmla="val 13889"/>
            </a:avLst>
          </a:prstGeom>
          <a:solidFill>
            <a:srgbClr val="FFFFFF"/>
          </a:solidFill>
          <a:ln w="11430">
            <a:solidFill>
              <a:srgbClr val="52606D"/>
            </a:solidFill>
            <a:prstDash val="dash"/>
          </a:ln>
        </p:spPr>
      </p:sp>
      <p:sp>
        <p:nvSpPr>
          <p:cNvPr id="43747842" name=""/>
          <p:cNvSpPr>
            <a:spLocks noGrp="1"/>
          </p:cNvSpPr>
          <p:nvPr/>
        </p:nvSpPr>
        <p:spPr bwMode="auto">
          <a:xfrm>
            <a:off x="8267700" y="5057775"/>
            <a:ext cx="2533650" cy="247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1" i="0">
                <a:solidFill>
                  <a:srgbClr val="52606D"/>
                </a:solidFill>
              </a:defRPr>
            </a:pPr>
            <a:r>
              <a:rPr sz="1200" b="1" i="0">
                <a:solidFill>
                  <a:srgbClr val="52606D"/>
                </a:solidFill>
              </a:rPr>
              <a:t>post-call output comparison</a:t>
            </a:r>
            <a:endParaRPr/>
          </a:p>
        </p:txBody>
      </p:sp>
      <p:cxnSp>
        <p:nvCxnSpPr>
          <p:cNvPr id="1255979617" name=""/>
          <p:cNvCxnSpPr>
            <a:stCxn id="2067338948" idx="2"/>
            <a:endCxn id="1604536548" idx="0"/>
          </p:cNvCxnSpPr>
          <p:nvPr/>
        </p:nvCxnSpPr>
        <p:spPr bwMode="auto">
          <a:xfrm>
            <a:off x="9148763" y="4914900"/>
            <a:ext cx="385762" cy="95250"/>
          </a:xfrm>
          <a:prstGeom prst="straightConnector1">
            <a:avLst/>
          </a:prstGeom>
          <a:ln w="14288">
            <a:solidFill>
              <a:srgbClr val="52606D"/>
            </a:solidFill>
            <a:prstDash val="dash"/>
            <a:tailEnd type="arrow" w="sm" len="sm"/>
          </a:ln>
        </p:spPr>
      </p:cxnSp>
      <p:sp>
        <p:nvSpPr>
          <p:cNvPr id="1830117646" name=""/>
          <p:cNvSpPr>
            <a:spLocks noGrp="1"/>
          </p:cNvSpPr>
          <p:nvPr/>
        </p:nvSpPr>
        <p:spPr bwMode="auto">
          <a:xfrm>
            <a:off x="1257300" y="5543550"/>
            <a:ext cx="9677400" cy="514350"/>
          </a:xfrm>
          <a:prstGeom prst="roundRect">
            <a:avLst>
              <a:gd name="adj" fmla="val 11111"/>
            </a:avLst>
          </a:prstGeom>
          <a:solidFill>
            <a:srgbClr val="102A43"/>
          </a:solidFill>
          <a:ln w="11430">
            <a:solidFill>
              <a:srgbClr val="102A43"/>
            </a:solidFill>
            <a:prstDash val="solid"/>
          </a:ln>
        </p:spPr>
      </p:sp>
      <p:sp>
        <p:nvSpPr>
          <p:cNvPr id="337611075" name=""/>
          <p:cNvSpPr>
            <a:spLocks noGrp="1"/>
          </p:cNvSpPr>
          <p:nvPr/>
        </p:nvSpPr>
        <p:spPr bwMode="auto">
          <a:xfrm>
            <a:off x="1428750" y="5610225"/>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657ABD52-93CC-4323-B947-4D7907F6442F}"/>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a:t>
            </a:r>
          </a:p>
        </p:txBody>
      </p:sp>
      <p:sp>
        <p:nvSpPr>
          <p:cNvPr id="2" name="">
            <a:extLst xmlns:a="http://schemas.openxmlformats.org/drawingml/2006/main">
              <a:ext uri="{FF2B5EF4-FFF2-40B4-BE49-F238E27FC236}">
                <a16:creationId xmlns:a16="http://schemas.microsoft.com/office/drawing/2014/main" id="{6F9933FE-55CD-4FE9-B796-40674EEFB999}"/>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Initialize once, then update one point at a time</a:t>
            </a:r>
          </a:p>
        </p:txBody>
      </p:sp>
      <p:sp>
        <p:nvSpPr>
          <p:cNvPr id="3" name="">
            <a:extLst xmlns:a="http://schemas.openxmlformats.org/drawingml/2006/main">
              <a:ext uri="{FF2B5EF4-FFF2-40B4-BE49-F238E27FC236}">
                <a16:creationId xmlns:a16="http://schemas.microsoft.com/office/drawing/2014/main" id="{EA6F95E4-A94E-4DC8-BA3B-F56BE9CA3981}"/>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9090BAE3-C70E-4871-A65E-490A1A1BC0B6}"/>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65B86F7C-30B3-467A-A19F-307829705793}"/>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25080F18-695D-44F1-ADCD-7225A1461624}"/>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7 / 16</a:t>
            </a:r>
          </a:p>
        </p:txBody>
      </p:sp>
      <p:sp>
        <p:nvSpPr>
          <p:cNvPr id="7" name="">
            <a:extLst xmlns:a="http://schemas.openxmlformats.org/drawingml/2006/main">
              <a:ext uri="{FF2B5EF4-FFF2-40B4-BE49-F238E27FC236}">
                <a16:creationId xmlns:a16="http://schemas.microsoft.com/office/drawing/2014/main" id="{90C8D1C8-5998-4CAE-8855-76BACCD89CB8}"/>
              </a:ext>
            </a:extLst>
          </p:cNvPr>
          <p:cNvSpPr>
            <a:spLocks xmlns:a="http://schemas.openxmlformats.org/drawingml/2006/main" noGrp="1"/>
          </p:cNvSpPr>
          <p:nvPr/>
        </p:nvSpPr>
        <p:spPr>
          <a:xfrm xmlns:a="http://schemas.openxmlformats.org/drawingml/2006/main">
            <a:off x="723900" y="1314450"/>
            <a:ext cx="10744200" cy="1504950"/>
          </a:xfrm>
          <a:prstGeom xmlns:a="http://schemas.openxmlformats.org/drawingml/2006/main" prst="roundRect">
            <a:avLst>
              <a:gd name="adj" fmla="val 5063"/>
            </a:avLst>
          </a:prstGeom>
          <a:solidFill xmlns:a="http://schemas.openxmlformats.org/drawingml/2006/main">
            <a:srgbClr val="EAF1F8"/>
          </a:solidFill>
          <a:ln xmlns:a="http://schemas.openxmlformats.org/drawingml/2006/main" w="11430">
            <a:solidFill>
              <a:srgbClr val="52606D"/>
            </a:solidFill>
            <a:prstDash val="solid"/>
          </a:ln>
        </p:spPr>
      </p:sp>
      <p:sp>
        <p:nvSpPr>
          <p:cNvPr id="8" name="">
            <a:extLst xmlns:a="http://schemas.openxmlformats.org/drawingml/2006/main">
              <a:ext uri="{FF2B5EF4-FFF2-40B4-BE49-F238E27FC236}">
                <a16:creationId xmlns:a16="http://schemas.microsoft.com/office/drawing/2014/main" id="{1BFF7690-B7EB-4AF2-B828-3EC64BF7FBBF}"/>
              </a:ext>
            </a:extLst>
          </p:cNvPr>
          <p:cNvSpPr>
            <a:spLocks xmlns:a="http://schemas.openxmlformats.org/drawingml/2006/main" noGrp="1"/>
          </p:cNvSpPr>
          <p:nvPr/>
        </p:nvSpPr>
        <p:spPr>
          <a:xfrm xmlns:a="http://schemas.openxmlformats.org/drawingml/2006/main">
            <a:off x="876300" y="1390650"/>
            <a:ext cx="10363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89717"/>
          </a:bodyPr>
          <a:lstStyle xmlns:a="http://schemas.openxmlformats.org/drawingml/2006/main"/>
          <a:p xmlns:a="http://schemas.openxmlformats.org/drawingml/2006/main">
            <a:pPr algn="l">
              <a:lnSpc>
                <a:spcPct val="105000"/>
              </a:lnSpc>
              <a:buNone/>
              <a:defRPr sz="1725" b="1" i="0">
                <a:solidFill>
                  <a:srgbClr val="102A43"/>
                </a:solidFill>
              </a:defRPr>
            </a:pPr>
            <a:r>
              <a:rPr sz="1725" b="1" i="0">
                <a:solidFill>
                  <a:srgbClr val="102A43"/>
                </a:solidFill>
              </a:rPr>
              <a:t>A. Initialize once (n ≥ 3)</a:t>
            </a:r>
          </a:p>
        </p:txBody>
      </p:sp>
      <p:sp>
        <p:nvSpPr>
          <p:cNvPr id="9" name="">
            <a:extLst xmlns:a="http://schemas.openxmlformats.org/drawingml/2006/main">
              <a:ext uri="{FF2B5EF4-FFF2-40B4-BE49-F238E27FC236}">
                <a16:creationId xmlns:a16="http://schemas.microsoft.com/office/drawing/2014/main" id="{F2D230CD-D871-419B-90F6-841D20691481}"/>
              </a:ext>
            </a:extLst>
          </p:cNvPr>
          <p:cNvSpPr>
            <a:spLocks xmlns:a="http://schemas.openxmlformats.org/drawingml/2006/main" noGrp="1"/>
          </p:cNvSpPr>
          <p:nvPr/>
        </p:nvSpPr>
        <p:spPr>
          <a:xfrm xmlns:a="http://schemas.openxmlformats.org/drawingml/2006/main">
            <a:off x="914400" y="1809750"/>
            <a:ext cx="2857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725" b="0" i="0">
                <a:solidFill>
                  <a:srgbClr val="243B53"/>
                </a:solidFill>
              </a:defRPr>
            </a:pPr>
            <a:r>
              <a:rPr sz="1725" b="0" i="0">
                <a:solidFill>
                  <a:srgbClr val="243B53"/>
                </a:solidFill>
              </a:rPr>
              <a:t>Sort only z₁, z₂, z₃</a:t>
            </a:r>
          </a:p>
          <a:p xmlns:a="http://schemas.openxmlformats.org/drawingml/2006/main">
            <a:pPr algn="ctr">
              <a:lnSpc>
                <a:spcPct val="105000"/>
              </a:lnSpc>
              <a:buNone/>
              <a:defRPr sz="1725" b="0" i="0">
                <a:solidFill>
                  <a:srgbClr val="243B53"/>
                </a:solidFill>
              </a:defRPr>
            </a:pPr>
            <a:r>
              <a:rPr sz="1725" b="0" i="0">
                <a:solidFill>
                  <a:srgbClr val="243B53"/>
                </a:solidFill>
              </a:rPr>
              <a:t>by x-coordinate</a:t>
            </a:r>
          </a:p>
        </p:txBody>
      </p:sp>
      <p:sp>
        <p:nvSpPr>
          <p:cNvPr id="10" name="">
            <a:extLst xmlns:a="http://schemas.openxmlformats.org/drawingml/2006/main">
              <a:ext uri="{FF2B5EF4-FFF2-40B4-BE49-F238E27FC236}">
                <a16:creationId xmlns:a16="http://schemas.microsoft.com/office/drawing/2014/main" id="{3FD24A36-CC1C-438A-A51E-7EF9E6A81D68}"/>
              </a:ext>
            </a:extLst>
          </p:cNvPr>
          <p:cNvSpPr>
            <a:spLocks xmlns:a="http://schemas.openxmlformats.org/drawingml/2006/main" noGrp="1"/>
          </p:cNvSpPr>
          <p:nvPr/>
        </p:nvSpPr>
        <p:spPr>
          <a:xfrm xmlns:a="http://schemas.openxmlformats.org/drawingml/2006/main">
            <a:off x="3790950" y="184785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2250" b="0" i="0">
                <a:solidFill>
                  <a:srgbClr val="2A9D8F"/>
                </a:solidFill>
              </a:defRPr>
            </a:pPr>
            <a:r>
              <a:rPr sz="2250" b="0" i="0">
                <a:solidFill>
                  <a:srgbClr val="2A9D8F"/>
                </a:solidFill>
              </a:rPr>
              <a:t>→</a:t>
            </a:r>
          </a:p>
        </p:txBody>
      </p:sp>
      <p:sp>
        <p:nvSpPr>
          <p:cNvPr id="11" name="">
            <a:extLst xmlns:a="http://schemas.openxmlformats.org/drawingml/2006/main">
              <a:ext uri="{FF2B5EF4-FFF2-40B4-BE49-F238E27FC236}">
                <a16:creationId xmlns:a16="http://schemas.microsoft.com/office/drawing/2014/main" id="{3709A83F-800F-4167-979B-4AAE02B4C3E5}"/>
              </a:ext>
            </a:extLst>
          </p:cNvPr>
          <p:cNvSpPr>
            <a:spLocks xmlns:a="http://schemas.openxmlformats.org/drawingml/2006/main" noGrp="1"/>
          </p:cNvSpPr>
          <p:nvPr/>
        </p:nvSpPr>
        <p:spPr>
          <a:xfrm xmlns:a="http://schemas.openxmlformats.org/drawingml/2006/main">
            <a:off x="4305300" y="18478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Initial sorted list S₃</a:t>
            </a:r>
          </a:p>
        </p:txBody>
      </p:sp>
      <p:sp>
        <p:nvSpPr>
          <p:cNvPr id="12" name="">
            <a:extLst xmlns:a="http://schemas.openxmlformats.org/drawingml/2006/main">
              <a:ext uri="{FF2B5EF4-FFF2-40B4-BE49-F238E27FC236}">
                <a16:creationId xmlns:a16="http://schemas.microsoft.com/office/drawing/2014/main" id="{B5834D51-14CF-4148-ABB0-8D1B21A0D5AE}"/>
              </a:ext>
            </a:extLst>
          </p:cNvPr>
          <p:cNvSpPr>
            <a:spLocks xmlns:a="http://schemas.openxmlformats.org/drawingml/2006/main" noGrp="1"/>
          </p:cNvSpPr>
          <p:nvPr/>
        </p:nvSpPr>
        <p:spPr>
          <a:xfrm xmlns:a="http://schemas.openxmlformats.org/drawingml/2006/main">
            <a:off x="7296150" y="1847850"/>
            <a:ext cx="438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2250" b="0" i="0">
                <a:solidFill>
                  <a:srgbClr val="2A9D8F"/>
                </a:solidFill>
              </a:defRPr>
            </a:pPr>
            <a:r>
              <a:rPr sz="2250" b="0" i="0">
                <a:solidFill>
                  <a:srgbClr val="2A9D8F"/>
                </a:solidFill>
              </a:rPr>
              <a:t>→</a:t>
            </a:r>
          </a:p>
        </p:txBody>
      </p:sp>
      <p:sp>
        <p:nvSpPr>
          <p:cNvPr id="13" name="">
            <a:extLst xmlns:a="http://schemas.openxmlformats.org/drawingml/2006/main">
              <a:ext uri="{FF2B5EF4-FFF2-40B4-BE49-F238E27FC236}">
                <a16:creationId xmlns:a16="http://schemas.microsoft.com/office/drawing/2014/main" id="{75DC9B4B-24A0-4A38-A922-6C4E1CCFD24C}"/>
              </a:ext>
            </a:extLst>
          </p:cNvPr>
          <p:cNvSpPr>
            <a:spLocks xmlns:a="http://schemas.openxmlformats.org/drawingml/2006/main" noGrp="1"/>
          </p:cNvSpPr>
          <p:nvPr/>
        </p:nvSpPr>
        <p:spPr>
          <a:xfrm xmlns:a="http://schemas.openxmlformats.org/drawingml/2006/main">
            <a:off x="7829550" y="1771650"/>
            <a:ext cx="3429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650" b="0" i="0">
                <a:solidFill>
                  <a:srgbClr val="243B53"/>
                </a:solidFill>
              </a:defRPr>
            </a:pPr>
            <a:r>
              <a:rPr sz="1650" b="0" i="0">
                <a:solidFill>
                  <a:srgbClr val="243B53"/>
                </a:solidFill>
              </a:rPr>
              <a:t>Upper/lower families</a:t>
            </a:r>
          </a:p>
          <a:p xmlns:a="http://schemas.openxmlformats.org/drawingml/2006/main">
            <a:pPr algn="ctr">
              <a:lnSpc>
                <a:spcPct val="105000"/>
              </a:lnSpc>
              <a:buNone/>
              <a:defRPr sz="1650" b="0" i="0">
                <a:solidFill>
                  <a:srgbClr val="243B53"/>
                </a:solidFill>
              </a:defRPr>
            </a:pPr>
            <a:r>
              <a:rPr sz="1650" b="0" i="0">
                <a:solidFill>
                  <a:srgbClr val="243B53"/>
                </a:solidFill>
              </a:rPr>
              <a:t>P₂, P₃ and dummy roots</a:t>
            </a:r>
          </a:p>
        </p:txBody>
      </p:sp>
      <p:sp>
        <p:nvSpPr>
          <p:cNvPr id="14" name="">
            <a:extLst xmlns:a="http://schemas.openxmlformats.org/drawingml/2006/main">
              <a:ext uri="{FF2B5EF4-FFF2-40B4-BE49-F238E27FC236}">
                <a16:creationId xmlns:a16="http://schemas.microsoft.com/office/drawing/2014/main" id="{69D7BB49-3767-4523-92F7-358AD0EAA710}"/>
              </a:ext>
            </a:extLst>
          </p:cNvPr>
          <p:cNvSpPr>
            <a:spLocks xmlns:a="http://schemas.openxmlformats.org/drawingml/2006/main" noGrp="1"/>
          </p:cNvSpPr>
          <p:nvPr/>
        </p:nvSpPr>
        <p:spPr>
          <a:xfrm xmlns:a="http://schemas.openxmlformats.org/drawingml/2006/main">
            <a:off x="895350" y="2457450"/>
            <a:ext cx="10401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500" b="0" i="0">
                <a:solidFill>
                  <a:srgbClr val="52606D"/>
                </a:solidFill>
              </a:defRPr>
            </a:pPr>
            <a:r>
              <a:rPr sz="1500" b="0" i="0">
                <a:solidFill>
                  <a:srgbClr val="52606D"/>
                </a:solidFill>
              </a:rPr>
              <a:t>Core-local initialization. No oracle answer. Labels and stored pair endpoints keep curve order.</a:t>
            </a:r>
          </a:p>
        </p:txBody>
      </p:sp>
      <p:sp>
        <p:nvSpPr>
          <p:cNvPr id="15" name="">
            <a:extLst xmlns:a="http://schemas.openxmlformats.org/drawingml/2006/main">
              <a:ext uri="{FF2B5EF4-FFF2-40B4-BE49-F238E27FC236}">
                <a16:creationId xmlns:a16="http://schemas.microsoft.com/office/drawing/2014/main" id="{19BD3844-FD46-4960-8B38-1A776455E059}"/>
              </a:ext>
            </a:extLst>
          </p:cNvPr>
          <p:cNvSpPr>
            <a:spLocks xmlns:a="http://schemas.openxmlformats.org/drawingml/2006/main" noGrp="1"/>
          </p:cNvSpPr>
          <p:nvPr/>
        </p:nvSpPr>
        <p:spPr>
          <a:xfrm xmlns:a="http://schemas.openxmlformats.org/drawingml/2006/main">
            <a:off x="723900" y="2971800"/>
            <a:ext cx="1074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2593"/>
          </a:bodyPr>
          <a:lstStyle xmlns:a="http://schemas.openxmlformats.org/drawingml/2006/main"/>
          <a:p xmlns:a="http://schemas.openxmlformats.org/drawingml/2006/main">
            <a:pPr algn="l">
              <a:lnSpc>
                <a:spcPct val="105000"/>
              </a:lnSpc>
              <a:buNone/>
              <a:defRPr sz="1800" b="1" i="0">
                <a:solidFill>
                  <a:srgbClr val="2A9D8F"/>
                </a:solidFill>
              </a:defRPr>
            </a:pPr>
            <a:r>
              <a:rPr sz="1800" b="1" i="0">
                <a:solidFill>
                  <a:srgbClr val="2A9D8F"/>
                </a:solidFill>
              </a:rPr>
              <a:t>B. For i = 4, …, n: process one new point</a:t>
            </a:r>
          </a:p>
        </p:txBody>
      </p:sp>
      <p:sp>
        <p:nvSpPr>
          <p:cNvPr id="16" name="">
            <a:extLst xmlns:a="http://schemas.openxmlformats.org/drawingml/2006/main">
              <a:ext uri="{FF2B5EF4-FFF2-40B4-BE49-F238E27FC236}">
                <a16:creationId xmlns:a16="http://schemas.microsoft.com/office/drawing/2014/main" id="{720F877E-05A5-41C6-BF69-30C86D6BFA75}"/>
              </a:ext>
            </a:extLst>
          </p:cNvPr>
          <p:cNvSpPr>
            <a:spLocks xmlns:a="http://schemas.openxmlformats.org/drawingml/2006/main" noGrp="1"/>
          </p:cNvSpPr>
          <p:nvPr/>
        </p:nvSpPr>
        <p:spPr>
          <a:xfrm xmlns:a="http://schemas.openxmlformats.org/drawingml/2006/main">
            <a:off x="723900" y="3333750"/>
            <a:ext cx="1074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618"/>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Sᵢ₋₁ + new point zᵢ → one round below → Sᵢ</a:t>
            </a:r>
          </a:p>
        </p:txBody>
      </p:sp>
      <p:sp>
        <p:nvSpPr>
          <p:cNvPr id="17" name="">
            <a:extLst xmlns:a="http://schemas.openxmlformats.org/drawingml/2006/main">
              <a:ext uri="{FF2B5EF4-FFF2-40B4-BE49-F238E27FC236}">
                <a16:creationId xmlns:a16="http://schemas.microsoft.com/office/drawing/2014/main" id="{798C313A-9548-4796-AE83-FF4DEA3D2E96}"/>
              </a:ext>
            </a:extLst>
          </p:cNvPr>
          <p:cNvSpPr>
            <a:spLocks xmlns:a="http://schemas.openxmlformats.org/drawingml/2006/main" noGrp="1"/>
          </p:cNvSpPr>
          <p:nvPr/>
        </p:nvSpPr>
        <p:spPr>
          <a:xfrm xmlns:a="http://schemas.openxmlformats.org/drawingml/2006/main">
            <a:off x="723900" y="3790950"/>
            <a:ext cx="1981200" cy="1085850"/>
          </a:xfrm>
          <a:prstGeom xmlns:a="http://schemas.openxmlformats.org/drawingml/2006/main" prst="roundRect">
            <a:avLst>
              <a:gd name="adj" fmla="val 5263"/>
            </a:avLst>
          </a:prstGeom>
          <a:solidFill xmlns:a="http://schemas.openxmlformats.org/drawingml/2006/main">
            <a:srgbClr val="EAF1F8"/>
          </a:solidFill>
          <a:ln xmlns:a="http://schemas.openxmlformats.org/drawingml/2006/main" w="11430">
            <a:solidFill>
              <a:srgbClr val="52606D"/>
            </a:solidFill>
            <a:prstDash val="solid"/>
          </a:ln>
        </p:spPr>
      </p:sp>
      <p:sp>
        <p:nvSpPr>
          <p:cNvPr id="18" name="">
            <a:extLst xmlns:a="http://schemas.openxmlformats.org/drawingml/2006/main">
              <a:ext uri="{FF2B5EF4-FFF2-40B4-BE49-F238E27FC236}">
                <a16:creationId xmlns:a16="http://schemas.microsoft.com/office/drawing/2014/main" id="{2E6FB539-CCA5-4588-91FD-AA414F87E85D}"/>
              </a:ext>
            </a:extLst>
          </p:cNvPr>
          <p:cNvSpPr>
            <a:spLocks xmlns:a="http://schemas.openxmlformats.org/drawingml/2006/main" noGrp="1"/>
          </p:cNvSpPr>
          <p:nvPr/>
        </p:nvSpPr>
        <p:spPr>
          <a:xfrm xmlns:a="http://schemas.openxmlformats.org/drawingml/2006/main">
            <a:off x="800100" y="3867150"/>
            <a:ext cx="1828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1</a:t>
            </a:r>
          </a:p>
        </p:txBody>
      </p:sp>
      <p:sp>
        <p:nvSpPr>
          <p:cNvPr id="19" name="">
            <a:extLst xmlns:a="http://schemas.openxmlformats.org/drawingml/2006/main">
              <a:ext uri="{FF2B5EF4-FFF2-40B4-BE49-F238E27FC236}">
                <a16:creationId xmlns:a16="http://schemas.microsoft.com/office/drawing/2014/main" id="{10EAD457-E9CD-4E34-8537-A3498A2D8491}"/>
              </a:ext>
            </a:extLst>
          </p:cNvPr>
          <p:cNvSpPr>
            <a:spLocks xmlns:a="http://schemas.openxmlformats.org/drawingml/2006/main" noGrp="1"/>
          </p:cNvSpPr>
          <p:nvPr/>
        </p:nvSpPr>
        <p:spPr>
          <a:xfrm xmlns:a="http://schemas.openxmlformats.org/drawingml/2006/main">
            <a:off x="790575" y="4200525"/>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98413"/>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Find predecessor-side</a:t>
            </a:r>
          </a:p>
          <a:p xmlns:a="http://schemas.openxmlformats.org/drawingml/2006/main">
            <a:pPr algn="ctr">
              <a:lnSpc>
                <a:spcPct val="105000"/>
              </a:lnSpc>
              <a:buNone/>
              <a:defRPr sz="1425" b="0" i="0">
                <a:solidFill>
                  <a:srgbClr val="243B53"/>
                </a:solidFill>
              </a:defRPr>
            </a:pPr>
            <a:r>
              <a:rPr sz="1425" b="0" i="0">
                <a:solidFill>
                  <a:srgbClr val="243B53"/>
                </a:solidFill>
              </a:rPr>
              <a:t>boundary Aᵢ</a:t>
            </a:r>
          </a:p>
        </p:txBody>
      </p:sp>
      <p:sp>
        <p:nvSpPr>
          <p:cNvPr id="20" name="">
            <a:extLst xmlns:a="http://schemas.openxmlformats.org/drawingml/2006/main">
              <a:ext uri="{FF2B5EF4-FFF2-40B4-BE49-F238E27FC236}">
                <a16:creationId xmlns:a16="http://schemas.microsoft.com/office/drawing/2014/main" id="{231B7F5E-C8BC-4376-9857-1AA41FEF1832}"/>
              </a:ext>
            </a:extLst>
          </p:cNvPr>
          <p:cNvSpPr>
            <a:spLocks xmlns:a="http://schemas.openxmlformats.org/drawingml/2006/main" noGrp="1"/>
          </p:cNvSpPr>
          <p:nvPr/>
        </p:nvSpPr>
        <p:spPr>
          <a:xfrm xmlns:a="http://schemas.openxmlformats.org/drawingml/2006/main">
            <a:off x="2914650" y="3790950"/>
            <a:ext cx="1981200" cy="1085850"/>
          </a:xfrm>
          <a:prstGeom xmlns:a="http://schemas.openxmlformats.org/drawingml/2006/main" prst="roundRect">
            <a:avLst>
              <a:gd name="adj" fmla="val 5263"/>
            </a:avLst>
          </a:prstGeom>
          <a:solidFill xmlns:a="http://schemas.openxmlformats.org/drawingml/2006/main">
            <a:srgbClr val="EAF1F8"/>
          </a:solidFill>
          <a:ln xmlns:a="http://schemas.openxmlformats.org/drawingml/2006/main" w="11430">
            <a:solidFill>
              <a:srgbClr val="52606D"/>
            </a:solidFill>
            <a:prstDash val="solid"/>
          </a:ln>
        </p:spPr>
      </p:sp>
      <p:sp>
        <p:nvSpPr>
          <p:cNvPr id="21" name="">
            <a:extLst xmlns:a="http://schemas.openxmlformats.org/drawingml/2006/main">
              <a:ext uri="{FF2B5EF4-FFF2-40B4-BE49-F238E27FC236}">
                <a16:creationId xmlns:a16="http://schemas.microsoft.com/office/drawing/2014/main" id="{39BEAEE5-D160-4EF7-89FD-898F5601EC50}"/>
              </a:ext>
            </a:extLst>
          </p:cNvPr>
          <p:cNvSpPr>
            <a:spLocks xmlns:a="http://schemas.openxmlformats.org/drawingml/2006/main" noGrp="1"/>
          </p:cNvSpPr>
          <p:nvPr/>
        </p:nvSpPr>
        <p:spPr>
          <a:xfrm xmlns:a="http://schemas.openxmlformats.org/drawingml/2006/main">
            <a:off x="2990850" y="3867150"/>
            <a:ext cx="1828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2</a:t>
            </a:r>
          </a:p>
        </p:txBody>
      </p:sp>
      <p:sp>
        <p:nvSpPr>
          <p:cNvPr id="22" name="">
            <a:extLst xmlns:a="http://schemas.openxmlformats.org/drawingml/2006/main">
              <a:ext uri="{FF2B5EF4-FFF2-40B4-BE49-F238E27FC236}">
                <a16:creationId xmlns:a16="http://schemas.microsoft.com/office/drawing/2014/main" id="{36E0F6FD-A1E1-4B1E-912E-03B05E751E7F}"/>
              </a:ext>
            </a:extLst>
          </p:cNvPr>
          <p:cNvSpPr>
            <a:spLocks xmlns:a="http://schemas.openxmlformats.org/drawingml/2006/main" noGrp="1"/>
          </p:cNvSpPr>
          <p:nvPr/>
        </p:nvSpPr>
        <p:spPr>
          <a:xfrm xmlns:a="http://schemas.openxmlformats.org/drawingml/2006/main">
            <a:off x="2981325" y="4200525"/>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Find successor-side</a:t>
            </a:r>
          </a:p>
          <a:p xmlns:a="http://schemas.openxmlformats.org/drawingml/2006/main">
            <a:pPr algn="ctr">
              <a:lnSpc>
                <a:spcPct val="105000"/>
              </a:lnSpc>
              <a:buNone/>
              <a:defRPr sz="1425" b="0" i="0">
                <a:solidFill>
                  <a:srgbClr val="243B53"/>
                </a:solidFill>
              </a:defRPr>
            </a:pPr>
            <a:r>
              <a:rPr sz="1425" b="0" i="0">
                <a:solidFill>
                  <a:srgbClr val="243B53"/>
                </a:solidFill>
              </a:rPr>
              <a:t>boundary Bᵢ</a:t>
            </a:r>
          </a:p>
        </p:txBody>
      </p:sp>
      <p:sp>
        <p:nvSpPr>
          <p:cNvPr id="23" name="">
            <a:extLst xmlns:a="http://schemas.openxmlformats.org/drawingml/2006/main">
              <a:ext uri="{FF2B5EF4-FFF2-40B4-BE49-F238E27FC236}">
                <a16:creationId xmlns:a16="http://schemas.microsoft.com/office/drawing/2014/main" id="{2B8586E4-28DA-47A1-8D72-66090F9EC38F}"/>
              </a:ext>
            </a:extLst>
          </p:cNvPr>
          <p:cNvSpPr>
            <a:spLocks xmlns:a="http://schemas.openxmlformats.org/drawingml/2006/main" noGrp="1"/>
          </p:cNvSpPr>
          <p:nvPr/>
        </p:nvSpPr>
        <p:spPr>
          <a:xfrm xmlns:a="http://schemas.openxmlformats.org/drawingml/2006/main">
            <a:off x="5105400" y="3790950"/>
            <a:ext cx="1981200" cy="1085850"/>
          </a:xfrm>
          <a:prstGeom xmlns:a="http://schemas.openxmlformats.org/drawingml/2006/main" prst="roundRect">
            <a:avLst>
              <a:gd name="adj" fmla="val 5263"/>
            </a:avLst>
          </a:prstGeom>
          <a:solidFill xmlns:a="http://schemas.openxmlformats.org/drawingml/2006/main">
            <a:srgbClr val="E8F5F3"/>
          </a:solidFill>
          <a:ln xmlns:a="http://schemas.openxmlformats.org/drawingml/2006/main" w="11430">
            <a:solidFill>
              <a:srgbClr val="52606D"/>
            </a:solidFill>
            <a:prstDash val="solid"/>
          </a:ln>
        </p:spPr>
      </p:sp>
      <p:sp>
        <p:nvSpPr>
          <p:cNvPr id="24" name="">
            <a:extLst xmlns:a="http://schemas.openxmlformats.org/drawingml/2006/main">
              <a:ext uri="{FF2B5EF4-FFF2-40B4-BE49-F238E27FC236}">
                <a16:creationId xmlns:a16="http://schemas.microsoft.com/office/drawing/2014/main" id="{F3C1D7C1-58C2-433D-8312-4A13A9D47FD6}"/>
              </a:ext>
            </a:extLst>
          </p:cNvPr>
          <p:cNvSpPr>
            <a:spLocks xmlns:a="http://schemas.openxmlformats.org/drawingml/2006/main" noGrp="1"/>
          </p:cNvSpPr>
          <p:nvPr/>
        </p:nvSpPr>
        <p:spPr>
          <a:xfrm xmlns:a="http://schemas.openxmlformats.org/drawingml/2006/main">
            <a:off x="5181600" y="3867150"/>
            <a:ext cx="1828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3(a)</a:t>
            </a:r>
          </a:p>
        </p:txBody>
      </p:sp>
      <p:sp>
        <p:nvSpPr>
          <p:cNvPr id="25" name="">
            <a:extLst xmlns:a="http://schemas.openxmlformats.org/drawingml/2006/main">
              <a:ext uri="{FF2B5EF4-FFF2-40B4-BE49-F238E27FC236}">
                <a16:creationId xmlns:a16="http://schemas.microsoft.com/office/drawing/2014/main" id="{B80817FF-B5C0-418C-8CE5-B4AFE8EF8A6F}"/>
              </a:ext>
            </a:extLst>
          </p:cNvPr>
          <p:cNvSpPr>
            <a:spLocks xmlns:a="http://schemas.openxmlformats.org/drawingml/2006/main" noGrp="1"/>
          </p:cNvSpPr>
          <p:nvPr/>
        </p:nvSpPr>
        <p:spPr>
          <a:xfrm xmlns:a="http://schemas.openxmlformats.org/drawingml/2006/main">
            <a:off x="5172075" y="4200525"/>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Insert new pair</a:t>
            </a:r>
          </a:p>
          <a:p xmlns:a="http://schemas.openxmlformats.org/drawingml/2006/main">
            <a:pPr algn="ctr">
              <a:lnSpc>
                <a:spcPct val="105000"/>
              </a:lnSpc>
              <a:buNone/>
              <a:defRPr sz="1425" b="0" i="0">
                <a:solidFill>
                  <a:srgbClr val="243B53"/>
                </a:solidFill>
              </a:defRPr>
            </a:pPr>
            <a:r>
              <a:rPr sz="1425" b="0" i="0">
                <a:solidFill>
                  <a:srgbClr val="243B53"/>
                </a:solidFill>
              </a:rPr>
              <a:t>Pᵢ = (zᵢ₋₁, zᵢ)</a:t>
            </a:r>
          </a:p>
        </p:txBody>
      </p:sp>
      <p:sp>
        <p:nvSpPr>
          <p:cNvPr id="26" name="">
            <a:extLst xmlns:a="http://schemas.openxmlformats.org/drawingml/2006/main">
              <a:ext uri="{FF2B5EF4-FFF2-40B4-BE49-F238E27FC236}">
                <a16:creationId xmlns:a16="http://schemas.microsoft.com/office/drawing/2014/main" id="{EAD1BAA5-7852-4997-B348-D8FDC53876EE}"/>
              </a:ext>
            </a:extLst>
          </p:cNvPr>
          <p:cNvSpPr>
            <a:spLocks xmlns:a="http://schemas.openxmlformats.org/drawingml/2006/main" noGrp="1"/>
          </p:cNvSpPr>
          <p:nvPr/>
        </p:nvSpPr>
        <p:spPr>
          <a:xfrm xmlns:a="http://schemas.openxmlformats.org/drawingml/2006/main">
            <a:off x="7296150" y="3790950"/>
            <a:ext cx="1981200" cy="1085850"/>
          </a:xfrm>
          <a:prstGeom xmlns:a="http://schemas.openxmlformats.org/drawingml/2006/main" prst="roundRect">
            <a:avLst>
              <a:gd name="adj" fmla="val 5263"/>
            </a:avLst>
          </a:prstGeom>
          <a:solidFill xmlns:a="http://schemas.openxmlformats.org/drawingml/2006/main">
            <a:srgbClr val="E8F5F3"/>
          </a:solidFill>
          <a:ln xmlns:a="http://schemas.openxmlformats.org/drawingml/2006/main" w="11430">
            <a:solidFill>
              <a:srgbClr val="52606D"/>
            </a:solidFill>
            <a:prstDash val="solid"/>
          </a:ln>
        </p:spPr>
      </p:sp>
      <p:sp>
        <p:nvSpPr>
          <p:cNvPr id="27" name="">
            <a:extLst xmlns:a="http://schemas.openxmlformats.org/drawingml/2006/main">
              <a:ext uri="{FF2B5EF4-FFF2-40B4-BE49-F238E27FC236}">
                <a16:creationId xmlns:a16="http://schemas.microsoft.com/office/drawing/2014/main" id="{31435DF9-CE8F-4086-A0EB-8C079281ADE2}"/>
              </a:ext>
            </a:extLst>
          </p:cNvPr>
          <p:cNvSpPr>
            <a:spLocks xmlns:a="http://schemas.openxmlformats.org/drawingml/2006/main" noGrp="1"/>
          </p:cNvSpPr>
          <p:nvPr/>
        </p:nvSpPr>
        <p:spPr>
          <a:xfrm xmlns:a="http://schemas.openxmlformats.org/drawingml/2006/main">
            <a:off x="7372350" y="3867150"/>
            <a:ext cx="1828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3(b)</a:t>
            </a:r>
          </a:p>
        </p:txBody>
      </p:sp>
      <p:sp>
        <p:nvSpPr>
          <p:cNvPr id="28" name="">
            <a:extLst xmlns:a="http://schemas.openxmlformats.org/drawingml/2006/main">
              <a:ext uri="{FF2B5EF4-FFF2-40B4-BE49-F238E27FC236}">
                <a16:creationId xmlns:a16="http://schemas.microsoft.com/office/drawing/2014/main" id="{162809FB-5BA1-403C-80A6-F7A9631AF96F}"/>
              </a:ext>
            </a:extLst>
          </p:cNvPr>
          <p:cNvSpPr>
            <a:spLocks xmlns:a="http://schemas.openxmlformats.org/drawingml/2006/main" noGrp="1"/>
          </p:cNvSpPr>
          <p:nvPr/>
        </p:nvSpPr>
        <p:spPr>
          <a:xfrm xmlns:a="http://schemas.openxmlformats.org/drawingml/2006/main">
            <a:off x="7362825" y="4200525"/>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86327"/>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Split sibling lists</a:t>
            </a:r>
          </a:p>
          <a:p xmlns:a="http://schemas.openxmlformats.org/drawingml/2006/main">
            <a:pPr algn="ctr">
              <a:lnSpc>
                <a:spcPct val="105000"/>
              </a:lnSpc>
              <a:buNone/>
              <a:defRPr sz="1425" b="0" i="0">
                <a:solidFill>
                  <a:srgbClr val="243B53"/>
                </a:solidFill>
              </a:defRPr>
            </a:pPr>
            <a:r>
              <a:rPr sz="1425" b="0" i="0">
                <a:solidFill>
                  <a:srgbClr val="243B53"/>
                </a:solidFill>
              </a:rPr>
              <a:t>Transfer ownership</a:t>
            </a:r>
          </a:p>
          <a:p xmlns:a="http://schemas.openxmlformats.org/drawingml/2006/main">
            <a:pPr algn="ctr">
              <a:lnSpc>
                <a:spcPct val="105000"/>
              </a:lnSpc>
              <a:buNone/>
              <a:defRPr sz="1425" b="0" i="0">
                <a:solidFill>
                  <a:srgbClr val="243B53"/>
                </a:solidFill>
              </a:defRPr>
            </a:pPr>
            <a:r>
              <a:rPr sz="1425" b="0" i="0">
                <a:solidFill>
                  <a:srgbClr val="243B53"/>
                </a:solidFill>
              </a:rPr>
              <a:t>when needed</a:t>
            </a:r>
          </a:p>
        </p:txBody>
      </p:sp>
      <p:sp>
        <p:nvSpPr>
          <p:cNvPr id="29" name="">
            <a:extLst xmlns:a="http://schemas.openxmlformats.org/drawingml/2006/main">
              <a:ext uri="{FF2B5EF4-FFF2-40B4-BE49-F238E27FC236}">
                <a16:creationId xmlns:a16="http://schemas.microsoft.com/office/drawing/2014/main" id="{58DC98A9-2136-4218-B1AF-2D7EBDED788B}"/>
              </a:ext>
            </a:extLst>
          </p:cNvPr>
          <p:cNvSpPr>
            <a:spLocks xmlns:a="http://schemas.openxmlformats.org/drawingml/2006/main" noGrp="1"/>
          </p:cNvSpPr>
          <p:nvPr/>
        </p:nvSpPr>
        <p:spPr>
          <a:xfrm xmlns:a="http://schemas.openxmlformats.org/drawingml/2006/main">
            <a:off x="9486900" y="3790950"/>
            <a:ext cx="1981200" cy="1085850"/>
          </a:xfrm>
          <a:prstGeom xmlns:a="http://schemas.openxmlformats.org/drawingml/2006/main" prst="roundRect">
            <a:avLst>
              <a:gd name="adj" fmla="val 5263"/>
            </a:avLst>
          </a:prstGeom>
          <a:solidFill xmlns:a="http://schemas.openxmlformats.org/drawingml/2006/main">
            <a:srgbClr val="E8F5F3"/>
          </a:solidFill>
          <a:ln xmlns:a="http://schemas.openxmlformats.org/drawingml/2006/main" w="11430">
            <a:solidFill>
              <a:srgbClr val="52606D"/>
            </a:solidFill>
            <a:prstDash val="solid"/>
          </a:ln>
        </p:spPr>
      </p:sp>
      <p:sp>
        <p:nvSpPr>
          <p:cNvPr id="30" name="">
            <a:extLst xmlns:a="http://schemas.openxmlformats.org/drawingml/2006/main">
              <a:ext uri="{FF2B5EF4-FFF2-40B4-BE49-F238E27FC236}">
                <a16:creationId xmlns:a16="http://schemas.microsoft.com/office/drawing/2014/main" id="{5CC01455-B70C-41EF-BB48-1430AB928010}"/>
              </a:ext>
            </a:extLst>
          </p:cNvPr>
          <p:cNvSpPr>
            <a:spLocks xmlns:a="http://schemas.openxmlformats.org/drawingml/2006/main" noGrp="1"/>
          </p:cNvSpPr>
          <p:nvPr/>
        </p:nvSpPr>
        <p:spPr>
          <a:xfrm xmlns:a="http://schemas.openxmlformats.org/drawingml/2006/main">
            <a:off x="9563100" y="3867150"/>
            <a:ext cx="1828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1" i="0">
                <a:solidFill>
                  <a:srgbClr val="102A43"/>
                </a:solidFill>
              </a:defRPr>
            </a:pPr>
            <a:r>
              <a:rPr sz="1650" b="1" i="0">
                <a:solidFill>
                  <a:srgbClr val="102A43"/>
                </a:solidFill>
              </a:rPr>
              <a:t>Step 3(c)</a:t>
            </a:r>
          </a:p>
        </p:txBody>
      </p:sp>
      <p:sp>
        <p:nvSpPr>
          <p:cNvPr id="31" name="">
            <a:extLst xmlns:a="http://schemas.openxmlformats.org/drawingml/2006/main">
              <a:ext uri="{FF2B5EF4-FFF2-40B4-BE49-F238E27FC236}">
                <a16:creationId xmlns:a16="http://schemas.microsoft.com/office/drawing/2014/main" id="{D8D9A04A-BB16-4097-AC23-597B5A592A53}"/>
              </a:ext>
            </a:extLst>
          </p:cNvPr>
          <p:cNvSpPr>
            <a:spLocks xmlns:a="http://schemas.openxmlformats.org/drawingml/2006/main" noGrp="1"/>
          </p:cNvSpPr>
          <p:nvPr/>
        </p:nvSpPr>
        <p:spPr>
          <a:xfrm xmlns:a="http://schemas.openxmlformats.org/drawingml/2006/main">
            <a:off x="9553575" y="4200525"/>
            <a:ext cx="1847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243B53"/>
                </a:solidFill>
              </a:defRPr>
            </a:pPr>
            <a:r>
              <a:rPr sz="1425" b="0" i="0">
                <a:solidFill>
                  <a:srgbClr val="243B53"/>
                </a:solidFill>
              </a:rPr>
              <a:t>Insert zᵢ into the</a:t>
            </a:r>
          </a:p>
          <a:p xmlns:a="http://schemas.openxmlformats.org/drawingml/2006/main">
            <a:pPr algn="ctr">
              <a:lnSpc>
                <a:spcPct val="105000"/>
              </a:lnSpc>
              <a:buNone/>
              <a:defRPr sz="1425" b="0" i="0">
                <a:solidFill>
                  <a:srgbClr val="243B53"/>
                </a:solidFill>
              </a:defRPr>
            </a:pPr>
            <a:r>
              <a:rPr sz="1425" b="0" i="0">
                <a:solidFill>
                  <a:srgbClr val="243B53"/>
                </a:solidFill>
              </a:rPr>
              <a:t>maintained sorted list</a:t>
            </a:r>
          </a:p>
        </p:txBody>
      </p:sp>
      <p:cxnSp>
        <p:nvCxnSpPr>
          <p:cNvPr id="76" name=""/>
          <p:cNvCxnSpPr>
            <a:stCxn xmlns:a="http://schemas.openxmlformats.org/drawingml/2006/main" id="17" idx="3"/>
            <a:endCxn xmlns:a="http://schemas.openxmlformats.org/drawingml/2006/main" id="20" idx="1"/>
          </p:cNvCxnSpPr>
          <p:nvPr/>
        </p:nvCxnSpPr>
        <p:spPr>
          <a:xfrm xmlns:a="http://schemas.openxmlformats.org/drawingml/2006/main">
            <a:off x="2705100" y="4333875"/>
            <a:ext cx="209550" cy="0"/>
          </a:xfrm>
          <a:prstGeom xmlns:a="http://schemas.openxmlformats.org/drawingml/2006/main" prst="straightConnector1">
            <a:avLst/>
          </a:prstGeom>
          <a:ln xmlns:a="http://schemas.openxmlformats.org/drawingml/2006/main" w="19050">
            <a:solidFill>
              <a:srgbClr val="2A9D8F"/>
            </a:solidFill>
            <a:prstDash val="solid"/>
            <a:tailEnd type="arrow" w="sm" len="sm"/>
          </a:ln>
        </p:spPr>
      </p:cxnSp>
      <p:cxnSp>
        <p:nvCxnSpPr>
          <p:cNvPr id="77" name=""/>
          <p:cNvCxnSpPr>
            <a:stCxn xmlns:a="http://schemas.openxmlformats.org/drawingml/2006/main" id="20" idx="3"/>
            <a:endCxn xmlns:a="http://schemas.openxmlformats.org/drawingml/2006/main" id="23" idx="1"/>
          </p:cNvCxnSpPr>
          <p:nvPr/>
        </p:nvCxnSpPr>
        <p:spPr>
          <a:xfrm xmlns:a="http://schemas.openxmlformats.org/drawingml/2006/main">
            <a:off x="4895850" y="4333875"/>
            <a:ext cx="209550" cy="0"/>
          </a:xfrm>
          <a:prstGeom xmlns:a="http://schemas.openxmlformats.org/drawingml/2006/main" prst="straightConnector1">
            <a:avLst/>
          </a:prstGeom>
          <a:ln xmlns:a="http://schemas.openxmlformats.org/drawingml/2006/main" w="19050">
            <a:solidFill>
              <a:srgbClr val="2A9D8F"/>
            </a:solidFill>
            <a:prstDash val="solid"/>
            <a:tailEnd type="arrow" w="sm" len="sm"/>
          </a:ln>
        </p:spPr>
      </p:cxnSp>
      <p:cxnSp>
        <p:nvCxnSpPr>
          <p:cNvPr id="78" name=""/>
          <p:cNvCxnSpPr>
            <a:stCxn xmlns:a="http://schemas.openxmlformats.org/drawingml/2006/main" id="23" idx="3"/>
            <a:endCxn xmlns:a="http://schemas.openxmlformats.org/drawingml/2006/main" id="26" idx="1"/>
          </p:cNvCxnSpPr>
          <p:nvPr/>
        </p:nvCxnSpPr>
        <p:spPr>
          <a:xfrm xmlns:a="http://schemas.openxmlformats.org/drawingml/2006/main">
            <a:off x="7086600" y="4333875"/>
            <a:ext cx="209550" cy="0"/>
          </a:xfrm>
          <a:prstGeom xmlns:a="http://schemas.openxmlformats.org/drawingml/2006/main" prst="straightConnector1">
            <a:avLst/>
          </a:prstGeom>
          <a:ln xmlns:a="http://schemas.openxmlformats.org/drawingml/2006/main" w="19050">
            <a:solidFill>
              <a:srgbClr val="2A9D8F"/>
            </a:solidFill>
            <a:prstDash val="solid"/>
            <a:tailEnd type="arrow" w="sm" len="sm"/>
          </a:ln>
        </p:spPr>
      </p:cxnSp>
      <p:cxnSp>
        <p:nvCxnSpPr>
          <p:cNvPr id="79" name=""/>
          <p:cNvCxnSpPr>
            <a:stCxn xmlns:a="http://schemas.openxmlformats.org/drawingml/2006/main" id="26" idx="3"/>
            <a:endCxn xmlns:a="http://schemas.openxmlformats.org/drawingml/2006/main" id="29" idx="1"/>
          </p:cNvCxnSpPr>
          <p:nvPr/>
        </p:nvCxnSpPr>
        <p:spPr>
          <a:xfrm xmlns:a="http://schemas.openxmlformats.org/drawingml/2006/main">
            <a:off x="9277350" y="4333875"/>
            <a:ext cx="209550" cy="0"/>
          </a:xfrm>
          <a:prstGeom xmlns:a="http://schemas.openxmlformats.org/drawingml/2006/main" prst="straightConnector1">
            <a:avLst/>
          </a:prstGeom>
          <a:ln xmlns:a="http://schemas.openxmlformats.org/drawingml/2006/main" w="19050">
            <a:solidFill>
              <a:srgbClr val="2A9D8F"/>
            </a:solidFill>
            <a:prstDash val="solid"/>
            <a:tailEnd type="arrow" w="sm" len="sm"/>
          </a:ln>
        </p:spPr>
      </p:cxnSp>
      <p:sp>
        <p:nvSpPr>
          <p:cNvPr id="36" name="">
            <a:extLst xmlns:a="http://schemas.openxmlformats.org/drawingml/2006/main">
              <a:ext uri="{FF2B5EF4-FFF2-40B4-BE49-F238E27FC236}">
                <a16:creationId xmlns:a16="http://schemas.microsoft.com/office/drawing/2014/main" id="{129A9B72-B986-478F-98F6-478AA3144797}"/>
              </a:ext>
            </a:extLst>
          </p:cNvPr>
          <p:cNvSpPr>
            <a:spLocks xmlns:a="http://schemas.openxmlformats.org/drawingml/2006/main" noGrp="1"/>
          </p:cNvSpPr>
          <p:nvPr/>
        </p:nvSpPr>
        <p:spPr>
          <a:xfrm xmlns:a="http://schemas.openxmlformats.org/drawingml/2006/main">
            <a:off x="723900" y="4972050"/>
            <a:ext cx="10744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0703"/>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Step 1 → Aᵢ and Step 2 → Bᵢ in both orientations</a:t>
            </a:r>
          </a:p>
        </p:txBody>
      </p:sp>
      <p:sp>
        <p:nvSpPr>
          <p:cNvPr id="37" name="">
            <a:extLst xmlns:a="http://schemas.openxmlformats.org/drawingml/2006/main">
              <a:ext uri="{FF2B5EF4-FFF2-40B4-BE49-F238E27FC236}">
                <a16:creationId xmlns:a16="http://schemas.microsoft.com/office/drawing/2014/main" id="{565F6442-1C19-4DE8-B6D0-DA2E0439FADC}"/>
              </a:ext>
            </a:extLst>
          </p:cNvPr>
          <p:cNvSpPr>
            <a:spLocks xmlns:a="http://schemas.openxmlformats.org/drawingml/2006/main" noGrp="1"/>
          </p:cNvSpPr>
          <p:nvPr/>
        </p:nvSpPr>
        <p:spPr>
          <a:xfrm xmlns:a="http://schemas.openxmlformats.org/drawingml/2006/main">
            <a:off x="723900" y="5257800"/>
            <a:ext cx="10744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500" b="0" i="0">
                <a:solidFill>
                  <a:srgbClr val="52606D"/>
                </a:solidFill>
              </a:defRPr>
            </a:pPr>
            <a:r>
              <a:rPr sz="1500" b="0" i="0">
                <a:solidFill>
                  <a:srgbClr val="52606D"/>
                </a:solidFill>
              </a:rPr>
              <a:t>Increasing: 3(a) uses Aᵢ, 3(b) uses Bᵢ. Decreasing swaps these uses and reflects left/right operations.</a:t>
            </a:r>
          </a:p>
        </p:txBody>
      </p:sp>
      <p:sp>
        <p:nvSpPr>
          <p:cNvPr id="38" name="">
            <a:extLst xmlns:a="http://schemas.openxmlformats.org/drawingml/2006/main">
              <a:ext uri="{FF2B5EF4-FFF2-40B4-BE49-F238E27FC236}">
                <a16:creationId xmlns:a16="http://schemas.microsoft.com/office/drawing/2014/main" id="{B852126A-6BEA-4FA7-B5DB-D53A6335F329}"/>
              </a:ext>
            </a:extLst>
          </p:cNvPr>
          <p:cNvSpPr>
            <a:spLocks xmlns:a="http://schemas.openxmlformats.org/drawingml/2006/main" noGrp="1"/>
          </p:cNvSpPr>
          <p:nvPr/>
        </p:nvSpPr>
        <p:spPr>
          <a:xfrm xmlns:a="http://schemas.openxmlformats.org/drawingml/2006/main">
            <a:off x="723900" y="5657850"/>
            <a:ext cx="107442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1896"/>
          </a:bodyPr>
          <a:lstStyle xmlns:a="http://schemas.openxmlformats.org/drawingml/2006/main"/>
          <a:p xmlns:a="http://schemas.openxmlformats.org/drawingml/2006/main">
            <a:pPr algn="l">
              <a:lnSpc>
                <a:spcPct val="105000"/>
              </a:lnSpc>
              <a:buNone/>
              <a:defRPr sz="1425" b="0" i="0">
                <a:solidFill>
                  <a:srgbClr val="7B8794"/>
                </a:solidFill>
              </a:defRPr>
            </a:pPr>
            <a:r>
              <a:rPr sz="1425" b="0" i="0">
                <a:solidFill>
                  <a:srgbClr val="7B8794"/>
                </a:solidFill>
              </a:rPr>
              <a:t>How the reconstruction is justified (categories, not algorithm stages)</a:t>
            </a:r>
          </a:p>
        </p:txBody>
      </p:sp>
      <p:sp>
        <p:nvSpPr>
          <p:cNvPr id="39" name="">
            <a:extLst xmlns:a="http://schemas.openxmlformats.org/drawingml/2006/main">
              <a:ext uri="{FF2B5EF4-FFF2-40B4-BE49-F238E27FC236}">
                <a16:creationId xmlns:a16="http://schemas.microsoft.com/office/drawing/2014/main" id="{D38BB99B-1E7A-41D4-9644-0DD3317DDB47}"/>
              </a:ext>
            </a:extLst>
          </p:cNvPr>
          <p:cNvSpPr>
            <a:spLocks xmlns:a="http://schemas.openxmlformats.org/drawingml/2006/main" noGrp="1"/>
          </p:cNvSpPr>
          <p:nvPr/>
        </p:nvSpPr>
        <p:spPr>
          <a:xfrm xmlns:a="http://schemas.openxmlformats.org/drawingml/2006/main">
            <a:off x="723900" y="6000750"/>
            <a:ext cx="3429000" cy="381000"/>
          </a:xfrm>
          <a:prstGeom xmlns:a="http://schemas.openxmlformats.org/drawingml/2006/main" prst="roundRect">
            <a:avLst>
              <a:gd name="adj" fmla="val 15000"/>
            </a:avLst>
          </a:prstGeom>
          <a:solidFill xmlns:a="http://schemas.openxmlformats.org/drawingml/2006/main">
            <a:srgbClr val="EAF1F8"/>
          </a:solidFill>
          <a:ln xmlns:a="http://schemas.openxmlformats.org/drawingml/2006/main" w="11430">
            <a:solidFill>
              <a:srgbClr val="102A43"/>
            </a:solidFill>
            <a:prstDash val="solid"/>
          </a:ln>
        </p:spPr>
      </p:sp>
      <p:sp>
        <p:nvSpPr>
          <p:cNvPr id="40" name="">
            <a:extLst xmlns:a="http://schemas.openxmlformats.org/drawingml/2006/main">
              <a:ext uri="{FF2B5EF4-FFF2-40B4-BE49-F238E27FC236}">
                <a16:creationId xmlns:a16="http://schemas.microsoft.com/office/drawing/2014/main" id="{5C69A08B-4432-4A48-8C59-3293A936EEAE}"/>
              </a:ext>
            </a:extLst>
          </p:cNvPr>
          <p:cNvSpPr>
            <a:spLocks xmlns:a="http://schemas.openxmlformats.org/drawingml/2006/main" noGrp="1"/>
          </p:cNvSpPr>
          <p:nvPr/>
        </p:nvSpPr>
        <p:spPr>
          <a:xfrm xmlns:a="http://schemas.openxmlformats.org/drawingml/2006/main">
            <a:off x="800100" y="6038850"/>
            <a:ext cx="3276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Explicit source rules</a:t>
            </a:r>
          </a:p>
        </p:txBody>
      </p:sp>
      <p:sp>
        <p:nvSpPr>
          <p:cNvPr id="41" name="">
            <a:extLst xmlns:a="http://schemas.openxmlformats.org/drawingml/2006/main">
              <a:ext uri="{FF2B5EF4-FFF2-40B4-BE49-F238E27FC236}">
                <a16:creationId xmlns:a16="http://schemas.microsoft.com/office/drawing/2014/main" id="{A37DF325-BAFF-4F8C-A045-53970BCEDC2A}"/>
              </a:ext>
            </a:extLst>
          </p:cNvPr>
          <p:cNvSpPr>
            <a:spLocks xmlns:a="http://schemas.openxmlformats.org/drawingml/2006/main" noGrp="1"/>
          </p:cNvSpPr>
          <p:nvPr/>
        </p:nvSpPr>
        <p:spPr>
          <a:xfrm xmlns:a="http://schemas.openxmlformats.org/drawingml/2006/main">
            <a:off x="4381500" y="6000750"/>
            <a:ext cx="3429000" cy="381000"/>
          </a:xfrm>
          <a:prstGeom xmlns:a="http://schemas.openxmlformats.org/drawingml/2006/main" prst="roundRect">
            <a:avLst>
              <a:gd name="adj" fmla="val 15000"/>
            </a:avLst>
          </a:prstGeom>
          <a:solidFill xmlns:a="http://schemas.openxmlformats.org/drawingml/2006/main">
            <a:srgbClr val="E8F5F3"/>
          </a:solidFill>
          <a:ln xmlns:a="http://schemas.openxmlformats.org/drawingml/2006/main" w="11430">
            <a:solidFill>
              <a:srgbClr val="2A9D8F"/>
            </a:solidFill>
            <a:prstDash val="solid"/>
          </a:ln>
        </p:spPr>
      </p:sp>
      <p:sp>
        <p:nvSpPr>
          <p:cNvPr id="42" name="">
            <a:extLst xmlns:a="http://schemas.openxmlformats.org/drawingml/2006/main">
              <a:ext uri="{FF2B5EF4-FFF2-40B4-BE49-F238E27FC236}">
                <a16:creationId xmlns:a16="http://schemas.microsoft.com/office/drawing/2014/main" id="{F1C1FEBB-AD32-4AA8-A4F8-EF74F4B31515}"/>
              </a:ext>
            </a:extLst>
          </p:cNvPr>
          <p:cNvSpPr>
            <a:spLocks xmlns:a="http://schemas.openxmlformats.org/drawingml/2006/main" noGrp="1"/>
          </p:cNvSpPr>
          <p:nvPr/>
        </p:nvSpPr>
        <p:spPr>
          <a:xfrm xmlns:a="http://schemas.openxmlformats.org/drawingml/2006/main">
            <a:off x="4457700" y="6038850"/>
            <a:ext cx="3276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ctr">
              <a:lnSpc>
                <a:spcPct val="105000"/>
              </a:lnSpc>
              <a:buNone/>
              <a:defRPr sz="1575" b="1" i="0">
                <a:solidFill>
                  <a:srgbClr val="2A9D8F"/>
                </a:solidFill>
              </a:defRPr>
            </a:pPr>
            <a:r>
              <a:rPr sz="1575" b="1" i="0">
                <a:solidFill>
                  <a:srgbClr val="2A9D8F"/>
                </a:solidFill>
              </a:rPr>
              <a:t>Symmetric reconstruction</a:t>
            </a:r>
          </a:p>
        </p:txBody>
      </p:sp>
      <p:sp>
        <p:nvSpPr>
          <p:cNvPr id="43" name="">
            <a:extLst xmlns:a="http://schemas.openxmlformats.org/drawingml/2006/main">
              <a:ext uri="{FF2B5EF4-FFF2-40B4-BE49-F238E27FC236}">
                <a16:creationId xmlns:a16="http://schemas.microsoft.com/office/drawing/2014/main" id="{593E46BE-BE30-4FE5-A9E4-40AD37AE9D68}"/>
              </a:ext>
            </a:extLst>
          </p:cNvPr>
          <p:cNvSpPr>
            <a:spLocks xmlns:a="http://schemas.openxmlformats.org/drawingml/2006/main" noGrp="1"/>
          </p:cNvSpPr>
          <p:nvPr/>
        </p:nvSpPr>
        <p:spPr>
          <a:xfrm xmlns:a="http://schemas.openxmlformats.org/drawingml/2006/main">
            <a:off x="8039100" y="6000750"/>
            <a:ext cx="3429000" cy="381000"/>
          </a:xfrm>
          <a:prstGeom xmlns:a="http://schemas.openxmlformats.org/drawingml/2006/main" prst="roundRect">
            <a:avLst>
              <a:gd name="adj" fmla="val 15000"/>
            </a:avLst>
          </a:prstGeom>
          <a:solidFill xmlns:a="http://schemas.openxmlformats.org/drawingml/2006/main">
            <a:srgbClr val="FCEEEA"/>
          </a:solidFill>
          <a:ln xmlns:a="http://schemas.openxmlformats.org/drawingml/2006/main" w="11430">
            <a:solidFill>
              <a:srgbClr val="E76F51"/>
            </a:solidFill>
            <a:prstDash val="solid"/>
          </a:ln>
        </p:spPr>
      </p:sp>
      <p:sp>
        <p:nvSpPr>
          <p:cNvPr id="44" name="">
            <a:extLst xmlns:a="http://schemas.openxmlformats.org/drawingml/2006/main">
              <a:ext uri="{FF2B5EF4-FFF2-40B4-BE49-F238E27FC236}">
                <a16:creationId xmlns:a16="http://schemas.microsoft.com/office/drawing/2014/main" id="{DB753973-9222-4A6B-8701-8DFC49E1E096}"/>
              </a:ext>
            </a:extLst>
          </p:cNvPr>
          <p:cNvSpPr>
            <a:spLocks xmlns:a="http://schemas.openxmlformats.org/drawingml/2006/main" noGrp="1"/>
          </p:cNvSpPr>
          <p:nvPr/>
        </p:nvSpPr>
        <p:spPr>
          <a:xfrm xmlns:a="http://schemas.openxmlformats.org/drawingml/2006/main">
            <a:off x="8115300" y="6038850"/>
            <a:ext cx="3276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ctr">
              <a:lnSpc>
                <a:spcPct val="105000"/>
              </a:lnSpc>
              <a:buNone/>
              <a:defRPr sz="1575" b="1" i="0">
                <a:solidFill>
                  <a:srgbClr val="E76F51"/>
                </a:solidFill>
              </a:defRPr>
            </a:pPr>
            <a:r>
              <a:rPr sz="1575" b="1" i="0">
                <a:solidFill>
                  <a:srgbClr val="E76F51"/>
                </a:solidFill>
              </a:rPr>
              <a:t>Executable clarifications</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F28717F8-6364-42D5-8AFD-33ED84F1AB13}"/>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a:t>
            </a:r>
          </a:p>
        </p:txBody>
      </p:sp>
      <p:sp>
        <p:nvSpPr>
          <p:cNvPr id="2" name="">
            <a:extLst xmlns:a="http://schemas.openxmlformats.org/drawingml/2006/main">
              <a:ext uri="{FF2B5EF4-FFF2-40B4-BE49-F238E27FC236}">
                <a16:creationId xmlns:a16="http://schemas.microsoft.com/office/drawing/2014/main" id="{4D6D0C4C-7CF2-4E35-B0A2-B7823FFE8DD3}"/>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From S₃ to S₄: the geometric insertion anchor</a:t>
            </a:r>
          </a:p>
        </p:txBody>
      </p:sp>
      <p:sp>
        <p:nvSpPr>
          <p:cNvPr id="3" name="">
            <a:extLst xmlns:a="http://schemas.openxmlformats.org/drawingml/2006/main">
              <a:ext uri="{FF2B5EF4-FFF2-40B4-BE49-F238E27FC236}">
                <a16:creationId xmlns:a16="http://schemas.microsoft.com/office/drawing/2014/main" id="{C47A5201-FCF0-406C-A787-C36FEF1E6B8D}"/>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E4EB36E4-B305-4148-875B-896EB5926A87}"/>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22C0E52D-1566-468E-A609-5679CBA567AC}"/>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05E55B9-8AE7-4DBA-909E-2CD06A41A604}"/>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8 / 16</a:t>
            </a:r>
          </a:p>
        </p:txBody>
      </p:sp>
      <p:sp>
        <p:nvSpPr>
          <p:cNvPr id="7" name="">
            <a:extLst xmlns:a="http://schemas.openxmlformats.org/drawingml/2006/main">
              <a:ext uri="{FF2B5EF4-FFF2-40B4-BE49-F238E27FC236}">
                <a16:creationId xmlns:a16="http://schemas.microsoft.com/office/drawing/2014/main" id="{2DB50161-77E6-4E98-B408-567635513AD6}"/>
              </a:ext>
            </a:extLst>
          </p:cNvPr>
          <p:cNvSpPr>
            <a:spLocks xmlns:a="http://schemas.openxmlformats.org/drawingml/2006/main" noGrp="1"/>
          </p:cNvSpPr>
          <p:nvPr/>
        </p:nvSpPr>
        <p:spPr>
          <a:xfrm xmlns:a="http://schemas.openxmlformats.org/drawingml/2006/main">
            <a:off x="723900" y="1314450"/>
            <a:ext cx="107442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Input in curve order: (z₁, z₂, z₃, z₄) = (3, 2, 1, 4)</a:t>
            </a:r>
          </a:p>
        </p:txBody>
      </p:sp>
      <p:sp>
        <p:nvSpPr>
          <p:cNvPr id="8" name="">
            <a:extLst xmlns:a="http://schemas.openxmlformats.org/drawingml/2006/main">
              <a:ext uri="{FF2B5EF4-FFF2-40B4-BE49-F238E27FC236}">
                <a16:creationId xmlns:a16="http://schemas.microsoft.com/office/drawing/2014/main" id="{7811189C-6841-4F69-9166-ADE7BBD292ED}"/>
              </a:ext>
            </a:extLst>
          </p:cNvPr>
          <p:cNvSpPr>
            <a:spLocks xmlns:a="http://schemas.openxmlformats.org/drawingml/2006/main" noGrp="1"/>
          </p:cNvSpPr>
          <p:nvPr/>
        </p:nvSpPr>
        <p:spPr>
          <a:xfrm xmlns:a="http://schemas.openxmlformats.org/drawingml/2006/main">
            <a:off x="723900" y="1790700"/>
            <a:ext cx="6572250" cy="1066800"/>
          </a:xfrm>
          <a:prstGeom xmlns:a="http://schemas.openxmlformats.org/drawingml/2006/main" prst="roundRect">
            <a:avLst>
              <a:gd name="adj" fmla="val 5357"/>
            </a:avLst>
          </a:prstGeom>
          <a:solidFill xmlns:a="http://schemas.openxmlformats.org/drawingml/2006/main">
            <a:srgbClr val="EAF1F8"/>
          </a:solidFill>
          <a:ln xmlns:a="http://schemas.openxmlformats.org/drawingml/2006/main" w="11430">
            <a:solidFill>
              <a:srgbClr val="52606D"/>
            </a:solidFill>
            <a:prstDash val="solid"/>
          </a:ln>
        </p:spPr>
      </p:sp>
      <p:sp>
        <p:nvSpPr>
          <p:cNvPr id="9" name="">
            <a:extLst xmlns:a="http://schemas.openxmlformats.org/drawingml/2006/main">
              <a:ext uri="{FF2B5EF4-FFF2-40B4-BE49-F238E27FC236}">
                <a16:creationId xmlns:a16="http://schemas.microsoft.com/office/drawing/2014/main" id="{FC447D55-B8F2-4D04-81F0-B3CA68CE20D1}"/>
              </a:ext>
            </a:extLst>
          </p:cNvPr>
          <p:cNvSpPr>
            <a:spLocks xmlns:a="http://schemas.openxmlformats.org/drawingml/2006/main" noGrp="1"/>
          </p:cNvSpPr>
          <p:nvPr/>
        </p:nvSpPr>
        <p:spPr>
          <a:xfrm xmlns:a="http://schemas.openxmlformats.org/drawingml/2006/main">
            <a:off x="876300" y="1885950"/>
            <a:ext cx="62674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102A43"/>
                </a:solidFill>
              </a:defRPr>
            </a:pPr>
            <a:r>
              <a:rPr sz="1875" b="1" i="0">
                <a:solidFill>
                  <a:srgbClr val="102A43"/>
                </a:solidFill>
              </a:rPr>
              <a:t>After initialization: S₃ = [1, 2, 3]</a:t>
            </a:r>
          </a:p>
        </p:txBody>
      </p:sp>
      <p:sp>
        <p:nvSpPr>
          <p:cNvPr id="10" name="">
            <a:extLst xmlns:a="http://schemas.openxmlformats.org/drawingml/2006/main">
              <a:ext uri="{FF2B5EF4-FFF2-40B4-BE49-F238E27FC236}">
                <a16:creationId xmlns:a16="http://schemas.microsoft.com/office/drawing/2014/main" id="{5661298C-3E79-4B34-B85A-A5385FF67EF7}"/>
              </a:ext>
            </a:extLst>
          </p:cNvPr>
          <p:cNvSpPr>
            <a:spLocks xmlns:a="http://schemas.openxmlformats.org/drawingml/2006/main" noGrp="1"/>
          </p:cNvSpPr>
          <p:nvPr/>
        </p:nvSpPr>
        <p:spPr>
          <a:xfrm xmlns:a="http://schemas.openxmlformats.org/drawingml/2006/main">
            <a:off x="876300" y="2381250"/>
            <a:ext cx="6267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52606D"/>
                </a:solidFill>
              </a:defRPr>
            </a:pPr>
            <a:r>
              <a:rPr sz="1650" b="0" i="0">
                <a:solidFill>
                  <a:srgbClr val="52606D"/>
                </a:solidFill>
              </a:rPr>
              <a:t>Point IDs: [z₃, z₂, z₁]. Curve labels stay unchanged.</a:t>
            </a:r>
          </a:p>
        </p:txBody>
      </p:sp>
      <p:sp>
        <p:nvSpPr>
          <p:cNvPr id="11" name="">
            <a:extLst xmlns:a="http://schemas.openxmlformats.org/drawingml/2006/main">
              <a:ext uri="{FF2B5EF4-FFF2-40B4-BE49-F238E27FC236}">
                <a16:creationId xmlns:a16="http://schemas.microsoft.com/office/drawing/2014/main" id="{A34CFB9A-19FA-4EB0-AC57-56137A9AFC07}"/>
              </a:ext>
            </a:extLst>
          </p:cNvPr>
          <p:cNvSpPr>
            <a:spLocks xmlns:a="http://schemas.openxmlformats.org/drawingml/2006/main" noGrp="1"/>
          </p:cNvSpPr>
          <p:nvPr/>
        </p:nvSpPr>
        <p:spPr>
          <a:xfrm xmlns:a="http://schemas.openxmlformats.org/drawingml/2006/main">
            <a:off x="7524750" y="1790700"/>
            <a:ext cx="3943350" cy="1066800"/>
          </a:xfrm>
          <a:prstGeom xmlns:a="http://schemas.openxmlformats.org/drawingml/2006/main" prst="roundRect">
            <a:avLst>
              <a:gd name="adj" fmla="val 5357"/>
            </a:avLst>
          </a:prstGeom>
          <a:solidFill xmlns:a="http://schemas.openxmlformats.org/drawingml/2006/main">
            <a:srgbClr val="E8F5F3"/>
          </a:solidFill>
          <a:ln xmlns:a="http://schemas.openxmlformats.org/drawingml/2006/main" w="11430">
            <a:solidFill>
              <a:srgbClr val="2A9D8F"/>
            </a:solidFill>
            <a:prstDash val="solid"/>
          </a:ln>
        </p:spPr>
      </p:sp>
      <p:sp>
        <p:nvSpPr>
          <p:cNvPr id="12" name="">
            <a:extLst xmlns:a="http://schemas.openxmlformats.org/drawingml/2006/main">
              <a:ext uri="{FF2B5EF4-FFF2-40B4-BE49-F238E27FC236}">
                <a16:creationId xmlns:a16="http://schemas.microsoft.com/office/drawing/2014/main" id="{E9A38DD9-2C1D-46FA-82AD-F8D23AB72815}"/>
              </a:ext>
            </a:extLst>
          </p:cNvPr>
          <p:cNvSpPr>
            <a:spLocks xmlns:a="http://schemas.openxmlformats.org/drawingml/2006/main" noGrp="1"/>
          </p:cNvSpPr>
          <p:nvPr/>
        </p:nvSpPr>
        <p:spPr>
          <a:xfrm xmlns:a="http://schemas.openxmlformats.org/drawingml/2006/main">
            <a:off x="7677150" y="1885950"/>
            <a:ext cx="36385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75" b="1" i="0">
                <a:solidFill>
                  <a:srgbClr val="2A9D8F"/>
                </a:solidFill>
              </a:defRPr>
            </a:pPr>
            <a:r>
              <a:rPr sz="1875" b="1" i="0">
                <a:solidFill>
                  <a:srgbClr val="2A9D8F"/>
                </a:solidFill>
              </a:rPr>
              <a:t>Now process z₄ = 4</a:t>
            </a:r>
          </a:p>
        </p:txBody>
      </p:sp>
      <p:sp>
        <p:nvSpPr>
          <p:cNvPr id="13" name="">
            <a:extLst xmlns:a="http://schemas.openxmlformats.org/drawingml/2006/main">
              <a:ext uri="{FF2B5EF4-FFF2-40B4-BE49-F238E27FC236}">
                <a16:creationId xmlns:a16="http://schemas.microsoft.com/office/drawing/2014/main" id="{F96A8A5E-1CD7-460A-8C76-54F6F27B9F6D}"/>
              </a:ext>
            </a:extLst>
          </p:cNvPr>
          <p:cNvSpPr>
            <a:spLocks xmlns:a="http://schemas.openxmlformats.org/drawingml/2006/main" noGrp="1"/>
          </p:cNvSpPr>
          <p:nvPr/>
        </p:nvSpPr>
        <p:spPr>
          <a:xfrm xmlns:a="http://schemas.openxmlformats.org/drawingml/2006/main">
            <a:off x="7677150" y="2381250"/>
            <a:ext cx="36385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z₃ = 1 → z₄ = 4: increasing</a:t>
            </a:r>
          </a:p>
        </p:txBody>
      </p:sp>
      <p:sp>
        <p:nvSpPr>
          <p:cNvPr id="14" name="">
            <a:extLst xmlns:a="http://schemas.openxmlformats.org/drawingml/2006/main">
              <a:ext uri="{FF2B5EF4-FFF2-40B4-BE49-F238E27FC236}">
                <a16:creationId xmlns:a16="http://schemas.microsoft.com/office/drawing/2014/main" id="{18E1660C-C0E4-4495-9533-115C4B0A8231}"/>
              </a:ext>
            </a:extLst>
          </p:cNvPr>
          <p:cNvSpPr>
            <a:spLocks xmlns:a="http://schemas.openxmlformats.org/drawingml/2006/main" noGrp="1"/>
          </p:cNvSpPr>
          <p:nvPr/>
        </p:nvSpPr>
        <p:spPr>
          <a:xfrm xmlns:a="http://schemas.openxmlformats.org/drawingml/2006/main">
            <a:off x="723900" y="3086100"/>
            <a:ext cx="23050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After Step 3(b)</a:t>
            </a:r>
          </a:p>
        </p:txBody>
      </p:sp>
      <p:sp>
        <p:nvSpPr>
          <p:cNvPr id="15" name="">
            <a:extLst xmlns:a="http://schemas.openxmlformats.org/drawingml/2006/main">
              <a:ext uri="{FF2B5EF4-FFF2-40B4-BE49-F238E27FC236}">
                <a16:creationId xmlns:a16="http://schemas.microsoft.com/office/drawing/2014/main" id="{AEBE9148-25DF-4F72-8415-FAE76872B394}"/>
              </a:ext>
            </a:extLst>
          </p:cNvPr>
          <p:cNvSpPr>
            <a:spLocks xmlns:a="http://schemas.openxmlformats.org/drawingml/2006/main" noGrp="1"/>
          </p:cNvSpPr>
          <p:nvPr/>
        </p:nvSpPr>
        <p:spPr>
          <a:xfrm xmlns:a="http://schemas.openxmlformats.org/drawingml/2006/main">
            <a:off x="3048000" y="308610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2A9D8F"/>
                </a:solidFill>
              </a:defRPr>
            </a:pPr>
            <a:r>
              <a:rPr sz="1650" b="1" i="0">
                <a:solidFill>
                  <a:srgbClr val="2A9D8F"/>
                </a:solidFill>
              </a:rPr>
              <a:t>New upper P₄ = (z₃, z₄) = (1, 4)</a:t>
            </a:r>
          </a:p>
        </p:txBody>
      </p:sp>
      <p:sp>
        <p:nvSpPr>
          <p:cNvPr id="16" name="">
            <a:extLst xmlns:a="http://schemas.openxmlformats.org/drawingml/2006/main">
              <a:ext uri="{FF2B5EF4-FFF2-40B4-BE49-F238E27FC236}">
                <a16:creationId xmlns:a16="http://schemas.microsoft.com/office/drawing/2014/main" id="{DE2710B5-14EE-40EC-809C-B489E36EBB02}"/>
              </a:ext>
            </a:extLst>
          </p:cNvPr>
          <p:cNvSpPr>
            <a:spLocks xmlns:a="http://schemas.openxmlformats.org/drawingml/2006/main" noGrp="1"/>
          </p:cNvSpPr>
          <p:nvPr/>
        </p:nvSpPr>
        <p:spPr>
          <a:xfrm xmlns:a="http://schemas.openxmlformats.org/drawingml/2006/main">
            <a:off x="7086600" y="3086100"/>
            <a:ext cx="10096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A9D8F"/>
                </a:solidFill>
              </a:defRPr>
            </a:pPr>
            <a:r>
              <a:rPr sz="1650" b="0" i="0">
                <a:solidFill>
                  <a:srgbClr val="2A9D8F"/>
                </a:solidFill>
              </a:rPr>
              <a:t>→ child</a:t>
            </a:r>
          </a:p>
        </p:txBody>
      </p:sp>
      <p:sp>
        <p:nvSpPr>
          <p:cNvPr id="17" name="">
            <a:extLst xmlns:a="http://schemas.openxmlformats.org/drawingml/2006/main">
              <a:ext uri="{FF2B5EF4-FFF2-40B4-BE49-F238E27FC236}">
                <a16:creationId xmlns:a16="http://schemas.microsoft.com/office/drawing/2014/main" id="{87ABCF78-C5E5-4D83-81E2-DEB779F2572A}"/>
              </a:ext>
            </a:extLst>
          </p:cNvPr>
          <p:cNvSpPr>
            <a:spLocks xmlns:a="http://schemas.openxmlformats.org/drawingml/2006/main" noGrp="1"/>
          </p:cNvSpPr>
          <p:nvPr/>
        </p:nvSpPr>
        <p:spPr>
          <a:xfrm xmlns:a="http://schemas.openxmlformats.org/drawingml/2006/main">
            <a:off x="8096250" y="3086100"/>
            <a:ext cx="3371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575" b="1" i="0">
                <a:solidFill>
                  <a:srgbClr val="102A43"/>
                </a:solidFill>
              </a:defRPr>
            </a:pPr>
            <a:r>
              <a:rPr sz="1575" b="1" i="0">
                <a:solidFill>
                  <a:srgbClr val="102A43"/>
                </a:solidFill>
              </a:rPr>
              <a:t>Upper P₂ = (z₁, z₂) = (3, 2)</a:t>
            </a:r>
          </a:p>
        </p:txBody>
      </p:sp>
      <p:sp>
        <p:nvSpPr>
          <p:cNvPr id="18" name="">
            <a:extLst xmlns:a="http://schemas.openxmlformats.org/drawingml/2006/main">
              <a:ext uri="{FF2B5EF4-FFF2-40B4-BE49-F238E27FC236}">
                <a16:creationId xmlns:a16="http://schemas.microsoft.com/office/drawing/2014/main" id="{1A1DC7C4-21F1-4B80-8278-797AA00AE99B}"/>
              </a:ext>
            </a:extLst>
          </p:cNvPr>
          <p:cNvSpPr>
            <a:spLocks xmlns:a="http://schemas.openxmlformats.org/drawingml/2006/main" noGrp="1"/>
          </p:cNvSpPr>
          <p:nvPr/>
        </p:nvSpPr>
        <p:spPr>
          <a:xfrm xmlns:a="http://schemas.openxmlformats.org/drawingml/2006/main">
            <a:off x="723900" y="3552825"/>
            <a:ext cx="107442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618"/>
          </a:bodyPr>
          <a:lstStyle xmlns:a="http://schemas.openxmlformats.org/drawingml/2006/main"/>
          <a:p xmlns:a="http://schemas.openxmlformats.org/drawingml/2006/main">
            <a:pPr algn="ctr">
              <a:lnSpc>
                <a:spcPct val="105000"/>
              </a:lnSpc>
              <a:buNone/>
              <a:defRPr sz="1725" b="1" i="0">
                <a:solidFill>
                  <a:srgbClr val="102A43"/>
                </a:solidFill>
              </a:defRPr>
            </a:pPr>
            <a:r>
              <a:rPr sz="1725" b="1" i="0">
                <a:solidFill>
                  <a:srgbClr val="102A43"/>
                </a:solidFill>
              </a:rPr>
              <a:t>P₄ has child P₂. In this increasing update, use its geometric right endpoint.</a:t>
            </a:r>
          </a:p>
        </p:txBody>
      </p:sp>
      <p:sp>
        <p:nvSpPr>
          <p:cNvPr id="19" name="">
            <a:extLst xmlns:a="http://schemas.openxmlformats.org/drawingml/2006/main">
              <a:ext uri="{FF2B5EF4-FFF2-40B4-BE49-F238E27FC236}">
                <a16:creationId xmlns:a16="http://schemas.microsoft.com/office/drawing/2014/main" id="{3CBE2610-DD0A-4589-B69E-987F48D66A76}"/>
              </a:ext>
            </a:extLst>
          </p:cNvPr>
          <p:cNvSpPr>
            <a:spLocks xmlns:a="http://schemas.openxmlformats.org/drawingml/2006/main" noGrp="1"/>
          </p:cNvSpPr>
          <p:nvPr/>
        </p:nvSpPr>
        <p:spPr>
          <a:xfrm xmlns:a="http://schemas.openxmlformats.org/drawingml/2006/main">
            <a:off x="723900" y="4067175"/>
            <a:ext cx="5257800" cy="1524000"/>
          </a:xfrm>
          <a:prstGeom xmlns:a="http://schemas.openxmlformats.org/drawingml/2006/main" prst="roundRect">
            <a:avLst>
              <a:gd name="adj" fmla="val 5000"/>
            </a:avLst>
          </a:prstGeom>
          <a:solidFill xmlns:a="http://schemas.openxmlformats.org/drawingml/2006/main">
            <a:srgbClr val="FCEEEA"/>
          </a:solidFill>
          <a:ln xmlns:a="http://schemas.openxmlformats.org/drawingml/2006/main" w="19050">
            <a:solidFill>
              <a:srgbClr val="E76F51"/>
            </a:solidFill>
            <a:prstDash val="solid"/>
          </a:ln>
        </p:spPr>
      </p:sp>
      <p:sp>
        <p:nvSpPr>
          <p:cNvPr id="20" name="">
            <a:extLst xmlns:a="http://schemas.openxmlformats.org/drawingml/2006/main">
              <a:ext uri="{FF2B5EF4-FFF2-40B4-BE49-F238E27FC236}">
                <a16:creationId xmlns:a16="http://schemas.microsoft.com/office/drawing/2014/main" id="{85EB64CA-5098-44AF-A866-3AE7367D131F}"/>
              </a:ext>
            </a:extLst>
          </p:cNvPr>
          <p:cNvSpPr>
            <a:spLocks xmlns:a="http://schemas.openxmlformats.org/drawingml/2006/main" noGrp="1"/>
          </p:cNvSpPr>
          <p:nvPr/>
        </p:nvSpPr>
        <p:spPr>
          <a:xfrm xmlns:a="http://schemas.openxmlformats.org/drawingml/2006/main">
            <a:off x="876300" y="41624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E76F51"/>
                </a:solidFill>
              </a:defRPr>
            </a:pPr>
            <a:r>
              <a:rPr sz="1725" b="1" i="0">
                <a:solidFill>
                  <a:srgbClr val="E76F51"/>
                </a:solidFill>
              </a:rPr>
              <a:t>Second stored endpoint of P₂: 2</a:t>
            </a:r>
          </a:p>
        </p:txBody>
      </p:sp>
      <p:sp>
        <p:nvSpPr>
          <p:cNvPr id="21" name="">
            <a:extLst xmlns:a="http://schemas.openxmlformats.org/drawingml/2006/main">
              <a:ext uri="{FF2B5EF4-FFF2-40B4-BE49-F238E27FC236}">
                <a16:creationId xmlns:a16="http://schemas.microsoft.com/office/drawing/2014/main" id="{4A8E722E-E632-4582-965F-F071C1D1E582}"/>
              </a:ext>
            </a:extLst>
          </p:cNvPr>
          <p:cNvSpPr>
            <a:spLocks xmlns:a="http://schemas.openxmlformats.org/drawingml/2006/main" noGrp="1"/>
          </p:cNvSpPr>
          <p:nvPr/>
        </p:nvSpPr>
        <p:spPr>
          <a:xfrm xmlns:a="http://schemas.openxmlformats.org/drawingml/2006/main">
            <a:off x="876300" y="46101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618"/>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Insert 4 immediately after 2</a:t>
            </a:r>
          </a:p>
        </p:txBody>
      </p:sp>
      <p:sp>
        <p:nvSpPr>
          <p:cNvPr id="22" name="">
            <a:extLst xmlns:a="http://schemas.openxmlformats.org/drawingml/2006/main">
              <a:ext uri="{FF2B5EF4-FFF2-40B4-BE49-F238E27FC236}">
                <a16:creationId xmlns:a16="http://schemas.microsoft.com/office/drawing/2014/main" id="{66D0ED74-505C-4F4E-A615-AD577E264C7D}"/>
              </a:ext>
            </a:extLst>
          </p:cNvPr>
          <p:cNvSpPr>
            <a:spLocks xmlns:a="http://schemas.openxmlformats.org/drawingml/2006/main" noGrp="1"/>
          </p:cNvSpPr>
          <p:nvPr/>
        </p:nvSpPr>
        <p:spPr>
          <a:xfrm xmlns:a="http://schemas.openxmlformats.org/drawingml/2006/main">
            <a:off x="876300" y="5095875"/>
            <a:ext cx="495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E76F51"/>
                </a:solidFill>
              </a:defRPr>
            </a:pPr>
            <a:r>
              <a:rPr sz="1800" b="1" i="0">
                <a:solidFill>
                  <a:srgbClr val="E76F51"/>
                </a:solidFill>
              </a:rPr>
              <a:t>[1, 2, 4, 3]  Incorrect (illustration)</a:t>
            </a:r>
          </a:p>
        </p:txBody>
      </p:sp>
      <p:sp>
        <p:nvSpPr>
          <p:cNvPr id="23" name="">
            <a:extLst xmlns:a="http://schemas.openxmlformats.org/drawingml/2006/main">
              <a:ext uri="{FF2B5EF4-FFF2-40B4-BE49-F238E27FC236}">
                <a16:creationId xmlns:a16="http://schemas.microsoft.com/office/drawing/2014/main" id="{C219E074-C453-4A44-ABFE-8A56D0EE5D53}"/>
              </a:ext>
            </a:extLst>
          </p:cNvPr>
          <p:cNvSpPr>
            <a:spLocks xmlns:a="http://schemas.openxmlformats.org/drawingml/2006/main" noGrp="1"/>
          </p:cNvSpPr>
          <p:nvPr/>
        </p:nvSpPr>
        <p:spPr>
          <a:xfrm xmlns:a="http://schemas.openxmlformats.org/drawingml/2006/main">
            <a:off x="6210300" y="4067175"/>
            <a:ext cx="5257800" cy="1524000"/>
          </a:xfrm>
          <a:prstGeom xmlns:a="http://schemas.openxmlformats.org/drawingml/2006/main" prst="roundRect">
            <a:avLst>
              <a:gd name="adj" fmla="val 5000"/>
            </a:avLst>
          </a:prstGeom>
          <a:solidFill xmlns:a="http://schemas.openxmlformats.org/drawingml/2006/main">
            <a:srgbClr val="E8F5F3"/>
          </a:solidFill>
          <a:ln xmlns:a="http://schemas.openxmlformats.org/drawingml/2006/main" w="19050">
            <a:solidFill>
              <a:srgbClr val="2A9D8F"/>
            </a:solidFill>
            <a:prstDash val="solid"/>
          </a:ln>
        </p:spPr>
      </p:sp>
      <p:sp>
        <p:nvSpPr>
          <p:cNvPr id="24" name="">
            <a:extLst xmlns:a="http://schemas.openxmlformats.org/drawingml/2006/main">
              <a:ext uri="{FF2B5EF4-FFF2-40B4-BE49-F238E27FC236}">
                <a16:creationId xmlns:a16="http://schemas.microsoft.com/office/drawing/2014/main" id="{A4483D70-CDBC-4312-85A4-ECEBCEC9AD29}"/>
              </a:ext>
            </a:extLst>
          </p:cNvPr>
          <p:cNvSpPr>
            <a:spLocks xmlns:a="http://schemas.openxmlformats.org/drawingml/2006/main" noGrp="1"/>
          </p:cNvSpPr>
          <p:nvPr/>
        </p:nvSpPr>
        <p:spPr>
          <a:xfrm xmlns:a="http://schemas.openxmlformats.org/drawingml/2006/main">
            <a:off x="6362700" y="41624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Geometric right endpoint of P₂: 3</a:t>
            </a:r>
          </a:p>
        </p:txBody>
      </p:sp>
      <p:sp>
        <p:nvSpPr>
          <p:cNvPr id="25" name="">
            <a:extLst xmlns:a="http://schemas.openxmlformats.org/drawingml/2006/main">
              <a:ext uri="{FF2B5EF4-FFF2-40B4-BE49-F238E27FC236}">
                <a16:creationId xmlns:a16="http://schemas.microsoft.com/office/drawing/2014/main" id="{339D4C17-D25C-46AB-88AA-78FE82F08237}"/>
              </a:ext>
            </a:extLst>
          </p:cNvPr>
          <p:cNvSpPr>
            <a:spLocks xmlns:a="http://schemas.openxmlformats.org/drawingml/2006/main" noGrp="1"/>
          </p:cNvSpPr>
          <p:nvPr/>
        </p:nvSpPr>
        <p:spPr>
          <a:xfrm xmlns:a="http://schemas.openxmlformats.org/drawingml/2006/main">
            <a:off x="6362700" y="46101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6618"/>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Insert 4 immediately after 3</a:t>
            </a:r>
          </a:p>
        </p:txBody>
      </p:sp>
      <p:sp>
        <p:nvSpPr>
          <p:cNvPr id="26" name="">
            <a:extLst xmlns:a="http://schemas.openxmlformats.org/drawingml/2006/main">
              <a:ext uri="{FF2B5EF4-FFF2-40B4-BE49-F238E27FC236}">
                <a16:creationId xmlns:a16="http://schemas.microsoft.com/office/drawing/2014/main" id="{27B8CCF2-7349-43E8-B70F-67E7C5BB1D75}"/>
              </a:ext>
            </a:extLst>
          </p:cNvPr>
          <p:cNvSpPr>
            <a:spLocks xmlns:a="http://schemas.openxmlformats.org/drawingml/2006/main" noGrp="1"/>
          </p:cNvSpPr>
          <p:nvPr/>
        </p:nvSpPr>
        <p:spPr>
          <a:xfrm xmlns:a="http://schemas.openxmlformats.org/drawingml/2006/main">
            <a:off x="6362700" y="5095875"/>
            <a:ext cx="4953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2A9D8F"/>
                </a:solidFill>
              </a:defRPr>
            </a:pPr>
            <a:r>
              <a:rPr sz="1800" b="1" i="0">
                <a:solidFill>
                  <a:srgbClr val="2A9D8F"/>
                </a:solidFill>
              </a:rPr>
              <a:t>[1, 2, 3, 4]  Correct</a:t>
            </a:r>
          </a:p>
        </p:txBody>
      </p:sp>
      <p:sp>
        <p:nvSpPr>
          <p:cNvPr id="27" name="">
            <a:extLst xmlns:a="http://schemas.openxmlformats.org/drawingml/2006/main">
              <a:ext uri="{FF2B5EF4-FFF2-40B4-BE49-F238E27FC236}">
                <a16:creationId xmlns:a16="http://schemas.microsoft.com/office/drawing/2014/main" id="{F1A7D053-53D7-490A-8219-BFC3A51DC150}"/>
              </a:ext>
            </a:extLst>
          </p:cNvPr>
          <p:cNvSpPr>
            <a:spLocks xmlns:a="http://schemas.openxmlformats.org/drawingml/2006/main" noGrp="1"/>
          </p:cNvSpPr>
          <p:nvPr/>
        </p:nvSpPr>
        <p:spPr>
          <a:xfrm xmlns:a="http://schemas.openxmlformats.org/drawingml/2006/main">
            <a:off x="723900" y="5762625"/>
            <a:ext cx="10744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ctr">
              <a:lnSpc>
                <a:spcPct val="105000"/>
              </a:lnSpc>
              <a:buNone/>
              <a:defRPr sz="1650" b="0" i="0">
                <a:solidFill>
                  <a:srgbClr val="102A43"/>
                </a:solidFill>
              </a:defRPr>
            </a:pPr>
            <a:r>
              <a:rPr sz="1650" b="0" i="0">
                <a:solidFill>
                  <a:srgbClr val="102A43"/>
                </a:solidFill>
              </a:rPr>
              <a:t>Here, the anchor is the existing point immediately after which we insert 4.</a:t>
            </a:r>
          </a:p>
        </p:txBody>
      </p:sp>
      <p:sp>
        <p:nvSpPr>
          <p:cNvPr id="28" name="">
            <a:extLst xmlns:a="http://schemas.openxmlformats.org/drawingml/2006/main">
              <a:ext uri="{FF2B5EF4-FFF2-40B4-BE49-F238E27FC236}">
                <a16:creationId xmlns:a16="http://schemas.microsoft.com/office/drawing/2014/main" id="{823794F1-BAE3-4EC3-B9C7-AAC62C0A858A}"/>
              </a:ext>
            </a:extLst>
          </p:cNvPr>
          <p:cNvSpPr>
            <a:spLocks xmlns:a="http://schemas.openxmlformats.org/drawingml/2006/main" noGrp="1"/>
          </p:cNvSpPr>
          <p:nvPr/>
        </p:nvSpPr>
        <p:spPr>
          <a:xfrm xmlns:a="http://schemas.openxmlformats.org/drawingml/2006/main">
            <a:off x="723900" y="6134100"/>
            <a:ext cx="10744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238"/>
          </a:bodyPr>
          <a:lstStyle xmlns:a="http://schemas.openxmlformats.org/drawingml/2006/main"/>
          <a:p xmlns:a="http://schemas.openxmlformats.org/drawingml/2006/main">
            <a:pPr algn="ctr">
              <a:lnSpc>
                <a:spcPct val="105000"/>
              </a:lnSpc>
              <a:buNone/>
              <a:defRPr sz="1500" b="0" i="0">
                <a:solidFill>
                  <a:srgbClr val="52606D"/>
                </a:solidFill>
              </a:defRPr>
            </a:pPr>
            <a:r>
              <a:rPr sz="1500" b="0" i="0">
                <a:solidFill>
                  <a:srgbClr val="52606D"/>
                </a:solidFill>
              </a:rPr>
              <a:t>Executable clarification, not a verbatim 1990-paper rule. Stored curve order ≠ geometric order.</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19B4A15-95FF-425F-A7DA-ACA318A83895}"/>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II</a:t>
            </a:r>
          </a:p>
        </p:txBody>
      </p:sp>
      <p:sp>
        <p:nvSpPr>
          <p:cNvPr id="2" name="">
            <a:extLst xmlns:a="http://schemas.openxmlformats.org/drawingml/2006/main">
              <a:ext uri="{FF2B5EF4-FFF2-40B4-BE49-F238E27FC236}">
                <a16:creationId xmlns:a16="http://schemas.microsoft.com/office/drawing/2014/main" id="{5E4CC5F8-68E2-41E6-BECC-FD0C9F7A02F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Why z₁ needs a separate output-anchor check</a:t>
            </a:r>
          </a:p>
        </p:txBody>
      </p:sp>
      <p:sp>
        <p:nvSpPr>
          <p:cNvPr id="3" name="">
            <a:extLst xmlns:a="http://schemas.openxmlformats.org/drawingml/2006/main">
              <a:ext uri="{FF2B5EF4-FFF2-40B4-BE49-F238E27FC236}">
                <a16:creationId xmlns:a16="http://schemas.microsoft.com/office/drawing/2014/main" id="{66A036BE-4C7E-4DB4-BF44-0992A291A89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98663A8-A048-458D-B81A-7F8FCE56610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CD750E2-3558-47CE-A244-AF01C03EAA2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B2E1D346-6364-41B4-9F8F-8CB8516A54A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50A6D820-EA29-49B3-A2DC-197825EFA484}"/>
              </a:ext>
            </a:extLst>
          </p:cNvPr>
          <p:cNvSpPr>
            <a:spLocks xmlns:a="http://schemas.openxmlformats.org/drawingml/2006/main" noGrp="1"/>
          </p:cNvSpPr>
          <p:nvPr/>
        </p:nvSpPr>
        <p:spPr>
          <a:xfrm xmlns:a="http://schemas.openxmlformats.org/drawingml/2006/main">
            <a:off x="723900" y="1295400"/>
            <a:ext cx="666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Input (z₁, …, z₇) = (1, 2, 3, 4, 6, 7, 0)</a:t>
            </a:r>
          </a:p>
        </p:txBody>
      </p:sp>
      <p:sp>
        <p:nvSpPr>
          <p:cNvPr id="8" name="">
            <a:extLst xmlns:a="http://schemas.openxmlformats.org/drawingml/2006/main">
              <a:ext uri="{FF2B5EF4-FFF2-40B4-BE49-F238E27FC236}">
                <a16:creationId xmlns:a16="http://schemas.microsoft.com/office/drawing/2014/main" id="{33D8C5CB-9D84-499F-8B81-3258E1B2D296}"/>
              </a:ext>
            </a:extLst>
          </p:cNvPr>
          <p:cNvSpPr>
            <a:spLocks xmlns:a="http://schemas.openxmlformats.org/drawingml/2006/main" noGrp="1"/>
          </p:cNvSpPr>
          <p:nvPr/>
        </p:nvSpPr>
        <p:spPr>
          <a:xfrm xmlns:a="http://schemas.openxmlformats.org/drawingml/2006/main">
            <a:off x="7639050" y="1314450"/>
            <a:ext cx="3829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0" i="0">
                <a:solidFill>
                  <a:srgbClr val="52606D"/>
                </a:solidFill>
              </a:defRPr>
            </a:pPr>
            <a:r>
              <a:rPr sz="1575" b="0" i="0">
                <a:solidFill>
                  <a:srgbClr val="52606D"/>
                </a:solidFill>
              </a:rPr>
              <a:t>S₆ = [1, 2, 3, 4, 6, 7]</a:t>
            </a:r>
          </a:p>
        </p:txBody>
      </p:sp>
      <p:sp>
        <p:nvSpPr>
          <p:cNvPr id="9" name="">
            <a:extLst xmlns:a="http://schemas.openxmlformats.org/drawingml/2006/main">
              <a:ext uri="{FF2B5EF4-FFF2-40B4-BE49-F238E27FC236}">
                <a16:creationId xmlns:a16="http://schemas.microsoft.com/office/drawing/2014/main" id="{9C219E07-1CA0-458F-AD31-66A16C0415D1}"/>
              </a:ext>
            </a:extLst>
          </p:cNvPr>
          <p:cNvSpPr>
            <a:spLocks xmlns:a="http://schemas.openxmlformats.org/drawingml/2006/main" noGrp="1"/>
          </p:cNvSpPr>
          <p:nvPr/>
        </p:nvSpPr>
        <p:spPr>
          <a:xfrm xmlns:a="http://schemas.openxmlformats.org/drawingml/2006/main">
            <a:off x="723900" y="1733550"/>
            <a:ext cx="5048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l">
              <a:lnSpc>
                <a:spcPct val="105000"/>
              </a:lnSpc>
              <a:buNone/>
              <a:defRPr sz="1650" b="1" i="0">
                <a:solidFill>
                  <a:srgbClr val="2A9D8F"/>
                </a:solidFill>
              </a:defRPr>
            </a:pPr>
            <a:r>
              <a:rPr sz="1650" b="1" i="0">
                <a:solidFill>
                  <a:srgbClr val="2A9D8F"/>
                </a:solidFill>
              </a:rPr>
              <a:t>i = 7 (odd) → lower family</a:t>
            </a:r>
          </a:p>
        </p:txBody>
      </p:sp>
      <p:sp>
        <p:nvSpPr>
          <p:cNvPr id="10" name="">
            <a:extLst xmlns:a="http://schemas.openxmlformats.org/drawingml/2006/main">
              <a:ext uri="{FF2B5EF4-FFF2-40B4-BE49-F238E27FC236}">
                <a16:creationId xmlns:a16="http://schemas.microsoft.com/office/drawing/2014/main" id="{A455A5FA-C123-4C7C-B7D4-2E4FB1E4F32D}"/>
              </a:ext>
            </a:extLst>
          </p:cNvPr>
          <p:cNvSpPr>
            <a:spLocks xmlns:a="http://schemas.openxmlformats.org/drawingml/2006/main" noGrp="1"/>
          </p:cNvSpPr>
          <p:nvPr/>
        </p:nvSpPr>
        <p:spPr>
          <a:xfrm xmlns:a="http://schemas.openxmlformats.org/drawingml/2006/main">
            <a:off x="6362700" y="1733550"/>
            <a:ext cx="5105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l">
              <a:lnSpc>
                <a:spcPct val="105000"/>
              </a:lnSpc>
              <a:buNone/>
              <a:defRPr sz="1650" b="1" i="0">
                <a:solidFill>
                  <a:srgbClr val="2A9D8F"/>
                </a:solidFill>
              </a:defRPr>
            </a:pPr>
            <a:r>
              <a:rPr sz="1650" b="1" i="0">
                <a:solidFill>
                  <a:srgbClr val="2A9D8F"/>
                </a:solidFill>
              </a:rPr>
              <a:t>z₇ = 0 &lt; z₆ = 7 → decreasing</a:t>
            </a:r>
          </a:p>
        </p:txBody>
      </p:sp>
      <p:sp>
        <p:nvSpPr>
          <p:cNvPr id="11" name="">
            <a:extLst xmlns:a="http://schemas.openxmlformats.org/drawingml/2006/main">
              <a:ext uri="{FF2B5EF4-FFF2-40B4-BE49-F238E27FC236}">
                <a16:creationId xmlns:a16="http://schemas.microsoft.com/office/drawing/2014/main" id="{BBE00AB5-0588-409C-AEA7-4670B9297354}"/>
              </a:ext>
            </a:extLst>
          </p:cNvPr>
          <p:cNvSpPr>
            <a:spLocks xmlns:a="http://schemas.openxmlformats.org/drawingml/2006/main" noGrp="1"/>
          </p:cNvSpPr>
          <p:nvPr/>
        </p:nvSpPr>
        <p:spPr>
          <a:xfrm xmlns:a="http://schemas.openxmlformats.org/drawingml/2006/main">
            <a:off x="723900" y="2228850"/>
            <a:ext cx="525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Decreasing: leftmost child → left endpoint</a:t>
            </a:r>
          </a:p>
        </p:txBody>
      </p:sp>
      <p:sp>
        <p:nvSpPr>
          <p:cNvPr id="12" name="">
            <a:extLst xmlns:a="http://schemas.openxmlformats.org/drawingml/2006/main">
              <a:ext uri="{FF2B5EF4-FFF2-40B4-BE49-F238E27FC236}">
                <a16:creationId xmlns:a16="http://schemas.microsoft.com/office/drawing/2014/main" id="{861E651F-51F5-49F9-89B5-8263DB269863}"/>
              </a:ext>
            </a:extLst>
          </p:cNvPr>
          <p:cNvSpPr>
            <a:spLocks xmlns:a="http://schemas.openxmlformats.org/drawingml/2006/main" noGrp="1"/>
          </p:cNvSpPr>
          <p:nvPr/>
        </p:nvSpPr>
        <p:spPr>
          <a:xfrm xmlns:a="http://schemas.openxmlformats.org/drawingml/2006/main">
            <a:off x="2190750" y="2933700"/>
            <a:ext cx="2286000" cy="457200"/>
          </a:xfrm>
          <a:prstGeom xmlns:a="http://schemas.openxmlformats.org/drawingml/2006/main" prst="roundRect">
            <a:avLst>
              <a:gd name="adj" fmla="val 12500"/>
            </a:avLst>
          </a:prstGeom>
          <a:solidFill xmlns:a="http://schemas.openxmlformats.org/drawingml/2006/main">
            <a:srgbClr val="EAF1F8"/>
          </a:solidFill>
          <a:ln xmlns:a="http://schemas.openxmlformats.org/drawingml/2006/main" w="11430">
            <a:solidFill>
              <a:srgbClr val="102A43"/>
            </a:solidFill>
            <a:prstDash val="solid"/>
          </a:ln>
        </p:spPr>
      </p:sp>
      <p:sp>
        <p:nvSpPr>
          <p:cNvPr id="13" name="">
            <a:extLst xmlns:a="http://schemas.openxmlformats.org/drawingml/2006/main">
              <a:ext uri="{FF2B5EF4-FFF2-40B4-BE49-F238E27FC236}">
                <a16:creationId xmlns:a16="http://schemas.microsoft.com/office/drawing/2014/main" id="{C9303BBD-8299-4084-921B-07525060EBDE}"/>
              </a:ext>
            </a:extLst>
          </p:cNvPr>
          <p:cNvSpPr>
            <a:spLocks xmlns:a="http://schemas.openxmlformats.org/drawingml/2006/main" noGrp="1"/>
          </p:cNvSpPr>
          <p:nvPr/>
        </p:nvSpPr>
        <p:spPr>
          <a:xfrm xmlns:a="http://schemas.openxmlformats.org/drawingml/2006/main">
            <a:off x="2266950" y="2990850"/>
            <a:ext cx="2133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P₇ = (7, 0)</a:t>
            </a:r>
          </a:p>
        </p:txBody>
      </p:sp>
      <p:sp>
        <p:nvSpPr>
          <p:cNvPr id="14" name="">
            <a:extLst xmlns:a="http://schemas.openxmlformats.org/drawingml/2006/main">
              <a:ext uri="{FF2B5EF4-FFF2-40B4-BE49-F238E27FC236}">
                <a16:creationId xmlns:a16="http://schemas.microsoft.com/office/drawing/2014/main" id="{7ADC8924-E3D9-4B99-837C-92A91332F276}"/>
              </a:ext>
            </a:extLst>
          </p:cNvPr>
          <p:cNvSpPr>
            <a:spLocks xmlns:a="http://schemas.openxmlformats.org/drawingml/2006/main" noGrp="1"/>
          </p:cNvSpPr>
          <p:nvPr/>
        </p:nvSpPr>
        <p:spPr>
          <a:xfrm xmlns:a="http://schemas.openxmlformats.org/drawingml/2006/main">
            <a:off x="1200150" y="2609850"/>
            <a:ext cx="432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curve order (7, 0); interval [0, 7]</a:t>
            </a:r>
          </a:p>
        </p:txBody>
      </p:sp>
      <p:sp>
        <p:nvSpPr>
          <p:cNvPr id="15" name="">
            <a:extLst xmlns:a="http://schemas.openxmlformats.org/drawingml/2006/main">
              <a:ext uri="{FF2B5EF4-FFF2-40B4-BE49-F238E27FC236}">
                <a16:creationId xmlns:a16="http://schemas.microsoft.com/office/drawing/2014/main" id="{FED47D39-14C1-4BEE-9E8C-5025B22FFA52}"/>
              </a:ext>
            </a:extLst>
          </p:cNvPr>
          <p:cNvSpPr>
            <a:spLocks xmlns:a="http://schemas.openxmlformats.org/drawingml/2006/main" noGrp="1"/>
          </p:cNvSpPr>
          <p:nvPr/>
        </p:nvSpPr>
        <p:spPr>
          <a:xfrm xmlns:a="http://schemas.openxmlformats.org/drawingml/2006/main">
            <a:off x="895350" y="3657600"/>
            <a:ext cx="2095500" cy="457200"/>
          </a:xfrm>
          <a:prstGeom xmlns:a="http://schemas.openxmlformats.org/drawingml/2006/main" prst="roundRect">
            <a:avLst>
              <a:gd name="adj" fmla="val 12500"/>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98A1E733-8F74-4544-A19E-4CF2B3785EA8}"/>
              </a:ext>
            </a:extLst>
          </p:cNvPr>
          <p:cNvSpPr>
            <a:spLocks xmlns:a="http://schemas.openxmlformats.org/drawingml/2006/main" noGrp="1"/>
          </p:cNvSpPr>
          <p:nvPr/>
        </p:nvSpPr>
        <p:spPr>
          <a:xfrm xmlns:a="http://schemas.openxmlformats.org/drawingml/2006/main">
            <a:off x="3562350" y="3657600"/>
            <a:ext cx="20955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52606D"/>
            </a:solidFill>
            <a:prstDash val="solid"/>
          </a:ln>
        </p:spPr>
      </p:sp>
      <p:cxnSp>
        <p:nvCxnSpPr>
          <p:cNvPr id="52" name=""/>
          <p:cNvCxnSpPr>
            <a:stCxn xmlns:a="http://schemas.openxmlformats.org/drawingml/2006/main" id="12" idx="1"/>
            <a:endCxn xmlns:a="http://schemas.openxmlformats.org/drawingml/2006/main" id="15" idx="0"/>
          </p:cNvCxnSpPr>
          <p:nvPr/>
        </p:nvCxnSpPr>
        <p:spPr>
          <a:xfrm xmlns:a="http://schemas.openxmlformats.org/drawingml/2006/main" flipH="1">
            <a:off x="1943100" y="3162300"/>
            <a:ext cx="247650" cy="495300"/>
          </a:xfrm>
          <a:prstGeom xmlns:a="http://schemas.openxmlformats.org/drawingml/2006/main" prst="bentConnector2">
            <a:avLst/>
          </a:prstGeom>
          <a:ln xmlns:a="http://schemas.openxmlformats.org/drawingml/2006/main" w="19050">
            <a:solidFill>
              <a:srgbClr val="2A9D8F"/>
            </a:solidFill>
            <a:prstDash val="solid"/>
            <a:tailEnd type="arrow" w="sm" len="sm"/>
          </a:ln>
        </p:spPr>
      </p:cxnSp>
      <p:cxnSp>
        <p:nvCxnSpPr>
          <p:cNvPr id="53" name=""/>
          <p:cNvCxnSpPr>
            <a:stCxn xmlns:a="http://schemas.openxmlformats.org/drawingml/2006/main" id="12" idx="3"/>
            <a:endCxn xmlns:a="http://schemas.openxmlformats.org/drawingml/2006/main" id="16" idx="0"/>
          </p:cNvCxnSpPr>
          <p:nvPr/>
        </p:nvCxnSpPr>
        <p:spPr>
          <a:xfrm xmlns:a="http://schemas.openxmlformats.org/drawingml/2006/main">
            <a:off x="4476750" y="3162300"/>
            <a:ext cx="228600" cy="495300"/>
          </a:xfrm>
          <a:prstGeom xmlns:a="http://schemas.openxmlformats.org/drawingml/2006/main" prst="bentConnector4">
            <a:avLst/>
          </a:prstGeom>
          <a:ln xmlns:a="http://schemas.openxmlformats.org/drawingml/2006/main" w="19050">
            <a:solidFill>
              <a:srgbClr val="52606D"/>
            </a:solidFill>
            <a:prstDash val="solid"/>
            <a:tailEnd type="arrow" w="sm" len="sm"/>
          </a:ln>
        </p:spPr>
      </p:cxnSp>
      <p:sp>
        <p:nvSpPr>
          <p:cNvPr id="19" name="">
            <a:extLst xmlns:a="http://schemas.openxmlformats.org/drawingml/2006/main">
              <a:ext uri="{FF2B5EF4-FFF2-40B4-BE49-F238E27FC236}">
                <a16:creationId xmlns:a16="http://schemas.microsoft.com/office/drawing/2014/main" id="{792CEA95-092A-43B2-B7D0-3513E6EAB51C}"/>
              </a:ext>
            </a:extLst>
          </p:cNvPr>
          <p:cNvSpPr>
            <a:spLocks xmlns:a="http://schemas.openxmlformats.org/drawingml/2006/main" noGrp="1"/>
          </p:cNvSpPr>
          <p:nvPr/>
        </p:nvSpPr>
        <p:spPr>
          <a:xfrm xmlns:a="http://schemas.openxmlformats.org/drawingml/2006/main">
            <a:off x="971550" y="3705225"/>
            <a:ext cx="1943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P₃ = (2, 3)</a:t>
            </a:r>
          </a:p>
        </p:txBody>
      </p:sp>
      <p:sp>
        <p:nvSpPr>
          <p:cNvPr id="20" name="">
            <a:extLst xmlns:a="http://schemas.openxmlformats.org/drawingml/2006/main">
              <a:ext uri="{FF2B5EF4-FFF2-40B4-BE49-F238E27FC236}">
                <a16:creationId xmlns:a16="http://schemas.microsoft.com/office/drawing/2014/main" id="{E2EC80C7-9F40-4DB2-85BE-EA0FEFCC4AB8}"/>
              </a:ext>
            </a:extLst>
          </p:cNvPr>
          <p:cNvSpPr>
            <a:spLocks xmlns:a="http://schemas.openxmlformats.org/drawingml/2006/main" noGrp="1"/>
          </p:cNvSpPr>
          <p:nvPr/>
        </p:nvSpPr>
        <p:spPr>
          <a:xfrm xmlns:a="http://schemas.openxmlformats.org/drawingml/2006/main">
            <a:off x="3638550" y="3705225"/>
            <a:ext cx="1943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P₅ = (4, 6)</a:t>
            </a:r>
          </a:p>
        </p:txBody>
      </p:sp>
      <p:sp>
        <p:nvSpPr>
          <p:cNvPr id="21" name="">
            <a:extLst xmlns:a="http://schemas.openxmlformats.org/drawingml/2006/main">
              <a:ext uri="{FF2B5EF4-FFF2-40B4-BE49-F238E27FC236}">
                <a16:creationId xmlns:a16="http://schemas.microsoft.com/office/drawing/2014/main" id="{593F72A5-765D-4144-A5E7-0ED2DC094FA9}"/>
              </a:ext>
            </a:extLst>
          </p:cNvPr>
          <p:cNvSpPr>
            <a:spLocks xmlns:a="http://schemas.openxmlformats.org/drawingml/2006/main" noGrp="1"/>
          </p:cNvSpPr>
          <p:nvPr/>
        </p:nvSpPr>
        <p:spPr>
          <a:xfrm xmlns:a="http://schemas.openxmlformats.org/drawingml/2006/main">
            <a:off x="933450" y="41338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leftmost child</a:t>
            </a:r>
          </a:p>
        </p:txBody>
      </p:sp>
      <p:sp>
        <p:nvSpPr>
          <p:cNvPr id="22" name="">
            <a:extLst xmlns:a="http://schemas.openxmlformats.org/drawingml/2006/main">
              <a:ext uri="{FF2B5EF4-FFF2-40B4-BE49-F238E27FC236}">
                <a16:creationId xmlns:a16="http://schemas.microsoft.com/office/drawing/2014/main" id="{D96D8AD9-409C-4F45-9737-4CBA695CEE62}"/>
              </a:ext>
            </a:extLst>
          </p:cNvPr>
          <p:cNvSpPr>
            <a:spLocks xmlns:a="http://schemas.openxmlformats.org/drawingml/2006/main" noGrp="1"/>
          </p:cNvSpPr>
          <p:nvPr/>
        </p:nvSpPr>
        <p:spPr>
          <a:xfrm xmlns:a="http://schemas.openxmlformats.org/drawingml/2006/main">
            <a:off x="723900" y="4457700"/>
            <a:ext cx="525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A9D8F"/>
                </a:solidFill>
              </a:defRPr>
            </a:pPr>
            <a:r>
              <a:rPr sz="1575" b="1" i="0">
                <a:solidFill>
                  <a:srgbClr val="2A9D8F"/>
                </a:solidFill>
              </a:rPr>
              <a:t>P₃ → left endpoint 2 → base anchor z₂</a:t>
            </a:r>
          </a:p>
        </p:txBody>
      </p:sp>
      <p:sp>
        <p:nvSpPr>
          <p:cNvPr id="23" name="">
            <a:extLst xmlns:a="http://schemas.openxmlformats.org/drawingml/2006/main">
              <a:ext uri="{FF2B5EF4-FFF2-40B4-BE49-F238E27FC236}">
                <a16:creationId xmlns:a16="http://schemas.microsoft.com/office/drawing/2014/main" id="{95AE6482-22B8-4887-90AC-ABF3D401D154}"/>
              </a:ext>
            </a:extLst>
          </p:cNvPr>
          <p:cNvSpPr>
            <a:spLocks xmlns:a="http://schemas.openxmlformats.org/drawingml/2006/main" noGrp="1"/>
          </p:cNvSpPr>
          <p:nvPr/>
        </p:nvSpPr>
        <p:spPr>
          <a:xfrm xmlns:a="http://schemas.openxmlformats.org/drawingml/2006/main">
            <a:off x="6362700" y="2228850"/>
            <a:ext cx="5105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2593"/>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Why check z₁?</a:t>
            </a:r>
          </a:p>
        </p:txBody>
      </p:sp>
      <p:sp>
        <p:nvSpPr>
          <p:cNvPr id="24" name="">
            <a:extLst xmlns:a="http://schemas.openxmlformats.org/drawingml/2006/main">
              <a:ext uri="{FF2B5EF4-FFF2-40B4-BE49-F238E27FC236}">
                <a16:creationId xmlns:a16="http://schemas.microsoft.com/office/drawing/2014/main" id="{1D9C2575-E7FD-4BFA-A362-7C91A066B711}"/>
              </a:ext>
            </a:extLst>
          </p:cNvPr>
          <p:cNvSpPr>
            <a:spLocks xmlns:a="http://schemas.openxmlformats.org/drawingml/2006/main" noGrp="1"/>
          </p:cNvSpPr>
          <p:nvPr/>
        </p:nvSpPr>
        <p:spPr>
          <a:xfrm xmlns:a="http://schemas.openxmlformats.org/drawingml/2006/main">
            <a:off x="6362700" y="2686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z₁ = 1 belongs to upper pair P₂ = (1, 2).</a:t>
            </a:r>
          </a:p>
        </p:txBody>
      </p:sp>
      <p:sp>
        <p:nvSpPr>
          <p:cNvPr id="25" name="">
            <a:extLst xmlns:a="http://schemas.openxmlformats.org/drawingml/2006/main">
              <a:ext uri="{FF2B5EF4-FFF2-40B4-BE49-F238E27FC236}">
                <a16:creationId xmlns:a16="http://schemas.microsoft.com/office/drawing/2014/main" id="{869422F3-3CA2-41ED-9BA6-62178D9FD750}"/>
              </a:ext>
            </a:extLst>
          </p:cNvPr>
          <p:cNvSpPr>
            <a:spLocks xmlns:a="http://schemas.openxmlformats.org/drawingml/2006/main" noGrp="1"/>
          </p:cNvSpPr>
          <p:nvPr/>
        </p:nvSpPr>
        <p:spPr>
          <a:xfrm xmlns:a="http://schemas.openxmlformats.org/drawingml/2006/main">
            <a:off x="6362700" y="3067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It is not an endpoint of any lower pair.</a:t>
            </a:r>
          </a:p>
        </p:txBody>
      </p:sp>
      <p:sp>
        <p:nvSpPr>
          <p:cNvPr id="26" name="">
            <a:extLst xmlns:a="http://schemas.openxmlformats.org/drawingml/2006/main">
              <a:ext uri="{FF2B5EF4-FFF2-40B4-BE49-F238E27FC236}">
                <a16:creationId xmlns:a16="http://schemas.microsoft.com/office/drawing/2014/main" id="{2EBB2E94-2C29-45A9-9873-A5E0363EBEE8}"/>
              </a:ext>
            </a:extLst>
          </p:cNvPr>
          <p:cNvSpPr>
            <a:spLocks xmlns:a="http://schemas.openxmlformats.org/drawingml/2006/main" noGrp="1"/>
          </p:cNvSpPr>
          <p:nvPr/>
        </p:nvSpPr>
        <p:spPr>
          <a:xfrm xmlns:a="http://schemas.openxmlformats.org/drawingml/2006/main">
            <a:off x="6362700" y="3448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It is still in the sorted list S₆.</a:t>
            </a:r>
          </a:p>
        </p:txBody>
      </p:sp>
      <p:sp>
        <p:nvSpPr>
          <p:cNvPr id="27" name="">
            <a:extLst xmlns:a="http://schemas.openxmlformats.org/drawingml/2006/main">
              <a:ext uri="{FF2B5EF4-FFF2-40B4-BE49-F238E27FC236}">
                <a16:creationId xmlns:a16="http://schemas.microsoft.com/office/drawing/2014/main" id="{E5F61C58-0B27-4305-A623-1F35AAC14C1F}"/>
              </a:ext>
            </a:extLst>
          </p:cNvPr>
          <p:cNvSpPr>
            <a:spLocks xmlns:a="http://schemas.openxmlformats.org/drawingml/2006/main" noGrp="1"/>
          </p:cNvSpPr>
          <p:nvPr/>
        </p:nvSpPr>
        <p:spPr>
          <a:xfrm xmlns:a="http://schemas.openxmlformats.org/drawingml/2006/main">
            <a:off x="6362700" y="3962400"/>
            <a:ext cx="5105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E76F51"/>
                </a:solidFill>
              </a:defRPr>
            </a:pPr>
            <a:r>
              <a:rPr sz="1800" b="1" i="0">
                <a:solidFill>
                  <a:srgbClr val="E76F51"/>
                </a:solidFill>
              </a:rPr>
              <a:t>Odd i and 0 &lt; z₁ = 1 &lt; base anchor = 2</a:t>
            </a:r>
          </a:p>
        </p:txBody>
      </p:sp>
      <p:sp>
        <p:nvSpPr>
          <p:cNvPr id="28" name="">
            <a:extLst xmlns:a="http://schemas.openxmlformats.org/drawingml/2006/main">
              <a:ext uri="{FF2B5EF4-FFF2-40B4-BE49-F238E27FC236}">
                <a16:creationId xmlns:a16="http://schemas.microsoft.com/office/drawing/2014/main" id="{5728A1F2-B606-486B-93A9-1C6ED115073C}"/>
              </a:ext>
            </a:extLst>
          </p:cNvPr>
          <p:cNvSpPr>
            <a:spLocks xmlns:a="http://schemas.openxmlformats.org/drawingml/2006/main" noGrp="1"/>
          </p:cNvSpPr>
          <p:nvPr/>
        </p:nvSpPr>
        <p:spPr>
          <a:xfrm xmlns:a="http://schemas.openxmlformats.org/drawingml/2006/main">
            <a:off x="6362700" y="4410075"/>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Final output anchor: z₁</a:t>
            </a:r>
          </a:p>
        </p:txBody>
      </p:sp>
      <p:sp>
        <p:nvSpPr>
          <p:cNvPr id="29" name="">
            <a:extLst xmlns:a="http://schemas.openxmlformats.org/drawingml/2006/main">
              <a:ext uri="{FF2B5EF4-FFF2-40B4-BE49-F238E27FC236}">
                <a16:creationId xmlns:a16="http://schemas.microsoft.com/office/drawing/2014/main" id="{0D3BEF8F-1089-4F89-AD47-BB59C746FA68}"/>
              </a:ext>
            </a:extLst>
          </p:cNvPr>
          <p:cNvSpPr>
            <a:spLocks xmlns:a="http://schemas.openxmlformats.org/drawingml/2006/main" noGrp="1"/>
          </p:cNvSpPr>
          <p:nvPr/>
        </p:nvSpPr>
        <p:spPr>
          <a:xfrm xmlns:a="http://schemas.openxmlformats.org/drawingml/2006/main">
            <a:off x="723900" y="4972050"/>
            <a:ext cx="5257800" cy="990600"/>
          </a:xfrm>
          <a:prstGeom xmlns:a="http://schemas.openxmlformats.org/drawingml/2006/main" prst="roundRect">
            <a:avLst>
              <a:gd name="adj" fmla="val 5769"/>
            </a:avLst>
          </a:prstGeom>
          <a:solidFill xmlns:a="http://schemas.openxmlformats.org/drawingml/2006/main">
            <a:srgbClr val="FCEEEA"/>
          </a:solidFill>
          <a:ln xmlns:a="http://schemas.openxmlformats.org/drawingml/2006/main" w="11430">
            <a:solidFill>
              <a:srgbClr val="E76F51"/>
            </a:solidFill>
            <a:prstDash val="solid"/>
          </a:ln>
        </p:spPr>
      </p:sp>
      <p:sp>
        <p:nvSpPr>
          <p:cNvPr id="30" name="">
            <a:extLst xmlns:a="http://schemas.openxmlformats.org/drawingml/2006/main">
              <a:ext uri="{FF2B5EF4-FFF2-40B4-BE49-F238E27FC236}">
                <a16:creationId xmlns:a16="http://schemas.microsoft.com/office/drawing/2014/main" id="{9094EA31-E70E-44CC-9017-420F854429FF}"/>
              </a:ext>
            </a:extLst>
          </p:cNvPr>
          <p:cNvSpPr>
            <a:spLocks xmlns:a="http://schemas.openxmlformats.org/drawingml/2006/main" noGrp="1"/>
          </p:cNvSpPr>
          <p:nvPr/>
        </p:nvSpPr>
        <p:spPr>
          <a:xfrm xmlns:a="http://schemas.openxmlformats.org/drawingml/2006/main">
            <a:off x="876300" y="50482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1" i="0">
                <a:solidFill>
                  <a:srgbClr val="E76F51"/>
                </a:solidFill>
              </a:defRPr>
            </a:pPr>
            <a:r>
              <a:rPr sz="1575" b="1" i="0">
                <a:solidFill>
                  <a:srgbClr val="E76F51"/>
                </a:solidFill>
              </a:rPr>
              <a:t>Without correction (illustration)</a:t>
            </a:r>
          </a:p>
        </p:txBody>
      </p:sp>
      <p:sp>
        <p:nvSpPr>
          <p:cNvPr id="31" name="">
            <a:extLst xmlns:a="http://schemas.openxmlformats.org/drawingml/2006/main">
              <a:ext uri="{FF2B5EF4-FFF2-40B4-BE49-F238E27FC236}">
                <a16:creationId xmlns:a16="http://schemas.microsoft.com/office/drawing/2014/main" id="{31E887FF-3E62-4A0B-9232-B278C7424CDD}"/>
              </a:ext>
            </a:extLst>
          </p:cNvPr>
          <p:cNvSpPr>
            <a:spLocks xmlns:a="http://schemas.openxmlformats.org/drawingml/2006/main" noGrp="1"/>
          </p:cNvSpPr>
          <p:nvPr/>
        </p:nvSpPr>
        <p:spPr>
          <a:xfrm xmlns:a="http://schemas.openxmlformats.org/drawingml/2006/main">
            <a:off x="876300" y="54673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insert 0 before 2 → [1, 0, 2, 3, 4, 6, 7]</a:t>
            </a:r>
          </a:p>
        </p:txBody>
      </p:sp>
      <p:sp>
        <p:nvSpPr>
          <p:cNvPr id="32" name="">
            <a:extLst xmlns:a="http://schemas.openxmlformats.org/drawingml/2006/main">
              <a:ext uri="{FF2B5EF4-FFF2-40B4-BE49-F238E27FC236}">
                <a16:creationId xmlns:a16="http://schemas.microsoft.com/office/drawing/2014/main" id="{87EAAD1E-6F26-4ECE-A5F0-26958CDF3665}"/>
              </a:ext>
            </a:extLst>
          </p:cNvPr>
          <p:cNvSpPr>
            <a:spLocks xmlns:a="http://schemas.openxmlformats.org/drawingml/2006/main" noGrp="1"/>
          </p:cNvSpPr>
          <p:nvPr/>
        </p:nvSpPr>
        <p:spPr>
          <a:xfrm xmlns:a="http://schemas.openxmlformats.org/drawingml/2006/main">
            <a:off x="6210300" y="4972050"/>
            <a:ext cx="5257800" cy="990600"/>
          </a:xfrm>
          <a:prstGeom xmlns:a="http://schemas.openxmlformats.org/drawingml/2006/main" prst="roundRect">
            <a:avLst>
              <a:gd name="adj" fmla="val 5769"/>
            </a:avLst>
          </a:prstGeom>
          <a:solidFill xmlns:a="http://schemas.openxmlformats.org/drawingml/2006/main">
            <a:srgbClr val="E8F5F3"/>
          </a:solidFill>
          <a:ln xmlns:a="http://schemas.openxmlformats.org/drawingml/2006/main" w="11430">
            <a:solidFill>
              <a:srgbClr val="2A9D8F"/>
            </a:solidFill>
            <a:prstDash val="solid"/>
          </a:ln>
        </p:spPr>
      </p:sp>
      <p:sp>
        <p:nvSpPr>
          <p:cNvPr id="33" name="">
            <a:extLst xmlns:a="http://schemas.openxmlformats.org/drawingml/2006/main">
              <a:ext uri="{FF2B5EF4-FFF2-40B4-BE49-F238E27FC236}">
                <a16:creationId xmlns:a16="http://schemas.microsoft.com/office/drawing/2014/main" id="{A44F99FB-4256-43F3-94E9-C50594D2D18C}"/>
              </a:ext>
            </a:extLst>
          </p:cNvPr>
          <p:cNvSpPr>
            <a:spLocks xmlns:a="http://schemas.openxmlformats.org/drawingml/2006/main" noGrp="1"/>
          </p:cNvSpPr>
          <p:nvPr/>
        </p:nvSpPr>
        <p:spPr>
          <a:xfrm xmlns:a="http://schemas.openxmlformats.org/drawingml/2006/main">
            <a:off x="6362700" y="50482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1" i="0">
                <a:solidFill>
                  <a:srgbClr val="2A9D8F"/>
                </a:solidFill>
              </a:defRPr>
            </a:pPr>
            <a:r>
              <a:rPr sz="1575" b="1" i="0">
                <a:solidFill>
                  <a:srgbClr val="2A9D8F"/>
                </a:solidFill>
              </a:rPr>
              <a:t>With correction</a:t>
            </a:r>
          </a:p>
        </p:txBody>
      </p:sp>
      <p:sp>
        <p:nvSpPr>
          <p:cNvPr id="34" name="">
            <a:extLst xmlns:a="http://schemas.openxmlformats.org/drawingml/2006/main">
              <a:ext uri="{FF2B5EF4-FFF2-40B4-BE49-F238E27FC236}">
                <a16:creationId xmlns:a16="http://schemas.microsoft.com/office/drawing/2014/main" id="{3051E1D4-1797-43FC-93FE-DE37CDB10E19}"/>
              </a:ext>
            </a:extLst>
          </p:cNvPr>
          <p:cNvSpPr>
            <a:spLocks xmlns:a="http://schemas.openxmlformats.org/drawingml/2006/main" noGrp="1"/>
          </p:cNvSpPr>
          <p:nvPr/>
        </p:nvSpPr>
        <p:spPr>
          <a:xfrm xmlns:a="http://schemas.openxmlformats.org/drawingml/2006/main">
            <a:off x="6362700" y="54673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insert 0 before z₁ → [0, 1, 2, 3, 4, 6, 7]</a:t>
            </a:r>
          </a:p>
        </p:txBody>
      </p:sp>
      <p:sp>
        <p:nvSpPr>
          <p:cNvPr id="35" name="">
            <a:extLst xmlns:a="http://schemas.openxmlformats.org/drawingml/2006/main">
              <a:ext uri="{FF2B5EF4-FFF2-40B4-BE49-F238E27FC236}">
                <a16:creationId xmlns:a16="http://schemas.microsoft.com/office/drawing/2014/main" id="{2DE746BF-AFD2-482B-8CB9-0838785CE05E}"/>
              </a:ext>
            </a:extLst>
          </p:cNvPr>
          <p:cNvSpPr>
            <a:spLocks xmlns:a="http://schemas.openxmlformats.org/drawingml/2006/main" noGrp="1"/>
          </p:cNvSpPr>
          <p:nvPr/>
        </p:nvSpPr>
        <p:spPr>
          <a:xfrm xmlns:a="http://schemas.openxmlformats.org/drawingml/2006/main">
            <a:off x="723900" y="6115050"/>
            <a:ext cx="10744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This changes the output anchor, not the earlier boundary-pair selection.</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94839559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MAINTAINED STATE</a:t>
            </a:r>
            <a:endParaRPr/>
          </a:p>
        </p:txBody>
      </p:sp>
      <p:sp>
        <p:nvSpPr>
          <p:cNvPr id="19492489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Ownership-safe split and transfer</a:t>
            </a:r>
            <a:endParaRPr/>
          </a:p>
        </p:txBody>
      </p:sp>
      <p:sp>
        <p:nvSpPr>
          <p:cNvPr id="1461420333"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37029424" name=""/>
          <p:cNvSpPr>
            <a:spLocks noGrp="1"/>
          </p:cNvSpPr>
          <p:nvPr/>
        </p:nvSpPr>
        <p:spPr bwMode="auto">
          <a:xfrm>
            <a:off x="609600" y="6477000"/>
            <a:ext cx="10972800" cy="9525"/>
          </a:xfrm>
          <a:prstGeom prst="line">
            <a:avLst/>
          </a:prstGeom>
          <a:noFill/>
          <a:ln w="9525">
            <a:solidFill>
              <a:srgbClr val="D9E2EC"/>
            </a:solidFill>
            <a:prstDash val="solid"/>
          </a:ln>
        </p:spPr>
      </p:sp>
      <p:sp>
        <p:nvSpPr>
          <p:cNvPr id="176504063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091770771"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10 / 16</a:t>
            </a:r>
            <a:endParaRPr/>
          </a:p>
        </p:txBody>
      </p:sp>
      <p:sp>
        <p:nvSpPr>
          <p:cNvPr id="730028483" name=""/>
          <p:cNvSpPr>
            <a:spLocks noGrp="1"/>
          </p:cNvSpPr>
          <p:nvPr/>
        </p:nvSpPr>
        <p:spPr bwMode="auto">
          <a:xfrm>
            <a:off x="647700" y="1428750"/>
            <a:ext cx="6248400" cy="4000500"/>
          </a:xfrm>
          <a:prstGeom prst="roundRect">
            <a:avLst>
              <a:gd name="adj" fmla="val 1905"/>
            </a:avLst>
          </a:prstGeom>
          <a:solidFill>
            <a:srgbClr val="FFFFFF"/>
          </a:solidFill>
          <a:ln w="11430">
            <a:solidFill>
              <a:srgbClr val="D9E2EC"/>
            </a:solidFill>
            <a:prstDash val="solid"/>
          </a:ln>
        </p:spPr>
      </p:sp>
      <p:sp>
        <p:nvSpPr>
          <p:cNvPr id="113438663" name=""/>
          <p:cNvSpPr>
            <a:spLocks noGrp="1"/>
          </p:cNvSpPr>
          <p:nvPr/>
        </p:nvSpPr>
        <p:spPr bwMode="auto">
          <a:xfrm>
            <a:off x="895350" y="1619250"/>
            <a:ext cx="57721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102A43"/>
                </a:solidFill>
              </a:defRPr>
            </a:pPr>
            <a:r>
              <a:rPr sz="1900" b="1" i="0">
                <a:solidFill>
                  <a:srgbClr val="102A43"/>
                </a:solidFill>
              </a:rPr>
              <a:t>Local split and ownership transfer</a:t>
            </a:r>
            <a:endParaRPr/>
          </a:p>
        </p:txBody>
      </p:sp>
      <p:sp>
        <p:nvSpPr>
          <p:cNvPr id="749217798" name=""/>
          <p:cNvSpPr>
            <a:spLocks noGrp="1"/>
          </p:cNvSpPr>
          <p:nvPr/>
        </p:nvSpPr>
        <p:spPr bwMode="auto">
          <a:xfrm>
            <a:off x="895350" y="21526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Before</a:t>
            </a:r>
            <a:endParaRPr/>
          </a:p>
        </p:txBody>
      </p:sp>
      <p:sp>
        <p:nvSpPr>
          <p:cNvPr id="1748697193" name=""/>
          <p:cNvSpPr>
            <a:spLocks noGrp="1"/>
          </p:cNvSpPr>
          <p:nvPr/>
        </p:nvSpPr>
        <p:spPr bwMode="auto">
          <a:xfrm>
            <a:off x="1847850" y="2076450"/>
            <a:ext cx="1562100" cy="495300"/>
          </a:xfrm>
          <a:prstGeom prst="roundRect">
            <a:avLst>
              <a:gd name="adj" fmla="val 11538"/>
            </a:avLst>
          </a:prstGeom>
          <a:solidFill>
            <a:srgbClr val="EAF1F8"/>
          </a:solidFill>
          <a:ln w="14288">
            <a:solidFill>
              <a:srgbClr val="102A43"/>
            </a:solidFill>
            <a:prstDash val="solid"/>
          </a:ln>
        </p:spPr>
      </p:sp>
      <p:sp>
        <p:nvSpPr>
          <p:cNvPr id="1419039293" name=""/>
          <p:cNvSpPr>
            <a:spLocks noGrp="1"/>
          </p:cNvSpPr>
          <p:nvPr/>
        </p:nvSpPr>
        <p:spPr bwMode="auto">
          <a:xfrm>
            <a:off x="1943100" y="21526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1228883652" name=""/>
          <p:cNvSpPr>
            <a:spLocks noGrp="1"/>
          </p:cNvSpPr>
          <p:nvPr/>
        </p:nvSpPr>
        <p:spPr bwMode="auto">
          <a:xfrm>
            <a:off x="3505199" y="2152650"/>
            <a:ext cx="6667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owns</a:t>
            </a:r>
            <a:endParaRPr/>
          </a:p>
        </p:txBody>
      </p:sp>
      <p:sp>
        <p:nvSpPr>
          <p:cNvPr id="366774229" name=""/>
          <p:cNvSpPr>
            <a:spLocks noGrp="1"/>
          </p:cNvSpPr>
          <p:nvPr/>
        </p:nvSpPr>
        <p:spPr bwMode="auto">
          <a:xfrm>
            <a:off x="4248150" y="2019300"/>
            <a:ext cx="2095500" cy="609600"/>
          </a:xfrm>
          <a:prstGeom prst="roundRect">
            <a:avLst>
              <a:gd name="adj" fmla="val 9375"/>
            </a:avLst>
          </a:prstGeom>
          <a:solidFill>
            <a:srgbClr val="FFFFFF"/>
          </a:solidFill>
          <a:ln w="11430">
            <a:solidFill>
              <a:srgbClr val="52606D"/>
            </a:solidFill>
            <a:prstDash val="solid"/>
          </a:ln>
        </p:spPr>
      </p:sp>
      <p:sp>
        <p:nvSpPr>
          <p:cNvPr id="620017293" name=""/>
          <p:cNvSpPr>
            <a:spLocks noGrp="1"/>
          </p:cNvSpPr>
          <p:nvPr/>
        </p:nvSpPr>
        <p:spPr bwMode="auto">
          <a:xfrm>
            <a:off x="4362450" y="2114550"/>
            <a:ext cx="18669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retained  |  acquired</a:t>
            </a:r>
            <a:endParaRPr/>
          </a:p>
        </p:txBody>
      </p:sp>
      <p:sp>
        <p:nvSpPr>
          <p:cNvPr id="47244239" name=""/>
          <p:cNvSpPr>
            <a:spLocks noGrp="1"/>
          </p:cNvSpPr>
          <p:nvPr/>
        </p:nvSpPr>
        <p:spPr bwMode="auto">
          <a:xfrm>
            <a:off x="2514600" y="2876550"/>
            <a:ext cx="23812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500" b="1" i="0">
                <a:solidFill>
                  <a:srgbClr val="E76F51"/>
                </a:solidFill>
              </a:defRPr>
            </a:pPr>
            <a:r>
              <a:rPr sz="1500" b="1" i="0">
                <a:solidFill>
                  <a:srgbClr val="E76F51"/>
                </a:solidFill>
              </a:rPr>
              <a:t>split + transfer</a:t>
            </a:r>
            <a:endParaRPr/>
          </a:p>
        </p:txBody>
      </p:sp>
      <p:sp>
        <p:nvSpPr>
          <p:cNvPr id="406159683" name=""/>
          <p:cNvSpPr>
            <a:spLocks noGrp="1"/>
          </p:cNvSpPr>
          <p:nvPr/>
        </p:nvSpPr>
        <p:spPr bwMode="auto">
          <a:xfrm>
            <a:off x="3371850" y="3200400"/>
            <a:ext cx="685800" cy="419100"/>
          </a:xfrm>
          <a:prstGeom prst="rect">
            <a:avLst/>
          </a:prstGeom>
          <a:noFill/>
          <a:ln w="0">
            <a:noFill/>
            <a:prstDash val="solid"/>
          </a:ln>
        </p:spPr>
        <p:txBody>
          <a:bodyPr wrap="square" lIns="38100" tIns="19050" rIns="38100" bIns="19050" anchor="t">
            <a:normAutofit fontScale="93371"/>
          </a:bodyPr>
          <a:lstStyle/>
          <a:p>
            <a:pPr algn="ctr">
              <a:lnSpc>
                <a:spcPct val="105000"/>
              </a:lnSpc>
              <a:buNone/>
              <a:defRPr sz="2550" b="1" i="0">
                <a:solidFill>
                  <a:srgbClr val="E76F51"/>
                </a:solidFill>
              </a:defRPr>
            </a:pPr>
            <a:r>
              <a:rPr sz="2550" b="1" i="0">
                <a:solidFill>
                  <a:srgbClr val="E76F51"/>
                </a:solidFill>
              </a:rPr>
              <a:t>↓</a:t>
            </a:r>
            <a:endParaRPr/>
          </a:p>
        </p:txBody>
      </p:sp>
      <p:sp>
        <p:nvSpPr>
          <p:cNvPr id="962977693" name=""/>
          <p:cNvSpPr>
            <a:spLocks noGrp="1"/>
          </p:cNvSpPr>
          <p:nvPr/>
        </p:nvSpPr>
        <p:spPr bwMode="auto">
          <a:xfrm>
            <a:off x="895350" y="37147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After</a:t>
            </a:r>
            <a:endParaRPr/>
          </a:p>
        </p:txBody>
      </p:sp>
      <p:sp>
        <p:nvSpPr>
          <p:cNvPr id="887594112" name=""/>
          <p:cNvSpPr>
            <a:spLocks noGrp="1"/>
          </p:cNvSpPr>
          <p:nvPr/>
        </p:nvSpPr>
        <p:spPr bwMode="auto">
          <a:xfrm>
            <a:off x="1847850" y="3638550"/>
            <a:ext cx="1562100" cy="495300"/>
          </a:xfrm>
          <a:prstGeom prst="roundRect">
            <a:avLst>
              <a:gd name="adj" fmla="val 11538"/>
            </a:avLst>
          </a:prstGeom>
          <a:solidFill>
            <a:srgbClr val="EAF1F8"/>
          </a:solidFill>
          <a:ln w="14288">
            <a:solidFill>
              <a:srgbClr val="102A43"/>
            </a:solidFill>
            <a:prstDash val="solid"/>
          </a:ln>
        </p:spPr>
      </p:sp>
      <p:sp>
        <p:nvSpPr>
          <p:cNvPr id="1471574766" name=""/>
          <p:cNvSpPr>
            <a:spLocks noGrp="1"/>
          </p:cNvSpPr>
          <p:nvPr/>
        </p:nvSpPr>
        <p:spPr bwMode="auto">
          <a:xfrm>
            <a:off x="1943100" y="37147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539927487" name=""/>
          <p:cNvSpPr>
            <a:spLocks noGrp="1"/>
          </p:cNvSpPr>
          <p:nvPr/>
        </p:nvSpPr>
        <p:spPr bwMode="auto">
          <a:xfrm>
            <a:off x="3476625" y="371475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52606D"/>
                </a:solidFill>
              </a:defRPr>
            </a:pPr>
            <a:r>
              <a:rPr sz="1800" b="1" i="0">
                <a:solidFill>
                  <a:srgbClr val="52606D"/>
                </a:solidFill>
              </a:rPr>
              <a:t>→</a:t>
            </a:r>
            <a:endParaRPr/>
          </a:p>
        </p:txBody>
      </p:sp>
      <p:sp>
        <p:nvSpPr>
          <p:cNvPr id="510974508" name=""/>
          <p:cNvSpPr>
            <a:spLocks noGrp="1"/>
          </p:cNvSpPr>
          <p:nvPr/>
        </p:nvSpPr>
        <p:spPr bwMode="auto">
          <a:xfrm>
            <a:off x="4038600" y="3638550"/>
            <a:ext cx="1390650" cy="495300"/>
          </a:xfrm>
          <a:prstGeom prst="roundRect">
            <a:avLst>
              <a:gd name="adj" fmla="val 11538"/>
            </a:avLst>
          </a:prstGeom>
          <a:solidFill>
            <a:srgbClr val="FFFFFF"/>
          </a:solidFill>
          <a:ln w="11430">
            <a:solidFill>
              <a:srgbClr val="102A43"/>
            </a:solidFill>
            <a:prstDash val="solid"/>
          </a:ln>
        </p:spPr>
      </p:sp>
      <p:sp>
        <p:nvSpPr>
          <p:cNvPr id="664237347" name=""/>
          <p:cNvSpPr>
            <a:spLocks noGrp="1"/>
          </p:cNvSpPr>
          <p:nvPr/>
        </p:nvSpPr>
        <p:spPr bwMode="auto">
          <a:xfrm>
            <a:off x="4133850" y="371475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retained</a:t>
            </a:r>
            <a:endParaRPr/>
          </a:p>
        </p:txBody>
      </p:sp>
      <p:sp>
        <p:nvSpPr>
          <p:cNvPr id="330485483" name=""/>
          <p:cNvSpPr>
            <a:spLocks noGrp="1"/>
          </p:cNvSpPr>
          <p:nvPr/>
        </p:nvSpPr>
        <p:spPr bwMode="auto">
          <a:xfrm>
            <a:off x="1847850" y="4381500"/>
            <a:ext cx="1562100" cy="495300"/>
          </a:xfrm>
          <a:prstGeom prst="roundRect">
            <a:avLst>
              <a:gd name="adj" fmla="val 11538"/>
            </a:avLst>
          </a:prstGeom>
          <a:solidFill>
            <a:srgbClr val="E8F5F3"/>
          </a:solidFill>
          <a:ln w="14288">
            <a:solidFill>
              <a:srgbClr val="2A9D8F"/>
            </a:solidFill>
            <a:prstDash val="solid"/>
          </a:ln>
        </p:spPr>
      </p:sp>
      <p:sp>
        <p:nvSpPr>
          <p:cNvPr id="1599361175" name=""/>
          <p:cNvSpPr>
            <a:spLocks noGrp="1"/>
          </p:cNvSpPr>
          <p:nvPr/>
        </p:nvSpPr>
        <p:spPr bwMode="auto">
          <a:xfrm>
            <a:off x="1943100" y="445770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new owner</a:t>
            </a:r>
            <a:endParaRPr/>
          </a:p>
        </p:txBody>
      </p:sp>
      <p:sp>
        <p:nvSpPr>
          <p:cNvPr id="533006259" name=""/>
          <p:cNvSpPr>
            <a:spLocks noGrp="1"/>
          </p:cNvSpPr>
          <p:nvPr/>
        </p:nvSpPr>
        <p:spPr bwMode="auto">
          <a:xfrm>
            <a:off x="3476625" y="445770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2A9D8F"/>
                </a:solidFill>
              </a:defRPr>
            </a:pPr>
            <a:r>
              <a:rPr sz="1800" b="1" i="0">
                <a:solidFill>
                  <a:srgbClr val="2A9D8F"/>
                </a:solidFill>
              </a:rPr>
              <a:t>→</a:t>
            </a:r>
            <a:endParaRPr/>
          </a:p>
        </p:txBody>
      </p:sp>
      <p:sp>
        <p:nvSpPr>
          <p:cNvPr id="1591938000" name=""/>
          <p:cNvSpPr>
            <a:spLocks noGrp="1"/>
          </p:cNvSpPr>
          <p:nvPr/>
        </p:nvSpPr>
        <p:spPr bwMode="auto">
          <a:xfrm>
            <a:off x="4038600" y="4381500"/>
            <a:ext cx="1390650" cy="495300"/>
          </a:xfrm>
          <a:prstGeom prst="roundRect">
            <a:avLst>
              <a:gd name="adj" fmla="val 11538"/>
            </a:avLst>
          </a:prstGeom>
          <a:solidFill>
            <a:srgbClr val="E8F5F3"/>
          </a:solidFill>
          <a:ln w="11430">
            <a:solidFill>
              <a:srgbClr val="2A9D8F"/>
            </a:solidFill>
            <a:prstDash val="solid"/>
          </a:ln>
        </p:spPr>
      </p:sp>
      <p:sp>
        <p:nvSpPr>
          <p:cNvPr id="618147300" name=""/>
          <p:cNvSpPr>
            <a:spLocks noGrp="1"/>
          </p:cNvSpPr>
          <p:nvPr/>
        </p:nvSpPr>
        <p:spPr bwMode="auto">
          <a:xfrm>
            <a:off x="4133850" y="445770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acquired</a:t>
            </a:r>
            <a:endParaRPr/>
          </a:p>
        </p:txBody>
      </p:sp>
      <p:sp>
        <p:nvSpPr>
          <p:cNvPr id="1279408537" name=""/>
          <p:cNvSpPr>
            <a:spLocks noGrp="1"/>
          </p:cNvSpPr>
          <p:nvPr/>
        </p:nvSpPr>
        <p:spPr bwMode="auto">
          <a:xfrm>
            <a:off x="1047750" y="5010149"/>
            <a:ext cx="5448300" cy="2667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300" b="0" i="0">
                <a:solidFill>
                  <a:srgbClr val="52606D"/>
                </a:solidFill>
              </a:defRPr>
            </a:pPr>
            <a:r>
              <a:rPr sz="1300" b="0" i="0">
                <a:solidFill>
                  <a:srgbClr val="52606D"/>
                </a:solidFill>
              </a:rPr>
              <a:t>Only the acquired nonempty segment changes parent ownership.</a:t>
            </a:r>
            <a:endParaRPr/>
          </a:p>
        </p:txBody>
      </p:sp>
      <p:sp>
        <p:nvSpPr>
          <p:cNvPr id="2100905851" name=""/>
          <p:cNvSpPr>
            <a:spLocks noGrp="1"/>
          </p:cNvSpPr>
          <p:nvPr/>
        </p:nvSpPr>
        <p:spPr bwMode="auto">
          <a:xfrm>
            <a:off x="7286625" y="14478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102A43"/>
                </a:solidFill>
              </a:defRPr>
            </a:pPr>
            <a:r>
              <a:rPr sz="1900" b="1" i="0">
                <a:solidFill>
                  <a:srgbClr val="102A43"/>
                </a:solidFill>
              </a:rPr>
              <a:t>Maintained state</a:t>
            </a:r>
            <a:endParaRPr/>
          </a:p>
        </p:txBody>
      </p:sp>
      <p:sp>
        <p:nvSpPr>
          <p:cNvPr id="1687115341" name=""/>
          <p:cNvSpPr>
            <a:spLocks noGrp="1"/>
          </p:cNvSpPr>
          <p:nvPr/>
        </p:nvSpPr>
        <p:spPr bwMode="auto">
          <a:xfrm>
            <a:off x="7334250" y="2028825"/>
            <a:ext cx="95250" cy="95250"/>
          </a:xfrm>
          <a:prstGeom prst="ellipse">
            <a:avLst/>
          </a:prstGeom>
          <a:solidFill>
            <a:srgbClr val="2A9D8F"/>
          </a:solidFill>
          <a:ln w="0">
            <a:solidFill>
              <a:srgbClr val="2A9D8F"/>
            </a:solidFill>
            <a:prstDash val="solid"/>
          </a:ln>
        </p:spPr>
      </p:sp>
      <p:sp>
        <p:nvSpPr>
          <p:cNvPr id="363076238" name=""/>
          <p:cNvSpPr>
            <a:spLocks noGrp="1"/>
          </p:cNvSpPr>
          <p:nvPr/>
        </p:nvSpPr>
        <p:spPr bwMode="auto">
          <a:xfrm>
            <a:off x="7543800" y="195262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sorted processed prefix</a:t>
            </a:r>
            <a:endParaRPr/>
          </a:p>
        </p:txBody>
      </p:sp>
      <p:sp>
        <p:nvSpPr>
          <p:cNvPr id="480338370" name=""/>
          <p:cNvSpPr>
            <a:spLocks noGrp="1"/>
          </p:cNvSpPr>
          <p:nvPr/>
        </p:nvSpPr>
        <p:spPr bwMode="auto">
          <a:xfrm>
            <a:off x="7334250" y="2457450"/>
            <a:ext cx="95250" cy="95250"/>
          </a:xfrm>
          <a:prstGeom prst="ellipse">
            <a:avLst/>
          </a:prstGeom>
          <a:solidFill>
            <a:srgbClr val="2A9D8F"/>
          </a:solidFill>
          <a:ln w="0">
            <a:solidFill>
              <a:srgbClr val="2A9D8F"/>
            </a:solidFill>
            <a:prstDash val="solid"/>
          </a:ln>
        </p:spPr>
      </p:sp>
      <p:sp>
        <p:nvSpPr>
          <p:cNvPr id="2035817085" name=""/>
          <p:cNvSpPr>
            <a:spLocks noGrp="1"/>
          </p:cNvSpPr>
          <p:nvPr/>
        </p:nvSpPr>
        <p:spPr bwMode="auto">
          <a:xfrm>
            <a:off x="7543800" y="238125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upper and lower pair families</a:t>
            </a:r>
            <a:endParaRPr/>
          </a:p>
        </p:txBody>
      </p:sp>
      <p:sp>
        <p:nvSpPr>
          <p:cNvPr id="1880297608" name=""/>
          <p:cNvSpPr>
            <a:spLocks noGrp="1"/>
          </p:cNvSpPr>
          <p:nvPr/>
        </p:nvSpPr>
        <p:spPr bwMode="auto">
          <a:xfrm>
            <a:off x="7334250" y="2886075"/>
            <a:ext cx="95250" cy="95250"/>
          </a:xfrm>
          <a:prstGeom prst="ellipse">
            <a:avLst/>
          </a:prstGeom>
          <a:solidFill>
            <a:srgbClr val="2A9D8F"/>
          </a:solidFill>
          <a:ln w="0">
            <a:solidFill>
              <a:srgbClr val="2A9D8F"/>
            </a:solidFill>
            <a:prstDash val="solid"/>
          </a:ln>
        </p:spPr>
      </p:sp>
      <p:sp>
        <p:nvSpPr>
          <p:cNvPr id="1300843647" name=""/>
          <p:cNvSpPr>
            <a:spLocks noGrp="1"/>
          </p:cNvSpPr>
          <p:nvPr/>
        </p:nvSpPr>
        <p:spPr bwMode="auto">
          <a:xfrm>
            <a:off x="7543800" y="280987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parent per finite pair</a:t>
            </a:r>
            <a:endParaRPr/>
          </a:p>
        </p:txBody>
      </p:sp>
      <p:sp>
        <p:nvSpPr>
          <p:cNvPr id="1692861019" name=""/>
          <p:cNvSpPr>
            <a:spLocks noGrp="1"/>
          </p:cNvSpPr>
          <p:nvPr/>
        </p:nvSpPr>
        <p:spPr bwMode="auto">
          <a:xfrm>
            <a:off x="7334250" y="3314700"/>
            <a:ext cx="95250" cy="95250"/>
          </a:xfrm>
          <a:prstGeom prst="ellipse">
            <a:avLst/>
          </a:prstGeom>
          <a:solidFill>
            <a:srgbClr val="2A9D8F"/>
          </a:solidFill>
          <a:ln w="0">
            <a:solidFill>
              <a:srgbClr val="2A9D8F"/>
            </a:solidFill>
            <a:prstDash val="solid"/>
          </a:ln>
        </p:spPr>
      </p:sp>
      <p:sp>
        <p:nvSpPr>
          <p:cNvPr id="82351305" name=""/>
          <p:cNvSpPr>
            <a:spLocks noGrp="1"/>
          </p:cNvSpPr>
          <p:nvPr/>
        </p:nvSpPr>
        <p:spPr bwMode="auto">
          <a:xfrm>
            <a:off x="7543800" y="323850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sibling-list owner per finite pair</a:t>
            </a:r>
            <a:endParaRPr/>
          </a:p>
        </p:txBody>
      </p:sp>
      <p:sp>
        <p:nvSpPr>
          <p:cNvPr id="325817281" name=""/>
          <p:cNvSpPr>
            <a:spLocks noGrp="1"/>
          </p:cNvSpPr>
          <p:nvPr/>
        </p:nvSpPr>
        <p:spPr bwMode="auto">
          <a:xfrm>
            <a:off x="7286625" y="38862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Transactional update</a:t>
            </a:r>
            <a:endParaRPr/>
          </a:p>
        </p:txBody>
      </p:sp>
      <p:sp>
        <p:nvSpPr>
          <p:cNvPr id="991278660" name=""/>
          <p:cNvSpPr>
            <a:spLocks noGrp="1"/>
          </p:cNvSpPr>
          <p:nvPr/>
        </p:nvSpPr>
        <p:spPr bwMode="auto">
          <a:xfrm>
            <a:off x="7334250" y="4324350"/>
            <a:ext cx="390525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save state  →  split  →  transfer  →</a:t>
            </a:r>
            <a:endParaRPr/>
          </a:p>
          <a:p>
            <a:pPr algn="ctr">
              <a:lnSpc>
                <a:spcPct val="105000"/>
              </a:lnSpc>
              <a:buNone/>
              <a:defRPr sz="1500" b="0" i="0">
                <a:solidFill>
                  <a:srgbClr val="243B53"/>
                </a:solidFill>
              </a:defRPr>
            </a:pPr>
            <a:r>
              <a:rPr sz="1500" b="0" i="0">
                <a:solidFill>
                  <a:srgbClr val="243B53"/>
                </a:solidFill>
              </a:rPr>
              <a:t>check postconditions  →  roll back on failure</a:t>
            </a:r>
            <a:endParaRPr/>
          </a:p>
        </p:txBody>
      </p:sp>
      <p:sp>
        <p:nvSpPr>
          <p:cNvPr id="490995905" name=""/>
          <p:cNvSpPr>
            <a:spLocks noGrp="1"/>
          </p:cNvSpPr>
          <p:nvPr/>
        </p:nvSpPr>
        <p:spPr bwMode="auto">
          <a:xfrm>
            <a:off x="1066800" y="5715000"/>
            <a:ext cx="10058400" cy="476250"/>
          </a:xfrm>
          <a:prstGeom prst="roundRect">
            <a:avLst>
              <a:gd name="adj" fmla="val 12000"/>
            </a:avLst>
          </a:prstGeom>
          <a:solidFill>
            <a:srgbClr val="FCEEEA"/>
          </a:solidFill>
          <a:ln w="11430">
            <a:solidFill>
              <a:srgbClr val="E76F51"/>
            </a:solidFill>
            <a:prstDash val="solid"/>
          </a:ln>
        </p:spPr>
      </p:sp>
      <p:sp>
        <p:nvSpPr>
          <p:cNvPr id="390084698" name=""/>
          <p:cNvSpPr>
            <a:spLocks noGrp="1"/>
          </p:cNvSpPr>
          <p:nvPr/>
        </p:nvSpPr>
        <p:spPr bwMode="auto">
          <a:xfrm>
            <a:off x="1219200" y="5762625"/>
            <a:ext cx="97536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468992040"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VALIDATION</a:t>
            </a:r>
            <a:endParaRPr/>
          </a:p>
        </p:txBody>
      </p:sp>
      <p:sp>
        <p:nvSpPr>
          <p:cNvPr id="255110214"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Implementation checks and experiment consistency</a:t>
            </a:r>
            <a:endParaRPr/>
          </a:p>
        </p:txBody>
      </p:sp>
      <p:sp>
        <p:nvSpPr>
          <p:cNvPr id="1077802571" name=""/>
          <p:cNvSpPr>
            <a:spLocks noGrp="1"/>
          </p:cNvSpPr>
          <p:nvPr/>
        </p:nvSpPr>
        <p:spPr bwMode="auto">
          <a:xfrm>
            <a:off x="609600" y="1085850"/>
            <a:ext cx="10972800" cy="9525"/>
          </a:xfrm>
          <a:prstGeom prst="line">
            <a:avLst/>
          </a:prstGeom>
          <a:noFill/>
          <a:ln w="28575">
            <a:solidFill>
              <a:srgbClr val="2A9D8F"/>
            </a:solidFill>
            <a:prstDash val="solid"/>
          </a:ln>
        </p:spPr>
      </p:sp>
      <p:sp>
        <p:nvSpPr>
          <p:cNvPr id="815657241" name=""/>
          <p:cNvSpPr>
            <a:spLocks noGrp="1"/>
          </p:cNvSpPr>
          <p:nvPr/>
        </p:nvSpPr>
        <p:spPr bwMode="auto">
          <a:xfrm>
            <a:off x="609600" y="6477000"/>
            <a:ext cx="10972800" cy="9525"/>
          </a:xfrm>
          <a:prstGeom prst="line">
            <a:avLst/>
          </a:prstGeom>
          <a:noFill/>
          <a:ln w="9525">
            <a:solidFill>
              <a:srgbClr val="D9E2EC"/>
            </a:solidFill>
            <a:prstDash val="solid"/>
          </a:ln>
        </p:spPr>
      </p:sp>
      <p:sp>
        <p:nvSpPr>
          <p:cNvPr id="203322173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338748331"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11 / 16</a:t>
            </a:r>
            <a:endParaRPr/>
          </a:p>
        </p:txBody>
      </p:sp>
      <p:sp>
        <p:nvSpPr>
          <p:cNvPr id="759139396" name=""/>
          <p:cNvSpPr>
            <a:spLocks noGrp="1"/>
          </p:cNvSpPr>
          <p:nvPr/>
        </p:nvSpPr>
        <p:spPr bwMode="auto">
          <a:xfrm>
            <a:off x="876299"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IMPLEMENTATION AND STATE VALIDATION</a:t>
            </a:r>
            <a:endParaRPr/>
          </a:p>
        </p:txBody>
      </p:sp>
      <p:sp>
        <p:nvSpPr>
          <p:cNvPr id="496407433" name=""/>
          <p:cNvSpPr>
            <a:spLocks noGrp="1"/>
          </p:cNvSpPr>
          <p:nvPr/>
        </p:nvSpPr>
        <p:spPr bwMode="auto">
          <a:xfrm>
            <a:off x="6934200"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EXPERIMENT OUTPUT CHECK</a:t>
            </a:r>
            <a:endParaRPr/>
          </a:p>
        </p:txBody>
      </p:sp>
      <p:sp>
        <p:nvSpPr>
          <p:cNvPr id="703211932" name=""/>
          <p:cNvSpPr>
            <a:spLocks noGrp="1"/>
          </p:cNvSpPr>
          <p:nvPr/>
        </p:nvSpPr>
        <p:spPr bwMode="auto">
          <a:xfrm>
            <a:off x="838200" y="1924050"/>
            <a:ext cx="4476750" cy="609600"/>
          </a:xfrm>
          <a:prstGeom prst="roundRect">
            <a:avLst>
              <a:gd name="adj" fmla="val 10938"/>
            </a:avLst>
          </a:prstGeom>
          <a:solidFill>
            <a:srgbClr val="E8F5F3"/>
          </a:solidFill>
          <a:ln w="11430">
            <a:solidFill>
              <a:srgbClr val="2A9D8F"/>
            </a:solidFill>
            <a:prstDash val="solid"/>
          </a:ln>
        </p:spPr>
      </p:sp>
      <p:sp>
        <p:nvSpPr>
          <p:cNvPr id="1463017102" name=""/>
          <p:cNvSpPr>
            <a:spLocks noGrp="1"/>
          </p:cNvSpPr>
          <p:nvPr/>
        </p:nvSpPr>
        <p:spPr bwMode="auto">
          <a:xfrm>
            <a:off x="990600" y="2000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Focused regression cases</a:t>
            </a:r>
            <a:endParaRPr/>
          </a:p>
        </p:txBody>
      </p:sp>
      <p:sp>
        <p:nvSpPr>
          <p:cNvPr id="1756251343" name=""/>
          <p:cNvSpPr>
            <a:spLocks noGrp="1"/>
          </p:cNvSpPr>
          <p:nvPr/>
        </p:nvSpPr>
        <p:spPr bwMode="auto">
          <a:xfrm>
            <a:off x="2724150" y="2505074"/>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770023856" name=""/>
          <p:cNvSpPr>
            <a:spLocks noGrp="1"/>
          </p:cNvSpPr>
          <p:nvPr/>
        </p:nvSpPr>
        <p:spPr bwMode="auto">
          <a:xfrm>
            <a:off x="838200" y="2800350"/>
            <a:ext cx="4476750" cy="781050"/>
          </a:xfrm>
          <a:prstGeom prst="roundRect">
            <a:avLst>
              <a:gd name="adj" fmla="val 8537"/>
            </a:avLst>
          </a:prstGeom>
          <a:solidFill>
            <a:srgbClr val="E8F5F3"/>
          </a:solidFill>
          <a:ln w="11430">
            <a:solidFill>
              <a:srgbClr val="2A9D8F"/>
            </a:solidFill>
            <a:prstDash val="solid"/>
          </a:ln>
        </p:spPr>
      </p:sp>
      <p:sp>
        <p:nvSpPr>
          <p:cNvPr id="1271557392" name=""/>
          <p:cNvSpPr>
            <a:spLocks noGrp="1"/>
          </p:cNvSpPr>
          <p:nvPr/>
        </p:nvSpPr>
        <p:spPr bwMode="auto">
          <a:xfrm>
            <a:off x="990600" y="2876550"/>
            <a:ext cx="41719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Bounded exhaustive validation</a:t>
            </a:r>
            <a:endParaRPr/>
          </a:p>
          <a:p>
            <a:pPr algn="ctr">
              <a:lnSpc>
                <a:spcPct val="105000"/>
              </a:lnSpc>
              <a:buNone/>
              <a:defRPr sz="1350" b="1" i="0">
                <a:solidFill>
                  <a:srgbClr val="243B53"/>
                </a:solidFill>
              </a:defRPr>
            </a:pPr>
            <a:r>
              <a:rPr sz="1350" b="1" i="0">
                <a:solidFill>
                  <a:srgbClr val="243B53"/>
                </a:solidFill>
              </a:rPr>
              <a:t>2,074 oracle-valid permutations, n ≤ 8</a:t>
            </a:r>
            <a:endParaRPr/>
          </a:p>
        </p:txBody>
      </p:sp>
      <p:sp>
        <p:nvSpPr>
          <p:cNvPr id="176633760" name=""/>
          <p:cNvSpPr>
            <a:spLocks noGrp="1"/>
          </p:cNvSpPr>
          <p:nvPr/>
        </p:nvSpPr>
        <p:spPr bwMode="auto">
          <a:xfrm>
            <a:off x="2724150" y="355282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454586112" name=""/>
          <p:cNvSpPr>
            <a:spLocks noGrp="1"/>
          </p:cNvSpPr>
          <p:nvPr/>
        </p:nvSpPr>
        <p:spPr bwMode="auto">
          <a:xfrm>
            <a:off x="838200" y="3829050"/>
            <a:ext cx="4476750" cy="609600"/>
          </a:xfrm>
          <a:prstGeom prst="roundRect">
            <a:avLst>
              <a:gd name="adj" fmla="val 10938"/>
            </a:avLst>
          </a:prstGeom>
          <a:solidFill>
            <a:srgbClr val="E8F5F3"/>
          </a:solidFill>
          <a:ln w="11430">
            <a:solidFill>
              <a:srgbClr val="2A9D8F"/>
            </a:solidFill>
            <a:prstDash val="solid"/>
          </a:ln>
        </p:spPr>
      </p:sp>
      <p:sp>
        <p:nvSpPr>
          <p:cNvPr id="243747694" name=""/>
          <p:cNvSpPr>
            <a:spLocks noGrp="1"/>
          </p:cNvSpPr>
          <p:nvPr/>
        </p:nvSpPr>
        <p:spPr bwMode="auto">
          <a:xfrm>
            <a:off x="990600" y="3905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Checked-state audits</a:t>
            </a:r>
            <a:endParaRPr/>
          </a:p>
        </p:txBody>
      </p:sp>
      <p:sp>
        <p:nvSpPr>
          <p:cNvPr id="1370787553" name=""/>
          <p:cNvSpPr>
            <a:spLocks noGrp="1"/>
          </p:cNvSpPr>
          <p:nvPr/>
        </p:nvSpPr>
        <p:spPr bwMode="auto">
          <a:xfrm>
            <a:off x="2724150" y="441007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055246765" name=""/>
          <p:cNvSpPr>
            <a:spLocks noGrp="1"/>
          </p:cNvSpPr>
          <p:nvPr/>
        </p:nvSpPr>
        <p:spPr bwMode="auto">
          <a:xfrm>
            <a:off x="838200" y="4705350"/>
            <a:ext cx="4476750" cy="609600"/>
          </a:xfrm>
          <a:prstGeom prst="roundRect">
            <a:avLst>
              <a:gd name="adj" fmla="val 10938"/>
            </a:avLst>
          </a:prstGeom>
          <a:solidFill>
            <a:srgbClr val="E8F5F3"/>
          </a:solidFill>
          <a:ln w="11430">
            <a:solidFill>
              <a:srgbClr val="2A9D8F"/>
            </a:solidFill>
            <a:prstDash val="solid"/>
          </a:ln>
        </p:spPr>
      </p:sp>
      <p:sp>
        <p:nvSpPr>
          <p:cNvPr id="466939484" name=""/>
          <p:cNvSpPr>
            <a:spLocks noGrp="1"/>
          </p:cNvSpPr>
          <p:nvPr/>
        </p:nvSpPr>
        <p:spPr bwMode="auto">
          <a:xfrm>
            <a:off x="990600" y="47815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Same-core deterministic replay</a:t>
            </a:r>
            <a:endParaRPr/>
          </a:p>
        </p:txBody>
      </p:sp>
      <p:sp>
        <p:nvSpPr>
          <p:cNvPr id="1030380634" name=""/>
          <p:cNvSpPr>
            <a:spLocks noGrp="1"/>
          </p:cNvSpPr>
          <p:nvPr/>
        </p:nvSpPr>
        <p:spPr bwMode="auto">
          <a:xfrm>
            <a:off x="6877050" y="2209800"/>
            <a:ext cx="4476750" cy="2381250"/>
          </a:xfrm>
          <a:prstGeom prst="roundRect">
            <a:avLst>
              <a:gd name="adj" fmla="val 3200"/>
            </a:avLst>
          </a:prstGeom>
          <a:solidFill>
            <a:srgbClr val="FCEEEA"/>
          </a:solidFill>
          <a:ln w="14288">
            <a:solidFill>
              <a:srgbClr val="E76F51"/>
            </a:solidFill>
            <a:prstDash val="solid"/>
          </a:ln>
        </p:spPr>
      </p:sp>
      <p:sp>
        <p:nvSpPr>
          <p:cNvPr id="860747673" name=""/>
          <p:cNvSpPr>
            <a:spLocks noGrp="1"/>
          </p:cNvSpPr>
          <p:nvPr/>
        </p:nvSpPr>
        <p:spPr bwMode="auto">
          <a:xfrm>
            <a:off x="7219950" y="2686050"/>
            <a:ext cx="3790949" cy="13525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243B53"/>
                </a:solidFill>
              </a:defRPr>
            </a:pPr>
            <a:r>
              <a:rPr sz="1750" b="1" i="0">
                <a:solidFill>
                  <a:srgbClr val="243B53"/>
                </a:solidFill>
              </a:rPr>
              <a:t>A separate validation path checked that the saved outputs match the fixed experiment setup and recomputed summaries.</a:t>
            </a:r>
            <a:endParaRPr/>
          </a:p>
        </p:txBody>
      </p:sp>
      <p:sp>
        <p:nvSpPr>
          <p:cNvPr id="2094900085" name=""/>
          <p:cNvSpPr>
            <a:spLocks noGrp="1"/>
          </p:cNvSpPr>
          <p:nvPr/>
        </p:nvSpPr>
        <p:spPr bwMode="auto">
          <a:xfrm>
            <a:off x="7239000" y="4819650"/>
            <a:ext cx="3752850" cy="3238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Full consistency checks: Backup C</a:t>
            </a:r>
            <a:endParaRPr/>
          </a:p>
        </p:txBody>
      </p:sp>
      <p:sp>
        <p:nvSpPr>
          <p:cNvPr id="1220861434" name=""/>
          <p:cNvSpPr>
            <a:spLocks noGrp="1"/>
          </p:cNvSpPr>
          <p:nvPr/>
        </p:nvSpPr>
        <p:spPr bwMode="auto">
          <a:xfrm>
            <a:off x="1333500" y="5810250"/>
            <a:ext cx="9525000" cy="381000"/>
          </a:xfrm>
          <a:prstGeom prst="rect">
            <a:avLst/>
          </a:prstGeom>
          <a:noFill/>
          <a:ln w="0">
            <a:noFill/>
            <a:prstDash val="solid"/>
          </a:ln>
        </p:spPr>
        <p:txBody>
          <a:bodyPr wrap="square" lIns="38100" tIns="19050" rIns="38100" bIns="19050" anchor="ctr">
            <a:normAutofit fontScale="96917"/>
          </a:bodyPr>
          <a:lstStyle/>
          <a:p>
            <a:pPr algn="ctr">
              <a:lnSpc>
                <a:spcPct val="105000"/>
              </a:lnSpc>
              <a:buNone/>
              <a:defRPr sz="1600" b="1" i="0">
                <a:solidFill>
                  <a:srgbClr val="102A43"/>
                </a:solidFill>
              </a:defRPr>
            </a:pPr>
            <a:r>
              <a:rPr sz="1600" b="1" i="0">
                <a:solidFill>
                  <a:srgbClr val="102A43"/>
                </a:solidFill>
              </a:rPr>
              <a:t>These checks support the evaluated cases. They do not prove correctness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58310505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EXPERIMENTAL METHOD</a:t>
            </a:r>
            <a:endParaRPr/>
          </a:p>
        </p:txBody>
      </p:sp>
      <p:sp>
        <p:nvSpPr>
          <p:cNvPr id="47327047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1421"/>
          </a:bodyPr>
          <a:lstStyle/>
          <a:p>
            <a:pPr algn="l">
              <a:lnSpc>
                <a:spcPct val="95000"/>
              </a:lnSpc>
              <a:buNone/>
              <a:defRPr sz="2700" b="1" i="0">
                <a:solidFill>
                  <a:srgbClr val="102A43"/>
                </a:solidFill>
              </a:defRPr>
            </a:pPr>
            <a:r>
              <a:rPr sz="2700" b="1" i="0">
                <a:solidFill>
                  <a:srgbClr val="102A43"/>
                </a:solidFill>
              </a:rPr>
              <a:t>The formal experiment keeps certification and audit outside paper timing</a:t>
            </a:r>
            <a:endParaRPr/>
          </a:p>
        </p:txBody>
      </p:sp>
      <p:sp>
        <p:nvSpPr>
          <p:cNvPr id="411364353" name=""/>
          <p:cNvSpPr>
            <a:spLocks noGrp="1"/>
          </p:cNvSpPr>
          <p:nvPr/>
        </p:nvSpPr>
        <p:spPr bwMode="auto">
          <a:xfrm>
            <a:off x="609600" y="1085850"/>
            <a:ext cx="10972800" cy="9525"/>
          </a:xfrm>
          <a:prstGeom prst="line">
            <a:avLst/>
          </a:prstGeom>
          <a:noFill/>
          <a:ln w="28575">
            <a:solidFill>
              <a:srgbClr val="2A9D8F"/>
            </a:solidFill>
            <a:prstDash val="solid"/>
          </a:ln>
        </p:spPr>
      </p:sp>
      <p:sp>
        <p:nvSpPr>
          <p:cNvPr id="1141813511" name=""/>
          <p:cNvSpPr>
            <a:spLocks noGrp="1"/>
          </p:cNvSpPr>
          <p:nvPr/>
        </p:nvSpPr>
        <p:spPr bwMode="auto">
          <a:xfrm>
            <a:off x="609600" y="6477000"/>
            <a:ext cx="10972800" cy="9525"/>
          </a:xfrm>
          <a:prstGeom prst="line">
            <a:avLst/>
          </a:prstGeom>
          <a:noFill/>
          <a:ln w="9525">
            <a:solidFill>
              <a:srgbClr val="D9E2EC"/>
            </a:solidFill>
            <a:prstDash val="solid"/>
          </a:ln>
        </p:spPr>
      </p:sp>
      <p:sp>
        <p:nvSpPr>
          <p:cNvPr id="147821288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1017316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12 / 16</a:t>
            </a:r>
            <a:endParaRPr/>
          </a:p>
        </p:txBody>
      </p:sp>
      <p:sp>
        <p:nvSpPr>
          <p:cNvPr id="1829283539" name=""/>
          <p:cNvSpPr>
            <a:spLocks noGrp="1"/>
          </p:cNvSpPr>
          <p:nvPr/>
        </p:nvSpPr>
        <p:spPr bwMode="auto">
          <a:xfrm>
            <a:off x="723900" y="1409700"/>
            <a:ext cx="10744200" cy="781050"/>
          </a:xfrm>
          <a:prstGeom prst="roundRect">
            <a:avLst>
              <a:gd name="adj" fmla="val 9756"/>
            </a:avLst>
          </a:prstGeom>
          <a:solidFill>
            <a:srgbClr val="102A43"/>
          </a:solidFill>
          <a:ln w="11430">
            <a:solidFill>
              <a:srgbClr val="102A43"/>
            </a:solidFill>
            <a:prstDash val="solid"/>
          </a:ln>
        </p:spPr>
      </p:sp>
      <p:sp>
        <p:nvSpPr>
          <p:cNvPr id="887875970" name=""/>
          <p:cNvSpPr>
            <a:spLocks noGrp="1"/>
          </p:cNvSpPr>
          <p:nvPr/>
        </p:nvSpPr>
        <p:spPr bwMode="auto">
          <a:xfrm>
            <a:off x="933450" y="1504950"/>
            <a:ext cx="69342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FFFFFF"/>
                </a:solidFill>
              </a:defRPr>
            </a:pPr>
            <a:r>
              <a:rPr sz="1750" b="1" i="0">
                <a:solidFill>
                  <a:srgbClr val="FFFFFF"/>
                </a:solidFill>
              </a:rPr>
              <a:t>5 sizes  ×  12 cases  ×  3 algorithms  ×  20 calls</a:t>
            </a:r>
            <a:endParaRPr/>
          </a:p>
        </p:txBody>
      </p:sp>
      <p:sp>
        <p:nvSpPr>
          <p:cNvPr id="1692657322" name=""/>
          <p:cNvSpPr>
            <a:spLocks noGrp="1"/>
          </p:cNvSpPr>
          <p:nvPr/>
        </p:nvSpPr>
        <p:spPr bwMode="auto">
          <a:xfrm>
            <a:off x="8096250" y="1504950"/>
            <a:ext cx="310515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3,600 measured rows</a:t>
            </a:r>
            <a:endParaRPr/>
          </a:p>
        </p:txBody>
      </p:sp>
      <p:sp>
        <p:nvSpPr>
          <p:cNvPr id="1443036322" name=""/>
          <p:cNvSpPr>
            <a:spLocks noGrp="1"/>
          </p:cNvSpPr>
          <p:nvPr/>
        </p:nvSpPr>
        <p:spPr bwMode="auto">
          <a:xfrm>
            <a:off x="704850" y="2647949"/>
            <a:ext cx="1295400" cy="781050"/>
          </a:xfrm>
          <a:prstGeom prst="roundRect">
            <a:avLst>
              <a:gd name="adj" fmla="val 8537"/>
            </a:avLst>
          </a:prstGeom>
          <a:solidFill>
            <a:srgbClr val="FFFFFF"/>
          </a:solidFill>
          <a:ln w="14288">
            <a:solidFill>
              <a:srgbClr val="52606D"/>
            </a:solidFill>
            <a:prstDash val="solid"/>
          </a:ln>
        </p:spPr>
      </p:sp>
      <p:sp>
        <p:nvSpPr>
          <p:cNvPr id="2075206268" name=""/>
          <p:cNvSpPr>
            <a:spLocks noGrp="1"/>
          </p:cNvSpPr>
          <p:nvPr/>
        </p:nvSpPr>
        <p:spPr bwMode="auto">
          <a:xfrm>
            <a:off x="7810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Generate</a:t>
            </a:r>
            <a:endParaRPr/>
          </a:p>
        </p:txBody>
      </p:sp>
      <p:sp>
        <p:nvSpPr>
          <p:cNvPr id="1450038504" name=""/>
          <p:cNvSpPr>
            <a:spLocks noGrp="1"/>
          </p:cNvSpPr>
          <p:nvPr/>
        </p:nvSpPr>
        <p:spPr bwMode="auto">
          <a:xfrm>
            <a:off x="2266950" y="2647949"/>
            <a:ext cx="1295400" cy="781050"/>
          </a:xfrm>
          <a:prstGeom prst="roundRect">
            <a:avLst>
              <a:gd name="adj" fmla="val 8537"/>
            </a:avLst>
          </a:prstGeom>
          <a:solidFill>
            <a:srgbClr val="FFFFFF"/>
          </a:solidFill>
          <a:ln w="14288">
            <a:solidFill>
              <a:srgbClr val="52606D"/>
            </a:solidFill>
            <a:prstDash val="solid"/>
          </a:ln>
        </p:spPr>
      </p:sp>
      <p:sp>
        <p:nvSpPr>
          <p:cNvPr id="1461553882" name=""/>
          <p:cNvSpPr>
            <a:spLocks noGrp="1"/>
          </p:cNvSpPr>
          <p:nvPr/>
        </p:nvSpPr>
        <p:spPr bwMode="auto">
          <a:xfrm>
            <a:off x="23431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Certify</a:t>
            </a:r>
            <a:endParaRPr/>
          </a:p>
        </p:txBody>
      </p:sp>
      <p:sp>
        <p:nvSpPr>
          <p:cNvPr id="595680969" name=""/>
          <p:cNvSpPr>
            <a:spLocks noGrp="1"/>
          </p:cNvSpPr>
          <p:nvPr/>
        </p:nvSpPr>
        <p:spPr bwMode="auto">
          <a:xfrm>
            <a:off x="3829050" y="2647949"/>
            <a:ext cx="1295400" cy="781050"/>
          </a:xfrm>
          <a:prstGeom prst="roundRect">
            <a:avLst>
              <a:gd name="adj" fmla="val 8537"/>
            </a:avLst>
          </a:prstGeom>
          <a:solidFill>
            <a:srgbClr val="FFFFFF"/>
          </a:solidFill>
          <a:ln w="14288">
            <a:solidFill>
              <a:srgbClr val="52606D"/>
            </a:solidFill>
            <a:prstDash val="solid"/>
          </a:ln>
        </p:spPr>
      </p:sp>
      <p:sp>
        <p:nvSpPr>
          <p:cNvPr id="126808591" name=""/>
          <p:cNvSpPr>
            <a:spLocks noGrp="1"/>
          </p:cNvSpPr>
          <p:nvPr/>
        </p:nvSpPr>
        <p:spPr bwMode="auto">
          <a:xfrm>
            <a:off x="39052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150" b="1" i="0">
                <a:solidFill>
                  <a:srgbClr val="102A43"/>
                </a:solidFill>
              </a:defRPr>
            </a:pPr>
            <a:r>
              <a:rPr sz="1150" b="1" i="0">
                <a:solidFill>
                  <a:srgbClr val="102A43"/>
                </a:solidFill>
              </a:rPr>
              <a:t>Checked-state</a:t>
            </a:r>
            <a:endParaRPr/>
          </a:p>
          <a:p>
            <a:pPr algn="ctr">
              <a:lnSpc>
                <a:spcPct val="105000"/>
              </a:lnSpc>
              <a:buNone/>
              <a:defRPr sz="1150" b="1" i="0">
                <a:solidFill>
                  <a:srgbClr val="102A43"/>
                </a:solidFill>
              </a:defRPr>
            </a:pPr>
            <a:r>
              <a:rPr sz="1150" b="1" i="0">
                <a:solidFill>
                  <a:srgbClr val="102A43"/>
                </a:solidFill>
              </a:rPr>
              <a:t>audit</a:t>
            </a:r>
            <a:endParaRPr/>
          </a:p>
        </p:txBody>
      </p:sp>
      <p:sp>
        <p:nvSpPr>
          <p:cNvPr id="1976733348" name=""/>
          <p:cNvSpPr>
            <a:spLocks noGrp="1"/>
          </p:cNvSpPr>
          <p:nvPr/>
        </p:nvSpPr>
        <p:spPr bwMode="auto">
          <a:xfrm>
            <a:off x="5391150" y="2647949"/>
            <a:ext cx="1295400" cy="781050"/>
          </a:xfrm>
          <a:prstGeom prst="roundRect">
            <a:avLst>
              <a:gd name="adj" fmla="val 8537"/>
            </a:avLst>
          </a:prstGeom>
          <a:solidFill>
            <a:srgbClr val="FFFFFF"/>
          </a:solidFill>
          <a:ln w="14288">
            <a:solidFill>
              <a:srgbClr val="52606D"/>
            </a:solidFill>
            <a:prstDash val="solid"/>
          </a:ln>
        </p:spPr>
      </p:sp>
      <p:sp>
        <p:nvSpPr>
          <p:cNvPr id="2026757602" name=""/>
          <p:cNvSpPr>
            <a:spLocks noGrp="1"/>
          </p:cNvSpPr>
          <p:nvPr/>
        </p:nvSpPr>
        <p:spPr bwMode="auto">
          <a:xfrm>
            <a:off x="54673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Warm-up</a:t>
            </a:r>
            <a:endParaRPr/>
          </a:p>
        </p:txBody>
      </p:sp>
      <p:sp>
        <p:nvSpPr>
          <p:cNvPr id="606536477" name=""/>
          <p:cNvSpPr>
            <a:spLocks noGrp="1"/>
          </p:cNvSpPr>
          <p:nvPr/>
        </p:nvSpPr>
        <p:spPr bwMode="auto">
          <a:xfrm>
            <a:off x="6953250" y="2647949"/>
            <a:ext cx="1295400" cy="781050"/>
          </a:xfrm>
          <a:prstGeom prst="roundRect">
            <a:avLst>
              <a:gd name="adj" fmla="val 8537"/>
            </a:avLst>
          </a:prstGeom>
          <a:solidFill>
            <a:srgbClr val="FCEEEA"/>
          </a:solidFill>
          <a:ln w="19050">
            <a:solidFill>
              <a:srgbClr val="E76F51"/>
            </a:solidFill>
            <a:prstDash val="solid"/>
          </a:ln>
        </p:spPr>
      </p:sp>
      <p:sp>
        <p:nvSpPr>
          <p:cNvPr id="2007997415" name=""/>
          <p:cNvSpPr>
            <a:spLocks noGrp="1"/>
          </p:cNvSpPr>
          <p:nvPr/>
        </p:nvSpPr>
        <p:spPr bwMode="auto">
          <a:xfrm>
            <a:off x="70294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Measure</a:t>
            </a:r>
            <a:endParaRPr/>
          </a:p>
        </p:txBody>
      </p:sp>
      <p:sp>
        <p:nvSpPr>
          <p:cNvPr id="975508433" name=""/>
          <p:cNvSpPr>
            <a:spLocks noGrp="1"/>
          </p:cNvSpPr>
          <p:nvPr/>
        </p:nvSpPr>
        <p:spPr bwMode="auto">
          <a:xfrm>
            <a:off x="8515350" y="2647949"/>
            <a:ext cx="1295400" cy="781050"/>
          </a:xfrm>
          <a:prstGeom prst="roundRect">
            <a:avLst>
              <a:gd name="adj" fmla="val 8537"/>
            </a:avLst>
          </a:prstGeom>
          <a:solidFill>
            <a:srgbClr val="FFFFFF"/>
          </a:solidFill>
          <a:ln w="14288">
            <a:solidFill>
              <a:srgbClr val="52606D"/>
            </a:solidFill>
            <a:prstDash val="solid"/>
          </a:ln>
        </p:spPr>
      </p:sp>
      <p:sp>
        <p:nvSpPr>
          <p:cNvPr id="2077483835" name=""/>
          <p:cNvSpPr>
            <a:spLocks noGrp="1"/>
          </p:cNvSpPr>
          <p:nvPr/>
        </p:nvSpPr>
        <p:spPr bwMode="auto">
          <a:xfrm>
            <a:off x="85915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Aggregate</a:t>
            </a:r>
            <a:endParaRPr/>
          </a:p>
        </p:txBody>
      </p:sp>
      <p:sp>
        <p:nvSpPr>
          <p:cNvPr id="894900818" name=""/>
          <p:cNvSpPr>
            <a:spLocks noGrp="1"/>
          </p:cNvSpPr>
          <p:nvPr/>
        </p:nvSpPr>
        <p:spPr bwMode="auto">
          <a:xfrm>
            <a:off x="10077450" y="2647949"/>
            <a:ext cx="1295400" cy="781050"/>
          </a:xfrm>
          <a:prstGeom prst="roundRect">
            <a:avLst>
              <a:gd name="adj" fmla="val 8537"/>
            </a:avLst>
          </a:prstGeom>
          <a:solidFill>
            <a:srgbClr val="FFFFFF"/>
          </a:solidFill>
          <a:ln w="14288">
            <a:solidFill>
              <a:srgbClr val="52606D"/>
            </a:solidFill>
            <a:prstDash val="solid"/>
          </a:ln>
        </p:spPr>
      </p:sp>
      <p:sp>
        <p:nvSpPr>
          <p:cNvPr id="1394579460" name=""/>
          <p:cNvSpPr>
            <a:spLocks noGrp="1"/>
          </p:cNvSpPr>
          <p:nvPr/>
        </p:nvSpPr>
        <p:spPr bwMode="auto">
          <a:xfrm>
            <a:off x="101536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Validate</a:t>
            </a:r>
            <a:endParaRPr/>
          </a:p>
          <a:p>
            <a:pPr algn="ctr">
              <a:lnSpc>
                <a:spcPct val="105000"/>
              </a:lnSpc>
              <a:buNone/>
              <a:defRPr sz="1350" b="1" i="0">
                <a:solidFill>
                  <a:srgbClr val="102A43"/>
                </a:solidFill>
              </a:defRPr>
            </a:pPr>
            <a:r>
              <a:rPr sz="1350" b="1" i="0">
                <a:solidFill>
                  <a:srgbClr val="102A43"/>
                </a:solidFill>
              </a:rPr>
              <a:t>and archive</a:t>
            </a:r>
            <a:endParaRPr/>
          </a:p>
        </p:txBody>
      </p:sp>
      <p:cxnSp>
        <p:nvCxnSpPr>
          <p:cNvPr id="2075227906" name=""/>
          <p:cNvCxnSpPr>
            <a:stCxn id="1443036322" idx="3"/>
            <a:endCxn id="1450038504" idx="1"/>
          </p:cNvCxnSpPr>
          <p:nvPr/>
        </p:nvCxnSpPr>
        <p:spPr bwMode="auto">
          <a:xfrm>
            <a:off x="2000250" y="3038475"/>
            <a:ext cx="266700" cy="0"/>
          </a:xfrm>
          <a:prstGeom prst="straightConnector1">
            <a:avLst/>
          </a:prstGeom>
          <a:ln w="15240">
            <a:solidFill>
              <a:srgbClr val="52606D"/>
            </a:solidFill>
            <a:prstDash val="solid"/>
            <a:tailEnd type="arrow" w="sm" len="sm"/>
          </a:ln>
        </p:spPr>
      </p:cxnSp>
      <p:cxnSp>
        <p:nvCxnSpPr>
          <p:cNvPr id="1916633498" name=""/>
          <p:cNvCxnSpPr>
            <a:stCxn id="1450038504" idx="3"/>
            <a:endCxn id="595680969" idx="1"/>
          </p:cNvCxnSpPr>
          <p:nvPr/>
        </p:nvCxnSpPr>
        <p:spPr bwMode="auto">
          <a:xfrm>
            <a:off x="3562350" y="3038475"/>
            <a:ext cx="266700" cy="0"/>
          </a:xfrm>
          <a:prstGeom prst="straightConnector1">
            <a:avLst/>
          </a:prstGeom>
          <a:ln w="15240">
            <a:solidFill>
              <a:srgbClr val="52606D"/>
            </a:solidFill>
            <a:prstDash val="solid"/>
            <a:tailEnd type="arrow" w="sm" len="sm"/>
          </a:ln>
        </p:spPr>
      </p:cxnSp>
      <p:cxnSp>
        <p:nvCxnSpPr>
          <p:cNvPr id="997123728" name=""/>
          <p:cNvCxnSpPr>
            <a:stCxn id="595680969" idx="3"/>
            <a:endCxn id="1976733348" idx="1"/>
          </p:cNvCxnSpPr>
          <p:nvPr/>
        </p:nvCxnSpPr>
        <p:spPr bwMode="auto">
          <a:xfrm>
            <a:off x="5124450" y="3038475"/>
            <a:ext cx="266700" cy="0"/>
          </a:xfrm>
          <a:prstGeom prst="straightConnector1">
            <a:avLst/>
          </a:prstGeom>
          <a:ln w="15240">
            <a:solidFill>
              <a:srgbClr val="52606D"/>
            </a:solidFill>
            <a:prstDash val="solid"/>
            <a:tailEnd type="arrow" w="sm" len="sm"/>
          </a:ln>
        </p:spPr>
      </p:cxnSp>
      <p:cxnSp>
        <p:nvCxnSpPr>
          <p:cNvPr id="281022711" name=""/>
          <p:cNvCxnSpPr>
            <a:stCxn id="1976733348" idx="3"/>
            <a:endCxn id="606536477" idx="1"/>
          </p:cNvCxnSpPr>
          <p:nvPr/>
        </p:nvCxnSpPr>
        <p:spPr bwMode="auto">
          <a:xfrm>
            <a:off x="6686550" y="3038475"/>
            <a:ext cx="266700" cy="0"/>
          </a:xfrm>
          <a:prstGeom prst="straightConnector1">
            <a:avLst/>
          </a:prstGeom>
          <a:ln w="15240">
            <a:solidFill>
              <a:srgbClr val="52606D"/>
            </a:solidFill>
            <a:prstDash val="solid"/>
            <a:tailEnd type="arrow" w="sm" len="sm"/>
          </a:ln>
        </p:spPr>
      </p:cxnSp>
      <p:cxnSp>
        <p:nvCxnSpPr>
          <p:cNvPr id="1830069525" name=""/>
          <p:cNvCxnSpPr>
            <a:stCxn id="606536477" idx="3"/>
            <a:endCxn id="975508433" idx="1"/>
          </p:cNvCxnSpPr>
          <p:nvPr/>
        </p:nvCxnSpPr>
        <p:spPr bwMode="auto">
          <a:xfrm>
            <a:off x="8248650" y="3038475"/>
            <a:ext cx="266700" cy="0"/>
          </a:xfrm>
          <a:prstGeom prst="straightConnector1">
            <a:avLst/>
          </a:prstGeom>
          <a:ln w="15240">
            <a:solidFill>
              <a:srgbClr val="52606D"/>
            </a:solidFill>
            <a:prstDash val="solid"/>
            <a:tailEnd type="arrow" w="sm" len="sm"/>
          </a:ln>
        </p:spPr>
      </p:cxnSp>
      <p:cxnSp>
        <p:nvCxnSpPr>
          <p:cNvPr id="130284769" name=""/>
          <p:cNvCxnSpPr>
            <a:stCxn id="975508433" idx="3"/>
            <a:endCxn id="894900818" idx="1"/>
          </p:cNvCxnSpPr>
          <p:nvPr/>
        </p:nvCxnSpPr>
        <p:spPr bwMode="auto">
          <a:xfrm>
            <a:off x="9810750" y="3038475"/>
            <a:ext cx="266700" cy="0"/>
          </a:xfrm>
          <a:prstGeom prst="straightConnector1">
            <a:avLst/>
          </a:prstGeom>
          <a:ln w="15240">
            <a:solidFill>
              <a:srgbClr val="52606D"/>
            </a:solidFill>
            <a:prstDash val="solid"/>
            <a:tailEnd type="arrow" w="sm" len="sm"/>
          </a:ln>
        </p:spPr>
      </p:cxnSp>
      <p:sp>
        <p:nvSpPr>
          <p:cNvPr id="1088998789" name=""/>
          <p:cNvSpPr>
            <a:spLocks noGrp="1"/>
          </p:cNvSpPr>
          <p:nvPr/>
        </p:nvSpPr>
        <p:spPr bwMode="auto">
          <a:xfrm>
            <a:off x="723900" y="3905250"/>
            <a:ext cx="3219449" cy="990600"/>
          </a:xfrm>
          <a:prstGeom prst="roundRect">
            <a:avLst>
              <a:gd name="adj" fmla="val 7692"/>
            </a:avLst>
          </a:prstGeom>
          <a:solidFill>
            <a:srgbClr val="E8F5F3"/>
          </a:solidFill>
          <a:ln w="14288">
            <a:solidFill>
              <a:srgbClr val="2A9D8F"/>
            </a:solidFill>
            <a:prstDash val="solid"/>
          </a:ln>
        </p:spPr>
      </p:sp>
      <p:sp>
        <p:nvSpPr>
          <p:cNvPr id="1488424037" name=""/>
          <p:cNvSpPr>
            <a:spLocks noGrp="1"/>
          </p:cNvSpPr>
          <p:nvPr/>
        </p:nvSpPr>
        <p:spPr bwMode="auto">
          <a:xfrm>
            <a:off x="876299"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Certification outside paper timing</a:t>
            </a:r>
            <a:endParaRPr/>
          </a:p>
        </p:txBody>
      </p:sp>
      <p:sp>
        <p:nvSpPr>
          <p:cNvPr id="1649278844" name=""/>
          <p:cNvSpPr>
            <a:spLocks noGrp="1"/>
          </p:cNvSpPr>
          <p:nvPr/>
        </p:nvSpPr>
        <p:spPr bwMode="auto">
          <a:xfrm>
            <a:off x="8953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valid-input precondition</a:t>
            </a:r>
            <a:endParaRPr/>
          </a:p>
        </p:txBody>
      </p:sp>
      <p:sp>
        <p:nvSpPr>
          <p:cNvPr id="1017096975" name=""/>
          <p:cNvSpPr>
            <a:spLocks noGrp="1"/>
          </p:cNvSpPr>
          <p:nvPr/>
        </p:nvSpPr>
        <p:spPr bwMode="auto">
          <a:xfrm>
            <a:off x="4248150" y="3905250"/>
            <a:ext cx="3219449" cy="990600"/>
          </a:xfrm>
          <a:prstGeom prst="roundRect">
            <a:avLst>
              <a:gd name="adj" fmla="val 7692"/>
            </a:avLst>
          </a:prstGeom>
          <a:solidFill>
            <a:srgbClr val="E8F5F3"/>
          </a:solidFill>
          <a:ln w="14288">
            <a:solidFill>
              <a:srgbClr val="2A9D8F"/>
            </a:solidFill>
            <a:prstDash val="solid"/>
          </a:ln>
        </p:spPr>
      </p:sp>
      <p:sp>
        <p:nvSpPr>
          <p:cNvPr id="852371675" name=""/>
          <p:cNvSpPr>
            <a:spLocks noGrp="1"/>
          </p:cNvSpPr>
          <p:nvPr/>
        </p:nvSpPr>
        <p:spPr bwMode="auto">
          <a:xfrm>
            <a:off x="4400550" y="4038600"/>
            <a:ext cx="2914650" cy="400050"/>
          </a:xfrm>
          <a:prstGeom prst="rect">
            <a:avLst/>
          </a:prstGeom>
          <a:noFill/>
          <a:ln w="0">
            <a:noFill/>
            <a:prstDash val="solid"/>
          </a:ln>
        </p:spPr>
        <p:txBody>
          <a:bodyPr wrap="square" lIns="38100" tIns="19050" rIns="38100" bIns="19050" anchor="ctr">
            <a:normAutofit fontScale="83774"/>
          </a:bodyPr>
          <a:lstStyle/>
          <a:p>
            <a:pPr algn="ctr">
              <a:lnSpc>
                <a:spcPct val="105000"/>
              </a:lnSpc>
              <a:buNone/>
              <a:defRPr sz="1350" b="1" i="0">
                <a:solidFill>
                  <a:srgbClr val="2A9D8F"/>
                </a:solidFill>
              </a:defRPr>
            </a:pPr>
            <a:r>
              <a:rPr sz="1350" b="1" i="0">
                <a:solidFill>
                  <a:srgbClr val="2A9D8F"/>
                </a:solidFill>
              </a:rPr>
              <a:t>Checked-state audit outside paper timing</a:t>
            </a:r>
            <a:endParaRPr/>
          </a:p>
        </p:txBody>
      </p:sp>
      <p:sp>
        <p:nvSpPr>
          <p:cNvPr id="787372721" name=""/>
          <p:cNvSpPr>
            <a:spLocks noGrp="1"/>
          </p:cNvSpPr>
          <p:nvPr/>
        </p:nvSpPr>
        <p:spPr bwMode="auto">
          <a:xfrm>
            <a:off x="441960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one audit per exact case</a:t>
            </a:r>
            <a:endParaRPr/>
          </a:p>
        </p:txBody>
      </p:sp>
      <p:sp>
        <p:nvSpPr>
          <p:cNvPr id="309979979" name=""/>
          <p:cNvSpPr>
            <a:spLocks noGrp="1"/>
          </p:cNvSpPr>
          <p:nvPr/>
        </p:nvSpPr>
        <p:spPr bwMode="auto">
          <a:xfrm>
            <a:off x="7772400" y="3905250"/>
            <a:ext cx="3219449" cy="990600"/>
          </a:xfrm>
          <a:prstGeom prst="roundRect">
            <a:avLst>
              <a:gd name="adj" fmla="val 7692"/>
            </a:avLst>
          </a:prstGeom>
          <a:solidFill>
            <a:srgbClr val="FCEEEA"/>
          </a:solidFill>
          <a:ln w="14288">
            <a:solidFill>
              <a:srgbClr val="E76F51"/>
            </a:solidFill>
            <a:prstDash val="solid"/>
          </a:ln>
        </p:spPr>
      </p:sp>
      <p:sp>
        <p:nvSpPr>
          <p:cNvPr id="1115169382" name=""/>
          <p:cNvSpPr>
            <a:spLocks noGrp="1"/>
          </p:cNvSpPr>
          <p:nvPr/>
        </p:nvSpPr>
        <p:spPr bwMode="auto">
          <a:xfrm>
            <a:off x="7924800"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Minimal paper call inside timing</a:t>
            </a:r>
            <a:endParaRPr/>
          </a:p>
        </p:txBody>
      </p:sp>
      <p:sp>
        <p:nvSpPr>
          <p:cNvPr id="586285721" name=""/>
          <p:cNvSpPr>
            <a:spLocks noGrp="1"/>
          </p:cNvSpPr>
          <p:nvPr/>
        </p:nvSpPr>
        <p:spPr bwMode="auto">
          <a:xfrm>
            <a:off x="79438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output recovery remains timed</a:t>
            </a:r>
            <a:endParaRPr/>
          </a:p>
        </p:txBody>
      </p:sp>
      <p:sp>
        <p:nvSpPr>
          <p:cNvPr id="888886077" name=""/>
          <p:cNvSpPr>
            <a:spLocks noGrp="1"/>
          </p:cNvSpPr>
          <p:nvPr/>
        </p:nvSpPr>
        <p:spPr bwMode="auto">
          <a:xfrm>
            <a:off x="1143000" y="5124450"/>
            <a:ext cx="9906000" cy="3048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endParaRPr/>
          </a:p>
        </p:txBody>
      </p:sp>
      <p:sp>
        <p:nvSpPr>
          <p:cNvPr id="2074932035" name=""/>
          <p:cNvSpPr>
            <a:spLocks noGrp="1"/>
          </p:cNvSpPr>
          <p:nvPr/>
        </p:nvSpPr>
        <p:spPr bwMode="auto">
          <a:xfrm>
            <a:off x="2019300" y="5581649"/>
            <a:ext cx="8153399" cy="495300"/>
          </a:xfrm>
          <a:prstGeom prst="roundRect">
            <a:avLst>
              <a:gd name="adj" fmla="val 11538"/>
            </a:avLst>
          </a:prstGeom>
          <a:solidFill>
            <a:srgbClr val="FCEEEA"/>
          </a:solidFill>
          <a:ln w="14288">
            <a:solidFill>
              <a:srgbClr val="E76F51"/>
            </a:solidFill>
            <a:prstDash val="solid"/>
          </a:ln>
        </p:spPr>
      </p:sp>
      <p:sp>
        <p:nvSpPr>
          <p:cNvPr id="607098985" name=""/>
          <p:cNvSpPr>
            <a:spLocks noGrp="1"/>
          </p:cNvSpPr>
          <p:nvPr/>
        </p:nvSpPr>
        <p:spPr bwMode="auto">
          <a:xfrm>
            <a:off x="2190750" y="5638800"/>
            <a:ext cx="7810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Paper and reference use different timing scopes, so this ratio is not an end-to-end speedup.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128499724"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492494807"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All 60 evaluated cases returned the correct output</a:t>
            </a:r>
            <a:endParaRPr/>
          </a:p>
        </p:txBody>
      </p:sp>
      <p:sp>
        <p:nvSpPr>
          <p:cNvPr id="1269381932" name=""/>
          <p:cNvSpPr>
            <a:spLocks noGrp="1"/>
          </p:cNvSpPr>
          <p:nvPr/>
        </p:nvSpPr>
        <p:spPr bwMode="auto">
          <a:xfrm>
            <a:off x="609600" y="1085850"/>
            <a:ext cx="10972800" cy="9525"/>
          </a:xfrm>
          <a:prstGeom prst="line">
            <a:avLst/>
          </a:prstGeom>
          <a:noFill/>
          <a:ln w="28575">
            <a:solidFill>
              <a:srgbClr val="2A9D8F"/>
            </a:solidFill>
            <a:prstDash val="solid"/>
          </a:ln>
        </p:spPr>
      </p:sp>
      <p:sp>
        <p:nvSpPr>
          <p:cNvPr id="1516243169" name=""/>
          <p:cNvSpPr>
            <a:spLocks noGrp="1"/>
          </p:cNvSpPr>
          <p:nvPr/>
        </p:nvSpPr>
        <p:spPr bwMode="auto">
          <a:xfrm>
            <a:off x="609600" y="6477000"/>
            <a:ext cx="10972800" cy="9525"/>
          </a:xfrm>
          <a:prstGeom prst="line">
            <a:avLst/>
          </a:prstGeom>
          <a:noFill/>
          <a:ln w="9525">
            <a:solidFill>
              <a:srgbClr val="D9E2EC"/>
            </a:solidFill>
            <a:prstDash val="solid"/>
          </a:ln>
        </p:spPr>
      </p:sp>
      <p:sp>
        <p:nvSpPr>
          <p:cNvPr id="921921734"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33673573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13 / 16</a:t>
            </a:r>
            <a:endParaRPr/>
          </a:p>
        </p:txBody>
      </p:sp>
      <p:sp>
        <p:nvSpPr>
          <p:cNvPr id="532011290" name=""/>
          <p:cNvSpPr>
            <a:spLocks noGrp="1"/>
          </p:cNvSpPr>
          <p:nvPr/>
        </p:nvSpPr>
        <p:spPr bwMode="auto">
          <a:xfrm>
            <a:off x="123825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2A9D8F"/>
                </a:solidFill>
              </a:defRPr>
            </a:pPr>
            <a:r>
              <a:rPr sz="5400" b="1" i="0">
                <a:solidFill>
                  <a:srgbClr val="2A9D8F"/>
                </a:solidFill>
              </a:rPr>
              <a:t>60</a:t>
            </a:r>
            <a:endParaRPr/>
          </a:p>
        </p:txBody>
      </p:sp>
      <p:sp>
        <p:nvSpPr>
          <p:cNvPr id="1429424508" name=""/>
          <p:cNvSpPr>
            <a:spLocks noGrp="1"/>
          </p:cNvSpPr>
          <p:nvPr/>
        </p:nvSpPr>
        <p:spPr bwMode="auto">
          <a:xfrm>
            <a:off x="123825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exact cases</a:t>
            </a:r>
            <a:endParaRPr/>
          </a:p>
        </p:txBody>
      </p:sp>
      <p:sp>
        <p:nvSpPr>
          <p:cNvPr id="1467373367" name=""/>
          <p:cNvSpPr>
            <a:spLocks noGrp="1"/>
          </p:cNvSpPr>
          <p:nvPr/>
        </p:nvSpPr>
        <p:spPr bwMode="auto">
          <a:xfrm>
            <a:off x="704850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1F8A70"/>
                </a:solidFill>
              </a:defRPr>
            </a:pPr>
            <a:r>
              <a:rPr sz="5400" b="1" i="0">
                <a:solidFill>
                  <a:srgbClr val="1F8A70"/>
                </a:solidFill>
              </a:rPr>
              <a:t>0</a:t>
            </a:r>
            <a:endParaRPr/>
          </a:p>
        </p:txBody>
      </p:sp>
      <p:sp>
        <p:nvSpPr>
          <p:cNvPr id="1410696115" name=""/>
          <p:cNvSpPr>
            <a:spLocks noGrp="1"/>
          </p:cNvSpPr>
          <p:nvPr/>
        </p:nvSpPr>
        <p:spPr bwMode="auto">
          <a:xfrm>
            <a:off x="704850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recorded correctness errors</a:t>
            </a:r>
            <a:endParaRPr/>
          </a:p>
        </p:txBody>
      </p:sp>
      <p:sp>
        <p:nvSpPr>
          <p:cNvPr id="979484065" name=""/>
          <p:cNvSpPr>
            <a:spLocks noGrp="1"/>
          </p:cNvSpPr>
          <p:nvPr/>
        </p:nvSpPr>
        <p:spPr bwMode="auto">
          <a:xfrm>
            <a:off x="723900" y="3371850"/>
            <a:ext cx="10744200" cy="9525"/>
          </a:xfrm>
          <a:prstGeom prst="line">
            <a:avLst/>
          </a:prstGeom>
          <a:noFill/>
          <a:ln w="19050">
            <a:solidFill>
              <a:srgbClr val="D9E2EC"/>
            </a:solidFill>
            <a:prstDash val="solid"/>
          </a:ln>
        </p:spPr>
      </p:sp>
      <p:sp>
        <p:nvSpPr>
          <p:cNvPr id="472282748" name=""/>
          <p:cNvSpPr>
            <a:spLocks noGrp="1"/>
          </p:cNvSpPr>
          <p:nvPr/>
        </p:nvSpPr>
        <p:spPr bwMode="auto">
          <a:xfrm>
            <a:off x="1524000" y="3638550"/>
            <a:ext cx="91440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200" b="1" i="0">
                <a:solidFill>
                  <a:srgbClr val="102A43"/>
                </a:solidFill>
              </a:defRPr>
            </a:pPr>
            <a:r>
              <a:rPr sz="2200" b="1" i="0">
                <a:solidFill>
                  <a:srgbClr val="102A43"/>
                </a:solidFill>
              </a:rPr>
              <a:t>Each case was oracle-certified and checked once before timing.</a:t>
            </a:r>
            <a:endParaRPr/>
          </a:p>
        </p:txBody>
      </p:sp>
      <p:sp>
        <p:nvSpPr>
          <p:cNvPr id="1919228034" name=""/>
          <p:cNvSpPr>
            <a:spLocks noGrp="1"/>
          </p:cNvSpPr>
          <p:nvPr/>
        </p:nvSpPr>
        <p:spPr bwMode="auto">
          <a:xfrm>
            <a:off x="1581150" y="4514850"/>
            <a:ext cx="9029700" cy="876299"/>
          </a:xfrm>
          <a:prstGeom prst="roundRect">
            <a:avLst>
              <a:gd name="adj" fmla="val 8696"/>
            </a:avLst>
          </a:prstGeom>
          <a:solidFill>
            <a:srgbClr val="EAF1F8"/>
          </a:solidFill>
          <a:ln w="14288">
            <a:solidFill>
              <a:srgbClr val="102A43"/>
            </a:solidFill>
            <a:prstDash val="solid"/>
          </a:ln>
        </p:spPr>
      </p:sp>
      <p:sp>
        <p:nvSpPr>
          <p:cNvPr id="1351524825" name=""/>
          <p:cNvSpPr>
            <a:spLocks noGrp="1"/>
          </p:cNvSpPr>
          <p:nvPr/>
        </p:nvSpPr>
        <p:spPr bwMode="auto">
          <a:xfrm>
            <a:off x="1847850" y="4686300"/>
            <a:ext cx="84963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0" i="0">
                <a:solidFill>
                  <a:srgbClr val="243B53"/>
                </a:solidFill>
              </a:defRPr>
            </a:pPr>
            <a:r>
              <a:rPr sz="1650" b="0" i="0">
                <a:solidFill>
                  <a:srgbClr val="243B53"/>
                </a:solidFill>
              </a:rPr>
              <a:t>The 3,600 timing rows carry the corresponding case-level audit result.</a:t>
            </a:r>
            <a:endParaRPr/>
          </a:p>
        </p:txBody>
      </p:sp>
      <p:sp>
        <p:nvSpPr>
          <p:cNvPr id="1467731315" name=""/>
          <p:cNvSpPr>
            <a:spLocks noGrp="1"/>
          </p:cNvSpPr>
          <p:nvPr/>
        </p:nvSpPr>
        <p:spPr bwMode="auto">
          <a:xfrm>
            <a:off x="1485900" y="5772150"/>
            <a:ext cx="9220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These results cover the tested valid cases only.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5620664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157165459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paper/reference ratio decreases across the five tested sizes</a:t>
            </a:r>
            <a:endParaRPr/>
          </a:p>
        </p:txBody>
      </p:sp>
      <p:sp>
        <p:nvSpPr>
          <p:cNvPr id="291275196" name=""/>
          <p:cNvSpPr>
            <a:spLocks noGrp="1"/>
          </p:cNvSpPr>
          <p:nvPr/>
        </p:nvSpPr>
        <p:spPr bwMode="auto">
          <a:xfrm>
            <a:off x="609600" y="1085850"/>
            <a:ext cx="10972800" cy="9525"/>
          </a:xfrm>
          <a:prstGeom prst="line">
            <a:avLst/>
          </a:prstGeom>
          <a:noFill/>
          <a:ln w="28575">
            <a:solidFill>
              <a:srgbClr val="2A9D8F"/>
            </a:solidFill>
            <a:prstDash val="solid"/>
          </a:ln>
        </p:spPr>
      </p:sp>
      <p:sp>
        <p:nvSpPr>
          <p:cNvPr id="927358903" name=""/>
          <p:cNvSpPr>
            <a:spLocks noGrp="1"/>
          </p:cNvSpPr>
          <p:nvPr/>
        </p:nvSpPr>
        <p:spPr bwMode="auto">
          <a:xfrm>
            <a:off x="609600" y="6477000"/>
            <a:ext cx="10972800" cy="9525"/>
          </a:xfrm>
          <a:prstGeom prst="line">
            <a:avLst/>
          </a:prstGeom>
          <a:noFill/>
          <a:ln w="9525">
            <a:solidFill>
              <a:srgbClr val="D9E2EC"/>
            </a:solidFill>
            <a:prstDash val="solid"/>
          </a:ln>
        </p:spPr>
      </p:sp>
      <p:sp>
        <p:nvSpPr>
          <p:cNvPr id="95140821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12757335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14 / 16</a:t>
            </a:r>
            <a:endParaRPr/>
          </a:p>
        </p:txBody>
      </p:sp>
      <p:graphicFrame>
        <p:nvGraphicFramePr>
          <p:cNvPr id="610288532" name="Chart"/>
          <p:cNvGraphicFramePr>
            <a:graphicFrameLocks xmlns:a="http://schemas.openxmlformats.org/drawingml/2006/main"/>
          </p:cNvGraphicFramePr>
          <p:nvPr/>
        </p:nvGraphicFramePr>
        <p:xfrm rot="0">
          <a:off x="647700" y="1409700"/>
          <a:ext cx="6858000" cy="4095750"/>
        </p:xfrm>
        <a:graphic>
          <a:graphicData uri="http://schemas.openxmlformats.org/drawingml/2006/chart">
            <c:chart xmlns:c="http://schemas.openxmlformats.org/drawingml/2006/chart" xmlns:r="http://schemas.openxmlformats.org/officeDocument/2006/relationships" r:id="rId3"/>
          </a:graphicData>
        </a:graphic>
      </p:graphicFrame>
      <p:sp>
        <p:nvSpPr>
          <p:cNvPr id="404634331" name=""/>
          <p:cNvSpPr>
            <a:spLocks noGrp="1"/>
          </p:cNvSpPr>
          <p:nvPr/>
        </p:nvSpPr>
        <p:spPr bwMode="auto">
          <a:xfrm>
            <a:off x="7905750" y="1524000"/>
            <a:ext cx="3333750" cy="990600"/>
          </a:xfrm>
          <a:prstGeom prst="roundRect">
            <a:avLst>
              <a:gd name="adj" fmla="val 7692"/>
            </a:avLst>
          </a:prstGeom>
          <a:solidFill>
            <a:srgbClr val="E8F5F3"/>
          </a:solidFill>
          <a:ln w="11430">
            <a:solidFill>
              <a:srgbClr val="2A9D8F"/>
            </a:solidFill>
            <a:prstDash val="solid"/>
          </a:ln>
        </p:spPr>
      </p:sp>
      <p:sp>
        <p:nvSpPr>
          <p:cNvPr id="406934816" name=""/>
          <p:cNvSpPr>
            <a:spLocks noGrp="1"/>
          </p:cNvSpPr>
          <p:nvPr/>
        </p:nvSpPr>
        <p:spPr bwMode="auto">
          <a:xfrm>
            <a:off x="8096250" y="1638300"/>
            <a:ext cx="1200150" cy="5143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850" b="1" i="0">
                <a:solidFill>
                  <a:srgbClr val="2A9D8F"/>
                </a:solidFill>
              </a:defRPr>
            </a:pPr>
            <a:r>
              <a:rPr sz="2850" b="1" i="0">
                <a:solidFill>
                  <a:srgbClr val="2A9D8F"/>
                </a:solidFill>
              </a:rPr>
              <a:t>3.226</a:t>
            </a:r>
            <a:endParaRPr/>
          </a:p>
        </p:txBody>
      </p:sp>
      <p:sp>
        <p:nvSpPr>
          <p:cNvPr id="1317815146" name=""/>
          <p:cNvSpPr>
            <a:spLocks noGrp="1"/>
          </p:cNvSpPr>
          <p:nvPr/>
        </p:nvSpPr>
        <p:spPr bwMode="auto">
          <a:xfrm>
            <a:off x="9334500" y="1752599"/>
            <a:ext cx="1676400" cy="3238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500" b="0" i="0">
                <a:solidFill>
                  <a:srgbClr val="243B53"/>
                </a:solidFill>
              </a:defRPr>
            </a:pPr>
            <a:r>
              <a:rPr sz="1500" b="0" i="0">
                <a:solidFill>
                  <a:srgbClr val="243B53"/>
                </a:solidFill>
              </a:rPr>
              <a:t>at n = 32</a:t>
            </a:r>
            <a:endParaRPr/>
          </a:p>
        </p:txBody>
      </p:sp>
      <p:sp>
        <p:nvSpPr>
          <p:cNvPr id="1319102044" name=""/>
          <p:cNvSpPr>
            <a:spLocks noGrp="1"/>
          </p:cNvSpPr>
          <p:nvPr/>
        </p:nvSpPr>
        <p:spPr bwMode="auto">
          <a:xfrm>
            <a:off x="7905750" y="2686050"/>
            <a:ext cx="3333750" cy="990600"/>
          </a:xfrm>
          <a:prstGeom prst="roundRect">
            <a:avLst>
              <a:gd name="adj" fmla="val 7692"/>
            </a:avLst>
          </a:prstGeom>
          <a:solidFill>
            <a:srgbClr val="FCEEEA"/>
          </a:solidFill>
          <a:ln w="11430">
            <a:solidFill>
              <a:srgbClr val="E76F51"/>
            </a:solidFill>
            <a:prstDash val="solid"/>
          </a:ln>
        </p:spPr>
      </p:sp>
      <p:sp>
        <p:nvSpPr>
          <p:cNvPr id="590915688" name=""/>
          <p:cNvSpPr>
            <a:spLocks noGrp="1"/>
          </p:cNvSpPr>
          <p:nvPr/>
        </p:nvSpPr>
        <p:spPr bwMode="auto">
          <a:xfrm>
            <a:off x="8096250" y="2800350"/>
            <a:ext cx="1200150" cy="5143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850" b="1" i="0">
                <a:solidFill>
                  <a:srgbClr val="E76F51"/>
                </a:solidFill>
              </a:defRPr>
            </a:pPr>
            <a:r>
              <a:rPr sz="2850" b="1" i="0">
                <a:solidFill>
                  <a:srgbClr val="E76F51"/>
                </a:solidFill>
              </a:rPr>
              <a:t>0.567</a:t>
            </a:r>
            <a:endParaRPr/>
          </a:p>
        </p:txBody>
      </p:sp>
      <p:sp>
        <p:nvSpPr>
          <p:cNvPr id="1663801646" name=""/>
          <p:cNvSpPr>
            <a:spLocks noGrp="1"/>
          </p:cNvSpPr>
          <p:nvPr/>
        </p:nvSpPr>
        <p:spPr bwMode="auto">
          <a:xfrm>
            <a:off x="9334500" y="2914650"/>
            <a:ext cx="1676400" cy="3238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500" b="0" i="0">
                <a:solidFill>
                  <a:srgbClr val="243B53"/>
                </a:solidFill>
              </a:defRPr>
            </a:pPr>
            <a:r>
              <a:rPr sz="1500" b="0" i="0">
                <a:solidFill>
                  <a:srgbClr val="243B53"/>
                </a:solidFill>
              </a:rPr>
              <a:t>at n = 512</a:t>
            </a:r>
            <a:endParaRPr/>
          </a:p>
        </p:txBody>
      </p:sp>
      <p:sp>
        <p:nvSpPr>
          <p:cNvPr id="765286821" name=""/>
          <p:cNvSpPr>
            <a:spLocks noGrp="1"/>
          </p:cNvSpPr>
          <p:nvPr/>
        </p:nvSpPr>
        <p:spPr bwMode="auto">
          <a:xfrm>
            <a:off x="7905750" y="3981450"/>
            <a:ext cx="3333750" cy="1066800"/>
          </a:xfrm>
          <a:prstGeom prst="roundRect">
            <a:avLst>
              <a:gd name="adj" fmla="val 7143"/>
            </a:avLst>
          </a:prstGeom>
          <a:solidFill>
            <a:srgbClr val="FFFFFF"/>
          </a:solidFill>
          <a:ln w="14288">
            <a:solidFill>
              <a:srgbClr val="102A43"/>
            </a:solidFill>
            <a:prstDash val="solid"/>
          </a:ln>
        </p:spPr>
      </p:sp>
      <p:sp>
        <p:nvSpPr>
          <p:cNvPr id="86195891" name=""/>
          <p:cNvSpPr>
            <a:spLocks noGrp="1"/>
          </p:cNvSpPr>
          <p:nvPr/>
        </p:nvSpPr>
        <p:spPr bwMode="auto">
          <a:xfrm>
            <a:off x="8096250" y="4114800"/>
            <a:ext cx="2952750" cy="323850"/>
          </a:xfrm>
          <a:prstGeom prst="rect">
            <a:avLst/>
          </a:prstGeom>
          <a:noFill/>
          <a:ln w="0">
            <a:noFill/>
            <a:prstDash val="solid"/>
          </a:ln>
        </p:spPr>
        <p:txBody>
          <a:bodyPr wrap="square" lIns="38100" tIns="19050" rIns="38100" bIns="19050" anchor="t">
            <a:normAutofit fontScale="99206"/>
          </a:bodyPr>
          <a:lstStyle/>
          <a:p>
            <a:pPr algn="ctr">
              <a:lnSpc>
                <a:spcPct val="105000"/>
              </a:lnSpc>
              <a:buNone/>
              <a:defRPr sz="1800" b="1" i="0">
                <a:solidFill>
                  <a:srgbClr val="102A43"/>
                </a:solidFill>
              </a:defRPr>
            </a:pPr>
            <a:r>
              <a:rPr sz="1800" b="1" i="0">
                <a:solidFill>
                  <a:srgbClr val="102A43"/>
                </a:solidFill>
              </a:rPr>
              <a:t>Observed crossover</a:t>
            </a:r>
            <a:endParaRPr/>
          </a:p>
        </p:txBody>
      </p:sp>
      <p:sp>
        <p:nvSpPr>
          <p:cNvPr id="2071140792" name=""/>
          <p:cNvSpPr>
            <a:spLocks noGrp="1"/>
          </p:cNvSpPr>
          <p:nvPr/>
        </p:nvSpPr>
        <p:spPr bwMode="auto">
          <a:xfrm>
            <a:off x="8115300" y="4533900"/>
            <a:ext cx="29146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between tested sizes 128 and 256</a:t>
            </a:r>
            <a:endParaRPr/>
          </a:p>
        </p:txBody>
      </p:sp>
      <p:sp>
        <p:nvSpPr>
          <p:cNvPr id="2138818080" name=""/>
          <p:cNvSpPr>
            <a:spLocks noGrp="1"/>
          </p:cNvSpPr>
          <p:nvPr/>
        </p:nvSpPr>
        <p:spPr bwMode="auto">
          <a:xfrm>
            <a:off x="7810500" y="5391150"/>
            <a:ext cx="3543300" cy="647700"/>
          </a:xfrm>
          <a:prstGeom prst="roundRect">
            <a:avLst>
              <a:gd name="adj" fmla="val 8824"/>
            </a:avLst>
          </a:prstGeom>
          <a:solidFill>
            <a:srgbClr val="102A43"/>
          </a:solidFill>
          <a:ln w="11430">
            <a:solidFill>
              <a:srgbClr val="102A43"/>
            </a:solidFill>
            <a:prstDash val="solid"/>
          </a:ln>
        </p:spPr>
      </p:sp>
      <p:sp>
        <p:nvSpPr>
          <p:cNvPr id="1541931438" name=""/>
          <p:cNvSpPr>
            <a:spLocks noGrp="1"/>
          </p:cNvSpPr>
          <p:nvPr/>
        </p:nvSpPr>
        <p:spPr bwMode="auto">
          <a:xfrm>
            <a:off x="7981950" y="5486400"/>
            <a:ext cx="320040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FFFFFF"/>
                </a:solidFill>
              </a:defRPr>
            </a:pPr>
            <a:r>
              <a:rPr sz="1300" b="1" i="0">
                <a:solidFill>
                  <a:srgbClr val="FFFFFF"/>
                </a:solidFill>
              </a:rPr>
              <a:t>five sizes  |  ordinary lists  |  different timed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326888274"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INTERPRETATION</a:t>
            </a:r>
            <a:endParaRPr/>
          </a:p>
        </p:txBody>
      </p:sp>
      <p:sp>
        <p:nvSpPr>
          <p:cNvPr id="167167916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What the current evidence shows</a:t>
            </a:r>
            <a:endParaRPr/>
          </a:p>
        </p:txBody>
      </p:sp>
      <p:sp>
        <p:nvSpPr>
          <p:cNvPr id="761293390" name=""/>
          <p:cNvSpPr>
            <a:spLocks noGrp="1"/>
          </p:cNvSpPr>
          <p:nvPr/>
        </p:nvSpPr>
        <p:spPr bwMode="auto">
          <a:xfrm>
            <a:off x="609600" y="1085850"/>
            <a:ext cx="10972800" cy="9525"/>
          </a:xfrm>
          <a:prstGeom prst="line">
            <a:avLst/>
          </a:prstGeom>
          <a:noFill/>
          <a:ln w="28575">
            <a:solidFill>
              <a:srgbClr val="2A9D8F"/>
            </a:solidFill>
            <a:prstDash val="solid"/>
          </a:ln>
        </p:spPr>
      </p:sp>
      <p:sp>
        <p:nvSpPr>
          <p:cNvPr id="284663014" name=""/>
          <p:cNvSpPr>
            <a:spLocks noGrp="1"/>
          </p:cNvSpPr>
          <p:nvPr/>
        </p:nvSpPr>
        <p:spPr bwMode="auto">
          <a:xfrm>
            <a:off x="609600" y="6477000"/>
            <a:ext cx="10972800" cy="9525"/>
          </a:xfrm>
          <a:prstGeom prst="line">
            <a:avLst/>
          </a:prstGeom>
          <a:noFill/>
          <a:ln w="9525">
            <a:solidFill>
              <a:srgbClr val="D9E2EC"/>
            </a:solidFill>
            <a:prstDash val="solid"/>
          </a:ln>
        </p:spPr>
      </p:sp>
      <p:sp>
        <p:nvSpPr>
          <p:cNvPr id="172117406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907816719"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15 / 16</a:t>
            </a:r>
            <a:endParaRPr/>
          </a:p>
        </p:txBody>
      </p:sp>
      <p:sp>
        <p:nvSpPr>
          <p:cNvPr id="1814341867" name=""/>
          <p:cNvSpPr>
            <a:spLocks noGrp="1"/>
          </p:cNvSpPr>
          <p:nvPr/>
        </p:nvSpPr>
        <p:spPr bwMode="auto">
          <a:xfrm>
            <a:off x="742950" y="1447800"/>
            <a:ext cx="5105400" cy="3848100"/>
          </a:xfrm>
          <a:prstGeom prst="roundRect">
            <a:avLst>
              <a:gd name="adj" fmla="val 1980"/>
            </a:avLst>
          </a:prstGeom>
          <a:solidFill>
            <a:srgbClr val="E8F5F3"/>
          </a:solidFill>
          <a:ln w="19050">
            <a:solidFill>
              <a:srgbClr val="2A9D8F"/>
            </a:solidFill>
            <a:prstDash val="solid"/>
          </a:ln>
        </p:spPr>
      </p:sp>
      <p:sp>
        <p:nvSpPr>
          <p:cNvPr id="732492266" name=""/>
          <p:cNvSpPr>
            <a:spLocks noGrp="1"/>
          </p:cNvSpPr>
          <p:nvPr/>
        </p:nvSpPr>
        <p:spPr bwMode="auto">
          <a:xfrm>
            <a:off x="6343650" y="1447800"/>
            <a:ext cx="5105400" cy="3848100"/>
          </a:xfrm>
          <a:prstGeom prst="roundRect">
            <a:avLst>
              <a:gd name="adj" fmla="val 1980"/>
            </a:avLst>
          </a:prstGeom>
          <a:solidFill>
            <a:srgbClr val="FCEEEA"/>
          </a:solidFill>
          <a:ln w="19050">
            <a:solidFill>
              <a:srgbClr val="E76F51"/>
            </a:solidFill>
            <a:prstDash val="solid"/>
          </a:ln>
        </p:spPr>
      </p:sp>
      <p:sp>
        <p:nvSpPr>
          <p:cNvPr id="2015576310" name=""/>
          <p:cNvSpPr>
            <a:spLocks noGrp="1"/>
          </p:cNvSpPr>
          <p:nvPr/>
        </p:nvSpPr>
        <p:spPr bwMode="auto">
          <a:xfrm>
            <a:off x="10096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Current results</a:t>
            </a:r>
            <a:endParaRPr/>
          </a:p>
        </p:txBody>
      </p:sp>
      <p:sp>
        <p:nvSpPr>
          <p:cNvPr id="1436635916" name=""/>
          <p:cNvSpPr>
            <a:spLocks noGrp="1"/>
          </p:cNvSpPr>
          <p:nvPr/>
        </p:nvSpPr>
        <p:spPr bwMode="auto">
          <a:xfrm>
            <a:off x="66103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Main limits</a:t>
            </a:r>
            <a:endParaRPr/>
          </a:p>
        </p:txBody>
      </p:sp>
      <p:sp>
        <p:nvSpPr>
          <p:cNvPr id="868976665" name=""/>
          <p:cNvSpPr>
            <a:spLocks noGrp="1"/>
          </p:cNvSpPr>
          <p:nvPr/>
        </p:nvSpPr>
        <p:spPr bwMode="auto">
          <a:xfrm>
            <a:off x="1066800" y="2647949"/>
            <a:ext cx="95250" cy="95250"/>
          </a:xfrm>
          <a:prstGeom prst="ellipse">
            <a:avLst/>
          </a:prstGeom>
          <a:solidFill>
            <a:srgbClr val="2A9D8F"/>
          </a:solidFill>
          <a:ln w="0">
            <a:solidFill>
              <a:srgbClr val="2A9D8F"/>
            </a:solidFill>
            <a:prstDash val="solid"/>
          </a:ln>
        </p:spPr>
      </p:sp>
      <p:sp>
        <p:nvSpPr>
          <p:cNvPr id="709904493" name=""/>
          <p:cNvSpPr>
            <a:spLocks noGrp="1"/>
          </p:cNvSpPr>
          <p:nvPr/>
        </p:nvSpPr>
        <p:spPr bwMode="auto">
          <a:xfrm>
            <a:off x="12763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Executable reconstruction with output recovered from maintained state</a:t>
            </a:r>
            <a:endParaRPr/>
          </a:p>
        </p:txBody>
      </p:sp>
      <p:sp>
        <p:nvSpPr>
          <p:cNvPr id="2072673634" name=""/>
          <p:cNvSpPr>
            <a:spLocks noGrp="1"/>
          </p:cNvSpPr>
          <p:nvPr/>
        </p:nvSpPr>
        <p:spPr bwMode="auto">
          <a:xfrm>
            <a:off x="1066800" y="3905250"/>
            <a:ext cx="95250" cy="95250"/>
          </a:xfrm>
          <a:prstGeom prst="ellipse">
            <a:avLst/>
          </a:prstGeom>
          <a:solidFill>
            <a:srgbClr val="2A9D8F"/>
          </a:solidFill>
          <a:ln w="0">
            <a:solidFill>
              <a:srgbClr val="2A9D8F"/>
            </a:solidFill>
            <a:prstDash val="solid"/>
          </a:ln>
        </p:spPr>
      </p:sp>
      <p:sp>
        <p:nvSpPr>
          <p:cNvPr id="835344148" name=""/>
          <p:cNvSpPr>
            <a:spLocks noGrp="1"/>
          </p:cNvSpPr>
          <p:nvPr/>
        </p:nvSpPr>
        <p:spPr bwMode="auto">
          <a:xfrm>
            <a:off x="12763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Correct outputs and a recorded runtime trend for the evaluated cases</a:t>
            </a:r>
            <a:endParaRPr/>
          </a:p>
        </p:txBody>
      </p:sp>
      <p:sp>
        <p:nvSpPr>
          <p:cNvPr id="324342287" name=""/>
          <p:cNvSpPr>
            <a:spLocks noGrp="1"/>
          </p:cNvSpPr>
          <p:nvPr/>
        </p:nvSpPr>
        <p:spPr bwMode="auto">
          <a:xfrm>
            <a:off x="6667500" y="2647949"/>
            <a:ext cx="95250" cy="95250"/>
          </a:xfrm>
          <a:prstGeom prst="ellipse">
            <a:avLst/>
          </a:prstGeom>
          <a:solidFill>
            <a:srgbClr val="E76F51"/>
          </a:solidFill>
          <a:ln w="0">
            <a:solidFill>
              <a:srgbClr val="E76F51"/>
            </a:solidFill>
            <a:prstDash val="solid"/>
          </a:ln>
        </p:spPr>
      </p:sp>
      <p:sp>
        <p:nvSpPr>
          <p:cNvPr id="1549859863" name=""/>
          <p:cNvSpPr>
            <a:spLocks noGrp="1"/>
          </p:cNvSpPr>
          <p:nvPr/>
        </p:nvSpPr>
        <p:spPr bwMode="auto">
          <a:xfrm>
            <a:off x="68770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Ordinary lists do not establish a linear-time implementation</a:t>
            </a:r>
            <a:endParaRPr/>
          </a:p>
        </p:txBody>
      </p:sp>
      <p:sp>
        <p:nvSpPr>
          <p:cNvPr id="1099618538" name=""/>
          <p:cNvSpPr>
            <a:spLocks noGrp="1"/>
          </p:cNvSpPr>
          <p:nvPr/>
        </p:nvSpPr>
        <p:spPr bwMode="auto">
          <a:xfrm>
            <a:off x="6667500" y="3905250"/>
            <a:ext cx="95250" cy="95250"/>
          </a:xfrm>
          <a:prstGeom prst="ellipse">
            <a:avLst/>
          </a:prstGeom>
          <a:solidFill>
            <a:srgbClr val="E76F51"/>
          </a:solidFill>
          <a:ln w="0">
            <a:solidFill>
              <a:srgbClr val="E76F51"/>
            </a:solidFill>
            <a:prstDash val="solid"/>
          </a:ln>
        </p:spPr>
      </p:sp>
      <p:sp>
        <p:nvSpPr>
          <p:cNvPr id="821016835" name=""/>
          <p:cNvSpPr>
            <a:spLocks noGrp="1"/>
          </p:cNvSpPr>
          <p:nvPr/>
        </p:nvSpPr>
        <p:spPr bwMode="auto">
          <a:xfrm>
            <a:off x="68770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Five tested sizes do not establish asymptotic complexity</a:t>
            </a:r>
            <a:endParaRPr/>
          </a:p>
        </p:txBody>
      </p:sp>
      <p:sp>
        <p:nvSpPr>
          <p:cNvPr id="838591817" name=""/>
          <p:cNvSpPr>
            <a:spLocks noGrp="1"/>
          </p:cNvSpPr>
          <p:nvPr/>
        </p:nvSpPr>
        <p:spPr bwMode="auto">
          <a:xfrm>
            <a:off x="1428750" y="5715000"/>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97393960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NEXT STEP</a:t>
            </a:r>
            <a:endParaRPr/>
          </a:p>
        </p:txBody>
      </p:sp>
      <p:sp>
        <p:nvSpPr>
          <p:cNvPr id="59704469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Possible next step: a finger-tree backend</a:t>
            </a:r>
            <a:endParaRPr/>
          </a:p>
        </p:txBody>
      </p:sp>
      <p:sp>
        <p:nvSpPr>
          <p:cNvPr id="68738493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53808607" name=""/>
          <p:cNvSpPr>
            <a:spLocks noGrp="1"/>
          </p:cNvSpPr>
          <p:nvPr/>
        </p:nvSpPr>
        <p:spPr bwMode="auto">
          <a:xfrm>
            <a:off x="609600" y="6477000"/>
            <a:ext cx="10972800" cy="9525"/>
          </a:xfrm>
          <a:prstGeom prst="line">
            <a:avLst/>
          </a:prstGeom>
          <a:noFill/>
          <a:ln w="9525">
            <a:solidFill>
              <a:srgbClr val="D9E2EC"/>
            </a:solidFill>
            <a:prstDash val="solid"/>
          </a:ln>
        </p:spPr>
      </p:sp>
      <p:sp>
        <p:nvSpPr>
          <p:cNvPr id="160920126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609897167"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16 / 16</a:t>
            </a:r>
            <a:endParaRPr/>
          </a:p>
        </p:txBody>
      </p:sp>
      <p:sp>
        <p:nvSpPr>
          <p:cNvPr id="1707438210" name=""/>
          <p:cNvSpPr>
            <a:spLocks noGrp="1"/>
          </p:cNvSpPr>
          <p:nvPr/>
        </p:nvSpPr>
        <p:spPr bwMode="auto">
          <a:xfrm>
            <a:off x="1066800" y="1485900"/>
            <a:ext cx="100584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100" b="1" i="0">
                <a:solidFill>
                  <a:srgbClr val="102A43"/>
                </a:solidFill>
              </a:defRPr>
            </a:pPr>
            <a:r>
              <a:rPr sz="2100" b="1" i="0">
                <a:solidFill>
                  <a:srgbClr val="102A43"/>
                </a:solidFill>
              </a:rPr>
              <a:t>The ordinary-list implementation provides a tested reference point.</a:t>
            </a:r>
            <a:endParaRPr/>
          </a:p>
        </p:txBody>
      </p:sp>
      <p:sp>
        <p:nvSpPr>
          <p:cNvPr id="1305429193" name=""/>
          <p:cNvSpPr>
            <a:spLocks noGrp="1"/>
          </p:cNvSpPr>
          <p:nvPr/>
        </p:nvSpPr>
        <p:spPr bwMode="auto">
          <a:xfrm>
            <a:off x="1638300" y="2324100"/>
            <a:ext cx="8915400" cy="952500"/>
          </a:xfrm>
          <a:prstGeom prst="roundRect">
            <a:avLst>
              <a:gd name="adj" fmla="val 8000"/>
            </a:avLst>
          </a:prstGeom>
          <a:solidFill>
            <a:srgbClr val="E8F5F3"/>
          </a:solidFill>
          <a:ln w="14288">
            <a:solidFill>
              <a:srgbClr val="2A9D8F"/>
            </a:solidFill>
            <a:prstDash val="solid"/>
          </a:ln>
        </p:spPr>
      </p:sp>
      <p:sp>
        <p:nvSpPr>
          <p:cNvPr id="472294123" name=""/>
          <p:cNvSpPr>
            <a:spLocks noGrp="1"/>
          </p:cNvSpPr>
          <p:nvPr/>
        </p:nvSpPr>
        <p:spPr bwMode="auto">
          <a:xfrm>
            <a:off x="1943100" y="2552700"/>
            <a:ext cx="8305800" cy="514350"/>
          </a:xfrm>
          <a:prstGeom prst="rect">
            <a:avLst/>
          </a:prstGeom>
          <a:noFill/>
          <a:ln w="0">
            <a:noFill/>
            <a:prstDash val="solid"/>
          </a:ln>
        </p:spPr>
        <p:txBody>
          <a:bodyPr wrap="square" lIns="38100" tIns="19050" rIns="38100" bIns="19050" anchor="ctr">
            <a:normAutofit fontScale="82672"/>
          </a:bodyPr>
          <a:lstStyle/>
          <a:p>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endParaRPr/>
          </a:p>
        </p:txBody>
      </p:sp>
      <p:sp>
        <p:nvSpPr>
          <p:cNvPr id="1434882563" name=""/>
          <p:cNvSpPr>
            <a:spLocks noGrp="1"/>
          </p:cNvSpPr>
          <p:nvPr/>
        </p:nvSpPr>
        <p:spPr bwMode="auto">
          <a:xfrm>
            <a:off x="1066800" y="3829050"/>
            <a:ext cx="1005840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Discussion with the supervisor</a:t>
            </a:r>
            <a:endParaRPr/>
          </a:p>
        </p:txBody>
      </p:sp>
      <p:sp>
        <p:nvSpPr>
          <p:cNvPr id="1332283866" name=""/>
          <p:cNvSpPr>
            <a:spLocks noGrp="1"/>
          </p:cNvSpPr>
          <p:nvPr/>
        </p:nvSpPr>
        <p:spPr bwMode="auto">
          <a:xfrm>
            <a:off x="1066800" y="4343400"/>
            <a:ext cx="10058400" cy="1543050"/>
          </a:xfrm>
          <a:prstGeom prst="roundRect">
            <a:avLst>
              <a:gd name="adj" fmla="val 4938"/>
            </a:avLst>
          </a:prstGeom>
          <a:solidFill>
            <a:srgbClr val="102A43"/>
          </a:solidFill>
          <a:ln w="11430">
            <a:solidFill>
              <a:srgbClr val="102A43"/>
            </a:solidFill>
            <a:prstDash val="solid"/>
          </a:ln>
        </p:spPr>
      </p:sp>
      <p:sp>
        <p:nvSpPr>
          <p:cNvPr id="984734558" name=""/>
          <p:cNvSpPr>
            <a:spLocks noGrp="1"/>
          </p:cNvSpPr>
          <p:nvPr/>
        </p:nvSpPr>
        <p:spPr bwMode="auto">
          <a:xfrm>
            <a:off x="1466849" y="4533900"/>
            <a:ext cx="9258300" cy="1162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endParaRPr/>
          </a:p>
          <a:p>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14083916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A</a:t>
            </a:r>
            <a:endParaRPr/>
          </a:p>
        </p:txBody>
      </p:sp>
      <p:sp>
        <p:nvSpPr>
          <p:cNvPr id="17166891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Median runtime by size under the recorded call scopes</a:t>
            </a:r>
            <a:endParaRPr/>
          </a:p>
        </p:txBody>
      </p:sp>
      <p:sp>
        <p:nvSpPr>
          <p:cNvPr id="1196367873" name=""/>
          <p:cNvSpPr>
            <a:spLocks noGrp="1"/>
          </p:cNvSpPr>
          <p:nvPr/>
        </p:nvSpPr>
        <p:spPr bwMode="auto">
          <a:xfrm>
            <a:off x="609600" y="1085850"/>
            <a:ext cx="10972800" cy="9525"/>
          </a:xfrm>
          <a:prstGeom prst="line">
            <a:avLst/>
          </a:prstGeom>
          <a:noFill/>
          <a:ln w="28575">
            <a:solidFill>
              <a:srgbClr val="E76F51"/>
            </a:solidFill>
            <a:prstDash val="solid"/>
          </a:ln>
        </p:spPr>
      </p:sp>
      <p:sp>
        <p:nvSpPr>
          <p:cNvPr id="1588418218" name=""/>
          <p:cNvSpPr>
            <a:spLocks noGrp="1"/>
          </p:cNvSpPr>
          <p:nvPr/>
        </p:nvSpPr>
        <p:spPr bwMode="auto">
          <a:xfrm>
            <a:off x="609600" y="6477000"/>
            <a:ext cx="10972800" cy="9525"/>
          </a:xfrm>
          <a:prstGeom prst="line">
            <a:avLst/>
          </a:prstGeom>
          <a:noFill/>
          <a:ln w="9525">
            <a:solidFill>
              <a:srgbClr val="D9E2EC"/>
            </a:solidFill>
            <a:prstDash val="solid"/>
          </a:ln>
        </p:spPr>
      </p:sp>
      <p:sp>
        <p:nvSpPr>
          <p:cNvPr id="204630940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75455952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A</a:t>
            </a:r>
            <a:endParaRPr/>
          </a:p>
        </p:txBody>
      </p:sp>
      <p:pic>
        <p:nvPicPr>
          <p:cNvPr id="1395468891" name=""/>
          <p:cNvPicPr>
            <a:picLocks noChangeAspect="1"/>
          </p:cNvPicPr>
          <p:nvPr/>
        </p:nvPicPr>
        <p:blipFill rotWithShape="1">
          <a:blip r:embed="rId3"/>
          <a:stretch/>
        </p:blipFill>
        <p:spPr bwMode="auto">
          <a:xfrm>
            <a:off x="628650" y="1749972"/>
            <a:ext cx="6858000" cy="3510455"/>
          </a:xfrm>
          <a:prstGeom prst="rect">
            <a:avLst/>
          </a:prstGeom>
        </p:spPr>
      </p:pic>
      <p:sp>
        <p:nvSpPr>
          <p:cNvPr id="1063444366" name=""/>
          <p:cNvSpPr>
            <a:spLocks noGrp="1"/>
          </p:cNvSpPr>
          <p:nvPr/>
        </p:nvSpPr>
        <p:spPr bwMode="auto">
          <a:xfrm>
            <a:off x="628650" y="1562100"/>
            <a:ext cx="6858000" cy="476250"/>
          </a:xfrm>
          <a:prstGeom prst="rect">
            <a:avLst/>
          </a:prstGeom>
          <a:solidFill>
            <a:srgbClr val="FFFFFF"/>
          </a:solidFill>
          <a:ln w="11430">
            <a:solidFill>
              <a:srgbClr val="FFFFFF"/>
            </a:solidFill>
            <a:prstDash val="solid"/>
          </a:ln>
        </p:spPr>
      </p:sp>
      <p:sp>
        <p:nvSpPr>
          <p:cNvPr id="959656367" name=""/>
          <p:cNvSpPr>
            <a:spLocks noGrp="1"/>
          </p:cNvSpPr>
          <p:nvPr/>
        </p:nvSpPr>
        <p:spPr bwMode="auto">
          <a:xfrm>
            <a:off x="6000750" y="2057400"/>
            <a:ext cx="1447800" cy="1123950"/>
          </a:xfrm>
          <a:prstGeom prst="rect">
            <a:avLst/>
          </a:prstGeom>
          <a:solidFill>
            <a:srgbClr val="FFFFFF"/>
          </a:solidFill>
          <a:ln w="11430">
            <a:solidFill>
              <a:srgbClr val="FFFFFF"/>
            </a:solidFill>
            <a:prstDash val="solid"/>
          </a:ln>
        </p:spPr>
      </p:sp>
      <p:sp>
        <p:nvSpPr>
          <p:cNvPr id="2118208536" name=""/>
          <p:cNvSpPr>
            <a:spLocks noGrp="1"/>
          </p:cNvSpPr>
          <p:nvPr/>
        </p:nvSpPr>
        <p:spPr bwMode="auto">
          <a:xfrm>
            <a:off x="6153149" y="2266950"/>
            <a:ext cx="228600" cy="9525"/>
          </a:xfrm>
          <a:prstGeom prst="line">
            <a:avLst/>
          </a:prstGeom>
          <a:noFill/>
          <a:ln w="28575">
            <a:solidFill>
              <a:srgbClr val="1F8A70"/>
            </a:solidFill>
            <a:prstDash val="solid"/>
          </a:ln>
        </p:spPr>
      </p:sp>
      <p:sp>
        <p:nvSpPr>
          <p:cNvPr id="1650732845" name=""/>
          <p:cNvSpPr>
            <a:spLocks noGrp="1"/>
          </p:cNvSpPr>
          <p:nvPr/>
        </p:nvSpPr>
        <p:spPr bwMode="auto">
          <a:xfrm>
            <a:off x="6477000" y="2143125"/>
            <a:ext cx="8953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00" b="0" i="0">
                <a:solidFill>
                  <a:srgbClr val="243B53"/>
                </a:solidFill>
              </a:defRPr>
            </a:pPr>
            <a:r>
              <a:rPr sz="1000" b="0" i="0">
                <a:solidFill>
                  <a:srgbClr val="243B53"/>
                </a:solidFill>
              </a:rPr>
              <a:t>Python sort</a:t>
            </a:r>
            <a:endParaRPr/>
          </a:p>
        </p:txBody>
      </p:sp>
      <p:sp>
        <p:nvSpPr>
          <p:cNvPr id="1841453373" name=""/>
          <p:cNvSpPr>
            <a:spLocks noGrp="1"/>
          </p:cNvSpPr>
          <p:nvPr/>
        </p:nvSpPr>
        <p:spPr bwMode="auto">
          <a:xfrm>
            <a:off x="6153149" y="2609850"/>
            <a:ext cx="228600" cy="9525"/>
          </a:xfrm>
          <a:prstGeom prst="line">
            <a:avLst/>
          </a:prstGeom>
          <a:noFill/>
          <a:ln w="28575">
            <a:solidFill>
              <a:srgbClr val="2E75B6"/>
            </a:solidFill>
            <a:prstDash val="solid"/>
          </a:ln>
        </p:spPr>
      </p:sp>
      <p:sp>
        <p:nvSpPr>
          <p:cNvPr id="416666303" name=""/>
          <p:cNvSpPr>
            <a:spLocks noGrp="1"/>
          </p:cNvSpPr>
          <p:nvPr/>
        </p:nvSpPr>
        <p:spPr bwMode="auto">
          <a:xfrm>
            <a:off x="6477000" y="2486025"/>
            <a:ext cx="933450" cy="266700"/>
          </a:xfrm>
          <a:prstGeom prst="rect">
            <a:avLst/>
          </a:prstGeom>
          <a:noFill/>
          <a:ln w="0">
            <a:noFill/>
            <a:prstDash val="solid"/>
          </a:ln>
        </p:spPr>
        <p:txBody>
          <a:bodyPr wrap="square" lIns="38100" tIns="19050" rIns="38100" bIns="19050" anchor="ctr">
            <a:normAutofit fontScale="83681"/>
          </a:bodyPr>
          <a:lstStyle/>
          <a:p>
            <a:pPr algn="l">
              <a:lnSpc>
                <a:spcPct val="105000"/>
              </a:lnSpc>
              <a:buNone/>
              <a:defRPr sz="1000" b="0" i="0">
                <a:solidFill>
                  <a:srgbClr val="243B53"/>
                </a:solidFill>
              </a:defRPr>
            </a:pPr>
            <a:r>
              <a:rPr sz="1000" b="0" i="0">
                <a:solidFill>
                  <a:srgbClr val="243B53"/>
                </a:solidFill>
              </a:rPr>
              <a:t>Reference pipeline</a:t>
            </a:r>
            <a:endParaRPr/>
          </a:p>
        </p:txBody>
      </p:sp>
      <p:sp>
        <p:nvSpPr>
          <p:cNvPr id="1331845637" name=""/>
          <p:cNvSpPr>
            <a:spLocks noGrp="1"/>
          </p:cNvSpPr>
          <p:nvPr/>
        </p:nvSpPr>
        <p:spPr bwMode="auto">
          <a:xfrm>
            <a:off x="6153149" y="2952750"/>
            <a:ext cx="228600" cy="9525"/>
          </a:xfrm>
          <a:prstGeom prst="line">
            <a:avLst/>
          </a:prstGeom>
          <a:noFill/>
          <a:ln w="28575">
            <a:solidFill>
              <a:srgbClr val="E76F51"/>
            </a:solidFill>
            <a:prstDash val="solid"/>
          </a:ln>
        </p:spPr>
      </p:sp>
      <p:sp>
        <p:nvSpPr>
          <p:cNvPr id="100822021" name=""/>
          <p:cNvSpPr>
            <a:spLocks noGrp="1"/>
          </p:cNvSpPr>
          <p:nvPr/>
        </p:nvSpPr>
        <p:spPr bwMode="auto">
          <a:xfrm>
            <a:off x="6477000" y="2828925"/>
            <a:ext cx="933450" cy="304800"/>
          </a:xfrm>
          <a:prstGeom prst="rect">
            <a:avLst/>
          </a:prstGeom>
          <a:noFill/>
          <a:ln w="0">
            <a:noFill/>
            <a:prstDash val="solid"/>
          </a:ln>
        </p:spPr>
        <p:txBody>
          <a:bodyPr wrap="square" lIns="38100" tIns="19050" rIns="38100" bIns="19050" anchor="ctr">
            <a:normAutofit fontScale="92593"/>
          </a:bodyPr>
          <a:lstStyle/>
          <a:p>
            <a:pPr algn="l">
              <a:lnSpc>
                <a:spcPct val="105000"/>
              </a:lnSpc>
              <a:buNone/>
              <a:defRPr sz="900" b="0" i="0">
                <a:solidFill>
                  <a:srgbClr val="243B53"/>
                </a:solidFill>
              </a:defRPr>
            </a:pPr>
            <a:r>
              <a:rPr sz="900" b="0" i="0">
                <a:solidFill>
                  <a:srgbClr val="243B53"/>
                </a:solidFill>
              </a:rPr>
              <a:t>Paper ordinary-list core</a:t>
            </a:r>
            <a:endParaRPr/>
          </a:p>
        </p:txBody>
      </p:sp>
      <p:sp>
        <p:nvSpPr>
          <p:cNvPr id="1605440114" name=""/>
          <p:cNvSpPr>
            <a:spLocks noGrp="1"/>
          </p:cNvSpPr>
          <p:nvPr/>
        </p:nvSpPr>
        <p:spPr bwMode="auto">
          <a:xfrm>
            <a:off x="7772400" y="1638300"/>
            <a:ext cx="666750" cy="523875"/>
          </a:xfrm>
          <a:prstGeom prst="rect">
            <a:avLst/>
          </a:prstGeom>
          <a:solidFill>
            <a:srgbClr val="102A43"/>
          </a:solidFill>
          <a:ln w="11430">
            <a:solidFill>
              <a:srgbClr val="D9E2EC"/>
            </a:solidFill>
            <a:prstDash val="solid"/>
          </a:ln>
        </p:spPr>
      </p:sp>
      <p:sp>
        <p:nvSpPr>
          <p:cNvPr id="876222444" name=""/>
          <p:cNvSpPr>
            <a:spLocks noGrp="1"/>
          </p:cNvSpPr>
          <p:nvPr/>
        </p:nvSpPr>
        <p:spPr bwMode="auto">
          <a:xfrm>
            <a:off x="7791450" y="167640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n</a:t>
            </a:r>
            <a:endParaRPr/>
          </a:p>
        </p:txBody>
      </p:sp>
      <p:sp>
        <p:nvSpPr>
          <p:cNvPr id="1065103767" name=""/>
          <p:cNvSpPr>
            <a:spLocks noGrp="1"/>
          </p:cNvSpPr>
          <p:nvPr/>
        </p:nvSpPr>
        <p:spPr bwMode="auto">
          <a:xfrm>
            <a:off x="8439150" y="1638300"/>
            <a:ext cx="1066800" cy="523875"/>
          </a:xfrm>
          <a:prstGeom prst="rect">
            <a:avLst/>
          </a:prstGeom>
          <a:solidFill>
            <a:srgbClr val="102A43"/>
          </a:solidFill>
          <a:ln w="11430">
            <a:solidFill>
              <a:srgbClr val="D9E2EC"/>
            </a:solidFill>
            <a:prstDash val="solid"/>
          </a:ln>
        </p:spPr>
      </p:sp>
      <p:sp>
        <p:nvSpPr>
          <p:cNvPr id="1445694222" name=""/>
          <p:cNvSpPr>
            <a:spLocks noGrp="1"/>
          </p:cNvSpPr>
          <p:nvPr/>
        </p:nvSpPr>
        <p:spPr bwMode="auto">
          <a:xfrm>
            <a:off x="8458200" y="16764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Python (ms)</a:t>
            </a:r>
            <a:endParaRPr/>
          </a:p>
        </p:txBody>
      </p:sp>
      <p:sp>
        <p:nvSpPr>
          <p:cNvPr id="1420209093" name=""/>
          <p:cNvSpPr>
            <a:spLocks noGrp="1"/>
          </p:cNvSpPr>
          <p:nvPr/>
        </p:nvSpPr>
        <p:spPr bwMode="auto">
          <a:xfrm>
            <a:off x="9505950" y="1638300"/>
            <a:ext cx="1219200" cy="523875"/>
          </a:xfrm>
          <a:prstGeom prst="rect">
            <a:avLst/>
          </a:prstGeom>
          <a:solidFill>
            <a:srgbClr val="102A43"/>
          </a:solidFill>
          <a:ln w="11430">
            <a:solidFill>
              <a:srgbClr val="D9E2EC"/>
            </a:solidFill>
            <a:prstDash val="solid"/>
          </a:ln>
        </p:spPr>
      </p:sp>
      <p:sp>
        <p:nvSpPr>
          <p:cNvPr id="1819498179" name=""/>
          <p:cNvSpPr>
            <a:spLocks noGrp="1"/>
          </p:cNvSpPr>
          <p:nvPr/>
        </p:nvSpPr>
        <p:spPr bwMode="auto">
          <a:xfrm>
            <a:off x="9525000" y="167640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Reference (ms)</a:t>
            </a:r>
            <a:endParaRPr/>
          </a:p>
        </p:txBody>
      </p:sp>
      <p:sp>
        <p:nvSpPr>
          <p:cNvPr id="734483238" name=""/>
          <p:cNvSpPr>
            <a:spLocks noGrp="1"/>
          </p:cNvSpPr>
          <p:nvPr/>
        </p:nvSpPr>
        <p:spPr bwMode="auto">
          <a:xfrm>
            <a:off x="10725150" y="1638300"/>
            <a:ext cx="1066800" cy="523875"/>
          </a:xfrm>
          <a:prstGeom prst="rect">
            <a:avLst/>
          </a:prstGeom>
          <a:solidFill>
            <a:srgbClr val="102A43"/>
          </a:solidFill>
          <a:ln w="11430">
            <a:solidFill>
              <a:srgbClr val="D9E2EC"/>
            </a:solidFill>
            <a:prstDash val="solid"/>
          </a:ln>
        </p:spPr>
      </p:sp>
      <p:sp>
        <p:nvSpPr>
          <p:cNvPr id="1350954320" name=""/>
          <p:cNvSpPr>
            <a:spLocks noGrp="1"/>
          </p:cNvSpPr>
          <p:nvPr/>
        </p:nvSpPr>
        <p:spPr bwMode="auto">
          <a:xfrm>
            <a:off x="10744200" y="16764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Paper (ms)</a:t>
            </a:r>
            <a:endParaRPr/>
          </a:p>
        </p:txBody>
      </p:sp>
      <p:sp>
        <p:nvSpPr>
          <p:cNvPr id="1375127912" name=""/>
          <p:cNvSpPr>
            <a:spLocks noGrp="1"/>
          </p:cNvSpPr>
          <p:nvPr/>
        </p:nvSpPr>
        <p:spPr bwMode="auto">
          <a:xfrm>
            <a:off x="7772400" y="2162175"/>
            <a:ext cx="666750" cy="523875"/>
          </a:xfrm>
          <a:prstGeom prst="rect">
            <a:avLst/>
          </a:prstGeom>
          <a:solidFill>
            <a:srgbClr val="FFFFFF"/>
          </a:solidFill>
          <a:ln w="11430">
            <a:solidFill>
              <a:srgbClr val="D9E2EC"/>
            </a:solidFill>
            <a:prstDash val="solid"/>
          </a:ln>
        </p:spPr>
      </p:sp>
      <p:sp>
        <p:nvSpPr>
          <p:cNvPr id="1969938318" name=""/>
          <p:cNvSpPr>
            <a:spLocks noGrp="1"/>
          </p:cNvSpPr>
          <p:nvPr/>
        </p:nvSpPr>
        <p:spPr bwMode="auto">
          <a:xfrm>
            <a:off x="7791450" y="220027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32</a:t>
            </a:r>
            <a:endParaRPr/>
          </a:p>
        </p:txBody>
      </p:sp>
      <p:sp>
        <p:nvSpPr>
          <p:cNvPr id="1433300874" name=""/>
          <p:cNvSpPr>
            <a:spLocks noGrp="1"/>
          </p:cNvSpPr>
          <p:nvPr/>
        </p:nvSpPr>
        <p:spPr bwMode="auto">
          <a:xfrm>
            <a:off x="8439150" y="2162175"/>
            <a:ext cx="1066800" cy="523875"/>
          </a:xfrm>
          <a:prstGeom prst="rect">
            <a:avLst/>
          </a:prstGeom>
          <a:solidFill>
            <a:srgbClr val="FFFFFF"/>
          </a:solidFill>
          <a:ln w="11430">
            <a:solidFill>
              <a:srgbClr val="D9E2EC"/>
            </a:solidFill>
            <a:prstDash val="solid"/>
          </a:ln>
        </p:spPr>
      </p:sp>
      <p:sp>
        <p:nvSpPr>
          <p:cNvPr id="1189236123" name=""/>
          <p:cNvSpPr>
            <a:spLocks noGrp="1"/>
          </p:cNvSpPr>
          <p:nvPr/>
        </p:nvSpPr>
        <p:spPr bwMode="auto">
          <a:xfrm>
            <a:off x="8458200" y="22002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0.000791</a:t>
            </a:r>
            <a:endParaRPr/>
          </a:p>
        </p:txBody>
      </p:sp>
      <p:sp>
        <p:nvSpPr>
          <p:cNvPr id="389172754" name=""/>
          <p:cNvSpPr>
            <a:spLocks noGrp="1"/>
          </p:cNvSpPr>
          <p:nvPr/>
        </p:nvSpPr>
        <p:spPr bwMode="auto">
          <a:xfrm>
            <a:off x="9505950" y="2162175"/>
            <a:ext cx="1219200" cy="523875"/>
          </a:xfrm>
          <a:prstGeom prst="rect">
            <a:avLst/>
          </a:prstGeom>
          <a:solidFill>
            <a:srgbClr val="FFFFFF"/>
          </a:solidFill>
          <a:ln w="11430">
            <a:solidFill>
              <a:srgbClr val="D9E2EC"/>
            </a:solidFill>
            <a:prstDash val="solid"/>
          </a:ln>
        </p:spPr>
      </p:sp>
      <p:sp>
        <p:nvSpPr>
          <p:cNvPr id="869074685" name=""/>
          <p:cNvSpPr>
            <a:spLocks noGrp="1"/>
          </p:cNvSpPr>
          <p:nvPr/>
        </p:nvSpPr>
        <p:spPr bwMode="auto">
          <a:xfrm>
            <a:off x="9525000" y="220027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0.181177</a:t>
            </a:r>
            <a:endParaRPr/>
          </a:p>
        </p:txBody>
      </p:sp>
      <p:sp>
        <p:nvSpPr>
          <p:cNvPr id="388364803" name=""/>
          <p:cNvSpPr>
            <a:spLocks noGrp="1"/>
          </p:cNvSpPr>
          <p:nvPr/>
        </p:nvSpPr>
        <p:spPr bwMode="auto">
          <a:xfrm>
            <a:off x="10725150" y="2162175"/>
            <a:ext cx="1066800" cy="523875"/>
          </a:xfrm>
          <a:prstGeom prst="rect">
            <a:avLst/>
          </a:prstGeom>
          <a:solidFill>
            <a:srgbClr val="FFFFFF"/>
          </a:solidFill>
          <a:ln w="11430">
            <a:solidFill>
              <a:srgbClr val="D9E2EC"/>
            </a:solidFill>
            <a:prstDash val="solid"/>
          </a:ln>
        </p:spPr>
      </p:sp>
      <p:sp>
        <p:nvSpPr>
          <p:cNvPr id="1419792300" name=""/>
          <p:cNvSpPr>
            <a:spLocks noGrp="1"/>
          </p:cNvSpPr>
          <p:nvPr/>
        </p:nvSpPr>
        <p:spPr bwMode="auto">
          <a:xfrm>
            <a:off x="10744200" y="22002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0.586906</a:t>
            </a:r>
            <a:endParaRPr/>
          </a:p>
        </p:txBody>
      </p:sp>
      <p:sp>
        <p:nvSpPr>
          <p:cNvPr id="111163353" name=""/>
          <p:cNvSpPr>
            <a:spLocks noGrp="1"/>
          </p:cNvSpPr>
          <p:nvPr/>
        </p:nvSpPr>
        <p:spPr bwMode="auto">
          <a:xfrm>
            <a:off x="7772400" y="2686050"/>
            <a:ext cx="666750" cy="523875"/>
          </a:xfrm>
          <a:prstGeom prst="rect">
            <a:avLst/>
          </a:prstGeom>
          <a:solidFill>
            <a:srgbClr val="EAF1F8"/>
          </a:solidFill>
          <a:ln w="11430">
            <a:solidFill>
              <a:srgbClr val="D9E2EC"/>
            </a:solidFill>
            <a:prstDash val="solid"/>
          </a:ln>
        </p:spPr>
      </p:sp>
      <p:sp>
        <p:nvSpPr>
          <p:cNvPr id="454904903" name=""/>
          <p:cNvSpPr>
            <a:spLocks noGrp="1"/>
          </p:cNvSpPr>
          <p:nvPr/>
        </p:nvSpPr>
        <p:spPr bwMode="auto">
          <a:xfrm>
            <a:off x="7791450" y="272415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64</a:t>
            </a:r>
            <a:endParaRPr/>
          </a:p>
        </p:txBody>
      </p:sp>
      <p:sp>
        <p:nvSpPr>
          <p:cNvPr id="1267709569" name=""/>
          <p:cNvSpPr>
            <a:spLocks noGrp="1"/>
          </p:cNvSpPr>
          <p:nvPr/>
        </p:nvSpPr>
        <p:spPr bwMode="auto">
          <a:xfrm>
            <a:off x="8439150" y="2686050"/>
            <a:ext cx="1066800" cy="523875"/>
          </a:xfrm>
          <a:prstGeom prst="rect">
            <a:avLst/>
          </a:prstGeom>
          <a:solidFill>
            <a:srgbClr val="EAF1F8"/>
          </a:solidFill>
          <a:ln w="11430">
            <a:solidFill>
              <a:srgbClr val="D9E2EC"/>
            </a:solidFill>
            <a:prstDash val="solid"/>
          </a:ln>
        </p:spPr>
      </p:sp>
      <p:sp>
        <p:nvSpPr>
          <p:cNvPr id="1229786868" name=""/>
          <p:cNvSpPr>
            <a:spLocks noGrp="1"/>
          </p:cNvSpPr>
          <p:nvPr/>
        </p:nvSpPr>
        <p:spPr bwMode="auto">
          <a:xfrm>
            <a:off x="8458200" y="272415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0.001417</a:t>
            </a:r>
            <a:endParaRPr/>
          </a:p>
        </p:txBody>
      </p:sp>
      <p:sp>
        <p:nvSpPr>
          <p:cNvPr id="1403741553" name=""/>
          <p:cNvSpPr>
            <a:spLocks noGrp="1"/>
          </p:cNvSpPr>
          <p:nvPr/>
        </p:nvSpPr>
        <p:spPr bwMode="auto">
          <a:xfrm>
            <a:off x="9505950" y="2686050"/>
            <a:ext cx="1219200" cy="523875"/>
          </a:xfrm>
          <a:prstGeom prst="rect">
            <a:avLst/>
          </a:prstGeom>
          <a:solidFill>
            <a:srgbClr val="EAF1F8"/>
          </a:solidFill>
          <a:ln w="11430">
            <a:solidFill>
              <a:srgbClr val="D9E2EC"/>
            </a:solidFill>
            <a:prstDash val="solid"/>
          </a:ln>
        </p:spPr>
      </p:sp>
      <p:sp>
        <p:nvSpPr>
          <p:cNvPr id="481986031" name=""/>
          <p:cNvSpPr>
            <a:spLocks noGrp="1"/>
          </p:cNvSpPr>
          <p:nvPr/>
        </p:nvSpPr>
        <p:spPr bwMode="auto">
          <a:xfrm>
            <a:off x="9525000" y="272415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0.585667</a:t>
            </a:r>
            <a:endParaRPr/>
          </a:p>
        </p:txBody>
      </p:sp>
      <p:sp>
        <p:nvSpPr>
          <p:cNvPr id="1059309851" name=""/>
          <p:cNvSpPr>
            <a:spLocks noGrp="1"/>
          </p:cNvSpPr>
          <p:nvPr/>
        </p:nvSpPr>
        <p:spPr bwMode="auto">
          <a:xfrm>
            <a:off x="10725150" y="2686050"/>
            <a:ext cx="1066800" cy="523875"/>
          </a:xfrm>
          <a:prstGeom prst="rect">
            <a:avLst/>
          </a:prstGeom>
          <a:solidFill>
            <a:srgbClr val="EAF1F8"/>
          </a:solidFill>
          <a:ln w="11430">
            <a:solidFill>
              <a:srgbClr val="D9E2EC"/>
            </a:solidFill>
            <a:prstDash val="solid"/>
          </a:ln>
        </p:spPr>
      </p:sp>
      <p:sp>
        <p:nvSpPr>
          <p:cNvPr id="347229756" name=""/>
          <p:cNvSpPr>
            <a:spLocks noGrp="1"/>
          </p:cNvSpPr>
          <p:nvPr/>
        </p:nvSpPr>
        <p:spPr bwMode="auto">
          <a:xfrm>
            <a:off x="10744200" y="272415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1.282198</a:t>
            </a:r>
            <a:endParaRPr/>
          </a:p>
        </p:txBody>
      </p:sp>
      <p:sp>
        <p:nvSpPr>
          <p:cNvPr id="641661729" name=""/>
          <p:cNvSpPr>
            <a:spLocks noGrp="1"/>
          </p:cNvSpPr>
          <p:nvPr/>
        </p:nvSpPr>
        <p:spPr bwMode="auto">
          <a:xfrm>
            <a:off x="7772400" y="3209925"/>
            <a:ext cx="666750" cy="523875"/>
          </a:xfrm>
          <a:prstGeom prst="rect">
            <a:avLst/>
          </a:prstGeom>
          <a:solidFill>
            <a:srgbClr val="FFFFFF"/>
          </a:solidFill>
          <a:ln w="11430">
            <a:solidFill>
              <a:srgbClr val="D9E2EC"/>
            </a:solidFill>
            <a:prstDash val="solid"/>
          </a:ln>
        </p:spPr>
      </p:sp>
      <p:sp>
        <p:nvSpPr>
          <p:cNvPr id="1114040287" name=""/>
          <p:cNvSpPr>
            <a:spLocks noGrp="1"/>
          </p:cNvSpPr>
          <p:nvPr/>
        </p:nvSpPr>
        <p:spPr bwMode="auto">
          <a:xfrm>
            <a:off x="7791450" y="324802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128</a:t>
            </a:r>
            <a:endParaRPr/>
          </a:p>
        </p:txBody>
      </p:sp>
      <p:sp>
        <p:nvSpPr>
          <p:cNvPr id="1585334424" name=""/>
          <p:cNvSpPr>
            <a:spLocks noGrp="1"/>
          </p:cNvSpPr>
          <p:nvPr/>
        </p:nvSpPr>
        <p:spPr bwMode="auto">
          <a:xfrm>
            <a:off x="8439150" y="3209925"/>
            <a:ext cx="1066800" cy="523875"/>
          </a:xfrm>
          <a:prstGeom prst="rect">
            <a:avLst/>
          </a:prstGeom>
          <a:solidFill>
            <a:srgbClr val="FFFFFF"/>
          </a:solidFill>
          <a:ln w="11430">
            <a:solidFill>
              <a:srgbClr val="D9E2EC"/>
            </a:solidFill>
            <a:prstDash val="solid"/>
          </a:ln>
        </p:spPr>
      </p:sp>
      <p:sp>
        <p:nvSpPr>
          <p:cNvPr id="553210191" name=""/>
          <p:cNvSpPr>
            <a:spLocks noGrp="1"/>
          </p:cNvSpPr>
          <p:nvPr/>
        </p:nvSpPr>
        <p:spPr bwMode="auto">
          <a:xfrm>
            <a:off x="8458200" y="324802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0.002635</a:t>
            </a:r>
            <a:endParaRPr/>
          </a:p>
        </p:txBody>
      </p:sp>
      <p:sp>
        <p:nvSpPr>
          <p:cNvPr id="1675559556" name=""/>
          <p:cNvSpPr>
            <a:spLocks noGrp="1"/>
          </p:cNvSpPr>
          <p:nvPr/>
        </p:nvSpPr>
        <p:spPr bwMode="auto">
          <a:xfrm>
            <a:off x="9505950" y="3209925"/>
            <a:ext cx="1219200" cy="523875"/>
          </a:xfrm>
          <a:prstGeom prst="rect">
            <a:avLst/>
          </a:prstGeom>
          <a:solidFill>
            <a:srgbClr val="FFFFFF"/>
          </a:solidFill>
          <a:ln w="11430">
            <a:solidFill>
              <a:srgbClr val="D9E2EC"/>
            </a:solidFill>
            <a:prstDash val="solid"/>
          </a:ln>
        </p:spPr>
      </p:sp>
      <p:sp>
        <p:nvSpPr>
          <p:cNvPr id="628974683" name=""/>
          <p:cNvSpPr>
            <a:spLocks noGrp="1"/>
          </p:cNvSpPr>
          <p:nvPr/>
        </p:nvSpPr>
        <p:spPr bwMode="auto">
          <a:xfrm>
            <a:off x="9525000" y="324802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2.077959</a:t>
            </a:r>
            <a:endParaRPr/>
          </a:p>
        </p:txBody>
      </p:sp>
      <p:sp>
        <p:nvSpPr>
          <p:cNvPr id="1683023499" name=""/>
          <p:cNvSpPr>
            <a:spLocks noGrp="1"/>
          </p:cNvSpPr>
          <p:nvPr/>
        </p:nvSpPr>
        <p:spPr bwMode="auto">
          <a:xfrm>
            <a:off x="10725150" y="3209925"/>
            <a:ext cx="1066800" cy="523875"/>
          </a:xfrm>
          <a:prstGeom prst="rect">
            <a:avLst/>
          </a:prstGeom>
          <a:solidFill>
            <a:srgbClr val="FFFFFF"/>
          </a:solidFill>
          <a:ln w="11430">
            <a:solidFill>
              <a:srgbClr val="D9E2EC"/>
            </a:solidFill>
            <a:prstDash val="solid"/>
          </a:ln>
        </p:spPr>
      </p:sp>
      <p:sp>
        <p:nvSpPr>
          <p:cNvPr id="59562903" name=""/>
          <p:cNvSpPr>
            <a:spLocks noGrp="1"/>
          </p:cNvSpPr>
          <p:nvPr/>
        </p:nvSpPr>
        <p:spPr bwMode="auto">
          <a:xfrm>
            <a:off x="10744200" y="324802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2.815083</a:t>
            </a:r>
            <a:endParaRPr/>
          </a:p>
        </p:txBody>
      </p:sp>
      <p:sp>
        <p:nvSpPr>
          <p:cNvPr id="91179040" name=""/>
          <p:cNvSpPr>
            <a:spLocks noGrp="1"/>
          </p:cNvSpPr>
          <p:nvPr/>
        </p:nvSpPr>
        <p:spPr bwMode="auto">
          <a:xfrm>
            <a:off x="7772400" y="3733800"/>
            <a:ext cx="666750" cy="523875"/>
          </a:xfrm>
          <a:prstGeom prst="rect">
            <a:avLst/>
          </a:prstGeom>
          <a:solidFill>
            <a:srgbClr val="EAF1F8"/>
          </a:solidFill>
          <a:ln w="11430">
            <a:solidFill>
              <a:srgbClr val="D9E2EC"/>
            </a:solidFill>
            <a:prstDash val="solid"/>
          </a:ln>
        </p:spPr>
      </p:sp>
      <p:sp>
        <p:nvSpPr>
          <p:cNvPr id="1992981184" name=""/>
          <p:cNvSpPr>
            <a:spLocks noGrp="1"/>
          </p:cNvSpPr>
          <p:nvPr/>
        </p:nvSpPr>
        <p:spPr bwMode="auto">
          <a:xfrm>
            <a:off x="7791450" y="377190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256</a:t>
            </a:r>
            <a:endParaRPr/>
          </a:p>
        </p:txBody>
      </p:sp>
      <p:sp>
        <p:nvSpPr>
          <p:cNvPr id="1497834457" name=""/>
          <p:cNvSpPr>
            <a:spLocks noGrp="1"/>
          </p:cNvSpPr>
          <p:nvPr/>
        </p:nvSpPr>
        <p:spPr bwMode="auto">
          <a:xfrm>
            <a:off x="8439150" y="3733800"/>
            <a:ext cx="1066800" cy="523875"/>
          </a:xfrm>
          <a:prstGeom prst="rect">
            <a:avLst/>
          </a:prstGeom>
          <a:solidFill>
            <a:srgbClr val="EAF1F8"/>
          </a:solidFill>
          <a:ln w="11430">
            <a:solidFill>
              <a:srgbClr val="D9E2EC"/>
            </a:solidFill>
            <a:prstDash val="solid"/>
          </a:ln>
        </p:spPr>
      </p:sp>
      <p:sp>
        <p:nvSpPr>
          <p:cNvPr id="1643931143" name=""/>
          <p:cNvSpPr>
            <a:spLocks noGrp="1"/>
          </p:cNvSpPr>
          <p:nvPr/>
        </p:nvSpPr>
        <p:spPr bwMode="auto">
          <a:xfrm>
            <a:off x="8458200" y="37719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0.005208</a:t>
            </a:r>
            <a:endParaRPr/>
          </a:p>
        </p:txBody>
      </p:sp>
      <p:sp>
        <p:nvSpPr>
          <p:cNvPr id="1908201396" name=""/>
          <p:cNvSpPr>
            <a:spLocks noGrp="1"/>
          </p:cNvSpPr>
          <p:nvPr/>
        </p:nvSpPr>
        <p:spPr bwMode="auto">
          <a:xfrm>
            <a:off x="9505950" y="3733800"/>
            <a:ext cx="1219200" cy="523875"/>
          </a:xfrm>
          <a:prstGeom prst="rect">
            <a:avLst/>
          </a:prstGeom>
          <a:solidFill>
            <a:srgbClr val="EAF1F8"/>
          </a:solidFill>
          <a:ln w="11430">
            <a:solidFill>
              <a:srgbClr val="D9E2EC"/>
            </a:solidFill>
            <a:prstDash val="solid"/>
          </a:ln>
        </p:spPr>
      </p:sp>
      <p:sp>
        <p:nvSpPr>
          <p:cNvPr id="628635571" name=""/>
          <p:cNvSpPr>
            <a:spLocks noGrp="1"/>
          </p:cNvSpPr>
          <p:nvPr/>
        </p:nvSpPr>
        <p:spPr bwMode="auto">
          <a:xfrm>
            <a:off x="9525000" y="377190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7.929646</a:t>
            </a:r>
            <a:endParaRPr/>
          </a:p>
        </p:txBody>
      </p:sp>
      <p:sp>
        <p:nvSpPr>
          <p:cNvPr id="1779490075" name=""/>
          <p:cNvSpPr>
            <a:spLocks noGrp="1"/>
          </p:cNvSpPr>
          <p:nvPr/>
        </p:nvSpPr>
        <p:spPr bwMode="auto">
          <a:xfrm>
            <a:off x="10725150" y="3733800"/>
            <a:ext cx="1066800" cy="523875"/>
          </a:xfrm>
          <a:prstGeom prst="rect">
            <a:avLst/>
          </a:prstGeom>
          <a:solidFill>
            <a:srgbClr val="EAF1F8"/>
          </a:solidFill>
          <a:ln w="11430">
            <a:solidFill>
              <a:srgbClr val="D9E2EC"/>
            </a:solidFill>
            <a:prstDash val="solid"/>
          </a:ln>
        </p:spPr>
      </p:sp>
      <p:sp>
        <p:nvSpPr>
          <p:cNvPr id="110114169" name=""/>
          <p:cNvSpPr>
            <a:spLocks noGrp="1"/>
          </p:cNvSpPr>
          <p:nvPr/>
        </p:nvSpPr>
        <p:spPr bwMode="auto">
          <a:xfrm>
            <a:off x="10744200" y="37719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6.721250</a:t>
            </a:r>
            <a:endParaRPr/>
          </a:p>
        </p:txBody>
      </p:sp>
      <p:sp>
        <p:nvSpPr>
          <p:cNvPr id="1170430103" name=""/>
          <p:cNvSpPr>
            <a:spLocks noGrp="1"/>
          </p:cNvSpPr>
          <p:nvPr/>
        </p:nvSpPr>
        <p:spPr bwMode="auto">
          <a:xfrm>
            <a:off x="7772400" y="4257675"/>
            <a:ext cx="666750" cy="523875"/>
          </a:xfrm>
          <a:prstGeom prst="rect">
            <a:avLst/>
          </a:prstGeom>
          <a:solidFill>
            <a:srgbClr val="FFFFFF"/>
          </a:solidFill>
          <a:ln w="11430">
            <a:solidFill>
              <a:srgbClr val="D9E2EC"/>
            </a:solidFill>
            <a:prstDash val="solid"/>
          </a:ln>
        </p:spPr>
      </p:sp>
      <p:sp>
        <p:nvSpPr>
          <p:cNvPr id="45326476" name=""/>
          <p:cNvSpPr>
            <a:spLocks noGrp="1"/>
          </p:cNvSpPr>
          <p:nvPr/>
        </p:nvSpPr>
        <p:spPr bwMode="auto">
          <a:xfrm>
            <a:off x="7791450" y="429577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512</a:t>
            </a:r>
            <a:endParaRPr/>
          </a:p>
        </p:txBody>
      </p:sp>
      <p:sp>
        <p:nvSpPr>
          <p:cNvPr id="1643097702" name=""/>
          <p:cNvSpPr>
            <a:spLocks noGrp="1"/>
          </p:cNvSpPr>
          <p:nvPr/>
        </p:nvSpPr>
        <p:spPr bwMode="auto">
          <a:xfrm>
            <a:off x="8439150" y="4257675"/>
            <a:ext cx="1066800" cy="523875"/>
          </a:xfrm>
          <a:prstGeom prst="rect">
            <a:avLst/>
          </a:prstGeom>
          <a:solidFill>
            <a:srgbClr val="FFFFFF"/>
          </a:solidFill>
          <a:ln w="11430">
            <a:solidFill>
              <a:srgbClr val="D9E2EC"/>
            </a:solidFill>
            <a:prstDash val="solid"/>
          </a:ln>
        </p:spPr>
      </p:sp>
      <p:sp>
        <p:nvSpPr>
          <p:cNvPr id="1377291153" name=""/>
          <p:cNvSpPr>
            <a:spLocks noGrp="1"/>
          </p:cNvSpPr>
          <p:nvPr/>
        </p:nvSpPr>
        <p:spPr bwMode="auto">
          <a:xfrm>
            <a:off x="8458200" y="42957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0.010584</a:t>
            </a:r>
            <a:endParaRPr/>
          </a:p>
        </p:txBody>
      </p:sp>
      <p:sp>
        <p:nvSpPr>
          <p:cNvPr id="1224778554" name=""/>
          <p:cNvSpPr>
            <a:spLocks noGrp="1"/>
          </p:cNvSpPr>
          <p:nvPr/>
        </p:nvSpPr>
        <p:spPr bwMode="auto">
          <a:xfrm>
            <a:off x="9505950" y="4257675"/>
            <a:ext cx="1219200" cy="523875"/>
          </a:xfrm>
          <a:prstGeom prst="rect">
            <a:avLst/>
          </a:prstGeom>
          <a:solidFill>
            <a:srgbClr val="FFFFFF"/>
          </a:solidFill>
          <a:ln w="11430">
            <a:solidFill>
              <a:srgbClr val="D9E2EC"/>
            </a:solidFill>
            <a:prstDash val="solid"/>
          </a:ln>
        </p:spPr>
      </p:sp>
      <p:sp>
        <p:nvSpPr>
          <p:cNvPr id="192445278" name=""/>
          <p:cNvSpPr>
            <a:spLocks noGrp="1"/>
          </p:cNvSpPr>
          <p:nvPr/>
        </p:nvSpPr>
        <p:spPr bwMode="auto">
          <a:xfrm>
            <a:off x="9525000" y="429577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33.014458</a:t>
            </a:r>
            <a:endParaRPr/>
          </a:p>
        </p:txBody>
      </p:sp>
      <p:sp>
        <p:nvSpPr>
          <p:cNvPr id="2043771314" name=""/>
          <p:cNvSpPr>
            <a:spLocks noGrp="1"/>
          </p:cNvSpPr>
          <p:nvPr/>
        </p:nvSpPr>
        <p:spPr bwMode="auto">
          <a:xfrm>
            <a:off x="10725150" y="4257675"/>
            <a:ext cx="1066800" cy="523875"/>
          </a:xfrm>
          <a:prstGeom prst="rect">
            <a:avLst/>
          </a:prstGeom>
          <a:solidFill>
            <a:srgbClr val="FFFFFF"/>
          </a:solidFill>
          <a:ln w="11430">
            <a:solidFill>
              <a:srgbClr val="D9E2EC"/>
            </a:solidFill>
            <a:prstDash val="solid"/>
          </a:ln>
        </p:spPr>
      </p:sp>
      <p:sp>
        <p:nvSpPr>
          <p:cNvPr id="1541385165" name=""/>
          <p:cNvSpPr>
            <a:spLocks noGrp="1"/>
          </p:cNvSpPr>
          <p:nvPr/>
        </p:nvSpPr>
        <p:spPr bwMode="auto">
          <a:xfrm>
            <a:off x="10744200" y="42957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18.716687</a:t>
            </a:r>
            <a:endParaRPr/>
          </a:p>
        </p:txBody>
      </p:sp>
      <p:sp>
        <p:nvSpPr>
          <p:cNvPr id="944451695" name=""/>
          <p:cNvSpPr>
            <a:spLocks noGrp="1"/>
          </p:cNvSpPr>
          <p:nvPr/>
        </p:nvSpPr>
        <p:spPr bwMode="auto">
          <a:xfrm>
            <a:off x="7848600" y="5086350"/>
            <a:ext cx="39052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Absolute times belong to one recorded Apple M4 / CPython 3.12.4 execution.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85132307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B</a:t>
            </a:r>
            <a:endParaRPr/>
          </a:p>
        </p:txBody>
      </p:sp>
      <p:sp>
        <p:nvSpPr>
          <p:cNvPr id="199959263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Paper output is recovered from state, not from the oracle result</a:t>
            </a:r>
            <a:endParaRPr/>
          </a:p>
        </p:txBody>
      </p:sp>
      <p:sp>
        <p:nvSpPr>
          <p:cNvPr id="1559959441" name=""/>
          <p:cNvSpPr>
            <a:spLocks noGrp="1"/>
          </p:cNvSpPr>
          <p:nvPr/>
        </p:nvSpPr>
        <p:spPr bwMode="auto">
          <a:xfrm>
            <a:off x="609600" y="1085850"/>
            <a:ext cx="10972800" cy="9525"/>
          </a:xfrm>
          <a:prstGeom prst="line">
            <a:avLst/>
          </a:prstGeom>
          <a:noFill/>
          <a:ln w="28575">
            <a:solidFill>
              <a:srgbClr val="E76F51"/>
            </a:solidFill>
            <a:prstDash val="solid"/>
          </a:ln>
        </p:spPr>
      </p:sp>
      <p:sp>
        <p:nvSpPr>
          <p:cNvPr id="824138139" name=""/>
          <p:cNvSpPr>
            <a:spLocks noGrp="1"/>
          </p:cNvSpPr>
          <p:nvPr/>
        </p:nvSpPr>
        <p:spPr bwMode="auto">
          <a:xfrm>
            <a:off x="609600" y="6477000"/>
            <a:ext cx="10972800" cy="9525"/>
          </a:xfrm>
          <a:prstGeom prst="line">
            <a:avLst/>
          </a:prstGeom>
          <a:noFill/>
          <a:ln w="9525">
            <a:solidFill>
              <a:srgbClr val="D9E2EC"/>
            </a:solidFill>
            <a:prstDash val="solid"/>
          </a:ln>
        </p:spPr>
      </p:sp>
      <p:sp>
        <p:nvSpPr>
          <p:cNvPr id="112232329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97998351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B</a:t>
            </a:r>
            <a:endParaRPr/>
          </a:p>
        </p:txBody>
      </p:sp>
      <p:sp>
        <p:nvSpPr>
          <p:cNvPr id="1142775095" name=""/>
          <p:cNvSpPr>
            <a:spLocks noGrp="1"/>
          </p:cNvSpPr>
          <p:nvPr/>
        </p:nvSpPr>
        <p:spPr bwMode="auto">
          <a:xfrm>
            <a:off x="971550" y="1543050"/>
            <a:ext cx="4095750" cy="3562350"/>
          </a:xfrm>
          <a:prstGeom prst="roundRect">
            <a:avLst>
              <a:gd name="adj" fmla="val 2139"/>
            </a:avLst>
          </a:prstGeom>
          <a:solidFill>
            <a:srgbClr val="FCEEEA"/>
          </a:solidFill>
          <a:ln w="19050">
            <a:solidFill>
              <a:srgbClr val="E76F51"/>
            </a:solidFill>
            <a:prstDash val="solid"/>
          </a:ln>
        </p:spPr>
      </p:sp>
      <p:sp>
        <p:nvSpPr>
          <p:cNvPr id="247743267" name=""/>
          <p:cNvSpPr>
            <a:spLocks noGrp="1"/>
          </p:cNvSpPr>
          <p:nvPr/>
        </p:nvSpPr>
        <p:spPr bwMode="auto">
          <a:xfrm>
            <a:off x="7124700" y="1543050"/>
            <a:ext cx="4095750" cy="3562350"/>
          </a:xfrm>
          <a:prstGeom prst="roundRect">
            <a:avLst>
              <a:gd name="adj" fmla="val 2139"/>
            </a:avLst>
          </a:prstGeom>
          <a:solidFill>
            <a:srgbClr val="E8F5F3"/>
          </a:solidFill>
          <a:ln w="19050">
            <a:solidFill>
              <a:srgbClr val="2A9D8F"/>
            </a:solidFill>
            <a:prstDash val="solid"/>
          </a:ln>
        </p:spPr>
      </p:sp>
      <p:sp>
        <p:nvSpPr>
          <p:cNvPr id="534402784" name=""/>
          <p:cNvSpPr>
            <a:spLocks noGrp="1"/>
          </p:cNvSpPr>
          <p:nvPr/>
        </p:nvSpPr>
        <p:spPr bwMode="auto">
          <a:xfrm>
            <a:off x="1238250" y="1790700"/>
            <a:ext cx="35623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100" b="1" i="0">
                <a:solidFill>
                  <a:srgbClr val="E76F51"/>
                </a:solidFill>
              </a:defRPr>
            </a:pPr>
            <a:r>
              <a:rPr sz="2100" b="1" i="0">
                <a:solidFill>
                  <a:srgbClr val="E76F51"/>
                </a:solidFill>
              </a:rPr>
              <a:t>Reference pipeline</a:t>
            </a:r>
            <a:endParaRPr/>
          </a:p>
        </p:txBody>
      </p:sp>
      <p:sp>
        <p:nvSpPr>
          <p:cNvPr id="866711053" name=""/>
          <p:cNvSpPr>
            <a:spLocks noGrp="1"/>
          </p:cNvSpPr>
          <p:nvPr/>
        </p:nvSpPr>
        <p:spPr bwMode="auto">
          <a:xfrm>
            <a:off x="1238250" y="2571750"/>
            <a:ext cx="35623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102A43"/>
                </a:solidFill>
              </a:defRPr>
            </a:pPr>
            <a:r>
              <a:rPr sz="1900" b="1" i="0">
                <a:solidFill>
                  <a:srgbClr val="102A43"/>
                </a:solidFill>
              </a:rPr>
              <a:t>oracle_result["sorted"]</a:t>
            </a:r>
            <a:endParaRPr/>
          </a:p>
        </p:txBody>
      </p:sp>
      <p:sp>
        <p:nvSpPr>
          <p:cNvPr id="1871500922" name=""/>
          <p:cNvSpPr>
            <a:spLocks noGrp="1"/>
          </p:cNvSpPr>
          <p:nvPr/>
        </p:nvSpPr>
        <p:spPr bwMode="auto">
          <a:xfrm>
            <a:off x="1428750" y="3429000"/>
            <a:ext cx="3181350" cy="1009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Oracle validation, structure, trace, and serializable result assembly are part of the reference call.</a:t>
            </a:r>
            <a:endParaRPr/>
          </a:p>
        </p:txBody>
      </p:sp>
      <p:sp>
        <p:nvSpPr>
          <p:cNvPr id="969759573" name=""/>
          <p:cNvSpPr>
            <a:spLocks noGrp="1"/>
          </p:cNvSpPr>
          <p:nvPr/>
        </p:nvSpPr>
        <p:spPr bwMode="auto">
          <a:xfrm>
            <a:off x="7391400" y="1790700"/>
            <a:ext cx="35623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100" b="1" i="0">
                <a:solidFill>
                  <a:srgbClr val="2A9D8F"/>
                </a:solidFill>
              </a:defRPr>
            </a:pPr>
            <a:r>
              <a:rPr sz="2100" b="1" i="0">
                <a:solidFill>
                  <a:srgbClr val="2A9D8F"/>
                </a:solidFill>
              </a:rPr>
              <a:t>Paper core</a:t>
            </a:r>
            <a:endParaRPr/>
          </a:p>
        </p:txBody>
      </p:sp>
      <p:sp>
        <p:nvSpPr>
          <p:cNvPr id="726791521" name=""/>
          <p:cNvSpPr>
            <a:spLocks noGrp="1"/>
          </p:cNvSpPr>
          <p:nvPr/>
        </p:nvSpPr>
        <p:spPr bwMode="auto">
          <a:xfrm>
            <a:off x="7391400" y="2571750"/>
            <a:ext cx="35623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state.partial_order.to_list()</a:t>
            </a:r>
            <a:endParaRPr/>
          </a:p>
        </p:txBody>
      </p:sp>
      <p:sp>
        <p:nvSpPr>
          <p:cNvPr id="441090952" name=""/>
          <p:cNvSpPr>
            <a:spLocks noGrp="1"/>
          </p:cNvSpPr>
          <p:nvPr/>
        </p:nvSpPr>
        <p:spPr bwMode="auto">
          <a:xfrm>
            <a:off x="7581899" y="3352800"/>
            <a:ext cx="3181350" cy="1162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Certification precedes the call. Output comparison follows it. Neither provides the paper core's return value.</a:t>
            </a:r>
            <a:endParaRPr/>
          </a:p>
        </p:txBody>
      </p:sp>
      <p:sp>
        <p:nvSpPr>
          <p:cNvPr id="1122853150" name=""/>
          <p:cNvSpPr>
            <a:spLocks noGrp="1"/>
          </p:cNvSpPr>
          <p:nvPr/>
        </p:nvSpPr>
        <p:spPr bwMode="auto">
          <a:xfrm>
            <a:off x="2190750" y="5619750"/>
            <a:ext cx="78105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102A43"/>
                </a:solidFill>
              </a:defRPr>
            </a:pPr>
            <a:r>
              <a:rPr sz="1900" b="1" i="0">
                <a:solidFill>
                  <a:srgbClr val="102A43"/>
                </a:solidFill>
              </a:rPr>
              <a:t>Same expected answer, different output provenance.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92313637"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C</a:t>
            </a:r>
            <a:endParaRPr/>
          </a:p>
        </p:txBody>
      </p:sp>
      <p:sp>
        <p:nvSpPr>
          <p:cNvPr id="35532529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Validation summary for the current implementation baseline</a:t>
            </a:r>
            <a:endParaRPr/>
          </a:p>
        </p:txBody>
      </p:sp>
      <p:sp>
        <p:nvSpPr>
          <p:cNvPr id="535328060" name=""/>
          <p:cNvSpPr>
            <a:spLocks noGrp="1"/>
          </p:cNvSpPr>
          <p:nvPr/>
        </p:nvSpPr>
        <p:spPr bwMode="auto">
          <a:xfrm>
            <a:off x="609600" y="1085850"/>
            <a:ext cx="10972800" cy="9525"/>
          </a:xfrm>
          <a:prstGeom prst="line">
            <a:avLst/>
          </a:prstGeom>
          <a:noFill/>
          <a:ln w="28575">
            <a:solidFill>
              <a:srgbClr val="E76F51"/>
            </a:solidFill>
            <a:prstDash val="solid"/>
          </a:ln>
        </p:spPr>
      </p:sp>
      <p:sp>
        <p:nvSpPr>
          <p:cNvPr id="1945434065" name=""/>
          <p:cNvSpPr>
            <a:spLocks noGrp="1"/>
          </p:cNvSpPr>
          <p:nvPr/>
        </p:nvSpPr>
        <p:spPr bwMode="auto">
          <a:xfrm>
            <a:off x="609600" y="6477000"/>
            <a:ext cx="10972800" cy="9525"/>
          </a:xfrm>
          <a:prstGeom prst="line">
            <a:avLst/>
          </a:prstGeom>
          <a:noFill/>
          <a:ln w="9525">
            <a:solidFill>
              <a:srgbClr val="D9E2EC"/>
            </a:solidFill>
            <a:prstDash val="solid"/>
          </a:ln>
        </p:spPr>
      </p:sp>
      <p:sp>
        <p:nvSpPr>
          <p:cNvPr id="145839260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660641306"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C</a:t>
            </a:r>
            <a:endParaRPr/>
          </a:p>
        </p:txBody>
      </p:sp>
      <p:sp>
        <p:nvSpPr>
          <p:cNvPr id="745235437" name=""/>
          <p:cNvSpPr>
            <a:spLocks noGrp="1"/>
          </p:cNvSpPr>
          <p:nvPr/>
        </p:nvSpPr>
        <p:spPr bwMode="auto">
          <a:xfrm>
            <a:off x="990600" y="15049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2A9D8F"/>
                </a:solidFill>
              </a:defRPr>
            </a:pPr>
            <a:r>
              <a:rPr sz="3150" b="1" i="0">
                <a:solidFill>
                  <a:srgbClr val="2A9D8F"/>
                </a:solidFill>
              </a:rPr>
              <a:t>537</a:t>
            </a:r>
            <a:endParaRPr/>
          </a:p>
        </p:txBody>
      </p:sp>
      <p:sp>
        <p:nvSpPr>
          <p:cNvPr id="1640103897" name=""/>
          <p:cNvSpPr>
            <a:spLocks noGrp="1"/>
          </p:cNvSpPr>
          <p:nvPr/>
        </p:nvSpPr>
        <p:spPr bwMode="auto">
          <a:xfrm>
            <a:off x="3676650" y="1619250"/>
            <a:ext cx="38100" cy="342900"/>
          </a:xfrm>
          <a:prstGeom prst="rect">
            <a:avLst/>
          </a:prstGeom>
          <a:solidFill>
            <a:srgbClr val="2A9D8F"/>
          </a:solidFill>
          <a:ln w="11430">
            <a:solidFill>
              <a:srgbClr val="2A9D8F"/>
            </a:solidFill>
            <a:prstDash val="solid"/>
          </a:ln>
        </p:spPr>
      </p:sp>
      <p:sp>
        <p:nvSpPr>
          <p:cNvPr id="1401966913" name=""/>
          <p:cNvSpPr>
            <a:spLocks noGrp="1"/>
          </p:cNvSpPr>
          <p:nvPr/>
        </p:nvSpPr>
        <p:spPr bwMode="auto">
          <a:xfrm>
            <a:off x="4000500" y="15049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repository tests</a:t>
            </a:r>
            <a:endParaRPr/>
          </a:p>
        </p:txBody>
      </p:sp>
      <p:sp>
        <p:nvSpPr>
          <p:cNvPr id="1451048104" name=""/>
          <p:cNvSpPr>
            <a:spLocks noGrp="1"/>
          </p:cNvSpPr>
          <p:nvPr/>
        </p:nvSpPr>
        <p:spPr bwMode="auto">
          <a:xfrm>
            <a:off x="990600" y="23431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E76F51"/>
                </a:solidFill>
              </a:defRPr>
            </a:pPr>
            <a:r>
              <a:rPr sz="3150" b="1" i="0">
                <a:solidFill>
                  <a:srgbClr val="E76F51"/>
                </a:solidFill>
              </a:rPr>
              <a:t>2,074</a:t>
            </a:r>
            <a:endParaRPr/>
          </a:p>
        </p:txBody>
      </p:sp>
      <p:sp>
        <p:nvSpPr>
          <p:cNvPr id="1627576421" name=""/>
          <p:cNvSpPr>
            <a:spLocks noGrp="1"/>
          </p:cNvSpPr>
          <p:nvPr/>
        </p:nvSpPr>
        <p:spPr bwMode="auto">
          <a:xfrm>
            <a:off x="3676650" y="2457450"/>
            <a:ext cx="38100" cy="342900"/>
          </a:xfrm>
          <a:prstGeom prst="rect">
            <a:avLst/>
          </a:prstGeom>
          <a:solidFill>
            <a:srgbClr val="E76F51"/>
          </a:solidFill>
          <a:ln w="11430">
            <a:solidFill>
              <a:srgbClr val="E76F51"/>
            </a:solidFill>
            <a:prstDash val="solid"/>
          </a:ln>
        </p:spPr>
      </p:sp>
      <p:sp>
        <p:nvSpPr>
          <p:cNvPr id="217693878" name=""/>
          <p:cNvSpPr>
            <a:spLocks noGrp="1"/>
          </p:cNvSpPr>
          <p:nvPr/>
        </p:nvSpPr>
        <p:spPr bwMode="auto">
          <a:xfrm>
            <a:off x="4000500" y="23431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bounded exhaustive valid permutations, n ≤ 8</a:t>
            </a:r>
            <a:endParaRPr/>
          </a:p>
        </p:txBody>
      </p:sp>
      <p:sp>
        <p:nvSpPr>
          <p:cNvPr id="334994637" name=""/>
          <p:cNvSpPr>
            <a:spLocks noGrp="1"/>
          </p:cNvSpPr>
          <p:nvPr/>
        </p:nvSpPr>
        <p:spPr bwMode="auto">
          <a:xfrm>
            <a:off x="990600" y="31813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2A9D8F"/>
                </a:solidFill>
              </a:defRPr>
            </a:pPr>
            <a:r>
              <a:rPr sz="3150" b="1" i="0">
                <a:solidFill>
                  <a:srgbClr val="2A9D8F"/>
                </a:solidFill>
              </a:rPr>
              <a:t>48</a:t>
            </a:r>
            <a:endParaRPr/>
          </a:p>
        </p:txBody>
      </p:sp>
      <p:sp>
        <p:nvSpPr>
          <p:cNvPr id="1584098898" name=""/>
          <p:cNvSpPr>
            <a:spLocks noGrp="1"/>
          </p:cNvSpPr>
          <p:nvPr/>
        </p:nvSpPr>
        <p:spPr bwMode="auto">
          <a:xfrm>
            <a:off x="3676650" y="3295650"/>
            <a:ext cx="38100" cy="342900"/>
          </a:xfrm>
          <a:prstGeom prst="rect">
            <a:avLst/>
          </a:prstGeom>
          <a:solidFill>
            <a:srgbClr val="2A9D8F"/>
          </a:solidFill>
          <a:ln w="11430">
            <a:solidFill>
              <a:srgbClr val="2A9D8F"/>
            </a:solidFill>
            <a:prstDash val="solid"/>
          </a:ln>
        </p:spPr>
      </p:sp>
      <p:sp>
        <p:nvSpPr>
          <p:cNvPr id="2069769620" name=""/>
          <p:cNvSpPr>
            <a:spLocks noGrp="1"/>
          </p:cNvSpPr>
          <p:nvPr/>
        </p:nvSpPr>
        <p:spPr bwMode="auto">
          <a:xfrm>
            <a:off x="4000500" y="31813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fixed generated cases</a:t>
            </a:r>
            <a:endParaRPr/>
          </a:p>
        </p:txBody>
      </p:sp>
      <p:sp>
        <p:nvSpPr>
          <p:cNvPr id="1392685480" name=""/>
          <p:cNvSpPr>
            <a:spLocks noGrp="1"/>
          </p:cNvSpPr>
          <p:nvPr/>
        </p:nvSpPr>
        <p:spPr bwMode="auto">
          <a:xfrm>
            <a:off x="990600" y="40195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E76F51"/>
                </a:solidFill>
              </a:defRPr>
            </a:pPr>
            <a:r>
              <a:rPr sz="3150" b="1" i="0">
                <a:solidFill>
                  <a:srgbClr val="E76F51"/>
                </a:solidFill>
              </a:rPr>
              <a:t>60</a:t>
            </a:r>
            <a:endParaRPr/>
          </a:p>
        </p:txBody>
      </p:sp>
      <p:sp>
        <p:nvSpPr>
          <p:cNvPr id="2008669602" name=""/>
          <p:cNvSpPr>
            <a:spLocks noGrp="1"/>
          </p:cNvSpPr>
          <p:nvPr/>
        </p:nvSpPr>
        <p:spPr bwMode="auto">
          <a:xfrm>
            <a:off x="3676650" y="4133850"/>
            <a:ext cx="38100" cy="342900"/>
          </a:xfrm>
          <a:prstGeom prst="rect">
            <a:avLst/>
          </a:prstGeom>
          <a:solidFill>
            <a:srgbClr val="E76F51"/>
          </a:solidFill>
          <a:ln w="11430">
            <a:solidFill>
              <a:srgbClr val="E76F51"/>
            </a:solidFill>
            <a:prstDash val="solid"/>
          </a:ln>
        </p:spPr>
      </p:sp>
      <p:sp>
        <p:nvSpPr>
          <p:cNvPr id="397310931" name=""/>
          <p:cNvSpPr>
            <a:spLocks noGrp="1"/>
          </p:cNvSpPr>
          <p:nvPr/>
        </p:nvSpPr>
        <p:spPr bwMode="auto">
          <a:xfrm>
            <a:off x="4000500" y="40195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formal case-level checked-state audits</a:t>
            </a:r>
            <a:endParaRPr/>
          </a:p>
        </p:txBody>
      </p:sp>
      <p:sp>
        <p:nvSpPr>
          <p:cNvPr id="711144291" name=""/>
          <p:cNvSpPr>
            <a:spLocks noGrp="1"/>
          </p:cNvSpPr>
          <p:nvPr/>
        </p:nvSpPr>
        <p:spPr bwMode="auto">
          <a:xfrm>
            <a:off x="990600" y="48577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2550" b="1" i="0">
                <a:solidFill>
                  <a:srgbClr val="2A9D8F"/>
                </a:solidFill>
              </a:defRPr>
            </a:pPr>
            <a:r>
              <a:rPr sz="2550" b="1" i="0">
                <a:solidFill>
                  <a:srgbClr val="2A9D8F"/>
                </a:solidFill>
              </a:rPr>
              <a:t>passed</a:t>
            </a:r>
            <a:endParaRPr/>
          </a:p>
        </p:txBody>
      </p:sp>
      <p:sp>
        <p:nvSpPr>
          <p:cNvPr id="1912907039" name=""/>
          <p:cNvSpPr>
            <a:spLocks noGrp="1"/>
          </p:cNvSpPr>
          <p:nvPr/>
        </p:nvSpPr>
        <p:spPr bwMode="auto">
          <a:xfrm>
            <a:off x="3676650" y="4972050"/>
            <a:ext cx="38100" cy="342900"/>
          </a:xfrm>
          <a:prstGeom prst="rect">
            <a:avLst/>
          </a:prstGeom>
          <a:solidFill>
            <a:srgbClr val="2A9D8F"/>
          </a:solidFill>
          <a:ln w="11430">
            <a:solidFill>
              <a:srgbClr val="2A9D8F"/>
            </a:solidFill>
            <a:prstDash val="solid"/>
          </a:ln>
        </p:spPr>
      </p:sp>
      <p:sp>
        <p:nvSpPr>
          <p:cNvPr id="2120594333" name=""/>
          <p:cNvSpPr>
            <a:spLocks noGrp="1"/>
          </p:cNvSpPr>
          <p:nvPr/>
        </p:nvSpPr>
        <p:spPr bwMode="auto">
          <a:xfrm>
            <a:off x="4000500" y="48577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formal evidence-contract validation</a:t>
            </a:r>
            <a:endParaRPr/>
          </a:p>
        </p:txBody>
      </p:sp>
      <p:sp>
        <p:nvSpPr>
          <p:cNvPr id="121421413" name=""/>
          <p:cNvSpPr>
            <a:spLocks noGrp="1"/>
          </p:cNvSpPr>
          <p:nvPr/>
        </p:nvSpPr>
        <p:spPr bwMode="auto">
          <a:xfrm>
            <a:off x="1866900" y="5810250"/>
            <a:ext cx="8458200" cy="457200"/>
          </a:xfrm>
          <a:prstGeom prst="roundRect">
            <a:avLst>
              <a:gd name="adj" fmla="val 12500"/>
            </a:avLst>
          </a:prstGeom>
          <a:solidFill>
            <a:srgbClr val="FCEEEA"/>
          </a:solidFill>
          <a:ln w="11430">
            <a:solidFill>
              <a:srgbClr val="E76F51"/>
            </a:solidFill>
            <a:prstDash val="solid"/>
          </a:ln>
        </p:spPr>
      </p:sp>
      <p:sp>
        <p:nvSpPr>
          <p:cNvPr id="1492186915" name=""/>
          <p:cNvSpPr>
            <a:spLocks noGrp="1"/>
          </p:cNvSpPr>
          <p:nvPr/>
        </p:nvSpPr>
        <p:spPr bwMode="auto">
          <a:xfrm>
            <a:off x="2057400" y="5848350"/>
            <a:ext cx="80772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Finite validation evidence is not a proof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68547874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D</a:t>
            </a:r>
            <a:endParaRPr/>
          </a:p>
        </p:txBody>
      </p:sp>
      <p:sp>
        <p:nvSpPr>
          <p:cNvPr id="123539611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Increasing and decreasing iterations use reflected local choices</a:t>
            </a:r>
            <a:endParaRPr/>
          </a:p>
        </p:txBody>
      </p:sp>
      <p:sp>
        <p:nvSpPr>
          <p:cNvPr id="1872346890" name=""/>
          <p:cNvSpPr>
            <a:spLocks noGrp="1"/>
          </p:cNvSpPr>
          <p:nvPr/>
        </p:nvSpPr>
        <p:spPr bwMode="auto">
          <a:xfrm>
            <a:off x="609600" y="1085850"/>
            <a:ext cx="10972800" cy="9525"/>
          </a:xfrm>
          <a:prstGeom prst="line">
            <a:avLst/>
          </a:prstGeom>
          <a:noFill/>
          <a:ln w="28575">
            <a:solidFill>
              <a:srgbClr val="E76F51"/>
            </a:solidFill>
            <a:prstDash val="solid"/>
          </a:ln>
        </p:spPr>
      </p:sp>
      <p:sp>
        <p:nvSpPr>
          <p:cNvPr id="1603059190" name=""/>
          <p:cNvSpPr>
            <a:spLocks noGrp="1"/>
          </p:cNvSpPr>
          <p:nvPr/>
        </p:nvSpPr>
        <p:spPr bwMode="auto">
          <a:xfrm>
            <a:off x="609600" y="6477000"/>
            <a:ext cx="10972800" cy="9525"/>
          </a:xfrm>
          <a:prstGeom prst="line">
            <a:avLst/>
          </a:prstGeom>
          <a:noFill/>
          <a:ln w="9525">
            <a:solidFill>
              <a:srgbClr val="D9E2EC"/>
            </a:solidFill>
            <a:prstDash val="solid"/>
          </a:ln>
        </p:spPr>
      </p:sp>
      <p:sp>
        <p:nvSpPr>
          <p:cNvPr id="166060860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206172985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D</a:t>
            </a:r>
            <a:endParaRPr/>
          </a:p>
        </p:txBody>
      </p:sp>
      <p:sp>
        <p:nvSpPr>
          <p:cNvPr id="1174276524" name=""/>
          <p:cNvSpPr>
            <a:spLocks noGrp="1"/>
          </p:cNvSpPr>
          <p:nvPr/>
        </p:nvSpPr>
        <p:spPr bwMode="auto">
          <a:xfrm>
            <a:off x="876299" y="1466849"/>
            <a:ext cx="3314700" cy="495300"/>
          </a:xfrm>
          <a:prstGeom prst="rect">
            <a:avLst/>
          </a:prstGeom>
          <a:solidFill>
            <a:srgbClr val="102A43"/>
          </a:solidFill>
          <a:ln w="11430">
            <a:solidFill>
              <a:srgbClr val="D9E2EC"/>
            </a:solidFill>
            <a:prstDash val="solid"/>
          </a:ln>
        </p:spPr>
      </p:sp>
      <p:sp>
        <p:nvSpPr>
          <p:cNvPr id="956591574" name=""/>
          <p:cNvSpPr>
            <a:spLocks noGrp="1"/>
          </p:cNvSpPr>
          <p:nvPr/>
        </p:nvSpPr>
        <p:spPr bwMode="auto">
          <a:xfrm>
            <a:off x="952500" y="1524000"/>
            <a:ext cx="31623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FFFFFF"/>
                </a:solidFill>
              </a:defRPr>
            </a:pPr>
            <a:r>
              <a:rPr sz="1450" b="1" i="0">
                <a:solidFill>
                  <a:srgbClr val="FFFFFF"/>
                </a:solidFill>
              </a:rPr>
              <a:t>Control choice</a:t>
            </a:r>
            <a:endParaRPr/>
          </a:p>
        </p:txBody>
      </p:sp>
      <p:sp>
        <p:nvSpPr>
          <p:cNvPr id="1853061927" name=""/>
          <p:cNvSpPr>
            <a:spLocks noGrp="1"/>
          </p:cNvSpPr>
          <p:nvPr/>
        </p:nvSpPr>
        <p:spPr bwMode="auto">
          <a:xfrm>
            <a:off x="4191000" y="1466849"/>
            <a:ext cx="3295650" cy="495300"/>
          </a:xfrm>
          <a:prstGeom prst="rect">
            <a:avLst/>
          </a:prstGeom>
          <a:solidFill>
            <a:srgbClr val="E8F5F3"/>
          </a:solidFill>
          <a:ln w="11430">
            <a:solidFill>
              <a:srgbClr val="D9E2EC"/>
            </a:solidFill>
            <a:prstDash val="solid"/>
          </a:ln>
        </p:spPr>
      </p:sp>
      <p:sp>
        <p:nvSpPr>
          <p:cNvPr id="1160926756" name=""/>
          <p:cNvSpPr>
            <a:spLocks noGrp="1"/>
          </p:cNvSpPr>
          <p:nvPr/>
        </p:nvSpPr>
        <p:spPr bwMode="auto">
          <a:xfrm>
            <a:off x="4267200" y="1524000"/>
            <a:ext cx="314325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Increasing orientation</a:t>
            </a:r>
            <a:endParaRPr/>
          </a:p>
        </p:txBody>
      </p:sp>
      <p:sp>
        <p:nvSpPr>
          <p:cNvPr id="2030574319" name=""/>
          <p:cNvSpPr>
            <a:spLocks noGrp="1"/>
          </p:cNvSpPr>
          <p:nvPr/>
        </p:nvSpPr>
        <p:spPr bwMode="auto">
          <a:xfrm>
            <a:off x="7486650" y="1466849"/>
            <a:ext cx="3752850" cy="495300"/>
          </a:xfrm>
          <a:prstGeom prst="rect">
            <a:avLst/>
          </a:prstGeom>
          <a:solidFill>
            <a:srgbClr val="FCEEEA"/>
          </a:solidFill>
          <a:ln w="11430">
            <a:solidFill>
              <a:srgbClr val="D9E2EC"/>
            </a:solidFill>
            <a:prstDash val="solid"/>
          </a:ln>
        </p:spPr>
      </p:sp>
      <p:sp>
        <p:nvSpPr>
          <p:cNvPr id="700423316" name=""/>
          <p:cNvSpPr>
            <a:spLocks noGrp="1"/>
          </p:cNvSpPr>
          <p:nvPr/>
        </p:nvSpPr>
        <p:spPr bwMode="auto">
          <a:xfrm>
            <a:off x="7562850" y="1524000"/>
            <a:ext cx="360045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E76F51"/>
                </a:solidFill>
              </a:defRPr>
            </a:pPr>
            <a:r>
              <a:rPr sz="1450" b="1" i="0">
                <a:solidFill>
                  <a:srgbClr val="E76F51"/>
                </a:solidFill>
              </a:rPr>
              <a:t>Decreasing orientation</a:t>
            </a:r>
            <a:endParaRPr/>
          </a:p>
        </p:txBody>
      </p:sp>
      <p:sp>
        <p:nvSpPr>
          <p:cNvPr id="812132825" name=""/>
          <p:cNvSpPr>
            <a:spLocks noGrp="1"/>
          </p:cNvSpPr>
          <p:nvPr/>
        </p:nvSpPr>
        <p:spPr bwMode="auto">
          <a:xfrm>
            <a:off x="876299" y="1962150"/>
            <a:ext cx="3314700" cy="514350"/>
          </a:xfrm>
          <a:prstGeom prst="rect">
            <a:avLst/>
          </a:prstGeom>
          <a:solidFill>
            <a:srgbClr val="FFFFFF"/>
          </a:solidFill>
          <a:ln w="11430">
            <a:solidFill>
              <a:srgbClr val="D9E2EC"/>
            </a:solidFill>
            <a:prstDash val="solid"/>
          </a:ln>
        </p:spPr>
      </p:sp>
      <p:sp>
        <p:nvSpPr>
          <p:cNvPr id="1909500454" name=""/>
          <p:cNvSpPr>
            <a:spLocks noGrp="1"/>
          </p:cNvSpPr>
          <p:nvPr/>
        </p:nvSpPr>
        <p:spPr bwMode="auto">
          <a:xfrm>
            <a:off x="952500" y="20193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Step 3(a) boundary</a:t>
            </a:r>
            <a:endParaRPr/>
          </a:p>
        </p:txBody>
      </p:sp>
      <p:sp>
        <p:nvSpPr>
          <p:cNvPr id="1236782908" name=""/>
          <p:cNvSpPr>
            <a:spLocks noGrp="1"/>
          </p:cNvSpPr>
          <p:nvPr/>
        </p:nvSpPr>
        <p:spPr bwMode="auto">
          <a:xfrm>
            <a:off x="4191000" y="1962150"/>
            <a:ext cx="3295650" cy="514350"/>
          </a:xfrm>
          <a:prstGeom prst="rect">
            <a:avLst/>
          </a:prstGeom>
          <a:solidFill>
            <a:srgbClr val="FFFFFF"/>
          </a:solidFill>
          <a:ln w="11430">
            <a:solidFill>
              <a:srgbClr val="D9E2EC"/>
            </a:solidFill>
            <a:prstDash val="solid"/>
          </a:ln>
        </p:spPr>
      </p:sp>
      <p:sp>
        <p:nvSpPr>
          <p:cNvPr id="931073951" name=""/>
          <p:cNvSpPr>
            <a:spLocks noGrp="1"/>
          </p:cNvSpPr>
          <p:nvPr/>
        </p:nvSpPr>
        <p:spPr bwMode="auto">
          <a:xfrm>
            <a:off x="4267200" y="20193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predecessor-side (Aᵢ)</a:t>
            </a:r>
            <a:endParaRPr/>
          </a:p>
        </p:txBody>
      </p:sp>
      <p:sp>
        <p:nvSpPr>
          <p:cNvPr id="441666859" name=""/>
          <p:cNvSpPr>
            <a:spLocks noGrp="1"/>
          </p:cNvSpPr>
          <p:nvPr/>
        </p:nvSpPr>
        <p:spPr bwMode="auto">
          <a:xfrm>
            <a:off x="7486650" y="1962150"/>
            <a:ext cx="3752850" cy="514350"/>
          </a:xfrm>
          <a:prstGeom prst="rect">
            <a:avLst/>
          </a:prstGeom>
          <a:solidFill>
            <a:srgbClr val="FFFFFF"/>
          </a:solidFill>
          <a:ln w="11430">
            <a:solidFill>
              <a:srgbClr val="D9E2EC"/>
            </a:solidFill>
            <a:prstDash val="solid"/>
          </a:ln>
        </p:spPr>
      </p:sp>
      <p:sp>
        <p:nvSpPr>
          <p:cNvPr id="340072725" name=""/>
          <p:cNvSpPr>
            <a:spLocks noGrp="1"/>
          </p:cNvSpPr>
          <p:nvPr/>
        </p:nvSpPr>
        <p:spPr bwMode="auto">
          <a:xfrm>
            <a:off x="7562850" y="20193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successor-side (Bᵢ)</a:t>
            </a:r>
            <a:endParaRPr/>
          </a:p>
        </p:txBody>
      </p:sp>
      <p:sp>
        <p:nvSpPr>
          <p:cNvPr id="1488580129" name=""/>
          <p:cNvSpPr>
            <a:spLocks noGrp="1"/>
          </p:cNvSpPr>
          <p:nvPr/>
        </p:nvSpPr>
        <p:spPr bwMode="auto">
          <a:xfrm>
            <a:off x="876299" y="2476500"/>
            <a:ext cx="3314700" cy="514350"/>
          </a:xfrm>
          <a:prstGeom prst="rect">
            <a:avLst/>
          </a:prstGeom>
          <a:solidFill>
            <a:srgbClr val="F0F4F8"/>
          </a:solidFill>
          <a:ln w="11430">
            <a:solidFill>
              <a:srgbClr val="D9E2EC"/>
            </a:solidFill>
            <a:prstDash val="solid"/>
          </a:ln>
        </p:spPr>
      </p:sp>
      <p:sp>
        <p:nvSpPr>
          <p:cNvPr id="1383274573" name=""/>
          <p:cNvSpPr>
            <a:spLocks noGrp="1"/>
          </p:cNvSpPr>
          <p:nvPr/>
        </p:nvSpPr>
        <p:spPr bwMode="auto">
          <a:xfrm>
            <a:off x="952500" y="25336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Boundary insertion</a:t>
            </a:r>
            <a:endParaRPr/>
          </a:p>
        </p:txBody>
      </p:sp>
      <p:sp>
        <p:nvSpPr>
          <p:cNvPr id="856824471" name=""/>
          <p:cNvSpPr>
            <a:spLocks noGrp="1"/>
          </p:cNvSpPr>
          <p:nvPr/>
        </p:nvSpPr>
        <p:spPr bwMode="auto">
          <a:xfrm>
            <a:off x="4191000" y="2476500"/>
            <a:ext cx="3295650" cy="514350"/>
          </a:xfrm>
          <a:prstGeom prst="rect">
            <a:avLst/>
          </a:prstGeom>
          <a:solidFill>
            <a:srgbClr val="F0F4F8"/>
          </a:solidFill>
          <a:ln w="11430">
            <a:solidFill>
              <a:srgbClr val="D9E2EC"/>
            </a:solidFill>
            <a:prstDash val="solid"/>
          </a:ln>
        </p:spPr>
      </p:sp>
      <p:sp>
        <p:nvSpPr>
          <p:cNvPr id="1742867179" name=""/>
          <p:cNvSpPr>
            <a:spLocks noGrp="1"/>
          </p:cNvSpPr>
          <p:nvPr/>
        </p:nvSpPr>
        <p:spPr bwMode="auto">
          <a:xfrm>
            <a:off x="4267200" y="25336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after last sibling</a:t>
            </a:r>
            <a:endParaRPr/>
          </a:p>
        </p:txBody>
      </p:sp>
      <p:sp>
        <p:nvSpPr>
          <p:cNvPr id="670485249" name=""/>
          <p:cNvSpPr>
            <a:spLocks noGrp="1"/>
          </p:cNvSpPr>
          <p:nvPr/>
        </p:nvSpPr>
        <p:spPr bwMode="auto">
          <a:xfrm>
            <a:off x="7486650" y="2476500"/>
            <a:ext cx="3752850" cy="514350"/>
          </a:xfrm>
          <a:prstGeom prst="rect">
            <a:avLst/>
          </a:prstGeom>
          <a:solidFill>
            <a:srgbClr val="F0F4F8"/>
          </a:solidFill>
          <a:ln w="11430">
            <a:solidFill>
              <a:srgbClr val="D9E2EC"/>
            </a:solidFill>
            <a:prstDash val="solid"/>
          </a:ln>
        </p:spPr>
      </p:sp>
      <p:sp>
        <p:nvSpPr>
          <p:cNvPr id="1226740190" name=""/>
          <p:cNvSpPr>
            <a:spLocks noGrp="1"/>
          </p:cNvSpPr>
          <p:nvPr/>
        </p:nvSpPr>
        <p:spPr bwMode="auto">
          <a:xfrm>
            <a:off x="7562850" y="25336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before first sibling</a:t>
            </a:r>
            <a:endParaRPr/>
          </a:p>
        </p:txBody>
      </p:sp>
      <p:sp>
        <p:nvSpPr>
          <p:cNvPr id="1012072546" name=""/>
          <p:cNvSpPr>
            <a:spLocks noGrp="1"/>
          </p:cNvSpPr>
          <p:nvPr/>
        </p:nvSpPr>
        <p:spPr bwMode="auto">
          <a:xfrm>
            <a:off x="876299" y="2990850"/>
            <a:ext cx="3314700" cy="514350"/>
          </a:xfrm>
          <a:prstGeom prst="rect">
            <a:avLst/>
          </a:prstGeom>
          <a:solidFill>
            <a:srgbClr val="FFFFFF"/>
          </a:solidFill>
          <a:ln w="11430">
            <a:solidFill>
              <a:srgbClr val="D9E2EC"/>
            </a:solidFill>
            <a:prstDash val="solid"/>
          </a:ln>
        </p:spPr>
      </p:sp>
      <p:sp>
        <p:nvSpPr>
          <p:cNvPr id="403107870" name=""/>
          <p:cNvSpPr>
            <a:spLocks noGrp="1"/>
          </p:cNvSpPr>
          <p:nvPr/>
        </p:nvSpPr>
        <p:spPr bwMode="auto">
          <a:xfrm>
            <a:off x="952500" y="30480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Step 3(b) boundary</a:t>
            </a:r>
            <a:endParaRPr/>
          </a:p>
        </p:txBody>
      </p:sp>
      <p:sp>
        <p:nvSpPr>
          <p:cNvPr id="362801327" name=""/>
          <p:cNvSpPr>
            <a:spLocks noGrp="1"/>
          </p:cNvSpPr>
          <p:nvPr/>
        </p:nvSpPr>
        <p:spPr bwMode="auto">
          <a:xfrm>
            <a:off x="4191000" y="2990850"/>
            <a:ext cx="3295650" cy="514350"/>
          </a:xfrm>
          <a:prstGeom prst="rect">
            <a:avLst/>
          </a:prstGeom>
          <a:solidFill>
            <a:srgbClr val="FFFFFF"/>
          </a:solidFill>
          <a:ln w="11430">
            <a:solidFill>
              <a:srgbClr val="D9E2EC"/>
            </a:solidFill>
            <a:prstDash val="solid"/>
          </a:ln>
        </p:spPr>
      </p:sp>
      <p:sp>
        <p:nvSpPr>
          <p:cNvPr id="1705668611" name=""/>
          <p:cNvSpPr>
            <a:spLocks noGrp="1"/>
          </p:cNvSpPr>
          <p:nvPr/>
        </p:nvSpPr>
        <p:spPr bwMode="auto">
          <a:xfrm>
            <a:off x="4267200" y="30480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successor-side (Bᵢ)</a:t>
            </a:r>
            <a:endParaRPr/>
          </a:p>
        </p:txBody>
      </p:sp>
      <p:sp>
        <p:nvSpPr>
          <p:cNvPr id="392672873" name=""/>
          <p:cNvSpPr>
            <a:spLocks noGrp="1"/>
          </p:cNvSpPr>
          <p:nvPr/>
        </p:nvSpPr>
        <p:spPr bwMode="auto">
          <a:xfrm>
            <a:off x="7486650" y="2990850"/>
            <a:ext cx="3752850" cy="514350"/>
          </a:xfrm>
          <a:prstGeom prst="rect">
            <a:avLst/>
          </a:prstGeom>
          <a:solidFill>
            <a:srgbClr val="FFFFFF"/>
          </a:solidFill>
          <a:ln w="11430">
            <a:solidFill>
              <a:srgbClr val="D9E2EC"/>
            </a:solidFill>
            <a:prstDash val="solid"/>
          </a:ln>
        </p:spPr>
      </p:sp>
      <p:sp>
        <p:nvSpPr>
          <p:cNvPr id="2083904342" name=""/>
          <p:cNvSpPr>
            <a:spLocks noGrp="1"/>
          </p:cNvSpPr>
          <p:nvPr/>
        </p:nvSpPr>
        <p:spPr bwMode="auto">
          <a:xfrm>
            <a:off x="7562850" y="30480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predecessor-side (Aᵢ)</a:t>
            </a:r>
            <a:endParaRPr/>
          </a:p>
        </p:txBody>
      </p:sp>
      <p:sp>
        <p:nvSpPr>
          <p:cNvPr id="302860122" name=""/>
          <p:cNvSpPr>
            <a:spLocks noGrp="1"/>
          </p:cNvSpPr>
          <p:nvPr/>
        </p:nvSpPr>
        <p:spPr bwMode="auto">
          <a:xfrm>
            <a:off x="876299" y="3505199"/>
            <a:ext cx="3314700" cy="514350"/>
          </a:xfrm>
          <a:prstGeom prst="rect">
            <a:avLst/>
          </a:prstGeom>
          <a:solidFill>
            <a:srgbClr val="F0F4F8"/>
          </a:solidFill>
          <a:ln w="11430">
            <a:solidFill>
              <a:srgbClr val="D9E2EC"/>
            </a:solidFill>
            <a:prstDash val="solid"/>
          </a:ln>
        </p:spPr>
      </p:sp>
      <p:sp>
        <p:nvSpPr>
          <p:cNvPr id="1667967974" name=""/>
          <p:cNvSpPr>
            <a:spLocks noGrp="1"/>
          </p:cNvSpPr>
          <p:nvPr/>
        </p:nvSpPr>
        <p:spPr bwMode="auto">
          <a:xfrm>
            <a:off x="952500" y="35623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Acquired split side</a:t>
            </a:r>
            <a:endParaRPr/>
          </a:p>
        </p:txBody>
      </p:sp>
      <p:sp>
        <p:nvSpPr>
          <p:cNvPr id="508391403" name=""/>
          <p:cNvSpPr>
            <a:spLocks noGrp="1"/>
          </p:cNvSpPr>
          <p:nvPr/>
        </p:nvSpPr>
        <p:spPr bwMode="auto">
          <a:xfrm>
            <a:off x="4191000" y="3505199"/>
            <a:ext cx="3295650" cy="514350"/>
          </a:xfrm>
          <a:prstGeom prst="rect">
            <a:avLst/>
          </a:prstGeom>
          <a:solidFill>
            <a:srgbClr val="F0F4F8"/>
          </a:solidFill>
          <a:ln w="11430">
            <a:solidFill>
              <a:srgbClr val="D9E2EC"/>
            </a:solidFill>
            <a:prstDash val="solid"/>
          </a:ln>
        </p:spPr>
      </p:sp>
      <p:sp>
        <p:nvSpPr>
          <p:cNvPr id="1079144552" name=""/>
          <p:cNvSpPr>
            <a:spLocks noGrp="1"/>
          </p:cNvSpPr>
          <p:nvPr/>
        </p:nvSpPr>
        <p:spPr bwMode="auto">
          <a:xfrm>
            <a:off x="4267200" y="35623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a:t>
            </a:r>
            <a:endParaRPr/>
          </a:p>
        </p:txBody>
      </p:sp>
      <p:sp>
        <p:nvSpPr>
          <p:cNvPr id="1484536161" name=""/>
          <p:cNvSpPr>
            <a:spLocks noGrp="1"/>
          </p:cNvSpPr>
          <p:nvPr/>
        </p:nvSpPr>
        <p:spPr bwMode="auto">
          <a:xfrm>
            <a:off x="7486650" y="3505199"/>
            <a:ext cx="3752850" cy="514350"/>
          </a:xfrm>
          <a:prstGeom prst="rect">
            <a:avLst/>
          </a:prstGeom>
          <a:solidFill>
            <a:srgbClr val="F0F4F8"/>
          </a:solidFill>
          <a:ln w="11430">
            <a:solidFill>
              <a:srgbClr val="D9E2EC"/>
            </a:solidFill>
            <a:prstDash val="solid"/>
          </a:ln>
        </p:spPr>
      </p:sp>
      <p:sp>
        <p:nvSpPr>
          <p:cNvPr id="1529196608" name=""/>
          <p:cNvSpPr>
            <a:spLocks noGrp="1"/>
          </p:cNvSpPr>
          <p:nvPr/>
        </p:nvSpPr>
        <p:spPr bwMode="auto">
          <a:xfrm>
            <a:off x="7562850" y="35623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a:t>
            </a:r>
            <a:endParaRPr/>
          </a:p>
        </p:txBody>
      </p:sp>
      <p:sp>
        <p:nvSpPr>
          <p:cNvPr id="1398643494" name=""/>
          <p:cNvSpPr>
            <a:spLocks noGrp="1"/>
          </p:cNvSpPr>
          <p:nvPr/>
        </p:nvSpPr>
        <p:spPr bwMode="auto">
          <a:xfrm>
            <a:off x="876299" y="4019550"/>
            <a:ext cx="3314700" cy="514350"/>
          </a:xfrm>
          <a:prstGeom prst="rect">
            <a:avLst/>
          </a:prstGeom>
          <a:solidFill>
            <a:srgbClr val="FFFFFF"/>
          </a:solidFill>
          <a:ln w="11430">
            <a:solidFill>
              <a:srgbClr val="D9E2EC"/>
            </a:solidFill>
            <a:prstDash val="solid"/>
          </a:ln>
        </p:spPr>
      </p:sp>
      <p:sp>
        <p:nvSpPr>
          <p:cNvPr id="597035796" name=""/>
          <p:cNvSpPr>
            <a:spLocks noGrp="1"/>
          </p:cNvSpPr>
          <p:nvPr/>
        </p:nvSpPr>
        <p:spPr bwMode="auto">
          <a:xfrm>
            <a:off x="952500" y="4076699"/>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Child extreme</a:t>
            </a:r>
            <a:endParaRPr/>
          </a:p>
        </p:txBody>
      </p:sp>
      <p:sp>
        <p:nvSpPr>
          <p:cNvPr id="569770880" name=""/>
          <p:cNvSpPr>
            <a:spLocks noGrp="1"/>
          </p:cNvSpPr>
          <p:nvPr/>
        </p:nvSpPr>
        <p:spPr bwMode="auto">
          <a:xfrm>
            <a:off x="4191000" y="4019550"/>
            <a:ext cx="3295650" cy="514350"/>
          </a:xfrm>
          <a:prstGeom prst="rect">
            <a:avLst/>
          </a:prstGeom>
          <a:solidFill>
            <a:srgbClr val="FFFFFF"/>
          </a:solidFill>
          <a:ln w="11430">
            <a:solidFill>
              <a:srgbClr val="D9E2EC"/>
            </a:solidFill>
            <a:prstDash val="solid"/>
          </a:ln>
        </p:spPr>
      </p:sp>
      <p:sp>
        <p:nvSpPr>
          <p:cNvPr id="2119850984" name=""/>
          <p:cNvSpPr>
            <a:spLocks noGrp="1"/>
          </p:cNvSpPr>
          <p:nvPr/>
        </p:nvSpPr>
        <p:spPr bwMode="auto">
          <a:xfrm>
            <a:off x="4267200" y="4076699"/>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rightmost child</a:t>
            </a:r>
            <a:endParaRPr/>
          </a:p>
        </p:txBody>
      </p:sp>
      <p:sp>
        <p:nvSpPr>
          <p:cNvPr id="481419125" name=""/>
          <p:cNvSpPr>
            <a:spLocks noGrp="1"/>
          </p:cNvSpPr>
          <p:nvPr/>
        </p:nvSpPr>
        <p:spPr bwMode="auto">
          <a:xfrm>
            <a:off x="7486650" y="4019550"/>
            <a:ext cx="3752850" cy="514350"/>
          </a:xfrm>
          <a:prstGeom prst="rect">
            <a:avLst/>
          </a:prstGeom>
          <a:solidFill>
            <a:srgbClr val="FFFFFF"/>
          </a:solidFill>
          <a:ln w="11430">
            <a:solidFill>
              <a:srgbClr val="D9E2EC"/>
            </a:solidFill>
            <a:prstDash val="solid"/>
          </a:ln>
        </p:spPr>
      </p:sp>
      <p:sp>
        <p:nvSpPr>
          <p:cNvPr id="402818394" name=""/>
          <p:cNvSpPr>
            <a:spLocks noGrp="1"/>
          </p:cNvSpPr>
          <p:nvPr/>
        </p:nvSpPr>
        <p:spPr bwMode="auto">
          <a:xfrm>
            <a:off x="7562850" y="4076699"/>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leftmost child</a:t>
            </a:r>
            <a:endParaRPr/>
          </a:p>
        </p:txBody>
      </p:sp>
      <p:sp>
        <p:nvSpPr>
          <p:cNvPr id="358521302" name=""/>
          <p:cNvSpPr>
            <a:spLocks noGrp="1"/>
          </p:cNvSpPr>
          <p:nvPr/>
        </p:nvSpPr>
        <p:spPr bwMode="auto">
          <a:xfrm>
            <a:off x="876299" y="4533900"/>
            <a:ext cx="3314700" cy="514350"/>
          </a:xfrm>
          <a:prstGeom prst="rect">
            <a:avLst/>
          </a:prstGeom>
          <a:solidFill>
            <a:srgbClr val="F0F4F8"/>
          </a:solidFill>
          <a:ln w="11430">
            <a:solidFill>
              <a:srgbClr val="D9E2EC"/>
            </a:solidFill>
            <a:prstDash val="solid"/>
          </a:ln>
        </p:spPr>
      </p:sp>
      <p:sp>
        <p:nvSpPr>
          <p:cNvPr id="1030936946" name=""/>
          <p:cNvSpPr>
            <a:spLocks noGrp="1"/>
          </p:cNvSpPr>
          <p:nvPr/>
        </p:nvSpPr>
        <p:spPr bwMode="auto">
          <a:xfrm>
            <a:off x="952500" y="45910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Geometric anchor</a:t>
            </a:r>
            <a:endParaRPr/>
          </a:p>
        </p:txBody>
      </p:sp>
      <p:sp>
        <p:nvSpPr>
          <p:cNvPr id="733435171" name=""/>
          <p:cNvSpPr>
            <a:spLocks noGrp="1"/>
          </p:cNvSpPr>
          <p:nvPr/>
        </p:nvSpPr>
        <p:spPr bwMode="auto">
          <a:xfrm>
            <a:off x="4191000" y="4533900"/>
            <a:ext cx="3295650" cy="514350"/>
          </a:xfrm>
          <a:prstGeom prst="rect">
            <a:avLst/>
          </a:prstGeom>
          <a:solidFill>
            <a:srgbClr val="F0F4F8"/>
          </a:solidFill>
          <a:ln w="11430">
            <a:solidFill>
              <a:srgbClr val="D9E2EC"/>
            </a:solidFill>
            <a:prstDash val="solid"/>
          </a:ln>
        </p:spPr>
      </p:sp>
      <p:sp>
        <p:nvSpPr>
          <p:cNvPr id="573991610" name=""/>
          <p:cNvSpPr>
            <a:spLocks noGrp="1"/>
          </p:cNvSpPr>
          <p:nvPr/>
        </p:nvSpPr>
        <p:spPr bwMode="auto">
          <a:xfrm>
            <a:off x="4267200" y="45910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 endpoint</a:t>
            </a:r>
            <a:endParaRPr/>
          </a:p>
        </p:txBody>
      </p:sp>
      <p:sp>
        <p:nvSpPr>
          <p:cNvPr id="1167639401" name=""/>
          <p:cNvSpPr>
            <a:spLocks noGrp="1"/>
          </p:cNvSpPr>
          <p:nvPr/>
        </p:nvSpPr>
        <p:spPr bwMode="auto">
          <a:xfrm>
            <a:off x="7486650" y="4533900"/>
            <a:ext cx="3752850" cy="514350"/>
          </a:xfrm>
          <a:prstGeom prst="rect">
            <a:avLst/>
          </a:prstGeom>
          <a:solidFill>
            <a:srgbClr val="F0F4F8"/>
          </a:solidFill>
          <a:ln w="11430">
            <a:solidFill>
              <a:srgbClr val="D9E2EC"/>
            </a:solidFill>
            <a:prstDash val="solid"/>
          </a:ln>
        </p:spPr>
      </p:sp>
      <p:sp>
        <p:nvSpPr>
          <p:cNvPr id="1611855439" name=""/>
          <p:cNvSpPr>
            <a:spLocks noGrp="1"/>
          </p:cNvSpPr>
          <p:nvPr/>
        </p:nvSpPr>
        <p:spPr bwMode="auto">
          <a:xfrm>
            <a:off x="7562850" y="45910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 endpoint</a:t>
            </a:r>
            <a:endParaRPr/>
          </a:p>
        </p:txBody>
      </p:sp>
      <p:sp>
        <p:nvSpPr>
          <p:cNvPr id="514113475" name=""/>
          <p:cNvSpPr>
            <a:spLocks noGrp="1"/>
          </p:cNvSpPr>
          <p:nvPr/>
        </p:nvSpPr>
        <p:spPr bwMode="auto">
          <a:xfrm>
            <a:off x="876299" y="5048250"/>
            <a:ext cx="3314700" cy="514350"/>
          </a:xfrm>
          <a:prstGeom prst="rect">
            <a:avLst/>
          </a:prstGeom>
          <a:solidFill>
            <a:srgbClr val="FFFFFF"/>
          </a:solidFill>
          <a:ln w="11430">
            <a:solidFill>
              <a:srgbClr val="D9E2EC"/>
            </a:solidFill>
            <a:prstDash val="solid"/>
          </a:ln>
        </p:spPr>
      </p:sp>
      <p:sp>
        <p:nvSpPr>
          <p:cNvPr id="1634547249" name=""/>
          <p:cNvSpPr>
            <a:spLocks noGrp="1"/>
          </p:cNvSpPr>
          <p:nvPr/>
        </p:nvSpPr>
        <p:spPr bwMode="auto">
          <a:xfrm>
            <a:off x="952500" y="51054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Output insertion</a:t>
            </a:r>
            <a:endParaRPr/>
          </a:p>
        </p:txBody>
      </p:sp>
      <p:sp>
        <p:nvSpPr>
          <p:cNvPr id="1590757297" name=""/>
          <p:cNvSpPr>
            <a:spLocks noGrp="1"/>
          </p:cNvSpPr>
          <p:nvPr/>
        </p:nvSpPr>
        <p:spPr bwMode="auto">
          <a:xfrm>
            <a:off x="4191000" y="5048250"/>
            <a:ext cx="3295650" cy="514350"/>
          </a:xfrm>
          <a:prstGeom prst="rect">
            <a:avLst/>
          </a:prstGeom>
          <a:solidFill>
            <a:srgbClr val="FFFFFF"/>
          </a:solidFill>
          <a:ln w="11430">
            <a:solidFill>
              <a:srgbClr val="D9E2EC"/>
            </a:solidFill>
            <a:prstDash val="solid"/>
          </a:ln>
        </p:spPr>
      </p:sp>
      <p:sp>
        <p:nvSpPr>
          <p:cNvPr id="625490899" name=""/>
          <p:cNvSpPr>
            <a:spLocks noGrp="1"/>
          </p:cNvSpPr>
          <p:nvPr/>
        </p:nvSpPr>
        <p:spPr bwMode="auto">
          <a:xfrm>
            <a:off x="4267200" y="51054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after anchor</a:t>
            </a:r>
            <a:endParaRPr/>
          </a:p>
        </p:txBody>
      </p:sp>
      <p:sp>
        <p:nvSpPr>
          <p:cNvPr id="477280911" name=""/>
          <p:cNvSpPr>
            <a:spLocks noGrp="1"/>
          </p:cNvSpPr>
          <p:nvPr/>
        </p:nvSpPr>
        <p:spPr bwMode="auto">
          <a:xfrm>
            <a:off x="7486650" y="5048250"/>
            <a:ext cx="3752850" cy="514350"/>
          </a:xfrm>
          <a:prstGeom prst="rect">
            <a:avLst/>
          </a:prstGeom>
          <a:solidFill>
            <a:srgbClr val="FFFFFF"/>
          </a:solidFill>
          <a:ln w="11430">
            <a:solidFill>
              <a:srgbClr val="D9E2EC"/>
            </a:solidFill>
            <a:prstDash val="solid"/>
          </a:ln>
        </p:spPr>
      </p:sp>
      <p:sp>
        <p:nvSpPr>
          <p:cNvPr id="499527259" name=""/>
          <p:cNvSpPr>
            <a:spLocks noGrp="1"/>
          </p:cNvSpPr>
          <p:nvPr/>
        </p:nvSpPr>
        <p:spPr bwMode="auto">
          <a:xfrm>
            <a:off x="7562850" y="51054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before anchor</a:t>
            </a:r>
            <a:endParaRPr/>
          </a:p>
        </p:txBody>
      </p:sp>
      <p:sp>
        <p:nvSpPr>
          <p:cNvPr id="1565585467" name=""/>
          <p:cNvSpPr>
            <a:spLocks noGrp="1"/>
          </p:cNvSpPr>
          <p:nvPr/>
        </p:nvSpPr>
        <p:spPr bwMode="auto">
          <a:xfrm>
            <a:off x="1143000" y="5734050"/>
            <a:ext cx="9906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2185585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E</a:t>
            </a:r>
            <a:endParaRPr/>
          </a:p>
        </p:txBody>
      </p:sp>
      <p:sp>
        <p:nvSpPr>
          <p:cNvPr id="79587975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Proposed finger-tree backend boundary</a:t>
            </a:r>
            <a:endParaRPr/>
          </a:p>
        </p:txBody>
      </p:sp>
      <p:sp>
        <p:nvSpPr>
          <p:cNvPr id="2004445688" name=""/>
          <p:cNvSpPr>
            <a:spLocks noGrp="1"/>
          </p:cNvSpPr>
          <p:nvPr/>
        </p:nvSpPr>
        <p:spPr bwMode="auto">
          <a:xfrm>
            <a:off x="609600" y="1085850"/>
            <a:ext cx="10972800" cy="9525"/>
          </a:xfrm>
          <a:prstGeom prst="line">
            <a:avLst/>
          </a:prstGeom>
          <a:noFill/>
          <a:ln w="28575">
            <a:solidFill>
              <a:srgbClr val="E76F51"/>
            </a:solidFill>
            <a:prstDash val="solid"/>
          </a:ln>
        </p:spPr>
      </p:sp>
      <p:sp>
        <p:nvSpPr>
          <p:cNvPr id="904637204" name=""/>
          <p:cNvSpPr>
            <a:spLocks noGrp="1"/>
          </p:cNvSpPr>
          <p:nvPr/>
        </p:nvSpPr>
        <p:spPr bwMode="auto">
          <a:xfrm>
            <a:off x="609600" y="6477000"/>
            <a:ext cx="10972800" cy="9525"/>
          </a:xfrm>
          <a:prstGeom prst="line">
            <a:avLst/>
          </a:prstGeom>
          <a:noFill/>
          <a:ln w="9525">
            <a:solidFill>
              <a:srgbClr val="D9E2EC"/>
            </a:solidFill>
            <a:prstDash val="solid"/>
          </a:ln>
        </p:spPr>
      </p:sp>
      <p:sp>
        <p:nvSpPr>
          <p:cNvPr id="166289114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17303463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E</a:t>
            </a:r>
            <a:endParaRPr/>
          </a:p>
        </p:txBody>
      </p:sp>
      <p:sp>
        <p:nvSpPr>
          <p:cNvPr id="685163523" name=""/>
          <p:cNvSpPr>
            <a:spLocks noGrp="1"/>
          </p:cNvSpPr>
          <p:nvPr/>
        </p:nvSpPr>
        <p:spPr bwMode="auto">
          <a:xfrm>
            <a:off x="895350" y="1524000"/>
            <a:ext cx="2762250" cy="685800"/>
          </a:xfrm>
          <a:prstGeom prst="roundRect">
            <a:avLst>
              <a:gd name="adj" fmla="val 11111"/>
            </a:avLst>
          </a:prstGeom>
          <a:solidFill>
            <a:srgbClr val="E8F5F3"/>
          </a:solidFill>
          <a:ln w="14288">
            <a:solidFill>
              <a:srgbClr val="2A9D8F"/>
            </a:solidFill>
            <a:prstDash val="solid"/>
          </a:ln>
        </p:spPr>
      </p:sp>
      <p:sp>
        <p:nvSpPr>
          <p:cNvPr id="510746914" name=""/>
          <p:cNvSpPr>
            <a:spLocks noGrp="1"/>
          </p:cNvSpPr>
          <p:nvPr/>
        </p:nvSpPr>
        <p:spPr bwMode="auto">
          <a:xfrm>
            <a:off x="1028700" y="1657350"/>
            <a:ext cx="24955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Paper Step 1/2/3</a:t>
            </a:r>
            <a:endParaRPr/>
          </a:p>
        </p:txBody>
      </p:sp>
      <p:sp>
        <p:nvSpPr>
          <p:cNvPr id="272313063" name=""/>
          <p:cNvSpPr>
            <a:spLocks noGrp="1"/>
          </p:cNvSpPr>
          <p:nvPr/>
        </p:nvSpPr>
        <p:spPr bwMode="auto">
          <a:xfrm>
            <a:off x="4762500" y="1409700"/>
            <a:ext cx="6534150" cy="914400"/>
          </a:xfrm>
          <a:prstGeom prst="roundRect">
            <a:avLst>
              <a:gd name="adj" fmla="val 8333"/>
            </a:avLst>
          </a:prstGeom>
          <a:solidFill>
            <a:srgbClr val="FFFFFF"/>
          </a:solidFill>
          <a:ln w="14288">
            <a:solidFill>
              <a:srgbClr val="102A43"/>
            </a:solidFill>
            <a:prstDash val="solid"/>
          </a:ln>
        </p:spPr>
      </p:sp>
      <p:sp>
        <p:nvSpPr>
          <p:cNvPr id="37806112" name=""/>
          <p:cNvSpPr>
            <a:spLocks noGrp="1"/>
          </p:cNvSpPr>
          <p:nvPr/>
        </p:nvSpPr>
        <p:spPr bwMode="auto">
          <a:xfrm>
            <a:off x="4953000" y="1485900"/>
            <a:ext cx="6153149"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Sibling-list backend interface</a:t>
            </a:r>
            <a:endParaRPr/>
          </a:p>
        </p:txBody>
      </p:sp>
      <p:sp>
        <p:nvSpPr>
          <p:cNvPr id="21851212" name=""/>
          <p:cNvSpPr>
            <a:spLocks noGrp="1"/>
          </p:cNvSpPr>
          <p:nvPr/>
        </p:nvSpPr>
        <p:spPr bwMode="auto">
          <a:xfrm>
            <a:off x="4991100" y="1847850"/>
            <a:ext cx="60769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0" i="0">
                <a:solidFill>
                  <a:srgbClr val="52606D"/>
                </a:solidFill>
              </a:defRPr>
            </a:pPr>
            <a:r>
              <a:rPr sz="1050" b="0" i="0">
                <a:solidFill>
                  <a:srgbClr val="52606D"/>
                </a:solidFill>
              </a:rPr>
              <a:t>make singleton • insert at left/right boundary • split at new-point value</a:t>
            </a:r>
            <a:endParaRPr/>
          </a:p>
          <a:p>
            <a:pPr algn="ctr">
              <a:lnSpc>
                <a:spcPct val="105000"/>
              </a:lnSpc>
              <a:buNone/>
              <a:defRPr sz="1050" b="0" i="0">
                <a:solidFill>
                  <a:srgbClr val="52606D"/>
                </a:solidFill>
              </a:defRPr>
            </a:pPr>
            <a:r>
              <a:rPr sz="1050" b="0" i="0">
                <a:solidFill>
                  <a:srgbClr val="52606D"/>
                </a:solidFill>
              </a:rPr>
              <a:t>access first/last child • preserve ownership and stable handles</a:t>
            </a:r>
            <a:endParaRPr/>
          </a:p>
        </p:txBody>
      </p:sp>
      <p:sp>
        <p:nvSpPr>
          <p:cNvPr id="1351071100" name=""/>
          <p:cNvSpPr>
            <a:spLocks noGrp="1"/>
          </p:cNvSpPr>
          <p:nvPr/>
        </p:nvSpPr>
        <p:spPr bwMode="auto">
          <a:xfrm>
            <a:off x="876299" y="3352800"/>
            <a:ext cx="4762500" cy="1733550"/>
          </a:xfrm>
          <a:prstGeom prst="roundRect">
            <a:avLst>
              <a:gd name="adj" fmla="val 4396"/>
            </a:avLst>
          </a:prstGeom>
          <a:solidFill>
            <a:srgbClr val="E8F5F3"/>
          </a:solidFill>
          <a:ln w="14288">
            <a:solidFill>
              <a:srgbClr val="2A9D8F"/>
            </a:solidFill>
            <a:prstDash val="solid"/>
          </a:ln>
        </p:spPr>
      </p:sp>
      <p:sp>
        <p:nvSpPr>
          <p:cNvPr id="791637214" name=""/>
          <p:cNvSpPr>
            <a:spLocks noGrp="1"/>
          </p:cNvSpPr>
          <p:nvPr/>
        </p:nvSpPr>
        <p:spPr bwMode="auto">
          <a:xfrm>
            <a:off x="6553200" y="3352800"/>
            <a:ext cx="4762500" cy="1733550"/>
          </a:xfrm>
          <a:prstGeom prst="roundRect">
            <a:avLst>
              <a:gd name="adj" fmla="val 4396"/>
            </a:avLst>
          </a:prstGeom>
          <a:solidFill>
            <a:srgbClr val="FCEEEA"/>
          </a:solidFill>
          <a:ln w="14288">
            <a:solidFill>
              <a:srgbClr val="E76F51"/>
            </a:solidFill>
            <a:prstDash val="solid"/>
          </a:ln>
        </p:spPr>
      </p:sp>
      <p:sp>
        <p:nvSpPr>
          <p:cNvPr id="691732397" name=""/>
          <p:cNvSpPr>
            <a:spLocks noGrp="1"/>
          </p:cNvSpPr>
          <p:nvPr/>
        </p:nvSpPr>
        <p:spPr bwMode="auto">
          <a:xfrm>
            <a:off x="1162050" y="3524250"/>
            <a:ext cx="41910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Ordinary-list backend</a:t>
            </a:r>
            <a:endParaRPr/>
          </a:p>
        </p:txBody>
      </p:sp>
      <p:sp>
        <p:nvSpPr>
          <p:cNvPr id="1330612305" name=""/>
          <p:cNvSpPr>
            <a:spLocks noGrp="1"/>
          </p:cNvSpPr>
          <p:nvPr/>
        </p:nvSpPr>
        <p:spPr bwMode="auto">
          <a:xfrm>
            <a:off x="1162050" y="3943350"/>
            <a:ext cx="4191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CURRENT VALIDATED BASELINE</a:t>
            </a:r>
            <a:endParaRPr/>
          </a:p>
        </p:txBody>
      </p:sp>
      <p:sp>
        <p:nvSpPr>
          <p:cNvPr id="56110338" name=""/>
          <p:cNvSpPr>
            <a:spLocks noGrp="1"/>
          </p:cNvSpPr>
          <p:nvPr/>
        </p:nvSpPr>
        <p:spPr bwMode="auto">
          <a:xfrm>
            <a:off x="1352550" y="4400550"/>
            <a:ext cx="38100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ordinary Python lists</a:t>
            </a:r>
            <a:endParaRPr/>
          </a:p>
          <a:p>
            <a:pPr algn="ctr">
              <a:lnSpc>
                <a:spcPct val="105000"/>
              </a:lnSpc>
              <a:buNone/>
              <a:defRPr sz="1450" b="0" i="0">
                <a:solidFill>
                  <a:srgbClr val="243B53"/>
                </a:solidFill>
              </a:defRPr>
            </a:pPr>
            <a:r>
              <a:rPr sz="1450" b="0" i="0">
                <a:solidFill>
                  <a:srgbClr val="243B53"/>
                </a:solidFill>
              </a:rPr>
              <a:t>archived correctness and timing evidence</a:t>
            </a:r>
            <a:endParaRPr/>
          </a:p>
        </p:txBody>
      </p:sp>
      <p:sp>
        <p:nvSpPr>
          <p:cNvPr id="1443087108" name=""/>
          <p:cNvSpPr>
            <a:spLocks noGrp="1"/>
          </p:cNvSpPr>
          <p:nvPr/>
        </p:nvSpPr>
        <p:spPr bwMode="auto">
          <a:xfrm>
            <a:off x="6838950" y="3524250"/>
            <a:ext cx="41910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Finger-tree backend</a:t>
            </a:r>
            <a:endParaRPr/>
          </a:p>
        </p:txBody>
      </p:sp>
      <p:sp>
        <p:nvSpPr>
          <p:cNvPr id="857004390" name=""/>
          <p:cNvSpPr>
            <a:spLocks noGrp="1"/>
          </p:cNvSpPr>
          <p:nvPr/>
        </p:nvSpPr>
        <p:spPr bwMode="auto">
          <a:xfrm>
            <a:off x="6838950" y="3943350"/>
            <a:ext cx="4191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PROPOSED EXTENSION</a:t>
            </a:r>
            <a:endParaRPr/>
          </a:p>
        </p:txBody>
      </p:sp>
      <p:sp>
        <p:nvSpPr>
          <p:cNvPr id="1642583672" name=""/>
          <p:cNvSpPr>
            <a:spLocks noGrp="1"/>
          </p:cNvSpPr>
          <p:nvPr/>
        </p:nvSpPr>
        <p:spPr bwMode="auto">
          <a:xfrm>
            <a:off x="7029450" y="4400550"/>
            <a:ext cx="38100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semantic-equivalence target</a:t>
            </a:r>
            <a:endParaRPr/>
          </a:p>
          <a:p>
            <a:pPr algn="ctr">
              <a:lnSpc>
                <a:spcPct val="105000"/>
              </a:lnSpc>
              <a:buNone/>
              <a:defRPr sz="1450" b="0" i="0">
                <a:solidFill>
                  <a:srgbClr val="243B53"/>
                </a:solidFill>
              </a:defRPr>
            </a:pPr>
            <a:r>
              <a:rPr sz="1450" b="0" i="0">
                <a:solidFill>
                  <a:srgbClr val="243B53"/>
                </a:solidFill>
              </a:rPr>
              <a:t>new validation and experiment version</a:t>
            </a:r>
            <a:endParaRPr/>
          </a:p>
        </p:txBody>
      </p:sp>
      <p:sp>
        <p:nvSpPr>
          <p:cNvPr id="1606105036" name=""/>
          <p:cNvSpPr>
            <a:spLocks noGrp="1"/>
          </p:cNvSpPr>
          <p:nvPr/>
        </p:nvSpPr>
        <p:spPr bwMode="auto">
          <a:xfrm>
            <a:off x="1657350" y="5429250"/>
            <a:ext cx="8877300" cy="609600"/>
          </a:xfrm>
          <a:prstGeom prst="rect">
            <a:avLst/>
          </a:prstGeom>
          <a:noFill/>
          <a:ln w="0">
            <a:noFill/>
            <a:prstDash val="solid"/>
          </a:ln>
        </p:spPr>
        <p:txBody>
          <a:bodyPr wrap="square" lIns="38100" tIns="19050" rIns="38100" bIns="19050" anchor="ctr">
            <a:normAutofit fontScale="95238"/>
          </a:bodyPr>
          <a:lstStyle/>
          <a:p>
            <a:pPr algn="ctr">
              <a:lnSpc>
                <a:spcPct val="105000"/>
              </a:lnSpc>
              <a:buNone/>
              <a:defRPr sz="1900" b="1" i="0">
                <a:solidFill>
                  <a:srgbClr val="102A43"/>
                </a:solidFill>
              </a:defRPr>
            </a:pPr>
            <a:r>
              <a:rPr sz="1900" b="1" i="0">
                <a:solidFill>
                  <a:srgbClr val="102A43"/>
                </a:solidFill>
              </a:rPr>
              <a:t>Efficient tree splitting alone is insufficient if ownership transfer still scans and</a:t>
            </a:r>
            <a:endParaRPr/>
          </a:p>
          <a:p>
            <a:pPr algn="ctr">
              <a:lnSpc>
                <a:spcPct val="105000"/>
              </a:lnSpc>
              <a:buNone/>
              <a:defRPr sz="1900" b="1" i="0">
                <a:solidFill>
                  <a:srgbClr val="102A43"/>
                </a:solidFill>
              </a:defRPr>
            </a:pPr>
            <a:r>
              <a:rPr sz="1900" b="1" i="0">
                <a:solidFill>
                  <a:srgbClr val="102A43"/>
                </a:solidFill>
              </a:rPr>
              <a:t>rebinds every item.</a:t>
            </a:r>
            <a:endParaRPr/>
          </a:p>
        </p:txBody>
      </p:sp>
      <p:cxnSp>
        <p:nvCxnSpPr>
          <p:cNvPr id="1927755758" name=""/>
          <p:cNvCxnSpPr>
            <a:stCxn id="685163523" idx="3"/>
            <a:endCxn id="272313063" idx="1"/>
          </p:cNvCxnSpPr>
          <p:nvPr/>
        </p:nvCxnSpPr>
        <p:spPr bwMode="auto">
          <a:xfrm>
            <a:off x="3657600" y="1866900"/>
            <a:ext cx="1104900" cy="0"/>
          </a:xfrm>
          <a:prstGeom prst="straightConnector1">
            <a:avLst/>
          </a:prstGeom>
          <a:ln w="19050">
            <a:solidFill>
              <a:srgbClr val="2A9D8F"/>
            </a:solidFill>
            <a:prstDash val="solid"/>
            <a:tailEnd type="arrow" w="med" len="med"/>
          </a:ln>
        </p:spPr>
      </p:cxnSp>
      <p:cxnSp>
        <p:nvCxnSpPr>
          <p:cNvPr id="2001823272" name=""/>
          <p:cNvCxnSpPr>
            <a:stCxn id="272313063" idx="2"/>
            <a:endCxn id="1351071100" idx="0"/>
          </p:cNvCxnSpPr>
          <p:nvPr/>
        </p:nvCxnSpPr>
        <p:spPr bwMode="auto">
          <a:xfrm flipH="1">
            <a:off x="3257550" y="2324100"/>
            <a:ext cx="4772025" cy="1028700"/>
          </a:xfrm>
          <a:prstGeom prst="bentConnector4">
            <a:avLst>
              <a:gd name="adj1" fmla="val 0"/>
              <a:gd name="adj2" fmla="val 50000"/>
            </a:avLst>
          </a:prstGeom>
          <a:ln w="19050">
            <a:solidFill>
              <a:srgbClr val="2A9D8F"/>
            </a:solidFill>
            <a:prstDash val="solid"/>
            <a:tailEnd type="arrow" w="med" len="med"/>
          </a:ln>
        </p:spPr>
      </p:cxnSp>
      <p:cxnSp>
        <p:nvCxnSpPr>
          <p:cNvPr id="404125432" name=""/>
          <p:cNvCxnSpPr>
            <a:stCxn id="272313063" idx="2"/>
            <a:endCxn id="791637214" idx="0"/>
          </p:cNvCxnSpPr>
          <p:nvPr/>
        </p:nvCxnSpPr>
        <p:spPr bwMode="auto">
          <a:xfrm>
            <a:off x="8029575" y="2324100"/>
            <a:ext cx="904875" cy="1028700"/>
          </a:xfrm>
          <a:prstGeom prst="bentConnector4">
            <a:avLst>
              <a:gd name="adj1" fmla="val 0"/>
              <a:gd name="adj2" fmla="val 50000"/>
            </a:avLst>
          </a:prstGeom>
          <a:ln w="19050">
            <a:solidFill>
              <a:srgbClr val="E76F51"/>
            </a:solidFill>
            <a:prstDash val="solid"/>
            <a:tailEnd type="arrow"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21</Slides>
  <Notes>21</Notes>
  <HiddenSlides>0</HiddenSlides>
  <MMClips>2</MMClips>
  <ScaleCrop>0</ScaleCrop>
  <HeadingPairs>
    <vt:vector size="4" baseType="variant">
      <vt:variant>
        <vt:lpstr>Theme</vt:lpstr>
      </vt:variant>
      <vt:variant>
        <vt:i4>1</vt:i4>
      </vt:variant>
      <vt:variant>
        <vt:lpstr>Slide Titles</vt:lpstr>
      </vt:variant>
      <vt:variant>
        <vt:i4>21</vt:i4>
      </vt:variant>
    </vt:vector>
  </HeadingPairs>
  <TitlesOfParts>
    <vt:vector size="2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2026-09-13T11:14:32Z</dcterms:modified>
</cp:coreProperties>
</file>