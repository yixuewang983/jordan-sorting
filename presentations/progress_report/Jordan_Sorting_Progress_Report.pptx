
<file path=[Content_Types].xml><?xml version="1.0" encoding="utf-8"?>
<Types xmlns="http://schemas.openxmlformats.org/package/2006/content-types">
  <Default Extension="xml" ContentType="application/xml"/>
  <Default Extension="xlsx" ContentType="application/vnd.openxmlformats-officedocument.spreadsheetml.sheet"/>
  <Default Extension="jpeg" ContentType="image/jpeg"/>
  <Default Extension="wmf" ContentType="image/x-wmf"/>
  <Default Extension="png" ContentType="image/png"/>
  <Default Extension="rels" ContentType="application/vnd.openxmlformats-package.relationships+xml"/>
  <Default Extension="bin" ContentType="application/vnd.openxmlformats-officedocument.oleObject"/>
  <Override PartName="/ppt/notesSlides/notesSlide19.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13.xml" ContentType="application/vnd.openxmlformats-officedocument.presentationml.notesSlide+xml"/>
  <Override PartName="/ppt/slides/slide21.xml" ContentType="application/vnd.openxmlformats-officedocument.presentationml.slide+xml"/>
  <Override PartName="/ppt/notesSlides/notesSlide11.xml" ContentType="application/vnd.openxmlformats-officedocument.presentationml.notesSlide+xml"/>
  <Override PartName="/ppt/presProps.xml" ContentType="application/vnd.openxmlformats-officedocument.presentationml.presProps+xml"/>
  <Override PartName="/ppt/notesSlides/notesSlide7.xml" ContentType="application/vnd.openxmlformats-officedocument.presentationml.notesSlide+xml"/>
  <Override PartName="/ppt/slides/slide20.xml" ContentType="application/vnd.openxmlformats-officedocument.presentationml.slide+xml"/>
  <Override PartName="/ppt/slides/slide19.xml" ContentType="application/vnd.openxmlformats-officedocument.presentationml.slide+xml"/>
  <Override PartName="/ppt/notesSlides/notesSlide21.xml" ContentType="application/vnd.openxmlformats-officedocument.presentationml.notesSlide+xml"/>
  <Override PartName="/ppt/charts/chart1.xml" ContentType="application/vnd.openxmlformats-officedocument.drawingml.chart+xml"/>
  <Override PartName="/ppt/slides/slide16.xml" ContentType="application/vnd.openxmlformats-officedocument.presentationml.slide+xml"/>
  <Override PartName="/ppt/slides/slide13.xml" ContentType="application/vnd.openxmlformats-officedocument.presentationml.slide+xml"/>
  <Override PartName="/docProps/app.xml" ContentType="application/vnd.openxmlformats-officedocument.extended-properties+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slides/slide17.xml" ContentType="application/vnd.openxmlformats-officedocument.presentationml.slide+xml"/>
  <Override PartName="/ppt/slideMasters/slideMaster1.xml" ContentType="application/vnd.openxmlformats-officedocument.presentationml.slideMaster+xml"/>
  <Override PartName="/ppt/slides/slide7.xml" ContentType="application/vnd.openxmlformats-officedocument.presentationml.slide+xml"/>
  <Override PartName="/ppt/notesSlides/notesSlide20.xml" ContentType="application/vnd.openxmlformats-officedocument.presentationml.notesSlide+xml"/>
  <Override PartName="/ppt/slides/slide4.xml" ContentType="application/vnd.openxmlformats-officedocument.presentationml.slide+xml"/>
  <Override PartName="/ppt/slides/slide3.xml" ContentType="application/vnd.openxmlformats-officedocument.presentationml.slide+xml"/>
  <Override PartName="/ppt/notesSlides/notesSlide8.xml" ContentType="application/vnd.openxmlformats-officedocument.presentationml.notesSlide+xml"/>
  <Override PartName="/ppt/slides/slide2.xml" ContentType="application/vnd.openxmlformats-officedocument.presentationml.slide+xml"/>
  <Override PartName="/ppt/slideLayouts/slideLayout1.xml" ContentType="application/vnd.openxmlformats-officedocument.presentationml.slideLayout+xml"/>
  <Override PartName="/ppt/slides/slide18.xml" ContentType="application/vnd.openxmlformats-officedocument.presentationml.slide+xml"/>
  <Override PartName="/ppt/viewProps.xml" ContentType="application/vnd.openxmlformats-officedocument.presentationml.viewProps+xml"/>
  <Override PartName="/ppt/slides/slide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notesSlides/notesSlide18.xml" ContentType="application/vnd.openxmlformats-officedocument.presentationml.notesSlide+xml"/>
  <Override PartName="/ppt/presentation.xml" ContentType="application/vnd.openxmlformats-officedocument.presentationml.presentation.main+xml"/>
  <Override PartName="/docProps/core.xml" ContentType="application/vnd.openxmlformats-package.core-properties+xml"/>
  <Override PartName="/ppt/slides/slide6.xml" ContentType="application/vnd.openxmlformats-officedocument.presentationml.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tableStyles.xml" ContentType="application/vnd.openxmlformats-officedocument.presentationml.tableStyles+xml"/>
  <Override PartName="/ppt/notesSlides/notesSlide1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0" d="0"/>
          <a:sy n="0" d="0"/>
        </p:scale>
        <p:origin x="0" y="0"/>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notesMaster" Target="notesMasters/notesMaster1.xml"/><Relationship Id="rId26" Type="http://schemas.openxmlformats.org/officeDocument/2006/relationships/presProps" Target="presProps.xml" /><Relationship Id="rId27" Type="http://schemas.openxmlformats.org/officeDocument/2006/relationships/tableStyles" Target="tableStyles.xml" /><Relationship Id="rId28"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lineChart>
        <c:grouping val="standard"/>
        <c:varyColors val="0"/>
        <c:ser>
          <c:idx val="0"/>
          <c:order val="0"/>
          <c:tx>
            <c:v>paper/reference</c:v>
          </c:tx>
          <c:spPr bwMode="auto">
            <a:prstGeom prst="rect">
              <a:avLst/>
            </a:prstGeom>
            <a:ln w="38100">
              <a:solidFill>
                <a:srgbClr val="2A9D8F"/>
              </a:solidFill>
              <a:prstDash val="solid"/>
            </a:ln>
          </c:spPr>
          <c:marker>
            <c:symbol val="circle"/>
            <c:size val="9"/>
            <c:spPr bwMode="auto">
              <a:prstGeom prst="rect">
                <a:avLst/>
              </a:prstGeom>
              <a:solidFill>
                <a:srgbClr val="2A9D8F"/>
              </a:solidFill>
            </c:spPr>
          </c:marker>
          <c:cat>
            <c:numRef>
              <c:f>'Chart Data'!$A$2:$A$6</c:f>
              <c:numCache>
                <c:formatCode>General</c:formatCode>
                <c:ptCount val="5"/>
                <c:pt idx="0">
                  <c:v>32</c:v>
                </c:pt>
                <c:pt idx="1">
                  <c:v>64</c:v>
                </c:pt>
                <c:pt idx="2">
                  <c:v>128</c:v>
                </c:pt>
                <c:pt idx="3">
                  <c:v>256</c:v>
                </c:pt>
                <c:pt idx="4">
                  <c:v>512</c:v>
                </c:pt>
              </c:numCache>
            </c:numRef>
          </c:cat>
          <c:val>
            <c:numRef>
              <c:f>'Chart Data'!$B$2:$B$6</c:f>
              <c:numCache>
                <c:formatCode>0.0</c:formatCode>
                <c:ptCount val="5"/>
                <c:pt idx="0">
                  <c:v>3.22642</c:v>
                </c:pt>
                <c:pt idx="1">
                  <c:v>2.202394</c:v>
                </c:pt>
                <c:pt idx="2">
                  <c:v>1.351064</c:v>
                </c:pt>
                <c:pt idx="3">
                  <c:v>0.850597</c:v>
                </c:pt>
                <c:pt idx="4">
                  <c:v>0.567187</c:v>
                </c:pt>
              </c:numCache>
            </c:numRef>
          </c:val>
          <c:smooth val="0"/>
        </c:ser>
        <c:ser>
          <c:idx val="1"/>
          <c:order val="1"/>
          <c:tx>
            <c:v>ratio = 1</c:v>
          </c:tx>
          <c:spPr bwMode="auto">
            <a:prstGeom prst="rect">
              <a:avLst/>
            </a:prstGeom>
            <a:ln w="19050">
              <a:solidFill>
                <a:srgbClr val="E76F51"/>
              </a:solidFill>
              <a:prstDash val="dash"/>
            </a:ln>
          </c:spPr>
          <c:marker>
            <c:symbol val="none"/>
          </c:marker>
          <c:cat>
            <c:numRef>
              <c:f>'Chart Data'!$C$2:$C$6</c:f>
              <c:numCache>
                <c:formatCode>General</c:formatCode>
                <c:ptCount val="5"/>
                <c:pt idx="0">
                  <c:v>32</c:v>
                </c:pt>
                <c:pt idx="1">
                  <c:v>64</c:v>
                </c:pt>
                <c:pt idx="2">
                  <c:v>128</c:v>
                </c:pt>
                <c:pt idx="3">
                  <c:v>256</c:v>
                </c:pt>
                <c:pt idx="4">
                  <c:v>512</c:v>
                </c:pt>
              </c:numCache>
            </c:numRef>
          </c:cat>
          <c:val>
            <c:numRef>
              <c:f>'Chart Data'!$D$2:$D$6</c:f>
              <c:numCache>
                <c:formatCode>0.0</c:formatCode>
                <c:ptCount val="5"/>
                <c:pt idx="0">
                  <c:v>1</c:v>
                </c:pt>
                <c:pt idx="1">
                  <c:v>1</c:v>
                </c:pt>
                <c:pt idx="2">
                  <c:v>1</c:v>
                </c:pt>
                <c:pt idx="3">
                  <c:v>1</c:v>
                </c:pt>
                <c:pt idx="4">
                  <c:v>1</c:v>
                </c:pt>
              </c:numCache>
            </c:numRef>
          </c:val>
          <c:smooth val="0"/>
        </c:ser>
        <c:dLbls>
          <c:showBubbleSize val="0"/>
          <c:showCatName val="0"/>
          <c:showLeaderLines val="0"/>
          <c:showLegendKey val="0"/>
          <c:showPercent val="0"/>
          <c:showSerName val="0"/>
          <c:showVal val="0"/>
        </c:dLbls>
        <c:smooth val="0"/>
        <c:axId val="48650112"/>
        <c:axId val="48672768"/>
      </c:lineChart>
      <c:catAx>
        <c:axId val="48650112"/>
        <c:scaling>
          <c:orientation val="minMax"/>
        </c:scaling>
        <c:delete val="0"/>
        <c:axPos val="b"/>
        <c:title>
          <c:tx>
            <c:rich>
              <a:bodyPr/>
              <a:lstStyle/>
              <a:p>
                <a:pPr>
                  <a:defRPr/>
                </a:pPr>
                <a:r>
                  <a:rPr sz="1150">
                    <a:solidFill>
                      <a:srgbClr val="52606D"/>
                    </a:solidFill>
                  </a:rPr>
                  <a:t>input size n</a:t>
                </a:r>
                <a:endParaRPr/>
              </a:p>
            </c:rich>
          </c:tx>
          <c:layout/>
          <c:overlay val="0"/>
          <c:txPr>
            <a:bodyPr anchorCtr="1"/>
            <a:lstStyle/>
            <a:p>
              <a:pPr>
                <a:defRPr sz="1150">
                  <a:solidFill>
                    <a:srgbClr val="52606D"/>
                  </a:solidFill>
                </a:defRPr>
              </a:pPr>
              <a:endParaRPr/>
            </a:p>
          </c:txPr>
        </c:title>
        <c:numFmt formatCode="General"/>
        <c:majorTickMark val="none"/>
        <c:minorTickMark val="none"/>
        <c:spPr bwMode="auto">
          <a:prstGeom prst="rect">
            <a:avLst/>
          </a:prstGeom>
          <a:ln w="9525">
            <a:solidFill>
              <a:srgbClr val="D9E2EC"/>
            </a:solidFill>
            <a:prstDash val="solid"/>
          </a:ln>
        </c:spPr>
        <c:txPr>
          <a:bodyPr anchorCtr="1"/>
          <a:lstStyle/>
          <a:p>
            <a:pPr>
              <a:defRPr sz="1150">
                <a:solidFill>
                  <a:srgbClr val="52606D"/>
                </a:solidFill>
              </a:defRPr>
            </a:pPr>
            <a:endParaRPr/>
          </a:p>
        </c:txPr>
        <c:crossAx val="48672768"/>
        <c:crosses val="autoZero"/>
        <c:noMultiLvlLbl val="0"/>
      </c:catAx>
      <c:valAx>
        <c:axId val="48672768"/>
        <c:scaling>
          <c:orientation val="minMax"/>
          <c:max val="3.500000"/>
          <c:min val="0.000000"/>
        </c:scaling>
        <c:delete val="0"/>
        <c:axPos val="l"/>
        <c:majorGridlines>
          <c:spPr bwMode="auto">
            <a:prstGeom prst="rect">
              <a:avLst/>
            </a:prstGeom>
            <a:ln w="9525">
              <a:solidFill>
                <a:srgbClr val="E6EDF3"/>
              </a:solidFill>
              <a:prstDash val="solid"/>
            </a:ln>
          </c:spPr>
        </c:majorGridlines>
        <c:title>
          <c:tx>
            <c:rich>
              <a:bodyPr/>
              <a:lstStyle/>
              <a:p>
                <a:pPr>
                  <a:defRPr/>
                </a:pPr>
                <a:r>
                  <a:rPr sz="1150">
                    <a:solidFill>
                      <a:srgbClr val="52606D"/>
                    </a:solidFill>
                  </a:rPr>
                  <a:t>median exact-case ratio</a:t>
                </a:r>
                <a:endParaRPr/>
              </a:p>
            </c:rich>
          </c:tx>
          <c:layout/>
          <c:overlay val="0"/>
          <c:txPr>
            <a:bodyPr anchorCtr="1"/>
            <a:lstStyle/>
            <a:p>
              <a:pPr>
                <a:defRPr sz="1150">
                  <a:solidFill>
                    <a:srgbClr val="52606D"/>
                  </a:solidFill>
                </a:defRPr>
              </a:pPr>
              <a:endParaRPr/>
            </a:p>
          </c:txPr>
        </c:title>
        <c:numFmt formatCode="0.0"/>
        <c:majorTickMark val="none"/>
        <c:minorTickMark val="none"/>
        <c:spPr bwMode="auto">
          <a:prstGeom prst="rect">
            <a:avLst/>
          </a:prstGeom>
          <a:ln w="9525">
            <a:solidFill>
              <a:srgbClr val="D9E2EC"/>
            </a:solidFill>
            <a:prstDash val="solid"/>
          </a:ln>
        </c:spPr>
        <c:txPr>
          <a:bodyPr anchorCtr="1"/>
          <a:lstStyle/>
          <a:p>
            <a:pPr>
              <a:defRPr sz="1050">
                <a:solidFill>
                  <a:srgbClr val="52606D"/>
                </a:solidFill>
              </a:defRPr>
            </a:pPr>
            <a:endParaRPr/>
          </a:p>
        </c:txPr>
        <c:crossAx val="48650112"/>
        <c:crosses val="autoZero"/>
        <c:crossBetween val="between"/>
        <c:majorUnit val="0.500000"/>
      </c:valAx>
      <c:spPr bwMode="auto">
        <a:prstGeom prst="rect">
          <a:avLst/>
        </a:prstGeom>
        <a:solidFill>
          <a:srgbClr val="FFFFFF"/>
        </a:solidFill>
        <a:ln w="9525">
          <a:solidFill>
            <a:srgbClr val="D9E2EC"/>
          </a:solidFill>
          <a:prstDash val="solid"/>
        </a:ln>
      </c:spPr>
    </c:plotArea>
    <c:legend>
      <c:legendPos val="b"/>
      <c:layout/>
      <c:overlay val="0"/>
      <c:txPr>
        <a:bodyPr anchorCtr="1"/>
        <a:lstStyle/>
        <a:p>
          <a:pPr>
            <a:defRPr sz="1150">
              <a:solidFill>
                <a:srgbClr val="52606D"/>
              </a:solidFill>
            </a:defRPr>
          </a:pPr>
          <a:endParaRPr/>
        </a:p>
      </c:txPr>
    </c:legend>
    <c:plotVisOnly val="1"/>
    <c:showDLblsOverMax val="0"/>
  </c:chart>
  <c:spPr bwMode="auto">
    <a:xfrm rot="0">
      <a:off x="647700" y="1409700"/>
      <a:ext cx="6858000" cy="4095750"/>
    </a:xfrm>
    <a:prstGeom prst="rect">
      <a:avLst/>
    </a:prstGeom>
    <a:solidFill>
      <a:srgbClr val="FFFFFF"/>
    </a:solidFill>
    <a:ln w="9525">
      <a:solidFill>
        <a:srgbClr val="D9E2EC"/>
      </a:solidFill>
      <a:prstDash val="solid"/>
    </a:ln>
  </c:spPr>
  <c:externalData r:id="rId1">
    <c:autoUpdate val="1"/>
  </c:externalData>
</c:chartSpace>
</file>

<file path=ppt/embeddings/_rels/Microsoft_Excel_Worksheet1.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71679256" name="Header Placeholder"/>
          <p:cNvSpPr/>
          <p:nvPr>
            <p:ph type="hdr" sz="quarter"/>
          </p:nvPr>
        </p:nvSpPr>
        <p:spPr bwMode="auto">
          <a:prstGeom prst="rect">
            <a:avLst/>
          </a:prstGeom>
        </p:spPr>
        <p:txBody>
          <a:bodyPr/>
          <a:lstStyle/>
          <a:p>
            <a:pPr>
              <a:defRPr/>
            </a:pPr>
            <a:endParaRPr/>
          </a:p>
        </p:txBody>
      </p:sp>
      <p:sp>
        <p:nvSpPr>
          <p:cNvPr id="1296131504" name="Date Placeholder"/>
          <p:cNvSpPr/>
          <p:nvPr>
            <p:ph type="dt" sz="quarter" idx="1"/>
          </p:nvPr>
        </p:nvSpPr>
        <p:spPr bwMode="auto">
          <a:prstGeom prst="rect">
            <a:avLst/>
          </a:prstGeom>
        </p:spPr>
        <p:txBody>
          <a:bodyPr/>
          <a:lstStyle/>
          <a:p>
            <a:pPr>
              <a:defRPr/>
            </a:pPr>
            <a:endParaRPr/>
          </a:p>
        </p:txBody>
      </p:sp>
      <p:sp>
        <p:nvSpPr>
          <p:cNvPr id="2070846144" name="Slide Image Placeholder"/>
          <p:cNvSpPr/>
          <p:nvPr>
            <p:ph type="sldImg" idx="2"/>
          </p:nvPr>
        </p:nvSpPr>
        <p:spPr bwMode="auto">
          <a:prstGeom prst="rect">
            <a:avLst/>
          </a:prstGeom>
        </p:spPr>
        <p:txBody>
          <a:bodyPr/>
          <a:lstStyle/>
          <a:p>
            <a:pPr>
              <a:defRPr/>
            </a:pPr>
            <a:endParaRPr/>
          </a:p>
        </p:txBody>
      </p:sp>
      <p:sp>
        <p:nvSpPr>
          <p:cNvPr id="188835578" name="Notes Placeholder"/>
          <p:cNvSpPr/>
          <p:nvPr>
            <p:ph type="body" sz="quarter" idx="3"/>
          </p:nvPr>
        </p:nvSpPr>
        <p:spPr bwMode="auto">
          <a:prstGeom prst="rect">
            <a:avLst/>
          </a:prstGeom>
        </p:spPr>
        <p:txBody>
          <a:bodyPr/>
          <a:lstStyle/>
          <a:p>
            <a:pPr>
              <a:defRPr/>
            </a:pPr>
            <a:endParaRPr/>
          </a:p>
        </p:txBody>
      </p:sp>
      <p:sp>
        <p:nvSpPr>
          <p:cNvPr id="1554772268" name="Footer Placeholder"/>
          <p:cNvSpPr/>
          <p:nvPr>
            <p:ph type="ftr" sz="quarter" idx="4"/>
          </p:nvPr>
        </p:nvSpPr>
        <p:spPr bwMode="auto">
          <a:prstGeom prst="rect">
            <a:avLst/>
          </a:prstGeom>
        </p:spPr>
        <p:txBody>
          <a:bodyPr/>
          <a:lstStyle/>
          <a:p>
            <a:pPr>
              <a:defRPr/>
            </a:pPr>
            <a:endParaRPr/>
          </a:p>
        </p:txBody>
      </p:sp>
      <p:sp>
        <p:nvSpPr>
          <p:cNvPr id="641060523"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2980573" name="Slide Image Placeholder 1"/>
          <p:cNvSpPr>
            <a:spLocks noGrp="1"/>
          </p:cNvSpPr>
          <p:nvPr>
            <p:ph type="sldImg" idx="0"/>
          </p:nvPr>
        </p:nvSpPr>
        <p:spPr bwMode="auto"/>
      </p:sp>
      <p:sp>
        <p:nvSpPr>
          <p:cNvPr id="1711269363" name="Notes Placeholder 2"/>
          <p:cNvSpPr>
            <a:spLocks noGrp="1"/>
          </p:cNvSpPr>
          <p:nvPr>
            <p:ph type="body" idx="1"/>
          </p:nvPr>
        </p:nvSpPr>
        <p:spPr bwMode="auto"/>
        <p:txBody>
          <a:bodyPr/>
          <a:lstStyle/>
          <a:p>
            <a:pPr>
              <a:defRPr/>
            </a:pPr>
            <a:r>
              <a:rPr/>
              <a:t>Good afternoon. This presentation updates my master's thesis on an executable reconstruction of Simplified Jordan Sorting using ordinary Python lists. </a:t>
            </a:r>
            <a:endParaRPr/>
          </a:p>
          <a:p>
            <a:pPr>
              <a:defRPr/>
            </a:pPr>
            <a:r>
              <a:rPr/>
              <a:t>My previous report focused on static structure: rank intervals, upper and lower pair families, family trees, and an oracle-backed reference. </a:t>
            </a:r>
            <a:endParaRPr/>
          </a:p>
          <a:p>
            <a:pPr>
              <a:defRPr/>
            </a:pPr>
            <a:r>
              <a:rPr/>
              <a:t>The main question is whether the paper's dynamic procedure can maintain its own state and recover its own output. </a:t>
            </a:r>
            <a:endParaRPr/>
          </a:p>
          <a:p>
            <a:pPr>
              <a:defRPr/>
            </a:pPr>
            <a:r>
              <a:rPr/>
              <a:t>I will focus on two reconstruction decisions, then explain the validation checks and the runtime results from the formal experiment.</a:t>
            </a:r>
            <a:endParaRPr/>
          </a:p>
          <a:p>
            <a:pPr>
              <a:defRPr/>
            </a:pPr>
            <a:endParaRPr/>
          </a:p>
          <a:p>
            <a:pPr>
              <a:defRPr/>
            </a:pPr>
            <a:r>
              <a:rPr lang="en-US" sz="1200" b="0" i="0" u="none" strike="noStrike" cap="none" spc="0">
                <a:solidFill>
                  <a:srgbClr val="000000"/>
                </a:solidFill>
                <a:latin typeface="+mn-lt"/>
                <a:ea typeface="+mn-ea"/>
                <a:cs typeface="+mn-cs"/>
              </a:rPr>
              <a:t>大家好。这次汇报介绍我的硕士论文进展，主题是使用普通 Python list 对 Simplified Jordan Sorting 进行可执行重构。上次汇报聚焦静态结构，包括 rank interval、upper 和 lower pair family、family tree，以及 oracle 支持的 reference。核心问题是，论文中的动态过程能否维护自身状态，并从中恢复输出。我将重点解释两处重构决定，再介绍验证检查和正式实验的运行时间结果。</a:t>
            </a:r>
            <a:endParaRPr/>
          </a:p>
        </p:txBody>
      </p:sp>
      <p:sp>
        <p:nvSpPr>
          <p:cNvPr id="195428086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8110643" name="Slide Image Placeholder 1"/>
          <p:cNvSpPr>
            <a:spLocks noGrp="1"/>
          </p:cNvSpPr>
          <p:nvPr>
            <p:ph type="sldImg" idx="0"/>
          </p:nvPr>
        </p:nvSpPr>
        <p:spPr bwMode="auto"/>
      </p:sp>
      <p:sp>
        <p:nvSpPr>
          <p:cNvPr id="1808454890" name="Notes Placeholder 2"/>
          <p:cNvSpPr>
            <a:spLocks noGrp="1"/>
          </p:cNvSpPr>
          <p:nvPr>
            <p:ph type="body" idx="1"/>
          </p:nvPr>
        </p:nvSpPr>
        <p:spPr bwMode="auto"/>
        <p:txBody>
          <a:bodyPr/>
          <a:lstStyle/>
          <a:p>
            <a:pPr>
              <a:defRPr/>
            </a:pPr>
            <a:r>
              <a:rPr/>
              <a:t>The previous implementation represented rank intervals, separated upper and lower pair families, rebuilt their laminar family trees, and computed structural metrics. </a:t>
            </a:r>
            <a:endParaRPr/>
          </a:p>
          <a:p>
            <a:pPr>
              <a:defRPr/>
            </a:pPr>
            <a:r>
              <a:rPr/>
              <a:t>An oracle checked input validity and supplied a reference answer. </a:t>
            </a:r>
            <a:endParaRPr/>
          </a:p>
          <a:p>
            <a:pPr>
              <a:defRPr/>
            </a:pPr>
            <a:r>
              <a:rPr/>
              <a:t>The missing part was the dynamic procedure: updating the processed prefix, splitting sibling lists, transferring ownership, and recovering output from maintained state. </a:t>
            </a:r>
            <a:endParaRPr/>
          </a:p>
          <a:p>
            <a:pPr>
              <a:defRPr/>
            </a:pPr>
            <a:r>
              <a:rPr/>
              <a:t>Each update must preserve both the partial order and the family structure. </a:t>
            </a:r>
            <a:endParaRPr/>
          </a:p>
          <a:p>
            <a:pPr>
              <a:defRPr/>
            </a:pPr>
            <a:r>
              <a:rPr/>
              <a:t>An error in one update can corrupt both, so safe dynamic updates were the main implementation gap.</a:t>
            </a:r>
            <a:endParaRPr/>
          </a:p>
          <a:p>
            <a:pPr>
              <a:defRPr/>
            </a:pPr>
            <a:endParaRPr/>
          </a:p>
          <a:p>
            <a:pPr>
              <a:defRPr/>
            </a:pPr>
            <a:r>
              <a:rPr lang="en-US" sz="1200" b="0" i="0" u="none" strike="noStrike" cap="none" spc="0">
                <a:solidFill>
                  <a:srgbClr val="000000"/>
                </a:solidFill>
                <a:latin typeface="+mn-lt"/>
                <a:ea typeface="+mn-ea"/>
                <a:cs typeface="+mn-cs"/>
              </a:rPr>
              <a:t>上次实现用 rank interval 表示输入，区分 upper 和 lower pair family，重构 laminar family tree，并计算结构指标。Oracle 检查输入有效性并提供参考答案。尚未实现的是动态过程：更新 processed prefix、拆分 sibling list、转移 ownership，以及从维护状态恢复输出。每次更新都必须保持 partial order 和 family structure 一致。一次更新出错就可能同时破坏两者，因此安全的动态更新是当时的主要实现缺口。</a:t>
            </a:r>
            <a:endParaRPr/>
          </a:p>
        </p:txBody>
      </p:sp>
      <p:sp>
        <p:nvSpPr>
          <p:cNvPr id="15821293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3638879" name="Slide Image Placeholder 1"/>
          <p:cNvSpPr>
            <a:spLocks noGrp="1"/>
          </p:cNvSpPr>
          <p:nvPr>
            <p:ph type="sldImg" idx="0"/>
          </p:nvPr>
        </p:nvSpPr>
        <p:spPr bwMode="auto"/>
      </p:sp>
      <p:sp>
        <p:nvSpPr>
          <p:cNvPr id="1793379329" name="Notes Placeholder 2"/>
          <p:cNvSpPr>
            <a:spLocks noGrp="1"/>
          </p:cNvSpPr>
          <p:nvPr>
            <p:ph type="body" idx="1"/>
          </p:nvPr>
        </p:nvSpPr>
        <p:spPr bwMode="auto"/>
        <p:txBody>
          <a:bodyPr/>
          <a:lstStyle/>
          <a:p>
            <a:pPr>
              <a:defRPr/>
            </a:pPr>
            <a:r>
              <a:rPr/>
              <a:t>Since then, I narrowed the scope to externally certified valid inputs and implemented the Step 1, Step 2, and Step 3 control flow. </a:t>
            </a:r>
            <a:endParaRPr/>
          </a:p>
          <a:p>
            <a:pPr>
              <a:defRPr/>
            </a:pPr>
            <a:r>
              <a:rPr/>
              <a:t>I added ownership checks, transactional updates, replay, and bounded validation. </a:t>
            </a:r>
            <a:endParaRPr/>
          </a:p>
          <a:p>
            <a:pPr>
              <a:defRPr/>
            </a:pPr>
            <a:r>
              <a:rPr/>
              <a:t>Once the implementation passed these checks, I ran a formal experiment with a fixed protocol. </a:t>
            </a:r>
            <a:endParaRPr/>
          </a:p>
          <a:p>
            <a:pPr>
              <a:defRPr/>
            </a:pPr>
            <a:r>
              <a:rPr/>
              <a:t>The result is an executable ordinary-list reconstruction.</a:t>
            </a:r>
            <a:endParaRPr/>
          </a:p>
          <a:p>
            <a:pPr>
              <a:defRPr/>
            </a:pPr>
            <a:endParaRPr/>
          </a:p>
          <a:p>
            <a:pPr>
              <a:defRPr/>
            </a:pPr>
            <a:r>
              <a:rPr lang="en-US" sz="1200" b="0" i="0" u="none" strike="noStrike" cap="none" spc="0">
                <a:solidFill>
                  <a:srgbClr val="000000"/>
                </a:solidFill>
                <a:latin typeface="+mn-lt"/>
                <a:ea typeface="+mn-ea"/>
                <a:cs typeface="+mn-cs"/>
              </a:rPr>
              <a:t>此后，我将范围缩小到外部 oracle 已认证的有效输入，并实现 Step 1、Step 2 和 Step 3 控制流。我加入 ownership 检查、事务式更新、重放和有界验证。实现通过这些检查后，我按固定协议运行了正式实验。当前成果是可执行的普通列表重构。</a:t>
            </a:r>
            <a:endParaRPr/>
          </a:p>
        </p:txBody>
      </p:sp>
      <p:sp>
        <p:nvSpPr>
          <p:cNvPr id="46524112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081909" name="Slide Image Placeholder 1"/>
          <p:cNvSpPr>
            <a:spLocks noGrp="1"/>
          </p:cNvSpPr>
          <p:nvPr>
            <p:ph type="sldImg" idx="0"/>
          </p:nvPr>
        </p:nvSpPr>
        <p:spPr bwMode="auto"/>
      </p:sp>
      <p:sp>
        <p:nvSpPr>
          <p:cNvPr id="543534595" name="Notes Placeholder 2"/>
          <p:cNvSpPr>
            <a:spLocks noGrp="1"/>
          </p:cNvSpPr>
          <p:nvPr>
            <p:ph type="body" idx="1"/>
          </p:nvPr>
        </p:nvSpPr>
        <p:spPr bwMode="auto"/>
        <p:txBody>
          <a:bodyPr/>
          <a:lstStyle/>
          <a:p>
            <a:pPr>
              <a:defRPr/>
            </a:pPr>
            <a:r>
              <a:rPr/>
              <a:t>The thesis studies the 1990 sorting procedure on inputs already certified as valid by an oracle. The experiment compares Python sort, the complete oracle-backed reference pipeline, and the reconstructed paper core. </a:t>
            </a:r>
            <a:endParaRPr/>
          </a:p>
          <a:p>
            <a:pPr>
              <a:defRPr/>
            </a:pPr>
            <a:r>
              <a:rPr/>
              <a:t>Recognition remains outside this experiment. </a:t>
            </a:r>
            <a:endParaRPr/>
          </a:p>
          <a:p>
            <a:pPr>
              <a:defRPr/>
            </a:pPr>
            <a:r>
              <a:rPr/>
              <a:t>The current core uses ordinary Python lists.</a:t>
            </a:r>
            <a:endParaRPr/>
          </a:p>
          <a:p>
            <a:pPr>
              <a:defRPr/>
            </a:pPr>
            <a:r>
              <a:rPr/>
              <a:t> It does not implement the specialized backend used in the historical linear-time analysis.</a:t>
            </a:r>
            <a:endParaRPr/>
          </a:p>
          <a:p>
            <a:pPr>
              <a:defRPr/>
            </a:pPr>
            <a:endParaRPr/>
          </a:p>
          <a:p>
            <a:pPr>
              <a:defRPr/>
            </a:pPr>
            <a:r>
              <a:rPr lang="en-US" sz="1200" b="0" i="0" u="none" strike="noStrike" cap="none" spc="0">
                <a:solidFill>
                  <a:srgbClr val="000000"/>
                </a:solidFill>
                <a:latin typeface="+mn-lt"/>
                <a:ea typeface="+mn-ea"/>
                <a:cs typeface="+mn-cs"/>
              </a:rPr>
              <a:t>论文研究的是 1990 年 sorting procedure 在 oracle 已认证有效的输入上的运行。实验比较 Python sort、完整的 oracle-backed reference pipeline 和重构后的 paper core。Recognition 不在本次实验范围内。当前 core 使用普通 Python list，尚未实现历史线性时间分析所使用的专用后端。</a:t>
            </a:r>
            <a:endParaRPr/>
          </a:p>
        </p:txBody>
      </p:sp>
      <p:sp>
        <p:nvSpPr>
          <p:cNvPr id="156397110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649225" name="Slide Image Placeholder 1"/>
          <p:cNvSpPr>
            <a:spLocks noGrp="1"/>
          </p:cNvSpPr>
          <p:nvPr>
            <p:ph type="sldImg" idx="0"/>
          </p:nvPr>
        </p:nvSpPr>
        <p:spPr bwMode="auto"/>
      </p:sp>
      <p:sp>
        <p:nvSpPr>
          <p:cNvPr id="2003939631" name="Notes Placeholder 2"/>
          <p:cNvSpPr>
            <a:spLocks noGrp="1"/>
          </p:cNvSpPr>
          <p:nvPr>
            <p:ph type="body" idx="1"/>
          </p:nvPr>
        </p:nvSpPr>
        <p:spPr bwMode="auto"/>
        <p:txBody>
          <a:bodyPr/>
          <a:lstStyle/>
          <a:p>
            <a:pPr>
              <a:defRPr/>
            </a:pPr>
            <a:r>
              <a:rPr/>
              <a:t>RQ1 is the main technical question: can the ordinary-list reconstruction recover the correct sorted order from maintained state on certified valid inputs? </a:t>
            </a:r>
            <a:endParaRPr/>
          </a:p>
          <a:p>
            <a:pPr>
              <a:defRPr/>
            </a:pPr>
            <a:r>
              <a:rPr/>
              <a:t>RQ2 compares the paper call with Python sort and the complete reference pipeline under their stated timing scopes. </a:t>
            </a:r>
            <a:endParaRPr/>
          </a:p>
          <a:p>
            <a:pPr>
              <a:defRPr/>
            </a:pPr>
            <a:r>
              <a:rPr/>
              <a:t>RQ3 explores descriptive relationships between input structure, checked operation counters, and runtime. It does not claim a causal explanation.</a:t>
            </a:r>
            <a:endParaRPr/>
          </a:p>
          <a:p>
            <a:pPr>
              <a:defRPr/>
            </a:pPr>
            <a:endParaRPr/>
          </a:p>
          <a:p>
            <a:pPr>
              <a:defRPr/>
            </a:pPr>
            <a:r>
              <a:rPr lang="en-US" sz="1200" b="0" i="0" u="none" strike="noStrike" cap="none" spc="0">
                <a:solidFill>
                  <a:srgbClr val="000000"/>
                </a:solidFill>
                <a:latin typeface="+mn-lt"/>
                <a:ea typeface="+mn-ea"/>
                <a:cs typeface="+mn-cs"/>
              </a:rPr>
              <a:t>RQ1 是主要技术问题：普通列表重构能否在认证后的有效输入上，从维护状态恢复正确排序？RQ2 比较 paper call、Python sort 和完整 reference pipeline 在各自计时范围下的表现。RQ3 探索输入结构、checked operation counter 与运行时间之间的描述性关系，不作因果解释。</a:t>
            </a:r>
            <a:endParaRPr/>
          </a:p>
        </p:txBody>
      </p:sp>
      <p:sp>
        <p:nvSpPr>
          <p:cNvPr id="13603552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9206450" name="Slide Image Placeholder 1"/>
          <p:cNvSpPr>
            <a:spLocks noGrp="1"/>
          </p:cNvSpPr>
          <p:nvPr>
            <p:ph type="sldImg" idx="0"/>
          </p:nvPr>
        </p:nvSpPr>
        <p:spPr bwMode="auto"/>
      </p:sp>
      <p:sp>
        <p:nvSpPr>
          <p:cNvPr id="1663465892" name="Notes Placeholder 2"/>
          <p:cNvSpPr>
            <a:spLocks noGrp="1"/>
          </p:cNvSpPr>
          <p:nvPr>
            <p:ph type="body" idx="1"/>
          </p:nvPr>
        </p:nvSpPr>
        <p:spPr bwMode="auto"/>
        <p:txBody>
          <a:bodyPr/>
          <a:lstStyle/>
          <a:p>
            <a:pPr>
              <a:defRPr/>
            </a:pPr>
            <a:r>
              <a:rPr/>
              <a:t>Before the paper call, the oracle certifies input validity. </a:t>
            </a:r>
            <a:endParaRPr/>
          </a:p>
          <a:p>
            <a:pPr>
              <a:defRPr/>
            </a:pPr>
            <a:r>
              <a:rPr/>
              <a:t>After the call, the runner compares the returned output with the oracle's sorted result. </a:t>
            </a:r>
            <a:endParaRPr/>
          </a:p>
          <a:p>
            <a:pPr>
              <a:defRPr/>
            </a:pPr>
            <a:r>
              <a:rPr/>
              <a:t>The reference pipeline uses the complete oracle result, including that sorted output. The paper core receives only the original sequence under the certified precondition. </a:t>
            </a:r>
            <a:endParaRPr/>
          </a:p>
          <a:p>
            <a:pPr>
              <a:defRPr/>
            </a:pPr>
            <a:r>
              <a:rPr/>
              <a:t>It executes Step 1, Step 2, and Step 3, maintains the partial order and sibling lists, and recovers output from the partial order. Both methods are checked against the same expected answer, but they produce their outputs differently. </a:t>
            </a:r>
            <a:endParaRPr/>
          </a:p>
          <a:p>
            <a:pPr>
              <a:defRPr/>
            </a:pPr>
            <a:r>
              <a:rPr/>
              <a:t>The oracle-sorted answer never enters the paper core. </a:t>
            </a:r>
            <a:endParaRPr/>
          </a:p>
          <a:p>
            <a:pPr>
              <a:defRPr/>
            </a:pPr>
            <a:r>
              <a:rPr/>
              <a:t>The dashed comparison box therefore sits outside it.</a:t>
            </a:r>
            <a:endParaRPr/>
          </a:p>
          <a:p>
            <a:pPr>
              <a:defRPr/>
            </a:pPr>
            <a:endParaRPr/>
          </a:p>
          <a:p>
            <a:pPr>
              <a:defRPr/>
            </a:pPr>
            <a:r>
              <a:rPr lang="en-US" sz="1200" b="0" i="0" u="none" strike="noStrike" cap="none" spc="0">
                <a:solidFill>
                  <a:srgbClr val="000000"/>
                </a:solidFill>
                <a:latin typeface="+mn-lt"/>
                <a:ea typeface="+mn-ea"/>
                <a:cs typeface="+mn-cs"/>
              </a:rPr>
              <a:t>Paper call 之前，oracle 认证输入有效性；调用之后，runner 将返回值与 oracle 的排序结果比较。Reference pipeline 使用完整 oracle result，包括 sorted output。Paper core 只接收原始序列，并以已认证有效为前提。它执行 Step 1、Step 2 和 Step 3，维护 partial order 与 sibling list，再从 partial order 恢复输出。两条路径使用同一个 expected answer 检查，但输出来源不同。Oracle 的排序答案不会进入 paper core，因此图中的虚线比较框位于 core 外部。</a:t>
            </a:r>
            <a:endParaRPr sz="1200"/>
          </a:p>
          <a:p>
            <a:pPr>
              <a:defRPr/>
            </a:pPr>
            <a:endParaRPr/>
          </a:p>
        </p:txBody>
      </p:sp>
      <p:sp>
        <p:nvSpPr>
          <p:cNvPr id="149864694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7319380" name="Slide Image Placeholder 1"/>
          <p:cNvSpPr>
            <a:spLocks noGrp="1"/>
          </p:cNvSpPr>
          <p:nvPr>
            <p:ph type="sldImg" idx="0"/>
          </p:nvPr>
        </p:nvSpPr>
        <p:spPr bwMode="auto"/>
      </p:sp>
      <p:sp>
        <p:nvSpPr>
          <p:cNvPr id="168551242" name="Notes Placeholder 2"/>
          <p:cNvSpPr>
            <a:spLocks noGrp="1"/>
          </p:cNvSpPr>
          <p:nvPr>
            <p:ph type="body" idx="1"/>
          </p:nvPr>
        </p:nvSpPr>
        <p:spPr bwMode="auto"/>
        <p:txBody>
          <a:bodyPr/>
          <a:lstStyle/>
          <a:p>
            <a:pPr>
              <a:defRPr/>
            </a:pPr>
            <a:r>
              <a:rPr/>
              <a:t>We maintain two things: the sorted order of the processed points, and the parent-child structure of the pairs. We initialize once, sorting only the first three points by x-coordinate. Their sorted order is called S three. We also initialize the upper and lower pair families, without an oracle answer. Point labels and stored pair endpoints keep curve order. Starting with point four, each round adds one point. We start from the previous point along the curve. Steps one and two use its neighbors in the sorted list to find predecessor boundary A sub i and successor boundary B sub i. Step three A places the new pair in the family structure and assigns its parent. Step three B splits a sibling list when needed, so newly enclosed pairs become children of the new pair. Only then does Step three C insert the new point into the sorted list, using an anchor selected from the maintained state. Increasing Step three A uses A sub i, and three B uses B sub i. Decreasing swaps these uses and reflects left and right operations. Steps one and two still return A and B. The paper states the increasing case. Decreasing is a symmetric reconstruction; anchor details are executable clarifications. These categories describe the basis of the reconstruction, not separate steps.</a:t>
            </a:r>
            <a:endParaRPr/>
          </a:p>
          <a:p>
            <a:pPr>
              <a:defRPr/>
            </a:pPr>
            <a:r>
              <a:rPr/>
              <a:t>中文参考</a:t>
            </a:r>
            <a:endParaRPr/>
          </a:p>
          <a:p>
            <a:pPr>
              <a:defRPr/>
            </a:pPr>
            <a:r>
              <a:rPr lang="en-US" sz="1200" b="0" i="0" u="none" strike="noStrike" cap="none" spc="0">
                <a:solidFill>
                  <a:srgbClr val="000000"/>
                </a:solidFill>
                <a:latin typeface="+mn-lt"/>
                <a:ea typeface="+mn-ea"/>
                <a:cs typeface="+mn-cs"/>
              </a:rPr>
              <a:t>我们同时维护两种信息：已处理点的排序，以及 pairs 之间的父子关系。初始化只做一次，仅将前三个点按 x 坐标排序，这个有序列表称为 S₃。同时建立 upper、lower pair family，不使用 oracle 的排序答案。点的编号和 pair 的端点存储仍保持曲线顺序。从第 4 个点开始，每轮加入一个新点。我们从沿曲线的前一个点出发。Step 1、2 利用它在有序列表中的邻居，分别找到 predecessor boundary Aᵢ 和 successor boundary Bᵢ。Step 3(a) 将新 pair 放入 family 结构，并确定它的 parent。Step 3(b) 在需要时拆分 sibling list，让新包含的旧 pairs 成为新 pair 的 children。到这时，Step 3(c) 才根据维护的状态选择 anchor，将新点插入有序列表。Increasing 时，Step 3(a) 使用 Aᵢ，3(b) 使用 Bᵢ。Decreasing 交换两者的用途，并镜像左右操作；Step 1、2 仍分别返回 Aᵢ、Bᵢ。论文描述 increasing 情形；decreasing 来自对称重构，anchor 的细节属于可执行化澄清。这些类别说明重构的依据，并不分别对应某个步骤。</a:t>
            </a:r>
            <a:endParaRPr sz="1200"/>
          </a:p>
          <a:p>
            <a:pPr>
              <a:defRPr/>
            </a:pPr>
            <a:endParaRPr/>
          </a:p>
          <a:p>
            <a:pPr>
              <a:defRPr/>
            </a:pPr>
            <a:r>
              <a:rPr/>
              <a:t>[Sources]</a:t>
            </a:r>
            <a:endParaRPr/>
          </a:p>
          <a:p>
            <a:pPr>
              <a:defRPr/>
            </a:pPr>
            <a:r>
              <a:rPr/>
              <a:t>- thesis/chapters/algorithm.tex</a:t>
            </a:r>
            <a:endParaRPr/>
          </a:p>
          <a:p>
            <a:pPr>
              <a:defRPr/>
            </a:pPr>
            <a:r>
              <a:rPr/>
              <a:t>- thesis/chapters/implementation.tex</a:t>
            </a:r>
            <a:endParaRPr/>
          </a:p>
          <a:p>
            <a:pPr>
              <a:defRPr/>
            </a:pPr>
            <a:r>
              <a:rPr/>
              <a:t>- Fung et al. (1990), doi:10.1016/0020-0190(90)90111-A</a:t>
            </a:r>
            <a:endParaRPr/>
          </a:p>
        </p:txBody>
      </p:sp>
      <p:sp>
        <p:nvSpPr>
          <p:cNvPr id="49242392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5879717" name="Slide Image Placeholder 1"/>
          <p:cNvSpPr>
            <a:spLocks noGrp="1"/>
          </p:cNvSpPr>
          <p:nvPr>
            <p:ph type="sldImg" idx="0"/>
          </p:nvPr>
        </p:nvSpPr>
        <p:spPr bwMode="auto"/>
      </p:sp>
      <p:sp>
        <p:nvSpPr>
          <p:cNvPr id="1540490475" name="Notes Placeholder 2"/>
          <p:cNvSpPr>
            <a:spLocks noGrp="1"/>
          </p:cNvSpPr>
          <p:nvPr>
            <p:ph type="body" idx="1"/>
          </p:nvPr>
        </p:nvSpPr>
        <p:spPr bwMode="auto"/>
        <p:txBody>
          <a:bodyPr/>
          <a:lstStyle/>
          <a:p xmlns:a="http://schemas.openxmlformats.org/drawingml/2006/main">
            <a:pPr>
              <a:defRPr/>
            </a:pPr>
            <a:r>
              <a:t>Take the input three, two, one, four. After initialization, the sorted list is one, two, three. The point labels still follow curve order.</a:t>
            </a:r>
          </a:p>
          <a:p xmlns:a="http://schemas.openxmlformats.org/drawingml/2006/main">
            <a:pPr>
              <a:defRPr/>
            </a:pPr>
            <a:r>
              <a:t>We now insert the fourth point, four. After Step three B, the new upper pair P four, with endpoints one and four, has one child: P two, stored as three, two.</a:t>
            </a:r>
          </a:p>
          <a:p xmlns:a="http://schemas.openxmlformats.org/drawingml/2006/main">
            <a:pPr>
              <a:defRPr/>
            </a:pPr>
            <a:r>
              <a:t>This update goes from one to four, so it is increasing. The child’s interval, from two to three, lies inside the new interval, from one to four. Four must therefore come after both child endpoints. The child’s right boundary is three, so three is our anchor.</a:t>
            </a:r>
          </a:p>
          <a:p xmlns:a="http://schemas.openxmlformats.org/drawingml/2006/main">
            <a:pPr>
              <a:defRPr/>
            </a:pPr>
            <a:r>
              <a:t>Inserting four immediately after two would put it between the child endpoints, giving one, two, four, three. Inserting it after three gives one, two, three, four.</a:t>
            </a:r>
          </a:p>
          <a:p xmlns:a="http://schemas.openxmlformats.org/drawingml/2006/main">
            <a:pPr>
              <a:defRPr/>
            </a:pPr>
            <a:r>
              <a:t>We could also store the endpoints from left to right, provided we keep their curve-order identities. The mistake is treating the second curve-order endpoint as the right endpoint.</a:t>
            </a:r>
          </a:p>
          <a:p xmlns:a="http://schemas.openxmlformats.org/drawingml/2006/main">
            <a:pPr>
              <a:defRPr/>
            </a:pPr>
            <a:r>
              <a:t>I record this as an executable clarification, not a verbatim rule from the 1990 paper.</a:t>
            </a:r>
          </a:p>
          <a:p>
            <a:pPr>
              <a:defRPr/>
            </a:pPr>
            <a:r>
              <a:rPr/>
              <a:t>中文参考</a:t>
            </a:r>
            <a:endParaRPr/>
          </a:p>
          <a:p xmlns:a="http://schemas.openxmlformats.org/drawingml/2006/main">
            <a:pPr>
              <a:defRPr/>
            </a:pPr>
            <a:r>
              <a:t>输入是 (3,2,1,4)。初始化后，有序列表是 [1,2,3]，但点的编号仍然按照曲线访问顺序保留。</a:t>
            </a:r>
          </a:p>
          <a:p xmlns:a="http://schemas.openxmlformats.org/drawingml/2006/main">
            <a:pPr>
              <a:defRPr/>
            </a:pPr>
            <a:r>
              <a:t>现在插入第四个点，也就是 4。Step 3(b) 完成后，新 upper pair P₄ 的端点是 (1,4)，它有一个 child：P₂，按曲线顺序存为 (3,2)。</a:t>
            </a:r>
          </a:p>
          <a:p xmlns:a="http://schemas.openxmlformats.org/drawingml/2006/main">
            <a:pPr>
              <a:defRPr/>
            </a:pPr>
            <a:r>
              <a:t>本次从 1 到 4，因此是 increasing。Child 的几何区间 [2,3] 位于新 pair 的区间 [1,4] 内。因此，4 必须排在 child 的两个端点之后。Child 的右边界是 3，所以我们选择 3 作为 anchor。</a:t>
            </a:r>
          </a:p>
          <a:p xmlns:a="http://schemas.openxmlformats.org/drawingml/2006/main">
            <a:pPr>
              <a:defRPr/>
            </a:pPr>
            <a:r>
              <a:t>如果把 4 紧挨着插在 2 后面，它就会落在列表中 child 的两个端点之间，得到 [1,2,4,3]。插在 3 后面，才得到 [1,2,3,4]。</a:t>
            </a:r>
          </a:p>
          <a:p xmlns:a="http://schemas.openxmlformats.org/drawingml/2006/main">
            <a:pPr>
              <a:defRPr/>
            </a:pPr>
            <a:r>
              <a:t>我们也可以把端点按从左到右的顺序存储，前提是保留它们的曲线身份信息。真正的错误，是把“曲线顺序中的第二个端点”当成“几何右端点”。</a:t>
            </a:r>
          </a:p>
          <a:p xmlns:a="http://schemas.openxmlformats.org/drawingml/2006/main">
            <a:pPr>
              <a:defRPr/>
            </a:pPr>
            <a:r>
              <a:t>我将这一明确选择记录为可执行化澄清，而不是 1990 年论文的逐字规则。</a:t>
            </a:r>
          </a:p>
          <a:p>
            <a:pPr>
              <a:defRPr/>
            </a:pPr>
            <a:r>
              <a:rPr/>
              <a:t>[Sources]</a:t>
            </a:r>
            <a:endParaRPr/>
          </a:p>
          <a:p>
            <a:pPr>
              <a:defRPr/>
            </a:pPr>
            <a:r>
              <a:rPr/>
              <a:t>- thesis/chapters/algorithm.tex</a:t>
            </a:r>
            <a:endParaRPr/>
          </a:p>
          <a:p>
            <a:pPr>
              <a:defRPr/>
            </a:pPr>
            <a:r>
              <a:rPr/>
              <a:t>- src/paper_jordan.py</a:t>
            </a:r>
            <a:endParaRPr/>
          </a:p>
          <a:p>
            <a:pPr>
              <a:defRPr/>
            </a:pPr>
            <a:endParaRPr/>
          </a:p>
        </p:txBody>
      </p:sp>
      <p:sp>
        <p:nvSpPr>
          <p:cNvPr id="57724851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19936" name="Slide Image Placeholder 1"/>
          <p:cNvSpPr>
            <a:spLocks noGrp="1"/>
          </p:cNvSpPr>
          <p:nvPr>
            <p:ph type="sldImg" idx="0"/>
          </p:nvPr>
        </p:nvSpPr>
        <p:spPr bwMode="auto"/>
      </p:sp>
      <p:sp>
        <p:nvSpPr>
          <p:cNvPr id="634255728" name="Notes Placeholder 2"/>
          <p:cNvSpPr>
            <a:spLocks noGrp="1"/>
          </p:cNvSpPr>
          <p:nvPr>
            <p:ph type="body" idx="1"/>
          </p:nvPr>
        </p:nvSpPr>
        <p:spPr bwMode="auto"/>
        <p:txBody>
          <a:bodyPr/>
          <a:lstStyle/>
          <a:p>
            <a:pPr>
              <a:defRPr/>
            </a:pPr>
            <a:r>
              <a:rPr/>
              <a:t>Here we insert zero at iteration seven. The odd index makes the new pair a lower pair. Since zero is less than seven, this iteration is decreasing. After Step three B, the new pair has children P three and P five, shown here. Step three C takes the left endpoint of the leftmost child, P three, with endpoints two and three. So the base anchor is two. However, z one, with value one, is not an endpoint of any lower pair. It is still in the sorted list. Inserting zero before two would leave zero after one. Here the index is odd, and zero is smaller than z one, which is smaller than the base anchor. We therefore change the anchor to z one. This changes only output insertion, not the earlier boundary-pair selection.</a:t>
            </a:r>
            <a:endParaRPr/>
          </a:p>
          <a:p>
            <a:pPr>
              <a:defRPr/>
            </a:pPr>
            <a:endParaRPr/>
          </a:p>
          <a:p>
            <a:pPr>
              <a:defRPr/>
            </a:pPr>
            <a:r>
              <a:rPr/>
              <a:t>中文参考</a:t>
            </a:r>
            <a:endParaRPr/>
          </a:p>
          <a:p>
            <a:pPr>
              <a:defRPr/>
            </a:pPr>
            <a:r>
              <a:rPr lang="en-US" sz="1200" b="0" i="0" u="none" strike="noStrike" cap="none" spc="0">
                <a:solidFill>
                  <a:srgbClr val="000000"/>
                </a:solidFill>
                <a:latin typeface="+mn-lt"/>
                <a:ea typeface="+mn-ea"/>
                <a:cs typeface="+mn-cs"/>
              </a:rPr>
              <a:t>这里在第 7 次迭代插入 0。结束下标为奇数，因此新 pair 属于 lower family；0 小于旧端点 7，因此本次为 decreasing。Step 3(b) 后，新 pair 获得图中的 P₃ 和 P₅。Step 3(c) 取最左 child P₃ 的几何左端点。P₃ 的端点为 2 和 3，所以 base anchor 是 2。但是 z₁ 的值为 1，它不是任何 lower pair 的端点，却仍在有序列表中。若直接把 0 插在 2 前，会让 0 留在 1 后面。本例下标为奇数，且 0 小于 z₁，z₁ 又小于 base anchor，因此最终 anchor 改为 z₁。这只改变输出插入，不替代先前的 boundary-pair selection。</a:t>
            </a:r>
            <a:endParaRPr/>
          </a:p>
          <a:p>
            <a:pPr>
              <a:defRPr/>
            </a:pPr>
            <a:endParaRPr lang="en-US" sz="1200" b="0" i="0" u="none" strike="noStrike" cap="none" spc="0">
              <a:solidFill>
                <a:srgbClr val="000000"/>
              </a:solidFill>
              <a:latin typeface="+mn-lt"/>
              <a:ea typeface="+mn-ea"/>
              <a:cs typeface="+mn-cs"/>
            </a:endParaRPr>
          </a:p>
          <a:p>
            <a:pPr>
              <a:defRPr/>
            </a:pPr>
            <a:r>
              <a:rPr/>
              <a:t>[Sources]</a:t>
            </a:r>
            <a:endParaRPr/>
          </a:p>
          <a:p>
            <a:pPr>
              <a:defRPr/>
            </a:pPr>
            <a:r>
              <a:rPr/>
              <a:t>- thesis/chapters/algorithm.tex</a:t>
            </a:r>
            <a:endParaRPr/>
          </a:p>
          <a:p>
            <a:pPr>
              <a:defRPr/>
            </a:pPr>
            <a:r>
              <a:rPr/>
              <a:t>- thesis/figures/step3c_anchor_z1_anomaly.pdf</a:t>
            </a:r>
            <a:endParaRPr/>
          </a:p>
          <a:p>
            <a:pPr>
              <a:defRPr/>
            </a:pPr>
            <a:r>
              <a:rPr/>
              <a:t>- Hoffmann et al. (1986), p. 175, doi:10.1016/S0019-9958(86)80033-X</a:t>
            </a:r>
            <a:endParaRPr/>
          </a:p>
        </p:txBody>
      </p:sp>
      <p:sp>
        <p:nvSpPr>
          <p:cNvPr id="172791193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7755170" name="Slide Image Placeholder 1"/>
          <p:cNvSpPr>
            <a:spLocks noGrp="1"/>
          </p:cNvSpPr>
          <p:nvPr>
            <p:ph type="sldImg" idx="0"/>
          </p:nvPr>
        </p:nvSpPr>
        <p:spPr bwMode="auto"/>
      </p:sp>
      <p:sp>
        <p:nvSpPr>
          <p:cNvPr id="101535263" name="Notes Placeholder 2"/>
          <p:cNvSpPr>
            <a:spLocks noGrp="1"/>
          </p:cNvSpPr>
          <p:nvPr>
            <p:ph type="body" idx="1"/>
          </p:nvPr>
        </p:nvSpPr>
        <p:spPr bwMode="auto"/>
        <p:txBody>
          <a:bodyPr/>
          <a:lstStyle/>
          <a:p>
            <a:pPr>
              <a:defRPr/>
            </a:pPr>
            <a:r>
              <a:rPr/>
              <a:t>Every finite pair has one parent and one sibling-list owner. Before a split, the existing owner controls both the retained and acquired segments. After a split, the original owner keeps the retained segment, while the new owner receives the acquired segment. Both nonempty sides may get new lists, but only the acquired segment changes parent. Split and transfer form one transaction: save the affected state, update it, then check the split boundary, ownership, and local postconditions. If a check fails, rollback restores the registry, ownership links, and list identifiers. The maintained state also contains the sorted processed prefix and both pair families. Ordinary lists incur scanning, copying, slicing, and ownership-rebinding costs. These correctness checks do not establish the update bounds required by the historical linear-time analysis.</a:t>
            </a:r>
            <a:endParaRPr/>
          </a:p>
          <a:p>
            <a:pPr>
              <a:defRPr/>
            </a:pPr>
            <a:endParaRPr/>
          </a:p>
          <a:p>
            <a:pPr>
              <a:defRPr/>
            </a:pPr>
            <a:r>
              <a:rPr lang="en-US" sz="1200" b="0" i="0" u="none" strike="noStrike" cap="none" spc="0">
                <a:solidFill>
                  <a:srgbClr val="000000"/>
                </a:solidFill>
                <a:latin typeface="+mn-lt"/>
                <a:ea typeface="+mn-ea"/>
                <a:cs typeface="+mn-cs"/>
              </a:rPr>
              <a:t>每个有限 pair 只有一个 parent 和一个 sibling-list owner。拆分前，原 owner 控制 retained 和 acquired 两部分。拆分后，原 owner 保留 retained segment，新 owner 接收 acquired segment。两个非空侧都可能得到新 list，但只有 acquired segment 改变 parent。Split 和 transfer 构成一个 transaction：保存受影响状态，执行更新，再检查 split boundary、ownership 和局部后置条件。若检查失败，rollback 恢复 registry、ownership link 和 list ID。维护状态还包括已处理前缀的排序结果，以及两类 pair family。普通列表会产生扫描、复制、切片和 ownership rebinding 成本。这些正确性检查不能建立历史线性时间分析所需的更新界。</a:t>
            </a:r>
            <a:endParaRPr/>
          </a:p>
        </p:txBody>
      </p:sp>
      <p:sp>
        <p:nvSpPr>
          <p:cNvPr id="67233744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6585373" name="Slide Image Placeholder 1"/>
          <p:cNvSpPr>
            <a:spLocks noGrp="1"/>
          </p:cNvSpPr>
          <p:nvPr>
            <p:ph type="sldImg" idx="0"/>
          </p:nvPr>
        </p:nvSpPr>
        <p:spPr bwMode="auto"/>
      </p:sp>
      <p:sp>
        <p:nvSpPr>
          <p:cNvPr id="1811989554" name="Notes Placeholder 2"/>
          <p:cNvSpPr>
            <a:spLocks noGrp="1"/>
          </p:cNvSpPr>
          <p:nvPr>
            <p:ph type="body" idx="1"/>
          </p:nvPr>
        </p:nvSpPr>
        <p:spPr bwMode="auto"/>
        <p:txBody>
          <a:bodyPr/>
          <a:lstStyle/>
          <a:p>
            <a:pPr>
              <a:defRPr/>
            </a:pPr>
            <a:r>
              <a:rPr/>
              <a:t>Focused regression cases cover known edge conditions. Bounded exhaustive validation covers all 2,074 oracle-valid permutations up to size eight. Checked-state audits inspect parent links, ownership, sibling lists, and recovered output. Deterministic replay compares states from repeated runs of the same core; it is not a second independent implementation. Replay checks whether the same procedure gives a consistent state. Separate experiment checks compare saved outputs with the fixed setup and recomputed summaries. Backup C gives the details. This finite evidence supports the evaluated cases, but is not a mathematical proof for every Jordan sequence.</a:t>
            </a:r>
            <a:endParaRPr/>
          </a:p>
          <a:p>
            <a:pPr>
              <a:defRPr/>
            </a:pPr>
            <a:endParaRPr/>
          </a:p>
          <a:p>
            <a:pPr>
              <a:defRPr/>
            </a:pPr>
            <a:r>
              <a:rPr lang="en-US" sz="1200" b="0" i="0" u="none" strike="noStrike" cap="none" spc="0">
                <a:solidFill>
                  <a:srgbClr val="000000"/>
                </a:solidFill>
                <a:latin typeface="+mn-lt"/>
                <a:ea typeface="+mn-ea"/>
                <a:cs typeface="+mn-cs"/>
              </a:rPr>
              <a:t>Focused regression case 覆盖已知边界条件。有界穷举验证覆盖 n 不超过 8 的全部 2,074 个 oracle-valid permutation。Checked-state audit 检查 parent link、ownership、sibling list 与恢复输出。确定性重放比较同一 core 多次运行后的状态，并不是第二套独立实现。重放检查的是同一过程是否得到一致状态。另有实验检查，将保存的输出与固定设置及重算汇总比较，详情见 Backup C。这些有限证据支持已评估用例，但不是对所有 Jordan sequence 的数学证明。</a:t>
            </a:r>
            <a:endParaRPr/>
          </a:p>
        </p:txBody>
      </p:sp>
      <p:sp>
        <p:nvSpPr>
          <p:cNvPr id="190971796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5960533" name="Slide Image Placeholder 1"/>
          <p:cNvSpPr>
            <a:spLocks noGrp="1"/>
          </p:cNvSpPr>
          <p:nvPr>
            <p:ph type="sldImg" idx="0"/>
          </p:nvPr>
        </p:nvSpPr>
        <p:spPr bwMode="auto"/>
      </p:sp>
      <p:sp>
        <p:nvSpPr>
          <p:cNvPr id="1012293317" name="Notes Placeholder 2"/>
          <p:cNvSpPr>
            <a:spLocks noGrp="1"/>
          </p:cNvSpPr>
          <p:nvPr>
            <p:ph type="body" idx="1"/>
          </p:nvPr>
        </p:nvSpPr>
        <p:spPr bwMode="auto"/>
        <p:txBody>
          <a:bodyPr/>
          <a:lstStyle/>
          <a:p>
            <a:pPr>
              <a:defRPr/>
            </a:pPr>
            <a:r>
              <a:rPr/>
              <a:t>The experiment uses five sizes, twelve exact cases per size, and three algorithms. Each case-algorithm cell has five warm-up calls and twenty measured calls, giving 3,600 measured rows. The twenty calls repeat one exact case; they are not twenty independent inputs. Each call receives a fresh list with the same values. Algorithm positions rotate so that one method does not always run first. Paper certification and the checked-state audit happen before timing. Paper timing includes the minimal core call and output recovery from maintained order. Output comparison follows timing. Python timing covers its sorting call; reference timing covers the complete oracle-backed pipeline. These are three different timing scopes.</a:t>
            </a:r>
            <a:endParaRPr/>
          </a:p>
          <a:p>
            <a:pPr>
              <a:defRPr/>
            </a:pPr>
            <a:endParaRPr/>
          </a:p>
          <a:p>
            <a:pPr>
              <a:defRPr/>
            </a:pPr>
            <a:r>
              <a:rPr lang="en-US" sz="1200" b="0" i="0" u="none" strike="noStrike" cap="none" spc="0">
                <a:solidFill>
                  <a:srgbClr val="000000"/>
                </a:solidFill>
                <a:latin typeface="+mn-lt"/>
                <a:ea typeface="+mn-ea"/>
                <a:cs typeface="+mn-cs"/>
              </a:rPr>
              <a:t>实验使用 5 个规模，每个规模 12 个 exact case，并比较 3 个算法。每个 case-algorithm cell 包含 5 次 warm-up 和 20 次 measured call，共得到 3,600 条测量记录。这 20 次调用重复同一个 exact case，并非 20 个独立输入。每次调用获得包含相同值的 fresh list。算法位置轮转，避免某个算法总是先运行。Paper 的认证与 checked-state audit 在计时前完成。Paper 计时包含 minimal core call，以及从维护顺序恢复输出。输出比较发生在计时后。Python 计时覆盖排序调用；reference 计时覆盖完整的 oracle-backed pipeline。这是三种不同的计时范围。</a:t>
            </a:r>
            <a:endParaRPr/>
          </a:p>
        </p:txBody>
      </p:sp>
      <p:sp>
        <p:nvSpPr>
          <p:cNvPr id="119735868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4195434" name="Slide Image Placeholder 1"/>
          <p:cNvSpPr>
            <a:spLocks noGrp="1"/>
          </p:cNvSpPr>
          <p:nvPr>
            <p:ph type="sldImg" idx="0"/>
          </p:nvPr>
        </p:nvSpPr>
        <p:spPr bwMode="auto"/>
      </p:sp>
      <p:sp>
        <p:nvSpPr>
          <p:cNvPr id="1773776805" name="Notes Placeholder 2"/>
          <p:cNvSpPr>
            <a:spLocks noGrp="1"/>
          </p:cNvSpPr>
          <p:nvPr>
            <p:ph type="body" idx="1"/>
          </p:nvPr>
        </p:nvSpPr>
        <p:spPr bwMode="auto"/>
        <p:txBody>
          <a:bodyPr/>
          <a:lstStyle/>
          <a:p>
            <a:pPr>
              <a:defRPr/>
            </a:pPr>
            <a:r>
              <a:rPr/>
              <a:t>All 60 cases passed certification and one checked-state audit each. Every measured call returned the expected output, with no recorded correctness errors. The 3,600 measured rows carry their case-level audit results; they do not represent 3,600 independent audits. These results cover the tested valid cases only.</a:t>
            </a:r>
            <a:endParaRPr/>
          </a:p>
          <a:p>
            <a:pPr>
              <a:defRPr/>
            </a:pPr>
            <a:endParaRPr/>
          </a:p>
          <a:p>
            <a:pPr>
              <a:defRPr/>
            </a:pPr>
            <a:r>
              <a:rPr lang="en-US" sz="1200" b="0" i="0" u="none" strike="noStrike" cap="none" spc="0">
                <a:solidFill>
                  <a:srgbClr val="000000"/>
                </a:solidFill>
                <a:latin typeface="+mn-lt"/>
                <a:ea typeface="+mn-ea"/>
                <a:cs typeface="+mn-cs"/>
              </a:rPr>
              <a:t>全部 60 个 case 均通过认证，并各通过一次 checked-state audit。每次 measured call 都返回 expected output，没有记录正确性错误。3,600 条测量记录携带各自的 case-level audit 结果，不代表进行了 3,600 次独立 audit。这些结果仅覆盖本次测试的有效用例。</a:t>
            </a:r>
            <a:endParaRPr/>
          </a:p>
        </p:txBody>
      </p:sp>
      <p:sp>
        <p:nvSpPr>
          <p:cNvPr id="206097509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9446545" name="Slide Image Placeholder 1"/>
          <p:cNvSpPr>
            <a:spLocks noGrp="1"/>
          </p:cNvSpPr>
          <p:nvPr>
            <p:ph type="sldImg" idx="0"/>
          </p:nvPr>
        </p:nvSpPr>
        <p:spPr bwMode="auto"/>
      </p:sp>
      <p:sp>
        <p:nvSpPr>
          <p:cNvPr id="545759804" name="Notes Placeholder 2"/>
          <p:cNvSpPr>
            <a:spLocks noGrp="1"/>
          </p:cNvSpPr>
          <p:nvPr>
            <p:ph type="body" idx="1"/>
          </p:nvPr>
        </p:nvSpPr>
        <p:spPr bwMode="auto"/>
        <p:txBody>
          <a:bodyPr/>
          <a:lstStyle/>
          <a:p>
            <a:pPr>
              <a:defRPr/>
            </a:pPr>
            <a:r>
              <a:rPr/>
              <a:t>For each case, I divide the median paper time by the median reference time. I then take the median of these ratios for each size. The ratios are 3.226 at n equals 32, 2.202 at 64, 1.351 at 128, 0.851 at 256, and 0.567 at 512. Thus, the ratio is above one at 128 and below one at 256. Paper calls take less time at the two larger sizes under these scopes. Since the scopes differ, this does not establish an end-to-end speedup. Python sort has the lowest median call time at every tested size, as shown in Backup A.</a:t>
            </a:r>
            <a:endParaRPr/>
          </a:p>
          <a:p>
            <a:pPr>
              <a:defRPr/>
            </a:pPr>
            <a:endParaRPr/>
          </a:p>
          <a:p>
            <a:pPr>
              <a:defRPr/>
            </a:pPr>
            <a:r>
              <a:rPr lang="en-US" sz="1200" b="0" i="0" u="none" strike="noStrike" cap="none" spc="0">
                <a:solidFill>
                  <a:srgbClr val="000000"/>
                </a:solidFill>
                <a:latin typeface="+mn-lt"/>
                <a:ea typeface="+mn-ea"/>
                <a:cs typeface="+mn-cs"/>
              </a:rPr>
              <a:t>对每个 case，我用 paper 调用时间的中位数除以 reference 调用时间的中位数。然后对每个规模下的这些比值取中位数。比值在 n 为 32 时是 3.226，64 时是 2.202，128 时是 1.351，256 时是 0.851，512 时是 0.567。因此，128 时比值大于 1，256 时小于 1。在这些计时范围下，两个较大规模的 paper 调用耗时更少。由于计时范围不同，这不能证明端到端加速。Python sort 在每个测试规模上都有最低的调用时间中位数，见 Backup A。</a:t>
            </a:r>
            <a:endParaRPr sz="1200"/>
          </a:p>
          <a:p>
            <a:pPr>
              <a:defRPr/>
            </a:pPr>
            <a:endParaRPr/>
          </a:p>
        </p:txBody>
      </p:sp>
      <p:sp>
        <p:nvSpPr>
          <p:cNvPr id="44897855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9719121" name="Slide Image Placeholder 1"/>
          <p:cNvSpPr>
            <a:spLocks noGrp="1"/>
          </p:cNvSpPr>
          <p:nvPr>
            <p:ph type="sldImg" idx="0"/>
          </p:nvPr>
        </p:nvSpPr>
        <p:spPr bwMode="auto"/>
      </p:sp>
      <p:sp>
        <p:nvSpPr>
          <p:cNvPr id="2069906056" name="Notes Placeholder 2"/>
          <p:cNvSpPr>
            <a:spLocks noGrp="1"/>
          </p:cNvSpPr>
          <p:nvPr>
            <p:ph type="body" idx="1"/>
          </p:nvPr>
        </p:nvSpPr>
        <p:spPr bwMode="auto"/>
        <p:txBody>
          <a:bodyPr/>
          <a:lstStyle/>
          <a:p>
            <a:pPr>
              <a:defRPr/>
            </a:pPr>
            <a:r>
              <a:rPr/>
              <a:t>The evidence supports an executable ordinary-list reconstruction that recovers output from maintained state, with correct results on the evaluated cases. The runtime trend describes this implementation under the stated timing scopes. Ordinary lists do not establish a linear-time implementation, and five tested sizes do not establish asymptotic complexity. Recognition was not evaluated.</a:t>
            </a:r>
            <a:endParaRPr/>
          </a:p>
          <a:p>
            <a:pPr>
              <a:defRPr/>
            </a:pPr>
            <a:endParaRPr/>
          </a:p>
          <a:p>
            <a:pPr>
              <a:defRPr/>
            </a:pPr>
            <a:r>
              <a:rPr lang="en-US" sz="1200" b="0" i="0" u="none" strike="noStrike" cap="none" spc="0">
                <a:solidFill>
                  <a:srgbClr val="000000"/>
                </a:solidFill>
                <a:latin typeface="+mn-lt"/>
                <a:ea typeface="+mn-ea"/>
                <a:cs typeface="+mn-cs"/>
              </a:rPr>
              <a:t>当前证据支持一个从维护状态恢复输出的可执行普通列表重构，并在已评估用例上得到正确结果。运行时间趋势描述的是当前实现及其计时范围。普通列表不构成线性时间实现，五个测试规模也不能确定渐近复杂度。本实验没有评估 recognition。</a:t>
            </a:r>
            <a:endParaRPr/>
          </a:p>
        </p:txBody>
      </p:sp>
      <p:sp>
        <p:nvSpPr>
          <p:cNvPr id="85697232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8302076" name="Slide Image Placeholder 1"/>
          <p:cNvSpPr>
            <a:spLocks noGrp="1"/>
          </p:cNvSpPr>
          <p:nvPr>
            <p:ph type="sldImg" idx="0"/>
          </p:nvPr>
        </p:nvSpPr>
        <p:spPr bwMode="auto"/>
      </p:sp>
      <p:sp>
        <p:nvSpPr>
          <p:cNvPr id="1835562696" name="Notes Placeholder 2"/>
          <p:cNvSpPr>
            <a:spLocks noGrp="1"/>
          </p:cNvSpPr>
          <p:nvPr>
            <p:ph type="body" idx="1"/>
          </p:nvPr>
        </p:nvSpPr>
        <p:spPr bwMode="auto"/>
        <p:txBody>
          <a:bodyPr/>
          <a:lstStyle/>
          <a:p>
            <a:pPr>
              <a:defRPr/>
            </a:pPr>
            <a:r>
              <a:rPr/>
              <a:t>A finger-tree backend is a possible future extension, outside the current experimental evidence. It would keep the same Step 1, Step 2, and Step 3 behavior. The ordinary-list implementation provides a tested reference point for checking the behavior of a new backend. Backup E explains the interface and ownership-transfer difficulty. I would like guidance on two questions. Should I target the historical heterogeneous finger tree, or an equivalent backend supporting the required list operations? Is a tested, semantically equivalent prototype enough, or should I also prove the required amortized operation bounds?</a:t>
            </a:r>
            <a:endParaRPr/>
          </a:p>
          <a:p>
            <a:pPr>
              <a:defRPr/>
            </a:pPr>
            <a:endParaRPr/>
          </a:p>
          <a:p>
            <a:pPr>
              <a:defRPr/>
            </a:pPr>
            <a:r>
              <a:rPr lang="en-US" sz="1200" b="0" i="0" u="none" strike="noStrike" cap="none" spc="0">
                <a:solidFill>
                  <a:srgbClr val="000000"/>
                </a:solidFill>
                <a:latin typeface="+mn-lt"/>
                <a:ea typeface="+mn-ea"/>
                <a:cs typeface="+mn-cs"/>
              </a:rPr>
              <a:t>Finger-tree 后端是可能的未来扩展，不属于当前实验证据。它将保持相同的 Step 1、Step 2 和 Step 3 行为。普通列表实现为检查新后端的行为提供了经过测试的参照点。Backup E 说明接口及 ownership-transfer 难点。我希望向导师确认两个问题：应实现历史 heterogeneous finger tree，还是支持所需列表操作的等价后端？一个经过测试、语义等价的原型是否足够，还是还应证明所需的摊还操作界？</a:t>
            </a:r>
            <a:endParaRPr/>
          </a:p>
        </p:txBody>
      </p:sp>
      <p:sp>
        <p:nvSpPr>
          <p:cNvPr id="109701680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2976929" name="Slide Image Placeholder 1"/>
          <p:cNvSpPr>
            <a:spLocks noGrp="1"/>
          </p:cNvSpPr>
          <p:nvPr>
            <p:ph type="sldImg" idx="0"/>
          </p:nvPr>
        </p:nvSpPr>
        <p:spPr bwMode="auto"/>
      </p:sp>
      <p:sp>
        <p:nvSpPr>
          <p:cNvPr id="336949490" name="Notes Placeholder 2"/>
          <p:cNvSpPr>
            <a:spLocks noGrp="1"/>
          </p:cNvSpPr>
          <p:nvPr>
            <p:ph type="body" idx="1"/>
          </p:nvPr>
        </p:nvSpPr>
        <p:spPr bwMode="auto"/>
        <p:txBody>
          <a:bodyPr/>
          <a:lstStyle/>
          <a:p>
            <a:pPr>
              <a:defRPr/>
            </a:pPr>
            <a:r>
              <a:rPr/>
              <a:t>If exact runtimes are requested, this backup slide reports the median call times for all three algorithms. The values belong to one recorded Apple M4 and CPython 3.12.4 execution. The logarithmic scale makes the Python values visible beside the reference and paper values. These absolute times should not be generalized to other environments.</a:t>
            </a:r>
            <a:endParaRPr/>
          </a:p>
          <a:p>
            <a:pPr>
              <a:defRPr/>
            </a:pPr>
            <a:endParaRPr/>
          </a:p>
          <a:p>
            <a:pPr>
              <a:defRPr/>
            </a:pPr>
            <a:r>
              <a:rPr/>
              <a:t>[Sources]</a:t>
            </a:r>
            <a:endParaRPr/>
          </a:p>
          <a:p>
            <a:pPr>
              <a:defRPr/>
            </a:pPr>
            <a:r>
              <a:rPr/>
              <a:t>- thesis/chapters/results.tex</a:t>
            </a:r>
            <a:endParaRPr/>
          </a:p>
          <a:p>
            <a:pPr>
              <a:defRPr/>
            </a:pPr>
            <a:r>
              <a:rPr/>
              <a:t>- results/runs/week12_formal_sorting_v1__run001/case_summary.csv</a:t>
            </a:r>
            <a:endParaRPr/>
          </a:p>
        </p:txBody>
      </p:sp>
      <p:sp>
        <p:nvSpPr>
          <p:cNvPr id="38107690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7106378" name="Slide Image Placeholder 1"/>
          <p:cNvSpPr>
            <a:spLocks noGrp="1"/>
          </p:cNvSpPr>
          <p:nvPr>
            <p:ph type="sldImg" idx="0"/>
          </p:nvPr>
        </p:nvSpPr>
        <p:spPr bwMode="auto"/>
      </p:sp>
      <p:sp>
        <p:nvSpPr>
          <p:cNvPr id="1132741899" name="Notes Placeholder 2"/>
          <p:cNvSpPr>
            <a:spLocks noGrp="1"/>
          </p:cNvSpPr>
          <p:nvPr>
            <p:ph type="body" idx="1"/>
          </p:nvPr>
        </p:nvSpPr>
        <p:spPr bwMode="auto"/>
        <p:txBody>
          <a:bodyPr/>
          <a:lstStyle/>
          <a:p>
            <a:pPr>
              <a:defRPr/>
            </a:pPr>
            <a:r>
              <a:rPr/>
              <a:t>This slide answers the output-provenance question directly. The reference pipeline returns oracle_result sorted. The paper core returns state.partial_order.to_list. Certification precedes the paper call and comparison follows it, so neither operation supplies the paper core's return value.</a:t>
            </a:r>
            <a:endParaRPr/>
          </a:p>
          <a:p>
            <a:pPr>
              <a:defRPr/>
            </a:pPr>
            <a:endParaRPr/>
          </a:p>
          <a:p>
            <a:pPr>
              <a:defRPr/>
            </a:pPr>
            <a:r>
              <a:rPr/>
              <a:t>[Sources]</a:t>
            </a:r>
            <a:endParaRPr/>
          </a:p>
          <a:p>
            <a:pPr>
              <a:defRPr/>
            </a:pPr>
            <a:r>
              <a:rPr/>
              <a:t>- thesis/chapters/implementation.tex</a:t>
            </a:r>
            <a:endParaRPr/>
          </a:p>
          <a:p>
            <a:pPr>
              <a:defRPr/>
            </a:pPr>
            <a:r>
              <a:rPr/>
              <a:t>- src/paper_jordan.py</a:t>
            </a:r>
            <a:endParaRPr/>
          </a:p>
          <a:p>
            <a:pPr>
              <a:defRPr/>
            </a:pPr>
            <a:r>
              <a:rPr/>
              <a:t>- src/simplified_jordan.py</a:t>
            </a:r>
            <a:endParaRPr/>
          </a:p>
        </p:txBody>
      </p:sp>
      <p:sp>
        <p:nvSpPr>
          <p:cNvPr id="46321497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7385047" name="Slide Image Placeholder 1"/>
          <p:cNvSpPr>
            <a:spLocks noGrp="1"/>
          </p:cNvSpPr>
          <p:nvPr>
            <p:ph type="sldImg" idx="0"/>
          </p:nvPr>
        </p:nvSpPr>
        <p:spPr bwMode="auto"/>
      </p:sp>
      <p:sp>
        <p:nvSpPr>
          <p:cNvPr id="1886698140" name="Notes Placeholder 2"/>
          <p:cNvSpPr>
            <a:spLocks noGrp="1"/>
          </p:cNvSpPr>
          <p:nvPr>
            <p:ph type="body" idx="1"/>
          </p:nvPr>
        </p:nvSpPr>
        <p:spPr bwMode="auto"/>
        <p:txBody>
          <a:bodyPr/>
          <a:lstStyle/>
          <a:p>
            <a:pPr>
              <a:defRPr/>
            </a:pPr>
            <a:r>
              <a:rPr/>
              <a:t>This inventory summarizes the bounded validation evidence: repository tests, exhaustive valid permutations through size eight, fixed generated cases, formal case-level checked-state audits, and a formal evidence archive that passed evidence-contract validation. These checks are complementary; none is a universal proof.</a:t>
            </a:r>
            <a:endParaRPr/>
          </a:p>
          <a:p>
            <a:pPr>
              <a:defRPr/>
            </a:pPr>
            <a:endParaRPr/>
          </a:p>
          <a:p>
            <a:pPr>
              <a:defRPr/>
            </a:pPr>
            <a:r>
              <a:rPr/>
              <a:t>[Sources]</a:t>
            </a:r>
            <a:endParaRPr/>
          </a:p>
          <a:p>
            <a:pPr>
              <a:defRPr/>
            </a:pPr>
            <a:r>
              <a:rPr/>
              <a:t>- docs/thesis/latex_final_audit.md</a:t>
            </a:r>
            <a:endParaRPr/>
          </a:p>
          <a:p>
            <a:pPr>
              <a:defRPr/>
            </a:pPr>
            <a:r>
              <a:rPr/>
              <a:t>- experiments/validate_paper_algorithm.py</a:t>
            </a:r>
            <a:endParaRPr/>
          </a:p>
          <a:p>
            <a:pPr>
              <a:defRPr/>
            </a:pPr>
            <a:r>
              <a:rPr/>
              <a:t>- results/runs/week12_formal_sorting_v1__run001/validation_report.json</a:t>
            </a:r>
            <a:endParaRPr/>
          </a:p>
        </p:txBody>
      </p:sp>
      <p:sp>
        <p:nvSpPr>
          <p:cNvPr id="21471394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8559664" name="Slide Image Placeholder 1"/>
          <p:cNvSpPr>
            <a:spLocks noGrp="1"/>
          </p:cNvSpPr>
          <p:nvPr>
            <p:ph type="sldImg" idx="0"/>
          </p:nvPr>
        </p:nvSpPr>
        <p:spPr bwMode="auto"/>
      </p:sp>
      <p:sp>
        <p:nvSpPr>
          <p:cNvPr id="568182926" name="Notes Placeholder 2"/>
          <p:cNvSpPr>
            <a:spLocks noGrp="1"/>
          </p:cNvSpPr>
          <p:nvPr>
            <p:ph type="body" idx="1"/>
          </p:nvPr>
        </p:nvSpPr>
        <p:spPr bwMode="auto"/>
        <p:txBody>
          <a:bodyPr/>
          <a:lstStyle/>
          <a:p>
            <a:pPr>
              <a:defRPr/>
            </a:pPr>
            <a:r>
              <a:rPr/>
              <a:t>This table summarizes the reflected local choices. Step 1 always selects the predecessor-side boundary A-i, and Step 2 always selects the successor-side boundary B-i. Step 3 reflects how those boundaries are used. Increasing iterations acquire the left split side and use the rightmost child and right endpoint; decreasing iterations mirror those choices.</a:t>
            </a:r>
            <a:endParaRPr/>
          </a:p>
          <a:p>
            <a:pPr>
              <a:defRPr/>
            </a:pPr>
            <a:endParaRPr/>
          </a:p>
          <a:p>
            <a:pPr>
              <a:defRPr/>
            </a:pPr>
            <a:r>
              <a:rPr/>
              <a:t>[Sources]</a:t>
            </a:r>
            <a:endParaRPr/>
          </a:p>
          <a:p>
            <a:pPr>
              <a:defRPr/>
            </a:pPr>
            <a:r>
              <a:rPr/>
              <a:t>- thesis/chapters/algorithm.tex</a:t>
            </a:r>
            <a:endParaRPr/>
          </a:p>
          <a:p>
            <a:pPr>
              <a:defRPr/>
            </a:pPr>
            <a:r>
              <a:rPr/>
              <a:t>- thesis/chapters/implementation.tex</a:t>
            </a:r>
            <a:endParaRPr/>
          </a:p>
          <a:p>
            <a:pPr>
              <a:defRPr/>
            </a:pPr>
            <a:r>
              <a:rPr/>
              <a:t>- Fung et al. (1990), doi:10.1016/0020-0190(90)90111-A</a:t>
            </a:r>
            <a:endParaRPr/>
          </a:p>
        </p:txBody>
      </p:sp>
      <p:sp>
        <p:nvSpPr>
          <p:cNvPr id="47523266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8828051" name="Slide Image Placeholder 1"/>
          <p:cNvSpPr>
            <a:spLocks noGrp="1"/>
          </p:cNvSpPr>
          <p:nvPr>
            <p:ph type="sldImg" idx="0"/>
          </p:nvPr>
        </p:nvSpPr>
        <p:spPr bwMode="auto"/>
      </p:sp>
      <p:sp>
        <p:nvSpPr>
          <p:cNvPr id="998776955" name="Notes Placeholder 2"/>
          <p:cNvSpPr>
            <a:spLocks noGrp="1"/>
          </p:cNvSpPr>
          <p:nvPr>
            <p:ph type="body" idx="1"/>
          </p:nvPr>
        </p:nvSpPr>
        <p:spPr bwMode="auto"/>
        <p:txBody>
          <a:bodyPr/>
          <a:lstStyle/>
          <a:p>
            <a:pPr>
              <a:defRPr/>
            </a:pPr>
            <a:r>
              <a:rPr/>
              <a:t>This proposed boundary keeps the paper-facing Step 1, Step 2, and Step 3 control flow above a small sibling-list interface. The current ordinary-list backend remains the validated baseline. A finger-tree backend would be a separate implementation of the same semantic operations: singleton creation, boundary insertion, split, extreme-child access, ownership preservation, and stable handles. The exact data-structure target—either the historical heterogeneous finger tree or an equivalently efficient backend—remains to be agreed with the supervisor. The main risk is that efficient tree splitting is not enough by itself. If ownership transfer still scans the acquired segment and rebinds every item, the backend may not satisfy the operation bounds needed by the historical analysis. The first milestone is therefore semantic equivalence and differential correctness; any complexity claim requires a separate proof-level argument.</a:t>
            </a:r>
            <a:endParaRPr/>
          </a:p>
          <a:p>
            <a:pPr>
              <a:defRPr/>
            </a:pPr>
            <a:endParaRPr/>
          </a:p>
          <a:p>
            <a:pPr>
              <a:defRPr/>
            </a:pPr>
            <a:r>
              <a:rPr/>
              <a:t>[Sources]</a:t>
            </a:r>
            <a:endParaRPr/>
          </a:p>
          <a:p>
            <a:pPr>
              <a:defRPr/>
            </a:pPr>
            <a:r>
              <a:rPr/>
              <a:t>- thesis/chapters/implementation.tex</a:t>
            </a:r>
            <a:endParaRPr/>
          </a:p>
          <a:p>
            <a:pPr>
              <a:defRPr/>
            </a:pPr>
            <a:r>
              <a:rPr/>
              <a:t>- thesis/chapters/limitations.tex</a:t>
            </a:r>
            <a:endParaRPr/>
          </a:p>
          <a:p>
            <a:pPr>
              <a:defRPr/>
            </a:pPr>
            <a:r>
              <a:rPr/>
              <a:t>- Fung et al. (1990), doi:10.1016/0020-0190(90)90111-A</a:t>
            </a:r>
            <a:endParaRPr/>
          </a:p>
          <a:p>
            <a:pPr>
              <a:defRPr/>
            </a:pPr>
            <a:r>
              <a:rPr/>
              <a:t>- Supervisor feedback, September 2026</a:t>
            </a:r>
            <a:endParaRPr/>
          </a:p>
        </p:txBody>
      </p:sp>
      <p:sp>
        <p:nvSpPr>
          <p:cNvPr id="456869049"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1.xml" /></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02A43"/>
        </a:solidFill>
      </p:bgPr>
    </p:bg>
    <p:spTree>
      <p:nvGrpSpPr>
        <p:cNvPr id="1" name=""/>
        <p:cNvGrpSpPr/>
        <p:nvPr/>
      </p:nvGrpSpPr>
      <p:grpSpPr bwMode="auto">
        <a:xfrm>
          <a:off x="0" y="0"/>
          <a:ext cx="0" cy="0"/>
          <a:chOff x="0" y="0"/>
          <a:chExt cx="0" cy="0"/>
        </a:xfrm>
      </p:grpSpPr>
      <p:sp>
        <p:nvSpPr>
          <p:cNvPr id="1103715777" name=""/>
          <p:cNvSpPr>
            <a:spLocks noGrp="1"/>
          </p:cNvSpPr>
          <p:nvPr/>
        </p:nvSpPr>
        <p:spPr bwMode="auto">
          <a:xfrm>
            <a:off x="7239000" y="0"/>
            <a:ext cx="4953000" cy="6858000"/>
          </a:xfrm>
          <a:prstGeom prst="rect">
            <a:avLst/>
          </a:prstGeom>
          <a:solidFill>
            <a:srgbClr val="FFFFFF"/>
          </a:solidFill>
          <a:ln w="11430">
            <a:solidFill>
              <a:srgbClr val="FFFFFF"/>
            </a:solidFill>
            <a:prstDash val="solid"/>
          </a:ln>
        </p:spPr>
      </p:sp>
      <p:pic>
        <p:nvPicPr>
          <p:cNvPr id="2023656579" name=""/>
          <p:cNvPicPr>
            <a:picLocks noChangeAspect="1"/>
          </p:cNvPicPr>
          <p:nvPr/>
        </p:nvPicPr>
        <p:blipFill rotWithShape="1">
          <a:blip r:embed="rId3"/>
          <a:stretch/>
        </p:blipFill>
        <p:spPr bwMode="auto">
          <a:xfrm>
            <a:off x="7334250" y="1695818"/>
            <a:ext cx="4667250" cy="2666262"/>
          </a:xfrm>
          <a:prstGeom prst="rect">
            <a:avLst/>
          </a:prstGeom>
        </p:spPr>
      </p:pic>
      <p:sp>
        <p:nvSpPr>
          <p:cNvPr id="1673853858" name=""/>
          <p:cNvSpPr>
            <a:spLocks noGrp="1"/>
          </p:cNvSpPr>
          <p:nvPr/>
        </p:nvSpPr>
        <p:spPr bwMode="auto">
          <a:xfrm>
            <a:off x="685800" y="666750"/>
            <a:ext cx="5619750" cy="2667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050" b="1" i="0">
                <a:solidFill>
                  <a:srgbClr val="2A9D8F"/>
                </a:solidFill>
              </a:defRPr>
            </a:pPr>
            <a:r>
              <a:rPr sz="1050" b="1" i="0">
                <a:solidFill>
                  <a:srgbClr val="2A9D8F"/>
                </a:solidFill>
              </a:rPr>
              <a:t>MASTER'S THESIS PROGRESS REPORT</a:t>
            </a:r>
            <a:endParaRPr/>
          </a:p>
        </p:txBody>
      </p:sp>
      <p:sp>
        <p:nvSpPr>
          <p:cNvPr id="654182295" name=""/>
          <p:cNvSpPr>
            <a:spLocks noGrp="1"/>
          </p:cNvSpPr>
          <p:nvPr/>
        </p:nvSpPr>
        <p:spPr bwMode="auto">
          <a:xfrm>
            <a:off x="685800" y="1219200"/>
            <a:ext cx="5905500" cy="2476500"/>
          </a:xfrm>
          <a:prstGeom prst="rect">
            <a:avLst/>
          </a:prstGeom>
          <a:noFill/>
          <a:ln w="0">
            <a:noFill/>
            <a:prstDash val="solid"/>
          </a:ln>
        </p:spPr>
        <p:txBody>
          <a:bodyPr wrap="square" lIns="38100" tIns="19050" rIns="38100" bIns="19050" anchor="ctr">
            <a:normAutofit fontScale="100000"/>
          </a:bodyPr>
          <a:lstStyle/>
          <a:p>
            <a:pPr algn="l">
              <a:lnSpc>
                <a:spcPct val="92000"/>
              </a:lnSpc>
              <a:buNone/>
              <a:defRPr sz="3750" b="1" i="0">
                <a:solidFill>
                  <a:srgbClr val="FFFFFF"/>
                </a:solidFill>
              </a:defRPr>
            </a:pPr>
            <a:r>
              <a:rPr sz="3750" b="1" i="0">
                <a:solidFill>
                  <a:srgbClr val="FFFFFF"/>
                </a:solidFill>
              </a:rPr>
              <a:t>Progress on the Executable Reconstruction of Simplified Jordan Sorting</a:t>
            </a:r>
            <a:endParaRPr/>
          </a:p>
        </p:txBody>
      </p:sp>
      <p:sp>
        <p:nvSpPr>
          <p:cNvPr id="1707522599" name=""/>
          <p:cNvSpPr>
            <a:spLocks noGrp="1"/>
          </p:cNvSpPr>
          <p:nvPr/>
        </p:nvSpPr>
        <p:spPr bwMode="auto">
          <a:xfrm>
            <a:off x="723900" y="3857625"/>
            <a:ext cx="5334000" cy="6858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800" b="0" i="0">
                <a:solidFill>
                  <a:srgbClr val="D9EAF2"/>
                </a:solidFill>
              </a:defRPr>
            </a:pPr>
            <a:r>
              <a:rPr sz="1800" b="0" i="0">
                <a:solidFill>
                  <a:srgbClr val="D9EAF2"/>
                </a:solidFill>
              </a:rPr>
              <a:t>Implementation progress, validation, and initial experimental results</a:t>
            </a:r>
            <a:endParaRPr/>
          </a:p>
        </p:txBody>
      </p:sp>
      <p:sp>
        <p:nvSpPr>
          <p:cNvPr id="651792224" name=""/>
          <p:cNvSpPr>
            <a:spLocks noGrp="1"/>
          </p:cNvSpPr>
          <p:nvPr/>
        </p:nvSpPr>
        <p:spPr bwMode="auto">
          <a:xfrm>
            <a:off x="723900" y="4838700"/>
            <a:ext cx="1428750" cy="9525"/>
          </a:xfrm>
          <a:prstGeom prst="line">
            <a:avLst/>
          </a:prstGeom>
          <a:noFill/>
          <a:ln w="47625">
            <a:solidFill>
              <a:srgbClr val="E76F51"/>
            </a:solidFill>
            <a:prstDash val="solid"/>
          </a:ln>
        </p:spPr>
      </p:sp>
      <p:sp>
        <p:nvSpPr>
          <p:cNvPr id="1398502149" name=""/>
          <p:cNvSpPr>
            <a:spLocks noGrp="1"/>
          </p:cNvSpPr>
          <p:nvPr/>
        </p:nvSpPr>
        <p:spPr bwMode="auto">
          <a:xfrm>
            <a:off x="723900" y="5086350"/>
            <a:ext cx="5905500" cy="4000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00" b="0" i="0">
                <a:solidFill>
                  <a:srgbClr val="BCCCDC"/>
                </a:solidFill>
              </a:defRPr>
            </a:pPr>
            <a:r>
              <a:rPr sz="1300" b="0" i="0">
                <a:solidFill>
                  <a:srgbClr val="BCCCDC"/>
                </a:solidFill>
              </a:rPr>
              <a:t>Research Seminar  |  Freie Universität Berlin  |  September 2026</a:t>
            </a:r>
            <a:endParaRPr/>
          </a:p>
        </p:txBody>
      </p:sp>
      <p:sp>
        <p:nvSpPr>
          <p:cNvPr id="335623969" name=""/>
          <p:cNvSpPr>
            <a:spLocks noGrp="1"/>
          </p:cNvSpPr>
          <p:nvPr/>
        </p:nvSpPr>
        <p:spPr bwMode="auto">
          <a:xfrm>
            <a:off x="11010900" y="6477000"/>
            <a:ext cx="704850" cy="190500"/>
          </a:xfrm>
          <a:prstGeom prst="rect">
            <a:avLst/>
          </a:prstGeom>
          <a:noFill/>
          <a:ln w="0">
            <a:noFill/>
            <a:prstDash val="solid"/>
          </a:ln>
        </p:spPr>
        <p:txBody>
          <a:bodyPr wrap="square" lIns="38100" tIns="19050" rIns="38100" bIns="19050" anchor="t">
            <a:normAutofit fontScale="100000"/>
          </a:bodyPr>
          <a:lstStyle/>
          <a:p>
            <a:pPr algn="r">
              <a:lnSpc>
                <a:spcPct val="105000"/>
              </a:lnSpc>
              <a:buNone/>
              <a:defRPr sz="850" b="0" i="0">
                <a:solidFill>
                  <a:srgbClr val="7B8794"/>
                </a:solidFill>
              </a:defRPr>
            </a:pPr>
            <a:r>
              <a:rPr sz="850" b="0" i="0">
                <a:solidFill>
                  <a:srgbClr val="7B8794"/>
                </a:solidFill>
              </a:rPr>
              <a:t>1 / 16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335341868"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CONTEXT</a:t>
            </a:r>
            <a:endParaRPr/>
          </a:p>
        </p:txBody>
      </p:sp>
      <p:sp>
        <p:nvSpPr>
          <p:cNvPr id="884045055"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The previous report established a static structural baseline</a:t>
            </a:r>
            <a:endParaRPr/>
          </a:p>
        </p:txBody>
      </p:sp>
      <p:sp>
        <p:nvSpPr>
          <p:cNvPr id="1254684054" name=""/>
          <p:cNvSpPr>
            <a:spLocks noGrp="1"/>
          </p:cNvSpPr>
          <p:nvPr/>
        </p:nvSpPr>
        <p:spPr bwMode="auto">
          <a:xfrm>
            <a:off x="609600" y="1085850"/>
            <a:ext cx="10972800" cy="9525"/>
          </a:xfrm>
          <a:prstGeom prst="line">
            <a:avLst/>
          </a:prstGeom>
          <a:noFill/>
          <a:ln w="28575">
            <a:solidFill>
              <a:srgbClr val="2A9D8F"/>
            </a:solidFill>
            <a:prstDash val="solid"/>
          </a:ln>
        </p:spPr>
      </p:sp>
      <p:sp>
        <p:nvSpPr>
          <p:cNvPr id="1496170190" name=""/>
          <p:cNvSpPr>
            <a:spLocks noGrp="1"/>
          </p:cNvSpPr>
          <p:nvPr/>
        </p:nvSpPr>
        <p:spPr bwMode="auto">
          <a:xfrm>
            <a:off x="609600" y="6477000"/>
            <a:ext cx="10972800" cy="9525"/>
          </a:xfrm>
          <a:prstGeom prst="line">
            <a:avLst/>
          </a:prstGeom>
          <a:noFill/>
          <a:ln w="9525">
            <a:solidFill>
              <a:srgbClr val="D9E2EC"/>
            </a:solidFill>
            <a:prstDash val="solid"/>
          </a:ln>
        </p:spPr>
      </p:sp>
      <p:sp>
        <p:nvSpPr>
          <p:cNvPr id="782257540"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873501530"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2 / 16</a:t>
            </a:r>
            <a:endParaRPr/>
          </a:p>
        </p:txBody>
      </p:sp>
      <p:sp>
        <p:nvSpPr>
          <p:cNvPr id="1843412308" name=""/>
          <p:cNvSpPr>
            <a:spLocks noGrp="1"/>
          </p:cNvSpPr>
          <p:nvPr/>
        </p:nvSpPr>
        <p:spPr bwMode="auto">
          <a:xfrm>
            <a:off x="895350" y="1428750"/>
            <a:ext cx="3714750" cy="2857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150" b="1" i="0">
                <a:solidFill>
                  <a:srgbClr val="2A9D8F"/>
                </a:solidFill>
              </a:defRPr>
            </a:pPr>
            <a:r>
              <a:rPr sz="1150" b="1" i="0">
                <a:solidFill>
                  <a:srgbClr val="2A9D8F"/>
                </a:solidFill>
              </a:rPr>
              <a:t>PREVIOUS BASELINE</a:t>
            </a:r>
            <a:endParaRPr/>
          </a:p>
        </p:txBody>
      </p:sp>
      <p:sp>
        <p:nvSpPr>
          <p:cNvPr id="245343814" name=""/>
          <p:cNvSpPr>
            <a:spLocks noGrp="1"/>
          </p:cNvSpPr>
          <p:nvPr/>
        </p:nvSpPr>
        <p:spPr bwMode="auto">
          <a:xfrm>
            <a:off x="895350" y="1762125"/>
            <a:ext cx="3714750" cy="428625"/>
          </a:xfrm>
          <a:prstGeom prst="rect">
            <a:avLst/>
          </a:prstGeom>
          <a:noFill/>
          <a:ln w="0">
            <a:noFill/>
            <a:prstDash val="solid"/>
          </a:ln>
        </p:spPr>
        <p:txBody>
          <a:bodyPr wrap="square" lIns="38100" tIns="19050" rIns="38100" bIns="19050" anchor="t">
            <a:normAutofit fontScale="94383"/>
          </a:bodyPr>
          <a:lstStyle/>
          <a:p>
            <a:pPr algn="l">
              <a:lnSpc>
                <a:spcPct val="105000"/>
              </a:lnSpc>
              <a:buNone/>
              <a:defRPr sz="2050" b="1" i="0">
                <a:solidFill>
                  <a:srgbClr val="102A43"/>
                </a:solidFill>
              </a:defRPr>
            </a:pPr>
            <a:r>
              <a:rPr sz="2050" b="1" i="0">
                <a:solidFill>
                  <a:srgbClr val="102A43"/>
                </a:solidFill>
              </a:rPr>
              <a:t>Structural reference framework</a:t>
            </a:r>
            <a:endParaRPr/>
          </a:p>
        </p:txBody>
      </p:sp>
      <p:sp>
        <p:nvSpPr>
          <p:cNvPr id="56895560" name=""/>
          <p:cNvSpPr>
            <a:spLocks noGrp="1"/>
          </p:cNvSpPr>
          <p:nvPr/>
        </p:nvSpPr>
        <p:spPr bwMode="auto">
          <a:xfrm>
            <a:off x="971550" y="2457450"/>
            <a:ext cx="95250" cy="95250"/>
          </a:xfrm>
          <a:prstGeom prst="ellipse">
            <a:avLst/>
          </a:prstGeom>
          <a:solidFill>
            <a:srgbClr val="2A9D8F"/>
          </a:solidFill>
          <a:ln w="0">
            <a:solidFill>
              <a:srgbClr val="2A9D8F"/>
            </a:solidFill>
            <a:prstDash val="solid"/>
          </a:ln>
        </p:spPr>
      </p:sp>
      <p:sp>
        <p:nvSpPr>
          <p:cNvPr id="1823704510" name=""/>
          <p:cNvSpPr>
            <a:spLocks noGrp="1"/>
          </p:cNvSpPr>
          <p:nvPr/>
        </p:nvSpPr>
        <p:spPr bwMode="auto">
          <a:xfrm>
            <a:off x="1181099" y="2381250"/>
            <a:ext cx="3505199" cy="476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500" b="0" i="0">
                <a:solidFill>
                  <a:srgbClr val="243B53"/>
                </a:solidFill>
              </a:defRPr>
            </a:pPr>
            <a:r>
              <a:rPr sz="1500" b="0" i="0">
                <a:solidFill>
                  <a:srgbClr val="243B53"/>
                </a:solidFill>
              </a:rPr>
              <a:t>rank-interval abstraction</a:t>
            </a:r>
            <a:endParaRPr/>
          </a:p>
        </p:txBody>
      </p:sp>
      <p:sp>
        <p:nvSpPr>
          <p:cNvPr id="627378106" name=""/>
          <p:cNvSpPr>
            <a:spLocks noGrp="1"/>
          </p:cNvSpPr>
          <p:nvPr/>
        </p:nvSpPr>
        <p:spPr bwMode="auto">
          <a:xfrm>
            <a:off x="971550" y="2952750"/>
            <a:ext cx="95250" cy="95250"/>
          </a:xfrm>
          <a:prstGeom prst="ellipse">
            <a:avLst/>
          </a:prstGeom>
          <a:solidFill>
            <a:srgbClr val="2A9D8F"/>
          </a:solidFill>
          <a:ln w="0">
            <a:solidFill>
              <a:srgbClr val="2A9D8F"/>
            </a:solidFill>
            <a:prstDash val="solid"/>
          </a:ln>
        </p:spPr>
      </p:sp>
      <p:sp>
        <p:nvSpPr>
          <p:cNvPr id="1860973207" name=""/>
          <p:cNvSpPr>
            <a:spLocks noGrp="1"/>
          </p:cNvSpPr>
          <p:nvPr/>
        </p:nvSpPr>
        <p:spPr bwMode="auto">
          <a:xfrm>
            <a:off x="1181099" y="2876550"/>
            <a:ext cx="3505199" cy="476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500" b="0" i="0">
                <a:solidFill>
                  <a:srgbClr val="243B53"/>
                </a:solidFill>
              </a:defRPr>
            </a:pPr>
            <a:r>
              <a:rPr sz="1500" b="0" i="0">
                <a:solidFill>
                  <a:srgbClr val="243B53"/>
                </a:solidFill>
              </a:rPr>
              <a:t>upper and lower families</a:t>
            </a:r>
            <a:endParaRPr/>
          </a:p>
        </p:txBody>
      </p:sp>
      <p:sp>
        <p:nvSpPr>
          <p:cNvPr id="569742363" name=""/>
          <p:cNvSpPr>
            <a:spLocks noGrp="1"/>
          </p:cNvSpPr>
          <p:nvPr/>
        </p:nvSpPr>
        <p:spPr bwMode="auto">
          <a:xfrm>
            <a:off x="971550" y="3448050"/>
            <a:ext cx="95250" cy="95250"/>
          </a:xfrm>
          <a:prstGeom prst="ellipse">
            <a:avLst/>
          </a:prstGeom>
          <a:solidFill>
            <a:srgbClr val="2A9D8F"/>
          </a:solidFill>
          <a:ln w="0">
            <a:solidFill>
              <a:srgbClr val="2A9D8F"/>
            </a:solidFill>
            <a:prstDash val="solid"/>
          </a:ln>
        </p:spPr>
      </p:sp>
      <p:sp>
        <p:nvSpPr>
          <p:cNvPr id="2111203620" name=""/>
          <p:cNvSpPr>
            <a:spLocks noGrp="1"/>
          </p:cNvSpPr>
          <p:nvPr/>
        </p:nvSpPr>
        <p:spPr bwMode="auto">
          <a:xfrm>
            <a:off x="1181099" y="3371850"/>
            <a:ext cx="3505199" cy="476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500" b="0" i="0">
                <a:solidFill>
                  <a:srgbClr val="243B53"/>
                </a:solidFill>
              </a:defRPr>
            </a:pPr>
            <a:r>
              <a:rPr sz="1500" b="0" i="0">
                <a:solidFill>
                  <a:srgbClr val="243B53"/>
                </a:solidFill>
              </a:rPr>
              <a:t>family trees and structural metrics</a:t>
            </a:r>
            <a:endParaRPr/>
          </a:p>
        </p:txBody>
      </p:sp>
      <p:sp>
        <p:nvSpPr>
          <p:cNvPr id="1094656721" name=""/>
          <p:cNvSpPr>
            <a:spLocks noGrp="1"/>
          </p:cNvSpPr>
          <p:nvPr/>
        </p:nvSpPr>
        <p:spPr bwMode="auto">
          <a:xfrm>
            <a:off x="971550" y="3943350"/>
            <a:ext cx="95250" cy="95250"/>
          </a:xfrm>
          <a:prstGeom prst="ellipse">
            <a:avLst/>
          </a:prstGeom>
          <a:solidFill>
            <a:srgbClr val="2A9D8F"/>
          </a:solidFill>
          <a:ln w="0">
            <a:solidFill>
              <a:srgbClr val="2A9D8F"/>
            </a:solidFill>
            <a:prstDash val="solid"/>
          </a:ln>
        </p:spPr>
      </p:sp>
      <p:sp>
        <p:nvSpPr>
          <p:cNvPr id="369314913" name=""/>
          <p:cNvSpPr>
            <a:spLocks noGrp="1"/>
          </p:cNvSpPr>
          <p:nvPr/>
        </p:nvSpPr>
        <p:spPr bwMode="auto">
          <a:xfrm>
            <a:off x="1181099" y="3867150"/>
            <a:ext cx="3505199" cy="476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500" b="0" i="0">
                <a:solidFill>
                  <a:srgbClr val="243B53"/>
                </a:solidFill>
              </a:defRPr>
            </a:pPr>
            <a:r>
              <a:rPr sz="1500" b="0" i="0">
                <a:solidFill>
                  <a:srgbClr val="243B53"/>
                </a:solidFill>
              </a:rPr>
              <a:t>oracle-backed validation</a:t>
            </a:r>
            <a:endParaRPr/>
          </a:p>
        </p:txBody>
      </p:sp>
      <p:sp>
        <p:nvSpPr>
          <p:cNvPr id="1123819469" name=""/>
          <p:cNvSpPr>
            <a:spLocks noGrp="1"/>
          </p:cNvSpPr>
          <p:nvPr/>
        </p:nvSpPr>
        <p:spPr bwMode="auto">
          <a:xfrm>
            <a:off x="5219700" y="2971800"/>
            <a:ext cx="1143000" cy="552450"/>
          </a:xfrm>
          <a:prstGeom prst="roundRect">
            <a:avLst>
              <a:gd name="adj" fmla="val 50000"/>
            </a:avLst>
          </a:prstGeom>
          <a:solidFill>
            <a:srgbClr val="EAF1F8"/>
          </a:solidFill>
          <a:ln w="11430">
            <a:solidFill>
              <a:srgbClr val="102A43"/>
            </a:solidFill>
            <a:prstDash val="solid"/>
          </a:ln>
        </p:spPr>
      </p:sp>
      <p:sp>
        <p:nvSpPr>
          <p:cNvPr id="896231436" name=""/>
          <p:cNvSpPr>
            <a:spLocks noGrp="1"/>
          </p:cNvSpPr>
          <p:nvPr/>
        </p:nvSpPr>
        <p:spPr bwMode="auto">
          <a:xfrm>
            <a:off x="5238750" y="3028950"/>
            <a:ext cx="1104900" cy="42862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102A43"/>
                </a:solidFill>
              </a:defRPr>
            </a:pPr>
            <a:r>
              <a:rPr sz="1350" b="1" i="0">
                <a:solidFill>
                  <a:srgbClr val="102A43"/>
                </a:solidFill>
              </a:rPr>
              <a:t>static</a:t>
            </a:r>
            <a:endParaRPr/>
          </a:p>
        </p:txBody>
      </p:sp>
      <p:sp>
        <p:nvSpPr>
          <p:cNvPr id="1480952846" name=""/>
          <p:cNvSpPr>
            <a:spLocks noGrp="1"/>
          </p:cNvSpPr>
          <p:nvPr/>
        </p:nvSpPr>
        <p:spPr bwMode="auto">
          <a:xfrm>
            <a:off x="6334125" y="2981325"/>
            <a:ext cx="666750" cy="5238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2850" b="1" i="0">
                <a:solidFill>
                  <a:srgbClr val="E76F51"/>
                </a:solidFill>
              </a:defRPr>
            </a:pPr>
            <a:r>
              <a:rPr sz="2850" b="1" i="0">
                <a:solidFill>
                  <a:srgbClr val="E76F51"/>
                </a:solidFill>
              </a:rPr>
              <a:t>→</a:t>
            </a:r>
            <a:endParaRPr/>
          </a:p>
        </p:txBody>
      </p:sp>
      <p:sp>
        <p:nvSpPr>
          <p:cNvPr id="1571411959" name=""/>
          <p:cNvSpPr>
            <a:spLocks noGrp="1"/>
          </p:cNvSpPr>
          <p:nvPr/>
        </p:nvSpPr>
        <p:spPr bwMode="auto">
          <a:xfrm>
            <a:off x="6953250" y="2971800"/>
            <a:ext cx="1238250" cy="552450"/>
          </a:xfrm>
          <a:prstGeom prst="roundRect">
            <a:avLst>
              <a:gd name="adj" fmla="val 50000"/>
            </a:avLst>
          </a:prstGeom>
          <a:solidFill>
            <a:srgbClr val="E8F5F3"/>
          </a:solidFill>
          <a:ln w="11430">
            <a:solidFill>
              <a:srgbClr val="2A9D8F"/>
            </a:solidFill>
            <a:prstDash val="solid"/>
          </a:ln>
        </p:spPr>
      </p:sp>
      <p:sp>
        <p:nvSpPr>
          <p:cNvPr id="207783402" name=""/>
          <p:cNvSpPr>
            <a:spLocks noGrp="1"/>
          </p:cNvSpPr>
          <p:nvPr/>
        </p:nvSpPr>
        <p:spPr bwMode="auto">
          <a:xfrm>
            <a:off x="6991350" y="3028950"/>
            <a:ext cx="1162050" cy="42862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2A9D8F"/>
                </a:solidFill>
              </a:defRPr>
            </a:pPr>
            <a:r>
              <a:rPr sz="1350" b="1" i="0">
                <a:solidFill>
                  <a:srgbClr val="2A9D8F"/>
                </a:solidFill>
              </a:rPr>
              <a:t>dynamic</a:t>
            </a:r>
            <a:endParaRPr/>
          </a:p>
        </p:txBody>
      </p:sp>
      <p:sp>
        <p:nvSpPr>
          <p:cNvPr id="708120283" name=""/>
          <p:cNvSpPr>
            <a:spLocks noGrp="1"/>
          </p:cNvSpPr>
          <p:nvPr/>
        </p:nvSpPr>
        <p:spPr bwMode="auto">
          <a:xfrm>
            <a:off x="8572500" y="1428750"/>
            <a:ext cx="2857500" cy="2857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150" b="1" i="0">
                <a:solidFill>
                  <a:srgbClr val="E76F51"/>
                </a:solidFill>
              </a:defRPr>
            </a:pPr>
            <a:r>
              <a:rPr sz="1150" b="1" i="0">
                <a:solidFill>
                  <a:srgbClr val="E76F51"/>
                </a:solidFill>
              </a:rPr>
              <a:t>OPEN IMPLEMENTATION GAP</a:t>
            </a:r>
            <a:endParaRPr/>
          </a:p>
        </p:txBody>
      </p:sp>
      <p:sp>
        <p:nvSpPr>
          <p:cNvPr id="1173549256" name=""/>
          <p:cNvSpPr>
            <a:spLocks noGrp="1"/>
          </p:cNvSpPr>
          <p:nvPr/>
        </p:nvSpPr>
        <p:spPr bwMode="auto">
          <a:xfrm>
            <a:off x="8572500" y="1762125"/>
            <a:ext cx="2857500" cy="666750"/>
          </a:xfrm>
          <a:prstGeom prst="rect">
            <a:avLst/>
          </a:prstGeom>
          <a:noFill/>
          <a:ln w="0">
            <a:noFill/>
            <a:prstDash val="solid"/>
          </a:ln>
        </p:spPr>
        <p:txBody>
          <a:bodyPr wrap="square" lIns="38100" tIns="19050" rIns="38100" bIns="19050" anchor="t">
            <a:normAutofit fontScale="97002"/>
          </a:bodyPr>
          <a:lstStyle/>
          <a:p>
            <a:pPr algn="l">
              <a:lnSpc>
                <a:spcPct val="105000"/>
              </a:lnSpc>
              <a:buNone/>
              <a:defRPr sz="2050" b="1" i="0">
                <a:solidFill>
                  <a:srgbClr val="102A43"/>
                </a:solidFill>
              </a:defRPr>
            </a:pPr>
            <a:r>
              <a:rPr sz="2050" b="1" i="0">
                <a:solidFill>
                  <a:srgbClr val="102A43"/>
                </a:solidFill>
              </a:rPr>
              <a:t>Executable dynamic reconstruction</a:t>
            </a:r>
            <a:endParaRPr/>
          </a:p>
        </p:txBody>
      </p:sp>
      <p:sp>
        <p:nvSpPr>
          <p:cNvPr id="1573181696" name=""/>
          <p:cNvSpPr>
            <a:spLocks noGrp="1"/>
          </p:cNvSpPr>
          <p:nvPr/>
        </p:nvSpPr>
        <p:spPr bwMode="auto">
          <a:xfrm>
            <a:off x="8648700" y="2647949"/>
            <a:ext cx="95250" cy="95250"/>
          </a:xfrm>
          <a:prstGeom prst="ellipse">
            <a:avLst/>
          </a:prstGeom>
          <a:solidFill>
            <a:srgbClr val="E76F51"/>
          </a:solidFill>
          <a:ln w="0">
            <a:solidFill>
              <a:srgbClr val="E76F51"/>
            </a:solidFill>
            <a:prstDash val="solid"/>
          </a:ln>
        </p:spPr>
      </p:sp>
      <p:sp>
        <p:nvSpPr>
          <p:cNvPr id="836976069" name=""/>
          <p:cNvSpPr>
            <a:spLocks noGrp="1"/>
          </p:cNvSpPr>
          <p:nvPr/>
        </p:nvSpPr>
        <p:spPr bwMode="auto">
          <a:xfrm>
            <a:off x="8858250" y="2571750"/>
            <a:ext cx="2590800" cy="476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500" b="0" i="0">
                <a:solidFill>
                  <a:srgbClr val="243B53"/>
                </a:solidFill>
              </a:defRPr>
            </a:pPr>
            <a:r>
              <a:rPr sz="1500" b="0" i="0">
                <a:solidFill>
                  <a:srgbClr val="243B53"/>
                </a:solidFill>
              </a:rPr>
              <a:t>Step 1/2/3 control flow</a:t>
            </a:r>
            <a:endParaRPr/>
          </a:p>
        </p:txBody>
      </p:sp>
      <p:sp>
        <p:nvSpPr>
          <p:cNvPr id="722022081" name=""/>
          <p:cNvSpPr>
            <a:spLocks noGrp="1"/>
          </p:cNvSpPr>
          <p:nvPr/>
        </p:nvSpPr>
        <p:spPr bwMode="auto">
          <a:xfrm>
            <a:off x="8648700" y="3143250"/>
            <a:ext cx="95250" cy="95250"/>
          </a:xfrm>
          <a:prstGeom prst="ellipse">
            <a:avLst/>
          </a:prstGeom>
          <a:solidFill>
            <a:srgbClr val="E76F51"/>
          </a:solidFill>
          <a:ln w="0">
            <a:solidFill>
              <a:srgbClr val="E76F51"/>
            </a:solidFill>
            <a:prstDash val="solid"/>
          </a:ln>
        </p:spPr>
      </p:sp>
      <p:sp>
        <p:nvSpPr>
          <p:cNvPr id="10737896" name=""/>
          <p:cNvSpPr>
            <a:spLocks noGrp="1"/>
          </p:cNvSpPr>
          <p:nvPr/>
        </p:nvSpPr>
        <p:spPr bwMode="auto">
          <a:xfrm>
            <a:off x="8858250" y="3067050"/>
            <a:ext cx="2590800" cy="476250"/>
          </a:xfrm>
          <a:prstGeom prst="rect">
            <a:avLst/>
          </a:prstGeom>
          <a:noFill/>
          <a:ln w="0">
            <a:noFill/>
            <a:prstDash val="solid"/>
          </a:ln>
        </p:spPr>
        <p:txBody>
          <a:bodyPr wrap="square" lIns="38100" tIns="19050" rIns="38100" bIns="19050" anchor="ctr">
            <a:normAutofit fontScale="95833"/>
          </a:bodyPr>
          <a:lstStyle/>
          <a:p>
            <a:pPr algn="l">
              <a:lnSpc>
                <a:spcPct val="100000"/>
              </a:lnSpc>
              <a:buNone/>
              <a:defRPr sz="1500" b="0" i="0">
                <a:solidFill>
                  <a:srgbClr val="243B53"/>
                </a:solidFill>
              </a:defRPr>
            </a:pPr>
            <a:r>
              <a:rPr sz="1500" b="0" i="0">
                <a:solidFill>
                  <a:srgbClr val="243B53"/>
                </a:solidFill>
              </a:rPr>
              <a:t>sibling-list insertion and splitting</a:t>
            </a:r>
            <a:endParaRPr/>
          </a:p>
        </p:txBody>
      </p:sp>
      <p:sp>
        <p:nvSpPr>
          <p:cNvPr id="2096326161" name=""/>
          <p:cNvSpPr>
            <a:spLocks noGrp="1"/>
          </p:cNvSpPr>
          <p:nvPr/>
        </p:nvSpPr>
        <p:spPr bwMode="auto">
          <a:xfrm>
            <a:off x="8648700" y="3638550"/>
            <a:ext cx="95250" cy="95250"/>
          </a:xfrm>
          <a:prstGeom prst="ellipse">
            <a:avLst/>
          </a:prstGeom>
          <a:solidFill>
            <a:srgbClr val="E76F51"/>
          </a:solidFill>
          <a:ln w="0">
            <a:solidFill>
              <a:srgbClr val="E76F51"/>
            </a:solidFill>
            <a:prstDash val="solid"/>
          </a:ln>
        </p:spPr>
      </p:sp>
      <p:sp>
        <p:nvSpPr>
          <p:cNvPr id="1275673073" name=""/>
          <p:cNvSpPr>
            <a:spLocks noGrp="1"/>
          </p:cNvSpPr>
          <p:nvPr/>
        </p:nvSpPr>
        <p:spPr bwMode="auto">
          <a:xfrm>
            <a:off x="8858250" y="3562350"/>
            <a:ext cx="2590800" cy="476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500" b="0" i="0">
                <a:solidFill>
                  <a:srgbClr val="243B53"/>
                </a:solidFill>
              </a:defRPr>
            </a:pPr>
            <a:r>
              <a:rPr sz="1500" b="0" i="0">
                <a:solidFill>
                  <a:srgbClr val="243B53"/>
                </a:solidFill>
              </a:rPr>
              <a:t>ownership transfer</a:t>
            </a:r>
            <a:endParaRPr/>
          </a:p>
        </p:txBody>
      </p:sp>
      <p:sp>
        <p:nvSpPr>
          <p:cNvPr id="1128931612" name=""/>
          <p:cNvSpPr>
            <a:spLocks noGrp="1"/>
          </p:cNvSpPr>
          <p:nvPr/>
        </p:nvSpPr>
        <p:spPr bwMode="auto">
          <a:xfrm>
            <a:off x="8648700" y="4133850"/>
            <a:ext cx="95250" cy="95250"/>
          </a:xfrm>
          <a:prstGeom prst="ellipse">
            <a:avLst/>
          </a:prstGeom>
          <a:solidFill>
            <a:srgbClr val="E76F51"/>
          </a:solidFill>
          <a:ln w="0">
            <a:solidFill>
              <a:srgbClr val="E76F51"/>
            </a:solidFill>
            <a:prstDash val="solid"/>
          </a:ln>
        </p:spPr>
      </p:sp>
      <p:sp>
        <p:nvSpPr>
          <p:cNvPr id="2000699183" name=""/>
          <p:cNvSpPr>
            <a:spLocks noGrp="1"/>
          </p:cNvSpPr>
          <p:nvPr/>
        </p:nvSpPr>
        <p:spPr bwMode="auto">
          <a:xfrm>
            <a:off x="8858250" y="4057650"/>
            <a:ext cx="2590800" cy="476250"/>
          </a:xfrm>
          <a:prstGeom prst="rect">
            <a:avLst/>
          </a:prstGeom>
          <a:noFill/>
          <a:ln w="0">
            <a:noFill/>
            <a:prstDash val="solid"/>
          </a:ln>
        </p:spPr>
        <p:txBody>
          <a:bodyPr wrap="square" lIns="38100" tIns="19050" rIns="38100" bIns="19050" anchor="ctr">
            <a:normAutofit fontScale="95833"/>
          </a:bodyPr>
          <a:lstStyle/>
          <a:p>
            <a:pPr algn="l">
              <a:lnSpc>
                <a:spcPct val="100000"/>
              </a:lnSpc>
              <a:buNone/>
              <a:defRPr sz="1500" b="0" i="0">
                <a:solidFill>
                  <a:srgbClr val="243B53"/>
                </a:solidFill>
              </a:defRPr>
            </a:pPr>
            <a:r>
              <a:rPr sz="1500" b="0" i="0">
                <a:solidFill>
                  <a:srgbClr val="243B53"/>
                </a:solidFill>
              </a:rPr>
              <a:t>output recovery from maintained state</a:t>
            </a:r>
            <a:endParaRPr/>
          </a:p>
        </p:txBody>
      </p:sp>
      <p:sp>
        <p:nvSpPr>
          <p:cNvPr id="1150491131" name=""/>
          <p:cNvSpPr>
            <a:spLocks noGrp="1"/>
          </p:cNvSpPr>
          <p:nvPr/>
        </p:nvSpPr>
        <p:spPr bwMode="auto">
          <a:xfrm>
            <a:off x="895350" y="5572125"/>
            <a:ext cx="10534650" cy="514350"/>
          </a:xfrm>
          <a:prstGeom prst="roundRect">
            <a:avLst>
              <a:gd name="adj" fmla="val 11111"/>
            </a:avLst>
          </a:prstGeom>
          <a:solidFill>
            <a:srgbClr val="102A43"/>
          </a:solidFill>
          <a:ln w="11430">
            <a:solidFill>
              <a:srgbClr val="102A43"/>
            </a:solidFill>
            <a:prstDash val="solid"/>
          </a:ln>
        </p:spPr>
      </p:sp>
      <p:sp>
        <p:nvSpPr>
          <p:cNvPr id="543257277" name=""/>
          <p:cNvSpPr>
            <a:spLocks noGrp="1"/>
          </p:cNvSpPr>
          <p:nvPr/>
        </p:nvSpPr>
        <p:spPr bwMode="auto">
          <a:xfrm>
            <a:off x="1066800" y="5619750"/>
            <a:ext cx="10191750" cy="4191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600" b="1" i="0">
                <a:solidFill>
                  <a:srgbClr val="FFFFFF"/>
                </a:solidFill>
              </a:defRPr>
            </a:pPr>
            <a:r>
              <a:rPr sz="1600" b="1" i="0">
                <a:solidFill>
                  <a:srgbClr val="FFFFFF"/>
                </a:solidFill>
              </a:rPr>
              <a:t>Family trees explain nesting; executable Jordan sorting requires dynamic updates.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1731734948"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PROGRESS</a:t>
            </a:r>
            <a:endParaRPr/>
          </a:p>
        </p:txBody>
      </p:sp>
      <p:sp>
        <p:nvSpPr>
          <p:cNvPr id="238328125"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Progress since the previous report</a:t>
            </a:r>
            <a:endParaRPr/>
          </a:p>
        </p:txBody>
      </p:sp>
      <p:sp>
        <p:nvSpPr>
          <p:cNvPr id="1033297043" name=""/>
          <p:cNvSpPr>
            <a:spLocks noGrp="1"/>
          </p:cNvSpPr>
          <p:nvPr/>
        </p:nvSpPr>
        <p:spPr bwMode="auto">
          <a:xfrm>
            <a:off x="609600" y="1085850"/>
            <a:ext cx="10972800" cy="9525"/>
          </a:xfrm>
          <a:prstGeom prst="line">
            <a:avLst/>
          </a:prstGeom>
          <a:noFill/>
          <a:ln w="28575">
            <a:solidFill>
              <a:srgbClr val="2A9D8F"/>
            </a:solidFill>
            <a:prstDash val="solid"/>
          </a:ln>
        </p:spPr>
      </p:sp>
      <p:sp>
        <p:nvSpPr>
          <p:cNvPr id="384214170" name=""/>
          <p:cNvSpPr>
            <a:spLocks noGrp="1"/>
          </p:cNvSpPr>
          <p:nvPr/>
        </p:nvSpPr>
        <p:spPr bwMode="auto">
          <a:xfrm>
            <a:off x="609600" y="6477000"/>
            <a:ext cx="10972800" cy="9525"/>
          </a:xfrm>
          <a:prstGeom prst="line">
            <a:avLst/>
          </a:prstGeom>
          <a:noFill/>
          <a:ln w="9525">
            <a:solidFill>
              <a:srgbClr val="D9E2EC"/>
            </a:solidFill>
            <a:prstDash val="solid"/>
          </a:ln>
        </p:spPr>
      </p:sp>
      <p:sp>
        <p:nvSpPr>
          <p:cNvPr id="480838085"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700320639"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3 / 16</a:t>
            </a:r>
            <a:endParaRPr/>
          </a:p>
        </p:txBody>
      </p:sp>
      <p:sp>
        <p:nvSpPr>
          <p:cNvPr id="1993336851" name=""/>
          <p:cNvSpPr>
            <a:spLocks noGrp="1"/>
          </p:cNvSpPr>
          <p:nvPr/>
        </p:nvSpPr>
        <p:spPr bwMode="auto">
          <a:xfrm>
            <a:off x="723900" y="1619250"/>
            <a:ext cx="685800" cy="514350"/>
          </a:xfrm>
          <a:prstGeom prst="rect">
            <a:avLst/>
          </a:prstGeom>
          <a:noFill/>
          <a:ln w="0">
            <a:noFill/>
            <a:prstDash val="solid"/>
          </a:ln>
        </p:spPr>
        <p:txBody>
          <a:bodyPr wrap="square" lIns="38100" tIns="19050" rIns="38100" bIns="19050" anchor="t">
            <a:normAutofit fontScale="99206"/>
          </a:bodyPr>
          <a:lstStyle/>
          <a:p>
            <a:pPr algn="l">
              <a:lnSpc>
                <a:spcPct val="105000"/>
              </a:lnSpc>
              <a:buNone/>
              <a:defRPr sz="3000" b="1" i="0">
                <a:solidFill>
                  <a:srgbClr val="102A43"/>
                </a:solidFill>
              </a:defRPr>
            </a:pPr>
            <a:r>
              <a:rPr sz="3000" b="1" i="0">
                <a:solidFill>
                  <a:srgbClr val="102A43"/>
                </a:solidFill>
              </a:rPr>
              <a:t>01</a:t>
            </a:r>
            <a:endParaRPr/>
          </a:p>
        </p:txBody>
      </p:sp>
      <p:sp>
        <p:nvSpPr>
          <p:cNvPr id="760309971" name=""/>
          <p:cNvSpPr>
            <a:spLocks noGrp="1"/>
          </p:cNvSpPr>
          <p:nvPr/>
        </p:nvSpPr>
        <p:spPr bwMode="auto">
          <a:xfrm>
            <a:off x="723900" y="2209800"/>
            <a:ext cx="1952625" cy="9525"/>
          </a:xfrm>
          <a:prstGeom prst="line">
            <a:avLst/>
          </a:prstGeom>
          <a:noFill/>
          <a:ln w="38100">
            <a:solidFill>
              <a:srgbClr val="102A43"/>
            </a:solidFill>
            <a:prstDash val="solid"/>
          </a:ln>
        </p:spPr>
      </p:sp>
      <p:sp>
        <p:nvSpPr>
          <p:cNvPr id="263107117" name=""/>
          <p:cNvSpPr>
            <a:spLocks noGrp="1"/>
          </p:cNvSpPr>
          <p:nvPr/>
        </p:nvSpPr>
        <p:spPr bwMode="auto">
          <a:xfrm>
            <a:off x="723900" y="2457450"/>
            <a:ext cx="2095500" cy="7239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800" b="1" i="0">
                <a:solidFill>
                  <a:srgbClr val="102A43"/>
                </a:solidFill>
              </a:defRPr>
            </a:pPr>
            <a:r>
              <a:rPr sz="1800" b="1" i="0">
                <a:solidFill>
                  <a:srgbClr val="102A43"/>
                </a:solidFill>
              </a:rPr>
              <a:t>Scope stabilization</a:t>
            </a:r>
            <a:endParaRPr/>
          </a:p>
        </p:txBody>
      </p:sp>
      <p:sp>
        <p:nvSpPr>
          <p:cNvPr id="2099454468" name=""/>
          <p:cNvSpPr>
            <a:spLocks noGrp="1"/>
          </p:cNvSpPr>
          <p:nvPr/>
        </p:nvSpPr>
        <p:spPr bwMode="auto">
          <a:xfrm>
            <a:off x="723900" y="3333750"/>
            <a:ext cx="2152650" cy="1619250"/>
          </a:xfrm>
          <a:prstGeom prst="roundRect">
            <a:avLst>
              <a:gd name="adj" fmla="val 4706"/>
            </a:avLst>
          </a:prstGeom>
          <a:solidFill>
            <a:srgbClr val="EAF1F8"/>
          </a:solidFill>
          <a:ln w="11430">
            <a:solidFill>
              <a:srgbClr val="EAF1F8"/>
            </a:solidFill>
            <a:prstDash val="solid"/>
          </a:ln>
        </p:spPr>
      </p:sp>
      <p:sp>
        <p:nvSpPr>
          <p:cNvPr id="1267302794" name=""/>
          <p:cNvSpPr>
            <a:spLocks noGrp="1"/>
          </p:cNvSpPr>
          <p:nvPr/>
        </p:nvSpPr>
        <p:spPr bwMode="auto">
          <a:xfrm>
            <a:off x="857250" y="3486150"/>
            <a:ext cx="1885950" cy="1333500"/>
          </a:xfrm>
          <a:prstGeom prst="rect">
            <a:avLst/>
          </a:prstGeom>
          <a:noFill/>
          <a:ln w="0">
            <a:noFill/>
            <a:prstDash val="solid"/>
          </a:ln>
        </p:spPr>
        <p:txBody>
          <a:bodyPr wrap="square" lIns="38100" tIns="19050" rIns="38100" bIns="19050" anchor="ctr">
            <a:normAutofit fontScale="100000"/>
          </a:bodyPr>
          <a:lstStyle/>
          <a:p>
            <a:pPr algn="ctr">
              <a:lnSpc>
                <a:spcPct val="108000"/>
              </a:lnSpc>
              <a:buNone/>
              <a:defRPr sz="1450" b="0" i="0">
                <a:solidFill>
                  <a:srgbClr val="243B53"/>
                </a:solidFill>
              </a:defRPr>
            </a:pPr>
            <a:r>
              <a:rPr sz="1450" b="0" i="0">
                <a:solidFill>
                  <a:srgbClr val="243B53"/>
                </a:solidFill>
              </a:rPr>
              <a:t>Separated valid-input sorting, recognition, and theoretical-backend claims</a:t>
            </a:r>
            <a:endParaRPr/>
          </a:p>
        </p:txBody>
      </p:sp>
      <p:sp>
        <p:nvSpPr>
          <p:cNvPr id="783938751" name=""/>
          <p:cNvSpPr>
            <a:spLocks noGrp="1"/>
          </p:cNvSpPr>
          <p:nvPr/>
        </p:nvSpPr>
        <p:spPr bwMode="auto">
          <a:xfrm>
            <a:off x="3533775" y="1619250"/>
            <a:ext cx="685800" cy="514350"/>
          </a:xfrm>
          <a:prstGeom prst="rect">
            <a:avLst/>
          </a:prstGeom>
          <a:noFill/>
          <a:ln w="0">
            <a:noFill/>
            <a:prstDash val="solid"/>
          </a:ln>
        </p:spPr>
        <p:txBody>
          <a:bodyPr wrap="square" lIns="38100" tIns="19050" rIns="38100" bIns="19050" anchor="t">
            <a:normAutofit fontScale="99206"/>
          </a:bodyPr>
          <a:lstStyle/>
          <a:p>
            <a:pPr algn="l">
              <a:lnSpc>
                <a:spcPct val="105000"/>
              </a:lnSpc>
              <a:buNone/>
              <a:defRPr sz="3000" b="1" i="0">
                <a:solidFill>
                  <a:srgbClr val="2A9D8F"/>
                </a:solidFill>
              </a:defRPr>
            </a:pPr>
            <a:r>
              <a:rPr sz="3000" b="1" i="0">
                <a:solidFill>
                  <a:srgbClr val="2A9D8F"/>
                </a:solidFill>
              </a:rPr>
              <a:t>02</a:t>
            </a:r>
            <a:endParaRPr/>
          </a:p>
        </p:txBody>
      </p:sp>
      <p:sp>
        <p:nvSpPr>
          <p:cNvPr id="1561112250" name=""/>
          <p:cNvSpPr>
            <a:spLocks noGrp="1"/>
          </p:cNvSpPr>
          <p:nvPr/>
        </p:nvSpPr>
        <p:spPr bwMode="auto">
          <a:xfrm>
            <a:off x="3533775" y="2209800"/>
            <a:ext cx="1952625" cy="9525"/>
          </a:xfrm>
          <a:prstGeom prst="line">
            <a:avLst/>
          </a:prstGeom>
          <a:noFill/>
          <a:ln w="38100">
            <a:solidFill>
              <a:srgbClr val="2A9D8F"/>
            </a:solidFill>
            <a:prstDash val="solid"/>
          </a:ln>
        </p:spPr>
      </p:sp>
      <p:sp>
        <p:nvSpPr>
          <p:cNvPr id="1891998285" name=""/>
          <p:cNvSpPr>
            <a:spLocks noGrp="1"/>
          </p:cNvSpPr>
          <p:nvPr/>
        </p:nvSpPr>
        <p:spPr bwMode="auto">
          <a:xfrm>
            <a:off x="3533775" y="2457450"/>
            <a:ext cx="2095500" cy="7239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800" b="1" i="0">
                <a:solidFill>
                  <a:srgbClr val="102A43"/>
                </a:solidFill>
              </a:defRPr>
            </a:pPr>
            <a:r>
              <a:rPr sz="1800" b="1" i="0">
                <a:solidFill>
                  <a:srgbClr val="102A43"/>
                </a:solidFill>
              </a:rPr>
              <a:t>Executable reconstruction</a:t>
            </a:r>
            <a:endParaRPr/>
          </a:p>
        </p:txBody>
      </p:sp>
      <p:sp>
        <p:nvSpPr>
          <p:cNvPr id="401811057" name=""/>
          <p:cNvSpPr>
            <a:spLocks noGrp="1"/>
          </p:cNvSpPr>
          <p:nvPr/>
        </p:nvSpPr>
        <p:spPr bwMode="auto">
          <a:xfrm>
            <a:off x="3533775" y="3333750"/>
            <a:ext cx="2152650" cy="1619250"/>
          </a:xfrm>
          <a:prstGeom prst="roundRect">
            <a:avLst>
              <a:gd name="adj" fmla="val 4706"/>
            </a:avLst>
          </a:prstGeom>
          <a:solidFill>
            <a:srgbClr val="E8F5F3"/>
          </a:solidFill>
          <a:ln w="11430">
            <a:solidFill>
              <a:srgbClr val="E8F5F3"/>
            </a:solidFill>
            <a:prstDash val="solid"/>
          </a:ln>
        </p:spPr>
      </p:sp>
      <p:sp>
        <p:nvSpPr>
          <p:cNvPr id="1086973635" name=""/>
          <p:cNvSpPr>
            <a:spLocks noGrp="1"/>
          </p:cNvSpPr>
          <p:nvPr/>
        </p:nvSpPr>
        <p:spPr bwMode="auto">
          <a:xfrm>
            <a:off x="3667125" y="3486150"/>
            <a:ext cx="1885950" cy="1333500"/>
          </a:xfrm>
          <a:prstGeom prst="rect">
            <a:avLst/>
          </a:prstGeom>
          <a:noFill/>
          <a:ln w="0">
            <a:noFill/>
            <a:prstDash val="solid"/>
          </a:ln>
        </p:spPr>
        <p:txBody>
          <a:bodyPr wrap="square" lIns="38100" tIns="19050" rIns="38100" bIns="19050" anchor="ctr">
            <a:normAutofit fontScale="100000"/>
          </a:bodyPr>
          <a:lstStyle/>
          <a:p>
            <a:pPr algn="ctr">
              <a:lnSpc>
                <a:spcPct val="108000"/>
              </a:lnSpc>
              <a:buNone/>
              <a:defRPr sz="1450" b="0" i="0">
                <a:solidFill>
                  <a:srgbClr val="243B53"/>
                </a:solidFill>
              </a:defRPr>
            </a:pPr>
            <a:r>
              <a:rPr sz="1450" b="0" i="0">
                <a:solidFill>
                  <a:srgbClr val="243B53"/>
                </a:solidFill>
              </a:rPr>
              <a:t>Implemented the paper-facing Step 1/2/3 control flow</a:t>
            </a:r>
            <a:endParaRPr/>
          </a:p>
        </p:txBody>
      </p:sp>
      <p:sp>
        <p:nvSpPr>
          <p:cNvPr id="365529227" name=""/>
          <p:cNvSpPr>
            <a:spLocks noGrp="1"/>
          </p:cNvSpPr>
          <p:nvPr/>
        </p:nvSpPr>
        <p:spPr bwMode="auto">
          <a:xfrm>
            <a:off x="6343650" y="1619250"/>
            <a:ext cx="685800" cy="514350"/>
          </a:xfrm>
          <a:prstGeom prst="rect">
            <a:avLst/>
          </a:prstGeom>
          <a:noFill/>
          <a:ln w="0">
            <a:noFill/>
            <a:prstDash val="solid"/>
          </a:ln>
        </p:spPr>
        <p:txBody>
          <a:bodyPr wrap="square" lIns="38100" tIns="19050" rIns="38100" bIns="19050" anchor="t">
            <a:normAutofit fontScale="99206"/>
          </a:bodyPr>
          <a:lstStyle/>
          <a:p>
            <a:pPr algn="l">
              <a:lnSpc>
                <a:spcPct val="105000"/>
              </a:lnSpc>
              <a:buNone/>
              <a:defRPr sz="3000" b="1" i="0">
                <a:solidFill>
                  <a:srgbClr val="E76F51"/>
                </a:solidFill>
              </a:defRPr>
            </a:pPr>
            <a:r>
              <a:rPr sz="3000" b="1" i="0">
                <a:solidFill>
                  <a:srgbClr val="E76F51"/>
                </a:solidFill>
              </a:rPr>
              <a:t>03</a:t>
            </a:r>
            <a:endParaRPr/>
          </a:p>
        </p:txBody>
      </p:sp>
      <p:sp>
        <p:nvSpPr>
          <p:cNvPr id="1966538275" name=""/>
          <p:cNvSpPr>
            <a:spLocks noGrp="1"/>
          </p:cNvSpPr>
          <p:nvPr/>
        </p:nvSpPr>
        <p:spPr bwMode="auto">
          <a:xfrm>
            <a:off x="6343650" y="2209800"/>
            <a:ext cx="1952625" cy="9525"/>
          </a:xfrm>
          <a:prstGeom prst="line">
            <a:avLst/>
          </a:prstGeom>
          <a:noFill/>
          <a:ln w="38100">
            <a:solidFill>
              <a:srgbClr val="E76F51"/>
            </a:solidFill>
            <a:prstDash val="solid"/>
          </a:ln>
        </p:spPr>
      </p:sp>
      <p:sp>
        <p:nvSpPr>
          <p:cNvPr id="1207707574" name=""/>
          <p:cNvSpPr>
            <a:spLocks noGrp="1"/>
          </p:cNvSpPr>
          <p:nvPr/>
        </p:nvSpPr>
        <p:spPr bwMode="auto">
          <a:xfrm>
            <a:off x="6343650" y="2457450"/>
            <a:ext cx="2095500" cy="723900"/>
          </a:xfrm>
          <a:prstGeom prst="rect">
            <a:avLst/>
          </a:prstGeom>
          <a:noFill/>
          <a:ln w="0">
            <a:noFill/>
            <a:prstDash val="solid"/>
          </a:ln>
        </p:spPr>
        <p:txBody>
          <a:bodyPr wrap="square" lIns="38100" tIns="19050" rIns="38100" bIns="19050" anchor="ctr">
            <a:normAutofit fontScale="89573"/>
          </a:bodyPr>
          <a:lstStyle/>
          <a:p>
            <a:pPr algn="l">
              <a:lnSpc>
                <a:spcPct val="105000"/>
              </a:lnSpc>
              <a:buNone/>
              <a:defRPr sz="1800" b="1" i="0">
                <a:solidFill>
                  <a:srgbClr val="102A43"/>
                </a:solidFill>
              </a:defRPr>
            </a:pPr>
            <a:r>
              <a:rPr sz="1800" b="1" i="0">
                <a:solidFill>
                  <a:srgbClr val="102A43"/>
                </a:solidFill>
              </a:rPr>
              <a:t>State and correctness controls</a:t>
            </a:r>
            <a:endParaRPr/>
          </a:p>
        </p:txBody>
      </p:sp>
      <p:sp>
        <p:nvSpPr>
          <p:cNvPr id="1346659247" name=""/>
          <p:cNvSpPr>
            <a:spLocks noGrp="1"/>
          </p:cNvSpPr>
          <p:nvPr/>
        </p:nvSpPr>
        <p:spPr bwMode="auto">
          <a:xfrm>
            <a:off x="6343650" y="3333750"/>
            <a:ext cx="2152650" cy="1619250"/>
          </a:xfrm>
          <a:prstGeom prst="roundRect">
            <a:avLst>
              <a:gd name="adj" fmla="val 4706"/>
            </a:avLst>
          </a:prstGeom>
          <a:solidFill>
            <a:srgbClr val="FCEEEA"/>
          </a:solidFill>
          <a:ln w="11430">
            <a:solidFill>
              <a:srgbClr val="FCEEEA"/>
            </a:solidFill>
            <a:prstDash val="solid"/>
          </a:ln>
        </p:spPr>
      </p:sp>
      <p:sp>
        <p:nvSpPr>
          <p:cNvPr id="1858366296" name=""/>
          <p:cNvSpPr>
            <a:spLocks noGrp="1"/>
          </p:cNvSpPr>
          <p:nvPr/>
        </p:nvSpPr>
        <p:spPr bwMode="auto">
          <a:xfrm>
            <a:off x="6477000" y="3486150"/>
            <a:ext cx="1885950" cy="1333500"/>
          </a:xfrm>
          <a:prstGeom prst="rect">
            <a:avLst/>
          </a:prstGeom>
          <a:noFill/>
          <a:ln w="0">
            <a:noFill/>
            <a:prstDash val="solid"/>
          </a:ln>
        </p:spPr>
        <p:txBody>
          <a:bodyPr wrap="square" lIns="38100" tIns="19050" rIns="38100" bIns="19050" anchor="ctr">
            <a:normAutofit fontScale="100000"/>
          </a:bodyPr>
          <a:lstStyle/>
          <a:p>
            <a:pPr algn="ctr">
              <a:lnSpc>
                <a:spcPct val="108000"/>
              </a:lnSpc>
              <a:buNone/>
              <a:defRPr sz="1450" b="0" i="0">
                <a:solidFill>
                  <a:srgbClr val="243B53"/>
                </a:solidFill>
              </a:defRPr>
            </a:pPr>
            <a:r>
              <a:rPr sz="1450" b="0" i="0">
                <a:solidFill>
                  <a:srgbClr val="243B53"/>
                </a:solidFill>
              </a:rPr>
              <a:t>Added ownership invariants, transactional updates, and replay</a:t>
            </a:r>
            <a:endParaRPr/>
          </a:p>
        </p:txBody>
      </p:sp>
      <p:sp>
        <p:nvSpPr>
          <p:cNvPr id="795702085" name=""/>
          <p:cNvSpPr>
            <a:spLocks noGrp="1"/>
          </p:cNvSpPr>
          <p:nvPr/>
        </p:nvSpPr>
        <p:spPr bwMode="auto">
          <a:xfrm>
            <a:off x="9153525" y="1619250"/>
            <a:ext cx="685800" cy="514350"/>
          </a:xfrm>
          <a:prstGeom prst="rect">
            <a:avLst/>
          </a:prstGeom>
          <a:noFill/>
          <a:ln w="0">
            <a:noFill/>
            <a:prstDash val="solid"/>
          </a:ln>
        </p:spPr>
        <p:txBody>
          <a:bodyPr wrap="square" lIns="38100" tIns="19050" rIns="38100" bIns="19050" anchor="t">
            <a:normAutofit fontScale="99206"/>
          </a:bodyPr>
          <a:lstStyle/>
          <a:p>
            <a:pPr algn="l">
              <a:lnSpc>
                <a:spcPct val="105000"/>
              </a:lnSpc>
              <a:buNone/>
              <a:defRPr sz="3000" b="1" i="0">
                <a:solidFill>
                  <a:srgbClr val="52606D"/>
                </a:solidFill>
              </a:defRPr>
            </a:pPr>
            <a:r>
              <a:rPr sz="3000" b="1" i="0">
                <a:solidFill>
                  <a:srgbClr val="52606D"/>
                </a:solidFill>
              </a:rPr>
              <a:t>04</a:t>
            </a:r>
            <a:endParaRPr/>
          </a:p>
        </p:txBody>
      </p:sp>
      <p:sp>
        <p:nvSpPr>
          <p:cNvPr id="534159633" name=""/>
          <p:cNvSpPr>
            <a:spLocks noGrp="1"/>
          </p:cNvSpPr>
          <p:nvPr/>
        </p:nvSpPr>
        <p:spPr bwMode="auto">
          <a:xfrm>
            <a:off x="9153525" y="2209800"/>
            <a:ext cx="1952625" cy="9525"/>
          </a:xfrm>
          <a:prstGeom prst="line">
            <a:avLst/>
          </a:prstGeom>
          <a:noFill/>
          <a:ln w="38100">
            <a:solidFill>
              <a:srgbClr val="52606D"/>
            </a:solidFill>
            <a:prstDash val="solid"/>
          </a:ln>
        </p:spPr>
      </p:sp>
      <p:sp>
        <p:nvSpPr>
          <p:cNvPr id="1451099052" name=""/>
          <p:cNvSpPr>
            <a:spLocks noGrp="1"/>
          </p:cNvSpPr>
          <p:nvPr/>
        </p:nvSpPr>
        <p:spPr bwMode="auto">
          <a:xfrm>
            <a:off x="9153525" y="2457450"/>
            <a:ext cx="2095500" cy="7239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800" b="1" i="0">
                <a:solidFill>
                  <a:srgbClr val="102A43"/>
                </a:solidFill>
              </a:defRPr>
            </a:pPr>
            <a:r>
              <a:rPr sz="1800" b="1" i="0">
                <a:solidFill>
                  <a:srgbClr val="102A43"/>
                </a:solidFill>
              </a:rPr>
              <a:t>Initial formal evaluation</a:t>
            </a:r>
            <a:endParaRPr/>
          </a:p>
        </p:txBody>
      </p:sp>
      <p:sp>
        <p:nvSpPr>
          <p:cNvPr id="1497662294" name=""/>
          <p:cNvSpPr>
            <a:spLocks noGrp="1"/>
          </p:cNvSpPr>
          <p:nvPr/>
        </p:nvSpPr>
        <p:spPr bwMode="auto">
          <a:xfrm>
            <a:off x="9153525" y="3333750"/>
            <a:ext cx="2152650" cy="1619250"/>
          </a:xfrm>
          <a:prstGeom prst="roundRect">
            <a:avLst>
              <a:gd name="adj" fmla="val 4706"/>
            </a:avLst>
          </a:prstGeom>
          <a:solidFill>
            <a:srgbClr val="EDF2F7"/>
          </a:solidFill>
          <a:ln w="11430">
            <a:solidFill>
              <a:srgbClr val="EDF2F7"/>
            </a:solidFill>
            <a:prstDash val="solid"/>
          </a:ln>
        </p:spPr>
      </p:sp>
      <p:sp>
        <p:nvSpPr>
          <p:cNvPr id="1214766910" name=""/>
          <p:cNvSpPr>
            <a:spLocks noGrp="1"/>
          </p:cNvSpPr>
          <p:nvPr/>
        </p:nvSpPr>
        <p:spPr bwMode="auto">
          <a:xfrm>
            <a:off x="9286875" y="3486150"/>
            <a:ext cx="1885950" cy="1333500"/>
          </a:xfrm>
          <a:prstGeom prst="rect">
            <a:avLst/>
          </a:prstGeom>
          <a:noFill/>
          <a:ln w="0">
            <a:noFill/>
            <a:prstDash val="solid"/>
          </a:ln>
        </p:spPr>
        <p:txBody>
          <a:bodyPr wrap="square" lIns="38100" tIns="19050" rIns="38100" bIns="19050" anchor="ctr">
            <a:normAutofit fontScale="100000"/>
          </a:bodyPr>
          <a:lstStyle/>
          <a:p>
            <a:pPr algn="ctr">
              <a:lnSpc>
                <a:spcPct val="108000"/>
              </a:lnSpc>
              <a:buNone/>
              <a:defRPr sz="1450" b="0" i="0">
                <a:solidFill>
                  <a:srgbClr val="243B53"/>
                </a:solidFill>
              </a:defRPr>
            </a:pPr>
            <a:r>
              <a:rPr sz="1450" b="0" i="0">
                <a:solidFill>
                  <a:srgbClr val="243B53"/>
                </a:solidFill>
              </a:rPr>
              <a:t>Executed a fixed valid-input sorting experiment</a:t>
            </a:r>
            <a:endParaRPr/>
          </a:p>
        </p:txBody>
      </p:sp>
      <p:sp>
        <p:nvSpPr>
          <p:cNvPr id="1896679178" name=""/>
          <p:cNvSpPr>
            <a:spLocks noGrp="1"/>
          </p:cNvSpPr>
          <p:nvPr/>
        </p:nvSpPr>
        <p:spPr bwMode="auto">
          <a:xfrm>
            <a:off x="1238250" y="5524500"/>
            <a:ext cx="9715500" cy="533400"/>
          </a:xfrm>
          <a:prstGeom prst="rect">
            <a:avLst/>
          </a:prstGeom>
          <a:noFill/>
          <a:ln w="0">
            <a:noFill/>
            <a:prstDash val="solid"/>
          </a:ln>
        </p:spPr>
        <p:txBody>
          <a:bodyPr wrap="square" lIns="38100" tIns="19050" rIns="38100" bIns="19050" anchor="ctr">
            <a:normAutofit fontScale="89776"/>
          </a:bodyPr>
          <a:lstStyle/>
          <a:p>
            <a:pPr algn="ctr">
              <a:lnSpc>
                <a:spcPct val="105000"/>
              </a:lnSpc>
              <a:buNone/>
              <a:defRPr sz="1750" b="1" i="0">
                <a:solidFill>
                  <a:srgbClr val="102A43"/>
                </a:solidFill>
              </a:defRPr>
            </a:pPr>
            <a:r>
              <a:rPr sz="1750" b="1" i="0">
                <a:solidFill>
                  <a:srgbClr val="102A43"/>
                </a:solidFill>
              </a:rPr>
              <a:t>Current result: an executable ordinary-list implementation. The historical backend remains future work.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789599745"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SCOPE</a:t>
            </a:r>
            <a:endParaRPr/>
          </a:p>
        </p:txBody>
      </p:sp>
      <p:sp>
        <p:nvSpPr>
          <p:cNvPr id="1143770729"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Current scope: valid-input sorting</a:t>
            </a:r>
            <a:endParaRPr/>
          </a:p>
        </p:txBody>
      </p:sp>
      <p:sp>
        <p:nvSpPr>
          <p:cNvPr id="2144176398" name=""/>
          <p:cNvSpPr>
            <a:spLocks noGrp="1"/>
          </p:cNvSpPr>
          <p:nvPr/>
        </p:nvSpPr>
        <p:spPr bwMode="auto">
          <a:xfrm>
            <a:off x="609600" y="1085850"/>
            <a:ext cx="10972800" cy="9525"/>
          </a:xfrm>
          <a:prstGeom prst="line">
            <a:avLst/>
          </a:prstGeom>
          <a:noFill/>
          <a:ln w="28575">
            <a:solidFill>
              <a:srgbClr val="2A9D8F"/>
            </a:solidFill>
            <a:prstDash val="solid"/>
          </a:ln>
        </p:spPr>
      </p:sp>
      <p:sp>
        <p:nvSpPr>
          <p:cNvPr id="967364812" name=""/>
          <p:cNvSpPr>
            <a:spLocks noGrp="1"/>
          </p:cNvSpPr>
          <p:nvPr/>
        </p:nvSpPr>
        <p:spPr bwMode="auto">
          <a:xfrm>
            <a:off x="609600" y="6477000"/>
            <a:ext cx="10972800" cy="9525"/>
          </a:xfrm>
          <a:prstGeom prst="line">
            <a:avLst/>
          </a:prstGeom>
          <a:noFill/>
          <a:ln w="9525">
            <a:solidFill>
              <a:srgbClr val="D9E2EC"/>
            </a:solidFill>
            <a:prstDash val="solid"/>
          </a:ln>
        </p:spPr>
      </p:sp>
      <p:sp>
        <p:nvSpPr>
          <p:cNvPr id="1151630236"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179141800"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4 / 16</a:t>
            </a:r>
            <a:endParaRPr/>
          </a:p>
        </p:txBody>
      </p:sp>
      <p:sp>
        <p:nvSpPr>
          <p:cNvPr id="1990034996" name=""/>
          <p:cNvSpPr>
            <a:spLocks noGrp="1"/>
          </p:cNvSpPr>
          <p:nvPr/>
        </p:nvSpPr>
        <p:spPr bwMode="auto">
          <a:xfrm>
            <a:off x="723900" y="1447800"/>
            <a:ext cx="4953000" cy="3905250"/>
          </a:xfrm>
          <a:prstGeom prst="roundRect">
            <a:avLst>
              <a:gd name="adj" fmla="val 1951"/>
            </a:avLst>
          </a:prstGeom>
          <a:solidFill>
            <a:srgbClr val="FFFFFF"/>
          </a:solidFill>
          <a:ln w="11430">
            <a:solidFill>
              <a:srgbClr val="D9E2EC"/>
            </a:solidFill>
            <a:prstDash val="solid"/>
          </a:ln>
        </p:spPr>
      </p:sp>
      <p:sp>
        <p:nvSpPr>
          <p:cNvPr id="1473955655" name=""/>
          <p:cNvSpPr>
            <a:spLocks noGrp="1"/>
          </p:cNvSpPr>
          <p:nvPr/>
        </p:nvSpPr>
        <p:spPr bwMode="auto">
          <a:xfrm>
            <a:off x="6515100" y="1447800"/>
            <a:ext cx="4953000" cy="3905250"/>
          </a:xfrm>
          <a:prstGeom prst="roundRect">
            <a:avLst>
              <a:gd name="adj" fmla="val 1951"/>
            </a:avLst>
          </a:prstGeom>
          <a:solidFill>
            <a:srgbClr val="FFFFFF"/>
          </a:solidFill>
          <a:ln w="19050">
            <a:solidFill>
              <a:srgbClr val="2A9D8F"/>
            </a:solidFill>
            <a:prstDash val="solid"/>
          </a:ln>
        </p:spPr>
      </p:sp>
      <p:sp>
        <p:nvSpPr>
          <p:cNvPr id="2008965735" name=""/>
          <p:cNvSpPr>
            <a:spLocks noGrp="1"/>
          </p:cNvSpPr>
          <p:nvPr/>
        </p:nvSpPr>
        <p:spPr bwMode="auto">
          <a:xfrm>
            <a:off x="952500" y="1676400"/>
            <a:ext cx="4476750" cy="4191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900" b="1" i="0">
                <a:solidFill>
                  <a:srgbClr val="52606D"/>
                </a:solidFill>
              </a:defRPr>
            </a:pPr>
            <a:r>
              <a:rPr sz="1900" b="1" i="0">
                <a:solidFill>
                  <a:srgbClr val="52606D"/>
                </a:solidFill>
              </a:rPr>
              <a:t>Earlier planning emphasis</a:t>
            </a:r>
            <a:endParaRPr/>
          </a:p>
        </p:txBody>
      </p:sp>
      <p:sp>
        <p:nvSpPr>
          <p:cNvPr id="786823693" name=""/>
          <p:cNvSpPr>
            <a:spLocks noGrp="1"/>
          </p:cNvSpPr>
          <p:nvPr/>
        </p:nvSpPr>
        <p:spPr bwMode="auto">
          <a:xfrm>
            <a:off x="6743700" y="1676400"/>
            <a:ext cx="4476750" cy="4191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900" b="1" i="0">
                <a:solidFill>
                  <a:srgbClr val="2A9D8F"/>
                </a:solidFill>
              </a:defRPr>
            </a:pPr>
            <a:r>
              <a:rPr sz="1900" b="1" i="0">
                <a:solidFill>
                  <a:srgbClr val="2A9D8F"/>
                </a:solidFill>
              </a:rPr>
              <a:t>Current research scope</a:t>
            </a:r>
            <a:endParaRPr/>
          </a:p>
        </p:txBody>
      </p:sp>
      <p:sp>
        <p:nvSpPr>
          <p:cNvPr id="64628012" name=""/>
          <p:cNvSpPr>
            <a:spLocks noGrp="1"/>
          </p:cNvSpPr>
          <p:nvPr/>
        </p:nvSpPr>
        <p:spPr bwMode="auto">
          <a:xfrm>
            <a:off x="971550" y="226695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52606D"/>
                </a:solidFill>
              </a:defRPr>
            </a:pPr>
            <a:r>
              <a:rPr sz="1350" b="0" i="0">
                <a:solidFill>
                  <a:srgbClr val="52606D"/>
                </a:solidFill>
              </a:rPr>
              <a:t>General structural framework</a:t>
            </a:r>
            <a:endParaRPr/>
          </a:p>
        </p:txBody>
      </p:sp>
      <p:sp>
        <p:nvSpPr>
          <p:cNvPr id="583707525" name=""/>
          <p:cNvSpPr>
            <a:spLocks noGrp="1"/>
          </p:cNvSpPr>
          <p:nvPr/>
        </p:nvSpPr>
        <p:spPr bwMode="auto">
          <a:xfrm>
            <a:off x="5810250" y="2266950"/>
            <a:ext cx="552450" cy="3619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E76F51"/>
                </a:solidFill>
              </a:defRPr>
            </a:pPr>
            <a:r>
              <a:rPr sz="1950" b="1" i="0">
                <a:solidFill>
                  <a:srgbClr val="E76F51"/>
                </a:solidFill>
              </a:rPr>
              <a:t>→</a:t>
            </a:r>
            <a:endParaRPr/>
          </a:p>
        </p:txBody>
      </p:sp>
      <p:sp>
        <p:nvSpPr>
          <p:cNvPr id="394091997" name=""/>
          <p:cNvSpPr>
            <a:spLocks noGrp="1"/>
          </p:cNvSpPr>
          <p:nvPr/>
        </p:nvSpPr>
        <p:spPr bwMode="auto">
          <a:xfrm>
            <a:off x="6762750" y="226695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1" i="0">
                <a:solidFill>
                  <a:srgbClr val="243B53"/>
                </a:solidFill>
              </a:defRPr>
            </a:pPr>
            <a:r>
              <a:rPr sz="1350" b="1" i="0">
                <a:solidFill>
                  <a:srgbClr val="243B53"/>
                </a:solidFill>
              </a:rPr>
              <a:t>Executable reconstruction of the 1990 procedure</a:t>
            </a:r>
            <a:endParaRPr/>
          </a:p>
        </p:txBody>
      </p:sp>
      <p:sp>
        <p:nvSpPr>
          <p:cNvPr id="181902550" name=""/>
          <p:cNvSpPr>
            <a:spLocks noGrp="1"/>
          </p:cNvSpPr>
          <p:nvPr/>
        </p:nvSpPr>
        <p:spPr bwMode="auto">
          <a:xfrm>
            <a:off x="971550" y="274320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52606D"/>
                </a:solidFill>
              </a:defRPr>
            </a:pPr>
            <a:r>
              <a:rPr sz="1350" b="0" i="0">
                <a:solidFill>
                  <a:srgbClr val="52606D"/>
                </a:solidFill>
              </a:rPr>
              <a:t>Valid and invalid generators</a:t>
            </a:r>
            <a:endParaRPr/>
          </a:p>
        </p:txBody>
      </p:sp>
      <p:sp>
        <p:nvSpPr>
          <p:cNvPr id="38832256" name=""/>
          <p:cNvSpPr>
            <a:spLocks noGrp="1"/>
          </p:cNvSpPr>
          <p:nvPr/>
        </p:nvSpPr>
        <p:spPr bwMode="auto">
          <a:xfrm>
            <a:off x="5810250" y="2743200"/>
            <a:ext cx="552450" cy="3619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E76F51"/>
                </a:solidFill>
              </a:defRPr>
            </a:pPr>
            <a:r>
              <a:rPr sz="1950" b="1" i="0">
                <a:solidFill>
                  <a:srgbClr val="E76F51"/>
                </a:solidFill>
              </a:rPr>
              <a:t>→</a:t>
            </a:r>
            <a:endParaRPr/>
          </a:p>
        </p:txBody>
      </p:sp>
      <p:sp>
        <p:nvSpPr>
          <p:cNvPr id="1612979452" name=""/>
          <p:cNvSpPr>
            <a:spLocks noGrp="1"/>
          </p:cNvSpPr>
          <p:nvPr/>
        </p:nvSpPr>
        <p:spPr bwMode="auto">
          <a:xfrm>
            <a:off x="6762750" y="274320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243B53"/>
                </a:solidFill>
              </a:defRPr>
            </a:pPr>
            <a:r>
              <a:rPr sz="1350" b="0" i="0">
                <a:solidFill>
                  <a:srgbClr val="243B53"/>
                </a:solidFill>
              </a:rPr>
              <a:t>Oracle-certified valid-input sorting</a:t>
            </a:r>
            <a:endParaRPr/>
          </a:p>
        </p:txBody>
      </p:sp>
      <p:sp>
        <p:nvSpPr>
          <p:cNvPr id="231446893" name=""/>
          <p:cNvSpPr>
            <a:spLocks noGrp="1"/>
          </p:cNvSpPr>
          <p:nvPr/>
        </p:nvSpPr>
        <p:spPr bwMode="auto">
          <a:xfrm>
            <a:off x="971550" y="3219449"/>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52606D"/>
                </a:solidFill>
              </a:defRPr>
            </a:pPr>
            <a:r>
              <a:rPr sz="1350" b="0" i="0">
                <a:solidFill>
                  <a:srgbClr val="52606D"/>
                </a:solidFill>
              </a:rPr>
              <a:t>Static family trees</a:t>
            </a:r>
            <a:endParaRPr/>
          </a:p>
        </p:txBody>
      </p:sp>
      <p:sp>
        <p:nvSpPr>
          <p:cNvPr id="783191748" name=""/>
          <p:cNvSpPr>
            <a:spLocks noGrp="1"/>
          </p:cNvSpPr>
          <p:nvPr/>
        </p:nvSpPr>
        <p:spPr bwMode="auto">
          <a:xfrm>
            <a:off x="5810250" y="3219449"/>
            <a:ext cx="552450" cy="3619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E76F51"/>
                </a:solidFill>
              </a:defRPr>
            </a:pPr>
            <a:r>
              <a:rPr sz="1950" b="1" i="0">
                <a:solidFill>
                  <a:srgbClr val="E76F51"/>
                </a:solidFill>
              </a:rPr>
              <a:t>→</a:t>
            </a:r>
            <a:endParaRPr/>
          </a:p>
        </p:txBody>
      </p:sp>
      <p:sp>
        <p:nvSpPr>
          <p:cNvPr id="834036379" name=""/>
          <p:cNvSpPr>
            <a:spLocks noGrp="1"/>
          </p:cNvSpPr>
          <p:nvPr/>
        </p:nvSpPr>
        <p:spPr bwMode="auto">
          <a:xfrm>
            <a:off x="6762750" y="3219449"/>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1" i="0">
                <a:solidFill>
                  <a:srgbClr val="243B53"/>
                </a:solidFill>
              </a:defRPr>
            </a:pPr>
            <a:r>
              <a:rPr sz="1350" b="1" i="0">
                <a:solidFill>
                  <a:srgbClr val="243B53"/>
                </a:solidFill>
              </a:rPr>
              <a:t>Dynamic sibling-list state</a:t>
            </a:r>
            <a:endParaRPr/>
          </a:p>
        </p:txBody>
      </p:sp>
      <p:sp>
        <p:nvSpPr>
          <p:cNvPr id="1925647215" name=""/>
          <p:cNvSpPr>
            <a:spLocks noGrp="1"/>
          </p:cNvSpPr>
          <p:nvPr/>
        </p:nvSpPr>
        <p:spPr bwMode="auto">
          <a:xfrm>
            <a:off x="971550" y="369570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52606D"/>
                </a:solidFill>
              </a:defRPr>
            </a:pPr>
            <a:r>
              <a:rPr sz="1350" b="0" i="0">
                <a:solidFill>
                  <a:srgbClr val="52606D"/>
                </a:solidFill>
              </a:rPr>
              <a:t>Broad reference evaluation</a:t>
            </a:r>
            <a:endParaRPr/>
          </a:p>
        </p:txBody>
      </p:sp>
      <p:sp>
        <p:nvSpPr>
          <p:cNvPr id="1047684564" name=""/>
          <p:cNvSpPr>
            <a:spLocks noGrp="1"/>
          </p:cNvSpPr>
          <p:nvPr/>
        </p:nvSpPr>
        <p:spPr bwMode="auto">
          <a:xfrm>
            <a:off x="5810250" y="3695700"/>
            <a:ext cx="552450" cy="3619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E76F51"/>
                </a:solidFill>
              </a:defRPr>
            </a:pPr>
            <a:r>
              <a:rPr sz="1950" b="1" i="0">
                <a:solidFill>
                  <a:srgbClr val="E76F51"/>
                </a:solidFill>
              </a:rPr>
              <a:t>→</a:t>
            </a:r>
            <a:endParaRPr/>
          </a:p>
        </p:txBody>
      </p:sp>
      <p:sp>
        <p:nvSpPr>
          <p:cNvPr id="331520423" name=""/>
          <p:cNvSpPr>
            <a:spLocks noGrp="1"/>
          </p:cNvSpPr>
          <p:nvPr/>
        </p:nvSpPr>
        <p:spPr bwMode="auto">
          <a:xfrm>
            <a:off x="6762750" y="369570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243B53"/>
                </a:solidFill>
              </a:defRPr>
            </a:pPr>
            <a:r>
              <a:rPr sz="1350" b="0" i="0">
                <a:solidFill>
                  <a:srgbClr val="243B53"/>
                </a:solidFill>
              </a:rPr>
              <a:t>Paper core, reference pipeline, Python sort</a:t>
            </a:r>
            <a:endParaRPr/>
          </a:p>
        </p:txBody>
      </p:sp>
      <p:sp>
        <p:nvSpPr>
          <p:cNvPr id="360754541" name=""/>
          <p:cNvSpPr>
            <a:spLocks noGrp="1"/>
          </p:cNvSpPr>
          <p:nvPr/>
        </p:nvSpPr>
        <p:spPr bwMode="auto">
          <a:xfrm>
            <a:off x="971550" y="417195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52606D"/>
                </a:solidFill>
              </a:defRPr>
            </a:pPr>
            <a:r>
              <a:rPr sz="1350" b="0" i="0">
                <a:solidFill>
                  <a:srgbClr val="52606D"/>
                </a:solidFill>
              </a:rPr>
              <a:t>Recognition as a possible experiment</a:t>
            </a:r>
            <a:endParaRPr/>
          </a:p>
        </p:txBody>
      </p:sp>
      <p:sp>
        <p:nvSpPr>
          <p:cNvPr id="1328184865" name=""/>
          <p:cNvSpPr>
            <a:spLocks noGrp="1"/>
          </p:cNvSpPr>
          <p:nvPr/>
        </p:nvSpPr>
        <p:spPr bwMode="auto">
          <a:xfrm>
            <a:off x="5810250" y="4171950"/>
            <a:ext cx="552450" cy="3619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E76F51"/>
                </a:solidFill>
              </a:defRPr>
            </a:pPr>
            <a:r>
              <a:rPr sz="1950" b="1" i="0">
                <a:solidFill>
                  <a:srgbClr val="E76F51"/>
                </a:solidFill>
              </a:rPr>
              <a:t>→</a:t>
            </a:r>
            <a:endParaRPr/>
          </a:p>
        </p:txBody>
      </p:sp>
      <p:sp>
        <p:nvSpPr>
          <p:cNvPr id="921018059" name=""/>
          <p:cNvSpPr>
            <a:spLocks noGrp="1"/>
          </p:cNvSpPr>
          <p:nvPr/>
        </p:nvSpPr>
        <p:spPr bwMode="auto">
          <a:xfrm>
            <a:off x="6762750" y="417195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243B53"/>
                </a:solidFill>
              </a:defRPr>
            </a:pPr>
            <a:r>
              <a:rPr sz="1350" b="0" i="0">
                <a:solidFill>
                  <a:srgbClr val="243B53"/>
                </a:solidFill>
              </a:rPr>
              <a:t>Recognition remains separate</a:t>
            </a:r>
            <a:endParaRPr/>
          </a:p>
        </p:txBody>
      </p:sp>
      <p:sp>
        <p:nvSpPr>
          <p:cNvPr id="1681546990" name=""/>
          <p:cNvSpPr>
            <a:spLocks noGrp="1"/>
          </p:cNvSpPr>
          <p:nvPr/>
        </p:nvSpPr>
        <p:spPr bwMode="auto">
          <a:xfrm>
            <a:off x="971550" y="464820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52606D"/>
                </a:solidFill>
              </a:defRPr>
            </a:pPr>
            <a:r>
              <a:rPr sz="1350" b="0" i="0">
                <a:solidFill>
                  <a:srgbClr val="52606D"/>
                </a:solidFill>
              </a:rPr>
              <a:t>Theoretical backend implementation</a:t>
            </a:r>
            <a:endParaRPr/>
          </a:p>
        </p:txBody>
      </p:sp>
      <p:sp>
        <p:nvSpPr>
          <p:cNvPr id="243874326" name=""/>
          <p:cNvSpPr>
            <a:spLocks noGrp="1"/>
          </p:cNvSpPr>
          <p:nvPr/>
        </p:nvSpPr>
        <p:spPr bwMode="auto">
          <a:xfrm>
            <a:off x="5810250" y="4648200"/>
            <a:ext cx="552450" cy="3619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E76F51"/>
                </a:solidFill>
              </a:defRPr>
            </a:pPr>
            <a:r>
              <a:rPr sz="1950" b="1" i="0">
                <a:solidFill>
                  <a:srgbClr val="E76F51"/>
                </a:solidFill>
              </a:rPr>
              <a:t>→</a:t>
            </a:r>
            <a:endParaRPr/>
          </a:p>
        </p:txBody>
      </p:sp>
      <p:sp>
        <p:nvSpPr>
          <p:cNvPr id="1603751753" name=""/>
          <p:cNvSpPr>
            <a:spLocks noGrp="1"/>
          </p:cNvSpPr>
          <p:nvPr/>
        </p:nvSpPr>
        <p:spPr bwMode="auto">
          <a:xfrm>
            <a:off x="6762750" y="4648200"/>
            <a:ext cx="4333875" cy="3619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243B53"/>
                </a:solidFill>
              </a:defRPr>
            </a:pPr>
            <a:r>
              <a:rPr sz="1350" b="0" i="0">
                <a:solidFill>
                  <a:srgbClr val="243B53"/>
                </a:solidFill>
              </a:rPr>
              <a:t>Ordinary lists in the current implementation</a:t>
            </a:r>
            <a:endParaRPr/>
          </a:p>
        </p:txBody>
      </p:sp>
      <p:sp>
        <p:nvSpPr>
          <p:cNvPr id="63891274" name=""/>
          <p:cNvSpPr>
            <a:spLocks noGrp="1"/>
          </p:cNvSpPr>
          <p:nvPr/>
        </p:nvSpPr>
        <p:spPr bwMode="auto">
          <a:xfrm>
            <a:off x="1143000" y="5505450"/>
            <a:ext cx="9906000" cy="6096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650" b="1" i="0">
                <a:solidFill>
                  <a:srgbClr val="102A43"/>
                </a:solidFill>
              </a:defRPr>
            </a:pPr>
            <a:r>
              <a:rPr sz="1650" b="1" i="0">
                <a:solidFill>
                  <a:srgbClr val="102A43"/>
                </a:solidFill>
              </a:rPr>
              <a:t>The experiment evaluates the ordinary-list implementation. A finger-tree backend remains a possible extension.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1871451322"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RESEARCH QUESTIONS</a:t>
            </a:r>
            <a:endParaRPr/>
          </a:p>
        </p:txBody>
      </p:sp>
      <p:sp>
        <p:nvSpPr>
          <p:cNvPr id="81088269"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90096"/>
          </a:bodyPr>
          <a:lstStyle/>
          <a:p>
            <a:pPr algn="l">
              <a:lnSpc>
                <a:spcPct val="95000"/>
              </a:lnSpc>
              <a:buNone/>
              <a:defRPr sz="2700" b="1" i="0">
                <a:solidFill>
                  <a:srgbClr val="102A43"/>
                </a:solidFill>
              </a:defRPr>
            </a:pPr>
            <a:r>
              <a:rPr sz="2700" b="1" i="0">
                <a:solidFill>
                  <a:srgbClr val="102A43"/>
                </a:solidFill>
              </a:rPr>
              <a:t>Three questions connect reconstruction, measurement, and interpretation</a:t>
            </a:r>
            <a:endParaRPr/>
          </a:p>
        </p:txBody>
      </p:sp>
      <p:sp>
        <p:nvSpPr>
          <p:cNvPr id="1349968885" name=""/>
          <p:cNvSpPr>
            <a:spLocks noGrp="1"/>
          </p:cNvSpPr>
          <p:nvPr/>
        </p:nvSpPr>
        <p:spPr bwMode="auto">
          <a:xfrm>
            <a:off x="609600" y="1085850"/>
            <a:ext cx="10972800" cy="9525"/>
          </a:xfrm>
          <a:prstGeom prst="line">
            <a:avLst/>
          </a:prstGeom>
          <a:noFill/>
          <a:ln w="28575">
            <a:solidFill>
              <a:srgbClr val="2A9D8F"/>
            </a:solidFill>
            <a:prstDash val="solid"/>
          </a:ln>
        </p:spPr>
      </p:sp>
      <p:sp>
        <p:nvSpPr>
          <p:cNvPr id="1656051610" name=""/>
          <p:cNvSpPr>
            <a:spLocks noGrp="1"/>
          </p:cNvSpPr>
          <p:nvPr/>
        </p:nvSpPr>
        <p:spPr bwMode="auto">
          <a:xfrm>
            <a:off x="609600" y="6477000"/>
            <a:ext cx="10972800" cy="9525"/>
          </a:xfrm>
          <a:prstGeom prst="line">
            <a:avLst/>
          </a:prstGeom>
          <a:noFill/>
          <a:ln w="9525">
            <a:solidFill>
              <a:srgbClr val="D9E2EC"/>
            </a:solidFill>
            <a:prstDash val="solid"/>
          </a:ln>
        </p:spPr>
      </p:sp>
      <p:sp>
        <p:nvSpPr>
          <p:cNvPr id="2091776585"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594054717"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5 / 16</a:t>
            </a:r>
            <a:endParaRPr/>
          </a:p>
        </p:txBody>
      </p:sp>
      <p:sp>
        <p:nvSpPr>
          <p:cNvPr id="2134029320" name=""/>
          <p:cNvSpPr>
            <a:spLocks noGrp="1"/>
          </p:cNvSpPr>
          <p:nvPr/>
        </p:nvSpPr>
        <p:spPr bwMode="auto">
          <a:xfrm>
            <a:off x="723900" y="1485900"/>
            <a:ext cx="10744200" cy="1200150"/>
          </a:xfrm>
          <a:prstGeom prst="roundRect">
            <a:avLst>
              <a:gd name="adj" fmla="val 6349"/>
            </a:avLst>
          </a:prstGeom>
          <a:solidFill>
            <a:srgbClr val="E8F5F3"/>
          </a:solidFill>
          <a:ln w="11430">
            <a:solidFill>
              <a:srgbClr val="E8F5F3"/>
            </a:solidFill>
            <a:prstDash val="solid"/>
          </a:ln>
        </p:spPr>
      </p:sp>
      <p:sp>
        <p:nvSpPr>
          <p:cNvPr id="1610373075" name=""/>
          <p:cNvSpPr>
            <a:spLocks noGrp="1"/>
          </p:cNvSpPr>
          <p:nvPr/>
        </p:nvSpPr>
        <p:spPr bwMode="auto">
          <a:xfrm>
            <a:off x="914400" y="1657350"/>
            <a:ext cx="1143000" cy="438149"/>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2100" b="1" i="0">
                <a:solidFill>
                  <a:srgbClr val="2A9D8F"/>
                </a:solidFill>
              </a:defRPr>
            </a:pPr>
            <a:r>
              <a:rPr sz="2100" b="1" i="0">
                <a:solidFill>
                  <a:srgbClr val="2A9D8F"/>
                </a:solidFill>
              </a:rPr>
              <a:t>RQ1</a:t>
            </a:r>
            <a:endParaRPr/>
          </a:p>
        </p:txBody>
      </p:sp>
      <p:sp>
        <p:nvSpPr>
          <p:cNvPr id="713661465" name=""/>
          <p:cNvSpPr>
            <a:spLocks noGrp="1"/>
          </p:cNvSpPr>
          <p:nvPr/>
        </p:nvSpPr>
        <p:spPr bwMode="auto">
          <a:xfrm>
            <a:off x="2152650" y="1619250"/>
            <a:ext cx="4953000" cy="4191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800" b="1" i="0">
                <a:solidFill>
                  <a:srgbClr val="102A43"/>
                </a:solidFill>
              </a:defRPr>
            </a:pPr>
            <a:r>
              <a:rPr sz="1800" b="1" i="0">
                <a:solidFill>
                  <a:srgbClr val="102A43"/>
                </a:solidFill>
              </a:rPr>
              <a:t>Executable reconstruction and correctness</a:t>
            </a:r>
            <a:endParaRPr/>
          </a:p>
        </p:txBody>
      </p:sp>
      <p:sp>
        <p:nvSpPr>
          <p:cNvPr id="869491260" name=""/>
          <p:cNvSpPr>
            <a:spLocks noGrp="1"/>
          </p:cNvSpPr>
          <p:nvPr/>
        </p:nvSpPr>
        <p:spPr bwMode="auto">
          <a:xfrm>
            <a:off x="2152650" y="2057400"/>
            <a:ext cx="8858250" cy="4762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243B53"/>
                </a:solidFill>
              </a:defRPr>
            </a:pPr>
            <a:r>
              <a:rPr sz="1350" b="0" i="0">
                <a:solidFill>
                  <a:srgbClr val="243B53"/>
                </a:solidFill>
              </a:rPr>
              <a:t>Can an ordinary-list reconstruction recover sorted order from maintained state for oracle-certified valid inputs?</a:t>
            </a:r>
            <a:endParaRPr/>
          </a:p>
        </p:txBody>
      </p:sp>
      <p:sp>
        <p:nvSpPr>
          <p:cNvPr id="1215482123" name=""/>
          <p:cNvSpPr>
            <a:spLocks noGrp="1"/>
          </p:cNvSpPr>
          <p:nvPr/>
        </p:nvSpPr>
        <p:spPr bwMode="auto">
          <a:xfrm>
            <a:off x="8477250" y="1647825"/>
            <a:ext cx="2571750" cy="285750"/>
          </a:xfrm>
          <a:prstGeom prst="roundRect">
            <a:avLst>
              <a:gd name="adj" fmla="val 20000"/>
            </a:avLst>
          </a:prstGeom>
          <a:solidFill>
            <a:srgbClr val="2A9D8F"/>
          </a:solidFill>
          <a:ln w="11430">
            <a:solidFill>
              <a:srgbClr val="2A9D8F"/>
            </a:solidFill>
            <a:prstDash val="solid"/>
          </a:ln>
        </p:spPr>
      </p:sp>
      <p:sp>
        <p:nvSpPr>
          <p:cNvPr id="1466020061" name=""/>
          <p:cNvSpPr>
            <a:spLocks noGrp="1"/>
          </p:cNvSpPr>
          <p:nvPr/>
        </p:nvSpPr>
        <p:spPr bwMode="auto">
          <a:xfrm>
            <a:off x="8477250" y="1657350"/>
            <a:ext cx="2571750" cy="2667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000" b="1" i="0">
                <a:solidFill>
                  <a:srgbClr val="FFFFFF"/>
                </a:solidFill>
              </a:defRPr>
            </a:pPr>
            <a:r>
              <a:rPr sz="1000" b="1" i="0">
                <a:solidFill>
                  <a:srgbClr val="FFFFFF"/>
                </a:solidFill>
              </a:rPr>
              <a:t>PRIMARY TECHNICAL QUESTION</a:t>
            </a:r>
            <a:endParaRPr/>
          </a:p>
        </p:txBody>
      </p:sp>
      <p:sp>
        <p:nvSpPr>
          <p:cNvPr id="1891280313" name=""/>
          <p:cNvSpPr>
            <a:spLocks noGrp="1"/>
          </p:cNvSpPr>
          <p:nvPr/>
        </p:nvSpPr>
        <p:spPr bwMode="auto">
          <a:xfrm>
            <a:off x="723900" y="2990850"/>
            <a:ext cx="10744200" cy="1200150"/>
          </a:xfrm>
          <a:prstGeom prst="roundRect">
            <a:avLst>
              <a:gd name="adj" fmla="val 6349"/>
            </a:avLst>
          </a:prstGeom>
          <a:solidFill>
            <a:srgbClr val="FCEEEA"/>
          </a:solidFill>
          <a:ln w="11430">
            <a:solidFill>
              <a:srgbClr val="FCEEEA"/>
            </a:solidFill>
            <a:prstDash val="solid"/>
          </a:ln>
        </p:spPr>
      </p:sp>
      <p:sp>
        <p:nvSpPr>
          <p:cNvPr id="1007068022" name=""/>
          <p:cNvSpPr>
            <a:spLocks noGrp="1"/>
          </p:cNvSpPr>
          <p:nvPr/>
        </p:nvSpPr>
        <p:spPr bwMode="auto">
          <a:xfrm>
            <a:off x="914400" y="3162300"/>
            <a:ext cx="1143000" cy="438149"/>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2100" b="1" i="0">
                <a:solidFill>
                  <a:srgbClr val="E76F51"/>
                </a:solidFill>
              </a:defRPr>
            </a:pPr>
            <a:r>
              <a:rPr sz="2100" b="1" i="0">
                <a:solidFill>
                  <a:srgbClr val="E76F51"/>
                </a:solidFill>
              </a:rPr>
              <a:t>RQ2</a:t>
            </a:r>
            <a:endParaRPr/>
          </a:p>
        </p:txBody>
      </p:sp>
      <p:sp>
        <p:nvSpPr>
          <p:cNvPr id="1013849640" name=""/>
          <p:cNvSpPr>
            <a:spLocks noGrp="1"/>
          </p:cNvSpPr>
          <p:nvPr/>
        </p:nvSpPr>
        <p:spPr bwMode="auto">
          <a:xfrm>
            <a:off x="2152650" y="3124200"/>
            <a:ext cx="4953000" cy="4191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800" b="1" i="0">
                <a:solidFill>
                  <a:srgbClr val="102A43"/>
                </a:solidFill>
              </a:defRPr>
            </a:pPr>
            <a:r>
              <a:rPr sz="1800" b="1" i="0">
                <a:solidFill>
                  <a:srgbClr val="102A43"/>
                </a:solidFill>
              </a:rPr>
              <a:t>Observed runtime behavior</a:t>
            </a:r>
            <a:endParaRPr/>
          </a:p>
        </p:txBody>
      </p:sp>
      <p:sp>
        <p:nvSpPr>
          <p:cNvPr id="597719987" name=""/>
          <p:cNvSpPr>
            <a:spLocks noGrp="1"/>
          </p:cNvSpPr>
          <p:nvPr/>
        </p:nvSpPr>
        <p:spPr bwMode="auto">
          <a:xfrm>
            <a:off x="2152650" y="3562350"/>
            <a:ext cx="8858250" cy="4762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243B53"/>
                </a:solidFill>
              </a:defRPr>
            </a:pPr>
            <a:r>
              <a:rPr sz="1350" b="0" i="0">
                <a:solidFill>
                  <a:srgbClr val="243B53"/>
                </a:solidFill>
              </a:rPr>
              <a:t>How does the paper core behave on pre-certified inputs relative to Python sort and the complete reference pipeline under different timing scopes?</a:t>
            </a:r>
            <a:endParaRPr/>
          </a:p>
        </p:txBody>
      </p:sp>
      <p:sp>
        <p:nvSpPr>
          <p:cNvPr id="1654004089" name=""/>
          <p:cNvSpPr>
            <a:spLocks noGrp="1"/>
          </p:cNvSpPr>
          <p:nvPr/>
        </p:nvSpPr>
        <p:spPr bwMode="auto">
          <a:xfrm>
            <a:off x="723900" y="4495800"/>
            <a:ext cx="10744200" cy="1200150"/>
          </a:xfrm>
          <a:prstGeom prst="roundRect">
            <a:avLst>
              <a:gd name="adj" fmla="val 6349"/>
            </a:avLst>
          </a:prstGeom>
          <a:solidFill>
            <a:srgbClr val="EDF2F7"/>
          </a:solidFill>
          <a:ln w="11430">
            <a:solidFill>
              <a:srgbClr val="EDF2F7"/>
            </a:solidFill>
            <a:prstDash val="solid"/>
          </a:ln>
        </p:spPr>
      </p:sp>
      <p:sp>
        <p:nvSpPr>
          <p:cNvPr id="1941315200" name=""/>
          <p:cNvSpPr>
            <a:spLocks noGrp="1"/>
          </p:cNvSpPr>
          <p:nvPr/>
        </p:nvSpPr>
        <p:spPr bwMode="auto">
          <a:xfrm>
            <a:off x="914400" y="4667250"/>
            <a:ext cx="1143000" cy="438149"/>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2100" b="1" i="0">
                <a:solidFill>
                  <a:srgbClr val="52606D"/>
                </a:solidFill>
              </a:defRPr>
            </a:pPr>
            <a:r>
              <a:rPr sz="2100" b="1" i="0">
                <a:solidFill>
                  <a:srgbClr val="52606D"/>
                </a:solidFill>
              </a:rPr>
              <a:t>RQ3</a:t>
            </a:r>
            <a:endParaRPr/>
          </a:p>
        </p:txBody>
      </p:sp>
      <p:sp>
        <p:nvSpPr>
          <p:cNvPr id="1641783999" name=""/>
          <p:cNvSpPr>
            <a:spLocks noGrp="1"/>
          </p:cNvSpPr>
          <p:nvPr/>
        </p:nvSpPr>
        <p:spPr bwMode="auto">
          <a:xfrm>
            <a:off x="2152650" y="4629150"/>
            <a:ext cx="4953000" cy="4191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800" b="1" i="0">
                <a:solidFill>
                  <a:srgbClr val="102A43"/>
                </a:solidFill>
              </a:defRPr>
            </a:pPr>
            <a:r>
              <a:rPr sz="1800" b="1" i="0">
                <a:solidFill>
                  <a:srgbClr val="102A43"/>
                </a:solidFill>
              </a:rPr>
              <a:t>Structure and implementation cost</a:t>
            </a:r>
            <a:endParaRPr/>
          </a:p>
        </p:txBody>
      </p:sp>
      <p:sp>
        <p:nvSpPr>
          <p:cNvPr id="527465634" name=""/>
          <p:cNvSpPr>
            <a:spLocks noGrp="1"/>
          </p:cNvSpPr>
          <p:nvPr/>
        </p:nvSpPr>
        <p:spPr bwMode="auto">
          <a:xfrm>
            <a:off x="2152650" y="5067300"/>
            <a:ext cx="8858250" cy="4762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350" b="0" i="0">
                <a:solidFill>
                  <a:srgbClr val="243B53"/>
                </a:solidFill>
              </a:defRPr>
            </a:pPr>
            <a:r>
              <a:rPr sz="1350" b="0" i="0">
                <a:solidFill>
                  <a:srgbClr val="243B53"/>
                </a:solidFill>
              </a:rPr>
              <a:t>What descriptive relationships appear between input structure, checked operation counters, and runtime?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1602941318"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ARCHITECTURE</a:t>
            </a:r>
            <a:endParaRPr/>
          </a:p>
        </p:txBody>
      </p:sp>
      <p:sp>
        <p:nvSpPr>
          <p:cNvPr id="1600698060"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The oracle, reference pipeline, and paper core have distinct roles</a:t>
            </a:r>
            <a:endParaRPr/>
          </a:p>
        </p:txBody>
      </p:sp>
      <p:sp>
        <p:nvSpPr>
          <p:cNvPr id="1589870531" name=""/>
          <p:cNvSpPr>
            <a:spLocks noGrp="1"/>
          </p:cNvSpPr>
          <p:nvPr/>
        </p:nvSpPr>
        <p:spPr bwMode="auto">
          <a:xfrm>
            <a:off x="609600" y="1085850"/>
            <a:ext cx="10972800" cy="9525"/>
          </a:xfrm>
          <a:prstGeom prst="line">
            <a:avLst/>
          </a:prstGeom>
          <a:noFill/>
          <a:ln w="28575">
            <a:solidFill>
              <a:srgbClr val="2A9D8F"/>
            </a:solidFill>
            <a:prstDash val="solid"/>
          </a:ln>
        </p:spPr>
      </p:sp>
      <p:sp>
        <p:nvSpPr>
          <p:cNvPr id="1108483717" name=""/>
          <p:cNvSpPr>
            <a:spLocks noGrp="1"/>
          </p:cNvSpPr>
          <p:nvPr/>
        </p:nvSpPr>
        <p:spPr bwMode="auto">
          <a:xfrm>
            <a:off x="609600" y="6477000"/>
            <a:ext cx="10972800" cy="9525"/>
          </a:xfrm>
          <a:prstGeom prst="line">
            <a:avLst/>
          </a:prstGeom>
          <a:noFill/>
          <a:ln w="9525">
            <a:solidFill>
              <a:srgbClr val="D9E2EC"/>
            </a:solidFill>
            <a:prstDash val="solid"/>
          </a:ln>
        </p:spPr>
      </p:sp>
      <p:sp>
        <p:nvSpPr>
          <p:cNvPr id="1347650851"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86378243"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6 / 16</a:t>
            </a:r>
            <a:endParaRPr/>
          </a:p>
        </p:txBody>
      </p:sp>
      <p:sp>
        <p:nvSpPr>
          <p:cNvPr id="788393867" name=""/>
          <p:cNvSpPr>
            <a:spLocks noGrp="1"/>
          </p:cNvSpPr>
          <p:nvPr/>
        </p:nvSpPr>
        <p:spPr bwMode="auto">
          <a:xfrm>
            <a:off x="4238625" y="1352550"/>
            <a:ext cx="3714750" cy="876299"/>
          </a:xfrm>
          <a:prstGeom prst="roundRect">
            <a:avLst>
              <a:gd name="adj" fmla="val 8696"/>
            </a:avLst>
          </a:prstGeom>
          <a:solidFill>
            <a:srgbClr val="EAF1F8"/>
          </a:solidFill>
          <a:ln w="19050">
            <a:solidFill>
              <a:srgbClr val="102A43"/>
            </a:solidFill>
            <a:prstDash val="solid"/>
          </a:ln>
        </p:spPr>
      </p:sp>
      <p:sp>
        <p:nvSpPr>
          <p:cNvPr id="1430632839" name=""/>
          <p:cNvSpPr>
            <a:spLocks noGrp="1"/>
          </p:cNvSpPr>
          <p:nvPr/>
        </p:nvSpPr>
        <p:spPr bwMode="auto">
          <a:xfrm>
            <a:off x="4429125" y="1485900"/>
            <a:ext cx="3333750" cy="323850"/>
          </a:xfrm>
          <a:prstGeom prst="rect">
            <a:avLst/>
          </a:prstGeom>
          <a:noFill/>
          <a:ln w="0">
            <a:noFill/>
            <a:prstDash val="solid"/>
          </a:ln>
        </p:spPr>
        <p:txBody>
          <a:bodyPr wrap="square" lIns="38100" tIns="19050" rIns="38100" bIns="19050" anchor="t">
            <a:normAutofit fontScale="95238"/>
          </a:bodyPr>
          <a:lstStyle/>
          <a:p>
            <a:pPr algn="ctr">
              <a:lnSpc>
                <a:spcPct val="105000"/>
              </a:lnSpc>
              <a:buNone/>
              <a:defRPr sz="1900" b="1" i="0">
                <a:solidFill>
                  <a:srgbClr val="102A43"/>
                </a:solidFill>
              </a:defRPr>
            </a:pPr>
            <a:r>
              <a:rPr sz="1900" b="1" i="0">
                <a:solidFill>
                  <a:srgbClr val="102A43"/>
                </a:solidFill>
              </a:rPr>
              <a:t>Certification oracle</a:t>
            </a:r>
            <a:endParaRPr/>
          </a:p>
        </p:txBody>
      </p:sp>
      <p:sp>
        <p:nvSpPr>
          <p:cNvPr id="1532533982" name=""/>
          <p:cNvSpPr>
            <a:spLocks noGrp="1"/>
          </p:cNvSpPr>
          <p:nvPr/>
        </p:nvSpPr>
        <p:spPr bwMode="auto">
          <a:xfrm>
            <a:off x="4429125" y="1847850"/>
            <a:ext cx="3333750" cy="247650"/>
          </a:xfrm>
          <a:prstGeom prst="rect">
            <a:avLst/>
          </a:prstGeom>
          <a:noFill/>
          <a:ln w="0">
            <a:noFill/>
            <a:prstDash val="solid"/>
          </a:ln>
        </p:spPr>
        <p:txBody>
          <a:bodyPr wrap="square" lIns="38100" tIns="19050" rIns="38100" bIns="19050" anchor="t">
            <a:normAutofit fontScale="97002"/>
          </a:bodyPr>
          <a:lstStyle/>
          <a:p>
            <a:pPr algn="ctr">
              <a:lnSpc>
                <a:spcPct val="105000"/>
              </a:lnSpc>
              <a:buNone/>
              <a:defRPr sz="1350" b="0" i="0">
                <a:solidFill>
                  <a:srgbClr val="52606D"/>
                </a:solidFill>
              </a:defRPr>
            </a:pPr>
            <a:r>
              <a:rPr sz="1350" b="0" i="0">
                <a:solidFill>
                  <a:srgbClr val="52606D"/>
                </a:solidFill>
              </a:rPr>
              <a:t>validity + expected sorted order</a:t>
            </a:r>
            <a:endParaRPr/>
          </a:p>
        </p:txBody>
      </p:sp>
      <p:sp>
        <p:nvSpPr>
          <p:cNvPr id="1101016382" name=""/>
          <p:cNvSpPr>
            <a:spLocks noGrp="1"/>
          </p:cNvSpPr>
          <p:nvPr/>
        </p:nvSpPr>
        <p:spPr bwMode="auto">
          <a:xfrm>
            <a:off x="876299" y="3105150"/>
            <a:ext cx="4333875" cy="1809750"/>
          </a:xfrm>
          <a:prstGeom prst="roundRect">
            <a:avLst>
              <a:gd name="adj" fmla="val 4211"/>
            </a:avLst>
          </a:prstGeom>
          <a:solidFill>
            <a:srgbClr val="FCEEEA"/>
          </a:solidFill>
          <a:ln w="19050">
            <a:solidFill>
              <a:srgbClr val="E76F51"/>
            </a:solidFill>
            <a:prstDash val="solid"/>
          </a:ln>
        </p:spPr>
      </p:sp>
      <p:sp>
        <p:nvSpPr>
          <p:cNvPr id="1985462884" name=""/>
          <p:cNvSpPr>
            <a:spLocks noGrp="1"/>
          </p:cNvSpPr>
          <p:nvPr/>
        </p:nvSpPr>
        <p:spPr bwMode="auto">
          <a:xfrm>
            <a:off x="6981825" y="3105150"/>
            <a:ext cx="4333875" cy="1809750"/>
          </a:xfrm>
          <a:prstGeom prst="roundRect">
            <a:avLst>
              <a:gd name="adj" fmla="val 4211"/>
            </a:avLst>
          </a:prstGeom>
          <a:solidFill>
            <a:srgbClr val="E8F5F3"/>
          </a:solidFill>
          <a:ln w="19050">
            <a:solidFill>
              <a:srgbClr val="2A9D8F"/>
            </a:solidFill>
            <a:prstDash val="solid"/>
          </a:ln>
        </p:spPr>
      </p:sp>
      <p:cxnSp>
        <p:nvCxnSpPr>
          <p:cNvPr id="737304578" name=""/>
          <p:cNvCxnSpPr>
            <a:stCxn id="788393867" idx="2"/>
            <a:endCxn id="1101016382" idx="0"/>
          </p:cNvCxnSpPr>
          <p:nvPr/>
        </p:nvCxnSpPr>
        <p:spPr bwMode="auto">
          <a:xfrm flipH="1">
            <a:off x="3043238" y="2228850"/>
            <a:ext cx="3052763" cy="876299"/>
          </a:xfrm>
          <a:prstGeom prst="bentConnector4">
            <a:avLst>
              <a:gd name="adj1" fmla="val 0"/>
              <a:gd name="adj2" fmla="val 50000"/>
            </a:avLst>
          </a:prstGeom>
          <a:ln w="19050">
            <a:solidFill>
              <a:srgbClr val="52606D"/>
            </a:solidFill>
            <a:prstDash val="solid"/>
            <a:tailEnd type="arrow" w="med" len="med"/>
          </a:ln>
        </p:spPr>
      </p:cxnSp>
      <p:cxnSp>
        <p:nvCxnSpPr>
          <p:cNvPr id="105999918" name=""/>
          <p:cNvCxnSpPr>
            <a:stCxn id="788393867" idx="2"/>
            <a:endCxn id="1985462884" idx="0"/>
          </p:cNvCxnSpPr>
          <p:nvPr/>
        </p:nvCxnSpPr>
        <p:spPr bwMode="auto">
          <a:xfrm>
            <a:off x="6096000" y="2228850"/>
            <a:ext cx="3052763" cy="876299"/>
          </a:xfrm>
          <a:prstGeom prst="bentConnector4">
            <a:avLst>
              <a:gd name="adj1" fmla="val 0"/>
              <a:gd name="adj2" fmla="val 50000"/>
            </a:avLst>
          </a:prstGeom>
          <a:ln w="19050">
            <a:solidFill>
              <a:srgbClr val="52606D"/>
            </a:solidFill>
            <a:prstDash val="solid"/>
            <a:tailEnd type="arrow" w="med" len="med"/>
          </a:ln>
        </p:spPr>
      </p:cxnSp>
      <p:sp>
        <p:nvSpPr>
          <p:cNvPr id="1947780846" name=""/>
          <p:cNvSpPr>
            <a:spLocks noGrp="1"/>
          </p:cNvSpPr>
          <p:nvPr/>
        </p:nvSpPr>
        <p:spPr bwMode="auto">
          <a:xfrm>
            <a:off x="1352550" y="2419350"/>
            <a:ext cx="3390900" cy="457200"/>
          </a:xfrm>
          <a:prstGeom prst="roundRect">
            <a:avLst>
              <a:gd name="adj" fmla="val 12500"/>
            </a:avLst>
          </a:prstGeom>
          <a:solidFill>
            <a:srgbClr val="FFFFFF"/>
          </a:solidFill>
          <a:ln w="11430">
            <a:solidFill>
              <a:srgbClr val="E76F51"/>
            </a:solidFill>
            <a:prstDash val="solid"/>
          </a:ln>
        </p:spPr>
      </p:sp>
      <p:sp>
        <p:nvSpPr>
          <p:cNvPr id="961029362" name=""/>
          <p:cNvSpPr>
            <a:spLocks noGrp="1"/>
          </p:cNvSpPr>
          <p:nvPr/>
        </p:nvSpPr>
        <p:spPr bwMode="auto">
          <a:xfrm>
            <a:off x="1485900" y="2476500"/>
            <a:ext cx="312420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E76F51"/>
                </a:solidFill>
              </a:defRPr>
            </a:pPr>
            <a:r>
              <a:rPr sz="1300" b="1" i="0">
                <a:solidFill>
                  <a:srgbClr val="E76F51"/>
                </a:solidFill>
              </a:rPr>
              <a:t>oracle result, including sorted output</a:t>
            </a:r>
            <a:endParaRPr/>
          </a:p>
        </p:txBody>
      </p:sp>
      <p:sp>
        <p:nvSpPr>
          <p:cNvPr id="573599220" name=""/>
          <p:cNvSpPr>
            <a:spLocks noGrp="1"/>
          </p:cNvSpPr>
          <p:nvPr/>
        </p:nvSpPr>
        <p:spPr bwMode="auto">
          <a:xfrm>
            <a:off x="7448550" y="2419350"/>
            <a:ext cx="3390900" cy="457200"/>
          </a:xfrm>
          <a:prstGeom prst="roundRect">
            <a:avLst>
              <a:gd name="adj" fmla="val 12500"/>
            </a:avLst>
          </a:prstGeom>
          <a:solidFill>
            <a:srgbClr val="FFFFFF"/>
          </a:solidFill>
          <a:ln w="11430">
            <a:solidFill>
              <a:srgbClr val="2A9D8F"/>
            </a:solidFill>
            <a:prstDash val="solid"/>
          </a:ln>
        </p:spPr>
      </p:sp>
      <p:sp>
        <p:nvSpPr>
          <p:cNvPr id="1086702331" name=""/>
          <p:cNvSpPr>
            <a:spLocks noGrp="1"/>
          </p:cNvSpPr>
          <p:nvPr/>
        </p:nvSpPr>
        <p:spPr bwMode="auto">
          <a:xfrm>
            <a:off x="7581899" y="2476500"/>
            <a:ext cx="312420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2A9D8F"/>
                </a:solidFill>
              </a:defRPr>
            </a:pPr>
            <a:r>
              <a:rPr sz="1300" b="1" i="0">
                <a:solidFill>
                  <a:srgbClr val="2A9D8F"/>
                </a:solidFill>
              </a:rPr>
              <a:t>valid-input certification only</a:t>
            </a:r>
            <a:endParaRPr/>
          </a:p>
        </p:txBody>
      </p:sp>
      <p:sp>
        <p:nvSpPr>
          <p:cNvPr id="1033604004" name=""/>
          <p:cNvSpPr>
            <a:spLocks noGrp="1"/>
          </p:cNvSpPr>
          <p:nvPr/>
        </p:nvSpPr>
        <p:spPr bwMode="auto">
          <a:xfrm>
            <a:off x="1104900" y="3276600"/>
            <a:ext cx="3857625" cy="457200"/>
          </a:xfrm>
          <a:prstGeom prst="rect">
            <a:avLst/>
          </a:prstGeom>
          <a:noFill/>
          <a:ln w="0">
            <a:noFill/>
            <a:prstDash val="solid"/>
          </a:ln>
        </p:spPr>
        <p:txBody>
          <a:bodyPr wrap="square" lIns="38100" tIns="19050" rIns="38100" bIns="19050" anchor="t">
            <a:normAutofit fontScale="99746"/>
          </a:bodyPr>
          <a:lstStyle/>
          <a:p>
            <a:pPr algn="ctr">
              <a:lnSpc>
                <a:spcPct val="105000"/>
              </a:lnSpc>
              <a:buNone/>
              <a:defRPr sz="1900" b="1" i="0">
                <a:solidFill>
                  <a:srgbClr val="E76F51"/>
                </a:solidFill>
              </a:defRPr>
            </a:pPr>
            <a:r>
              <a:rPr sz="1900" b="1" i="0">
                <a:solidFill>
                  <a:srgbClr val="E76F51"/>
                </a:solidFill>
              </a:rPr>
              <a:t>Oracle-backed reference pipeline</a:t>
            </a:r>
            <a:endParaRPr/>
          </a:p>
        </p:txBody>
      </p:sp>
      <p:sp>
        <p:nvSpPr>
          <p:cNvPr id="119271890" name=""/>
          <p:cNvSpPr>
            <a:spLocks noGrp="1"/>
          </p:cNvSpPr>
          <p:nvPr/>
        </p:nvSpPr>
        <p:spPr bwMode="auto">
          <a:xfrm>
            <a:off x="1200150" y="3848100"/>
            <a:ext cx="3667125" cy="8382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0" i="0">
                <a:solidFill>
                  <a:srgbClr val="243B53"/>
                </a:solidFill>
              </a:defRPr>
            </a:pPr>
            <a:r>
              <a:rPr sz="1500" b="0" i="0">
                <a:solidFill>
                  <a:srgbClr val="243B53"/>
                </a:solidFill>
              </a:rPr>
              <a:t>family trees</a:t>
            </a:r>
            <a:endParaRPr/>
          </a:p>
          <a:p>
            <a:pPr algn="ctr">
              <a:lnSpc>
                <a:spcPct val="105000"/>
              </a:lnSpc>
              <a:buNone/>
              <a:defRPr sz="1500" b="0" i="0">
                <a:solidFill>
                  <a:srgbClr val="243B53"/>
                </a:solidFill>
              </a:defRPr>
            </a:pPr>
            <a:r>
              <a:rPr sz="1500" b="0" i="0">
                <a:solidFill>
                  <a:srgbClr val="243B53"/>
                </a:solidFill>
              </a:rPr>
              <a:t>structural information</a:t>
            </a:r>
            <a:endParaRPr/>
          </a:p>
          <a:p>
            <a:pPr algn="ctr">
              <a:lnSpc>
                <a:spcPct val="105000"/>
              </a:lnSpc>
              <a:buNone/>
              <a:defRPr sz="1500" b="0" i="0">
                <a:solidFill>
                  <a:srgbClr val="243B53"/>
                </a:solidFill>
              </a:defRPr>
            </a:pPr>
            <a:r>
              <a:rPr sz="1500" b="0" i="0">
                <a:solidFill>
                  <a:srgbClr val="243B53"/>
                </a:solidFill>
              </a:rPr>
              <a:t>oracle-derived output</a:t>
            </a:r>
            <a:endParaRPr/>
          </a:p>
        </p:txBody>
      </p:sp>
      <p:sp>
        <p:nvSpPr>
          <p:cNvPr id="1281319541" name=""/>
          <p:cNvSpPr>
            <a:spLocks noGrp="1"/>
          </p:cNvSpPr>
          <p:nvPr/>
        </p:nvSpPr>
        <p:spPr bwMode="auto">
          <a:xfrm>
            <a:off x="7210425" y="3276600"/>
            <a:ext cx="3857625" cy="45720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900" b="1" i="0">
                <a:solidFill>
                  <a:srgbClr val="2A9D8F"/>
                </a:solidFill>
              </a:defRPr>
            </a:pPr>
            <a:r>
              <a:rPr sz="1900" b="1" i="0">
                <a:solidFill>
                  <a:srgbClr val="2A9D8F"/>
                </a:solidFill>
              </a:rPr>
              <a:t>Paper ordinary-list core</a:t>
            </a:r>
            <a:endParaRPr/>
          </a:p>
        </p:txBody>
      </p:sp>
      <p:sp>
        <p:nvSpPr>
          <p:cNvPr id="1175438916" name=""/>
          <p:cNvSpPr>
            <a:spLocks noGrp="1"/>
          </p:cNvSpPr>
          <p:nvPr/>
        </p:nvSpPr>
        <p:spPr bwMode="auto">
          <a:xfrm>
            <a:off x="7334250" y="3810000"/>
            <a:ext cx="3619500" cy="876299"/>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0" i="0">
                <a:solidFill>
                  <a:srgbClr val="243B53"/>
                </a:solidFill>
              </a:defRPr>
            </a:pPr>
            <a:r>
              <a:rPr sz="1350" b="0" i="0">
                <a:solidFill>
                  <a:srgbClr val="243B53"/>
                </a:solidFill>
              </a:rPr>
              <a:t>input sequence + certified precondition</a:t>
            </a:r>
            <a:endParaRPr/>
          </a:p>
          <a:p>
            <a:pPr algn="ctr">
              <a:lnSpc>
                <a:spcPct val="105000"/>
              </a:lnSpc>
              <a:buNone/>
              <a:defRPr sz="1350" b="0" i="0">
                <a:solidFill>
                  <a:srgbClr val="243B53"/>
                </a:solidFill>
              </a:defRPr>
            </a:pPr>
            <a:r>
              <a:rPr sz="1350" b="0" i="0">
                <a:solidFill>
                  <a:srgbClr val="243B53"/>
                </a:solidFill>
              </a:rPr>
              <a:t>Step 1/2/3 and maintained state</a:t>
            </a:r>
            <a:endParaRPr/>
          </a:p>
          <a:p>
            <a:pPr algn="ctr">
              <a:lnSpc>
                <a:spcPct val="105000"/>
              </a:lnSpc>
              <a:buNone/>
              <a:defRPr sz="1350" b="0" i="0">
                <a:solidFill>
                  <a:srgbClr val="243B53"/>
                </a:solidFill>
              </a:defRPr>
            </a:pPr>
            <a:r>
              <a:rPr sz="1350" b="0" i="0">
                <a:solidFill>
                  <a:srgbClr val="243B53"/>
                </a:solidFill>
              </a:rPr>
              <a:t>output recovered from state</a:t>
            </a:r>
            <a:endParaRPr/>
          </a:p>
        </p:txBody>
      </p:sp>
      <p:sp>
        <p:nvSpPr>
          <p:cNvPr id="1895225399" name=""/>
          <p:cNvSpPr>
            <a:spLocks noGrp="1"/>
          </p:cNvSpPr>
          <p:nvPr/>
        </p:nvSpPr>
        <p:spPr bwMode="auto">
          <a:xfrm>
            <a:off x="8172450" y="5010149"/>
            <a:ext cx="2724150" cy="342900"/>
          </a:xfrm>
          <a:prstGeom prst="roundRect">
            <a:avLst>
              <a:gd name="adj" fmla="val 13889"/>
            </a:avLst>
          </a:prstGeom>
          <a:solidFill>
            <a:srgbClr val="FFFFFF"/>
          </a:solidFill>
          <a:ln w="11430">
            <a:solidFill>
              <a:srgbClr val="52606D"/>
            </a:solidFill>
            <a:prstDash val="dash"/>
          </a:ln>
        </p:spPr>
      </p:sp>
      <p:sp>
        <p:nvSpPr>
          <p:cNvPr id="806828576" name=""/>
          <p:cNvSpPr>
            <a:spLocks noGrp="1"/>
          </p:cNvSpPr>
          <p:nvPr/>
        </p:nvSpPr>
        <p:spPr bwMode="auto">
          <a:xfrm>
            <a:off x="8267700" y="5057775"/>
            <a:ext cx="2533650" cy="2476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1" i="0">
                <a:solidFill>
                  <a:srgbClr val="52606D"/>
                </a:solidFill>
              </a:defRPr>
            </a:pPr>
            <a:r>
              <a:rPr sz="1200" b="1" i="0">
                <a:solidFill>
                  <a:srgbClr val="52606D"/>
                </a:solidFill>
              </a:rPr>
              <a:t>post-call output comparison</a:t>
            </a:r>
            <a:endParaRPr/>
          </a:p>
        </p:txBody>
      </p:sp>
      <p:cxnSp>
        <p:nvCxnSpPr>
          <p:cNvPr id="1516030003" name=""/>
          <p:cNvCxnSpPr>
            <a:stCxn id="1985462884" idx="2"/>
            <a:endCxn id="1895225399" idx="0"/>
          </p:cNvCxnSpPr>
          <p:nvPr/>
        </p:nvCxnSpPr>
        <p:spPr bwMode="auto">
          <a:xfrm>
            <a:off x="9148763" y="4914900"/>
            <a:ext cx="385762" cy="95250"/>
          </a:xfrm>
          <a:prstGeom prst="straightConnector1">
            <a:avLst/>
          </a:prstGeom>
          <a:ln w="14288">
            <a:solidFill>
              <a:srgbClr val="52606D"/>
            </a:solidFill>
            <a:prstDash val="dash"/>
            <a:tailEnd type="arrow" w="sm" len="sm"/>
          </a:ln>
        </p:spPr>
      </p:cxnSp>
      <p:sp>
        <p:nvSpPr>
          <p:cNvPr id="1540396367" name=""/>
          <p:cNvSpPr>
            <a:spLocks noGrp="1"/>
          </p:cNvSpPr>
          <p:nvPr/>
        </p:nvSpPr>
        <p:spPr bwMode="auto">
          <a:xfrm>
            <a:off x="1257300" y="5543550"/>
            <a:ext cx="9677400" cy="514350"/>
          </a:xfrm>
          <a:prstGeom prst="roundRect">
            <a:avLst>
              <a:gd name="adj" fmla="val 11111"/>
            </a:avLst>
          </a:prstGeom>
          <a:solidFill>
            <a:srgbClr val="102A43"/>
          </a:solidFill>
          <a:ln w="11430">
            <a:solidFill>
              <a:srgbClr val="102A43"/>
            </a:solidFill>
            <a:prstDash val="solid"/>
          </a:ln>
        </p:spPr>
      </p:sp>
      <p:sp>
        <p:nvSpPr>
          <p:cNvPr id="1663167362" name=""/>
          <p:cNvSpPr>
            <a:spLocks noGrp="1"/>
          </p:cNvSpPr>
          <p:nvPr/>
        </p:nvSpPr>
        <p:spPr bwMode="auto">
          <a:xfrm>
            <a:off x="1428750" y="5610225"/>
            <a:ext cx="933450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FFFFFF"/>
                </a:solidFill>
              </a:defRPr>
            </a:pPr>
            <a:r>
              <a:rPr sz="1350" b="1" i="0">
                <a:solidFill>
                  <a:srgbClr val="FFFFFF"/>
                </a:solidFill>
              </a:rPr>
              <a:t>Certification before the paper call  |  comparison after the call  |  oracle-sorted output never enters the paper core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2119337239"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RECONSTRUCTION</a:t>
            </a:r>
            <a:endParaRPr/>
          </a:p>
        </p:txBody>
      </p:sp>
      <p:sp>
        <p:nvSpPr>
          <p:cNvPr id="218537468"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Initialize once, then update one point at a time</a:t>
            </a:r>
            <a:endParaRPr/>
          </a:p>
        </p:txBody>
      </p:sp>
      <p:sp>
        <p:nvSpPr>
          <p:cNvPr id="2044478940" name=""/>
          <p:cNvSpPr>
            <a:spLocks noGrp="1"/>
          </p:cNvSpPr>
          <p:nvPr/>
        </p:nvSpPr>
        <p:spPr bwMode="auto">
          <a:xfrm>
            <a:off x="609600" y="1085850"/>
            <a:ext cx="10972800" cy="9525"/>
          </a:xfrm>
          <a:prstGeom prst="line">
            <a:avLst/>
          </a:prstGeom>
          <a:noFill/>
          <a:ln w="28575">
            <a:solidFill>
              <a:srgbClr val="2A9D8F"/>
            </a:solidFill>
            <a:prstDash val="solid"/>
          </a:ln>
        </p:spPr>
      </p:sp>
      <p:sp>
        <p:nvSpPr>
          <p:cNvPr id="102842756" name=""/>
          <p:cNvSpPr>
            <a:spLocks noGrp="1"/>
          </p:cNvSpPr>
          <p:nvPr/>
        </p:nvSpPr>
        <p:spPr bwMode="auto">
          <a:xfrm>
            <a:off x="609600" y="6477000"/>
            <a:ext cx="10972800" cy="9525"/>
          </a:xfrm>
          <a:prstGeom prst="line">
            <a:avLst/>
          </a:prstGeom>
          <a:noFill/>
          <a:ln w="9525">
            <a:solidFill>
              <a:srgbClr val="D9E2EC"/>
            </a:solidFill>
            <a:prstDash val="solid"/>
          </a:ln>
        </p:spPr>
      </p:sp>
      <p:sp>
        <p:nvSpPr>
          <p:cNvPr id="558217981"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801966085"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7 / 16</a:t>
            </a:r>
            <a:endParaRPr/>
          </a:p>
        </p:txBody>
      </p:sp>
      <p:sp>
        <p:nvSpPr>
          <p:cNvPr id="1615819288" name=""/>
          <p:cNvSpPr>
            <a:spLocks noGrp="1"/>
          </p:cNvSpPr>
          <p:nvPr/>
        </p:nvSpPr>
        <p:spPr bwMode="auto">
          <a:xfrm>
            <a:off x="723900" y="1314450"/>
            <a:ext cx="10744200" cy="1504950"/>
          </a:xfrm>
          <a:prstGeom prst="roundRect">
            <a:avLst>
              <a:gd name="adj" fmla="val 5063"/>
            </a:avLst>
          </a:prstGeom>
          <a:solidFill>
            <a:srgbClr val="EAF1F8"/>
          </a:solidFill>
          <a:ln w="11430">
            <a:solidFill>
              <a:srgbClr val="52606D"/>
            </a:solidFill>
            <a:prstDash val="solid"/>
          </a:ln>
        </p:spPr>
      </p:sp>
      <p:sp>
        <p:nvSpPr>
          <p:cNvPr id="608059575" name=""/>
          <p:cNvSpPr>
            <a:spLocks noGrp="1"/>
          </p:cNvSpPr>
          <p:nvPr/>
        </p:nvSpPr>
        <p:spPr bwMode="auto">
          <a:xfrm>
            <a:off x="876299" y="1390650"/>
            <a:ext cx="10363200" cy="285750"/>
          </a:xfrm>
          <a:prstGeom prst="rect">
            <a:avLst/>
          </a:prstGeom>
          <a:noFill/>
          <a:ln w="0">
            <a:noFill/>
            <a:prstDash val="solid"/>
          </a:ln>
        </p:spPr>
        <p:txBody>
          <a:bodyPr wrap="square" lIns="38100" tIns="19050" rIns="38100" bIns="19050" anchor="t">
            <a:normAutofit fontScale="89717"/>
          </a:bodyPr>
          <a:lstStyle/>
          <a:p>
            <a:pPr algn="l">
              <a:lnSpc>
                <a:spcPct val="105000"/>
              </a:lnSpc>
              <a:buNone/>
              <a:defRPr sz="1750" b="1" i="0">
                <a:solidFill>
                  <a:srgbClr val="102A43"/>
                </a:solidFill>
              </a:defRPr>
            </a:pPr>
            <a:r>
              <a:rPr sz="1750" b="1" i="0">
                <a:solidFill>
                  <a:srgbClr val="102A43"/>
                </a:solidFill>
              </a:rPr>
              <a:t>A. Initialize once (n ≥ 3)</a:t>
            </a:r>
            <a:endParaRPr/>
          </a:p>
        </p:txBody>
      </p:sp>
      <p:sp>
        <p:nvSpPr>
          <p:cNvPr id="1301592121" name=""/>
          <p:cNvSpPr>
            <a:spLocks noGrp="1"/>
          </p:cNvSpPr>
          <p:nvPr/>
        </p:nvSpPr>
        <p:spPr bwMode="auto">
          <a:xfrm>
            <a:off x="914400" y="1809750"/>
            <a:ext cx="2857500" cy="590549"/>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750" b="0" i="0">
                <a:solidFill>
                  <a:srgbClr val="243B53"/>
                </a:solidFill>
              </a:defRPr>
            </a:pPr>
            <a:r>
              <a:rPr sz="1750" b="0" i="0">
                <a:solidFill>
                  <a:srgbClr val="243B53"/>
                </a:solidFill>
              </a:rPr>
              <a:t>Sort only z₁, z₂, z₃</a:t>
            </a:r>
            <a:endParaRPr/>
          </a:p>
          <a:p>
            <a:pPr algn="ctr">
              <a:lnSpc>
                <a:spcPct val="105000"/>
              </a:lnSpc>
              <a:buNone/>
              <a:defRPr sz="1750" b="0" i="0">
                <a:solidFill>
                  <a:srgbClr val="243B53"/>
                </a:solidFill>
              </a:defRPr>
            </a:pPr>
            <a:r>
              <a:rPr sz="1750" b="0" i="0">
                <a:solidFill>
                  <a:srgbClr val="243B53"/>
                </a:solidFill>
              </a:rPr>
              <a:t>by x-coordinate</a:t>
            </a:r>
            <a:endParaRPr/>
          </a:p>
        </p:txBody>
      </p:sp>
      <p:sp>
        <p:nvSpPr>
          <p:cNvPr id="1799146501" name=""/>
          <p:cNvSpPr>
            <a:spLocks noGrp="1"/>
          </p:cNvSpPr>
          <p:nvPr/>
        </p:nvSpPr>
        <p:spPr bwMode="auto">
          <a:xfrm>
            <a:off x="3790949" y="1847850"/>
            <a:ext cx="438149" cy="381000"/>
          </a:xfrm>
          <a:prstGeom prst="rect">
            <a:avLst/>
          </a:prstGeom>
          <a:noFill/>
          <a:ln w="0">
            <a:noFill/>
            <a:prstDash val="solid"/>
          </a:ln>
        </p:spPr>
        <p:txBody>
          <a:bodyPr wrap="square" lIns="38100" tIns="19050" rIns="38100" bIns="19050" anchor="t">
            <a:normAutofit fontScale="95238"/>
          </a:bodyPr>
          <a:lstStyle/>
          <a:p>
            <a:pPr algn="ctr">
              <a:lnSpc>
                <a:spcPct val="105000"/>
              </a:lnSpc>
              <a:buNone/>
              <a:defRPr sz="2250" b="0" i="0">
                <a:solidFill>
                  <a:srgbClr val="2A9D8F"/>
                </a:solidFill>
              </a:defRPr>
            </a:pPr>
            <a:r>
              <a:rPr sz="2250" b="0" i="0">
                <a:solidFill>
                  <a:srgbClr val="2A9D8F"/>
                </a:solidFill>
              </a:rPr>
              <a:t>→</a:t>
            </a:r>
            <a:endParaRPr/>
          </a:p>
        </p:txBody>
      </p:sp>
      <p:sp>
        <p:nvSpPr>
          <p:cNvPr id="1316415443" name=""/>
          <p:cNvSpPr>
            <a:spLocks noGrp="1"/>
          </p:cNvSpPr>
          <p:nvPr/>
        </p:nvSpPr>
        <p:spPr bwMode="auto">
          <a:xfrm>
            <a:off x="4305300" y="1847850"/>
            <a:ext cx="2952750" cy="40005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800" b="1" i="0">
                <a:solidFill>
                  <a:srgbClr val="2A9D8F"/>
                </a:solidFill>
              </a:defRPr>
            </a:pPr>
            <a:r>
              <a:rPr sz="1800" b="1" i="0">
                <a:solidFill>
                  <a:srgbClr val="2A9D8F"/>
                </a:solidFill>
              </a:rPr>
              <a:t>Initial sorted list S₃</a:t>
            </a:r>
            <a:endParaRPr/>
          </a:p>
        </p:txBody>
      </p:sp>
      <p:sp>
        <p:nvSpPr>
          <p:cNvPr id="582411765" name=""/>
          <p:cNvSpPr>
            <a:spLocks noGrp="1"/>
          </p:cNvSpPr>
          <p:nvPr/>
        </p:nvSpPr>
        <p:spPr bwMode="auto">
          <a:xfrm>
            <a:off x="7296149" y="1847850"/>
            <a:ext cx="438149" cy="381000"/>
          </a:xfrm>
          <a:prstGeom prst="rect">
            <a:avLst/>
          </a:prstGeom>
          <a:noFill/>
          <a:ln w="0">
            <a:noFill/>
            <a:prstDash val="solid"/>
          </a:ln>
        </p:spPr>
        <p:txBody>
          <a:bodyPr wrap="square" lIns="38100" tIns="19050" rIns="38100" bIns="19050" anchor="t">
            <a:normAutofit fontScale="95238"/>
          </a:bodyPr>
          <a:lstStyle/>
          <a:p>
            <a:pPr algn="ctr">
              <a:lnSpc>
                <a:spcPct val="105000"/>
              </a:lnSpc>
              <a:buNone/>
              <a:defRPr sz="2250" b="0" i="0">
                <a:solidFill>
                  <a:srgbClr val="2A9D8F"/>
                </a:solidFill>
              </a:defRPr>
            </a:pPr>
            <a:r>
              <a:rPr sz="2250" b="0" i="0">
                <a:solidFill>
                  <a:srgbClr val="2A9D8F"/>
                </a:solidFill>
              </a:rPr>
              <a:t>→</a:t>
            </a:r>
            <a:endParaRPr/>
          </a:p>
        </p:txBody>
      </p:sp>
      <p:sp>
        <p:nvSpPr>
          <p:cNvPr id="566080585" name=""/>
          <p:cNvSpPr>
            <a:spLocks noGrp="1"/>
          </p:cNvSpPr>
          <p:nvPr/>
        </p:nvSpPr>
        <p:spPr bwMode="auto">
          <a:xfrm>
            <a:off x="7829550" y="1771650"/>
            <a:ext cx="3429000" cy="60960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650" b="0" i="0">
                <a:solidFill>
                  <a:srgbClr val="243B53"/>
                </a:solidFill>
              </a:defRPr>
            </a:pPr>
            <a:r>
              <a:rPr sz="1650" b="0" i="0">
                <a:solidFill>
                  <a:srgbClr val="243B53"/>
                </a:solidFill>
              </a:rPr>
              <a:t>Upper/lower families</a:t>
            </a:r>
            <a:endParaRPr/>
          </a:p>
          <a:p>
            <a:pPr algn="ctr">
              <a:lnSpc>
                <a:spcPct val="105000"/>
              </a:lnSpc>
              <a:buNone/>
              <a:defRPr sz="1650" b="0" i="0">
                <a:solidFill>
                  <a:srgbClr val="243B53"/>
                </a:solidFill>
              </a:defRPr>
            </a:pPr>
            <a:r>
              <a:rPr sz="1650" b="0" i="0">
                <a:solidFill>
                  <a:srgbClr val="243B53"/>
                </a:solidFill>
              </a:rPr>
              <a:t>P₂, P₃ and dummy roots</a:t>
            </a:r>
            <a:endParaRPr/>
          </a:p>
        </p:txBody>
      </p:sp>
      <p:sp>
        <p:nvSpPr>
          <p:cNvPr id="1183247019" name=""/>
          <p:cNvSpPr>
            <a:spLocks noGrp="1"/>
          </p:cNvSpPr>
          <p:nvPr/>
        </p:nvSpPr>
        <p:spPr bwMode="auto">
          <a:xfrm>
            <a:off x="895350" y="2457450"/>
            <a:ext cx="10401300" cy="266700"/>
          </a:xfrm>
          <a:prstGeom prst="rect">
            <a:avLst/>
          </a:prstGeom>
          <a:noFill/>
          <a:ln w="0">
            <a:noFill/>
            <a:prstDash val="solid"/>
          </a:ln>
        </p:spPr>
        <p:txBody>
          <a:bodyPr wrap="square" lIns="38100" tIns="19050" rIns="38100" bIns="19050" anchor="t">
            <a:normAutofit fontScale="95238"/>
          </a:bodyPr>
          <a:lstStyle/>
          <a:p>
            <a:pPr algn="ctr">
              <a:lnSpc>
                <a:spcPct val="105000"/>
              </a:lnSpc>
              <a:buNone/>
              <a:defRPr sz="1500" b="0" i="0">
                <a:solidFill>
                  <a:srgbClr val="52606D"/>
                </a:solidFill>
              </a:defRPr>
            </a:pPr>
            <a:r>
              <a:rPr sz="1500" b="0" i="0">
                <a:solidFill>
                  <a:srgbClr val="52606D"/>
                </a:solidFill>
              </a:rPr>
              <a:t>Core-local initialization. No oracle answer. Labels and stored pair endpoints keep curve order.</a:t>
            </a:r>
            <a:endParaRPr/>
          </a:p>
        </p:txBody>
      </p:sp>
      <p:sp>
        <p:nvSpPr>
          <p:cNvPr id="154873946" name=""/>
          <p:cNvSpPr>
            <a:spLocks noGrp="1"/>
          </p:cNvSpPr>
          <p:nvPr/>
        </p:nvSpPr>
        <p:spPr bwMode="auto">
          <a:xfrm>
            <a:off x="723900" y="2971800"/>
            <a:ext cx="10744200" cy="304800"/>
          </a:xfrm>
          <a:prstGeom prst="rect">
            <a:avLst/>
          </a:prstGeom>
          <a:noFill/>
          <a:ln w="0">
            <a:noFill/>
            <a:prstDash val="solid"/>
          </a:ln>
        </p:spPr>
        <p:txBody>
          <a:bodyPr wrap="square" lIns="38100" tIns="19050" rIns="38100" bIns="19050" anchor="t">
            <a:normAutofit fontScale="92593"/>
          </a:bodyPr>
          <a:lstStyle/>
          <a:p>
            <a:pPr algn="l">
              <a:lnSpc>
                <a:spcPct val="105000"/>
              </a:lnSpc>
              <a:buNone/>
              <a:defRPr sz="1800" b="1" i="0">
                <a:solidFill>
                  <a:srgbClr val="2A9D8F"/>
                </a:solidFill>
              </a:defRPr>
            </a:pPr>
            <a:r>
              <a:rPr sz="1800" b="1" i="0">
                <a:solidFill>
                  <a:srgbClr val="2A9D8F"/>
                </a:solidFill>
              </a:rPr>
              <a:t>B. For i = 4, …, n: process one new point</a:t>
            </a:r>
            <a:endParaRPr/>
          </a:p>
        </p:txBody>
      </p:sp>
      <p:sp>
        <p:nvSpPr>
          <p:cNvPr id="2054081343" name=""/>
          <p:cNvSpPr>
            <a:spLocks noGrp="1"/>
          </p:cNvSpPr>
          <p:nvPr/>
        </p:nvSpPr>
        <p:spPr bwMode="auto">
          <a:xfrm>
            <a:off x="723900" y="3333750"/>
            <a:ext cx="10744200" cy="304800"/>
          </a:xfrm>
          <a:prstGeom prst="rect">
            <a:avLst/>
          </a:prstGeom>
          <a:noFill/>
          <a:ln w="0">
            <a:noFill/>
            <a:prstDash val="solid"/>
          </a:ln>
        </p:spPr>
        <p:txBody>
          <a:bodyPr wrap="square" lIns="38100" tIns="19050" rIns="38100" bIns="19050" anchor="t">
            <a:normAutofit fontScale="96618"/>
          </a:bodyPr>
          <a:lstStyle/>
          <a:p>
            <a:pPr algn="ctr">
              <a:lnSpc>
                <a:spcPct val="105000"/>
              </a:lnSpc>
              <a:buNone/>
              <a:defRPr sz="1750" b="1" i="0">
                <a:solidFill>
                  <a:srgbClr val="102A43"/>
                </a:solidFill>
              </a:defRPr>
            </a:pPr>
            <a:r>
              <a:rPr sz="1750" b="1" i="0">
                <a:solidFill>
                  <a:srgbClr val="102A43"/>
                </a:solidFill>
              </a:rPr>
              <a:t>Sᵢ₋₁ + new point zᵢ → one round below → Sᵢ</a:t>
            </a:r>
            <a:endParaRPr/>
          </a:p>
        </p:txBody>
      </p:sp>
      <p:sp>
        <p:nvSpPr>
          <p:cNvPr id="629078283" name=""/>
          <p:cNvSpPr>
            <a:spLocks noGrp="1"/>
          </p:cNvSpPr>
          <p:nvPr/>
        </p:nvSpPr>
        <p:spPr bwMode="auto">
          <a:xfrm>
            <a:off x="723900" y="3790949"/>
            <a:ext cx="1981200" cy="1085850"/>
          </a:xfrm>
          <a:prstGeom prst="roundRect">
            <a:avLst>
              <a:gd name="adj" fmla="val 5263"/>
            </a:avLst>
          </a:prstGeom>
          <a:solidFill>
            <a:srgbClr val="EAF1F8"/>
          </a:solidFill>
          <a:ln w="11430">
            <a:solidFill>
              <a:srgbClr val="52606D"/>
            </a:solidFill>
            <a:prstDash val="solid"/>
          </a:ln>
        </p:spPr>
      </p:sp>
      <p:sp>
        <p:nvSpPr>
          <p:cNvPr id="1557492932" name=""/>
          <p:cNvSpPr>
            <a:spLocks noGrp="1"/>
          </p:cNvSpPr>
          <p:nvPr/>
        </p:nvSpPr>
        <p:spPr bwMode="auto">
          <a:xfrm>
            <a:off x="800100" y="3867150"/>
            <a:ext cx="1828800" cy="285750"/>
          </a:xfrm>
          <a:prstGeom prst="rect">
            <a:avLst/>
          </a:prstGeom>
          <a:noFill/>
          <a:ln w="0">
            <a:noFill/>
            <a:prstDash val="solid"/>
          </a:ln>
        </p:spPr>
        <p:txBody>
          <a:bodyPr wrap="square" lIns="38100" tIns="19050" rIns="38100" bIns="19050" anchor="t">
            <a:normAutofit fontScale="93795"/>
          </a:bodyPr>
          <a:lstStyle/>
          <a:p>
            <a:pPr algn="ctr">
              <a:lnSpc>
                <a:spcPct val="105000"/>
              </a:lnSpc>
              <a:buNone/>
              <a:defRPr sz="1650" b="1" i="0">
                <a:solidFill>
                  <a:srgbClr val="102A43"/>
                </a:solidFill>
              </a:defRPr>
            </a:pPr>
            <a:r>
              <a:rPr sz="1650" b="1" i="0">
                <a:solidFill>
                  <a:srgbClr val="102A43"/>
                </a:solidFill>
              </a:rPr>
              <a:t>Step 1</a:t>
            </a:r>
            <a:endParaRPr/>
          </a:p>
        </p:txBody>
      </p:sp>
      <p:sp>
        <p:nvSpPr>
          <p:cNvPr id="1176659107" name=""/>
          <p:cNvSpPr>
            <a:spLocks noGrp="1"/>
          </p:cNvSpPr>
          <p:nvPr/>
        </p:nvSpPr>
        <p:spPr bwMode="auto">
          <a:xfrm>
            <a:off x="790575" y="4200525"/>
            <a:ext cx="1847850" cy="628650"/>
          </a:xfrm>
          <a:prstGeom prst="rect">
            <a:avLst/>
          </a:prstGeom>
          <a:noFill/>
          <a:ln w="0">
            <a:noFill/>
            <a:prstDash val="solid"/>
          </a:ln>
        </p:spPr>
        <p:txBody>
          <a:bodyPr wrap="square" lIns="38100" tIns="19050" rIns="38100" bIns="19050" anchor="ctr">
            <a:normAutofit fontScale="98413"/>
          </a:bodyPr>
          <a:lstStyle/>
          <a:p>
            <a:pPr algn="ctr">
              <a:lnSpc>
                <a:spcPct val="105000"/>
              </a:lnSpc>
              <a:buNone/>
              <a:defRPr sz="1450" b="0" i="0">
                <a:solidFill>
                  <a:srgbClr val="243B53"/>
                </a:solidFill>
              </a:defRPr>
            </a:pPr>
            <a:r>
              <a:rPr sz="1450" b="0" i="0">
                <a:solidFill>
                  <a:srgbClr val="243B53"/>
                </a:solidFill>
              </a:rPr>
              <a:t>Find predecessor-side</a:t>
            </a:r>
            <a:endParaRPr/>
          </a:p>
          <a:p>
            <a:pPr algn="ctr">
              <a:lnSpc>
                <a:spcPct val="105000"/>
              </a:lnSpc>
              <a:buNone/>
              <a:defRPr sz="1450" b="0" i="0">
                <a:solidFill>
                  <a:srgbClr val="243B53"/>
                </a:solidFill>
              </a:defRPr>
            </a:pPr>
            <a:r>
              <a:rPr sz="1450" b="0" i="0">
                <a:solidFill>
                  <a:srgbClr val="243B53"/>
                </a:solidFill>
              </a:rPr>
              <a:t>boundary Aᵢ</a:t>
            </a:r>
            <a:endParaRPr/>
          </a:p>
        </p:txBody>
      </p:sp>
      <p:sp>
        <p:nvSpPr>
          <p:cNvPr id="392626939" name=""/>
          <p:cNvSpPr>
            <a:spLocks noGrp="1"/>
          </p:cNvSpPr>
          <p:nvPr/>
        </p:nvSpPr>
        <p:spPr bwMode="auto">
          <a:xfrm>
            <a:off x="2914650" y="3790949"/>
            <a:ext cx="1981200" cy="1085850"/>
          </a:xfrm>
          <a:prstGeom prst="roundRect">
            <a:avLst>
              <a:gd name="adj" fmla="val 5263"/>
            </a:avLst>
          </a:prstGeom>
          <a:solidFill>
            <a:srgbClr val="EAF1F8"/>
          </a:solidFill>
          <a:ln w="11430">
            <a:solidFill>
              <a:srgbClr val="52606D"/>
            </a:solidFill>
            <a:prstDash val="solid"/>
          </a:ln>
        </p:spPr>
      </p:sp>
      <p:sp>
        <p:nvSpPr>
          <p:cNvPr id="988140079" name=""/>
          <p:cNvSpPr>
            <a:spLocks noGrp="1"/>
          </p:cNvSpPr>
          <p:nvPr/>
        </p:nvSpPr>
        <p:spPr bwMode="auto">
          <a:xfrm>
            <a:off x="2990850" y="3867150"/>
            <a:ext cx="1828800" cy="285750"/>
          </a:xfrm>
          <a:prstGeom prst="rect">
            <a:avLst/>
          </a:prstGeom>
          <a:noFill/>
          <a:ln w="0">
            <a:noFill/>
            <a:prstDash val="solid"/>
          </a:ln>
        </p:spPr>
        <p:txBody>
          <a:bodyPr wrap="square" lIns="38100" tIns="19050" rIns="38100" bIns="19050" anchor="t">
            <a:normAutofit fontScale="93795"/>
          </a:bodyPr>
          <a:lstStyle/>
          <a:p>
            <a:pPr algn="ctr">
              <a:lnSpc>
                <a:spcPct val="105000"/>
              </a:lnSpc>
              <a:buNone/>
              <a:defRPr sz="1650" b="1" i="0">
                <a:solidFill>
                  <a:srgbClr val="102A43"/>
                </a:solidFill>
              </a:defRPr>
            </a:pPr>
            <a:r>
              <a:rPr sz="1650" b="1" i="0">
                <a:solidFill>
                  <a:srgbClr val="102A43"/>
                </a:solidFill>
              </a:rPr>
              <a:t>Step 2</a:t>
            </a:r>
            <a:endParaRPr/>
          </a:p>
        </p:txBody>
      </p:sp>
      <p:sp>
        <p:nvSpPr>
          <p:cNvPr id="1030927208" name=""/>
          <p:cNvSpPr>
            <a:spLocks noGrp="1"/>
          </p:cNvSpPr>
          <p:nvPr/>
        </p:nvSpPr>
        <p:spPr bwMode="auto">
          <a:xfrm>
            <a:off x="2981325" y="4200525"/>
            <a:ext cx="1847850" cy="6286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0" i="0">
                <a:solidFill>
                  <a:srgbClr val="243B53"/>
                </a:solidFill>
              </a:defRPr>
            </a:pPr>
            <a:r>
              <a:rPr sz="1450" b="0" i="0">
                <a:solidFill>
                  <a:srgbClr val="243B53"/>
                </a:solidFill>
              </a:rPr>
              <a:t>Find successor-side</a:t>
            </a:r>
            <a:endParaRPr/>
          </a:p>
          <a:p>
            <a:pPr algn="ctr">
              <a:lnSpc>
                <a:spcPct val="105000"/>
              </a:lnSpc>
              <a:buNone/>
              <a:defRPr sz="1450" b="0" i="0">
                <a:solidFill>
                  <a:srgbClr val="243B53"/>
                </a:solidFill>
              </a:defRPr>
            </a:pPr>
            <a:r>
              <a:rPr sz="1450" b="0" i="0">
                <a:solidFill>
                  <a:srgbClr val="243B53"/>
                </a:solidFill>
              </a:rPr>
              <a:t>boundary Bᵢ</a:t>
            </a:r>
            <a:endParaRPr/>
          </a:p>
        </p:txBody>
      </p:sp>
      <p:sp>
        <p:nvSpPr>
          <p:cNvPr id="884116531" name=""/>
          <p:cNvSpPr>
            <a:spLocks noGrp="1"/>
          </p:cNvSpPr>
          <p:nvPr/>
        </p:nvSpPr>
        <p:spPr bwMode="auto">
          <a:xfrm>
            <a:off x="5105400" y="3790949"/>
            <a:ext cx="1981200" cy="1085850"/>
          </a:xfrm>
          <a:prstGeom prst="roundRect">
            <a:avLst>
              <a:gd name="adj" fmla="val 5263"/>
            </a:avLst>
          </a:prstGeom>
          <a:solidFill>
            <a:srgbClr val="E8F5F3"/>
          </a:solidFill>
          <a:ln w="11430">
            <a:solidFill>
              <a:srgbClr val="52606D"/>
            </a:solidFill>
            <a:prstDash val="solid"/>
          </a:ln>
        </p:spPr>
      </p:sp>
      <p:sp>
        <p:nvSpPr>
          <p:cNvPr id="1314960240" name=""/>
          <p:cNvSpPr>
            <a:spLocks noGrp="1"/>
          </p:cNvSpPr>
          <p:nvPr/>
        </p:nvSpPr>
        <p:spPr bwMode="auto">
          <a:xfrm>
            <a:off x="5181600" y="3867150"/>
            <a:ext cx="1828800" cy="285750"/>
          </a:xfrm>
          <a:prstGeom prst="rect">
            <a:avLst/>
          </a:prstGeom>
          <a:noFill/>
          <a:ln w="0">
            <a:noFill/>
            <a:prstDash val="solid"/>
          </a:ln>
        </p:spPr>
        <p:txBody>
          <a:bodyPr wrap="square" lIns="38100" tIns="19050" rIns="38100" bIns="19050" anchor="t">
            <a:normAutofit fontScale="93795"/>
          </a:bodyPr>
          <a:lstStyle/>
          <a:p>
            <a:pPr algn="ctr">
              <a:lnSpc>
                <a:spcPct val="105000"/>
              </a:lnSpc>
              <a:buNone/>
              <a:defRPr sz="1650" b="1" i="0">
                <a:solidFill>
                  <a:srgbClr val="102A43"/>
                </a:solidFill>
              </a:defRPr>
            </a:pPr>
            <a:r>
              <a:rPr sz="1650" b="1" i="0">
                <a:solidFill>
                  <a:srgbClr val="102A43"/>
                </a:solidFill>
              </a:rPr>
              <a:t>Step 3(a)</a:t>
            </a:r>
            <a:endParaRPr/>
          </a:p>
        </p:txBody>
      </p:sp>
      <p:sp>
        <p:nvSpPr>
          <p:cNvPr id="1636056135" name=""/>
          <p:cNvSpPr>
            <a:spLocks noGrp="1"/>
          </p:cNvSpPr>
          <p:nvPr/>
        </p:nvSpPr>
        <p:spPr bwMode="auto">
          <a:xfrm>
            <a:off x="5172075" y="4200525"/>
            <a:ext cx="1847850" cy="6286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0" i="0">
                <a:solidFill>
                  <a:srgbClr val="243B53"/>
                </a:solidFill>
              </a:defRPr>
            </a:pPr>
            <a:r>
              <a:rPr sz="1450" b="0" i="0">
                <a:solidFill>
                  <a:srgbClr val="243B53"/>
                </a:solidFill>
              </a:rPr>
              <a:t>Insert new pair</a:t>
            </a:r>
            <a:endParaRPr/>
          </a:p>
          <a:p>
            <a:pPr algn="ctr">
              <a:lnSpc>
                <a:spcPct val="105000"/>
              </a:lnSpc>
              <a:buNone/>
              <a:defRPr sz="1450" b="0" i="0">
                <a:solidFill>
                  <a:srgbClr val="243B53"/>
                </a:solidFill>
              </a:defRPr>
            </a:pPr>
            <a:r>
              <a:rPr sz="1450" b="0" i="0">
                <a:solidFill>
                  <a:srgbClr val="243B53"/>
                </a:solidFill>
              </a:rPr>
              <a:t>Pᵢ = (zᵢ₋₁, zᵢ)</a:t>
            </a:r>
            <a:endParaRPr/>
          </a:p>
        </p:txBody>
      </p:sp>
      <p:sp>
        <p:nvSpPr>
          <p:cNvPr id="1042978421" name=""/>
          <p:cNvSpPr>
            <a:spLocks noGrp="1"/>
          </p:cNvSpPr>
          <p:nvPr/>
        </p:nvSpPr>
        <p:spPr bwMode="auto">
          <a:xfrm>
            <a:off x="7296149" y="3790949"/>
            <a:ext cx="1981200" cy="1085850"/>
          </a:xfrm>
          <a:prstGeom prst="roundRect">
            <a:avLst>
              <a:gd name="adj" fmla="val 5263"/>
            </a:avLst>
          </a:prstGeom>
          <a:solidFill>
            <a:srgbClr val="E8F5F3"/>
          </a:solidFill>
          <a:ln w="11430">
            <a:solidFill>
              <a:srgbClr val="52606D"/>
            </a:solidFill>
            <a:prstDash val="solid"/>
          </a:ln>
        </p:spPr>
      </p:sp>
      <p:sp>
        <p:nvSpPr>
          <p:cNvPr id="1816426585" name=""/>
          <p:cNvSpPr>
            <a:spLocks noGrp="1"/>
          </p:cNvSpPr>
          <p:nvPr/>
        </p:nvSpPr>
        <p:spPr bwMode="auto">
          <a:xfrm>
            <a:off x="7372350" y="3867150"/>
            <a:ext cx="1828800" cy="285750"/>
          </a:xfrm>
          <a:prstGeom prst="rect">
            <a:avLst/>
          </a:prstGeom>
          <a:noFill/>
          <a:ln w="0">
            <a:noFill/>
            <a:prstDash val="solid"/>
          </a:ln>
        </p:spPr>
        <p:txBody>
          <a:bodyPr wrap="square" lIns="38100" tIns="19050" rIns="38100" bIns="19050" anchor="t">
            <a:normAutofit fontScale="93795"/>
          </a:bodyPr>
          <a:lstStyle/>
          <a:p>
            <a:pPr algn="ctr">
              <a:lnSpc>
                <a:spcPct val="105000"/>
              </a:lnSpc>
              <a:buNone/>
              <a:defRPr sz="1650" b="1" i="0">
                <a:solidFill>
                  <a:srgbClr val="102A43"/>
                </a:solidFill>
              </a:defRPr>
            </a:pPr>
            <a:r>
              <a:rPr sz="1650" b="1" i="0">
                <a:solidFill>
                  <a:srgbClr val="102A43"/>
                </a:solidFill>
              </a:rPr>
              <a:t>Step 3(b)</a:t>
            </a:r>
            <a:endParaRPr/>
          </a:p>
        </p:txBody>
      </p:sp>
      <p:sp>
        <p:nvSpPr>
          <p:cNvPr id="262678277" name=""/>
          <p:cNvSpPr>
            <a:spLocks noGrp="1"/>
          </p:cNvSpPr>
          <p:nvPr/>
        </p:nvSpPr>
        <p:spPr bwMode="auto">
          <a:xfrm>
            <a:off x="7362825" y="4200525"/>
            <a:ext cx="1847850" cy="628650"/>
          </a:xfrm>
          <a:prstGeom prst="rect">
            <a:avLst/>
          </a:prstGeom>
          <a:noFill/>
          <a:ln w="0">
            <a:noFill/>
            <a:prstDash val="solid"/>
          </a:ln>
        </p:spPr>
        <p:txBody>
          <a:bodyPr wrap="square" lIns="38100" tIns="19050" rIns="38100" bIns="19050" anchor="ctr">
            <a:normAutofit fontScale="86327"/>
          </a:bodyPr>
          <a:lstStyle/>
          <a:p>
            <a:pPr algn="ctr">
              <a:lnSpc>
                <a:spcPct val="105000"/>
              </a:lnSpc>
              <a:buNone/>
              <a:defRPr sz="1450" b="0" i="0">
                <a:solidFill>
                  <a:srgbClr val="243B53"/>
                </a:solidFill>
              </a:defRPr>
            </a:pPr>
            <a:r>
              <a:rPr sz="1450" b="0" i="0">
                <a:solidFill>
                  <a:srgbClr val="243B53"/>
                </a:solidFill>
              </a:rPr>
              <a:t>Split sibling lists</a:t>
            </a:r>
            <a:endParaRPr/>
          </a:p>
          <a:p>
            <a:pPr algn="ctr">
              <a:lnSpc>
                <a:spcPct val="105000"/>
              </a:lnSpc>
              <a:buNone/>
              <a:defRPr sz="1450" b="0" i="0">
                <a:solidFill>
                  <a:srgbClr val="243B53"/>
                </a:solidFill>
              </a:defRPr>
            </a:pPr>
            <a:r>
              <a:rPr sz="1450" b="0" i="0">
                <a:solidFill>
                  <a:srgbClr val="243B53"/>
                </a:solidFill>
              </a:rPr>
              <a:t>Transfer ownership</a:t>
            </a:r>
            <a:endParaRPr/>
          </a:p>
          <a:p>
            <a:pPr algn="ctr">
              <a:lnSpc>
                <a:spcPct val="105000"/>
              </a:lnSpc>
              <a:buNone/>
              <a:defRPr sz="1450" b="0" i="0">
                <a:solidFill>
                  <a:srgbClr val="243B53"/>
                </a:solidFill>
              </a:defRPr>
            </a:pPr>
            <a:r>
              <a:rPr sz="1450" b="0" i="0">
                <a:solidFill>
                  <a:srgbClr val="243B53"/>
                </a:solidFill>
              </a:rPr>
              <a:t>when needed</a:t>
            </a:r>
            <a:endParaRPr/>
          </a:p>
        </p:txBody>
      </p:sp>
      <p:sp>
        <p:nvSpPr>
          <p:cNvPr id="56797169" name=""/>
          <p:cNvSpPr>
            <a:spLocks noGrp="1"/>
          </p:cNvSpPr>
          <p:nvPr/>
        </p:nvSpPr>
        <p:spPr bwMode="auto">
          <a:xfrm>
            <a:off x="9486900" y="3790949"/>
            <a:ext cx="1981200" cy="1085850"/>
          </a:xfrm>
          <a:prstGeom prst="roundRect">
            <a:avLst>
              <a:gd name="adj" fmla="val 5263"/>
            </a:avLst>
          </a:prstGeom>
          <a:solidFill>
            <a:srgbClr val="E8F5F3"/>
          </a:solidFill>
          <a:ln w="11430">
            <a:solidFill>
              <a:srgbClr val="52606D"/>
            </a:solidFill>
            <a:prstDash val="solid"/>
          </a:ln>
        </p:spPr>
      </p:sp>
      <p:sp>
        <p:nvSpPr>
          <p:cNvPr id="472436075" name=""/>
          <p:cNvSpPr>
            <a:spLocks noGrp="1"/>
          </p:cNvSpPr>
          <p:nvPr/>
        </p:nvSpPr>
        <p:spPr bwMode="auto">
          <a:xfrm>
            <a:off x="9563100" y="3867150"/>
            <a:ext cx="1828800" cy="285750"/>
          </a:xfrm>
          <a:prstGeom prst="rect">
            <a:avLst/>
          </a:prstGeom>
          <a:noFill/>
          <a:ln w="0">
            <a:noFill/>
            <a:prstDash val="solid"/>
          </a:ln>
        </p:spPr>
        <p:txBody>
          <a:bodyPr wrap="square" lIns="38100" tIns="19050" rIns="38100" bIns="19050" anchor="t">
            <a:normAutofit fontScale="93795"/>
          </a:bodyPr>
          <a:lstStyle/>
          <a:p>
            <a:pPr algn="ctr">
              <a:lnSpc>
                <a:spcPct val="105000"/>
              </a:lnSpc>
              <a:buNone/>
              <a:defRPr sz="1650" b="1" i="0">
                <a:solidFill>
                  <a:srgbClr val="102A43"/>
                </a:solidFill>
              </a:defRPr>
            </a:pPr>
            <a:r>
              <a:rPr sz="1650" b="1" i="0">
                <a:solidFill>
                  <a:srgbClr val="102A43"/>
                </a:solidFill>
              </a:rPr>
              <a:t>Step 3(c)</a:t>
            </a:r>
            <a:endParaRPr/>
          </a:p>
        </p:txBody>
      </p:sp>
      <p:sp>
        <p:nvSpPr>
          <p:cNvPr id="1140284210" name=""/>
          <p:cNvSpPr>
            <a:spLocks noGrp="1"/>
          </p:cNvSpPr>
          <p:nvPr/>
        </p:nvSpPr>
        <p:spPr bwMode="auto">
          <a:xfrm>
            <a:off x="9553575" y="4200525"/>
            <a:ext cx="1847850" cy="6286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0" i="0">
                <a:solidFill>
                  <a:srgbClr val="243B53"/>
                </a:solidFill>
              </a:defRPr>
            </a:pPr>
            <a:r>
              <a:rPr sz="1450" b="0" i="0">
                <a:solidFill>
                  <a:srgbClr val="243B53"/>
                </a:solidFill>
              </a:rPr>
              <a:t>Insert zᵢ into the</a:t>
            </a:r>
            <a:endParaRPr/>
          </a:p>
          <a:p>
            <a:pPr algn="ctr">
              <a:lnSpc>
                <a:spcPct val="105000"/>
              </a:lnSpc>
              <a:buNone/>
              <a:defRPr sz="1450" b="0" i="0">
                <a:solidFill>
                  <a:srgbClr val="243B53"/>
                </a:solidFill>
              </a:defRPr>
            </a:pPr>
            <a:r>
              <a:rPr sz="1450" b="0" i="0">
                <a:solidFill>
                  <a:srgbClr val="243B53"/>
                </a:solidFill>
              </a:rPr>
              <a:t>maintained sorted list</a:t>
            </a:r>
            <a:endParaRPr/>
          </a:p>
        </p:txBody>
      </p:sp>
      <p:cxnSp>
        <p:nvCxnSpPr>
          <p:cNvPr id="1863316207" name=""/>
          <p:cNvCxnSpPr>
            <a:stCxn id="629078283" idx="3"/>
            <a:endCxn id="392626939" idx="1"/>
          </p:cNvCxnSpPr>
          <p:nvPr/>
        </p:nvCxnSpPr>
        <p:spPr bwMode="auto">
          <a:xfrm>
            <a:off x="2705100" y="4333875"/>
            <a:ext cx="209550" cy="0"/>
          </a:xfrm>
          <a:prstGeom prst="straightConnector1">
            <a:avLst/>
          </a:prstGeom>
          <a:ln w="19050">
            <a:solidFill>
              <a:srgbClr val="2A9D8F"/>
            </a:solidFill>
            <a:prstDash val="solid"/>
            <a:tailEnd type="arrow" w="sm" len="sm"/>
          </a:ln>
        </p:spPr>
      </p:cxnSp>
      <p:cxnSp>
        <p:nvCxnSpPr>
          <p:cNvPr id="933141848" name=""/>
          <p:cNvCxnSpPr>
            <a:stCxn id="392626939" idx="3"/>
            <a:endCxn id="884116531" idx="1"/>
          </p:cNvCxnSpPr>
          <p:nvPr/>
        </p:nvCxnSpPr>
        <p:spPr bwMode="auto">
          <a:xfrm>
            <a:off x="4895850" y="4333875"/>
            <a:ext cx="209550" cy="0"/>
          </a:xfrm>
          <a:prstGeom prst="straightConnector1">
            <a:avLst/>
          </a:prstGeom>
          <a:ln w="19050">
            <a:solidFill>
              <a:srgbClr val="2A9D8F"/>
            </a:solidFill>
            <a:prstDash val="solid"/>
            <a:tailEnd type="arrow" w="sm" len="sm"/>
          </a:ln>
        </p:spPr>
      </p:cxnSp>
      <p:cxnSp>
        <p:nvCxnSpPr>
          <p:cNvPr id="1561782823" name=""/>
          <p:cNvCxnSpPr>
            <a:stCxn id="884116531" idx="3"/>
            <a:endCxn id="1042978421" idx="1"/>
          </p:cNvCxnSpPr>
          <p:nvPr/>
        </p:nvCxnSpPr>
        <p:spPr bwMode="auto">
          <a:xfrm>
            <a:off x="7086600" y="4333875"/>
            <a:ext cx="209550" cy="0"/>
          </a:xfrm>
          <a:prstGeom prst="straightConnector1">
            <a:avLst/>
          </a:prstGeom>
          <a:ln w="19050">
            <a:solidFill>
              <a:srgbClr val="2A9D8F"/>
            </a:solidFill>
            <a:prstDash val="solid"/>
            <a:tailEnd type="arrow" w="sm" len="sm"/>
          </a:ln>
        </p:spPr>
      </p:cxnSp>
      <p:cxnSp>
        <p:nvCxnSpPr>
          <p:cNvPr id="1740370762" name=""/>
          <p:cNvCxnSpPr>
            <a:stCxn id="1042978421" idx="3"/>
            <a:endCxn id="56797169" idx="1"/>
          </p:cNvCxnSpPr>
          <p:nvPr/>
        </p:nvCxnSpPr>
        <p:spPr bwMode="auto">
          <a:xfrm>
            <a:off x="9277350" y="4333875"/>
            <a:ext cx="209550" cy="0"/>
          </a:xfrm>
          <a:prstGeom prst="straightConnector1">
            <a:avLst/>
          </a:prstGeom>
          <a:ln w="19050">
            <a:solidFill>
              <a:srgbClr val="2A9D8F"/>
            </a:solidFill>
            <a:prstDash val="solid"/>
            <a:tailEnd type="arrow" w="sm" len="sm"/>
          </a:ln>
        </p:spPr>
      </p:cxnSp>
      <p:sp>
        <p:nvSpPr>
          <p:cNvPr id="1663966756" name=""/>
          <p:cNvSpPr>
            <a:spLocks noGrp="1"/>
          </p:cNvSpPr>
          <p:nvPr/>
        </p:nvSpPr>
        <p:spPr bwMode="auto">
          <a:xfrm>
            <a:off x="723900" y="4972050"/>
            <a:ext cx="10744200" cy="266700"/>
          </a:xfrm>
          <a:prstGeom prst="rect">
            <a:avLst/>
          </a:prstGeom>
          <a:noFill/>
          <a:ln w="0">
            <a:noFill/>
            <a:prstDash val="solid"/>
          </a:ln>
        </p:spPr>
        <p:txBody>
          <a:bodyPr wrap="square" lIns="38100" tIns="19050" rIns="38100" bIns="19050" anchor="t">
            <a:normAutofit fontScale="90703"/>
          </a:bodyPr>
          <a:lstStyle/>
          <a:p>
            <a:pPr algn="ctr">
              <a:lnSpc>
                <a:spcPct val="105000"/>
              </a:lnSpc>
              <a:buNone/>
              <a:defRPr sz="1600" b="1" i="0">
                <a:solidFill>
                  <a:srgbClr val="102A43"/>
                </a:solidFill>
              </a:defRPr>
            </a:pPr>
            <a:r>
              <a:rPr sz="1600" b="1" i="0">
                <a:solidFill>
                  <a:srgbClr val="102A43"/>
                </a:solidFill>
              </a:rPr>
              <a:t>Step 1 → Aᵢ and Step 2 → Bᵢ in both orientations</a:t>
            </a:r>
            <a:endParaRPr/>
          </a:p>
        </p:txBody>
      </p:sp>
      <p:sp>
        <p:nvSpPr>
          <p:cNvPr id="415757773" name=""/>
          <p:cNvSpPr>
            <a:spLocks noGrp="1"/>
          </p:cNvSpPr>
          <p:nvPr/>
        </p:nvSpPr>
        <p:spPr bwMode="auto">
          <a:xfrm>
            <a:off x="723900" y="5257800"/>
            <a:ext cx="10744200" cy="266700"/>
          </a:xfrm>
          <a:prstGeom prst="rect">
            <a:avLst/>
          </a:prstGeom>
          <a:noFill/>
          <a:ln w="0">
            <a:noFill/>
            <a:prstDash val="solid"/>
          </a:ln>
        </p:spPr>
        <p:txBody>
          <a:bodyPr wrap="square" lIns="38100" tIns="19050" rIns="38100" bIns="19050" anchor="t">
            <a:normAutofit fontScale="95238"/>
          </a:bodyPr>
          <a:lstStyle/>
          <a:p>
            <a:pPr algn="ctr">
              <a:lnSpc>
                <a:spcPct val="105000"/>
              </a:lnSpc>
              <a:buNone/>
              <a:defRPr sz="1500" b="0" i="0">
                <a:solidFill>
                  <a:srgbClr val="52606D"/>
                </a:solidFill>
              </a:defRPr>
            </a:pPr>
            <a:r>
              <a:rPr sz="1500" b="0" i="0">
                <a:solidFill>
                  <a:srgbClr val="52606D"/>
                </a:solidFill>
              </a:rPr>
              <a:t>Increasing: 3(a) uses Aᵢ, 3(b) uses Bᵢ. Decreasing swaps these uses and reflects left/right operations.</a:t>
            </a:r>
            <a:endParaRPr/>
          </a:p>
        </p:txBody>
      </p:sp>
      <p:sp>
        <p:nvSpPr>
          <p:cNvPr id="1007990346" name=""/>
          <p:cNvSpPr>
            <a:spLocks noGrp="1"/>
          </p:cNvSpPr>
          <p:nvPr/>
        </p:nvSpPr>
        <p:spPr bwMode="auto">
          <a:xfrm>
            <a:off x="723900" y="5657850"/>
            <a:ext cx="10744200" cy="247650"/>
          </a:xfrm>
          <a:prstGeom prst="rect">
            <a:avLst/>
          </a:prstGeom>
          <a:noFill/>
          <a:ln w="0">
            <a:noFill/>
            <a:prstDash val="solid"/>
          </a:ln>
        </p:spPr>
        <p:txBody>
          <a:bodyPr wrap="square" lIns="38100" tIns="19050" rIns="38100" bIns="19050" anchor="t">
            <a:normAutofit fontScale="91896"/>
          </a:bodyPr>
          <a:lstStyle/>
          <a:p>
            <a:pPr algn="l">
              <a:lnSpc>
                <a:spcPct val="105000"/>
              </a:lnSpc>
              <a:buNone/>
              <a:defRPr sz="1450" b="0" i="0">
                <a:solidFill>
                  <a:srgbClr val="7B8794"/>
                </a:solidFill>
              </a:defRPr>
            </a:pPr>
            <a:r>
              <a:rPr sz="1450" b="0" i="0">
                <a:solidFill>
                  <a:srgbClr val="7B8794"/>
                </a:solidFill>
              </a:rPr>
              <a:t>How the reconstruction is justified (categories, not algorithm stages)</a:t>
            </a:r>
            <a:endParaRPr/>
          </a:p>
        </p:txBody>
      </p:sp>
      <p:sp>
        <p:nvSpPr>
          <p:cNvPr id="1130878046" name=""/>
          <p:cNvSpPr>
            <a:spLocks noGrp="1"/>
          </p:cNvSpPr>
          <p:nvPr/>
        </p:nvSpPr>
        <p:spPr bwMode="auto">
          <a:xfrm>
            <a:off x="723900" y="6000750"/>
            <a:ext cx="3429000" cy="381000"/>
          </a:xfrm>
          <a:prstGeom prst="roundRect">
            <a:avLst>
              <a:gd name="adj" fmla="val 15000"/>
            </a:avLst>
          </a:prstGeom>
          <a:solidFill>
            <a:srgbClr val="EAF1F8"/>
          </a:solidFill>
          <a:ln w="11430">
            <a:solidFill>
              <a:srgbClr val="102A43"/>
            </a:solidFill>
            <a:prstDash val="solid"/>
          </a:ln>
        </p:spPr>
      </p:sp>
      <p:sp>
        <p:nvSpPr>
          <p:cNvPr id="563800143" name=""/>
          <p:cNvSpPr>
            <a:spLocks noGrp="1"/>
          </p:cNvSpPr>
          <p:nvPr/>
        </p:nvSpPr>
        <p:spPr bwMode="auto">
          <a:xfrm>
            <a:off x="800100" y="6038850"/>
            <a:ext cx="3276600" cy="285750"/>
          </a:xfrm>
          <a:prstGeom prst="rect">
            <a:avLst/>
          </a:prstGeom>
          <a:noFill/>
          <a:ln w="0">
            <a:noFill/>
            <a:prstDash val="solid"/>
          </a:ln>
        </p:spPr>
        <p:txBody>
          <a:bodyPr wrap="square" lIns="38100" tIns="19050" rIns="38100" bIns="19050" anchor="t">
            <a:normAutofit fontScale="98261"/>
          </a:bodyPr>
          <a:lstStyle/>
          <a:p>
            <a:pPr algn="ctr">
              <a:lnSpc>
                <a:spcPct val="105000"/>
              </a:lnSpc>
              <a:buNone/>
              <a:defRPr sz="1600" b="1" i="0">
                <a:solidFill>
                  <a:srgbClr val="102A43"/>
                </a:solidFill>
              </a:defRPr>
            </a:pPr>
            <a:r>
              <a:rPr sz="1600" b="1" i="0">
                <a:solidFill>
                  <a:srgbClr val="102A43"/>
                </a:solidFill>
              </a:rPr>
              <a:t>Explicit source rules</a:t>
            </a:r>
            <a:endParaRPr/>
          </a:p>
        </p:txBody>
      </p:sp>
      <p:sp>
        <p:nvSpPr>
          <p:cNvPr id="1979268956" name=""/>
          <p:cNvSpPr>
            <a:spLocks noGrp="1"/>
          </p:cNvSpPr>
          <p:nvPr/>
        </p:nvSpPr>
        <p:spPr bwMode="auto">
          <a:xfrm>
            <a:off x="4381500" y="6000750"/>
            <a:ext cx="3429000" cy="381000"/>
          </a:xfrm>
          <a:prstGeom prst="roundRect">
            <a:avLst>
              <a:gd name="adj" fmla="val 15000"/>
            </a:avLst>
          </a:prstGeom>
          <a:solidFill>
            <a:srgbClr val="E8F5F3"/>
          </a:solidFill>
          <a:ln w="11430">
            <a:solidFill>
              <a:srgbClr val="2A9D8F"/>
            </a:solidFill>
            <a:prstDash val="solid"/>
          </a:ln>
        </p:spPr>
      </p:sp>
      <p:sp>
        <p:nvSpPr>
          <p:cNvPr id="2117367825" name=""/>
          <p:cNvSpPr>
            <a:spLocks noGrp="1"/>
          </p:cNvSpPr>
          <p:nvPr/>
        </p:nvSpPr>
        <p:spPr bwMode="auto">
          <a:xfrm>
            <a:off x="4457700" y="6038850"/>
            <a:ext cx="3276600" cy="285750"/>
          </a:xfrm>
          <a:prstGeom prst="rect">
            <a:avLst/>
          </a:prstGeom>
          <a:noFill/>
          <a:ln w="0">
            <a:noFill/>
            <a:prstDash val="solid"/>
          </a:ln>
        </p:spPr>
        <p:txBody>
          <a:bodyPr wrap="square" lIns="38100" tIns="19050" rIns="38100" bIns="19050" anchor="t">
            <a:normAutofit fontScale="98261"/>
          </a:bodyPr>
          <a:lstStyle/>
          <a:p>
            <a:pPr algn="ctr">
              <a:lnSpc>
                <a:spcPct val="105000"/>
              </a:lnSpc>
              <a:buNone/>
              <a:defRPr sz="1600" b="1" i="0">
                <a:solidFill>
                  <a:srgbClr val="2A9D8F"/>
                </a:solidFill>
              </a:defRPr>
            </a:pPr>
            <a:r>
              <a:rPr sz="1600" b="1" i="0">
                <a:solidFill>
                  <a:srgbClr val="2A9D8F"/>
                </a:solidFill>
              </a:rPr>
              <a:t>Symmetric reconstruction</a:t>
            </a:r>
            <a:endParaRPr/>
          </a:p>
        </p:txBody>
      </p:sp>
      <p:sp>
        <p:nvSpPr>
          <p:cNvPr id="349905605" name=""/>
          <p:cNvSpPr>
            <a:spLocks noGrp="1"/>
          </p:cNvSpPr>
          <p:nvPr/>
        </p:nvSpPr>
        <p:spPr bwMode="auto">
          <a:xfrm>
            <a:off x="8039100" y="6000750"/>
            <a:ext cx="3429000" cy="381000"/>
          </a:xfrm>
          <a:prstGeom prst="roundRect">
            <a:avLst>
              <a:gd name="adj" fmla="val 15000"/>
            </a:avLst>
          </a:prstGeom>
          <a:solidFill>
            <a:srgbClr val="FCEEEA"/>
          </a:solidFill>
          <a:ln w="11430">
            <a:solidFill>
              <a:srgbClr val="E76F51"/>
            </a:solidFill>
            <a:prstDash val="solid"/>
          </a:ln>
        </p:spPr>
      </p:sp>
      <p:sp>
        <p:nvSpPr>
          <p:cNvPr id="646322380" name=""/>
          <p:cNvSpPr>
            <a:spLocks noGrp="1"/>
          </p:cNvSpPr>
          <p:nvPr/>
        </p:nvSpPr>
        <p:spPr bwMode="auto">
          <a:xfrm>
            <a:off x="8115300" y="6038850"/>
            <a:ext cx="3276600" cy="285750"/>
          </a:xfrm>
          <a:prstGeom prst="rect">
            <a:avLst/>
          </a:prstGeom>
          <a:noFill/>
          <a:ln w="0">
            <a:noFill/>
            <a:prstDash val="solid"/>
          </a:ln>
        </p:spPr>
        <p:txBody>
          <a:bodyPr wrap="square" lIns="38100" tIns="19050" rIns="38100" bIns="19050" anchor="t">
            <a:normAutofit fontScale="98261"/>
          </a:bodyPr>
          <a:lstStyle/>
          <a:p>
            <a:pPr algn="ctr">
              <a:lnSpc>
                <a:spcPct val="105000"/>
              </a:lnSpc>
              <a:buNone/>
              <a:defRPr sz="1600" b="1" i="0">
                <a:solidFill>
                  <a:srgbClr val="E76F51"/>
                </a:solidFill>
              </a:defRPr>
            </a:pPr>
            <a:r>
              <a:rPr sz="1600" b="1" i="0">
                <a:solidFill>
                  <a:srgbClr val="E76F51"/>
                </a:solidFill>
              </a:rPr>
              <a:t>Executable clarifications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442383965"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RECONSTRUCTION ISSUE I</a:t>
            </a:r>
            <a:endParaRPr/>
          </a:p>
        </p:txBody>
      </p:sp>
      <p:sp>
        <p:nvSpPr>
          <p:cNvPr id="1086078024"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From S₃ to S₄: the geometric insertion anchor</a:t>
            </a:r>
            <a:endParaRPr/>
          </a:p>
        </p:txBody>
      </p:sp>
      <p:sp>
        <p:nvSpPr>
          <p:cNvPr id="194111148" name=""/>
          <p:cNvSpPr>
            <a:spLocks noGrp="1"/>
          </p:cNvSpPr>
          <p:nvPr/>
        </p:nvSpPr>
        <p:spPr bwMode="auto">
          <a:xfrm>
            <a:off x="609600" y="1085850"/>
            <a:ext cx="10972800" cy="9525"/>
          </a:xfrm>
          <a:prstGeom prst="line">
            <a:avLst/>
          </a:prstGeom>
          <a:noFill/>
          <a:ln w="28575">
            <a:solidFill>
              <a:srgbClr val="2A9D8F"/>
            </a:solidFill>
            <a:prstDash val="solid"/>
          </a:ln>
        </p:spPr>
      </p:sp>
      <p:sp>
        <p:nvSpPr>
          <p:cNvPr id="1585569090" name=""/>
          <p:cNvSpPr>
            <a:spLocks noGrp="1"/>
          </p:cNvSpPr>
          <p:nvPr/>
        </p:nvSpPr>
        <p:spPr bwMode="auto">
          <a:xfrm>
            <a:off x="609600" y="6477000"/>
            <a:ext cx="10972800" cy="9525"/>
          </a:xfrm>
          <a:prstGeom prst="line">
            <a:avLst/>
          </a:prstGeom>
          <a:noFill/>
          <a:ln w="9525">
            <a:solidFill>
              <a:srgbClr val="D9E2EC"/>
            </a:solidFill>
            <a:prstDash val="solid"/>
          </a:ln>
        </p:spPr>
      </p:sp>
      <p:sp>
        <p:nvSpPr>
          <p:cNvPr id="1496210738"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934622186"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8 / 16</a:t>
            </a:r>
            <a:endParaRPr/>
          </a:p>
        </p:txBody>
      </p:sp>
      <p:sp>
        <p:nvSpPr>
          <p:cNvPr id="1117523687" name=""/>
          <p:cNvSpPr>
            <a:spLocks noGrp="1"/>
          </p:cNvSpPr>
          <p:nvPr/>
        </p:nvSpPr>
        <p:spPr bwMode="auto">
          <a:xfrm>
            <a:off x="723900" y="1314450"/>
            <a:ext cx="10744200" cy="323850"/>
          </a:xfrm>
          <a:prstGeom prst="rect">
            <a:avLst/>
          </a:prstGeom>
          <a:noFill/>
          <a:ln w="0">
            <a:noFill/>
            <a:prstDash val="solid"/>
          </a:ln>
        </p:spPr>
        <p:txBody>
          <a:bodyPr wrap="square" lIns="38100" tIns="19050" rIns="38100" bIns="19050" anchor="t">
            <a:normAutofit fontScale="95238"/>
          </a:bodyPr>
          <a:lstStyle/>
          <a:p>
            <a:pPr algn="l">
              <a:lnSpc>
                <a:spcPct val="105000"/>
              </a:lnSpc>
              <a:buNone/>
              <a:defRPr sz="1900" b="1" i="0">
                <a:solidFill>
                  <a:srgbClr val="102A43"/>
                </a:solidFill>
              </a:defRPr>
            </a:pPr>
            <a:r>
              <a:rPr sz="1900" b="1" i="0">
                <a:solidFill>
                  <a:srgbClr val="102A43"/>
                </a:solidFill>
              </a:rPr>
              <a:t>Input in curve order: (z₁, z₂, z₃, z₄) = (3, 2, 1, 4)</a:t>
            </a:r>
            <a:endParaRPr/>
          </a:p>
        </p:txBody>
      </p:sp>
      <p:sp>
        <p:nvSpPr>
          <p:cNvPr id="526919034" name=""/>
          <p:cNvSpPr>
            <a:spLocks noGrp="1"/>
          </p:cNvSpPr>
          <p:nvPr/>
        </p:nvSpPr>
        <p:spPr bwMode="auto">
          <a:xfrm>
            <a:off x="723900" y="1790700"/>
            <a:ext cx="6572250" cy="1066800"/>
          </a:xfrm>
          <a:prstGeom prst="roundRect">
            <a:avLst>
              <a:gd name="adj" fmla="val 5357"/>
            </a:avLst>
          </a:prstGeom>
          <a:solidFill>
            <a:srgbClr val="EAF1F8"/>
          </a:solidFill>
          <a:ln w="11430">
            <a:solidFill>
              <a:srgbClr val="52606D"/>
            </a:solidFill>
            <a:prstDash val="solid"/>
          </a:ln>
        </p:spPr>
      </p:sp>
      <p:sp>
        <p:nvSpPr>
          <p:cNvPr id="414413177" name=""/>
          <p:cNvSpPr>
            <a:spLocks noGrp="1"/>
          </p:cNvSpPr>
          <p:nvPr/>
        </p:nvSpPr>
        <p:spPr bwMode="auto">
          <a:xfrm>
            <a:off x="876299" y="1885950"/>
            <a:ext cx="6267450" cy="3429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900" b="1" i="0">
                <a:solidFill>
                  <a:srgbClr val="102A43"/>
                </a:solidFill>
              </a:defRPr>
            </a:pPr>
            <a:r>
              <a:rPr sz="1900" b="1" i="0">
                <a:solidFill>
                  <a:srgbClr val="102A43"/>
                </a:solidFill>
              </a:rPr>
              <a:t>After initialization: S₃ = [1, 2, 3]</a:t>
            </a:r>
            <a:endParaRPr/>
          </a:p>
        </p:txBody>
      </p:sp>
      <p:sp>
        <p:nvSpPr>
          <p:cNvPr id="504142875" name=""/>
          <p:cNvSpPr>
            <a:spLocks noGrp="1"/>
          </p:cNvSpPr>
          <p:nvPr/>
        </p:nvSpPr>
        <p:spPr bwMode="auto">
          <a:xfrm>
            <a:off x="876299" y="2381250"/>
            <a:ext cx="6267450" cy="3048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0" i="0">
                <a:solidFill>
                  <a:srgbClr val="52606D"/>
                </a:solidFill>
              </a:defRPr>
            </a:pPr>
            <a:r>
              <a:rPr sz="1650" b="0" i="0">
                <a:solidFill>
                  <a:srgbClr val="52606D"/>
                </a:solidFill>
              </a:rPr>
              <a:t>Point IDs: [z₃, z₂, z₁]. Curve labels stay unchanged.</a:t>
            </a:r>
            <a:endParaRPr/>
          </a:p>
        </p:txBody>
      </p:sp>
      <p:sp>
        <p:nvSpPr>
          <p:cNvPr id="521753318" name=""/>
          <p:cNvSpPr>
            <a:spLocks noGrp="1"/>
          </p:cNvSpPr>
          <p:nvPr/>
        </p:nvSpPr>
        <p:spPr bwMode="auto">
          <a:xfrm>
            <a:off x="7524750" y="1790700"/>
            <a:ext cx="3943350" cy="1066800"/>
          </a:xfrm>
          <a:prstGeom prst="roundRect">
            <a:avLst>
              <a:gd name="adj" fmla="val 5357"/>
            </a:avLst>
          </a:prstGeom>
          <a:solidFill>
            <a:srgbClr val="E8F5F3"/>
          </a:solidFill>
          <a:ln w="11430">
            <a:solidFill>
              <a:srgbClr val="2A9D8F"/>
            </a:solidFill>
            <a:prstDash val="solid"/>
          </a:ln>
        </p:spPr>
      </p:sp>
      <p:sp>
        <p:nvSpPr>
          <p:cNvPr id="571486841" name=""/>
          <p:cNvSpPr>
            <a:spLocks noGrp="1"/>
          </p:cNvSpPr>
          <p:nvPr/>
        </p:nvSpPr>
        <p:spPr bwMode="auto">
          <a:xfrm>
            <a:off x="7677150" y="1885950"/>
            <a:ext cx="3638550" cy="3429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900" b="1" i="0">
                <a:solidFill>
                  <a:srgbClr val="2A9D8F"/>
                </a:solidFill>
              </a:defRPr>
            </a:pPr>
            <a:r>
              <a:rPr sz="1900" b="1" i="0">
                <a:solidFill>
                  <a:srgbClr val="2A9D8F"/>
                </a:solidFill>
              </a:rPr>
              <a:t>Now process z₄ = 4</a:t>
            </a:r>
            <a:endParaRPr/>
          </a:p>
        </p:txBody>
      </p:sp>
      <p:sp>
        <p:nvSpPr>
          <p:cNvPr id="236685148" name=""/>
          <p:cNvSpPr>
            <a:spLocks noGrp="1"/>
          </p:cNvSpPr>
          <p:nvPr/>
        </p:nvSpPr>
        <p:spPr bwMode="auto">
          <a:xfrm>
            <a:off x="7677150" y="2381250"/>
            <a:ext cx="3638550" cy="3048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0" i="0">
                <a:solidFill>
                  <a:srgbClr val="243B53"/>
                </a:solidFill>
              </a:defRPr>
            </a:pPr>
            <a:r>
              <a:rPr sz="1650" b="0" i="0">
                <a:solidFill>
                  <a:srgbClr val="243B53"/>
                </a:solidFill>
              </a:rPr>
              <a:t>z₃ = 1 → z₄ = 4: increasing</a:t>
            </a:r>
            <a:endParaRPr/>
          </a:p>
        </p:txBody>
      </p:sp>
      <p:sp>
        <p:nvSpPr>
          <p:cNvPr id="1371503844" name=""/>
          <p:cNvSpPr>
            <a:spLocks noGrp="1"/>
          </p:cNvSpPr>
          <p:nvPr/>
        </p:nvSpPr>
        <p:spPr bwMode="auto">
          <a:xfrm>
            <a:off x="723900" y="3086100"/>
            <a:ext cx="2305050" cy="3048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1" i="0">
                <a:solidFill>
                  <a:srgbClr val="102A43"/>
                </a:solidFill>
              </a:defRPr>
            </a:pPr>
            <a:r>
              <a:rPr sz="1650" b="1" i="0">
                <a:solidFill>
                  <a:srgbClr val="102A43"/>
                </a:solidFill>
              </a:rPr>
              <a:t>After Step 3(b)</a:t>
            </a:r>
            <a:endParaRPr/>
          </a:p>
        </p:txBody>
      </p:sp>
      <p:sp>
        <p:nvSpPr>
          <p:cNvPr id="729575444" name=""/>
          <p:cNvSpPr>
            <a:spLocks noGrp="1"/>
          </p:cNvSpPr>
          <p:nvPr/>
        </p:nvSpPr>
        <p:spPr bwMode="auto">
          <a:xfrm>
            <a:off x="3048000" y="3086100"/>
            <a:ext cx="4000500" cy="3048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1" i="0">
                <a:solidFill>
                  <a:srgbClr val="2A9D8F"/>
                </a:solidFill>
              </a:defRPr>
            </a:pPr>
            <a:r>
              <a:rPr sz="1650" b="1" i="0">
                <a:solidFill>
                  <a:srgbClr val="2A9D8F"/>
                </a:solidFill>
              </a:rPr>
              <a:t>New upper P₄ = (z₃, z₄) = (1, 4)</a:t>
            </a:r>
            <a:endParaRPr/>
          </a:p>
        </p:txBody>
      </p:sp>
      <p:sp>
        <p:nvSpPr>
          <p:cNvPr id="34135513" name=""/>
          <p:cNvSpPr>
            <a:spLocks noGrp="1"/>
          </p:cNvSpPr>
          <p:nvPr/>
        </p:nvSpPr>
        <p:spPr bwMode="auto">
          <a:xfrm>
            <a:off x="7086600" y="3086100"/>
            <a:ext cx="1009650" cy="3048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0" i="0">
                <a:solidFill>
                  <a:srgbClr val="2A9D8F"/>
                </a:solidFill>
              </a:defRPr>
            </a:pPr>
            <a:r>
              <a:rPr sz="1650" b="0" i="0">
                <a:solidFill>
                  <a:srgbClr val="2A9D8F"/>
                </a:solidFill>
              </a:rPr>
              <a:t>→ child</a:t>
            </a:r>
            <a:endParaRPr/>
          </a:p>
        </p:txBody>
      </p:sp>
      <p:sp>
        <p:nvSpPr>
          <p:cNvPr id="280400984" name=""/>
          <p:cNvSpPr>
            <a:spLocks noGrp="1"/>
          </p:cNvSpPr>
          <p:nvPr/>
        </p:nvSpPr>
        <p:spPr bwMode="auto">
          <a:xfrm>
            <a:off x="8096250" y="3086100"/>
            <a:ext cx="3371850" cy="3048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00" b="1" i="0">
                <a:solidFill>
                  <a:srgbClr val="102A43"/>
                </a:solidFill>
              </a:defRPr>
            </a:pPr>
            <a:r>
              <a:rPr sz="1600" b="1" i="0">
                <a:solidFill>
                  <a:srgbClr val="102A43"/>
                </a:solidFill>
              </a:rPr>
              <a:t>Upper P₂ = (z₁, z₂) = (3, 2)</a:t>
            </a:r>
            <a:endParaRPr/>
          </a:p>
        </p:txBody>
      </p:sp>
      <p:sp>
        <p:nvSpPr>
          <p:cNvPr id="1961139177" name=""/>
          <p:cNvSpPr>
            <a:spLocks noGrp="1"/>
          </p:cNvSpPr>
          <p:nvPr/>
        </p:nvSpPr>
        <p:spPr bwMode="auto">
          <a:xfrm>
            <a:off x="723900" y="3552825"/>
            <a:ext cx="10744200" cy="304800"/>
          </a:xfrm>
          <a:prstGeom prst="rect">
            <a:avLst/>
          </a:prstGeom>
          <a:noFill/>
          <a:ln w="0">
            <a:noFill/>
            <a:prstDash val="solid"/>
          </a:ln>
        </p:spPr>
        <p:txBody>
          <a:bodyPr wrap="square" lIns="38100" tIns="19050" rIns="38100" bIns="19050" anchor="t">
            <a:normAutofit fontScale="96618"/>
          </a:bodyPr>
          <a:lstStyle/>
          <a:p>
            <a:pPr algn="ctr">
              <a:lnSpc>
                <a:spcPct val="105000"/>
              </a:lnSpc>
              <a:buNone/>
              <a:defRPr sz="1750" b="1" i="0">
                <a:solidFill>
                  <a:srgbClr val="102A43"/>
                </a:solidFill>
              </a:defRPr>
            </a:pPr>
            <a:r>
              <a:rPr sz="1750" b="1" i="0">
                <a:solidFill>
                  <a:srgbClr val="102A43"/>
                </a:solidFill>
              </a:rPr>
              <a:t>P₄ has child P₂. In this increasing update, use its geometric right endpoint.</a:t>
            </a:r>
            <a:endParaRPr/>
          </a:p>
        </p:txBody>
      </p:sp>
      <p:sp>
        <p:nvSpPr>
          <p:cNvPr id="296224664" name=""/>
          <p:cNvSpPr>
            <a:spLocks noGrp="1"/>
          </p:cNvSpPr>
          <p:nvPr/>
        </p:nvSpPr>
        <p:spPr bwMode="auto">
          <a:xfrm>
            <a:off x="723900" y="4067175"/>
            <a:ext cx="5257800" cy="1524000"/>
          </a:xfrm>
          <a:prstGeom prst="roundRect">
            <a:avLst>
              <a:gd name="adj" fmla="val 5000"/>
            </a:avLst>
          </a:prstGeom>
          <a:solidFill>
            <a:srgbClr val="FCEEEA"/>
          </a:solidFill>
          <a:ln w="19050">
            <a:solidFill>
              <a:srgbClr val="E76F51"/>
            </a:solidFill>
            <a:prstDash val="solid"/>
          </a:ln>
        </p:spPr>
      </p:sp>
      <p:sp>
        <p:nvSpPr>
          <p:cNvPr id="1367125159" name=""/>
          <p:cNvSpPr>
            <a:spLocks noGrp="1"/>
          </p:cNvSpPr>
          <p:nvPr/>
        </p:nvSpPr>
        <p:spPr bwMode="auto">
          <a:xfrm>
            <a:off x="876299" y="4162425"/>
            <a:ext cx="4953000" cy="3238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750" b="1" i="0">
                <a:solidFill>
                  <a:srgbClr val="E76F51"/>
                </a:solidFill>
              </a:defRPr>
            </a:pPr>
            <a:r>
              <a:rPr sz="1750" b="1" i="0">
                <a:solidFill>
                  <a:srgbClr val="E76F51"/>
                </a:solidFill>
              </a:rPr>
              <a:t>Second stored endpoint of P₂: 2</a:t>
            </a:r>
            <a:endParaRPr/>
          </a:p>
        </p:txBody>
      </p:sp>
      <p:sp>
        <p:nvSpPr>
          <p:cNvPr id="1351608313" name=""/>
          <p:cNvSpPr>
            <a:spLocks noGrp="1"/>
          </p:cNvSpPr>
          <p:nvPr/>
        </p:nvSpPr>
        <p:spPr bwMode="auto">
          <a:xfrm>
            <a:off x="876299" y="4610100"/>
            <a:ext cx="4953000" cy="304800"/>
          </a:xfrm>
          <a:prstGeom prst="rect">
            <a:avLst/>
          </a:prstGeom>
          <a:noFill/>
          <a:ln w="0">
            <a:noFill/>
            <a:prstDash val="solid"/>
          </a:ln>
        </p:spPr>
        <p:txBody>
          <a:bodyPr wrap="square" lIns="38100" tIns="19050" rIns="38100" bIns="19050" anchor="t">
            <a:normAutofit fontScale="96618"/>
          </a:bodyPr>
          <a:lstStyle/>
          <a:p>
            <a:pPr algn="l">
              <a:lnSpc>
                <a:spcPct val="105000"/>
              </a:lnSpc>
              <a:buNone/>
              <a:defRPr sz="1750" b="0" i="0">
                <a:solidFill>
                  <a:srgbClr val="243B53"/>
                </a:solidFill>
              </a:defRPr>
            </a:pPr>
            <a:r>
              <a:rPr sz="1750" b="0" i="0">
                <a:solidFill>
                  <a:srgbClr val="243B53"/>
                </a:solidFill>
              </a:rPr>
              <a:t>Insert 4 immediately after 2</a:t>
            </a:r>
            <a:endParaRPr/>
          </a:p>
        </p:txBody>
      </p:sp>
      <p:sp>
        <p:nvSpPr>
          <p:cNvPr id="1337874200" name=""/>
          <p:cNvSpPr>
            <a:spLocks noGrp="1"/>
          </p:cNvSpPr>
          <p:nvPr/>
        </p:nvSpPr>
        <p:spPr bwMode="auto">
          <a:xfrm>
            <a:off x="876299" y="5095875"/>
            <a:ext cx="4953000" cy="3429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800" b="1" i="0">
                <a:solidFill>
                  <a:srgbClr val="E76F51"/>
                </a:solidFill>
              </a:defRPr>
            </a:pPr>
            <a:r>
              <a:rPr sz="1800" b="1" i="0">
                <a:solidFill>
                  <a:srgbClr val="E76F51"/>
                </a:solidFill>
              </a:rPr>
              <a:t>[1, 2, 4, 3]  Incorrect (illustration)</a:t>
            </a:r>
            <a:endParaRPr/>
          </a:p>
        </p:txBody>
      </p:sp>
      <p:sp>
        <p:nvSpPr>
          <p:cNvPr id="1491962178" name=""/>
          <p:cNvSpPr>
            <a:spLocks noGrp="1"/>
          </p:cNvSpPr>
          <p:nvPr/>
        </p:nvSpPr>
        <p:spPr bwMode="auto">
          <a:xfrm>
            <a:off x="6210300" y="4067175"/>
            <a:ext cx="5257800" cy="1524000"/>
          </a:xfrm>
          <a:prstGeom prst="roundRect">
            <a:avLst>
              <a:gd name="adj" fmla="val 5000"/>
            </a:avLst>
          </a:prstGeom>
          <a:solidFill>
            <a:srgbClr val="E8F5F3"/>
          </a:solidFill>
          <a:ln w="19050">
            <a:solidFill>
              <a:srgbClr val="2A9D8F"/>
            </a:solidFill>
            <a:prstDash val="solid"/>
          </a:ln>
        </p:spPr>
      </p:sp>
      <p:sp>
        <p:nvSpPr>
          <p:cNvPr id="231438814" name=""/>
          <p:cNvSpPr>
            <a:spLocks noGrp="1"/>
          </p:cNvSpPr>
          <p:nvPr/>
        </p:nvSpPr>
        <p:spPr bwMode="auto">
          <a:xfrm>
            <a:off x="6362700" y="4162425"/>
            <a:ext cx="4953000" cy="3238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750" b="1" i="0">
                <a:solidFill>
                  <a:srgbClr val="2A9D8F"/>
                </a:solidFill>
              </a:defRPr>
            </a:pPr>
            <a:r>
              <a:rPr sz="1750" b="1" i="0">
                <a:solidFill>
                  <a:srgbClr val="2A9D8F"/>
                </a:solidFill>
              </a:rPr>
              <a:t>Geometric right endpoint of P₂: 3</a:t>
            </a:r>
            <a:endParaRPr/>
          </a:p>
        </p:txBody>
      </p:sp>
      <p:sp>
        <p:nvSpPr>
          <p:cNvPr id="626735996" name=""/>
          <p:cNvSpPr>
            <a:spLocks noGrp="1"/>
          </p:cNvSpPr>
          <p:nvPr/>
        </p:nvSpPr>
        <p:spPr bwMode="auto">
          <a:xfrm>
            <a:off x="6362700" y="4610100"/>
            <a:ext cx="4953000" cy="304800"/>
          </a:xfrm>
          <a:prstGeom prst="rect">
            <a:avLst/>
          </a:prstGeom>
          <a:noFill/>
          <a:ln w="0">
            <a:noFill/>
            <a:prstDash val="solid"/>
          </a:ln>
        </p:spPr>
        <p:txBody>
          <a:bodyPr wrap="square" lIns="38100" tIns="19050" rIns="38100" bIns="19050" anchor="t">
            <a:normAutofit fontScale="96618"/>
          </a:bodyPr>
          <a:lstStyle/>
          <a:p>
            <a:pPr algn="l">
              <a:lnSpc>
                <a:spcPct val="105000"/>
              </a:lnSpc>
              <a:buNone/>
              <a:defRPr sz="1750" b="0" i="0">
                <a:solidFill>
                  <a:srgbClr val="243B53"/>
                </a:solidFill>
              </a:defRPr>
            </a:pPr>
            <a:r>
              <a:rPr sz="1750" b="0" i="0">
                <a:solidFill>
                  <a:srgbClr val="243B53"/>
                </a:solidFill>
              </a:rPr>
              <a:t>Insert 4 immediately after 3</a:t>
            </a:r>
            <a:endParaRPr/>
          </a:p>
        </p:txBody>
      </p:sp>
      <p:sp>
        <p:nvSpPr>
          <p:cNvPr id="1694295250" name=""/>
          <p:cNvSpPr>
            <a:spLocks noGrp="1"/>
          </p:cNvSpPr>
          <p:nvPr/>
        </p:nvSpPr>
        <p:spPr bwMode="auto">
          <a:xfrm>
            <a:off x="6362700" y="5095875"/>
            <a:ext cx="4953000" cy="3429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800" b="1" i="0">
                <a:solidFill>
                  <a:srgbClr val="2A9D8F"/>
                </a:solidFill>
              </a:defRPr>
            </a:pPr>
            <a:r>
              <a:rPr sz="1800" b="1" i="0">
                <a:solidFill>
                  <a:srgbClr val="2A9D8F"/>
                </a:solidFill>
              </a:rPr>
              <a:t>[1, 2, 3, 4]  Correct</a:t>
            </a:r>
            <a:endParaRPr/>
          </a:p>
        </p:txBody>
      </p:sp>
      <p:sp>
        <p:nvSpPr>
          <p:cNvPr id="1068026823" name=""/>
          <p:cNvSpPr>
            <a:spLocks noGrp="1"/>
          </p:cNvSpPr>
          <p:nvPr/>
        </p:nvSpPr>
        <p:spPr bwMode="auto">
          <a:xfrm>
            <a:off x="723900" y="5762625"/>
            <a:ext cx="10744200" cy="285750"/>
          </a:xfrm>
          <a:prstGeom prst="rect">
            <a:avLst/>
          </a:prstGeom>
          <a:noFill/>
          <a:ln w="0">
            <a:noFill/>
            <a:prstDash val="solid"/>
          </a:ln>
        </p:spPr>
        <p:txBody>
          <a:bodyPr wrap="square" lIns="38100" tIns="19050" rIns="38100" bIns="19050" anchor="t">
            <a:normAutofit fontScale="93795"/>
          </a:bodyPr>
          <a:lstStyle/>
          <a:p>
            <a:pPr algn="ctr">
              <a:lnSpc>
                <a:spcPct val="105000"/>
              </a:lnSpc>
              <a:buNone/>
              <a:defRPr sz="1650" b="0" i="0">
                <a:solidFill>
                  <a:srgbClr val="102A43"/>
                </a:solidFill>
              </a:defRPr>
            </a:pPr>
            <a:r>
              <a:rPr sz="1650" b="0" i="0">
                <a:solidFill>
                  <a:srgbClr val="102A43"/>
                </a:solidFill>
              </a:rPr>
              <a:t>Here, the anchor is the existing point immediately after which we insert 4.</a:t>
            </a:r>
            <a:endParaRPr/>
          </a:p>
        </p:txBody>
      </p:sp>
      <p:sp>
        <p:nvSpPr>
          <p:cNvPr id="897910026" name=""/>
          <p:cNvSpPr>
            <a:spLocks noGrp="1"/>
          </p:cNvSpPr>
          <p:nvPr/>
        </p:nvSpPr>
        <p:spPr bwMode="auto">
          <a:xfrm>
            <a:off x="723900" y="6134100"/>
            <a:ext cx="10744200" cy="266700"/>
          </a:xfrm>
          <a:prstGeom prst="rect">
            <a:avLst/>
          </a:prstGeom>
          <a:noFill/>
          <a:ln w="0">
            <a:noFill/>
            <a:prstDash val="solid"/>
          </a:ln>
        </p:spPr>
        <p:txBody>
          <a:bodyPr wrap="square" lIns="38100" tIns="19050" rIns="38100" bIns="19050" anchor="t">
            <a:normAutofit fontScale="95238"/>
          </a:bodyPr>
          <a:lstStyle/>
          <a:p>
            <a:pPr algn="ctr">
              <a:lnSpc>
                <a:spcPct val="105000"/>
              </a:lnSpc>
              <a:buNone/>
              <a:defRPr sz="1500" b="0" i="0">
                <a:solidFill>
                  <a:srgbClr val="52606D"/>
                </a:solidFill>
              </a:defRPr>
            </a:pPr>
            <a:r>
              <a:rPr sz="1500" b="0" i="0">
                <a:solidFill>
                  <a:srgbClr val="52606D"/>
                </a:solidFill>
              </a:rPr>
              <a:t>Executable clarification, not a verbatim 1990-paper rule. Stored curve order ≠ geometric order.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1451160286"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RECONSTRUCTION ISSUE II</a:t>
            </a:r>
            <a:endParaRPr/>
          </a:p>
        </p:txBody>
      </p:sp>
      <p:sp>
        <p:nvSpPr>
          <p:cNvPr id="150510512"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Why z₁ needs a separate output-anchor check</a:t>
            </a:r>
            <a:endParaRPr/>
          </a:p>
        </p:txBody>
      </p:sp>
      <p:sp>
        <p:nvSpPr>
          <p:cNvPr id="1996410352" name=""/>
          <p:cNvSpPr>
            <a:spLocks noGrp="1"/>
          </p:cNvSpPr>
          <p:nvPr/>
        </p:nvSpPr>
        <p:spPr bwMode="auto">
          <a:xfrm>
            <a:off x="609600" y="1085850"/>
            <a:ext cx="10972800" cy="9525"/>
          </a:xfrm>
          <a:prstGeom prst="line">
            <a:avLst/>
          </a:prstGeom>
          <a:noFill/>
          <a:ln w="28575">
            <a:solidFill>
              <a:srgbClr val="2A9D8F"/>
            </a:solidFill>
            <a:prstDash val="solid"/>
          </a:ln>
        </p:spPr>
      </p:sp>
      <p:sp>
        <p:nvSpPr>
          <p:cNvPr id="569173514" name=""/>
          <p:cNvSpPr>
            <a:spLocks noGrp="1"/>
          </p:cNvSpPr>
          <p:nvPr/>
        </p:nvSpPr>
        <p:spPr bwMode="auto">
          <a:xfrm>
            <a:off x="609600" y="6477000"/>
            <a:ext cx="10972800" cy="9525"/>
          </a:xfrm>
          <a:prstGeom prst="line">
            <a:avLst/>
          </a:prstGeom>
          <a:noFill/>
          <a:ln w="9525">
            <a:solidFill>
              <a:srgbClr val="D9E2EC"/>
            </a:solidFill>
            <a:prstDash val="solid"/>
          </a:ln>
        </p:spPr>
      </p:sp>
      <p:sp>
        <p:nvSpPr>
          <p:cNvPr id="232334808"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465950510"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9 / 16</a:t>
            </a:r>
            <a:endParaRPr/>
          </a:p>
        </p:txBody>
      </p:sp>
      <p:sp>
        <p:nvSpPr>
          <p:cNvPr id="1763740588" name=""/>
          <p:cNvSpPr>
            <a:spLocks noGrp="1"/>
          </p:cNvSpPr>
          <p:nvPr/>
        </p:nvSpPr>
        <p:spPr bwMode="auto">
          <a:xfrm>
            <a:off x="723900" y="1295400"/>
            <a:ext cx="6667500" cy="3048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1" i="0">
                <a:solidFill>
                  <a:srgbClr val="102A43"/>
                </a:solidFill>
              </a:defRPr>
            </a:pPr>
            <a:r>
              <a:rPr sz="1650" b="1" i="0">
                <a:solidFill>
                  <a:srgbClr val="102A43"/>
                </a:solidFill>
              </a:rPr>
              <a:t>Input (z₁, …, z₇) = (1, 2, 3, 4, 6, 7, 0)</a:t>
            </a:r>
            <a:endParaRPr/>
          </a:p>
        </p:txBody>
      </p:sp>
      <p:sp>
        <p:nvSpPr>
          <p:cNvPr id="786731608" name=""/>
          <p:cNvSpPr>
            <a:spLocks noGrp="1"/>
          </p:cNvSpPr>
          <p:nvPr/>
        </p:nvSpPr>
        <p:spPr bwMode="auto">
          <a:xfrm>
            <a:off x="7639050" y="1314450"/>
            <a:ext cx="3829050" cy="285750"/>
          </a:xfrm>
          <a:prstGeom prst="rect">
            <a:avLst/>
          </a:prstGeom>
          <a:noFill/>
          <a:ln w="0">
            <a:noFill/>
            <a:prstDash val="solid"/>
          </a:ln>
        </p:spPr>
        <p:txBody>
          <a:bodyPr wrap="square" lIns="38100" tIns="19050" rIns="38100" bIns="19050" anchor="t">
            <a:normAutofit fontScale="98261"/>
          </a:bodyPr>
          <a:lstStyle/>
          <a:p>
            <a:pPr algn="l">
              <a:lnSpc>
                <a:spcPct val="105000"/>
              </a:lnSpc>
              <a:buNone/>
              <a:defRPr sz="1600" b="0" i="0">
                <a:solidFill>
                  <a:srgbClr val="52606D"/>
                </a:solidFill>
              </a:defRPr>
            </a:pPr>
            <a:r>
              <a:rPr sz="1600" b="0" i="0">
                <a:solidFill>
                  <a:srgbClr val="52606D"/>
                </a:solidFill>
              </a:rPr>
              <a:t>S₆ = [1, 2, 3, 4, 6, 7]</a:t>
            </a:r>
            <a:endParaRPr/>
          </a:p>
        </p:txBody>
      </p:sp>
      <p:sp>
        <p:nvSpPr>
          <p:cNvPr id="371276484" name=""/>
          <p:cNvSpPr>
            <a:spLocks noGrp="1"/>
          </p:cNvSpPr>
          <p:nvPr/>
        </p:nvSpPr>
        <p:spPr bwMode="auto">
          <a:xfrm>
            <a:off x="723900" y="1733550"/>
            <a:ext cx="5048250" cy="285750"/>
          </a:xfrm>
          <a:prstGeom prst="rect">
            <a:avLst/>
          </a:prstGeom>
          <a:noFill/>
          <a:ln w="0">
            <a:noFill/>
            <a:prstDash val="solid"/>
          </a:ln>
        </p:spPr>
        <p:txBody>
          <a:bodyPr wrap="square" lIns="38100" tIns="19050" rIns="38100" bIns="19050" anchor="t">
            <a:normAutofit fontScale="93795"/>
          </a:bodyPr>
          <a:lstStyle/>
          <a:p>
            <a:pPr algn="l">
              <a:lnSpc>
                <a:spcPct val="105000"/>
              </a:lnSpc>
              <a:buNone/>
              <a:defRPr sz="1650" b="1" i="0">
                <a:solidFill>
                  <a:srgbClr val="2A9D8F"/>
                </a:solidFill>
              </a:defRPr>
            </a:pPr>
            <a:r>
              <a:rPr sz="1650" b="1" i="0">
                <a:solidFill>
                  <a:srgbClr val="2A9D8F"/>
                </a:solidFill>
              </a:rPr>
              <a:t>i = 7 (odd) → lower family</a:t>
            </a:r>
            <a:endParaRPr/>
          </a:p>
        </p:txBody>
      </p:sp>
      <p:sp>
        <p:nvSpPr>
          <p:cNvPr id="1188510333" name=""/>
          <p:cNvSpPr>
            <a:spLocks noGrp="1"/>
          </p:cNvSpPr>
          <p:nvPr/>
        </p:nvSpPr>
        <p:spPr bwMode="auto">
          <a:xfrm>
            <a:off x="6362700" y="1733550"/>
            <a:ext cx="5105400" cy="285750"/>
          </a:xfrm>
          <a:prstGeom prst="rect">
            <a:avLst/>
          </a:prstGeom>
          <a:noFill/>
          <a:ln w="0">
            <a:noFill/>
            <a:prstDash val="solid"/>
          </a:ln>
        </p:spPr>
        <p:txBody>
          <a:bodyPr wrap="square" lIns="38100" tIns="19050" rIns="38100" bIns="19050" anchor="t">
            <a:normAutofit fontScale="93795"/>
          </a:bodyPr>
          <a:lstStyle/>
          <a:p>
            <a:pPr algn="l">
              <a:lnSpc>
                <a:spcPct val="105000"/>
              </a:lnSpc>
              <a:buNone/>
              <a:defRPr sz="1650" b="1" i="0">
                <a:solidFill>
                  <a:srgbClr val="2A9D8F"/>
                </a:solidFill>
              </a:defRPr>
            </a:pPr>
            <a:r>
              <a:rPr sz="1650" b="1" i="0">
                <a:solidFill>
                  <a:srgbClr val="2A9D8F"/>
                </a:solidFill>
              </a:rPr>
              <a:t>z₇ = 0 &lt; z₆ = 7 → decreasing</a:t>
            </a:r>
            <a:endParaRPr/>
          </a:p>
        </p:txBody>
      </p:sp>
      <p:sp>
        <p:nvSpPr>
          <p:cNvPr id="4542454" name=""/>
          <p:cNvSpPr>
            <a:spLocks noGrp="1"/>
          </p:cNvSpPr>
          <p:nvPr/>
        </p:nvSpPr>
        <p:spPr bwMode="auto">
          <a:xfrm>
            <a:off x="723900" y="2228850"/>
            <a:ext cx="5257800" cy="3048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1" i="0">
                <a:solidFill>
                  <a:srgbClr val="102A43"/>
                </a:solidFill>
              </a:defRPr>
            </a:pPr>
            <a:r>
              <a:rPr sz="1650" b="1" i="0">
                <a:solidFill>
                  <a:srgbClr val="102A43"/>
                </a:solidFill>
              </a:rPr>
              <a:t>Decreasing: leftmost child → left endpoint</a:t>
            </a:r>
            <a:endParaRPr/>
          </a:p>
        </p:txBody>
      </p:sp>
      <p:sp>
        <p:nvSpPr>
          <p:cNvPr id="1698565963" name=""/>
          <p:cNvSpPr>
            <a:spLocks noGrp="1"/>
          </p:cNvSpPr>
          <p:nvPr/>
        </p:nvSpPr>
        <p:spPr bwMode="auto">
          <a:xfrm>
            <a:off x="2190750" y="2933699"/>
            <a:ext cx="2286000" cy="457200"/>
          </a:xfrm>
          <a:prstGeom prst="roundRect">
            <a:avLst>
              <a:gd name="adj" fmla="val 12500"/>
            </a:avLst>
          </a:prstGeom>
          <a:solidFill>
            <a:srgbClr val="EAF1F8"/>
          </a:solidFill>
          <a:ln w="11430">
            <a:solidFill>
              <a:srgbClr val="102A43"/>
            </a:solidFill>
            <a:prstDash val="solid"/>
          </a:ln>
        </p:spPr>
      </p:sp>
      <p:sp>
        <p:nvSpPr>
          <p:cNvPr id="10302600" name=""/>
          <p:cNvSpPr>
            <a:spLocks noGrp="1"/>
          </p:cNvSpPr>
          <p:nvPr/>
        </p:nvSpPr>
        <p:spPr bwMode="auto">
          <a:xfrm>
            <a:off x="2266950" y="2990850"/>
            <a:ext cx="2133600" cy="34290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900" b="1" i="0">
                <a:solidFill>
                  <a:srgbClr val="102A43"/>
                </a:solidFill>
              </a:defRPr>
            </a:pPr>
            <a:r>
              <a:rPr sz="1900" b="1" i="0">
                <a:solidFill>
                  <a:srgbClr val="102A43"/>
                </a:solidFill>
              </a:rPr>
              <a:t>P₇ = (7, 0)</a:t>
            </a:r>
            <a:endParaRPr/>
          </a:p>
        </p:txBody>
      </p:sp>
      <p:sp>
        <p:nvSpPr>
          <p:cNvPr id="5710143" name=""/>
          <p:cNvSpPr>
            <a:spLocks noGrp="1"/>
          </p:cNvSpPr>
          <p:nvPr/>
        </p:nvSpPr>
        <p:spPr bwMode="auto">
          <a:xfrm>
            <a:off x="1200150" y="2609850"/>
            <a:ext cx="4324350" cy="26670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350" b="0" i="0">
                <a:solidFill>
                  <a:srgbClr val="52606D"/>
                </a:solidFill>
              </a:defRPr>
            </a:pPr>
            <a:r>
              <a:rPr sz="1350" b="0" i="0">
                <a:solidFill>
                  <a:srgbClr val="52606D"/>
                </a:solidFill>
              </a:rPr>
              <a:t>curve order (7, 0); interval [0, 7]</a:t>
            </a:r>
            <a:endParaRPr/>
          </a:p>
        </p:txBody>
      </p:sp>
      <p:sp>
        <p:nvSpPr>
          <p:cNvPr id="471735786" name=""/>
          <p:cNvSpPr>
            <a:spLocks noGrp="1"/>
          </p:cNvSpPr>
          <p:nvPr/>
        </p:nvSpPr>
        <p:spPr bwMode="auto">
          <a:xfrm>
            <a:off x="895350" y="3657600"/>
            <a:ext cx="2095500" cy="457200"/>
          </a:xfrm>
          <a:prstGeom prst="roundRect">
            <a:avLst>
              <a:gd name="adj" fmla="val 12500"/>
            </a:avLst>
          </a:prstGeom>
          <a:solidFill>
            <a:srgbClr val="E8F5F3"/>
          </a:solidFill>
          <a:ln w="19050">
            <a:solidFill>
              <a:srgbClr val="2A9D8F"/>
            </a:solidFill>
            <a:prstDash val="solid"/>
          </a:ln>
        </p:spPr>
      </p:sp>
      <p:sp>
        <p:nvSpPr>
          <p:cNvPr id="1262737830" name=""/>
          <p:cNvSpPr>
            <a:spLocks noGrp="1"/>
          </p:cNvSpPr>
          <p:nvPr/>
        </p:nvSpPr>
        <p:spPr bwMode="auto">
          <a:xfrm>
            <a:off x="3562350" y="3657600"/>
            <a:ext cx="2095500" cy="457200"/>
          </a:xfrm>
          <a:prstGeom prst="roundRect">
            <a:avLst>
              <a:gd name="adj" fmla="val 12500"/>
            </a:avLst>
          </a:prstGeom>
          <a:solidFill>
            <a:srgbClr val="FFFFFF"/>
          </a:solidFill>
          <a:ln w="11430">
            <a:solidFill>
              <a:srgbClr val="52606D"/>
            </a:solidFill>
            <a:prstDash val="solid"/>
          </a:ln>
        </p:spPr>
      </p:sp>
      <p:cxnSp>
        <p:nvCxnSpPr>
          <p:cNvPr id="1851076050" name=""/>
          <p:cNvCxnSpPr>
            <a:stCxn id="1698565963" idx="1"/>
            <a:endCxn id="471735786" idx="0"/>
          </p:cNvCxnSpPr>
          <p:nvPr/>
        </p:nvCxnSpPr>
        <p:spPr bwMode="auto">
          <a:xfrm flipH="1">
            <a:off x="1943100" y="3162300"/>
            <a:ext cx="247650" cy="495300"/>
          </a:xfrm>
          <a:prstGeom prst="bentConnector2">
            <a:avLst/>
          </a:prstGeom>
          <a:ln w="19050">
            <a:solidFill>
              <a:srgbClr val="2A9D8F"/>
            </a:solidFill>
            <a:prstDash val="solid"/>
            <a:tailEnd type="arrow" w="sm" len="sm"/>
          </a:ln>
        </p:spPr>
      </p:cxnSp>
      <p:cxnSp>
        <p:nvCxnSpPr>
          <p:cNvPr id="302018924" name=""/>
          <p:cNvCxnSpPr>
            <a:stCxn id="1698565963" idx="3"/>
            <a:endCxn id="1262737830" idx="0"/>
          </p:cNvCxnSpPr>
          <p:nvPr/>
        </p:nvCxnSpPr>
        <p:spPr bwMode="auto">
          <a:xfrm>
            <a:off x="4476750" y="3162300"/>
            <a:ext cx="228600" cy="495300"/>
          </a:xfrm>
          <a:prstGeom prst="bentConnector4">
            <a:avLst>
              <a:gd name="adj1" fmla="val 50000"/>
              <a:gd name="adj2" fmla="val 50000"/>
            </a:avLst>
          </a:prstGeom>
          <a:ln w="19050">
            <a:solidFill>
              <a:srgbClr val="52606D"/>
            </a:solidFill>
            <a:prstDash val="solid"/>
            <a:tailEnd type="arrow" w="sm" len="sm"/>
          </a:ln>
        </p:spPr>
      </p:cxnSp>
      <p:sp>
        <p:nvSpPr>
          <p:cNvPr id="883768174" name=""/>
          <p:cNvSpPr>
            <a:spLocks noGrp="1"/>
          </p:cNvSpPr>
          <p:nvPr/>
        </p:nvSpPr>
        <p:spPr bwMode="auto">
          <a:xfrm>
            <a:off x="971550" y="3705225"/>
            <a:ext cx="1943100" cy="34290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800" b="1" i="0">
                <a:solidFill>
                  <a:srgbClr val="2A9D8F"/>
                </a:solidFill>
              </a:defRPr>
            </a:pPr>
            <a:r>
              <a:rPr sz="1800" b="1" i="0">
                <a:solidFill>
                  <a:srgbClr val="2A9D8F"/>
                </a:solidFill>
              </a:rPr>
              <a:t>P₃ = (2, 3)</a:t>
            </a:r>
            <a:endParaRPr/>
          </a:p>
        </p:txBody>
      </p:sp>
      <p:sp>
        <p:nvSpPr>
          <p:cNvPr id="2028042924" name=""/>
          <p:cNvSpPr>
            <a:spLocks noGrp="1"/>
          </p:cNvSpPr>
          <p:nvPr/>
        </p:nvSpPr>
        <p:spPr bwMode="auto">
          <a:xfrm>
            <a:off x="3638550" y="3705225"/>
            <a:ext cx="1943100" cy="34290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800" b="1" i="0">
                <a:solidFill>
                  <a:srgbClr val="102A43"/>
                </a:solidFill>
              </a:defRPr>
            </a:pPr>
            <a:r>
              <a:rPr sz="1800" b="1" i="0">
                <a:solidFill>
                  <a:srgbClr val="102A43"/>
                </a:solidFill>
              </a:rPr>
              <a:t>P₅ = (4, 6)</a:t>
            </a:r>
            <a:endParaRPr/>
          </a:p>
        </p:txBody>
      </p:sp>
      <p:sp>
        <p:nvSpPr>
          <p:cNvPr id="1792565851" name=""/>
          <p:cNvSpPr>
            <a:spLocks noGrp="1"/>
          </p:cNvSpPr>
          <p:nvPr/>
        </p:nvSpPr>
        <p:spPr bwMode="auto">
          <a:xfrm>
            <a:off x="933450" y="4133850"/>
            <a:ext cx="2000250" cy="247650"/>
          </a:xfrm>
          <a:prstGeom prst="rect">
            <a:avLst/>
          </a:prstGeom>
          <a:noFill/>
          <a:ln w="0">
            <a:noFill/>
            <a:prstDash val="solid"/>
          </a:ln>
        </p:spPr>
        <p:txBody>
          <a:bodyPr wrap="square" lIns="38100" tIns="19050" rIns="38100" bIns="19050" anchor="t">
            <a:normAutofit fontScale="97002"/>
          </a:bodyPr>
          <a:lstStyle/>
          <a:p>
            <a:pPr algn="ctr">
              <a:lnSpc>
                <a:spcPct val="105000"/>
              </a:lnSpc>
              <a:buNone/>
              <a:defRPr sz="1350" b="1" i="0">
                <a:solidFill>
                  <a:srgbClr val="2A9D8F"/>
                </a:solidFill>
              </a:defRPr>
            </a:pPr>
            <a:r>
              <a:rPr sz="1350" b="1" i="0">
                <a:solidFill>
                  <a:srgbClr val="2A9D8F"/>
                </a:solidFill>
              </a:rPr>
              <a:t>leftmost child</a:t>
            </a:r>
            <a:endParaRPr/>
          </a:p>
        </p:txBody>
      </p:sp>
      <p:sp>
        <p:nvSpPr>
          <p:cNvPr id="1593456075" name=""/>
          <p:cNvSpPr>
            <a:spLocks noGrp="1"/>
          </p:cNvSpPr>
          <p:nvPr/>
        </p:nvSpPr>
        <p:spPr bwMode="auto">
          <a:xfrm>
            <a:off x="723900" y="4457700"/>
            <a:ext cx="5257800" cy="30480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600" b="1" i="0">
                <a:solidFill>
                  <a:srgbClr val="2A9D8F"/>
                </a:solidFill>
              </a:defRPr>
            </a:pPr>
            <a:r>
              <a:rPr sz="1600" b="1" i="0">
                <a:solidFill>
                  <a:srgbClr val="2A9D8F"/>
                </a:solidFill>
              </a:rPr>
              <a:t>P₃ → left endpoint 2 → base anchor z₂</a:t>
            </a:r>
            <a:endParaRPr/>
          </a:p>
        </p:txBody>
      </p:sp>
      <p:sp>
        <p:nvSpPr>
          <p:cNvPr id="594989392" name=""/>
          <p:cNvSpPr>
            <a:spLocks noGrp="1"/>
          </p:cNvSpPr>
          <p:nvPr/>
        </p:nvSpPr>
        <p:spPr bwMode="auto">
          <a:xfrm>
            <a:off x="6362700" y="2228850"/>
            <a:ext cx="5105400" cy="304800"/>
          </a:xfrm>
          <a:prstGeom prst="rect">
            <a:avLst/>
          </a:prstGeom>
          <a:noFill/>
          <a:ln w="0">
            <a:noFill/>
            <a:prstDash val="solid"/>
          </a:ln>
        </p:spPr>
        <p:txBody>
          <a:bodyPr wrap="square" lIns="38100" tIns="19050" rIns="38100" bIns="19050" anchor="t">
            <a:normAutofit fontScale="92593"/>
          </a:bodyPr>
          <a:lstStyle/>
          <a:p>
            <a:pPr algn="l">
              <a:lnSpc>
                <a:spcPct val="105000"/>
              </a:lnSpc>
              <a:buNone/>
              <a:defRPr sz="1800" b="1" i="0">
                <a:solidFill>
                  <a:srgbClr val="102A43"/>
                </a:solidFill>
              </a:defRPr>
            </a:pPr>
            <a:r>
              <a:rPr sz="1800" b="1" i="0">
                <a:solidFill>
                  <a:srgbClr val="102A43"/>
                </a:solidFill>
              </a:rPr>
              <a:t>Why check z₁?</a:t>
            </a:r>
            <a:endParaRPr/>
          </a:p>
        </p:txBody>
      </p:sp>
      <p:sp>
        <p:nvSpPr>
          <p:cNvPr id="781049317" name=""/>
          <p:cNvSpPr>
            <a:spLocks noGrp="1"/>
          </p:cNvSpPr>
          <p:nvPr/>
        </p:nvSpPr>
        <p:spPr bwMode="auto">
          <a:xfrm>
            <a:off x="6362700" y="2686050"/>
            <a:ext cx="5105400" cy="3238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0" i="0">
                <a:solidFill>
                  <a:srgbClr val="243B53"/>
                </a:solidFill>
              </a:defRPr>
            </a:pPr>
            <a:r>
              <a:rPr sz="1650" b="0" i="0">
                <a:solidFill>
                  <a:srgbClr val="243B53"/>
                </a:solidFill>
              </a:rPr>
              <a:t>z₁ = 1 belongs to upper pair P₂ = (1, 2).</a:t>
            </a:r>
            <a:endParaRPr/>
          </a:p>
        </p:txBody>
      </p:sp>
      <p:sp>
        <p:nvSpPr>
          <p:cNvPr id="1072568437" name=""/>
          <p:cNvSpPr>
            <a:spLocks noGrp="1"/>
          </p:cNvSpPr>
          <p:nvPr/>
        </p:nvSpPr>
        <p:spPr bwMode="auto">
          <a:xfrm>
            <a:off x="6362700" y="3067050"/>
            <a:ext cx="5105400" cy="3238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1" i="0">
                <a:solidFill>
                  <a:srgbClr val="102A43"/>
                </a:solidFill>
              </a:defRPr>
            </a:pPr>
            <a:r>
              <a:rPr sz="1650" b="1" i="0">
                <a:solidFill>
                  <a:srgbClr val="102A43"/>
                </a:solidFill>
              </a:rPr>
              <a:t>It is not an endpoint of any lower pair.</a:t>
            </a:r>
            <a:endParaRPr/>
          </a:p>
        </p:txBody>
      </p:sp>
      <p:sp>
        <p:nvSpPr>
          <p:cNvPr id="1662771776" name=""/>
          <p:cNvSpPr>
            <a:spLocks noGrp="1"/>
          </p:cNvSpPr>
          <p:nvPr/>
        </p:nvSpPr>
        <p:spPr bwMode="auto">
          <a:xfrm>
            <a:off x="6362700" y="3448050"/>
            <a:ext cx="5105400" cy="3238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0" i="0">
                <a:solidFill>
                  <a:srgbClr val="243B53"/>
                </a:solidFill>
              </a:defRPr>
            </a:pPr>
            <a:r>
              <a:rPr sz="1650" b="0" i="0">
                <a:solidFill>
                  <a:srgbClr val="243B53"/>
                </a:solidFill>
              </a:rPr>
              <a:t>It is still in the sorted list S₆.</a:t>
            </a:r>
            <a:endParaRPr/>
          </a:p>
        </p:txBody>
      </p:sp>
      <p:sp>
        <p:nvSpPr>
          <p:cNvPr id="1621379826" name=""/>
          <p:cNvSpPr>
            <a:spLocks noGrp="1"/>
          </p:cNvSpPr>
          <p:nvPr/>
        </p:nvSpPr>
        <p:spPr bwMode="auto">
          <a:xfrm>
            <a:off x="6362700" y="3962400"/>
            <a:ext cx="5105400" cy="3619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800" b="1" i="0">
                <a:solidFill>
                  <a:srgbClr val="E76F51"/>
                </a:solidFill>
              </a:defRPr>
            </a:pPr>
            <a:r>
              <a:rPr sz="1800" b="1" i="0">
                <a:solidFill>
                  <a:srgbClr val="E76F51"/>
                </a:solidFill>
              </a:rPr>
              <a:t>Odd i and 0 &lt; z₁ = 1 &lt; base anchor = 2</a:t>
            </a:r>
            <a:endParaRPr/>
          </a:p>
        </p:txBody>
      </p:sp>
      <p:sp>
        <p:nvSpPr>
          <p:cNvPr id="1160356699" name=""/>
          <p:cNvSpPr>
            <a:spLocks noGrp="1"/>
          </p:cNvSpPr>
          <p:nvPr/>
        </p:nvSpPr>
        <p:spPr bwMode="auto">
          <a:xfrm>
            <a:off x="6362700" y="4410075"/>
            <a:ext cx="5105400" cy="3238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750" b="1" i="0">
                <a:solidFill>
                  <a:srgbClr val="2A9D8F"/>
                </a:solidFill>
              </a:defRPr>
            </a:pPr>
            <a:r>
              <a:rPr sz="1750" b="1" i="0">
                <a:solidFill>
                  <a:srgbClr val="2A9D8F"/>
                </a:solidFill>
              </a:rPr>
              <a:t>Final output anchor: z₁</a:t>
            </a:r>
            <a:endParaRPr/>
          </a:p>
        </p:txBody>
      </p:sp>
      <p:sp>
        <p:nvSpPr>
          <p:cNvPr id="667070254" name=""/>
          <p:cNvSpPr>
            <a:spLocks noGrp="1"/>
          </p:cNvSpPr>
          <p:nvPr/>
        </p:nvSpPr>
        <p:spPr bwMode="auto">
          <a:xfrm>
            <a:off x="723900" y="4972050"/>
            <a:ext cx="5257800" cy="990600"/>
          </a:xfrm>
          <a:prstGeom prst="roundRect">
            <a:avLst>
              <a:gd name="adj" fmla="val 5769"/>
            </a:avLst>
          </a:prstGeom>
          <a:solidFill>
            <a:srgbClr val="FCEEEA"/>
          </a:solidFill>
          <a:ln w="11430">
            <a:solidFill>
              <a:srgbClr val="E76F51"/>
            </a:solidFill>
            <a:prstDash val="solid"/>
          </a:ln>
        </p:spPr>
      </p:sp>
      <p:sp>
        <p:nvSpPr>
          <p:cNvPr id="158393377" name=""/>
          <p:cNvSpPr>
            <a:spLocks noGrp="1"/>
          </p:cNvSpPr>
          <p:nvPr/>
        </p:nvSpPr>
        <p:spPr bwMode="auto">
          <a:xfrm>
            <a:off x="876299" y="5048250"/>
            <a:ext cx="4953000" cy="285750"/>
          </a:xfrm>
          <a:prstGeom prst="rect">
            <a:avLst/>
          </a:prstGeom>
          <a:noFill/>
          <a:ln w="0">
            <a:noFill/>
            <a:prstDash val="solid"/>
          </a:ln>
        </p:spPr>
        <p:txBody>
          <a:bodyPr wrap="square" lIns="38100" tIns="19050" rIns="38100" bIns="19050" anchor="t">
            <a:normAutofit fontScale="98261"/>
          </a:bodyPr>
          <a:lstStyle/>
          <a:p>
            <a:pPr algn="l">
              <a:lnSpc>
                <a:spcPct val="105000"/>
              </a:lnSpc>
              <a:buNone/>
              <a:defRPr sz="1600" b="1" i="0">
                <a:solidFill>
                  <a:srgbClr val="E76F51"/>
                </a:solidFill>
              </a:defRPr>
            </a:pPr>
            <a:r>
              <a:rPr sz="1600" b="1" i="0">
                <a:solidFill>
                  <a:srgbClr val="E76F51"/>
                </a:solidFill>
              </a:rPr>
              <a:t>Without correction (illustration)</a:t>
            </a:r>
            <a:endParaRPr/>
          </a:p>
        </p:txBody>
      </p:sp>
      <p:sp>
        <p:nvSpPr>
          <p:cNvPr id="352948182" name=""/>
          <p:cNvSpPr>
            <a:spLocks noGrp="1"/>
          </p:cNvSpPr>
          <p:nvPr/>
        </p:nvSpPr>
        <p:spPr bwMode="auto">
          <a:xfrm>
            <a:off x="876299" y="5467350"/>
            <a:ext cx="4953000" cy="3238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0" i="0">
                <a:solidFill>
                  <a:srgbClr val="243B53"/>
                </a:solidFill>
              </a:defRPr>
            </a:pPr>
            <a:r>
              <a:rPr sz="1650" b="0" i="0">
                <a:solidFill>
                  <a:srgbClr val="243B53"/>
                </a:solidFill>
              </a:rPr>
              <a:t>insert 0 before 2 → [1, 0, 2, 3, 4, 6, 7]</a:t>
            </a:r>
            <a:endParaRPr/>
          </a:p>
        </p:txBody>
      </p:sp>
      <p:sp>
        <p:nvSpPr>
          <p:cNvPr id="772045399" name=""/>
          <p:cNvSpPr>
            <a:spLocks noGrp="1"/>
          </p:cNvSpPr>
          <p:nvPr/>
        </p:nvSpPr>
        <p:spPr bwMode="auto">
          <a:xfrm>
            <a:off x="6210300" y="4972050"/>
            <a:ext cx="5257800" cy="990600"/>
          </a:xfrm>
          <a:prstGeom prst="roundRect">
            <a:avLst>
              <a:gd name="adj" fmla="val 5769"/>
            </a:avLst>
          </a:prstGeom>
          <a:solidFill>
            <a:srgbClr val="E8F5F3"/>
          </a:solidFill>
          <a:ln w="11430">
            <a:solidFill>
              <a:srgbClr val="2A9D8F"/>
            </a:solidFill>
            <a:prstDash val="solid"/>
          </a:ln>
        </p:spPr>
      </p:sp>
      <p:sp>
        <p:nvSpPr>
          <p:cNvPr id="506808469" name=""/>
          <p:cNvSpPr>
            <a:spLocks noGrp="1"/>
          </p:cNvSpPr>
          <p:nvPr/>
        </p:nvSpPr>
        <p:spPr bwMode="auto">
          <a:xfrm>
            <a:off x="6362700" y="5048250"/>
            <a:ext cx="4953000" cy="285750"/>
          </a:xfrm>
          <a:prstGeom prst="rect">
            <a:avLst/>
          </a:prstGeom>
          <a:noFill/>
          <a:ln w="0">
            <a:noFill/>
            <a:prstDash val="solid"/>
          </a:ln>
        </p:spPr>
        <p:txBody>
          <a:bodyPr wrap="square" lIns="38100" tIns="19050" rIns="38100" bIns="19050" anchor="t">
            <a:normAutofit fontScale="98261"/>
          </a:bodyPr>
          <a:lstStyle/>
          <a:p>
            <a:pPr algn="l">
              <a:lnSpc>
                <a:spcPct val="105000"/>
              </a:lnSpc>
              <a:buNone/>
              <a:defRPr sz="1600" b="1" i="0">
                <a:solidFill>
                  <a:srgbClr val="2A9D8F"/>
                </a:solidFill>
              </a:defRPr>
            </a:pPr>
            <a:r>
              <a:rPr sz="1600" b="1" i="0">
                <a:solidFill>
                  <a:srgbClr val="2A9D8F"/>
                </a:solidFill>
              </a:rPr>
              <a:t>With correction</a:t>
            </a:r>
            <a:endParaRPr/>
          </a:p>
        </p:txBody>
      </p:sp>
      <p:sp>
        <p:nvSpPr>
          <p:cNvPr id="1083352713" name=""/>
          <p:cNvSpPr>
            <a:spLocks noGrp="1"/>
          </p:cNvSpPr>
          <p:nvPr/>
        </p:nvSpPr>
        <p:spPr bwMode="auto">
          <a:xfrm>
            <a:off x="6362700" y="5467350"/>
            <a:ext cx="4953000" cy="3238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650" b="0" i="0">
                <a:solidFill>
                  <a:srgbClr val="243B53"/>
                </a:solidFill>
              </a:defRPr>
            </a:pPr>
            <a:r>
              <a:rPr sz="1650" b="0" i="0">
                <a:solidFill>
                  <a:srgbClr val="243B53"/>
                </a:solidFill>
              </a:rPr>
              <a:t>insert 0 before z₁ → [0, 1, 2, 3, 4, 6, 7]</a:t>
            </a:r>
            <a:endParaRPr/>
          </a:p>
        </p:txBody>
      </p:sp>
      <p:sp>
        <p:nvSpPr>
          <p:cNvPr id="1118472190" name=""/>
          <p:cNvSpPr>
            <a:spLocks noGrp="1"/>
          </p:cNvSpPr>
          <p:nvPr/>
        </p:nvSpPr>
        <p:spPr bwMode="auto">
          <a:xfrm>
            <a:off x="723900" y="6115050"/>
            <a:ext cx="10744200" cy="285750"/>
          </a:xfrm>
          <a:prstGeom prst="rect">
            <a:avLst/>
          </a:prstGeom>
          <a:noFill/>
          <a:ln w="0">
            <a:noFill/>
            <a:prstDash val="solid"/>
          </a:ln>
        </p:spPr>
        <p:txBody>
          <a:bodyPr wrap="square" lIns="38100" tIns="19050" rIns="38100" bIns="19050" anchor="t">
            <a:normAutofit fontScale="98261"/>
          </a:bodyPr>
          <a:lstStyle/>
          <a:p>
            <a:pPr algn="ctr">
              <a:lnSpc>
                <a:spcPct val="105000"/>
              </a:lnSpc>
              <a:buNone/>
              <a:defRPr sz="1600" b="1" i="0">
                <a:solidFill>
                  <a:srgbClr val="102A43"/>
                </a:solidFill>
              </a:defRPr>
            </a:pPr>
            <a:r>
              <a:rPr sz="1600" b="1" i="0">
                <a:solidFill>
                  <a:srgbClr val="102A43"/>
                </a:solidFill>
              </a:rPr>
              <a:t>This changes the output anchor, not the earlier boundary-pair selection.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276214136"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MAINTAINED STATE</a:t>
            </a:r>
            <a:endParaRPr/>
          </a:p>
        </p:txBody>
      </p:sp>
      <p:sp>
        <p:nvSpPr>
          <p:cNvPr id="2036228527"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Ownership-safe split and transfer</a:t>
            </a:r>
            <a:endParaRPr/>
          </a:p>
        </p:txBody>
      </p:sp>
      <p:sp>
        <p:nvSpPr>
          <p:cNvPr id="1118487298" name=""/>
          <p:cNvSpPr>
            <a:spLocks noGrp="1"/>
          </p:cNvSpPr>
          <p:nvPr/>
        </p:nvSpPr>
        <p:spPr bwMode="auto">
          <a:xfrm>
            <a:off x="609600" y="1085850"/>
            <a:ext cx="10972800" cy="9525"/>
          </a:xfrm>
          <a:prstGeom prst="line">
            <a:avLst/>
          </a:prstGeom>
          <a:noFill/>
          <a:ln w="28575">
            <a:solidFill>
              <a:srgbClr val="2A9D8F"/>
            </a:solidFill>
            <a:prstDash val="solid"/>
          </a:ln>
        </p:spPr>
      </p:sp>
      <p:sp>
        <p:nvSpPr>
          <p:cNvPr id="1680432669" name=""/>
          <p:cNvSpPr>
            <a:spLocks noGrp="1"/>
          </p:cNvSpPr>
          <p:nvPr/>
        </p:nvSpPr>
        <p:spPr bwMode="auto">
          <a:xfrm>
            <a:off x="609600" y="6477000"/>
            <a:ext cx="10972800" cy="9525"/>
          </a:xfrm>
          <a:prstGeom prst="line">
            <a:avLst/>
          </a:prstGeom>
          <a:noFill/>
          <a:ln w="9525">
            <a:solidFill>
              <a:srgbClr val="D9E2EC"/>
            </a:solidFill>
            <a:prstDash val="solid"/>
          </a:ln>
        </p:spPr>
      </p:sp>
      <p:sp>
        <p:nvSpPr>
          <p:cNvPr id="1880736298"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134791865"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10 / 16</a:t>
            </a:r>
            <a:endParaRPr/>
          </a:p>
        </p:txBody>
      </p:sp>
      <p:sp>
        <p:nvSpPr>
          <p:cNvPr id="984664103" name=""/>
          <p:cNvSpPr>
            <a:spLocks noGrp="1"/>
          </p:cNvSpPr>
          <p:nvPr/>
        </p:nvSpPr>
        <p:spPr bwMode="auto">
          <a:xfrm>
            <a:off x="647700" y="1428750"/>
            <a:ext cx="6248400" cy="4000500"/>
          </a:xfrm>
          <a:prstGeom prst="roundRect">
            <a:avLst>
              <a:gd name="adj" fmla="val 1905"/>
            </a:avLst>
          </a:prstGeom>
          <a:solidFill>
            <a:srgbClr val="FFFFFF"/>
          </a:solidFill>
          <a:ln w="11430">
            <a:solidFill>
              <a:srgbClr val="D9E2EC"/>
            </a:solidFill>
            <a:prstDash val="solid"/>
          </a:ln>
        </p:spPr>
      </p:sp>
      <p:sp>
        <p:nvSpPr>
          <p:cNvPr id="2057217038" name=""/>
          <p:cNvSpPr>
            <a:spLocks noGrp="1"/>
          </p:cNvSpPr>
          <p:nvPr/>
        </p:nvSpPr>
        <p:spPr bwMode="auto">
          <a:xfrm>
            <a:off x="895350" y="1619250"/>
            <a:ext cx="5772150" cy="36195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900" b="1" i="0">
                <a:solidFill>
                  <a:srgbClr val="102A43"/>
                </a:solidFill>
              </a:defRPr>
            </a:pPr>
            <a:r>
              <a:rPr sz="1900" b="1" i="0">
                <a:solidFill>
                  <a:srgbClr val="102A43"/>
                </a:solidFill>
              </a:rPr>
              <a:t>Local split and ownership transfer</a:t>
            </a:r>
            <a:endParaRPr/>
          </a:p>
        </p:txBody>
      </p:sp>
      <p:sp>
        <p:nvSpPr>
          <p:cNvPr id="1057400201" name=""/>
          <p:cNvSpPr>
            <a:spLocks noGrp="1"/>
          </p:cNvSpPr>
          <p:nvPr/>
        </p:nvSpPr>
        <p:spPr bwMode="auto">
          <a:xfrm>
            <a:off x="895350" y="2152650"/>
            <a:ext cx="876299" cy="2857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350" b="1" i="0">
                <a:solidFill>
                  <a:srgbClr val="7B8794"/>
                </a:solidFill>
              </a:defRPr>
            </a:pPr>
            <a:r>
              <a:rPr sz="1350" b="1" i="0">
                <a:solidFill>
                  <a:srgbClr val="7B8794"/>
                </a:solidFill>
              </a:rPr>
              <a:t>Before</a:t>
            </a:r>
            <a:endParaRPr/>
          </a:p>
        </p:txBody>
      </p:sp>
      <p:sp>
        <p:nvSpPr>
          <p:cNvPr id="271422844" name=""/>
          <p:cNvSpPr>
            <a:spLocks noGrp="1"/>
          </p:cNvSpPr>
          <p:nvPr/>
        </p:nvSpPr>
        <p:spPr bwMode="auto">
          <a:xfrm>
            <a:off x="1847850" y="2076450"/>
            <a:ext cx="1562100" cy="495300"/>
          </a:xfrm>
          <a:prstGeom prst="roundRect">
            <a:avLst>
              <a:gd name="adj" fmla="val 11538"/>
            </a:avLst>
          </a:prstGeom>
          <a:solidFill>
            <a:srgbClr val="EAF1F8"/>
          </a:solidFill>
          <a:ln w="14288">
            <a:solidFill>
              <a:srgbClr val="102A43"/>
            </a:solidFill>
            <a:prstDash val="solid"/>
          </a:ln>
        </p:spPr>
      </p:sp>
      <p:sp>
        <p:nvSpPr>
          <p:cNvPr id="1411881197" name=""/>
          <p:cNvSpPr>
            <a:spLocks noGrp="1"/>
          </p:cNvSpPr>
          <p:nvPr/>
        </p:nvSpPr>
        <p:spPr bwMode="auto">
          <a:xfrm>
            <a:off x="1943100" y="2152650"/>
            <a:ext cx="137160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1" i="0">
                <a:solidFill>
                  <a:srgbClr val="102A43"/>
                </a:solidFill>
              </a:defRPr>
            </a:pPr>
            <a:r>
              <a:rPr sz="1450" b="1" i="0">
                <a:solidFill>
                  <a:srgbClr val="102A43"/>
                </a:solidFill>
              </a:rPr>
              <a:t>existing owner</a:t>
            </a:r>
            <a:endParaRPr/>
          </a:p>
        </p:txBody>
      </p:sp>
      <p:sp>
        <p:nvSpPr>
          <p:cNvPr id="1888446064" name=""/>
          <p:cNvSpPr>
            <a:spLocks noGrp="1"/>
          </p:cNvSpPr>
          <p:nvPr/>
        </p:nvSpPr>
        <p:spPr bwMode="auto">
          <a:xfrm>
            <a:off x="3505199" y="2152650"/>
            <a:ext cx="66675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0" i="0">
                <a:solidFill>
                  <a:srgbClr val="52606D"/>
                </a:solidFill>
              </a:defRPr>
            </a:pPr>
            <a:r>
              <a:rPr sz="1350" b="0" i="0">
                <a:solidFill>
                  <a:srgbClr val="52606D"/>
                </a:solidFill>
              </a:rPr>
              <a:t>owns</a:t>
            </a:r>
            <a:endParaRPr/>
          </a:p>
        </p:txBody>
      </p:sp>
      <p:sp>
        <p:nvSpPr>
          <p:cNvPr id="1652630216" name=""/>
          <p:cNvSpPr>
            <a:spLocks noGrp="1"/>
          </p:cNvSpPr>
          <p:nvPr/>
        </p:nvSpPr>
        <p:spPr bwMode="auto">
          <a:xfrm>
            <a:off x="4248150" y="2019300"/>
            <a:ext cx="2095500" cy="609600"/>
          </a:xfrm>
          <a:prstGeom prst="roundRect">
            <a:avLst>
              <a:gd name="adj" fmla="val 9375"/>
            </a:avLst>
          </a:prstGeom>
          <a:solidFill>
            <a:srgbClr val="FFFFFF"/>
          </a:solidFill>
          <a:ln w="11430">
            <a:solidFill>
              <a:srgbClr val="52606D"/>
            </a:solidFill>
            <a:prstDash val="solid"/>
          </a:ln>
        </p:spPr>
      </p:sp>
      <p:sp>
        <p:nvSpPr>
          <p:cNvPr id="1521107742" name=""/>
          <p:cNvSpPr>
            <a:spLocks noGrp="1"/>
          </p:cNvSpPr>
          <p:nvPr/>
        </p:nvSpPr>
        <p:spPr bwMode="auto">
          <a:xfrm>
            <a:off x="4362450" y="2114550"/>
            <a:ext cx="1866900" cy="4191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243B53"/>
                </a:solidFill>
              </a:defRPr>
            </a:pPr>
            <a:r>
              <a:rPr sz="1350" b="1" i="0">
                <a:solidFill>
                  <a:srgbClr val="243B53"/>
                </a:solidFill>
              </a:rPr>
              <a:t>retained  |  acquired</a:t>
            </a:r>
            <a:endParaRPr/>
          </a:p>
        </p:txBody>
      </p:sp>
      <p:sp>
        <p:nvSpPr>
          <p:cNvPr id="461657797" name=""/>
          <p:cNvSpPr>
            <a:spLocks noGrp="1"/>
          </p:cNvSpPr>
          <p:nvPr/>
        </p:nvSpPr>
        <p:spPr bwMode="auto">
          <a:xfrm>
            <a:off x="2514600" y="2876550"/>
            <a:ext cx="2381250" cy="36195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500" b="1" i="0">
                <a:solidFill>
                  <a:srgbClr val="E76F51"/>
                </a:solidFill>
              </a:defRPr>
            </a:pPr>
            <a:r>
              <a:rPr sz="1500" b="1" i="0">
                <a:solidFill>
                  <a:srgbClr val="E76F51"/>
                </a:solidFill>
              </a:rPr>
              <a:t>split + transfer</a:t>
            </a:r>
            <a:endParaRPr/>
          </a:p>
        </p:txBody>
      </p:sp>
      <p:sp>
        <p:nvSpPr>
          <p:cNvPr id="733628268" name=""/>
          <p:cNvSpPr>
            <a:spLocks noGrp="1"/>
          </p:cNvSpPr>
          <p:nvPr/>
        </p:nvSpPr>
        <p:spPr bwMode="auto">
          <a:xfrm>
            <a:off x="3371850" y="3200400"/>
            <a:ext cx="685800" cy="419100"/>
          </a:xfrm>
          <a:prstGeom prst="rect">
            <a:avLst/>
          </a:prstGeom>
          <a:noFill/>
          <a:ln w="0">
            <a:noFill/>
            <a:prstDash val="solid"/>
          </a:ln>
        </p:spPr>
        <p:txBody>
          <a:bodyPr wrap="square" lIns="38100" tIns="19050" rIns="38100" bIns="19050" anchor="t">
            <a:normAutofit fontScale="93371"/>
          </a:bodyPr>
          <a:lstStyle/>
          <a:p>
            <a:pPr algn="ctr">
              <a:lnSpc>
                <a:spcPct val="105000"/>
              </a:lnSpc>
              <a:buNone/>
              <a:defRPr sz="2550" b="1" i="0">
                <a:solidFill>
                  <a:srgbClr val="E76F51"/>
                </a:solidFill>
              </a:defRPr>
            </a:pPr>
            <a:r>
              <a:rPr sz="2550" b="1" i="0">
                <a:solidFill>
                  <a:srgbClr val="E76F51"/>
                </a:solidFill>
              </a:rPr>
              <a:t>↓</a:t>
            </a:r>
            <a:endParaRPr/>
          </a:p>
        </p:txBody>
      </p:sp>
      <p:sp>
        <p:nvSpPr>
          <p:cNvPr id="106420521" name=""/>
          <p:cNvSpPr>
            <a:spLocks noGrp="1"/>
          </p:cNvSpPr>
          <p:nvPr/>
        </p:nvSpPr>
        <p:spPr bwMode="auto">
          <a:xfrm>
            <a:off x="895350" y="3714750"/>
            <a:ext cx="876299" cy="28575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350" b="1" i="0">
                <a:solidFill>
                  <a:srgbClr val="7B8794"/>
                </a:solidFill>
              </a:defRPr>
            </a:pPr>
            <a:r>
              <a:rPr sz="1350" b="1" i="0">
                <a:solidFill>
                  <a:srgbClr val="7B8794"/>
                </a:solidFill>
              </a:rPr>
              <a:t>After</a:t>
            </a:r>
            <a:endParaRPr/>
          </a:p>
        </p:txBody>
      </p:sp>
      <p:sp>
        <p:nvSpPr>
          <p:cNvPr id="1516240303" name=""/>
          <p:cNvSpPr>
            <a:spLocks noGrp="1"/>
          </p:cNvSpPr>
          <p:nvPr/>
        </p:nvSpPr>
        <p:spPr bwMode="auto">
          <a:xfrm>
            <a:off x="1847850" y="3638550"/>
            <a:ext cx="1562100" cy="495300"/>
          </a:xfrm>
          <a:prstGeom prst="roundRect">
            <a:avLst>
              <a:gd name="adj" fmla="val 11538"/>
            </a:avLst>
          </a:prstGeom>
          <a:solidFill>
            <a:srgbClr val="EAF1F8"/>
          </a:solidFill>
          <a:ln w="14288">
            <a:solidFill>
              <a:srgbClr val="102A43"/>
            </a:solidFill>
            <a:prstDash val="solid"/>
          </a:ln>
        </p:spPr>
      </p:sp>
      <p:sp>
        <p:nvSpPr>
          <p:cNvPr id="1368191548" name=""/>
          <p:cNvSpPr>
            <a:spLocks noGrp="1"/>
          </p:cNvSpPr>
          <p:nvPr/>
        </p:nvSpPr>
        <p:spPr bwMode="auto">
          <a:xfrm>
            <a:off x="1943100" y="3714750"/>
            <a:ext cx="137160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1" i="0">
                <a:solidFill>
                  <a:srgbClr val="102A43"/>
                </a:solidFill>
              </a:defRPr>
            </a:pPr>
            <a:r>
              <a:rPr sz="1450" b="1" i="0">
                <a:solidFill>
                  <a:srgbClr val="102A43"/>
                </a:solidFill>
              </a:rPr>
              <a:t>existing owner</a:t>
            </a:r>
            <a:endParaRPr/>
          </a:p>
        </p:txBody>
      </p:sp>
      <p:sp>
        <p:nvSpPr>
          <p:cNvPr id="1907331708" name=""/>
          <p:cNvSpPr>
            <a:spLocks noGrp="1"/>
          </p:cNvSpPr>
          <p:nvPr/>
        </p:nvSpPr>
        <p:spPr bwMode="auto">
          <a:xfrm>
            <a:off x="3476625" y="3714750"/>
            <a:ext cx="51435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800" b="1" i="0">
                <a:solidFill>
                  <a:srgbClr val="52606D"/>
                </a:solidFill>
              </a:defRPr>
            </a:pPr>
            <a:r>
              <a:rPr sz="1800" b="1" i="0">
                <a:solidFill>
                  <a:srgbClr val="52606D"/>
                </a:solidFill>
              </a:rPr>
              <a:t>→</a:t>
            </a:r>
            <a:endParaRPr/>
          </a:p>
        </p:txBody>
      </p:sp>
      <p:sp>
        <p:nvSpPr>
          <p:cNvPr id="1185681503" name=""/>
          <p:cNvSpPr>
            <a:spLocks noGrp="1"/>
          </p:cNvSpPr>
          <p:nvPr/>
        </p:nvSpPr>
        <p:spPr bwMode="auto">
          <a:xfrm>
            <a:off x="4038600" y="3638550"/>
            <a:ext cx="1390650" cy="495300"/>
          </a:xfrm>
          <a:prstGeom prst="roundRect">
            <a:avLst>
              <a:gd name="adj" fmla="val 11538"/>
            </a:avLst>
          </a:prstGeom>
          <a:solidFill>
            <a:srgbClr val="FFFFFF"/>
          </a:solidFill>
          <a:ln w="11430">
            <a:solidFill>
              <a:srgbClr val="102A43"/>
            </a:solidFill>
            <a:prstDash val="solid"/>
          </a:ln>
        </p:spPr>
      </p:sp>
      <p:sp>
        <p:nvSpPr>
          <p:cNvPr id="776525710" name=""/>
          <p:cNvSpPr>
            <a:spLocks noGrp="1"/>
          </p:cNvSpPr>
          <p:nvPr/>
        </p:nvSpPr>
        <p:spPr bwMode="auto">
          <a:xfrm>
            <a:off x="4133850" y="3714750"/>
            <a:ext cx="120015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102A43"/>
                </a:solidFill>
              </a:defRPr>
            </a:pPr>
            <a:r>
              <a:rPr sz="1350" b="1" i="0">
                <a:solidFill>
                  <a:srgbClr val="102A43"/>
                </a:solidFill>
              </a:rPr>
              <a:t>retained</a:t>
            </a:r>
            <a:endParaRPr/>
          </a:p>
        </p:txBody>
      </p:sp>
      <p:sp>
        <p:nvSpPr>
          <p:cNvPr id="1601382158" name=""/>
          <p:cNvSpPr>
            <a:spLocks noGrp="1"/>
          </p:cNvSpPr>
          <p:nvPr/>
        </p:nvSpPr>
        <p:spPr bwMode="auto">
          <a:xfrm>
            <a:off x="1847850" y="4381500"/>
            <a:ext cx="1562100" cy="495300"/>
          </a:xfrm>
          <a:prstGeom prst="roundRect">
            <a:avLst>
              <a:gd name="adj" fmla="val 11538"/>
            </a:avLst>
          </a:prstGeom>
          <a:solidFill>
            <a:srgbClr val="E8F5F3"/>
          </a:solidFill>
          <a:ln w="14288">
            <a:solidFill>
              <a:srgbClr val="2A9D8F"/>
            </a:solidFill>
            <a:prstDash val="solid"/>
          </a:ln>
        </p:spPr>
      </p:sp>
      <p:sp>
        <p:nvSpPr>
          <p:cNvPr id="1777113370" name=""/>
          <p:cNvSpPr>
            <a:spLocks noGrp="1"/>
          </p:cNvSpPr>
          <p:nvPr/>
        </p:nvSpPr>
        <p:spPr bwMode="auto">
          <a:xfrm>
            <a:off x="1943100" y="4457700"/>
            <a:ext cx="137160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1" i="0">
                <a:solidFill>
                  <a:srgbClr val="2A9D8F"/>
                </a:solidFill>
              </a:defRPr>
            </a:pPr>
            <a:r>
              <a:rPr sz="1450" b="1" i="0">
                <a:solidFill>
                  <a:srgbClr val="2A9D8F"/>
                </a:solidFill>
              </a:rPr>
              <a:t>new owner</a:t>
            </a:r>
            <a:endParaRPr/>
          </a:p>
        </p:txBody>
      </p:sp>
      <p:sp>
        <p:nvSpPr>
          <p:cNvPr id="9946783" name=""/>
          <p:cNvSpPr>
            <a:spLocks noGrp="1"/>
          </p:cNvSpPr>
          <p:nvPr/>
        </p:nvSpPr>
        <p:spPr bwMode="auto">
          <a:xfrm>
            <a:off x="3476625" y="4457700"/>
            <a:ext cx="51435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800" b="1" i="0">
                <a:solidFill>
                  <a:srgbClr val="2A9D8F"/>
                </a:solidFill>
              </a:defRPr>
            </a:pPr>
            <a:r>
              <a:rPr sz="1800" b="1" i="0">
                <a:solidFill>
                  <a:srgbClr val="2A9D8F"/>
                </a:solidFill>
              </a:rPr>
              <a:t>→</a:t>
            </a:r>
            <a:endParaRPr/>
          </a:p>
        </p:txBody>
      </p:sp>
      <p:sp>
        <p:nvSpPr>
          <p:cNvPr id="729689088" name=""/>
          <p:cNvSpPr>
            <a:spLocks noGrp="1"/>
          </p:cNvSpPr>
          <p:nvPr/>
        </p:nvSpPr>
        <p:spPr bwMode="auto">
          <a:xfrm>
            <a:off x="4038600" y="4381500"/>
            <a:ext cx="1390650" cy="495300"/>
          </a:xfrm>
          <a:prstGeom prst="roundRect">
            <a:avLst>
              <a:gd name="adj" fmla="val 11538"/>
            </a:avLst>
          </a:prstGeom>
          <a:solidFill>
            <a:srgbClr val="E8F5F3"/>
          </a:solidFill>
          <a:ln w="11430">
            <a:solidFill>
              <a:srgbClr val="2A9D8F"/>
            </a:solidFill>
            <a:prstDash val="solid"/>
          </a:ln>
        </p:spPr>
      </p:sp>
      <p:sp>
        <p:nvSpPr>
          <p:cNvPr id="122115522" name=""/>
          <p:cNvSpPr>
            <a:spLocks noGrp="1"/>
          </p:cNvSpPr>
          <p:nvPr/>
        </p:nvSpPr>
        <p:spPr bwMode="auto">
          <a:xfrm>
            <a:off x="4133850" y="4457700"/>
            <a:ext cx="120015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2A9D8F"/>
                </a:solidFill>
              </a:defRPr>
            </a:pPr>
            <a:r>
              <a:rPr sz="1350" b="1" i="0">
                <a:solidFill>
                  <a:srgbClr val="2A9D8F"/>
                </a:solidFill>
              </a:rPr>
              <a:t>acquired</a:t>
            </a:r>
            <a:endParaRPr/>
          </a:p>
        </p:txBody>
      </p:sp>
      <p:sp>
        <p:nvSpPr>
          <p:cNvPr id="1036605081" name=""/>
          <p:cNvSpPr>
            <a:spLocks noGrp="1"/>
          </p:cNvSpPr>
          <p:nvPr/>
        </p:nvSpPr>
        <p:spPr bwMode="auto">
          <a:xfrm>
            <a:off x="1047750" y="5010149"/>
            <a:ext cx="5448300" cy="26670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1300" b="0" i="0">
                <a:solidFill>
                  <a:srgbClr val="52606D"/>
                </a:solidFill>
              </a:defRPr>
            </a:pPr>
            <a:r>
              <a:rPr sz="1300" b="0" i="0">
                <a:solidFill>
                  <a:srgbClr val="52606D"/>
                </a:solidFill>
              </a:rPr>
              <a:t>Only the acquired nonempty segment changes parent ownership.</a:t>
            </a:r>
            <a:endParaRPr/>
          </a:p>
        </p:txBody>
      </p:sp>
      <p:sp>
        <p:nvSpPr>
          <p:cNvPr id="612034154" name=""/>
          <p:cNvSpPr>
            <a:spLocks noGrp="1"/>
          </p:cNvSpPr>
          <p:nvPr/>
        </p:nvSpPr>
        <p:spPr bwMode="auto">
          <a:xfrm>
            <a:off x="7286625" y="1447800"/>
            <a:ext cx="3714750" cy="3429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900" b="1" i="0">
                <a:solidFill>
                  <a:srgbClr val="102A43"/>
                </a:solidFill>
              </a:defRPr>
            </a:pPr>
            <a:r>
              <a:rPr sz="1900" b="1" i="0">
                <a:solidFill>
                  <a:srgbClr val="102A43"/>
                </a:solidFill>
              </a:rPr>
              <a:t>Maintained state</a:t>
            </a:r>
            <a:endParaRPr/>
          </a:p>
        </p:txBody>
      </p:sp>
      <p:sp>
        <p:nvSpPr>
          <p:cNvPr id="1275135404" name=""/>
          <p:cNvSpPr>
            <a:spLocks noGrp="1"/>
          </p:cNvSpPr>
          <p:nvPr/>
        </p:nvSpPr>
        <p:spPr bwMode="auto">
          <a:xfrm>
            <a:off x="7334250" y="2028825"/>
            <a:ext cx="95250" cy="95250"/>
          </a:xfrm>
          <a:prstGeom prst="ellipse">
            <a:avLst/>
          </a:prstGeom>
          <a:solidFill>
            <a:srgbClr val="2A9D8F"/>
          </a:solidFill>
          <a:ln w="0">
            <a:solidFill>
              <a:srgbClr val="2A9D8F"/>
            </a:solidFill>
            <a:prstDash val="solid"/>
          </a:ln>
        </p:spPr>
      </p:sp>
      <p:sp>
        <p:nvSpPr>
          <p:cNvPr id="1719415059" name=""/>
          <p:cNvSpPr>
            <a:spLocks noGrp="1"/>
          </p:cNvSpPr>
          <p:nvPr/>
        </p:nvSpPr>
        <p:spPr bwMode="auto">
          <a:xfrm>
            <a:off x="7543800" y="1952625"/>
            <a:ext cx="3695700" cy="409575"/>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450" b="0" i="0">
                <a:solidFill>
                  <a:srgbClr val="243B53"/>
                </a:solidFill>
              </a:defRPr>
            </a:pPr>
            <a:r>
              <a:rPr sz="1450" b="0" i="0">
                <a:solidFill>
                  <a:srgbClr val="243B53"/>
                </a:solidFill>
              </a:rPr>
              <a:t>sorted processed prefix</a:t>
            </a:r>
            <a:endParaRPr/>
          </a:p>
        </p:txBody>
      </p:sp>
      <p:sp>
        <p:nvSpPr>
          <p:cNvPr id="1736670433" name=""/>
          <p:cNvSpPr>
            <a:spLocks noGrp="1"/>
          </p:cNvSpPr>
          <p:nvPr/>
        </p:nvSpPr>
        <p:spPr bwMode="auto">
          <a:xfrm>
            <a:off x="7334250" y="2457450"/>
            <a:ext cx="95250" cy="95250"/>
          </a:xfrm>
          <a:prstGeom prst="ellipse">
            <a:avLst/>
          </a:prstGeom>
          <a:solidFill>
            <a:srgbClr val="2A9D8F"/>
          </a:solidFill>
          <a:ln w="0">
            <a:solidFill>
              <a:srgbClr val="2A9D8F"/>
            </a:solidFill>
            <a:prstDash val="solid"/>
          </a:ln>
        </p:spPr>
      </p:sp>
      <p:sp>
        <p:nvSpPr>
          <p:cNvPr id="20541466" name=""/>
          <p:cNvSpPr>
            <a:spLocks noGrp="1"/>
          </p:cNvSpPr>
          <p:nvPr/>
        </p:nvSpPr>
        <p:spPr bwMode="auto">
          <a:xfrm>
            <a:off x="7543800" y="2381250"/>
            <a:ext cx="3695700" cy="409575"/>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450" b="0" i="0">
                <a:solidFill>
                  <a:srgbClr val="243B53"/>
                </a:solidFill>
              </a:defRPr>
            </a:pPr>
            <a:r>
              <a:rPr sz="1450" b="0" i="0">
                <a:solidFill>
                  <a:srgbClr val="243B53"/>
                </a:solidFill>
              </a:rPr>
              <a:t>upper and lower pair families</a:t>
            </a:r>
            <a:endParaRPr/>
          </a:p>
        </p:txBody>
      </p:sp>
      <p:sp>
        <p:nvSpPr>
          <p:cNvPr id="455814309" name=""/>
          <p:cNvSpPr>
            <a:spLocks noGrp="1"/>
          </p:cNvSpPr>
          <p:nvPr/>
        </p:nvSpPr>
        <p:spPr bwMode="auto">
          <a:xfrm>
            <a:off x="7334250" y="2886075"/>
            <a:ext cx="95250" cy="95250"/>
          </a:xfrm>
          <a:prstGeom prst="ellipse">
            <a:avLst/>
          </a:prstGeom>
          <a:solidFill>
            <a:srgbClr val="2A9D8F"/>
          </a:solidFill>
          <a:ln w="0">
            <a:solidFill>
              <a:srgbClr val="2A9D8F"/>
            </a:solidFill>
            <a:prstDash val="solid"/>
          </a:ln>
        </p:spPr>
      </p:sp>
      <p:sp>
        <p:nvSpPr>
          <p:cNvPr id="470475668" name=""/>
          <p:cNvSpPr>
            <a:spLocks noGrp="1"/>
          </p:cNvSpPr>
          <p:nvPr/>
        </p:nvSpPr>
        <p:spPr bwMode="auto">
          <a:xfrm>
            <a:off x="7543800" y="2809875"/>
            <a:ext cx="3695700" cy="409575"/>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450" b="0" i="0">
                <a:solidFill>
                  <a:srgbClr val="243B53"/>
                </a:solidFill>
              </a:defRPr>
            </a:pPr>
            <a:r>
              <a:rPr sz="1450" b="0" i="0">
                <a:solidFill>
                  <a:srgbClr val="243B53"/>
                </a:solidFill>
              </a:rPr>
              <a:t>one parent per finite pair</a:t>
            </a:r>
            <a:endParaRPr/>
          </a:p>
        </p:txBody>
      </p:sp>
      <p:sp>
        <p:nvSpPr>
          <p:cNvPr id="1885334853" name=""/>
          <p:cNvSpPr>
            <a:spLocks noGrp="1"/>
          </p:cNvSpPr>
          <p:nvPr/>
        </p:nvSpPr>
        <p:spPr bwMode="auto">
          <a:xfrm>
            <a:off x="7334250" y="3314700"/>
            <a:ext cx="95250" cy="95250"/>
          </a:xfrm>
          <a:prstGeom prst="ellipse">
            <a:avLst/>
          </a:prstGeom>
          <a:solidFill>
            <a:srgbClr val="2A9D8F"/>
          </a:solidFill>
          <a:ln w="0">
            <a:solidFill>
              <a:srgbClr val="2A9D8F"/>
            </a:solidFill>
            <a:prstDash val="solid"/>
          </a:ln>
        </p:spPr>
      </p:sp>
      <p:sp>
        <p:nvSpPr>
          <p:cNvPr id="1105477771" name=""/>
          <p:cNvSpPr>
            <a:spLocks noGrp="1"/>
          </p:cNvSpPr>
          <p:nvPr/>
        </p:nvSpPr>
        <p:spPr bwMode="auto">
          <a:xfrm>
            <a:off x="7543800" y="3238500"/>
            <a:ext cx="3695700" cy="409575"/>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450" b="0" i="0">
                <a:solidFill>
                  <a:srgbClr val="243B53"/>
                </a:solidFill>
              </a:defRPr>
            </a:pPr>
            <a:r>
              <a:rPr sz="1450" b="0" i="0">
                <a:solidFill>
                  <a:srgbClr val="243B53"/>
                </a:solidFill>
              </a:rPr>
              <a:t>one sibling-list owner per finite pair</a:t>
            </a:r>
            <a:endParaRPr/>
          </a:p>
        </p:txBody>
      </p:sp>
      <p:sp>
        <p:nvSpPr>
          <p:cNvPr id="1904069365" name=""/>
          <p:cNvSpPr>
            <a:spLocks noGrp="1"/>
          </p:cNvSpPr>
          <p:nvPr/>
        </p:nvSpPr>
        <p:spPr bwMode="auto">
          <a:xfrm>
            <a:off x="7286625" y="3886200"/>
            <a:ext cx="3714750" cy="3429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900" b="1" i="0">
                <a:solidFill>
                  <a:srgbClr val="2A9D8F"/>
                </a:solidFill>
              </a:defRPr>
            </a:pPr>
            <a:r>
              <a:rPr sz="1900" b="1" i="0">
                <a:solidFill>
                  <a:srgbClr val="2A9D8F"/>
                </a:solidFill>
              </a:rPr>
              <a:t>Transactional update</a:t>
            </a:r>
            <a:endParaRPr/>
          </a:p>
        </p:txBody>
      </p:sp>
      <p:sp>
        <p:nvSpPr>
          <p:cNvPr id="1654987110" name=""/>
          <p:cNvSpPr>
            <a:spLocks noGrp="1"/>
          </p:cNvSpPr>
          <p:nvPr/>
        </p:nvSpPr>
        <p:spPr bwMode="auto">
          <a:xfrm>
            <a:off x="7334250" y="4324350"/>
            <a:ext cx="3905250" cy="876299"/>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0" i="0">
                <a:solidFill>
                  <a:srgbClr val="243B53"/>
                </a:solidFill>
              </a:defRPr>
            </a:pPr>
            <a:r>
              <a:rPr sz="1500" b="0" i="0">
                <a:solidFill>
                  <a:srgbClr val="243B53"/>
                </a:solidFill>
              </a:rPr>
              <a:t>save state  →  split  →  transfer  →</a:t>
            </a:r>
            <a:endParaRPr/>
          </a:p>
          <a:p>
            <a:pPr algn="ctr">
              <a:lnSpc>
                <a:spcPct val="105000"/>
              </a:lnSpc>
              <a:buNone/>
              <a:defRPr sz="1500" b="0" i="0">
                <a:solidFill>
                  <a:srgbClr val="243B53"/>
                </a:solidFill>
              </a:defRPr>
            </a:pPr>
            <a:r>
              <a:rPr sz="1500" b="0" i="0">
                <a:solidFill>
                  <a:srgbClr val="243B53"/>
                </a:solidFill>
              </a:rPr>
              <a:t>check postconditions  →  roll back on failure</a:t>
            </a:r>
            <a:endParaRPr/>
          </a:p>
        </p:txBody>
      </p:sp>
      <p:sp>
        <p:nvSpPr>
          <p:cNvPr id="858070282" name=""/>
          <p:cNvSpPr>
            <a:spLocks noGrp="1"/>
          </p:cNvSpPr>
          <p:nvPr/>
        </p:nvSpPr>
        <p:spPr bwMode="auto">
          <a:xfrm>
            <a:off x="1066800" y="5715000"/>
            <a:ext cx="10058400" cy="476250"/>
          </a:xfrm>
          <a:prstGeom prst="roundRect">
            <a:avLst>
              <a:gd name="adj" fmla="val 12000"/>
            </a:avLst>
          </a:prstGeom>
          <a:solidFill>
            <a:srgbClr val="FCEEEA"/>
          </a:solidFill>
          <a:ln w="11430">
            <a:solidFill>
              <a:srgbClr val="E76F51"/>
            </a:solidFill>
            <a:prstDash val="solid"/>
          </a:ln>
        </p:spPr>
      </p:sp>
      <p:sp>
        <p:nvSpPr>
          <p:cNvPr id="2019934293" name=""/>
          <p:cNvSpPr>
            <a:spLocks noGrp="1"/>
          </p:cNvSpPr>
          <p:nvPr/>
        </p:nvSpPr>
        <p:spPr bwMode="auto">
          <a:xfrm>
            <a:off x="1219200" y="5762625"/>
            <a:ext cx="975360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1" i="0">
                <a:solidFill>
                  <a:srgbClr val="E76F51"/>
                </a:solidFill>
              </a:defRPr>
            </a:pPr>
            <a:r>
              <a:rPr sz="1500" b="1" i="0">
                <a:solidFill>
                  <a:srgbClr val="E76F51"/>
                </a:solidFill>
              </a:rPr>
              <a:t>Ordinary lists expose scanning, copying, slicing, and ownership rebinding as concrete costs.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58915858"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VALIDATION</a:t>
            </a:r>
            <a:endParaRPr/>
          </a:p>
        </p:txBody>
      </p:sp>
      <p:sp>
        <p:nvSpPr>
          <p:cNvPr id="2125138333"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Implementation checks and experiment consistency</a:t>
            </a:r>
            <a:endParaRPr/>
          </a:p>
        </p:txBody>
      </p:sp>
      <p:sp>
        <p:nvSpPr>
          <p:cNvPr id="1033058552" name=""/>
          <p:cNvSpPr>
            <a:spLocks noGrp="1"/>
          </p:cNvSpPr>
          <p:nvPr/>
        </p:nvSpPr>
        <p:spPr bwMode="auto">
          <a:xfrm>
            <a:off x="609600" y="1085850"/>
            <a:ext cx="10972800" cy="9525"/>
          </a:xfrm>
          <a:prstGeom prst="line">
            <a:avLst/>
          </a:prstGeom>
          <a:noFill/>
          <a:ln w="28575">
            <a:solidFill>
              <a:srgbClr val="2A9D8F"/>
            </a:solidFill>
            <a:prstDash val="solid"/>
          </a:ln>
        </p:spPr>
      </p:sp>
      <p:sp>
        <p:nvSpPr>
          <p:cNvPr id="1779239542" name=""/>
          <p:cNvSpPr>
            <a:spLocks noGrp="1"/>
          </p:cNvSpPr>
          <p:nvPr/>
        </p:nvSpPr>
        <p:spPr bwMode="auto">
          <a:xfrm>
            <a:off x="609600" y="6477000"/>
            <a:ext cx="10972800" cy="9525"/>
          </a:xfrm>
          <a:prstGeom prst="line">
            <a:avLst/>
          </a:prstGeom>
          <a:noFill/>
          <a:ln w="9525">
            <a:solidFill>
              <a:srgbClr val="D9E2EC"/>
            </a:solidFill>
            <a:prstDash val="solid"/>
          </a:ln>
        </p:spPr>
      </p:sp>
      <p:sp>
        <p:nvSpPr>
          <p:cNvPr id="79643815"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873821515"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11 / 16</a:t>
            </a:r>
            <a:endParaRPr/>
          </a:p>
        </p:txBody>
      </p:sp>
      <p:sp>
        <p:nvSpPr>
          <p:cNvPr id="1258388673" name=""/>
          <p:cNvSpPr>
            <a:spLocks noGrp="1"/>
          </p:cNvSpPr>
          <p:nvPr/>
        </p:nvSpPr>
        <p:spPr bwMode="auto">
          <a:xfrm>
            <a:off x="876299" y="1504950"/>
            <a:ext cx="4286250" cy="2667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150" b="1" i="0">
                <a:solidFill>
                  <a:srgbClr val="2A9D8F"/>
                </a:solidFill>
              </a:defRPr>
            </a:pPr>
            <a:r>
              <a:rPr sz="1150" b="1" i="0">
                <a:solidFill>
                  <a:srgbClr val="2A9D8F"/>
                </a:solidFill>
              </a:rPr>
              <a:t>IMPLEMENTATION AND STATE VALIDATION</a:t>
            </a:r>
            <a:endParaRPr/>
          </a:p>
        </p:txBody>
      </p:sp>
      <p:sp>
        <p:nvSpPr>
          <p:cNvPr id="1453823740" name=""/>
          <p:cNvSpPr>
            <a:spLocks noGrp="1"/>
          </p:cNvSpPr>
          <p:nvPr/>
        </p:nvSpPr>
        <p:spPr bwMode="auto">
          <a:xfrm>
            <a:off x="6934200" y="1504950"/>
            <a:ext cx="4286250" cy="266700"/>
          </a:xfrm>
          <a:prstGeom prst="rect">
            <a:avLst/>
          </a:prstGeom>
          <a:noFill/>
          <a:ln w="0">
            <a:noFill/>
            <a:prstDash val="solid"/>
          </a:ln>
        </p:spPr>
        <p:txBody>
          <a:bodyPr wrap="square" lIns="38100" tIns="19050" rIns="38100" bIns="19050" anchor="t">
            <a:normAutofit fontScale="100000"/>
          </a:bodyPr>
          <a:lstStyle/>
          <a:p>
            <a:pPr algn="l">
              <a:lnSpc>
                <a:spcPct val="105000"/>
              </a:lnSpc>
              <a:buNone/>
              <a:defRPr sz="1150" b="1" i="0">
                <a:solidFill>
                  <a:srgbClr val="E76F51"/>
                </a:solidFill>
              </a:defRPr>
            </a:pPr>
            <a:r>
              <a:rPr sz="1150" b="1" i="0">
                <a:solidFill>
                  <a:srgbClr val="E76F51"/>
                </a:solidFill>
              </a:rPr>
              <a:t>EXPERIMENT OUTPUT CHECK</a:t>
            </a:r>
            <a:endParaRPr/>
          </a:p>
        </p:txBody>
      </p:sp>
      <p:sp>
        <p:nvSpPr>
          <p:cNvPr id="1007511317" name=""/>
          <p:cNvSpPr>
            <a:spLocks noGrp="1"/>
          </p:cNvSpPr>
          <p:nvPr/>
        </p:nvSpPr>
        <p:spPr bwMode="auto">
          <a:xfrm>
            <a:off x="838200" y="1924050"/>
            <a:ext cx="4476750" cy="609600"/>
          </a:xfrm>
          <a:prstGeom prst="roundRect">
            <a:avLst>
              <a:gd name="adj" fmla="val 10938"/>
            </a:avLst>
          </a:prstGeom>
          <a:solidFill>
            <a:srgbClr val="E8F5F3"/>
          </a:solidFill>
          <a:ln w="11430">
            <a:solidFill>
              <a:srgbClr val="2A9D8F"/>
            </a:solidFill>
            <a:prstDash val="solid"/>
          </a:ln>
        </p:spPr>
      </p:sp>
      <p:sp>
        <p:nvSpPr>
          <p:cNvPr id="1228652510" name=""/>
          <p:cNvSpPr>
            <a:spLocks noGrp="1"/>
          </p:cNvSpPr>
          <p:nvPr/>
        </p:nvSpPr>
        <p:spPr bwMode="auto">
          <a:xfrm>
            <a:off x="990600" y="2000250"/>
            <a:ext cx="4171950" cy="4572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0" i="0">
                <a:solidFill>
                  <a:srgbClr val="243B53"/>
                </a:solidFill>
              </a:defRPr>
            </a:pPr>
            <a:r>
              <a:rPr sz="1500" b="0" i="0">
                <a:solidFill>
                  <a:srgbClr val="243B53"/>
                </a:solidFill>
              </a:rPr>
              <a:t>Focused regression cases</a:t>
            </a:r>
            <a:endParaRPr/>
          </a:p>
        </p:txBody>
      </p:sp>
      <p:sp>
        <p:nvSpPr>
          <p:cNvPr id="537028536" name=""/>
          <p:cNvSpPr>
            <a:spLocks noGrp="1"/>
          </p:cNvSpPr>
          <p:nvPr/>
        </p:nvSpPr>
        <p:spPr bwMode="auto">
          <a:xfrm>
            <a:off x="2724150" y="2505074"/>
            <a:ext cx="685800" cy="266700"/>
          </a:xfrm>
          <a:prstGeom prst="rect">
            <a:avLst/>
          </a:prstGeom>
          <a:noFill/>
          <a:ln w="0">
            <a:noFill/>
            <a:prstDash val="solid"/>
          </a:ln>
        </p:spPr>
        <p:txBody>
          <a:bodyPr wrap="square" lIns="38100" tIns="19050" rIns="38100" bIns="19050" anchor="t">
            <a:normAutofit fontScale="73260"/>
          </a:bodyPr>
          <a:lstStyle/>
          <a:p>
            <a:pPr algn="ctr">
              <a:lnSpc>
                <a:spcPct val="105000"/>
              </a:lnSpc>
              <a:buNone/>
              <a:defRPr sz="1950" b="1" i="0">
                <a:solidFill>
                  <a:srgbClr val="2A9D8F"/>
                </a:solidFill>
              </a:defRPr>
            </a:pPr>
            <a:r>
              <a:rPr sz="1950" b="1" i="0">
                <a:solidFill>
                  <a:srgbClr val="2A9D8F"/>
                </a:solidFill>
              </a:rPr>
              <a:t>↓</a:t>
            </a:r>
            <a:endParaRPr/>
          </a:p>
        </p:txBody>
      </p:sp>
      <p:sp>
        <p:nvSpPr>
          <p:cNvPr id="1466013783" name=""/>
          <p:cNvSpPr>
            <a:spLocks noGrp="1"/>
          </p:cNvSpPr>
          <p:nvPr/>
        </p:nvSpPr>
        <p:spPr bwMode="auto">
          <a:xfrm>
            <a:off x="838200" y="2800350"/>
            <a:ext cx="4476750" cy="781050"/>
          </a:xfrm>
          <a:prstGeom prst="roundRect">
            <a:avLst>
              <a:gd name="adj" fmla="val 8537"/>
            </a:avLst>
          </a:prstGeom>
          <a:solidFill>
            <a:srgbClr val="E8F5F3"/>
          </a:solidFill>
          <a:ln w="11430">
            <a:solidFill>
              <a:srgbClr val="2A9D8F"/>
            </a:solidFill>
            <a:prstDash val="solid"/>
          </a:ln>
        </p:spPr>
      </p:sp>
      <p:sp>
        <p:nvSpPr>
          <p:cNvPr id="134250542" name=""/>
          <p:cNvSpPr>
            <a:spLocks noGrp="1"/>
          </p:cNvSpPr>
          <p:nvPr/>
        </p:nvSpPr>
        <p:spPr bwMode="auto">
          <a:xfrm>
            <a:off x="990600" y="2876550"/>
            <a:ext cx="4171950" cy="6286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243B53"/>
                </a:solidFill>
              </a:defRPr>
            </a:pPr>
            <a:r>
              <a:rPr sz="1350" b="1" i="0">
                <a:solidFill>
                  <a:srgbClr val="243B53"/>
                </a:solidFill>
              </a:rPr>
              <a:t>Bounded exhaustive validation</a:t>
            </a:r>
            <a:endParaRPr/>
          </a:p>
          <a:p>
            <a:pPr algn="ctr">
              <a:lnSpc>
                <a:spcPct val="105000"/>
              </a:lnSpc>
              <a:buNone/>
              <a:defRPr sz="1350" b="1" i="0">
                <a:solidFill>
                  <a:srgbClr val="243B53"/>
                </a:solidFill>
              </a:defRPr>
            </a:pPr>
            <a:r>
              <a:rPr sz="1350" b="1" i="0">
                <a:solidFill>
                  <a:srgbClr val="243B53"/>
                </a:solidFill>
              </a:rPr>
              <a:t>2,074 oracle-valid permutations, n ≤ 8</a:t>
            </a:r>
            <a:endParaRPr/>
          </a:p>
        </p:txBody>
      </p:sp>
      <p:sp>
        <p:nvSpPr>
          <p:cNvPr id="284779303" name=""/>
          <p:cNvSpPr>
            <a:spLocks noGrp="1"/>
          </p:cNvSpPr>
          <p:nvPr/>
        </p:nvSpPr>
        <p:spPr bwMode="auto">
          <a:xfrm>
            <a:off x="2724150" y="3552825"/>
            <a:ext cx="685800" cy="266700"/>
          </a:xfrm>
          <a:prstGeom prst="rect">
            <a:avLst/>
          </a:prstGeom>
          <a:noFill/>
          <a:ln w="0">
            <a:noFill/>
            <a:prstDash val="solid"/>
          </a:ln>
        </p:spPr>
        <p:txBody>
          <a:bodyPr wrap="square" lIns="38100" tIns="19050" rIns="38100" bIns="19050" anchor="t">
            <a:normAutofit fontScale="73260"/>
          </a:bodyPr>
          <a:lstStyle/>
          <a:p>
            <a:pPr algn="ctr">
              <a:lnSpc>
                <a:spcPct val="105000"/>
              </a:lnSpc>
              <a:buNone/>
              <a:defRPr sz="1950" b="1" i="0">
                <a:solidFill>
                  <a:srgbClr val="2A9D8F"/>
                </a:solidFill>
              </a:defRPr>
            </a:pPr>
            <a:r>
              <a:rPr sz="1950" b="1" i="0">
                <a:solidFill>
                  <a:srgbClr val="2A9D8F"/>
                </a:solidFill>
              </a:rPr>
              <a:t>↓</a:t>
            </a:r>
            <a:endParaRPr/>
          </a:p>
        </p:txBody>
      </p:sp>
      <p:sp>
        <p:nvSpPr>
          <p:cNvPr id="667851220" name=""/>
          <p:cNvSpPr>
            <a:spLocks noGrp="1"/>
          </p:cNvSpPr>
          <p:nvPr/>
        </p:nvSpPr>
        <p:spPr bwMode="auto">
          <a:xfrm>
            <a:off x="838200" y="3829050"/>
            <a:ext cx="4476750" cy="609600"/>
          </a:xfrm>
          <a:prstGeom prst="roundRect">
            <a:avLst>
              <a:gd name="adj" fmla="val 10938"/>
            </a:avLst>
          </a:prstGeom>
          <a:solidFill>
            <a:srgbClr val="E8F5F3"/>
          </a:solidFill>
          <a:ln w="11430">
            <a:solidFill>
              <a:srgbClr val="2A9D8F"/>
            </a:solidFill>
            <a:prstDash val="solid"/>
          </a:ln>
        </p:spPr>
      </p:sp>
      <p:sp>
        <p:nvSpPr>
          <p:cNvPr id="1942806030" name=""/>
          <p:cNvSpPr>
            <a:spLocks noGrp="1"/>
          </p:cNvSpPr>
          <p:nvPr/>
        </p:nvSpPr>
        <p:spPr bwMode="auto">
          <a:xfrm>
            <a:off x="990600" y="3905250"/>
            <a:ext cx="4171950" cy="4572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0" i="0">
                <a:solidFill>
                  <a:srgbClr val="243B53"/>
                </a:solidFill>
              </a:defRPr>
            </a:pPr>
            <a:r>
              <a:rPr sz="1500" b="0" i="0">
                <a:solidFill>
                  <a:srgbClr val="243B53"/>
                </a:solidFill>
              </a:rPr>
              <a:t>Checked-state audits</a:t>
            </a:r>
            <a:endParaRPr/>
          </a:p>
        </p:txBody>
      </p:sp>
      <p:sp>
        <p:nvSpPr>
          <p:cNvPr id="241150758" name=""/>
          <p:cNvSpPr>
            <a:spLocks noGrp="1"/>
          </p:cNvSpPr>
          <p:nvPr/>
        </p:nvSpPr>
        <p:spPr bwMode="auto">
          <a:xfrm>
            <a:off x="2724150" y="4410075"/>
            <a:ext cx="685800" cy="266700"/>
          </a:xfrm>
          <a:prstGeom prst="rect">
            <a:avLst/>
          </a:prstGeom>
          <a:noFill/>
          <a:ln w="0">
            <a:noFill/>
            <a:prstDash val="solid"/>
          </a:ln>
        </p:spPr>
        <p:txBody>
          <a:bodyPr wrap="square" lIns="38100" tIns="19050" rIns="38100" bIns="19050" anchor="t">
            <a:normAutofit fontScale="73260"/>
          </a:bodyPr>
          <a:lstStyle/>
          <a:p>
            <a:pPr algn="ctr">
              <a:lnSpc>
                <a:spcPct val="105000"/>
              </a:lnSpc>
              <a:buNone/>
              <a:defRPr sz="1950" b="1" i="0">
                <a:solidFill>
                  <a:srgbClr val="2A9D8F"/>
                </a:solidFill>
              </a:defRPr>
            </a:pPr>
            <a:r>
              <a:rPr sz="1950" b="1" i="0">
                <a:solidFill>
                  <a:srgbClr val="2A9D8F"/>
                </a:solidFill>
              </a:rPr>
              <a:t>↓</a:t>
            </a:r>
            <a:endParaRPr/>
          </a:p>
        </p:txBody>
      </p:sp>
      <p:sp>
        <p:nvSpPr>
          <p:cNvPr id="19649932" name=""/>
          <p:cNvSpPr>
            <a:spLocks noGrp="1"/>
          </p:cNvSpPr>
          <p:nvPr/>
        </p:nvSpPr>
        <p:spPr bwMode="auto">
          <a:xfrm>
            <a:off x="838200" y="4705350"/>
            <a:ext cx="4476750" cy="609600"/>
          </a:xfrm>
          <a:prstGeom prst="roundRect">
            <a:avLst>
              <a:gd name="adj" fmla="val 10938"/>
            </a:avLst>
          </a:prstGeom>
          <a:solidFill>
            <a:srgbClr val="E8F5F3"/>
          </a:solidFill>
          <a:ln w="11430">
            <a:solidFill>
              <a:srgbClr val="2A9D8F"/>
            </a:solidFill>
            <a:prstDash val="solid"/>
          </a:ln>
        </p:spPr>
      </p:sp>
      <p:sp>
        <p:nvSpPr>
          <p:cNvPr id="1125304378" name=""/>
          <p:cNvSpPr>
            <a:spLocks noGrp="1"/>
          </p:cNvSpPr>
          <p:nvPr/>
        </p:nvSpPr>
        <p:spPr bwMode="auto">
          <a:xfrm>
            <a:off x="990600" y="4781550"/>
            <a:ext cx="4171950" cy="4572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0" i="0">
                <a:solidFill>
                  <a:srgbClr val="243B53"/>
                </a:solidFill>
              </a:defRPr>
            </a:pPr>
            <a:r>
              <a:rPr sz="1500" b="0" i="0">
                <a:solidFill>
                  <a:srgbClr val="243B53"/>
                </a:solidFill>
              </a:rPr>
              <a:t>Same-core deterministic replay</a:t>
            </a:r>
            <a:endParaRPr/>
          </a:p>
        </p:txBody>
      </p:sp>
      <p:sp>
        <p:nvSpPr>
          <p:cNvPr id="971171828" name=""/>
          <p:cNvSpPr>
            <a:spLocks noGrp="1"/>
          </p:cNvSpPr>
          <p:nvPr/>
        </p:nvSpPr>
        <p:spPr bwMode="auto">
          <a:xfrm>
            <a:off x="6877050" y="2209800"/>
            <a:ext cx="4476750" cy="2381250"/>
          </a:xfrm>
          <a:prstGeom prst="roundRect">
            <a:avLst>
              <a:gd name="adj" fmla="val 3200"/>
            </a:avLst>
          </a:prstGeom>
          <a:solidFill>
            <a:srgbClr val="FCEEEA"/>
          </a:solidFill>
          <a:ln w="14288">
            <a:solidFill>
              <a:srgbClr val="E76F51"/>
            </a:solidFill>
            <a:prstDash val="solid"/>
          </a:ln>
        </p:spPr>
      </p:sp>
      <p:sp>
        <p:nvSpPr>
          <p:cNvPr id="609074670" name=""/>
          <p:cNvSpPr>
            <a:spLocks noGrp="1"/>
          </p:cNvSpPr>
          <p:nvPr/>
        </p:nvSpPr>
        <p:spPr bwMode="auto">
          <a:xfrm>
            <a:off x="7219950" y="2686050"/>
            <a:ext cx="3790949" cy="13525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750" b="1" i="0">
                <a:solidFill>
                  <a:srgbClr val="243B53"/>
                </a:solidFill>
              </a:defRPr>
            </a:pPr>
            <a:r>
              <a:rPr sz="1750" b="1" i="0">
                <a:solidFill>
                  <a:srgbClr val="243B53"/>
                </a:solidFill>
              </a:rPr>
              <a:t>A separate validation path checked that the saved outputs match the fixed experiment setup and recomputed summaries.</a:t>
            </a:r>
            <a:endParaRPr/>
          </a:p>
        </p:txBody>
      </p:sp>
      <p:sp>
        <p:nvSpPr>
          <p:cNvPr id="597689746" name=""/>
          <p:cNvSpPr>
            <a:spLocks noGrp="1"/>
          </p:cNvSpPr>
          <p:nvPr/>
        </p:nvSpPr>
        <p:spPr bwMode="auto">
          <a:xfrm>
            <a:off x="7239000" y="4819650"/>
            <a:ext cx="3752850" cy="3238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52606D"/>
                </a:solidFill>
              </a:defRPr>
            </a:pPr>
            <a:r>
              <a:rPr sz="1300" b="0" i="0">
                <a:solidFill>
                  <a:srgbClr val="52606D"/>
                </a:solidFill>
              </a:rPr>
              <a:t>Full consistency checks: Backup C</a:t>
            </a:r>
            <a:endParaRPr/>
          </a:p>
        </p:txBody>
      </p:sp>
      <p:sp>
        <p:nvSpPr>
          <p:cNvPr id="583705537" name=""/>
          <p:cNvSpPr>
            <a:spLocks noGrp="1"/>
          </p:cNvSpPr>
          <p:nvPr/>
        </p:nvSpPr>
        <p:spPr bwMode="auto">
          <a:xfrm>
            <a:off x="1333500" y="5810250"/>
            <a:ext cx="9525000" cy="381000"/>
          </a:xfrm>
          <a:prstGeom prst="rect">
            <a:avLst/>
          </a:prstGeom>
          <a:noFill/>
          <a:ln w="0">
            <a:noFill/>
            <a:prstDash val="solid"/>
          </a:ln>
        </p:spPr>
        <p:txBody>
          <a:bodyPr wrap="square" lIns="38100" tIns="19050" rIns="38100" bIns="19050" anchor="ctr">
            <a:normAutofit fontScale="96917"/>
          </a:bodyPr>
          <a:lstStyle/>
          <a:p>
            <a:pPr algn="ctr">
              <a:lnSpc>
                <a:spcPct val="105000"/>
              </a:lnSpc>
              <a:buNone/>
              <a:defRPr sz="1600" b="1" i="0">
                <a:solidFill>
                  <a:srgbClr val="102A43"/>
                </a:solidFill>
              </a:defRPr>
            </a:pPr>
            <a:r>
              <a:rPr sz="1600" b="1" i="0">
                <a:solidFill>
                  <a:srgbClr val="102A43"/>
                </a:solidFill>
              </a:rPr>
              <a:t>These checks support the evaluated cases. They do not prove correctness for every Jordan sequence.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1266962646"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EXPERIMENTAL METHOD</a:t>
            </a:r>
            <a:endParaRPr/>
          </a:p>
        </p:txBody>
      </p:sp>
      <p:sp>
        <p:nvSpPr>
          <p:cNvPr id="2077614991"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91421"/>
          </a:bodyPr>
          <a:lstStyle/>
          <a:p>
            <a:pPr algn="l">
              <a:lnSpc>
                <a:spcPct val="95000"/>
              </a:lnSpc>
              <a:buNone/>
              <a:defRPr sz="2700" b="1" i="0">
                <a:solidFill>
                  <a:srgbClr val="102A43"/>
                </a:solidFill>
              </a:defRPr>
            </a:pPr>
            <a:r>
              <a:rPr sz="2700" b="1" i="0">
                <a:solidFill>
                  <a:srgbClr val="102A43"/>
                </a:solidFill>
              </a:rPr>
              <a:t>The formal experiment keeps certification and audit outside paper timing</a:t>
            </a:r>
            <a:endParaRPr/>
          </a:p>
        </p:txBody>
      </p:sp>
      <p:sp>
        <p:nvSpPr>
          <p:cNvPr id="1586483144" name=""/>
          <p:cNvSpPr>
            <a:spLocks noGrp="1"/>
          </p:cNvSpPr>
          <p:nvPr/>
        </p:nvSpPr>
        <p:spPr bwMode="auto">
          <a:xfrm>
            <a:off x="609600" y="1085850"/>
            <a:ext cx="10972800" cy="9525"/>
          </a:xfrm>
          <a:prstGeom prst="line">
            <a:avLst/>
          </a:prstGeom>
          <a:noFill/>
          <a:ln w="28575">
            <a:solidFill>
              <a:srgbClr val="2A9D8F"/>
            </a:solidFill>
            <a:prstDash val="solid"/>
          </a:ln>
        </p:spPr>
      </p:sp>
      <p:sp>
        <p:nvSpPr>
          <p:cNvPr id="1314362748" name=""/>
          <p:cNvSpPr>
            <a:spLocks noGrp="1"/>
          </p:cNvSpPr>
          <p:nvPr/>
        </p:nvSpPr>
        <p:spPr bwMode="auto">
          <a:xfrm>
            <a:off x="609600" y="6477000"/>
            <a:ext cx="10972800" cy="9525"/>
          </a:xfrm>
          <a:prstGeom prst="line">
            <a:avLst/>
          </a:prstGeom>
          <a:noFill/>
          <a:ln w="9525">
            <a:solidFill>
              <a:srgbClr val="D9E2EC"/>
            </a:solidFill>
            <a:prstDash val="solid"/>
          </a:ln>
        </p:spPr>
      </p:sp>
      <p:sp>
        <p:nvSpPr>
          <p:cNvPr id="2060558764"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380873132"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12 / 16</a:t>
            </a:r>
            <a:endParaRPr/>
          </a:p>
        </p:txBody>
      </p:sp>
      <p:sp>
        <p:nvSpPr>
          <p:cNvPr id="614654964" name=""/>
          <p:cNvSpPr>
            <a:spLocks noGrp="1"/>
          </p:cNvSpPr>
          <p:nvPr/>
        </p:nvSpPr>
        <p:spPr bwMode="auto">
          <a:xfrm>
            <a:off x="723900" y="1409700"/>
            <a:ext cx="10744200" cy="781050"/>
          </a:xfrm>
          <a:prstGeom prst="roundRect">
            <a:avLst>
              <a:gd name="adj" fmla="val 9756"/>
            </a:avLst>
          </a:prstGeom>
          <a:solidFill>
            <a:srgbClr val="102A43"/>
          </a:solidFill>
          <a:ln w="11430">
            <a:solidFill>
              <a:srgbClr val="102A43"/>
            </a:solidFill>
            <a:prstDash val="solid"/>
          </a:ln>
        </p:spPr>
      </p:sp>
      <p:sp>
        <p:nvSpPr>
          <p:cNvPr id="319003046" name=""/>
          <p:cNvSpPr>
            <a:spLocks noGrp="1"/>
          </p:cNvSpPr>
          <p:nvPr/>
        </p:nvSpPr>
        <p:spPr bwMode="auto">
          <a:xfrm>
            <a:off x="933450" y="1504950"/>
            <a:ext cx="6934200" cy="5143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750" b="1" i="0">
                <a:solidFill>
                  <a:srgbClr val="FFFFFF"/>
                </a:solidFill>
              </a:defRPr>
            </a:pPr>
            <a:r>
              <a:rPr sz="1750" b="1" i="0">
                <a:solidFill>
                  <a:srgbClr val="FFFFFF"/>
                </a:solidFill>
              </a:rPr>
              <a:t>5 sizes  ×  12 cases  ×  3 algorithms  ×  20 calls</a:t>
            </a:r>
            <a:endParaRPr/>
          </a:p>
        </p:txBody>
      </p:sp>
      <p:sp>
        <p:nvSpPr>
          <p:cNvPr id="1174985375" name=""/>
          <p:cNvSpPr>
            <a:spLocks noGrp="1"/>
          </p:cNvSpPr>
          <p:nvPr/>
        </p:nvSpPr>
        <p:spPr bwMode="auto">
          <a:xfrm>
            <a:off x="8096250" y="1504950"/>
            <a:ext cx="3105150" cy="5143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00" b="1" i="0">
                <a:solidFill>
                  <a:srgbClr val="2A9D8F"/>
                </a:solidFill>
              </a:defRPr>
            </a:pPr>
            <a:r>
              <a:rPr sz="1900" b="1" i="0">
                <a:solidFill>
                  <a:srgbClr val="2A9D8F"/>
                </a:solidFill>
              </a:rPr>
              <a:t>3,600 measured rows</a:t>
            </a:r>
            <a:endParaRPr/>
          </a:p>
        </p:txBody>
      </p:sp>
      <p:sp>
        <p:nvSpPr>
          <p:cNvPr id="208528686" name=""/>
          <p:cNvSpPr>
            <a:spLocks noGrp="1"/>
          </p:cNvSpPr>
          <p:nvPr/>
        </p:nvSpPr>
        <p:spPr bwMode="auto">
          <a:xfrm>
            <a:off x="704850" y="2647949"/>
            <a:ext cx="1295400" cy="781050"/>
          </a:xfrm>
          <a:prstGeom prst="roundRect">
            <a:avLst>
              <a:gd name="adj" fmla="val 8537"/>
            </a:avLst>
          </a:prstGeom>
          <a:solidFill>
            <a:srgbClr val="FFFFFF"/>
          </a:solidFill>
          <a:ln w="14288">
            <a:solidFill>
              <a:srgbClr val="52606D"/>
            </a:solidFill>
            <a:prstDash val="solid"/>
          </a:ln>
        </p:spPr>
      </p:sp>
      <p:sp>
        <p:nvSpPr>
          <p:cNvPr id="25338792" name=""/>
          <p:cNvSpPr>
            <a:spLocks noGrp="1"/>
          </p:cNvSpPr>
          <p:nvPr/>
        </p:nvSpPr>
        <p:spPr bwMode="auto">
          <a:xfrm>
            <a:off x="781050" y="2762250"/>
            <a:ext cx="114300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102A43"/>
                </a:solidFill>
              </a:defRPr>
            </a:pPr>
            <a:r>
              <a:rPr sz="1350" b="1" i="0">
                <a:solidFill>
                  <a:srgbClr val="102A43"/>
                </a:solidFill>
              </a:rPr>
              <a:t>Generate</a:t>
            </a:r>
            <a:endParaRPr/>
          </a:p>
        </p:txBody>
      </p:sp>
      <p:sp>
        <p:nvSpPr>
          <p:cNvPr id="355827683" name=""/>
          <p:cNvSpPr>
            <a:spLocks noGrp="1"/>
          </p:cNvSpPr>
          <p:nvPr/>
        </p:nvSpPr>
        <p:spPr bwMode="auto">
          <a:xfrm>
            <a:off x="2266950" y="2647949"/>
            <a:ext cx="1295400" cy="781050"/>
          </a:xfrm>
          <a:prstGeom prst="roundRect">
            <a:avLst>
              <a:gd name="adj" fmla="val 8537"/>
            </a:avLst>
          </a:prstGeom>
          <a:solidFill>
            <a:srgbClr val="FFFFFF"/>
          </a:solidFill>
          <a:ln w="14288">
            <a:solidFill>
              <a:srgbClr val="52606D"/>
            </a:solidFill>
            <a:prstDash val="solid"/>
          </a:ln>
        </p:spPr>
      </p:sp>
      <p:sp>
        <p:nvSpPr>
          <p:cNvPr id="2010697663" name=""/>
          <p:cNvSpPr>
            <a:spLocks noGrp="1"/>
          </p:cNvSpPr>
          <p:nvPr/>
        </p:nvSpPr>
        <p:spPr bwMode="auto">
          <a:xfrm>
            <a:off x="2343150" y="2762250"/>
            <a:ext cx="114300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102A43"/>
                </a:solidFill>
              </a:defRPr>
            </a:pPr>
            <a:r>
              <a:rPr sz="1350" b="1" i="0">
                <a:solidFill>
                  <a:srgbClr val="102A43"/>
                </a:solidFill>
              </a:rPr>
              <a:t>Certify</a:t>
            </a:r>
            <a:endParaRPr/>
          </a:p>
        </p:txBody>
      </p:sp>
      <p:sp>
        <p:nvSpPr>
          <p:cNvPr id="1095060064" name=""/>
          <p:cNvSpPr>
            <a:spLocks noGrp="1"/>
          </p:cNvSpPr>
          <p:nvPr/>
        </p:nvSpPr>
        <p:spPr bwMode="auto">
          <a:xfrm>
            <a:off x="3829050" y="2647949"/>
            <a:ext cx="1295400" cy="781050"/>
          </a:xfrm>
          <a:prstGeom prst="roundRect">
            <a:avLst>
              <a:gd name="adj" fmla="val 8537"/>
            </a:avLst>
          </a:prstGeom>
          <a:solidFill>
            <a:srgbClr val="FFFFFF"/>
          </a:solidFill>
          <a:ln w="14288">
            <a:solidFill>
              <a:srgbClr val="52606D"/>
            </a:solidFill>
            <a:prstDash val="solid"/>
          </a:ln>
        </p:spPr>
      </p:sp>
      <p:sp>
        <p:nvSpPr>
          <p:cNvPr id="933127044" name=""/>
          <p:cNvSpPr>
            <a:spLocks noGrp="1"/>
          </p:cNvSpPr>
          <p:nvPr/>
        </p:nvSpPr>
        <p:spPr bwMode="auto">
          <a:xfrm>
            <a:off x="3905250" y="2762250"/>
            <a:ext cx="114300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150" b="1" i="0">
                <a:solidFill>
                  <a:srgbClr val="102A43"/>
                </a:solidFill>
              </a:defRPr>
            </a:pPr>
            <a:r>
              <a:rPr sz="1150" b="1" i="0">
                <a:solidFill>
                  <a:srgbClr val="102A43"/>
                </a:solidFill>
              </a:rPr>
              <a:t>Checked-state</a:t>
            </a:r>
            <a:endParaRPr/>
          </a:p>
          <a:p>
            <a:pPr algn="ctr">
              <a:lnSpc>
                <a:spcPct val="105000"/>
              </a:lnSpc>
              <a:buNone/>
              <a:defRPr sz="1150" b="1" i="0">
                <a:solidFill>
                  <a:srgbClr val="102A43"/>
                </a:solidFill>
              </a:defRPr>
            </a:pPr>
            <a:r>
              <a:rPr sz="1150" b="1" i="0">
                <a:solidFill>
                  <a:srgbClr val="102A43"/>
                </a:solidFill>
              </a:rPr>
              <a:t>audit</a:t>
            </a:r>
            <a:endParaRPr/>
          </a:p>
        </p:txBody>
      </p:sp>
      <p:sp>
        <p:nvSpPr>
          <p:cNvPr id="1139437709" name=""/>
          <p:cNvSpPr>
            <a:spLocks noGrp="1"/>
          </p:cNvSpPr>
          <p:nvPr/>
        </p:nvSpPr>
        <p:spPr bwMode="auto">
          <a:xfrm>
            <a:off x="5391150" y="2647949"/>
            <a:ext cx="1295400" cy="781050"/>
          </a:xfrm>
          <a:prstGeom prst="roundRect">
            <a:avLst>
              <a:gd name="adj" fmla="val 8537"/>
            </a:avLst>
          </a:prstGeom>
          <a:solidFill>
            <a:srgbClr val="FFFFFF"/>
          </a:solidFill>
          <a:ln w="14288">
            <a:solidFill>
              <a:srgbClr val="52606D"/>
            </a:solidFill>
            <a:prstDash val="solid"/>
          </a:ln>
        </p:spPr>
      </p:sp>
      <p:sp>
        <p:nvSpPr>
          <p:cNvPr id="2054764924" name=""/>
          <p:cNvSpPr>
            <a:spLocks noGrp="1"/>
          </p:cNvSpPr>
          <p:nvPr/>
        </p:nvSpPr>
        <p:spPr bwMode="auto">
          <a:xfrm>
            <a:off x="5467350" y="2762250"/>
            <a:ext cx="114300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102A43"/>
                </a:solidFill>
              </a:defRPr>
            </a:pPr>
            <a:r>
              <a:rPr sz="1350" b="1" i="0">
                <a:solidFill>
                  <a:srgbClr val="102A43"/>
                </a:solidFill>
              </a:rPr>
              <a:t>Warm-up</a:t>
            </a:r>
            <a:endParaRPr/>
          </a:p>
        </p:txBody>
      </p:sp>
      <p:sp>
        <p:nvSpPr>
          <p:cNvPr id="1781321517" name=""/>
          <p:cNvSpPr>
            <a:spLocks noGrp="1"/>
          </p:cNvSpPr>
          <p:nvPr/>
        </p:nvSpPr>
        <p:spPr bwMode="auto">
          <a:xfrm>
            <a:off x="6953250" y="2647949"/>
            <a:ext cx="1295400" cy="781050"/>
          </a:xfrm>
          <a:prstGeom prst="roundRect">
            <a:avLst>
              <a:gd name="adj" fmla="val 8537"/>
            </a:avLst>
          </a:prstGeom>
          <a:solidFill>
            <a:srgbClr val="FCEEEA"/>
          </a:solidFill>
          <a:ln w="19050">
            <a:solidFill>
              <a:srgbClr val="E76F51"/>
            </a:solidFill>
            <a:prstDash val="solid"/>
          </a:ln>
        </p:spPr>
      </p:sp>
      <p:sp>
        <p:nvSpPr>
          <p:cNvPr id="798726171" name=""/>
          <p:cNvSpPr>
            <a:spLocks noGrp="1"/>
          </p:cNvSpPr>
          <p:nvPr/>
        </p:nvSpPr>
        <p:spPr bwMode="auto">
          <a:xfrm>
            <a:off x="7029450" y="2762250"/>
            <a:ext cx="114300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E76F51"/>
                </a:solidFill>
              </a:defRPr>
            </a:pPr>
            <a:r>
              <a:rPr sz="1350" b="1" i="0">
                <a:solidFill>
                  <a:srgbClr val="E76F51"/>
                </a:solidFill>
              </a:rPr>
              <a:t>Measure</a:t>
            </a:r>
            <a:endParaRPr/>
          </a:p>
        </p:txBody>
      </p:sp>
      <p:sp>
        <p:nvSpPr>
          <p:cNvPr id="1209447238" name=""/>
          <p:cNvSpPr>
            <a:spLocks noGrp="1"/>
          </p:cNvSpPr>
          <p:nvPr/>
        </p:nvSpPr>
        <p:spPr bwMode="auto">
          <a:xfrm>
            <a:off x="8515350" y="2647949"/>
            <a:ext cx="1295400" cy="781050"/>
          </a:xfrm>
          <a:prstGeom prst="roundRect">
            <a:avLst>
              <a:gd name="adj" fmla="val 8537"/>
            </a:avLst>
          </a:prstGeom>
          <a:solidFill>
            <a:srgbClr val="FFFFFF"/>
          </a:solidFill>
          <a:ln w="14288">
            <a:solidFill>
              <a:srgbClr val="52606D"/>
            </a:solidFill>
            <a:prstDash val="solid"/>
          </a:ln>
        </p:spPr>
      </p:sp>
      <p:sp>
        <p:nvSpPr>
          <p:cNvPr id="1356211803" name=""/>
          <p:cNvSpPr>
            <a:spLocks noGrp="1"/>
          </p:cNvSpPr>
          <p:nvPr/>
        </p:nvSpPr>
        <p:spPr bwMode="auto">
          <a:xfrm>
            <a:off x="8591550" y="2762250"/>
            <a:ext cx="114300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102A43"/>
                </a:solidFill>
              </a:defRPr>
            </a:pPr>
            <a:r>
              <a:rPr sz="1350" b="1" i="0">
                <a:solidFill>
                  <a:srgbClr val="102A43"/>
                </a:solidFill>
              </a:rPr>
              <a:t>Aggregate</a:t>
            </a:r>
            <a:endParaRPr/>
          </a:p>
        </p:txBody>
      </p:sp>
      <p:sp>
        <p:nvSpPr>
          <p:cNvPr id="1562510884" name=""/>
          <p:cNvSpPr>
            <a:spLocks noGrp="1"/>
          </p:cNvSpPr>
          <p:nvPr/>
        </p:nvSpPr>
        <p:spPr bwMode="auto">
          <a:xfrm>
            <a:off x="10077450" y="2647949"/>
            <a:ext cx="1295400" cy="781050"/>
          </a:xfrm>
          <a:prstGeom prst="roundRect">
            <a:avLst>
              <a:gd name="adj" fmla="val 8537"/>
            </a:avLst>
          </a:prstGeom>
          <a:solidFill>
            <a:srgbClr val="FFFFFF"/>
          </a:solidFill>
          <a:ln w="14288">
            <a:solidFill>
              <a:srgbClr val="52606D"/>
            </a:solidFill>
            <a:prstDash val="solid"/>
          </a:ln>
        </p:spPr>
      </p:sp>
      <p:sp>
        <p:nvSpPr>
          <p:cNvPr id="301505806" name=""/>
          <p:cNvSpPr>
            <a:spLocks noGrp="1"/>
          </p:cNvSpPr>
          <p:nvPr/>
        </p:nvSpPr>
        <p:spPr bwMode="auto">
          <a:xfrm>
            <a:off x="10153650" y="2762250"/>
            <a:ext cx="114300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102A43"/>
                </a:solidFill>
              </a:defRPr>
            </a:pPr>
            <a:r>
              <a:rPr sz="1350" b="1" i="0">
                <a:solidFill>
                  <a:srgbClr val="102A43"/>
                </a:solidFill>
              </a:rPr>
              <a:t>Validate</a:t>
            </a:r>
            <a:endParaRPr/>
          </a:p>
          <a:p>
            <a:pPr algn="ctr">
              <a:lnSpc>
                <a:spcPct val="105000"/>
              </a:lnSpc>
              <a:buNone/>
              <a:defRPr sz="1350" b="1" i="0">
                <a:solidFill>
                  <a:srgbClr val="102A43"/>
                </a:solidFill>
              </a:defRPr>
            </a:pPr>
            <a:r>
              <a:rPr sz="1350" b="1" i="0">
                <a:solidFill>
                  <a:srgbClr val="102A43"/>
                </a:solidFill>
              </a:rPr>
              <a:t>and archive</a:t>
            </a:r>
            <a:endParaRPr/>
          </a:p>
        </p:txBody>
      </p:sp>
      <p:cxnSp>
        <p:nvCxnSpPr>
          <p:cNvPr id="1538447854" name=""/>
          <p:cNvCxnSpPr>
            <a:stCxn id="208528686" idx="3"/>
            <a:endCxn id="355827683" idx="1"/>
          </p:cNvCxnSpPr>
          <p:nvPr/>
        </p:nvCxnSpPr>
        <p:spPr bwMode="auto">
          <a:xfrm>
            <a:off x="2000250" y="3038475"/>
            <a:ext cx="266700" cy="0"/>
          </a:xfrm>
          <a:prstGeom prst="straightConnector1">
            <a:avLst/>
          </a:prstGeom>
          <a:ln w="15240">
            <a:solidFill>
              <a:srgbClr val="52606D"/>
            </a:solidFill>
            <a:prstDash val="solid"/>
            <a:tailEnd type="arrow" w="sm" len="sm"/>
          </a:ln>
        </p:spPr>
      </p:cxnSp>
      <p:cxnSp>
        <p:nvCxnSpPr>
          <p:cNvPr id="1674278328" name=""/>
          <p:cNvCxnSpPr>
            <a:stCxn id="355827683" idx="3"/>
            <a:endCxn id="1095060064" idx="1"/>
          </p:cNvCxnSpPr>
          <p:nvPr/>
        </p:nvCxnSpPr>
        <p:spPr bwMode="auto">
          <a:xfrm>
            <a:off x="3562350" y="3038475"/>
            <a:ext cx="266700" cy="0"/>
          </a:xfrm>
          <a:prstGeom prst="straightConnector1">
            <a:avLst/>
          </a:prstGeom>
          <a:ln w="15240">
            <a:solidFill>
              <a:srgbClr val="52606D"/>
            </a:solidFill>
            <a:prstDash val="solid"/>
            <a:tailEnd type="arrow" w="sm" len="sm"/>
          </a:ln>
        </p:spPr>
      </p:cxnSp>
      <p:cxnSp>
        <p:nvCxnSpPr>
          <p:cNvPr id="85563962" name=""/>
          <p:cNvCxnSpPr>
            <a:stCxn id="1095060064" idx="3"/>
            <a:endCxn id="1139437709" idx="1"/>
          </p:cNvCxnSpPr>
          <p:nvPr/>
        </p:nvCxnSpPr>
        <p:spPr bwMode="auto">
          <a:xfrm>
            <a:off x="5124450" y="3038475"/>
            <a:ext cx="266700" cy="0"/>
          </a:xfrm>
          <a:prstGeom prst="straightConnector1">
            <a:avLst/>
          </a:prstGeom>
          <a:ln w="15240">
            <a:solidFill>
              <a:srgbClr val="52606D"/>
            </a:solidFill>
            <a:prstDash val="solid"/>
            <a:tailEnd type="arrow" w="sm" len="sm"/>
          </a:ln>
        </p:spPr>
      </p:cxnSp>
      <p:cxnSp>
        <p:nvCxnSpPr>
          <p:cNvPr id="1642271972" name=""/>
          <p:cNvCxnSpPr>
            <a:stCxn id="1139437709" idx="3"/>
            <a:endCxn id="1781321517" idx="1"/>
          </p:cNvCxnSpPr>
          <p:nvPr/>
        </p:nvCxnSpPr>
        <p:spPr bwMode="auto">
          <a:xfrm>
            <a:off x="6686550" y="3038475"/>
            <a:ext cx="266700" cy="0"/>
          </a:xfrm>
          <a:prstGeom prst="straightConnector1">
            <a:avLst/>
          </a:prstGeom>
          <a:ln w="15240">
            <a:solidFill>
              <a:srgbClr val="52606D"/>
            </a:solidFill>
            <a:prstDash val="solid"/>
            <a:tailEnd type="arrow" w="sm" len="sm"/>
          </a:ln>
        </p:spPr>
      </p:cxnSp>
      <p:cxnSp>
        <p:nvCxnSpPr>
          <p:cNvPr id="1021846709" name=""/>
          <p:cNvCxnSpPr>
            <a:stCxn id="1781321517" idx="3"/>
            <a:endCxn id="1209447238" idx="1"/>
          </p:cNvCxnSpPr>
          <p:nvPr/>
        </p:nvCxnSpPr>
        <p:spPr bwMode="auto">
          <a:xfrm>
            <a:off x="8248650" y="3038475"/>
            <a:ext cx="266700" cy="0"/>
          </a:xfrm>
          <a:prstGeom prst="straightConnector1">
            <a:avLst/>
          </a:prstGeom>
          <a:ln w="15240">
            <a:solidFill>
              <a:srgbClr val="52606D"/>
            </a:solidFill>
            <a:prstDash val="solid"/>
            <a:tailEnd type="arrow" w="sm" len="sm"/>
          </a:ln>
        </p:spPr>
      </p:cxnSp>
      <p:cxnSp>
        <p:nvCxnSpPr>
          <p:cNvPr id="1367694488" name=""/>
          <p:cNvCxnSpPr>
            <a:stCxn id="1209447238" idx="3"/>
            <a:endCxn id="1562510884" idx="1"/>
          </p:cNvCxnSpPr>
          <p:nvPr/>
        </p:nvCxnSpPr>
        <p:spPr bwMode="auto">
          <a:xfrm>
            <a:off x="9810750" y="3038475"/>
            <a:ext cx="266700" cy="0"/>
          </a:xfrm>
          <a:prstGeom prst="straightConnector1">
            <a:avLst/>
          </a:prstGeom>
          <a:ln w="15240">
            <a:solidFill>
              <a:srgbClr val="52606D"/>
            </a:solidFill>
            <a:prstDash val="solid"/>
            <a:tailEnd type="arrow" w="sm" len="sm"/>
          </a:ln>
        </p:spPr>
      </p:cxnSp>
      <p:sp>
        <p:nvSpPr>
          <p:cNvPr id="1464159145" name=""/>
          <p:cNvSpPr>
            <a:spLocks noGrp="1"/>
          </p:cNvSpPr>
          <p:nvPr/>
        </p:nvSpPr>
        <p:spPr bwMode="auto">
          <a:xfrm>
            <a:off x="723900" y="3905250"/>
            <a:ext cx="3219449" cy="990600"/>
          </a:xfrm>
          <a:prstGeom prst="roundRect">
            <a:avLst>
              <a:gd name="adj" fmla="val 7692"/>
            </a:avLst>
          </a:prstGeom>
          <a:solidFill>
            <a:srgbClr val="E8F5F3"/>
          </a:solidFill>
          <a:ln w="14288">
            <a:solidFill>
              <a:srgbClr val="2A9D8F"/>
            </a:solidFill>
            <a:prstDash val="solid"/>
          </a:ln>
        </p:spPr>
      </p:sp>
      <p:sp>
        <p:nvSpPr>
          <p:cNvPr id="774191706" name=""/>
          <p:cNvSpPr>
            <a:spLocks noGrp="1"/>
          </p:cNvSpPr>
          <p:nvPr/>
        </p:nvSpPr>
        <p:spPr bwMode="auto">
          <a:xfrm>
            <a:off x="876299" y="4038600"/>
            <a:ext cx="29146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2A9D8F"/>
                </a:solidFill>
              </a:defRPr>
            </a:pPr>
            <a:r>
              <a:rPr sz="1350" b="1" i="0">
                <a:solidFill>
                  <a:srgbClr val="2A9D8F"/>
                </a:solidFill>
              </a:rPr>
              <a:t>Certification outside paper timing</a:t>
            </a:r>
            <a:endParaRPr/>
          </a:p>
        </p:txBody>
      </p:sp>
      <p:sp>
        <p:nvSpPr>
          <p:cNvPr id="1816021800" name=""/>
          <p:cNvSpPr>
            <a:spLocks noGrp="1"/>
          </p:cNvSpPr>
          <p:nvPr/>
        </p:nvSpPr>
        <p:spPr bwMode="auto">
          <a:xfrm>
            <a:off x="895350" y="4495800"/>
            <a:ext cx="2876550" cy="2667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valid-input precondition</a:t>
            </a:r>
            <a:endParaRPr/>
          </a:p>
        </p:txBody>
      </p:sp>
      <p:sp>
        <p:nvSpPr>
          <p:cNvPr id="1469580262" name=""/>
          <p:cNvSpPr>
            <a:spLocks noGrp="1"/>
          </p:cNvSpPr>
          <p:nvPr/>
        </p:nvSpPr>
        <p:spPr bwMode="auto">
          <a:xfrm>
            <a:off x="4248150" y="3905250"/>
            <a:ext cx="3219449" cy="990600"/>
          </a:xfrm>
          <a:prstGeom prst="roundRect">
            <a:avLst>
              <a:gd name="adj" fmla="val 7692"/>
            </a:avLst>
          </a:prstGeom>
          <a:solidFill>
            <a:srgbClr val="E8F5F3"/>
          </a:solidFill>
          <a:ln w="14288">
            <a:solidFill>
              <a:srgbClr val="2A9D8F"/>
            </a:solidFill>
            <a:prstDash val="solid"/>
          </a:ln>
        </p:spPr>
      </p:sp>
      <p:sp>
        <p:nvSpPr>
          <p:cNvPr id="322635855" name=""/>
          <p:cNvSpPr>
            <a:spLocks noGrp="1"/>
          </p:cNvSpPr>
          <p:nvPr/>
        </p:nvSpPr>
        <p:spPr bwMode="auto">
          <a:xfrm>
            <a:off x="4400550" y="4038600"/>
            <a:ext cx="2914650" cy="400050"/>
          </a:xfrm>
          <a:prstGeom prst="rect">
            <a:avLst/>
          </a:prstGeom>
          <a:noFill/>
          <a:ln w="0">
            <a:noFill/>
            <a:prstDash val="solid"/>
          </a:ln>
        </p:spPr>
        <p:txBody>
          <a:bodyPr wrap="square" lIns="38100" tIns="19050" rIns="38100" bIns="19050" anchor="ctr">
            <a:normAutofit fontScale="83774"/>
          </a:bodyPr>
          <a:lstStyle/>
          <a:p>
            <a:pPr algn="ctr">
              <a:lnSpc>
                <a:spcPct val="105000"/>
              </a:lnSpc>
              <a:buNone/>
              <a:defRPr sz="1350" b="1" i="0">
                <a:solidFill>
                  <a:srgbClr val="2A9D8F"/>
                </a:solidFill>
              </a:defRPr>
            </a:pPr>
            <a:r>
              <a:rPr sz="1350" b="1" i="0">
                <a:solidFill>
                  <a:srgbClr val="2A9D8F"/>
                </a:solidFill>
              </a:rPr>
              <a:t>Checked-state audit outside paper timing</a:t>
            </a:r>
            <a:endParaRPr/>
          </a:p>
        </p:txBody>
      </p:sp>
      <p:sp>
        <p:nvSpPr>
          <p:cNvPr id="1072158582" name=""/>
          <p:cNvSpPr>
            <a:spLocks noGrp="1"/>
          </p:cNvSpPr>
          <p:nvPr/>
        </p:nvSpPr>
        <p:spPr bwMode="auto">
          <a:xfrm>
            <a:off x="4419600" y="4495800"/>
            <a:ext cx="2876550" cy="2667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one audit per exact case</a:t>
            </a:r>
            <a:endParaRPr/>
          </a:p>
        </p:txBody>
      </p:sp>
      <p:sp>
        <p:nvSpPr>
          <p:cNvPr id="235702544" name=""/>
          <p:cNvSpPr>
            <a:spLocks noGrp="1"/>
          </p:cNvSpPr>
          <p:nvPr/>
        </p:nvSpPr>
        <p:spPr bwMode="auto">
          <a:xfrm>
            <a:off x="7772400" y="3905250"/>
            <a:ext cx="3219449" cy="990600"/>
          </a:xfrm>
          <a:prstGeom prst="roundRect">
            <a:avLst>
              <a:gd name="adj" fmla="val 7692"/>
            </a:avLst>
          </a:prstGeom>
          <a:solidFill>
            <a:srgbClr val="FCEEEA"/>
          </a:solidFill>
          <a:ln w="14288">
            <a:solidFill>
              <a:srgbClr val="E76F51"/>
            </a:solidFill>
            <a:prstDash val="solid"/>
          </a:ln>
        </p:spPr>
      </p:sp>
      <p:sp>
        <p:nvSpPr>
          <p:cNvPr id="1037252350" name=""/>
          <p:cNvSpPr>
            <a:spLocks noGrp="1"/>
          </p:cNvSpPr>
          <p:nvPr/>
        </p:nvSpPr>
        <p:spPr bwMode="auto">
          <a:xfrm>
            <a:off x="7924800" y="4038600"/>
            <a:ext cx="29146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E76F51"/>
                </a:solidFill>
              </a:defRPr>
            </a:pPr>
            <a:r>
              <a:rPr sz="1350" b="1" i="0">
                <a:solidFill>
                  <a:srgbClr val="E76F51"/>
                </a:solidFill>
              </a:rPr>
              <a:t>Minimal paper call inside timing</a:t>
            </a:r>
            <a:endParaRPr/>
          </a:p>
        </p:txBody>
      </p:sp>
      <p:sp>
        <p:nvSpPr>
          <p:cNvPr id="1823633423" name=""/>
          <p:cNvSpPr>
            <a:spLocks noGrp="1"/>
          </p:cNvSpPr>
          <p:nvPr/>
        </p:nvSpPr>
        <p:spPr bwMode="auto">
          <a:xfrm>
            <a:off x="7943850" y="4495800"/>
            <a:ext cx="2876550" cy="2667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output recovery remains timed</a:t>
            </a:r>
            <a:endParaRPr/>
          </a:p>
        </p:txBody>
      </p:sp>
      <p:sp>
        <p:nvSpPr>
          <p:cNvPr id="715796151" name=""/>
          <p:cNvSpPr>
            <a:spLocks noGrp="1"/>
          </p:cNvSpPr>
          <p:nvPr/>
        </p:nvSpPr>
        <p:spPr bwMode="auto">
          <a:xfrm>
            <a:off x="1143000" y="5124450"/>
            <a:ext cx="9906000" cy="3048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0" i="0">
                <a:solidFill>
                  <a:srgbClr val="52606D"/>
                </a:solidFill>
              </a:defRPr>
            </a:pPr>
            <a:r>
              <a:rPr sz="1350" b="0" i="0">
                <a:solidFill>
                  <a:srgbClr val="52606D"/>
                </a:solidFill>
              </a:rPr>
              <a:t>Reference timing includes its complete oracle-backed pipeline. Python timing covers its complete sorting call.</a:t>
            </a:r>
            <a:endParaRPr/>
          </a:p>
        </p:txBody>
      </p:sp>
      <p:sp>
        <p:nvSpPr>
          <p:cNvPr id="498584882" name=""/>
          <p:cNvSpPr>
            <a:spLocks noGrp="1"/>
          </p:cNvSpPr>
          <p:nvPr/>
        </p:nvSpPr>
        <p:spPr bwMode="auto">
          <a:xfrm>
            <a:off x="2019300" y="5581649"/>
            <a:ext cx="8153399" cy="495300"/>
          </a:xfrm>
          <a:prstGeom prst="roundRect">
            <a:avLst>
              <a:gd name="adj" fmla="val 11538"/>
            </a:avLst>
          </a:prstGeom>
          <a:solidFill>
            <a:srgbClr val="FCEEEA"/>
          </a:solidFill>
          <a:ln w="14288">
            <a:solidFill>
              <a:srgbClr val="E76F51"/>
            </a:solidFill>
            <a:prstDash val="solid"/>
          </a:ln>
        </p:spPr>
      </p:sp>
      <p:sp>
        <p:nvSpPr>
          <p:cNvPr id="1734444717" name=""/>
          <p:cNvSpPr>
            <a:spLocks noGrp="1"/>
          </p:cNvSpPr>
          <p:nvPr/>
        </p:nvSpPr>
        <p:spPr bwMode="auto">
          <a:xfrm>
            <a:off x="2190750" y="5638800"/>
            <a:ext cx="781050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E76F51"/>
                </a:solidFill>
              </a:defRPr>
            </a:pPr>
            <a:r>
              <a:rPr sz="1350" b="1" i="0">
                <a:solidFill>
                  <a:srgbClr val="E76F51"/>
                </a:solidFill>
              </a:rPr>
              <a:t>Paper and reference use different timing scopes, so this ratio is not an end-to-end speedup.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1952942753"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RESULTS</a:t>
            </a:r>
            <a:endParaRPr/>
          </a:p>
        </p:txBody>
      </p:sp>
      <p:sp>
        <p:nvSpPr>
          <p:cNvPr id="1908642150"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All 60 evaluated cases returned the correct output</a:t>
            </a:r>
            <a:endParaRPr/>
          </a:p>
        </p:txBody>
      </p:sp>
      <p:sp>
        <p:nvSpPr>
          <p:cNvPr id="500466597" name=""/>
          <p:cNvSpPr>
            <a:spLocks noGrp="1"/>
          </p:cNvSpPr>
          <p:nvPr/>
        </p:nvSpPr>
        <p:spPr bwMode="auto">
          <a:xfrm>
            <a:off x="609600" y="1085850"/>
            <a:ext cx="10972800" cy="9525"/>
          </a:xfrm>
          <a:prstGeom prst="line">
            <a:avLst/>
          </a:prstGeom>
          <a:noFill/>
          <a:ln w="28575">
            <a:solidFill>
              <a:srgbClr val="2A9D8F"/>
            </a:solidFill>
            <a:prstDash val="solid"/>
          </a:ln>
        </p:spPr>
      </p:sp>
      <p:sp>
        <p:nvSpPr>
          <p:cNvPr id="1422214788" name=""/>
          <p:cNvSpPr>
            <a:spLocks noGrp="1"/>
          </p:cNvSpPr>
          <p:nvPr/>
        </p:nvSpPr>
        <p:spPr bwMode="auto">
          <a:xfrm>
            <a:off x="609600" y="6477000"/>
            <a:ext cx="10972800" cy="9525"/>
          </a:xfrm>
          <a:prstGeom prst="line">
            <a:avLst/>
          </a:prstGeom>
          <a:noFill/>
          <a:ln w="9525">
            <a:solidFill>
              <a:srgbClr val="D9E2EC"/>
            </a:solidFill>
            <a:prstDash val="solid"/>
          </a:ln>
        </p:spPr>
      </p:sp>
      <p:sp>
        <p:nvSpPr>
          <p:cNvPr id="348423198"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208809334"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13 / 16</a:t>
            </a:r>
            <a:endParaRPr/>
          </a:p>
        </p:txBody>
      </p:sp>
      <p:sp>
        <p:nvSpPr>
          <p:cNvPr id="859327901" name=""/>
          <p:cNvSpPr>
            <a:spLocks noGrp="1"/>
          </p:cNvSpPr>
          <p:nvPr/>
        </p:nvSpPr>
        <p:spPr bwMode="auto">
          <a:xfrm>
            <a:off x="1238250" y="1676400"/>
            <a:ext cx="3905250" cy="9525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5400" b="1" i="0">
                <a:solidFill>
                  <a:srgbClr val="2A9D8F"/>
                </a:solidFill>
              </a:defRPr>
            </a:pPr>
            <a:r>
              <a:rPr sz="5400" b="1" i="0">
                <a:solidFill>
                  <a:srgbClr val="2A9D8F"/>
                </a:solidFill>
              </a:rPr>
              <a:t>60</a:t>
            </a:r>
            <a:endParaRPr/>
          </a:p>
        </p:txBody>
      </p:sp>
      <p:sp>
        <p:nvSpPr>
          <p:cNvPr id="1943601081" name=""/>
          <p:cNvSpPr>
            <a:spLocks noGrp="1"/>
          </p:cNvSpPr>
          <p:nvPr/>
        </p:nvSpPr>
        <p:spPr bwMode="auto">
          <a:xfrm>
            <a:off x="1238250" y="2647949"/>
            <a:ext cx="3905250" cy="438149"/>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102A43"/>
                </a:solidFill>
              </a:defRPr>
            </a:pPr>
            <a:r>
              <a:rPr sz="1950" b="1" i="0">
                <a:solidFill>
                  <a:srgbClr val="102A43"/>
                </a:solidFill>
              </a:rPr>
              <a:t>exact cases</a:t>
            </a:r>
            <a:endParaRPr/>
          </a:p>
        </p:txBody>
      </p:sp>
      <p:sp>
        <p:nvSpPr>
          <p:cNvPr id="270363053" name=""/>
          <p:cNvSpPr>
            <a:spLocks noGrp="1"/>
          </p:cNvSpPr>
          <p:nvPr/>
        </p:nvSpPr>
        <p:spPr bwMode="auto">
          <a:xfrm>
            <a:off x="7048500" y="1676400"/>
            <a:ext cx="3905250" cy="9525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5400" b="1" i="0">
                <a:solidFill>
                  <a:srgbClr val="1F8A70"/>
                </a:solidFill>
              </a:defRPr>
            </a:pPr>
            <a:r>
              <a:rPr sz="5400" b="1" i="0">
                <a:solidFill>
                  <a:srgbClr val="1F8A70"/>
                </a:solidFill>
              </a:rPr>
              <a:t>0</a:t>
            </a:r>
            <a:endParaRPr/>
          </a:p>
        </p:txBody>
      </p:sp>
      <p:sp>
        <p:nvSpPr>
          <p:cNvPr id="874442686" name=""/>
          <p:cNvSpPr>
            <a:spLocks noGrp="1"/>
          </p:cNvSpPr>
          <p:nvPr/>
        </p:nvSpPr>
        <p:spPr bwMode="auto">
          <a:xfrm>
            <a:off x="7048500" y="2647949"/>
            <a:ext cx="3905250" cy="438149"/>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102A43"/>
                </a:solidFill>
              </a:defRPr>
            </a:pPr>
            <a:r>
              <a:rPr sz="1950" b="1" i="0">
                <a:solidFill>
                  <a:srgbClr val="102A43"/>
                </a:solidFill>
              </a:rPr>
              <a:t>recorded correctness errors</a:t>
            </a:r>
            <a:endParaRPr/>
          </a:p>
        </p:txBody>
      </p:sp>
      <p:sp>
        <p:nvSpPr>
          <p:cNvPr id="1941944156" name=""/>
          <p:cNvSpPr>
            <a:spLocks noGrp="1"/>
          </p:cNvSpPr>
          <p:nvPr/>
        </p:nvSpPr>
        <p:spPr bwMode="auto">
          <a:xfrm>
            <a:off x="723900" y="3371850"/>
            <a:ext cx="10744200" cy="9525"/>
          </a:xfrm>
          <a:prstGeom prst="line">
            <a:avLst/>
          </a:prstGeom>
          <a:noFill/>
          <a:ln w="19050">
            <a:solidFill>
              <a:srgbClr val="D9E2EC"/>
            </a:solidFill>
            <a:prstDash val="solid"/>
          </a:ln>
        </p:spPr>
      </p:sp>
      <p:sp>
        <p:nvSpPr>
          <p:cNvPr id="1380241526" name=""/>
          <p:cNvSpPr>
            <a:spLocks noGrp="1"/>
          </p:cNvSpPr>
          <p:nvPr/>
        </p:nvSpPr>
        <p:spPr bwMode="auto">
          <a:xfrm>
            <a:off x="1524000" y="3638550"/>
            <a:ext cx="9144000" cy="5334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2200" b="1" i="0">
                <a:solidFill>
                  <a:srgbClr val="102A43"/>
                </a:solidFill>
              </a:defRPr>
            </a:pPr>
            <a:r>
              <a:rPr sz="2200" b="1" i="0">
                <a:solidFill>
                  <a:srgbClr val="102A43"/>
                </a:solidFill>
              </a:rPr>
              <a:t>Each case was oracle-certified and checked once before timing.</a:t>
            </a:r>
            <a:endParaRPr/>
          </a:p>
        </p:txBody>
      </p:sp>
      <p:sp>
        <p:nvSpPr>
          <p:cNvPr id="1692379041" name=""/>
          <p:cNvSpPr>
            <a:spLocks noGrp="1"/>
          </p:cNvSpPr>
          <p:nvPr/>
        </p:nvSpPr>
        <p:spPr bwMode="auto">
          <a:xfrm>
            <a:off x="1581150" y="4514850"/>
            <a:ext cx="9029700" cy="876299"/>
          </a:xfrm>
          <a:prstGeom prst="roundRect">
            <a:avLst>
              <a:gd name="adj" fmla="val 8696"/>
            </a:avLst>
          </a:prstGeom>
          <a:solidFill>
            <a:srgbClr val="EAF1F8"/>
          </a:solidFill>
          <a:ln w="14288">
            <a:solidFill>
              <a:srgbClr val="102A43"/>
            </a:solidFill>
            <a:prstDash val="solid"/>
          </a:ln>
        </p:spPr>
      </p:sp>
      <p:sp>
        <p:nvSpPr>
          <p:cNvPr id="2133967203" name=""/>
          <p:cNvSpPr>
            <a:spLocks noGrp="1"/>
          </p:cNvSpPr>
          <p:nvPr/>
        </p:nvSpPr>
        <p:spPr bwMode="auto">
          <a:xfrm>
            <a:off x="1847850" y="4686300"/>
            <a:ext cx="8496300" cy="5334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650" b="0" i="0">
                <a:solidFill>
                  <a:srgbClr val="243B53"/>
                </a:solidFill>
              </a:defRPr>
            </a:pPr>
            <a:r>
              <a:rPr sz="1650" b="0" i="0">
                <a:solidFill>
                  <a:srgbClr val="243B53"/>
                </a:solidFill>
              </a:rPr>
              <a:t>The 3,600 timing rows carry the corresponding case-level audit result.</a:t>
            </a:r>
            <a:endParaRPr/>
          </a:p>
        </p:txBody>
      </p:sp>
      <p:sp>
        <p:nvSpPr>
          <p:cNvPr id="904565062" name=""/>
          <p:cNvSpPr>
            <a:spLocks noGrp="1"/>
          </p:cNvSpPr>
          <p:nvPr/>
        </p:nvSpPr>
        <p:spPr bwMode="auto">
          <a:xfrm>
            <a:off x="1485900" y="5772150"/>
            <a:ext cx="9220200"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1" i="0">
                <a:solidFill>
                  <a:srgbClr val="E76F51"/>
                </a:solidFill>
              </a:defRPr>
            </a:pPr>
            <a:r>
              <a:rPr sz="1500" b="1" i="0">
                <a:solidFill>
                  <a:srgbClr val="E76F51"/>
                </a:solidFill>
              </a:rPr>
              <a:t>These results cover the tested valid cases only.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1882054474"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RESULTS</a:t>
            </a:r>
            <a:endParaRPr/>
          </a:p>
        </p:txBody>
      </p:sp>
      <p:sp>
        <p:nvSpPr>
          <p:cNvPr id="783470628"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The paper/reference ratio decreases across the five tested sizes</a:t>
            </a:r>
            <a:endParaRPr/>
          </a:p>
        </p:txBody>
      </p:sp>
      <p:sp>
        <p:nvSpPr>
          <p:cNvPr id="2023902198" name=""/>
          <p:cNvSpPr>
            <a:spLocks noGrp="1"/>
          </p:cNvSpPr>
          <p:nvPr/>
        </p:nvSpPr>
        <p:spPr bwMode="auto">
          <a:xfrm>
            <a:off x="609600" y="1085850"/>
            <a:ext cx="10972800" cy="9525"/>
          </a:xfrm>
          <a:prstGeom prst="line">
            <a:avLst/>
          </a:prstGeom>
          <a:noFill/>
          <a:ln w="28575">
            <a:solidFill>
              <a:srgbClr val="2A9D8F"/>
            </a:solidFill>
            <a:prstDash val="solid"/>
          </a:ln>
        </p:spPr>
      </p:sp>
      <p:sp>
        <p:nvSpPr>
          <p:cNvPr id="1676246475" name=""/>
          <p:cNvSpPr>
            <a:spLocks noGrp="1"/>
          </p:cNvSpPr>
          <p:nvPr/>
        </p:nvSpPr>
        <p:spPr bwMode="auto">
          <a:xfrm>
            <a:off x="609600" y="6477000"/>
            <a:ext cx="10972800" cy="9525"/>
          </a:xfrm>
          <a:prstGeom prst="line">
            <a:avLst/>
          </a:prstGeom>
          <a:noFill/>
          <a:ln w="9525">
            <a:solidFill>
              <a:srgbClr val="D9E2EC"/>
            </a:solidFill>
            <a:prstDash val="solid"/>
          </a:ln>
        </p:spPr>
      </p:sp>
      <p:sp>
        <p:nvSpPr>
          <p:cNvPr id="1334317653"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711646853"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14 / 16</a:t>
            </a:r>
            <a:endParaRPr/>
          </a:p>
        </p:txBody>
      </p:sp>
      <p:graphicFrame>
        <p:nvGraphicFramePr>
          <p:cNvPr id="1914935792" name="Chart"/>
          <p:cNvGraphicFramePr>
            <a:graphicFrameLocks xmlns:a="http://schemas.openxmlformats.org/drawingml/2006/main"/>
          </p:cNvGraphicFramePr>
          <p:nvPr/>
        </p:nvGraphicFramePr>
        <p:xfrm rot="0">
          <a:off x="647700" y="1409700"/>
          <a:ext cx="68580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151410606" name=""/>
          <p:cNvSpPr>
            <a:spLocks noGrp="1"/>
          </p:cNvSpPr>
          <p:nvPr/>
        </p:nvSpPr>
        <p:spPr bwMode="auto">
          <a:xfrm>
            <a:off x="7905750" y="1524000"/>
            <a:ext cx="3333750" cy="990600"/>
          </a:xfrm>
          <a:prstGeom prst="roundRect">
            <a:avLst>
              <a:gd name="adj" fmla="val 7692"/>
            </a:avLst>
          </a:prstGeom>
          <a:solidFill>
            <a:srgbClr val="E8F5F3"/>
          </a:solidFill>
          <a:ln w="11430">
            <a:solidFill>
              <a:srgbClr val="2A9D8F"/>
            </a:solidFill>
            <a:prstDash val="solid"/>
          </a:ln>
        </p:spPr>
      </p:sp>
      <p:sp>
        <p:nvSpPr>
          <p:cNvPr id="1151898058" name=""/>
          <p:cNvSpPr>
            <a:spLocks noGrp="1"/>
          </p:cNvSpPr>
          <p:nvPr/>
        </p:nvSpPr>
        <p:spPr bwMode="auto">
          <a:xfrm>
            <a:off x="8096250" y="1638300"/>
            <a:ext cx="1200150" cy="51435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2850" b="1" i="0">
                <a:solidFill>
                  <a:srgbClr val="2A9D8F"/>
                </a:solidFill>
              </a:defRPr>
            </a:pPr>
            <a:r>
              <a:rPr sz="2850" b="1" i="0">
                <a:solidFill>
                  <a:srgbClr val="2A9D8F"/>
                </a:solidFill>
              </a:rPr>
              <a:t>3.226</a:t>
            </a:r>
            <a:endParaRPr/>
          </a:p>
        </p:txBody>
      </p:sp>
      <p:sp>
        <p:nvSpPr>
          <p:cNvPr id="457150964" name=""/>
          <p:cNvSpPr>
            <a:spLocks noGrp="1"/>
          </p:cNvSpPr>
          <p:nvPr/>
        </p:nvSpPr>
        <p:spPr bwMode="auto">
          <a:xfrm>
            <a:off x="9334500" y="1752599"/>
            <a:ext cx="1676400" cy="3238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500" b="0" i="0">
                <a:solidFill>
                  <a:srgbClr val="243B53"/>
                </a:solidFill>
              </a:defRPr>
            </a:pPr>
            <a:r>
              <a:rPr sz="1500" b="0" i="0">
                <a:solidFill>
                  <a:srgbClr val="243B53"/>
                </a:solidFill>
              </a:rPr>
              <a:t>at n = 32</a:t>
            </a:r>
            <a:endParaRPr/>
          </a:p>
        </p:txBody>
      </p:sp>
      <p:sp>
        <p:nvSpPr>
          <p:cNvPr id="207772485" name=""/>
          <p:cNvSpPr>
            <a:spLocks noGrp="1"/>
          </p:cNvSpPr>
          <p:nvPr/>
        </p:nvSpPr>
        <p:spPr bwMode="auto">
          <a:xfrm>
            <a:off x="7905750" y="2686050"/>
            <a:ext cx="3333750" cy="990600"/>
          </a:xfrm>
          <a:prstGeom prst="roundRect">
            <a:avLst>
              <a:gd name="adj" fmla="val 7692"/>
            </a:avLst>
          </a:prstGeom>
          <a:solidFill>
            <a:srgbClr val="FCEEEA"/>
          </a:solidFill>
          <a:ln w="11430">
            <a:solidFill>
              <a:srgbClr val="E76F51"/>
            </a:solidFill>
            <a:prstDash val="solid"/>
          </a:ln>
        </p:spPr>
      </p:sp>
      <p:sp>
        <p:nvSpPr>
          <p:cNvPr id="727016511" name=""/>
          <p:cNvSpPr>
            <a:spLocks noGrp="1"/>
          </p:cNvSpPr>
          <p:nvPr/>
        </p:nvSpPr>
        <p:spPr bwMode="auto">
          <a:xfrm>
            <a:off x="8096250" y="2800350"/>
            <a:ext cx="1200150" cy="51435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2850" b="1" i="0">
                <a:solidFill>
                  <a:srgbClr val="E76F51"/>
                </a:solidFill>
              </a:defRPr>
            </a:pPr>
            <a:r>
              <a:rPr sz="2850" b="1" i="0">
                <a:solidFill>
                  <a:srgbClr val="E76F51"/>
                </a:solidFill>
              </a:rPr>
              <a:t>0.567</a:t>
            </a:r>
            <a:endParaRPr/>
          </a:p>
        </p:txBody>
      </p:sp>
      <p:sp>
        <p:nvSpPr>
          <p:cNvPr id="1258670932" name=""/>
          <p:cNvSpPr>
            <a:spLocks noGrp="1"/>
          </p:cNvSpPr>
          <p:nvPr/>
        </p:nvSpPr>
        <p:spPr bwMode="auto">
          <a:xfrm>
            <a:off x="9334500" y="2914650"/>
            <a:ext cx="1676400" cy="3238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500" b="0" i="0">
                <a:solidFill>
                  <a:srgbClr val="243B53"/>
                </a:solidFill>
              </a:defRPr>
            </a:pPr>
            <a:r>
              <a:rPr sz="1500" b="0" i="0">
                <a:solidFill>
                  <a:srgbClr val="243B53"/>
                </a:solidFill>
              </a:rPr>
              <a:t>at n = 512</a:t>
            </a:r>
            <a:endParaRPr/>
          </a:p>
        </p:txBody>
      </p:sp>
      <p:sp>
        <p:nvSpPr>
          <p:cNvPr id="1476174791" name=""/>
          <p:cNvSpPr>
            <a:spLocks noGrp="1"/>
          </p:cNvSpPr>
          <p:nvPr/>
        </p:nvSpPr>
        <p:spPr bwMode="auto">
          <a:xfrm>
            <a:off x="7905750" y="3981450"/>
            <a:ext cx="3333750" cy="1066800"/>
          </a:xfrm>
          <a:prstGeom prst="roundRect">
            <a:avLst>
              <a:gd name="adj" fmla="val 7143"/>
            </a:avLst>
          </a:prstGeom>
          <a:solidFill>
            <a:srgbClr val="FFFFFF"/>
          </a:solidFill>
          <a:ln w="14288">
            <a:solidFill>
              <a:srgbClr val="102A43"/>
            </a:solidFill>
            <a:prstDash val="solid"/>
          </a:ln>
        </p:spPr>
      </p:sp>
      <p:sp>
        <p:nvSpPr>
          <p:cNvPr id="1885650896" name=""/>
          <p:cNvSpPr>
            <a:spLocks noGrp="1"/>
          </p:cNvSpPr>
          <p:nvPr/>
        </p:nvSpPr>
        <p:spPr bwMode="auto">
          <a:xfrm>
            <a:off x="8096250" y="4114800"/>
            <a:ext cx="2952750" cy="323850"/>
          </a:xfrm>
          <a:prstGeom prst="rect">
            <a:avLst/>
          </a:prstGeom>
          <a:noFill/>
          <a:ln w="0">
            <a:noFill/>
            <a:prstDash val="solid"/>
          </a:ln>
        </p:spPr>
        <p:txBody>
          <a:bodyPr wrap="square" lIns="38100" tIns="19050" rIns="38100" bIns="19050" anchor="t">
            <a:normAutofit fontScale="99206"/>
          </a:bodyPr>
          <a:lstStyle/>
          <a:p>
            <a:pPr algn="ctr">
              <a:lnSpc>
                <a:spcPct val="105000"/>
              </a:lnSpc>
              <a:buNone/>
              <a:defRPr sz="1800" b="1" i="0">
                <a:solidFill>
                  <a:srgbClr val="102A43"/>
                </a:solidFill>
              </a:defRPr>
            </a:pPr>
            <a:r>
              <a:rPr sz="1800" b="1" i="0">
                <a:solidFill>
                  <a:srgbClr val="102A43"/>
                </a:solidFill>
              </a:rPr>
              <a:t>Observed crossover</a:t>
            </a:r>
            <a:endParaRPr/>
          </a:p>
        </p:txBody>
      </p:sp>
      <p:sp>
        <p:nvSpPr>
          <p:cNvPr id="1310818926" name=""/>
          <p:cNvSpPr>
            <a:spLocks noGrp="1"/>
          </p:cNvSpPr>
          <p:nvPr/>
        </p:nvSpPr>
        <p:spPr bwMode="auto">
          <a:xfrm>
            <a:off x="8115300" y="4533900"/>
            <a:ext cx="2914650" cy="3619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0" i="0">
                <a:solidFill>
                  <a:srgbClr val="243B53"/>
                </a:solidFill>
              </a:defRPr>
            </a:pPr>
            <a:r>
              <a:rPr sz="1450" b="0" i="0">
                <a:solidFill>
                  <a:srgbClr val="243B53"/>
                </a:solidFill>
              </a:rPr>
              <a:t>between tested sizes 128 and 256</a:t>
            </a:r>
            <a:endParaRPr/>
          </a:p>
        </p:txBody>
      </p:sp>
      <p:sp>
        <p:nvSpPr>
          <p:cNvPr id="1334614051" name=""/>
          <p:cNvSpPr>
            <a:spLocks noGrp="1"/>
          </p:cNvSpPr>
          <p:nvPr/>
        </p:nvSpPr>
        <p:spPr bwMode="auto">
          <a:xfrm>
            <a:off x="7810500" y="5391150"/>
            <a:ext cx="3543300" cy="647700"/>
          </a:xfrm>
          <a:prstGeom prst="roundRect">
            <a:avLst>
              <a:gd name="adj" fmla="val 8824"/>
            </a:avLst>
          </a:prstGeom>
          <a:solidFill>
            <a:srgbClr val="102A43"/>
          </a:solidFill>
          <a:ln w="11430">
            <a:solidFill>
              <a:srgbClr val="102A43"/>
            </a:solidFill>
            <a:prstDash val="solid"/>
          </a:ln>
        </p:spPr>
      </p:sp>
      <p:sp>
        <p:nvSpPr>
          <p:cNvPr id="1861246390" name=""/>
          <p:cNvSpPr>
            <a:spLocks noGrp="1"/>
          </p:cNvSpPr>
          <p:nvPr/>
        </p:nvSpPr>
        <p:spPr bwMode="auto">
          <a:xfrm>
            <a:off x="7981950" y="5486400"/>
            <a:ext cx="3200400" cy="4572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FFFFFF"/>
                </a:solidFill>
              </a:defRPr>
            </a:pPr>
            <a:r>
              <a:rPr sz="1300" b="1" i="0">
                <a:solidFill>
                  <a:srgbClr val="FFFFFF"/>
                </a:solidFill>
              </a:rPr>
              <a:t>five sizes  |  ordinary lists  |  different timed scopes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912809725"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INTERPRETATION</a:t>
            </a:r>
            <a:endParaRPr/>
          </a:p>
        </p:txBody>
      </p:sp>
      <p:sp>
        <p:nvSpPr>
          <p:cNvPr id="832745905"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What the current evidence shows</a:t>
            </a:r>
            <a:endParaRPr/>
          </a:p>
        </p:txBody>
      </p:sp>
      <p:sp>
        <p:nvSpPr>
          <p:cNvPr id="1572111493" name=""/>
          <p:cNvSpPr>
            <a:spLocks noGrp="1"/>
          </p:cNvSpPr>
          <p:nvPr/>
        </p:nvSpPr>
        <p:spPr bwMode="auto">
          <a:xfrm>
            <a:off x="609600" y="1085850"/>
            <a:ext cx="10972800" cy="9525"/>
          </a:xfrm>
          <a:prstGeom prst="line">
            <a:avLst/>
          </a:prstGeom>
          <a:noFill/>
          <a:ln w="28575">
            <a:solidFill>
              <a:srgbClr val="2A9D8F"/>
            </a:solidFill>
            <a:prstDash val="solid"/>
          </a:ln>
        </p:spPr>
      </p:sp>
      <p:sp>
        <p:nvSpPr>
          <p:cNvPr id="1082882288" name=""/>
          <p:cNvSpPr>
            <a:spLocks noGrp="1"/>
          </p:cNvSpPr>
          <p:nvPr/>
        </p:nvSpPr>
        <p:spPr bwMode="auto">
          <a:xfrm>
            <a:off x="609600" y="6477000"/>
            <a:ext cx="10972800" cy="9525"/>
          </a:xfrm>
          <a:prstGeom prst="line">
            <a:avLst/>
          </a:prstGeom>
          <a:noFill/>
          <a:ln w="9525">
            <a:solidFill>
              <a:srgbClr val="D9E2EC"/>
            </a:solidFill>
            <a:prstDash val="solid"/>
          </a:ln>
        </p:spPr>
      </p:sp>
      <p:sp>
        <p:nvSpPr>
          <p:cNvPr id="1630526337"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198161900"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15 / 16</a:t>
            </a:r>
            <a:endParaRPr/>
          </a:p>
        </p:txBody>
      </p:sp>
      <p:sp>
        <p:nvSpPr>
          <p:cNvPr id="1824947636" name=""/>
          <p:cNvSpPr>
            <a:spLocks noGrp="1"/>
          </p:cNvSpPr>
          <p:nvPr/>
        </p:nvSpPr>
        <p:spPr bwMode="auto">
          <a:xfrm>
            <a:off x="742950" y="1447800"/>
            <a:ext cx="5105400" cy="3848100"/>
          </a:xfrm>
          <a:prstGeom prst="roundRect">
            <a:avLst>
              <a:gd name="adj" fmla="val 1980"/>
            </a:avLst>
          </a:prstGeom>
          <a:solidFill>
            <a:srgbClr val="E8F5F3"/>
          </a:solidFill>
          <a:ln w="19050">
            <a:solidFill>
              <a:srgbClr val="2A9D8F"/>
            </a:solidFill>
            <a:prstDash val="solid"/>
          </a:ln>
        </p:spPr>
      </p:sp>
      <p:sp>
        <p:nvSpPr>
          <p:cNvPr id="877797580" name=""/>
          <p:cNvSpPr>
            <a:spLocks noGrp="1"/>
          </p:cNvSpPr>
          <p:nvPr/>
        </p:nvSpPr>
        <p:spPr bwMode="auto">
          <a:xfrm>
            <a:off x="6343650" y="1447800"/>
            <a:ext cx="5105400" cy="3848100"/>
          </a:xfrm>
          <a:prstGeom prst="roundRect">
            <a:avLst>
              <a:gd name="adj" fmla="val 1980"/>
            </a:avLst>
          </a:prstGeom>
          <a:solidFill>
            <a:srgbClr val="FCEEEA"/>
          </a:solidFill>
          <a:ln w="19050">
            <a:solidFill>
              <a:srgbClr val="E76F51"/>
            </a:solidFill>
            <a:prstDash val="solid"/>
          </a:ln>
        </p:spPr>
      </p:sp>
      <p:sp>
        <p:nvSpPr>
          <p:cNvPr id="63240301" name=""/>
          <p:cNvSpPr>
            <a:spLocks noGrp="1"/>
          </p:cNvSpPr>
          <p:nvPr/>
        </p:nvSpPr>
        <p:spPr bwMode="auto">
          <a:xfrm>
            <a:off x="1009650" y="1695450"/>
            <a:ext cx="4572000" cy="4953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2A9D8F"/>
                </a:solidFill>
              </a:defRPr>
            </a:pPr>
            <a:r>
              <a:rPr sz="1950" b="1" i="0">
                <a:solidFill>
                  <a:srgbClr val="2A9D8F"/>
                </a:solidFill>
              </a:rPr>
              <a:t>Current results</a:t>
            </a:r>
            <a:endParaRPr/>
          </a:p>
        </p:txBody>
      </p:sp>
      <p:sp>
        <p:nvSpPr>
          <p:cNvPr id="1402026340" name=""/>
          <p:cNvSpPr>
            <a:spLocks noGrp="1"/>
          </p:cNvSpPr>
          <p:nvPr/>
        </p:nvSpPr>
        <p:spPr bwMode="auto">
          <a:xfrm>
            <a:off x="6610350" y="1695450"/>
            <a:ext cx="4572000" cy="4953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E76F51"/>
                </a:solidFill>
              </a:defRPr>
            </a:pPr>
            <a:r>
              <a:rPr sz="1950" b="1" i="0">
                <a:solidFill>
                  <a:srgbClr val="E76F51"/>
                </a:solidFill>
              </a:rPr>
              <a:t>Main limits</a:t>
            </a:r>
            <a:endParaRPr/>
          </a:p>
        </p:txBody>
      </p:sp>
      <p:sp>
        <p:nvSpPr>
          <p:cNvPr id="10368227" name=""/>
          <p:cNvSpPr>
            <a:spLocks noGrp="1"/>
          </p:cNvSpPr>
          <p:nvPr/>
        </p:nvSpPr>
        <p:spPr bwMode="auto">
          <a:xfrm>
            <a:off x="1066800" y="2647949"/>
            <a:ext cx="95250" cy="95250"/>
          </a:xfrm>
          <a:prstGeom prst="ellipse">
            <a:avLst/>
          </a:prstGeom>
          <a:solidFill>
            <a:srgbClr val="2A9D8F"/>
          </a:solidFill>
          <a:ln w="0">
            <a:solidFill>
              <a:srgbClr val="2A9D8F"/>
            </a:solidFill>
            <a:prstDash val="solid"/>
          </a:ln>
        </p:spPr>
      </p:sp>
      <p:sp>
        <p:nvSpPr>
          <p:cNvPr id="1312828343" name=""/>
          <p:cNvSpPr>
            <a:spLocks noGrp="1"/>
          </p:cNvSpPr>
          <p:nvPr/>
        </p:nvSpPr>
        <p:spPr bwMode="auto">
          <a:xfrm>
            <a:off x="1276350" y="2571750"/>
            <a:ext cx="4133850" cy="1238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650" b="0" i="0">
                <a:solidFill>
                  <a:srgbClr val="243B53"/>
                </a:solidFill>
              </a:defRPr>
            </a:pPr>
            <a:r>
              <a:rPr sz="1650" b="0" i="0">
                <a:solidFill>
                  <a:srgbClr val="243B53"/>
                </a:solidFill>
              </a:rPr>
              <a:t>Executable reconstruction with output recovered from maintained state</a:t>
            </a:r>
            <a:endParaRPr/>
          </a:p>
        </p:txBody>
      </p:sp>
      <p:sp>
        <p:nvSpPr>
          <p:cNvPr id="816274413" name=""/>
          <p:cNvSpPr>
            <a:spLocks noGrp="1"/>
          </p:cNvSpPr>
          <p:nvPr/>
        </p:nvSpPr>
        <p:spPr bwMode="auto">
          <a:xfrm>
            <a:off x="1066800" y="3905250"/>
            <a:ext cx="95250" cy="95250"/>
          </a:xfrm>
          <a:prstGeom prst="ellipse">
            <a:avLst/>
          </a:prstGeom>
          <a:solidFill>
            <a:srgbClr val="2A9D8F"/>
          </a:solidFill>
          <a:ln w="0">
            <a:solidFill>
              <a:srgbClr val="2A9D8F"/>
            </a:solidFill>
            <a:prstDash val="solid"/>
          </a:ln>
        </p:spPr>
      </p:sp>
      <p:sp>
        <p:nvSpPr>
          <p:cNvPr id="1973750910" name=""/>
          <p:cNvSpPr>
            <a:spLocks noGrp="1"/>
          </p:cNvSpPr>
          <p:nvPr/>
        </p:nvSpPr>
        <p:spPr bwMode="auto">
          <a:xfrm>
            <a:off x="1276350" y="3829050"/>
            <a:ext cx="4133850" cy="1238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650" b="0" i="0">
                <a:solidFill>
                  <a:srgbClr val="243B53"/>
                </a:solidFill>
              </a:defRPr>
            </a:pPr>
            <a:r>
              <a:rPr sz="1650" b="0" i="0">
                <a:solidFill>
                  <a:srgbClr val="243B53"/>
                </a:solidFill>
              </a:rPr>
              <a:t>Correct outputs and a recorded runtime trend for the evaluated cases</a:t>
            </a:r>
            <a:endParaRPr/>
          </a:p>
        </p:txBody>
      </p:sp>
      <p:sp>
        <p:nvSpPr>
          <p:cNvPr id="255191637" name=""/>
          <p:cNvSpPr>
            <a:spLocks noGrp="1"/>
          </p:cNvSpPr>
          <p:nvPr/>
        </p:nvSpPr>
        <p:spPr bwMode="auto">
          <a:xfrm>
            <a:off x="6667500" y="2647949"/>
            <a:ext cx="95250" cy="95250"/>
          </a:xfrm>
          <a:prstGeom prst="ellipse">
            <a:avLst/>
          </a:prstGeom>
          <a:solidFill>
            <a:srgbClr val="E76F51"/>
          </a:solidFill>
          <a:ln w="0">
            <a:solidFill>
              <a:srgbClr val="E76F51"/>
            </a:solidFill>
            <a:prstDash val="solid"/>
          </a:ln>
        </p:spPr>
      </p:sp>
      <p:sp>
        <p:nvSpPr>
          <p:cNvPr id="1196114311" name=""/>
          <p:cNvSpPr>
            <a:spLocks noGrp="1"/>
          </p:cNvSpPr>
          <p:nvPr/>
        </p:nvSpPr>
        <p:spPr bwMode="auto">
          <a:xfrm>
            <a:off x="6877050" y="2571750"/>
            <a:ext cx="4133850" cy="1238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650" b="0" i="0">
                <a:solidFill>
                  <a:srgbClr val="243B53"/>
                </a:solidFill>
              </a:defRPr>
            </a:pPr>
            <a:r>
              <a:rPr sz="1650" b="0" i="0">
                <a:solidFill>
                  <a:srgbClr val="243B53"/>
                </a:solidFill>
              </a:rPr>
              <a:t>Ordinary lists do not establish a linear-time implementation</a:t>
            </a:r>
            <a:endParaRPr/>
          </a:p>
        </p:txBody>
      </p:sp>
      <p:sp>
        <p:nvSpPr>
          <p:cNvPr id="1988752601" name=""/>
          <p:cNvSpPr>
            <a:spLocks noGrp="1"/>
          </p:cNvSpPr>
          <p:nvPr/>
        </p:nvSpPr>
        <p:spPr bwMode="auto">
          <a:xfrm>
            <a:off x="6667500" y="3905250"/>
            <a:ext cx="95250" cy="95250"/>
          </a:xfrm>
          <a:prstGeom prst="ellipse">
            <a:avLst/>
          </a:prstGeom>
          <a:solidFill>
            <a:srgbClr val="E76F51"/>
          </a:solidFill>
          <a:ln w="0">
            <a:solidFill>
              <a:srgbClr val="E76F51"/>
            </a:solidFill>
            <a:prstDash val="solid"/>
          </a:ln>
        </p:spPr>
      </p:sp>
      <p:sp>
        <p:nvSpPr>
          <p:cNvPr id="1421404518" name=""/>
          <p:cNvSpPr>
            <a:spLocks noGrp="1"/>
          </p:cNvSpPr>
          <p:nvPr/>
        </p:nvSpPr>
        <p:spPr bwMode="auto">
          <a:xfrm>
            <a:off x="6877050" y="3829050"/>
            <a:ext cx="4133850" cy="1238250"/>
          </a:xfrm>
          <a:prstGeom prst="rect">
            <a:avLst/>
          </a:prstGeom>
          <a:noFill/>
          <a:ln w="0">
            <a:noFill/>
            <a:prstDash val="solid"/>
          </a:ln>
        </p:spPr>
        <p:txBody>
          <a:bodyPr wrap="square" lIns="38100" tIns="19050" rIns="38100" bIns="19050" anchor="ctr">
            <a:normAutofit fontScale="100000"/>
          </a:bodyPr>
          <a:lstStyle/>
          <a:p>
            <a:pPr algn="l">
              <a:lnSpc>
                <a:spcPct val="100000"/>
              </a:lnSpc>
              <a:buNone/>
              <a:defRPr sz="1650" b="0" i="0">
                <a:solidFill>
                  <a:srgbClr val="243B53"/>
                </a:solidFill>
              </a:defRPr>
            </a:pPr>
            <a:r>
              <a:rPr sz="1650" b="0" i="0">
                <a:solidFill>
                  <a:srgbClr val="243B53"/>
                </a:solidFill>
              </a:rPr>
              <a:t>Five tested sizes do not establish asymptotic complexity</a:t>
            </a:r>
            <a:endParaRPr/>
          </a:p>
        </p:txBody>
      </p:sp>
      <p:sp>
        <p:nvSpPr>
          <p:cNvPr id="1299190191" name=""/>
          <p:cNvSpPr>
            <a:spLocks noGrp="1"/>
          </p:cNvSpPr>
          <p:nvPr/>
        </p:nvSpPr>
        <p:spPr bwMode="auto">
          <a:xfrm>
            <a:off x="1428750" y="5715000"/>
            <a:ext cx="933450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1" i="0">
                <a:solidFill>
                  <a:srgbClr val="102A43"/>
                </a:solidFill>
              </a:defRPr>
            </a:pPr>
            <a:r>
              <a:rPr sz="1500" b="1" i="0">
                <a:solidFill>
                  <a:srgbClr val="102A43"/>
                </a:solidFill>
              </a:rPr>
              <a:t>Recognition was not evaluated. Paper and reference use different timing scopes.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45431129"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2A9D8F"/>
                </a:solidFill>
              </a:defRPr>
            </a:pPr>
            <a:r>
              <a:rPr sz="900" b="1" i="0">
                <a:solidFill>
                  <a:srgbClr val="2A9D8F"/>
                </a:solidFill>
              </a:rPr>
              <a:t>NEXT STEP</a:t>
            </a:r>
            <a:endParaRPr/>
          </a:p>
        </p:txBody>
      </p:sp>
      <p:sp>
        <p:nvSpPr>
          <p:cNvPr id="412599512"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Possible next step: a finger-tree backend</a:t>
            </a:r>
            <a:endParaRPr/>
          </a:p>
        </p:txBody>
      </p:sp>
      <p:sp>
        <p:nvSpPr>
          <p:cNvPr id="1486370621" name=""/>
          <p:cNvSpPr>
            <a:spLocks noGrp="1"/>
          </p:cNvSpPr>
          <p:nvPr/>
        </p:nvSpPr>
        <p:spPr bwMode="auto">
          <a:xfrm>
            <a:off x="609600" y="1085850"/>
            <a:ext cx="10972800" cy="9525"/>
          </a:xfrm>
          <a:prstGeom prst="line">
            <a:avLst/>
          </a:prstGeom>
          <a:noFill/>
          <a:ln w="28575">
            <a:solidFill>
              <a:srgbClr val="2A9D8F"/>
            </a:solidFill>
            <a:prstDash val="solid"/>
          </a:ln>
        </p:spPr>
      </p:sp>
      <p:sp>
        <p:nvSpPr>
          <p:cNvPr id="1036754347" name=""/>
          <p:cNvSpPr>
            <a:spLocks noGrp="1"/>
          </p:cNvSpPr>
          <p:nvPr/>
        </p:nvSpPr>
        <p:spPr bwMode="auto">
          <a:xfrm>
            <a:off x="609600" y="6477000"/>
            <a:ext cx="10972800" cy="9525"/>
          </a:xfrm>
          <a:prstGeom prst="line">
            <a:avLst/>
          </a:prstGeom>
          <a:noFill/>
          <a:ln w="9525">
            <a:solidFill>
              <a:srgbClr val="D9E2EC"/>
            </a:solidFill>
            <a:prstDash val="solid"/>
          </a:ln>
        </p:spPr>
      </p:sp>
      <p:sp>
        <p:nvSpPr>
          <p:cNvPr id="849113037"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7B8794"/>
                </a:solidFill>
              </a:defRPr>
            </a:pPr>
            <a:r>
              <a:rPr sz="850" b="1" i="0">
                <a:solidFill>
                  <a:srgbClr val="7B8794"/>
                </a:solidFill>
              </a:rPr>
              <a:t>MASTER'S THESIS PROGRESS REPORT</a:t>
            </a:r>
            <a:endParaRPr/>
          </a:p>
        </p:txBody>
      </p:sp>
      <p:sp>
        <p:nvSpPr>
          <p:cNvPr id="2018599268"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16 / 16</a:t>
            </a:r>
            <a:endParaRPr/>
          </a:p>
        </p:txBody>
      </p:sp>
      <p:sp>
        <p:nvSpPr>
          <p:cNvPr id="1137892886" name=""/>
          <p:cNvSpPr>
            <a:spLocks noGrp="1"/>
          </p:cNvSpPr>
          <p:nvPr/>
        </p:nvSpPr>
        <p:spPr bwMode="auto">
          <a:xfrm>
            <a:off x="1066800" y="1485900"/>
            <a:ext cx="10058400" cy="5143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2100" b="1" i="0">
                <a:solidFill>
                  <a:srgbClr val="102A43"/>
                </a:solidFill>
              </a:defRPr>
            </a:pPr>
            <a:r>
              <a:rPr sz="2100" b="1" i="0">
                <a:solidFill>
                  <a:srgbClr val="102A43"/>
                </a:solidFill>
              </a:rPr>
              <a:t>The ordinary-list implementation provides a tested reference point.</a:t>
            </a:r>
            <a:endParaRPr/>
          </a:p>
        </p:txBody>
      </p:sp>
      <p:sp>
        <p:nvSpPr>
          <p:cNvPr id="1987979404" name=""/>
          <p:cNvSpPr>
            <a:spLocks noGrp="1"/>
          </p:cNvSpPr>
          <p:nvPr/>
        </p:nvSpPr>
        <p:spPr bwMode="auto">
          <a:xfrm>
            <a:off x="1638300" y="2324100"/>
            <a:ext cx="8915400" cy="952500"/>
          </a:xfrm>
          <a:prstGeom prst="roundRect">
            <a:avLst>
              <a:gd name="adj" fmla="val 8000"/>
            </a:avLst>
          </a:prstGeom>
          <a:solidFill>
            <a:srgbClr val="E8F5F3"/>
          </a:solidFill>
          <a:ln w="14288">
            <a:solidFill>
              <a:srgbClr val="2A9D8F"/>
            </a:solidFill>
            <a:prstDash val="solid"/>
          </a:ln>
        </p:spPr>
      </p:sp>
      <p:sp>
        <p:nvSpPr>
          <p:cNvPr id="1709749983" name=""/>
          <p:cNvSpPr>
            <a:spLocks noGrp="1"/>
          </p:cNvSpPr>
          <p:nvPr/>
        </p:nvSpPr>
        <p:spPr bwMode="auto">
          <a:xfrm>
            <a:off x="1943100" y="2552700"/>
            <a:ext cx="8305800" cy="514350"/>
          </a:xfrm>
          <a:prstGeom prst="rect">
            <a:avLst/>
          </a:prstGeom>
          <a:noFill/>
          <a:ln w="0">
            <a:noFill/>
            <a:prstDash val="solid"/>
          </a:ln>
        </p:spPr>
        <p:txBody>
          <a:bodyPr wrap="square" lIns="38100" tIns="19050" rIns="38100" bIns="19050" anchor="ctr">
            <a:normAutofit fontScale="82672"/>
          </a:bodyPr>
          <a:lstStyle/>
          <a:p>
            <a:pPr algn="ctr">
              <a:lnSpc>
                <a:spcPct val="105000"/>
              </a:lnSpc>
              <a:buNone/>
              <a:defRPr sz="1800" b="0" i="0">
                <a:solidFill>
                  <a:srgbClr val="243B53"/>
                </a:solidFill>
              </a:defRPr>
            </a:pPr>
            <a:r>
              <a:rPr sz="1800" b="0" i="0">
                <a:solidFill>
                  <a:srgbClr val="243B53"/>
                </a:solidFill>
              </a:rPr>
              <a:t>A new backend would keep the same Step 1/2/3 behavior while changing the sibling-list operations.</a:t>
            </a:r>
            <a:endParaRPr/>
          </a:p>
        </p:txBody>
      </p:sp>
      <p:sp>
        <p:nvSpPr>
          <p:cNvPr id="1761006603" name=""/>
          <p:cNvSpPr>
            <a:spLocks noGrp="1"/>
          </p:cNvSpPr>
          <p:nvPr/>
        </p:nvSpPr>
        <p:spPr bwMode="auto">
          <a:xfrm>
            <a:off x="1066800" y="3829050"/>
            <a:ext cx="10058400" cy="3619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00" b="1" i="0">
                <a:solidFill>
                  <a:srgbClr val="2A9D8F"/>
                </a:solidFill>
              </a:defRPr>
            </a:pPr>
            <a:r>
              <a:rPr sz="1900" b="1" i="0">
                <a:solidFill>
                  <a:srgbClr val="2A9D8F"/>
                </a:solidFill>
              </a:rPr>
              <a:t>Discussion with the supervisor</a:t>
            </a:r>
            <a:endParaRPr/>
          </a:p>
        </p:txBody>
      </p:sp>
      <p:sp>
        <p:nvSpPr>
          <p:cNvPr id="720231410" name=""/>
          <p:cNvSpPr>
            <a:spLocks noGrp="1"/>
          </p:cNvSpPr>
          <p:nvPr/>
        </p:nvSpPr>
        <p:spPr bwMode="auto">
          <a:xfrm>
            <a:off x="1066800" y="4343400"/>
            <a:ext cx="10058400" cy="1543050"/>
          </a:xfrm>
          <a:prstGeom prst="roundRect">
            <a:avLst>
              <a:gd name="adj" fmla="val 4938"/>
            </a:avLst>
          </a:prstGeom>
          <a:solidFill>
            <a:srgbClr val="102A43"/>
          </a:solidFill>
          <a:ln w="11430">
            <a:solidFill>
              <a:srgbClr val="102A43"/>
            </a:solidFill>
            <a:prstDash val="solid"/>
          </a:ln>
        </p:spPr>
      </p:sp>
      <p:sp>
        <p:nvSpPr>
          <p:cNvPr id="1617572224" name=""/>
          <p:cNvSpPr>
            <a:spLocks noGrp="1"/>
          </p:cNvSpPr>
          <p:nvPr/>
        </p:nvSpPr>
        <p:spPr bwMode="auto">
          <a:xfrm>
            <a:off x="1466849" y="4533900"/>
            <a:ext cx="9258300" cy="11620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800" b="0" i="0">
                <a:solidFill>
                  <a:srgbClr val="FFFFFF"/>
                </a:solidFill>
              </a:defRPr>
            </a:pPr>
            <a:r>
              <a:rPr sz="1800" b="0" i="0">
                <a:solidFill>
                  <a:srgbClr val="FFFFFF"/>
                </a:solidFill>
              </a:rPr>
              <a:t>1. Should I target the historical heterogeneous finger tree or an equivalent backend?</a:t>
            </a:r>
            <a:endParaRPr/>
          </a:p>
          <a:p>
            <a:pPr algn="l">
              <a:lnSpc>
                <a:spcPct val="105000"/>
              </a:lnSpc>
              <a:buNone/>
              <a:defRPr sz="1800" b="0" i="0">
                <a:solidFill>
                  <a:srgbClr val="FFFFFF"/>
                </a:solidFill>
              </a:defRPr>
            </a:pPr>
            <a:r>
              <a:rPr sz="1800" b="0" i="0">
                <a:solidFill>
                  <a:srgbClr val="FFFFFF"/>
                </a:solidFill>
              </a:rPr>
              <a:t>2. Is a tested, semantically equivalent prototype enough, or should I also prove the required amortized operation bounds?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286199260"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E76F51"/>
                </a:solidFill>
              </a:defRPr>
            </a:pPr>
            <a:r>
              <a:rPr sz="900" b="1" i="0">
                <a:solidFill>
                  <a:srgbClr val="E76F51"/>
                </a:solidFill>
              </a:rPr>
              <a:t>BACKUP A</a:t>
            </a:r>
            <a:endParaRPr/>
          </a:p>
        </p:txBody>
      </p:sp>
      <p:sp>
        <p:nvSpPr>
          <p:cNvPr id="2009045395"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Median runtime by size under the recorded call scopes</a:t>
            </a:r>
            <a:endParaRPr/>
          </a:p>
        </p:txBody>
      </p:sp>
      <p:sp>
        <p:nvSpPr>
          <p:cNvPr id="1681469086" name=""/>
          <p:cNvSpPr>
            <a:spLocks noGrp="1"/>
          </p:cNvSpPr>
          <p:nvPr/>
        </p:nvSpPr>
        <p:spPr bwMode="auto">
          <a:xfrm>
            <a:off x="609600" y="1085850"/>
            <a:ext cx="10972800" cy="9525"/>
          </a:xfrm>
          <a:prstGeom prst="line">
            <a:avLst/>
          </a:prstGeom>
          <a:noFill/>
          <a:ln w="28575">
            <a:solidFill>
              <a:srgbClr val="E76F51"/>
            </a:solidFill>
            <a:prstDash val="solid"/>
          </a:ln>
        </p:spPr>
      </p:sp>
      <p:sp>
        <p:nvSpPr>
          <p:cNvPr id="323203088" name=""/>
          <p:cNvSpPr>
            <a:spLocks noGrp="1"/>
          </p:cNvSpPr>
          <p:nvPr/>
        </p:nvSpPr>
        <p:spPr bwMode="auto">
          <a:xfrm>
            <a:off x="609600" y="6477000"/>
            <a:ext cx="10972800" cy="9525"/>
          </a:xfrm>
          <a:prstGeom prst="line">
            <a:avLst/>
          </a:prstGeom>
          <a:noFill/>
          <a:ln w="9525">
            <a:solidFill>
              <a:srgbClr val="D9E2EC"/>
            </a:solidFill>
            <a:prstDash val="solid"/>
          </a:ln>
        </p:spPr>
      </p:sp>
      <p:sp>
        <p:nvSpPr>
          <p:cNvPr id="259712216"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E76F51"/>
                </a:solidFill>
              </a:defRPr>
            </a:pPr>
            <a:r>
              <a:rPr sz="850" b="1" i="0">
                <a:solidFill>
                  <a:srgbClr val="E76F51"/>
                </a:solidFill>
              </a:rPr>
              <a:t>BACKUP</a:t>
            </a:r>
            <a:endParaRPr/>
          </a:p>
        </p:txBody>
      </p:sp>
      <p:sp>
        <p:nvSpPr>
          <p:cNvPr id="1084540032"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A</a:t>
            </a:r>
            <a:endParaRPr/>
          </a:p>
        </p:txBody>
      </p:sp>
      <p:pic>
        <p:nvPicPr>
          <p:cNvPr id="193731300" name=""/>
          <p:cNvPicPr>
            <a:picLocks noChangeAspect="1"/>
          </p:cNvPicPr>
          <p:nvPr/>
        </p:nvPicPr>
        <p:blipFill rotWithShape="1">
          <a:blip r:embed="rId3"/>
          <a:stretch/>
        </p:blipFill>
        <p:spPr bwMode="auto">
          <a:xfrm>
            <a:off x="628650" y="1749972"/>
            <a:ext cx="6858000" cy="3510455"/>
          </a:xfrm>
          <a:prstGeom prst="rect">
            <a:avLst/>
          </a:prstGeom>
        </p:spPr>
      </p:pic>
      <p:sp>
        <p:nvSpPr>
          <p:cNvPr id="83874004" name=""/>
          <p:cNvSpPr>
            <a:spLocks noGrp="1"/>
          </p:cNvSpPr>
          <p:nvPr/>
        </p:nvSpPr>
        <p:spPr bwMode="auto">
          <a:xfrm>
            <a:off x="628650" y="1562100"/>
            <a:ext cx="6858000" cy="476250"/>
          </a:xfrm>
          <a:prstGeom prst="rect">
            <a:avLst/>
          </a:prstGeom>
          <a:solidFill>
            <a:srgbClr val="FFFFFF"/>
          </a:solidFill>
          <a:ln w="11430">
            <a:solidFill>
              <a:srgbClr val="FFFFFF"/>
            </a:solidFill>
            <a:prstDash val="solid"/>
          </a:ln>
        </p:spPr>
      </p:sp>
      <p:sp>
        <p:nvSpPr>
          <p:cNvPr id="1717880437" name=""/>
          <p:cNvSpPr>
            <a:spLocks noGrp="1"/>
          </p:cNvSpPr>
          <p:nvPr/>
        </p:nvSpPr>
        <p:spPr bwMode="auto">
          <a:xfrm>
            <a:off x="6000750" y="2057400"/>
            <a:ext cx="1447800" cy="1123950"/>
          </a:xfrm>
          <a:prstGeom prst="rect">
            <a:avLst/>
          </a:prstGeom>
          <a:solidFill>
            <a:srgbClr val="FFFFFF"/>
          </a:solidFill>
          <a:ln w="11430">
            <a:solidFill>
              <a:srgbClr val="FFFFFF"/>
            </a:solidFill>
            <a:prstDash val="solid"/>
          </a:ln>
        </p:spPr>
      </p:sp>
      <p:sp>
        <p:nvSpPr>
          <p:cNvPr id="1770776241" name=""/>
          <p:cNvSpPr>
            <a:spLocks noGrp="1"/>
          </p:cNvSpPr>
          <p:nvPr/>
        </p:nvSpPr>
        <p:spPr bwMode="auto">
          <a:xfrm>
            <a:off x="6153149" y="2266950"/>
            <a:ext cx="228600" cy="9525"/>
          </a:xfrm>
          <a:prstGeom prst="line">
            <a:avLst/>
          </a:prstGeom>
          <a:noFill/>
          <a:ln w="28575">
            <a:solidFill>
              <a:srgbClr val="1F8A70"/>
            </a:solidFill>
            <a:prstDash val="solid"/>
          </a:ln>
        </p:spPr>
      </p:sp>
      <p:sp>
        <p:nvSpPr>
          <p:cNvPr id="1679806789" name=""/>
          <p:cNvSpPr>
            <a:spLocks noGrp="1"/>
          </p:cNvSpPr>
          <p:nvPr/>
        </p:nvSpPr>
        <p:spPr bwMode="auto">
          <a:xfrm>
            <a:off x="6477000" y="2143125"/>
            <a:ext cx="895350" cy="2667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000" b="0" i="0">
                <a:solidFill>
                  <a:srgbClr val="243B53"/>
                </a:solidFill>
              </a:defRPr>
            </a:pPr>
            <a:r>
              <a:rPr sz="1000" b="0" i="0">
                <a:solidFill>
                  <a:srgbClr val="243B53"/>
                </a:solidFill>
              </a:rPr>
              <a:t>Python sort</a:t>
            </a:r>
            <a:endParaRPr/>
          </a:p>
        </p:txBody>
      </p:sp>
      <p:sp>
        <p:nvSpPr>
          <p:cNvPr id="1890087485" name=""/>
          <p:cNvSpPr>
            <a:spLocks noGrp="1"/>
          </p:cNvSpPr>
          <p:nvPr/>
        </p:nvSpPr>
        <p:spPr bwMode="auto">
          <a:xfrm>
            <a:off x="6153149" y="2609850"/>
            <a:ext cx="228600" cy="9525"/>
          </a:xfrm>
          <a:prstGeom prst="line">
            <a:avLst/>
          </a:prstGeom>
          <a:noFill/>
          <a:ln w="28575">
            <a:solidFill>
              <a:srgbClr val="2E75B6"/>
            </a:solidFill>
            <a:prstDash val="solid"/>
          </a:ln>
        </p:spPr>
      </p:sp>
      <p:sp>
        <p:nvSpPr>
          <p:cNvPr id="150502405" name=""/>
          <p:cNvSpPr>
            <a:spLocks noGrp="1"/>
          </p:cNvSpPr>
          <p:nvPr/>
        </p:nvSpPr>
        <p:spPr bwMode="auto">
          <a:xfrm>
            <a:off x="6477000" y="2486025"/>
            <a:ext cx="933450" cy="266700"/>
          </a:xfrm>
          <a:prstGeom prst="rect">
            <a:avLst/>
          </a:prstGeom>
          <a:noFill/>
          <a:ln w="0">
            <a:noFill/>
            <a:prstDash val="solid"/>
          </a:ln>
        </p:spPr>
        <p:txBody>
          <a:bodyPr wrap="square" lIns="38100" tIns="19050" rIns="38100" bIns="19050" anchor="ctr">
            <a:normAutofit fontScale="83681"/>
          </a:bodyPr>
          <a:lstStyle/>
          <a:p>
            <a:pPr algn="l">
              <a:lnSpc>
                <a:spcPct val="105000"/>
              </a:lnSpc>
              <a:buNone/>
              <a:defRPr sz="1000" b="0" i="0">
                <a:solidFill>
                  <a:srgbClr val="243B53"/>
                </a:solidFill>
              </a:defRPr>
            </a:pPr>
            <a:r>
              <a:rPr sz="1000" b="0" i="0">
                <a:solidFill>
                  <a:srgbClr val="243B53"/>
                </a:solidFill>
              </a:rPr>
              <a:t>Reference pipeline</a:t>
            </a:r>
            <a:endParaRPr/>
          </a:p>
        </p:txBody>
      </p:sp>
      <p:sp>
        <p:nvSpPr>
          <p:cNvPr id="1510222387" name=""/>
          <p:cNvSpPr>
            <a:spLocks noGrp="1"/>
          </p:cNvSpPr>
          <p:nvPr/>
        </p:nvSpPr>
        <p:spPr bwMode="auto">
          <a:xfrm>
            <a:off x="6153149" y="2952750"/>
            <a:ext cx="228600" cy="9525"/>
          </a:xfrm>
          <a:prstGeom prst="line">
            <a:avLst/>
          </a:prstGeom>
          <a:noFill/>
          <a:ln w="28575">
            <a:solidFill>
              <a:srgbClr val="E76F51"/>
            </a:solidFill>
            <a:prstDash val="solid"/>
          </a:ln>
        </p:spPr>
      </p:sp>
      <p:sp>
        <p:nvSpPr>
          <p:cNvPr id="1242056982" name=""/>
          <p:cNvSpPr>
            <a:spLocks noGrp="1"/>
          </p:cNvSpPr>
          <p:nvPr/>
        </p:nvSpPr>
        <p:spPr bwMode="auto">
          <a:xfrm>
            <a:off x="6477000" y="2828925"/>
            <a:ext cx="933450" cy="304800"/>
          </a:xfrm>
          <a:prstGeom prst="rect">
            <a:avLst/>
          </a:prstGeom>
          <a:noFill/>
          <a:ln w="0">
            <a:noFill/>
            <a:prstDash val="solid"/>
          </a:ln>
        </p:spPr>
        <p:txBody>
          <a:bodyPr wrap="square" lIns="38100" tIns="19050" rIns="38100" bIns="19050" anchor="ctr">
            <a:normAutofit fontScale="92593"/>
          </a:bodyPr>
          <a:lstStyle/>
          <a:p>
            <a:pPr algn="l">
              <a:lnSpc>
                <a:spcPct val="105000"/>
              </a:lnSpc>
              <a:buNone/>
              <a:defRPr sz="900" b="0" i="0">
                <a:solidFill>
                  <a:srgbClr val="243B53"/>
                </a:solidFill>
              </a:defRPr>
            </a:pPr>
            <a:r>
              <a:rPr sz="900" b="0" i="0">
                <a:solidFill>
                  <a:srgbClr val="243B53"/>
                </a:solidFill>
              </a:rPr>
              <a:t>Paper ordinary-list core</a:t>
            </a:r>
            <a:endParaRPr/>
          </a:p>
        </p:txBody>
      </p:sp>
      <p:sp>
        <p:nvSpPr>
          <p:cNvPr id="1759061820" name=""/>
          <p:cNvSpPr>
            <a:spLocks noGrp="1"/>
          </p:cNvSpPr>
          <p:nvPr/>
        </p:nvSpPr>
        <p:spPr bwMode="auto">
          <a:xfrm>
            <a:off x="7772400" y="1638300"/>
            <a:ext cx="666750" cy="523875"/>
          </a:xfrm>
          <a:prstGeom prst="rect">
            <a:avLst/>
          </a:prstGeom>
          <a:solidFill>
            <a:srgbClr val="102A43"/>
          </a:solidFill>
          <a:ln w="11430">
            <a:solidFill>
              <a:srgbClr val="D9E2EC"/>
            </a:solidFill>
            <a:prstDash val="solid"/>
          </a:ln>
        </p:spPr>
      </p:sp>
      <p:sp>
        <p:nvSpPr>
          <p:cNvPr id="1103543322" name=""/>
          <p:cNvSpPr>
            <a:spLocks noGrp="1"/>
          </p:cNvSpPr>
          <p:nvPr/>
        </p:nvSpPr>
        <p:spPr bwMode="auto">
          <a:xfrm>
            <a:off x="7791450" y="1676400"/>
            <a:ext cx="62865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050" b="1" i="0">
                <a:solidFill>
                  <a:srgbClr val="FFFFFF"/>
                </a:solidFill>
              </a:defRPr>
            </a:pPr>
            <a:r>
              <a:rPr sz="1050" b="1" i="0">
                <a:solidFill>
                  <a:srgbClr val="FFFFFF"/>
                </a:solidFill>
              </a:rPr>
              <a:t>n</a:t>
            </a:r>
            <a:endParaRPr/>
          </a:p>
        </p:txBody>
      </p:sp>
      <p:sp>
        <p:nvSpPr>
          <p:cNvPr id="1272319658" name=""/>
          <p:cNvSpPr>
            <a:spLocks noGrp="1"/>
          </p:cNvSpPr>
          <p:nvPr/>
        </p:nvSpPr>
        <p:spPr bwMode="auto">
          <a:xfrm>
            <a:off x="8439150" y="1638300"/>
            <a:ext cx="1066800" cy="523875"/>
          </a:xfrm>
          <a:prstGeom prst="rect">
            <a:avLst/>
          </a:prstGeom>
          <a:solidFill>
            <a:srgbClr val="102A43"/>
          </a:solidFill>
          <a:ln w="11430">
            <a:solidFill>
              <a:srgbClr val="D9E2EC"/>
            </a:solidFill>
            <a:prstDash val="solid"/>
          </a:ln>
        </p:spPr>
      </p:sp>
      <p:sp>
        <p:nvSpPr>
          <p:cNvPr id="2010655456" name=""/>
          <p:cNvSpPr>
            <a:spLocks noGrp="1"/>
          </p:cNvSpPr>
          <p:nvPr/>
        </p:nvSpPr>
        <p:spPr bwMode="auto">
          <a:xfrm>
            <a:off x="8458200" y="1676400"/>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050" b="1" i="0">
                <a:solidFill>
                  <a:srgbClr val="FFFFFF"/>
                </a:solidFill>
              </a:defRPr>
            </a:pPr>
            <a:r>
              <a:rPr sz="1050" b="1" i="0">
                <a:solidFill>
                  <a:srgbClr val="FFFFFF"/>
                </a:solidFill>
              </a:rPr>
              <a:t>Python (ms)</a:t>
            </a:r>
            <a:endParaRPr/>
          </a:p>
        </p:txBody>
      </p:sp>
      <p:sp>
        <p:nvSpPr>
          <p:cNvPr id="1958709903" name=""/>
          <p:cNvSpPr>
            <a:spLocks noGrp="1"/>
          </p:cNvSpPr>
          <p:nvPr/>
        </p:nvSpPr>
        <p:spPr bwMode="auto">
          <a:xfrm>
            <a:off x="9505950" y="1638300"/>
            <a:ext cx="1219200" cy="523875"/>
          </a:xfrm>
          <a:prstGeom prst="rect">
            <a:avLst/>
          </a:prstGeom>
          <a:solidFill>
            <a:srgbClr val="102A43"/>
          </a:solidFill>
          <a:ln w="11430">
            <a:solidFill>
              <a:srgbClr val="D9E2EC"/>
            </a:solidFill>
            <a:prstDash val="solid"/>
          </a:ln>
        </p:spPr>
      </p:sp>
      <p:sp>
        <p:nvSpPr>
          <p:cNvPr id="1006466463" name=""/>
          <p:cNvSpPr>
            <a:spLocks noGrp="1"/>
          </p:cNvSpPr>
          <p:nvPr/>
        </p:nvSpPr>
        <p:spPr bwMode="auto">
          <a:xfrm>
            <a:off x="9525000" y="1676400"/>
            <a:ext cx="1181099"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050" b="1" i="0">
                <a:solidFill>
                  <a:srgbClr val="FFFFFF"/>
                </a:solidFill>
              </a:defRPr>
            </a:pPr>
            <a:r>
              <a:rPr sz="1050" b="1" i="0">
                <a:solidFill>
                  <a:srgbClr val="FFFFFF"/>
                </a:solidFill>
              </a:rPr>
              <a:t>Reference (ms)</a:t>
            </a:r>
            <a:endParaRPr/>
          </a:p>
        </p:txBody>
      </p:sp>
      <p:sp>
        <p:nvSpPr>
          <p:cNvPr id="1185149171" name=""/>
          <p:cNvSpPr>
            <a:spLocks noGrp="1"/>
          </p:cNvSpPr>
          <p:nvPr/>
        </p:nvSpPr>
        <p:spPr bwMode="auto">
          <a:xfrm>
            <a:off x="10725150" y="1638300"/>
            <a:ext cx="1066800" cy="523875"/>
          </a:xfrm>
          <a:prstGeom prst="rect">
            <a:avLst/>
          </a:prstGeom>
          <a:solidFill>
            <a:srgbClr val="102A43"/>
          </a:solidFill>
          <a:ln w="11430">
            <a:solidFill>
              <a:srgbClr val="D9E2EC"/>
            </a:solidFill>
            <a:prstDash val="solid"/>
          </a:ln>
        </p:spPr>
      </p:sp>
      <p:sp>
        <p:nvSpPr>
          <p:cNvPr id="1609619046" name=""/>
          <p:cNvSpPr>
            <a:spLocks noGrp="1"/>
          </p:cNvSpPr>
          <p:nvPr/>
        </p:nvSpPr>
        <p:spPr bwMode="auto">
          <a:xfrm>
            <a:off x="10744200" y="1676400"/>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050" b="1" i="0">
                <a:solidFill>
                  <a:srgbClr val="FFFFFF"/>
                </a:solidFill>
              </a:defRPr>
            </a:pPr>
            <a:r>
              <a:rPr sz="1050" b="1" i="0">
                <a:solidFill>
                  <a:srgbClr val="FFFFFF"/>
                </a:solidFill>
              </a:rPr>
              <a:t>Paper (ms)</a:t>
            </a:r>
            <a:endParaRPr/>
          </a:p>
        </p:txBody>
      </p:sp>
      <p:sp>
        <p:nvSpPr>
          <p:cNvPr id="1313889158" name=""/>
          <p:cNvSpPr>
            <a:spLocks noGrp="1"/>
          </p:cNvSpPr>
          <p:nvPr/>
        </p:nvSpPr>
        <p:spPr bwMode="auto">
          <a:xfrm>
            <a:off x="7772400" y="2162175"/>
            <a:ext cx="666750" cy="523875"/>
          </a:xfrm>
          <a:prstGeom prst="rect">
            <a:avLst/>
          </a:prstGeom>
          <a:solidFill>
            <a:srgbClr val="FFFFFF"/>
          </a:solidFill>
          <a:ln w="11430">
            <a:solidFill>
              <a:srgbClr val="D9E2EC"/>
            </a:solidFill>
            <a:prstDash val="solid"/>
          </a:ln>
        </p:spPr>
      </p:sp>
      <p:sp>
        <p:nvSpPr>
          <p:cNvPr id="277697982" name=""/>
          <p:cNvSpPr>
            <a:spLocks noGrp="1"/>
          </p:cNvSpPr>
          <p:nvPr/>
        </p:nvSpPr>
        <p:spPr bwMode="auto">
          <a:xfrm>
            <a:off x="7791450" y="2200275"/>
            <a:ext cx="62865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32</a:t>
            </a:r>
            <a:endParaRPr/>
          </a:p>
        </p:txBody>
      </p:sp>
      <p:sp>
        <p:nvSpPr>
          <p:cNvPr id="2100049534" name=""/>
          <p:cNvSpPr>
            <a:spLocks noGrp="1"/>
          </p:cNvSpPr>
          <p:nvPr/>
        </p:nvSpPr>
        <p:spPr bwMode="auto">
          <a:xfrm>
            <a:off x="8439150" y="2162175"/>
            <a:ext cx="1066800" cy="523875"/>
          </a:xfrm>
          <a:prstGeom prst="rect">
            <a:avLst/>
          </a:prstGeom>
          <a:solidFill>
            <a:srgbClr val="FFFFFF"/>
          </a:solidFill>
          <a:ln w="11430">
            <a:solidFill>
              <a:srgbClr val="D9E2EC"/>
            </a:solidFill>
            <a:prstDash val="solid"/>
          </a:ln>
        </p:spPr>
      </p:sp>
      <p:sp>
        <p:nvSpPr>
          <p:cNvPr id="560075414" name=""/>
          <p:cNvSpPr>
            <a:spLocks noGrp="1"/>
          </p:cNvSpPr>
          <p:nvPr/>
        </p:nvSpPr>
        <p:spPr bwMode="auto">
          <a:xfrm>
            <a:off x="8458200" y="2200275"/>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0.000791</a:t>
            </a:r>
            <a:endParaRPr/>
          </a:p>
        </p:txBody>
      </p:sp>
      <p:sp>
        <p:nvSpPr>
          <p:cNvPr id="1417478726" name=""/>
          <p:cNvSpPr>
            <a:spLocks noGrp="1"/>
          </p:cNvSpPr>
          <p:nvPr/>
        </p:nvSpPr>
        <p:spPr bwMode="auto">
          <a:xfrm>
            <a:off x="9505950" y="2162175"/>
            <a:ext cx="1219200" cy="523875"/>
          </a:xfrm>
          <a:prstGeom prst="rect">
            <a:avLst/>
          </a:prstGeom>
          <a:solidFill>
            <a:srgbClr val="FFFFFF"/>
          </a:solidFill>
          <a:ln w="11430">
            <a:solidFill>
              <a:srgbClr val="D9E2EC"/>
            </a:solidFill>
            <a:prstDash val="solid"/>
          </a:ln>
        </p:spPr>
      </p:sp>
      <p:sp>
        <p:nvSpPr>
          <p:cNvPr id="630188387" name=""/>
          <p:cNvSpPr>
            <a:spLocks noGrp="1"/>
          </p:cNvSpPr>
          <p:nvPr/>
        </p:nvSpPr>
        <p:spPr bwMode="auto">
          <a:xfrm>
            <a:off x="9525000" y="2200275"/>
            <a:ext cx="1181099"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0.181177</a:t>
            </a:r>
            <a:endParaRPr/>
          </a:p>
        </p:txBody>
      </p:sp>
      <p:sp>
        <p:nvSpPr>
          <p:cNvPr id="1571464021" name=""/>
          <p:cNvSpPr>
            <a:spLocks noGrp="1"/>
          </p:cNvSpPr>
          <p:nvPr/>
        </p:nvSpPr>
        <p:spPr bwMode="auto">
          <a:xfrm>
            <a:off x="10725150" y="2162175"/>
            <a:ext cx="1066800" cy="523875"/>
          </a:xfrm>
          <a:prstGeom prst="rect">
            <a:avLst/>
          </a:prstGeom>
          <a:solidFill>
            <a:srgbClr val="FFFFFF"/>
          </a:solidFill>
          <a:ln w="11430">
            <a:solidFill>
              <a:srgbClr val="D9E2EC"/>
            </a:solidFill>
            <a:prstDash val="solid"/>
          </a:ln>
        </p:spPr>
      </p:sp>
      <p:sp>
        <p:nvSpPr>
          <p:cNvPr id="875027409" name=""/>
          <p:cNvSpPr>
            <a:spLocks noGrp="1"/>
          </p:cNvSpPr>
          <p:nvPr/>
        </p:nvSpPr>
        <p:spPr bwMode="auto">
          <a:xfrm>
            <a:off x="10744200" y="2200275"/>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0.586906</a:t>
            </a:r>
            <a:endParaRPr/>
          </a:p>
        </p:txBody>
      </p:sp>
      <p:sp>
        <p:nvSpPr>
          <p:cNvPr id="1616378722" name=""/>
          <p:cNvSpPr>
            <a:spLocks noGrp="1"/>
          </p:cNvSpPr>
          <p:nvPr/>
        </p:nvSpPr>
        <p:spPr bwMode="auto">
          <a:xfrm>
            <a:off x="7772400" y="2686050"/>
            <a:ext cx="666750" cy="523875"/>
          </a:xfrm>
          <a:prstGeom prst="rect">
            <a:avLst/>
          </a:prstGeom>
          <a:solidFill>
            <a:srgbClr val="EAF1F8"/>
          </a:solidFill>
          <a:ln w="11430">
            <a:solidFill>
              <a:srgbClr val="D9E2EC"/>
            </a:solidFill>
            <a:prstDash val="solid"/>
          </a:ln>
        </p:spPr>
      </p:sp>
      <p:sp>
        <p:nvSpPr>
          <p:cNvPr id="1574713402" name=""/>
          <p:cNvSpPr>
            <a:spLocks noGrp="1"/>
          </p:cNvSpPr>
          <p:nvPr/>
        </p:nvSpPr>
        <p:spPr bwMode="auto">
          <a:xfrm>
            <a:off x="7791450" y="2724150"/>
            <a:ext cx="62865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64</a:t>
            </a:r>
            <a:endParaRPr/>
          </a:p>
        </p:txBody>
      </p:sp>
      <p:sp>
        <p:nvSpPr>
          <p:cNvPr id="948363961" name=""/>
          <p:cNvSpPr>
            <a:spLocks noGrp="1"/>
          </p:cNvSpPr>
          <p:nvPr/>
        </p:nvSpPr>
        <p:spPr bwMode="auto">
          <a:xfrm>
            <a:off x="8439150" y="2686050"/>
            <a:ext cx="1066800" cy="523875"/>
          </a:xfrm>
          <a:prstGeom prst="rect">
            <a:avLst/>
          </a:prstGeom>
          <a:solidFill>
            <a:srgbClr val="EAF1F8"/>
          </a:solidFill>
          <a:ln w="11430">
            <a:solidFill>
              <a:srgbClr val="D9E2EC"/>
            </a:solidFill>
            <a:prstDash val="solid"/>
          </a:ln>
        </p:spPr>
      </p:sp>
      <p:sp>
        <p:nvSpPr>
          <p:cNvPr id="934006447" name=""/>
          <p:cNvSpPr>
            <a:spLocks noGrp="1"/>
          </p:cNvSpPr>
          <p:nvPr/>
        </p:nvSpPr>
        <p:spPr bwMode="auto">
          <a:xfrm>
            <a:off x="8458200" y="2724150"/>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0.001417</a:t>
            </a:r>
            <a:endParaRPr/>
          </a:p>
        </p:txBody>
      </p:sp>
      <p:sp>
        <p:nvSpPr>
          <p:cNvPr id="1519625465" name=""/>
          <p:cNvSpPr>
            <a:spLocks noGrp="1"/>
          </p:cNvSpPr>
          <p:nvPr/>
        </p:nvSpPr>
        <p:spPr bwMode="auto">
          <a:xfrm>
            <a:off x="9505950" y="2686050"/>
            <a:ext cx="1219200" cy="523875"/>
          </a:xfrm>
          <a:prstGeom prst="rect">
            <a:avLst/>
          </a:prstGeom>
          <a:solidFill>
            <a:srgbClr val="EAF1F8"/>
          </a:solidFill>
          <a:ln w="11430">
            <a:solidFill>
              <a:srgbClr val="D9E2EC"/>
            </a:solidFill>
            <a:prstDash val="solid"/>
          </a:ln>
        </p:spPr>
      </p:sp>
      <p:sp>
        <p:nvSpPr>
          <p:cNvPr id="1635298435" name=""/>
          <p:cNvSpPr>
            <a:spLocks noGrp="1"/>
          </p:cNvSpPr>
          <p:nvPr/>
        </p:nvSpPr>
        <p:spPr bwMode="auto">
          <a:xfrm>
            <a:off x="9525000" y="2724150"/>
            <a:ext cx="1181099"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0.585667</a:t>
            </a:r>
            <a:endParaRPr/>
          </a:p>
        </p:txBody>
      </p:sp>
      <p:sp>
        <p:nvSpPr>
          <p:cNvPr id="1402288479" name=""/>
          <p:cNvSpPr>
            <a:spLocks noGrp="1"/>
          </p:cNvSpPr>
          <p:nvPr/>
        </p:nvSpPr>
        <p:spPr bwMode="auto">
          <a:xfrm>
            <a:off x="10725150" y="2686050"/>
            <a:ext cx="1066800" cy="523875"/>
          </a:xfrm>
          <a:prstGeom prst="rect">
            <a:avLst/>
          </a:prstGeom>
          <a:solidFill>
            <a:srgbClr val="EAF1F8"/>
          </a:solidFill>
          <a:ln w="11430">
            <a:solidFill>
              <a:srgbClr val="D9E2EC"/>
            </a:solidFill>
            <a:prstDash val="solid"/>
          </a:ln>
        </p:spPr>
      </p:sp>
      <p:sp>
        <p:nvSpPr>
          <p:cNvPr id="194625350" name=""/>
          <p:cNvSpPr>
            <a:spLocks noGrp="1"/>
          </p:cNvSpPr>
          <p:nvPr/>
        </p:nvSpPr>
        <p:spPr bwMode="auto">
          <a:xfrm>
            <a:off x="10744200" y="2724150"/>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1.282198</a:t>
            </a:r>
            <a:endParaRPr/>
          </a:p>
        </p:txBody>
      </p:sp>
      <p:sp>
        <p:nvSpPr>
          <p:cNvPr id="498166017" name=""/>
          <p:cNvSpPr>
            <a:spLocks noGrp="1"/>
          </p:cNvSpPr>
          <p:nvPr/>
        </p:nvSpPr>
        <p:spPr bwMode="auto">
          <a:xfrm>
            <a:off x="7772400" y="3209925"/>
            <a:ext cx="666750" cy="523875"/>
          </a:xfrm>
          <a:prstGeom prst="rect">
            <a:avLst/>
          </a:prstGeom>
          <a:solidFill>
            <a:srgbClr val="FFFFFF"/>
          </a:solidFill>
          <a:ln w="11430">
            <a:solidFill>
              <a:srgbClr val="D9E2EC"/>
            </a:solidFill>
            <a:prstDash val="solid"/>
          </a:ln>
        </p:spPr>
      </p:sp>
      <p:sp>
        <p:nvSpPr>
          <p:cNvPr id="1448864589" name=""/>
          <p:cNvSpPr>
            <a:spLocks noGrp="1"/>
          </p:cNvSpPr>
          <p:nvPr/>
        </p:nvSpPr>
        <p:spPr bwMode="auto">
          <a:xfrm>
            <a:off x="7791450" y="3248025"/>
            <a:ext cx="62865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128</a:t>
            </a:r>
            <a:endParaRPr/>
          </a:p>
        </p:txBody>
      </p:sp>
      <p:sp>
        <p:nvSpPr>
          <p:cNvPr id="1017445297" name=""/>
          <p:cNvSpPr>
            <a:spLocks noGrp="1"/>
          </p:cNvSpPr>
          <p:nvPr/>
        </p:nvSpPr>
        <p:spPr bwMode="auto">
          <a:xfrm>
            <a:off x="8439150" y="3209925"/>
            <a:ext cx="1066800" cy="523875"/>
          </a:xfrm>
          <a:prstGeom prst="rect">
            <a:avLst/>
          </a:prstGeom>
          <a:solidFill>
            <a:srgbClr val="FFFFFF"/>
          </a:solidFill>
          <a:ln w="11430">
            <a:solidFill>
              <a:srgbClr val="D9E2EC"/>
            </a:solidFill>
            <a:prstDash val="solid"/>
          </a:ln>
        </p:spPr>
      </p:sp>
      <p:sp>
        <p:nvSpPr>
          <p:cNvPr id="2051950831" name=""/>
          <p:cNvSpPr>
            <a:spLocks noGrp="1"/>
          </p:cNvSpPr>
          <p:nvPr/>
        </p:nvSpPr>
        <p:spPr bwMode="auto">
          <a:xfrm>
            <a:off x="8458200" y="3248025"/>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0.002635</a:t>
            </a:r>
            <a:endParaRPr/>
          </a:p>
        </p:txBody>
      </p:sp>
      <p:sp>
        <p:nvSpPr>
          <p:cNvPr id="940144598" name=""/>
          <p:cNvSpPr>
            <a:spLocks noGrp="1"/>
          </p:cNvSpPr>
          <p:nvPr/>
        </p:nvSpPr>
        <p:spPr bwMode="auto">
          <a:xfrm>
            <a:off x="9505950" y="3209925"/>
            <a:ext cx="1219200" cy="523875"/>
          </a:xfrm>
          <a:prstGeom prst="rect">
            <a:avLst/>
          </a:prstGeom>
          <a:solidFill>
            <a:srgbClr val="FFFFFF"/>
          </a:solidFill>
          <a:ln w="11430">
            <a:solidFill>
              <a:srgbClr val="D9E2EC"/>
            </a:solidFill>
            <a:prstDash val="solid"/>
          </a:ln>
        </p:spPr>
      </p:sp>
      <p:sp>
        <p:nvSpPr>
          <p:cNvPr id="1136210350" name=""/>
          <p:cNvSpPr>
            <a:spLocks noGrp="1"/>
          </p:cNvSpPr>
          <p:nvPr/>
        </p:nvSpPr>
        <p:spPr bwMode="auto">
          <a:xfrm>
            <a:off x="9525000" y="3248025"/>
            <a:ext cx="1181099"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2.077959</a:t>
            </a:r>
            <a:endParaRPr/>
          </a:p>
        </p:txBody>
      </p:sp>
      <p:sp>
        <p:nvSpPr>
          <p:cNvPr id="1315675334" name=""/>
          <p:cNvSpPr>
            <a:spLocks noGrp="1"/>
          </p:cNvSpPr>
          <p:nvPr/>
        </p:nvSpPr>
        <p:spPr bwMode="auto">
          <a:xfrm>
            <a:off x="10725150" y="3209925"/>
            <a:ext cx="1066800" cy="523875"/>
          </a:xfrm>
          <a:prstGeom prst="rect">
            <a:avLst/>
          </a:prstGeom>
          <a:solidFill>
            <a:srgbClr val="FFFFFF"/>
          </a:solidFill>
          <a:ln w="11430">
            <a:solidFill>
              <a:srgbClr val="D9E2EC"/>
            </a:solidFill>
            <a:prstDash val="solid"/>
          </a:ln>
        </p:spPr>
      </p:sp>
      <p:sp>
        <p:nvSpPr>
          <p:cNvPr id="1952006896" name=""/>
          <p:cNvSpPr>
            <a:spLocks noGrp="1"/>
          </p:cNvSpPr>
          <p:nvPr/>
        </p:nvSpPr>
        <p:spPr bwMode="auto">
          <a:xfrm>
            <a:off x="10744200" y="3248025"/>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2.815083</a:t>
            </a:r>
            <a:endParaRPr/>
          </a:p>
        </p:txBody>
      </p:sp>
      <p:sp>
        <p:nvSpPr>
          <p:cNvPr id="421481327" name=""/>
          <p:cNvSpPr>
            <a:spLocks noGrp="1"/>
          </p:cNvSpPr>
          <p:nvPr/>
        </p:nvSpPr>
        <p:spPr bwMode="auto">
          <a:xfrm>
            <a:off x="7772400" y="3733800"/>
            <a:ext cx="666750" cy="523875"/>
          </a:xfrm>
          <a:prstGeom prst="rect">
            <a:avLst/>
          </a:prstGeom>
          <a:solidFill>
            <a:srgbClr val="EAF1F8"/>
          </a:solidFill>
          <a:ln w="11430">
            <a:solidFill>
              <a:srgbClr val="D9E2EC"/>
            </a:solidFill>
            <a:prstDash val="solid"/>
          </a:ln>
        </p:spPr>
      </p:sp>
      <p:sp>
        <p:nvSpPr>
          <p:cNvPr id="1851923777" name=""/>
          <p:cNvSpPr>
            <a:spLocks noGrp="1"/>
          </p:cNvSpPr>
          <p:nvPr/>
        </p:nvSpPr>
        <p:spPr bwMode="auto">
          <a:xfrm>
            <a:off x="7791450" y="3771900"/>
            <a:ext cx="62865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256</a:t>
            </a:r>
            <a:endParaRPr/>
          </a:p>
        </p:txBody>
      </p:sp>
      <p:sp>
        <p:nvSpPr>
          <p:cNvPr id="826960520" name=""/>
          <p:cNvSpPr>
            <a:spLocks noGrp="1"/>
          </p:cNvSpPr>
          <p:nvPr/>
        </p:nvSpPr>
        <p:spPr bwMode="auto">
          <a:xfrm>
            <a:off x="8439150" y="3733800"/>
            <a:ext cx="1066800" cy="523875"/>
          </a:xfrm>
          <a:prstGeom prst="rect">
            <a:avLst/>
          </a:prstGeom>
          <a:solidFill>
            <a:srgbClr val="EAF1F8"/>
          </a:solidFill>
          <a:ln w="11430">
            <a:solidFill>
              <a:srgbClr val="D9E2EC"/>
            </a:solidFill>
            <a:prstDash val="solid"/>
          </a:ln>
        </p:spPr>
      </p:sp>
      <p:sp>
        <p:nvSpPr>
          <p:cNvPr id="280934527" name=""/>
          <p:cNvSpPr>
            <a:spLocks noGrp="1"/>
          </p:cNvSpPr>
          <p:nvPr/>
        </p:nvSpPr>
        <p:spPr bwMode="auto">
          <a:xfrm>
            <a:off x="8458200" y="3771900"/>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0.005208</a:t>
            </a:r>
            <a:endParaRPr/>
          </a:p>
        </p:txBody>
      </p:sp>
      <p:sp>
        <p:nvSpPr>
          <p:cNvPr id="1318366511" name=""/>
          <p:cNvSpPr>
            <a:spLocks noGrp="1"/>
          </p:cNvSpPr>
          <p:nvPr/>
        </p:nvSpPr>
        <p:spPr bwMode="auto">
          <a:xfrm>
            <a:off x="9505950" y="3733800"/>
            <a:ext cx="1219200" cy="523875"/>
          </a:xfrm>
          <a:prstGeom prst="rect">
            <a:avLst/>
          </a:prstGeom>
          <a:solidFill>
            <a:srgbClr val="EAF1F8"/>
          </a:solidFill>
          <a:ln w="11430">
            <a:solidFill>
              <a:srgbClr val="D9E2EC"/>
            </a:solidFill>
            <a:prstDash val="solid"/>
          </a:ln>
        </p:spPr>
      </p:sp>
      <p:sp>
        <p:nvSpPr>
          <p:cNvPr id="412500361" name=""/>
          <p:cNvSpPr>
            <a:spLocks noGrp="1"/>
          </p:cNvSpPr>
          <p:nvPr/>
        </p:nvSpPr>
        <p:spPr bwMode="auto">
          <a:xfrm>
            <a:off x="9525000" y="3771900"/>
            <a:ext cx="1181099"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7.929646</a:t>
            </a:r>
            <a:endParaRPr/>
          </a:p>
        </p:txBody>
      </p:sp>
      <p:sp>
        <p:nvSpPr>
          <p:cNvPr id="1443978849" name=""/>
          <p:cNvSpPr>
            <a:spLocks noGrp="1"/>
          </p:cNvSpPr>
          <p:nvPr/>
        </p:nvSpPr>
        <p:spPr bwMode="auto">
          <a:xfrm>
            <a:off x="10725150" y="3733800"/>
            <a:ext cx="1066800" cy="523875"/>
          </a:xfrm>
          <a:prstGeom prst="rect">
            <a:avLst/>
          </a:prstGeom>
          <a:solidFill>
            <a:srgbClr val="EAF1F8"/>
          </a:solidFill>
          <a:ln w="11430">
            <a:solidFill>
              <a:srgbClr val="D9E2EC"/>
            </a:solidFill>
            <a:prstDash val="solid"/>
          </a:ln>
        </p:spPr>
      </p:sp>
      <p:sp>
        <p:nvSpPr>
          <p:cNvPr id="2000719993" name=""/>
          <p:cNvSpPr>
            <a:spLocks noGrp="1"/>
          </p:cNvSpPr>
          <p:nvPr/>
        </p:nvSpPr>
        <p:spPr bwMode="auto">
          <a:xfrm>
            <a:off x="10744200" y="3771900"/>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6.721250</a:t>
            </a:r>
            <a:endParaRPr/>
          </a:p>
        </p:txBody>
      </p:sp>
      <p:sp>
        <p:nvSpPr>
          <p:cNvPr id="1798085665" name=""/>
          <p:cNvSpPr>
            <a:spLocks noGrp="1"/>
          </p:cNvSpPr>
          <p:nvPr/>
        </p:nvSpPr>
        <p:spPr bwMode="auto">
          <a:xfrm>
            <a:off x="7772400" y="4257675"/>
            <a:ext cx="666750" cy="523875"/>
          </a:xfrm>
          <a:prstGeom prst="rect">
            <a:avLst/>
          </a:prstGeom>
          <a:solidFill>
            <a:srgbClr val="FFFFFF"/>
          </a:solidFill>
          <a:ln w="11430">
            <a:solidFill>
              <a:srgbClr val="D9E2EC"/>
            </a:solidFill>
            <a:prstDash val="solid"/>
          </a:ln>
        </p:spPr>
      </p:sp>
      <p:sp>
        <p:nvSpPr>
          <p:cNvPr id="86234876" name=""/>
          <p:cNvSpPr>
            <a:spLocks noGrp="1"/>
          </p:cNvSpPr>
          <p:nvPr/>
        </p:nvSpPr>
        <p:spPr bwMode="auto">
          <a:xfrm>
            <a:off x="7791450" y="4295775"/>
            <a:ext cx="62865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512</a:t>
            </a:r>
            <a:endParaRPr/>
          </a:p>
        </p:txBody>
      </p:sp>
      <p:sp>
        <p:nvSpPr>
          <p:cNvPr id="1443407171" name=""/>
          <p:cNvSpPr>
            <a:spLocks noGrp="1"/>
          </p:cNvSpPr>
          <p:nvPr/>
        </p:nvSpPr>
        <p:spPr bwMode="auto">
          <a:xfrm>
            <a:off x="8439150" y="4257675"/>
            <a:ext cx="1066800" cy="523875"/>
          </a:xfrm>
          <a:prstGeom prst="rect">
            <a:avLst/>
          </a:prstGeom>
          <a:solidFill>
            <a:srgbClr val="FFFFFF"/>
          </a:solidFill>
          <a:ln w="11430">
            <a:solidFill>
              <a:srgbClr val="D9E2EC"/>
            </a:solidFill>
            <a:prstDash val="solid"/>
          </a:ln>
        </p:spPr>
      </p:sp>
      <p:sp>
        <p:nvSpPr>
          <p:cNvPr id="1976831746" name=""/>
          <p:cNvSpPr>
            <a:spLocks noGrp="1"/>
          </p:cNvSpPr>
          <p:nvPr/>
        </p:nvSpPr>
        <p:spPr bwMode="auto">
          <a:xfrm>
            <a:off x="8458200" y="4295775"/>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0.010584</a:t>
            </a:r>
            <a:endParaRPr/>
          </a:p>
        </p:txBody>
      </p:sp>
      <p:sp>
        <p:nvSpPr>
          <p:cNvPr id="893377225" name=""/>
          <p:cNvSpPr>
            <a:spLocks noGrp="1"/>
          </p:cNvSpPr>
          <p:nvPr/>
        </p:nvSpPr>
        <p:spPr bwMode="auto">
          <a:xfrm>
            <a:off x="9505950" y="4257675"/>
            <a:ext cx="1219200" cy="523875"/>
          </a:xfrm>
          <a:prstGeom prst="rect">
            <a:avLst/>
          </a:prstGeom>
          <a:solidFill>
            <a:srgbClr val="FFFFFF"/>
          </a:solidFill>
          <a:ln w="11430">
            <a:solidFill>
              <a:srgbClr val="D9E2EC"/>
            </a:solidFill>
            <a:prstDash val="solid"/>
          </a:ln>
        </p:spPr>
      </p:sp>
      <p:sp>
        <p:nvSpPr>
          <p:cNvPr id="1309192750" name=""/>
          <p:cNvSpPr>
            <a:spLocks noGrp="1"/>
          </p:cNvSpPr>
          <p:nvPr/>
        </p:nvSpPr>
        <p:spPr bwMode="auto">
          <a:xfrm>
            <a:off x="9525000" y="4295775"/>
            <a:ext cx="1181099"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33.014458</a:t>
            </a:r>
            <a:endParaRPr/>
          </a:p>
        </p:txBody>
      </p:sp>
      <p:sp>
        <p:nvSpPr>
          <p:cNvPr id="107044534" name=""/>
          <p:cNvSpPr>
            <a:spLocks noGrp="1"/>
          </p:cNvSpPr>
          <p:nvPr/>
        </p:nvSpPr>
        <p:spPr bwMode="auto">
          <a:xfrm>
            <a:off x="10725150" y="4257675"/>
            <a:ext cx="1066800" cy="523875"/>
          </a:xfrm>
          <a:prstGeom prst="rect">
            <a:avLst/>
          </a:prstGeom>
          <a:solidFill>
            <a:srgbClr val="FFFFFF"/>
          </a:solidFill>
          <a:ln w="11430">
            <a:solidFill>
              <a:srgbClr val="D9E2EC"/>
            </a:solidFill>
            <a:prstDash val="solid"/>
          </a:ln>
        </p:spPr>
      </p:sp>
      <p:sp>
        <p:nvSpPr>
          <p:cNvPr id="1174508075" name=""/>
          <p:cNvSpPr>
            <a:spLocks noGrp="1"/>
          </p:cNvSpPr>
          <p:nvPr/>
        </p:nvSpPr>
        <p:spPr bwMode="auto">
          <a:xfrm>
            <a:off x="10744200" y="4295775"/>
            <a:ext cx="1028700" cy="447675"/>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200" b="0" i="0">
                <a:solidFill>
                  <a:srgbClr val="243B53"/>
                </a:solidFill>
              </a:defRPr>
            </a:pPr>
            <a:r>
              <a:rPr sz="1200" b="0" i="0">
                <a:solidFill>
                  <a:srgbClr val="243B53"/>
                </a:solidFill>
              </a:rPr>
              <a:t>18.716687</a:t>
            </a:r>
            <a:endParaRPr/>
          </a:p>
        </p:txBody>
      </p:sp>
      <p:sp>
        <p:nvSpPr>
          <p:cNvPr id="279096691" name=""/>
          <p:cNvSpPr>
            <a:spLocks noGrp="1"/>
          </p:cNvSpPr>
          <p:nvPr/>
        </p:nvSpPr>
        <p:spPr bwMode="auto">
          <a:xfrm>
            <a:off x="7848600" y="5086350"/>
            <a:ext cx="390525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52606D"/>
                </a:solidFill>
              </a:defRPr>
            </a:pPr>
            <a:r>
              <a:rPr sz="1300" b="0" i="0">
                <a:solidFill>
                  <a:srgbClr val="52606D"/>
                </a:solidFill>
              </a:rPr>
              <a:t>Absolute times belong to one recorded Apple M4 / CPython 3.12.4 execution.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972724271"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E76F51"/>
                </a:solidFill>
              </a:defRPr>
            </a:pPr>
            <a:r>
              <a:rPr sz="900" b="1" i="0">
                <a:solidFill>
                  <a:srgbClr val="E76F51"/>
                </a:solidFill>
              </a:rPr>
              <a:t>BACKUP B</a:t>
            </a:r>
            <a:endParaRPr/>
          </a:p>
        </p:txBody>
      </p:sp>
      <p:sp>
        <p:nvSpPr>
          <p:cNvPr id="771259309"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Paper output is recovered from state, not from the oracle result</a:t>
            </a:r>
            <a:endParaRPr/>
          </a:p>
        </p:txBody>
      </p:sp>
      <p:sp>
        <p:nvSpPr>
          <p:cNvPr id="563301561" name=""/>
          <p:cNvSpPr>
            <a:spLocks noGrp="1"/>
          </p:cNvSpPr>
          <p:nvPr/>
        </p:nvSpPr>
        <p:spPr bwMode="auto">
          <a:xfrm>
            <a:off x="609600" y="1085850"/>
            <a:ext cx="10972800" cy="9525"/>
          </a:xfrm>
          <a:prstGeom prst="line">
            <a:avLst/>
          </a:prstGeom>
          <a:noFill/>
          <a:ln w="28575">
            <a:solidFill>
              <a:srgbClr val="E76F51"/>
            </a:solidFill>
            <a:prstDash val="solid"/>
          </a:ln>
        </p:spPr>
      </p:sp>
      <p:sp>
        <p:nvSpPr>
          <p:cNvPr id="1655621571" name=""/>
          <p:cNvSpPr>
            <a:spLocks noGrp="1"/>
          </p:cNvSpPr>
          <p:nvPr/>
        </p:nvSpPr>
        <p:spPr bwMode="auto">
          <a:xfrm>
            <a:off x="609600" y="6477000"/>
            <a:ext cx="10972800" cy="9525"/>
          </a:xfrm>
          <a:prstGeom prst="line">
            <a:avLst/>
          </a:prstGeom>
          <a:noFill/>
          <a:ln w="9525">
            <a:solidFill>
              <a:srgbClr val="D9E2EC"/>
            </a:solidFill>
            <a:prstDash val="solid"/>
          </a:ln>
        </p:spPr>
      </p:sp>
      <p:sp>
        <p:nvSpPr>
          <p:cNvPr id="1224259898"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E76F51"/>
                </a:solidFill>
              </a:defRPr>
            </a:pPr>
            <a:r>
              <a:rPr sz="850" b="1" i="0">
                <a:solidFill>
                  <a:srgbClr val="E76F51"/>
                </a:solidFill>
              </a:rPr>
              <a:t>BACKUP</a:t>
            </a:r>
            <a:endParaRPr/>
          </a:p>
        </p:txBody>
      </p:sp>
      <p:sp>
        <p:nvSpPr>
          <p:cNvPr id="1539151045"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B</a:t>
            </a:r>
            <a:endParaRPr/>
          </a:p>
        </p:txBody>
      </p:sp>
      <p:sp>
        <p:nvSpPr>
          <p:cNvPr id="4688529" name=""/>
          <p:cNvSpPr>
            <a:spLocks noGrp="1"/>
          </p:cNvSpPr>
          <p:nvPr/>
        </p:nvSpPr>
        <p:spPr bwMode="auto">
          <a:xfrm>
            <a:off x="971550" y="1543050"/>
            <a:ext cx="4095750" cy="3562350"/>
          </a:xfrm>
          <a:prstGeom prst="roundRect">
            <a:avLst>
              <a:gd name="adj" fmla="val 2139"/>
            </a:avLst>
          </a:prstGeom>
          <a:solidFill>
            <a:srgbClr val="FCEEEA"/>
          </a:solidFill>
          <a:ln w="19050">
            <a:solidFill>
              <a:srgbClr val="E76F51"/>
            </a:solidFill>
            <a:prstDash val="solid"/>
          </a:ln>
        </p:spPr>
      </p:sp>
      <p:sp>
        <p:nvSpPr>
          <p:cNvPr id="484598751" name=""/>
          <p:cNvSpPr>
            <a:spLocks noGrp="1"/>
          </p:cNvSpPr>
          <p:nvPr/>
        </p:nvSpPr>
        <p:spPr bwMode="auto">
          <a:xfrm>
            <a:off x="7124700" y="1543050"/>
            <a:ext cx="4095750" cy="3562350"/>
          </a:xfrm>
          <a:prstGeom prst="roundRect">
            <a:avLst>
              <a:gd name="adj" fmla="val 2139"/>
            </a:avLst>
          </a:prstGeom>
          <a:solidFill>
            <a:srgbClr val="E8F5F3"/>
          </a:solidFill>
          <a:ln w="19050">
            <a:solidFill>
              <a:srgbClr val="2A9D8F"/>
            </a:solidFill>
            <a:prstDash val="solid"/>
          </a:ln>
        </p:spPr>
      </p:sp>
      <p:sp>
        <p:nvSpPr>
          <p:cNvPr id="500915229" name=""/>
          <p:cNvSpPr>
            <a:spLocks noGrp="1"/>
          </p:cNvSpPr>
          <p:nvPr/>
        </p:nvSpPr>
        <p:spPr bwMode="auto">
          <a:xfrm>
            <a:off x="1238250" y="1790700"/>
            <a:ext cx="3562350" cy="40005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2100" b="1" i="0">
                <a:solidFill>
                  <a:srgbClr val="E76F51"/>
                </a:solidFill>
              </a:defRPr>
            </a:pPr>
            <a:r>
              <a:rPr sz="2100" b="1" i="0">
                <a:solidFill>
                  <a:srgbClr val="E76F51"/>
                </a:solidFill>
              </a:rPr>
              <a:t>Reference pipeline</a:t>
            </a:r>
            <a:endParaRPr/>
          </a:p>
        </p:txBody>
      </p:sp>
      <p:sp>
        <p:nvSpPr>
          <p:cNvPr id="1495831963" name=""/>
          <p:cNvSpPr>
            <a:spLocks noGrp="1"/>
          </p:cNvSpPr>
          <p:nvPr/>
        </p:nvSpPr>
        <p:spPr bwMode="auto">
          <a:xfrm>
            <a:off x="1238250" y="2571750"/>
            <a:ext cx="356235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00" b="1" i="0">
                <a:solidFill>
                  <a:srgbClr val="102A43"/>
                </a:solidFill>
              </a:defRPr>
            </a:pPr>
            <a:r>
              <a:rPr sz="1900" b="1" i="0">
                <a:solidFill>
                  <a:srgbClr val="102A43"/>
                </a:solidFill>
              </a:rPr>
              <a:t>oracle_result["sorted"]</a:t>
            </a:r>
            <a:endParaRPr/>
          </a:p>
        </p:txBody>
      </p:sp>
      <p:sp>
        <p:nvSpPr>
          <p:cNvPr id="1351806692" name=""/>
          <p:cNvSpPr>
            <a:spLocks noGrp="1"/>
          </p:cNvSpPr>
          <p:nvPr/>
        </p:nvSpPr>
        <p:spPr bwMode="auto">
          <a:xfrm>
            <a:off x="1428750" y="3429000"/>
            <a:ext cx="3181350" cy="10096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0" i="0">
                <a:solidFill>
                  <a:srgbClr val="243B53"/>
                </a:solidFill>
              </a:defRPr>
            </a:pPr>
            <a:r>
              <a:rPr sz="1450" b="0" i="0">
                <a:solidFill>
                  <a:srgbClr val="243B53"/>
                </a:solidFill>
              </a:rPr>
              <a:t>Oracle validation, structure, trace, and serializable result assembly are part of the reference call.</a:t>
            </a:r>
            <a:endParaRPr/>
          </a:p>
        </p:txBody>
      </p:sp>
      <p:sp>
        <p:nvSpPr>
          <p:cNvPr id="1801776285" name=""/>
          <p:cNvSpPr>
            <a:spLocks noGrp="1"/>
          </p:cNvSpPr>
          <p:nvPr/>
        </p:nvSpPr>
        <p:spPr bwMode="auto">
          <a:xfrm>
            <a:off x="7391400" y="1790700"/>
            <a:ext cx="3562350" cy="400050"/>
          </a:xfrm>
          <a:prstGeom prst="rect">
            <a:avLst/>
          </a:prstGeom>
          <a:noFill/>
          <a:ln w="0">
            <a:noFill/>
            <a:prstDash val="solid"/>
          </a:ln>
        </p:spPr>
        <p:txBody>
          <a:bodyPr wrap="square" lIns="38100" tIns="19050" rIns="38100" bIns="19050" anchor="t">
            <a:normAutofit fontScale="100000"/>
          </a:bodyPr>
          <a:lstStyle/>
          <a:p>
            <a:pPr algn="ctr">
              <a:lnSpc>
                <a:spcPct val="105000"/>
              </a:lnSpc>
              <a:buNone/>
              <a:defRPr sz="2100" b="1" i="0">
                <a:solidFill>
                  <a:srgbClr val="2A9D8F"/>
                </a:solidFill>
              </a:defRPr>
            </a:pPr>
            <a:r>
              <a:rPr sz="2100" b="1" i="0">
                <a:solidFill>
                  <a:srgbClr val="2A9D8F"/>
                </a:solidFill>
              </a:rPr>
              <a:t>Paper core</a:t>
            </a:r>
            <a:endParaRPr/>
          </a:p>
        </p:txBody>
      </p:sp>
      <p:sp>
        <p:nvSpPr>
          <p:cNvPr id="85582006" name=""/>
          <p:cNvSpPr>
            <a:spLocks noGrp="1"/>
          </p:cNvSpPr>
          <p:nvPr/>
        </p:nvSpPr>
        <p:spPr bwMode="auto">
          <a:xfrm>
            <a:off x="7391400" y="2571750"/>
            <a:ext cx="3562350" cy="5524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750" b="1" i="0">
                <a:solidFill>
                  <a:srgbClr val="102A43"/>
                </a:solidFill>
              </a:defRPr>
            </a:pPr>
            <a:r>
              <a:rPr sz="1750" b="1" i="0">
                <a:solidFill>
                  <a:srgbClr val="102A43"/>
                </a:solidFill>
              </a:rPr>
              <a:t>state.partial_order.to_list()</a:t>
            </a:r>
            <a:endParaRPr/>
          </a:p>
        </p:txBody>
      </p:sp>
      <p:sp>
        <p:nvSpPr>
          <p:cNvPr id="1921777194" name=""/>
          <p:cNvSpPr>
            <a:spLocks noGrp="1"/>
          </p:cNvSpPr>
          <p:nvPr/>
        </p:nvSpPr>
        <p:spPr bwMode="auto">
          <a:xfrm>
            <a:off x="7581899" y="3352800"/>
            <a:ext cx="3181350" cy="1162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0" i="0">
                <a:solidFill>
                  <a:srgbClr val="243B53"/>
                </a:solidFill>
              </a:defRPr>
            </a:pPr>
            <a:r>
              <a:rPr sz="1450" b="0" i="0">
                <a:solidFill>
                  <a:srgbClr val="243B53"/>
                </a:solidFill>
              </a:rPr>
              <a:t>Certification precedes the call. Output comparison follows it. Neither provides the paper core's return value.</a:t>
            </a:r>
            <a:endParaRPr/>
          </a:p>
        </p:txBody>
      </p:sp>
      <p:sp>
        <p:nvSpPr>
          <p:cNvPr id="764259054" name=""/>
          <p:cNvSpPr>
            <a:spLocks noGrp="1"/>
          </p:cNvSpPr>
          <p:nvPr/>
        </p:nvSpPr>
        <p:spPr bwMode="auto">
          <a:xfrm>
            <a:off x="2190750" y="5619750"/>
            <a:ext cx="7810500" cy="4191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00" b="1" i="0">
                <a:solidFill>
                  <a:srgbClr val="102A43"/>
                </a:solidFill>
              </a:defRPr>
            </a:pPr>
            <a:r>
              <a:rPr sz="1900" b="1" i="0">
                <a:solidFill>
                  <a:srgbClr val="102A43"/>
                </a:solidFill>
              </a:rPr>
              <a:t>Same expected answer, different output provenance.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2019996009"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E76F51"/>
                </a:solidFill>
              </a:defRPr>
            </a:pPr>
            <a:r>
              <a:rPr sz="900" b="1" i="0">
                <a:solidFill>
                  <a:srgbClr val="E76F51"/>
                </a:solidFill>
              </a:rPr>
              <a:t>BACKUP C</a:t>
            </a:r>
            <a:endParaRPr/>
          </a:p>
        </p:txBody>
      </p:sp>
      <p:sp>
        <p:nvSpPr>
          <p:cNvPr id="504474533"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Validation summary for the current implementation baseline</a:t>
            </a:r>
            <a:endParaRPr/>
          </a:p>
        </p:txBody>
      </p:sp>
      <p:sp>
        <p:nvSpPr>
          <p:cNvPr id="98429442" name=""/>
          <p:cNvSpPr>
            <a:spLocks noGrp="1"/>
          </p:cNvSpPr>
          <p:nvPr/>
        </p:nvSpPr>
        <p:spPr bwMode="auto">
          <a:xfrm>
            <a:off x="609600" y="1085850"/>
            <a:ext cx="10972800" cy="9525"/>
          </a:xfrm>
          <a:prstGeom prst="line">
            <a:avLst/>
          </a:prstGeom>
          <a:noFill/>
          <a:ln w="28575">
            <a:solidFill>
              <a:srgbClr val="E76F51"/>
            </a:solidFill>
            <a:prstDash val="solid"/>
          </a:ln>
        </p:spPr>
      </p:sp>
      <p:sp>
        <p:nvSpPr>
          <p:cNvPr id="1334605126" name=""/>
          <p:cNvSpPr>
            <a:spLocks noGrp="1"/>
          </p:cNvSpPr>
          <p:nvPr/>
        </p:nvSpPr>
        <p:spPr bwMode="auto">
          <a:xfrm>
            <a:off x="609600" y="6477000"/>
            <a:ext cx="10972800" cy="9525"/>
          </a:xfrm>
          <a:prstGeom prst="line">
            <a:avLst/>
          </a:prstGeom>
          <a:noFill/>
          <a:ln w="9525">
            <a:solidFill>
              <a:srgbClr val="D9E2EC"/>
            </a:solidFill>
            <a:prstDash val="solid"/>
          </a:ln>
        </p:spPr>
      </p:sp>
      <p:sp>
        <p:nvSpPr>
          <p:cNvPr id="179097907"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E76F51"/>
                </a:solidFill>
              </a:defRPr>
            </a:pPr>
            <a:r>
              <a:rPr sz="850" b="1" i="0">
                <a:solidFill>
                  <a:srgbClr val="E76F51"/>
                </a:solidFill>
              </a:rPr>
              <a:t>BACKUP</a:t>
            </a:r>
            <a:endParaRPr/>
          </a:p>
        </p:txBody>
      </p:sp>
      <p:sp>
        <p:nvSpPr>
          <p:cNvPr id="576807065"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C</a:t>
            </a:r>
            <a:endParaRPr/>
          </a:p>
        </p:txBody>
      </p:sp>
      <p:sp>
        <p:nvSpPr>
          <p:cNvPr id="712658170" name=""/>
          <p:cNvSpPr>
            <a:spLocks noGrp="1"/>
          </p:cNvSpPr>
          <p:nvPr/>
        </p:nvSpPr>
        <p:spPr bwMode="auto">
          <a:xfrm>
            <a:off x="990600" y="1504950"/>
            <a:ext cx="2381250" cy="571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3150" b="1" i="0">
                <a:solidFill>
                  <a:srgbClr val="2A9D8F"/>
                </a:solidFill>
              </a:defRPr>
            </a:pPr>
            <a:r>
              <a:rPr sz="3150" b="1" i="0">
                <a:solidFill>
                  <a:srgbClr val="2A9D8F"/>
                </a:solidFill>
              </a:rPr>
              <a:t>537</a:t>
            </a:r>
            <a:endParaRPr/>
          </a:p>
        </p:txBody>
      </p:sp>
      <p:sp>
        <p:nvSpPr>
          <p:cNvPr id="1983287403" name=""/>
          <p:cNvSpPr>
            <a:spLocks noGrp="1"/>
          </p:cNvSpPr>
          <p:nvPr/>
        </p:nvSpPr>
        <p:spPr bwMode="auto">
          <a:xfrm>
            <a:off x="3676650" y="1619250"/>
            <a:ext cx="38100" cy="342900"/>
          </a:xfrm>
          <a:prstGeom prst="rect">
            <a:avLst/>
          </a:prstGeom>
          <a:solidFill>
            <a:srgbClr val="2A9D8F"/>
          </a:solidFill>
          <a:ln w="11430">
            <a:solidFill>
              <a:srgbClr val="2A9D8F"/>
            </a:solidFill>
            <a:prstDash val="solid"/>
          </a:ln>
        </p:spPr>
      </p:sp>
      <p:sp>
        <p:nvSpPr>
          <p:cNvPr id="133287373" name=""/>
          <p:cNvSpPr>
            <a:spLocks noGrp="1"/>
          </p:cNvSpPr>
          <p:nvPr/>
        </p:nvSpPr>
        <p:spPr bwMode="auto">
          <a:xfrm>
            <a:off x="4000500" y="1504950"/>
            <a:ext cx="6858000" cy="571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750" b="0" i="0">
                <a:solidFill>
                  <a:srgbClr val="243B53"/>
                </a:solidFill>
              </a:defRPr>
            </a:pPr>
            <a:r>
              <a:rPr sz="1750" b="0" i="0">
                <a:solidFill>
                  <a:srgbClr val="243B53"/>
                </a:solidFill>
              </a:rPr>
              <a:t>repository tests</a:t>
            </a:r>
            <a:endParaRPr/>
          </a:p>
        </p:txBody>
      </p:sp>
      <p:sp>
        <p:nvSpPr>
          <p:cNvPr id="554304142" name=""/>
          <p:cNvSpPr>
            <a:spLocks noGrp="1"/>
          </p:cNvSpPr>
          <p:nvPr/>
        </p:nvSpPr>
        <p:spPr bwMode="auto">
          <a:xfrm>
            <a:off x="990600" y="2343150"/>
            <a:ext cx="2381250" cy="571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3150" b="1" i="0">
                <a:solidFill>
                  <a:srgbClr val="E76F51"/>
                </a:solidFill>
              </a:defRPr>
            </a:pPr>
            <a:r>
              <a:rPr sz="3150" b="1" i="0">
                <a:solidFill>
                  <a:srgbClr val="E76F51"/>
                </a:solidFill>
              </a:rPr>
              <a:t>2,074</a:t>
            </a:r>
            <a:endParaRPr/>
          </a:p>
        </p:txBody>
      </p:sp>
      <p:sp>
        <p:nvSpPr>
          <p:cNvPr id="97038832" name=""/>
          <p:cNvSpPr>
            <a:spLocks noGrp="1"/>
          </p:cNvSpPr>
          <p:nvPr/>
        </p:nvSpPr>
        <p:spPr bwMode="auto">
          <a:xfrm>
            <a:off x="3676650" y="2457450"/>
            <a:ext cx="38100" cy="342900"/>
          </a:xfrm>
          <a:prstGeom prst="rect">
            <a:avLst/>
          </a:prstGeom>
          <a:solidFill>
            <a:srgbClr val="E76F51"/>
          </a:solidFill>
          <a:ln w="11430">
            <a:solidFill>
              <a:srgbClr val="E76F51"/>
            </a:solidFill>
            <a:prstDash val="solid"/>
          </a:ln>
        </p:spPr>
      </p:sp>
      <p:sp>
        <p:nvSpPr>
          <p:cNvPr id="518011222" name=""/>
          <p:cNvSpPr>
            <a:spLocks noGrp="1"/>
          </p:cNvSpPr>
          <p:nvPr/>
        </p:nvSpPr>
        <p:spPr bwMode="auto">
          <a:xfrm>
            <a:off x="4000500" y="2343150"/>
            <a:ext cx="6858000" cy="571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750" b="0" i="0">
                <a:solidFill>
                  <a:srgbClr val="243B53"/>
                </a:solidFill>
              </a:defRPr>
            </a:pPr>
            <a:r>
              <a:rPr sz="1750" b="0" i="0">
                <a:solidFill>
                  <a:srgbClr val="243B53"/>
                </a:solidFill>
              </a:rPr>
              <a:t>bounded exhaustive valid permutations, n ≤ 8</a:t>
            </a:r>
            <a:endParaRPr/>
          </a:p>
        </p:txBody>
      </p:sp>
      <p:sp>
        <p:nvSpPr>
          <p:cNvPr id="7616499" name=""/>
          <p:cNvSpPr>
            <a:spLocks noGrp="1"/>
          </p:cNvSpPr>
          <p:nvPr/>
        </p:nvSpPr>
        <p:spPr bwMode="auto">
          <a:xfrm>
            <a:off x="990600" y="3181350"/>
            <a:ext cx="2381250" cy="571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3150" b="1" i="0">
                <a:solidFill>
                  <a:srgbClr val="2A9D8F"/>
                </a:solidFill>
              </a:defRPr>
            </a:pPr>
            <a:r>
              <a:rPr sz="3150" b="1" i="0">
                <a:solidFill>
                  <a:srgbClr val="2A9D8F"/>
                </a:solidFill>
              </a:rPr>
              <a:t>48</a:t>
            </a:r>
            <a:endParaRPr/>
          </a:p>
        </p:txBody>
      </p:sp>
      <p:sp>
        <p:nvSpPr>
          <p:cNvPr id="826158992" name=""/>
          <p:cNvSpPr>
            <a:spLocks noGrp="1"/>
          </p:cNvSpPr>
          <p:nvPr/>
        </p:nvSpPr>
        <p:spPr bwMode="auto">
          <a:xfrm>
            <a:off x="3676650" y="3295650"/>
            <a:ext cx="38100" cy="342900"/>
          </a:xfrm>
          <a:prstGeom prst="rect">
            <a:avLst/>
          </a:prstGeom>
          <a:solidFill>
            <a:srgbClr val="2A9D8F"/>
          </a:solidFill>
          <a:ln w="11430">
            <a:solidFill>
              <a:srgbClr val="2A9D8F"/>
            </a:solidFill>
            <a:prstDash val="solid"/>
          </a:ln>
        </p:spPr>
      </p:sp>
      <p:sp>
        <p:nvSpPr>
          <p:cNvPr id="632767060" name=""/>
          <p:cNvSpPr>
            <a:spLocks noGrp="1"/>
          </p:cNvSpPr>
          <p:nvPr/>
        </p:nvSpPr>
        <p:spPr bwMode="auto">
          <a:xfrm>
            <a:off x="4000500" y="3181350"/>
            <a:ext cx="6858000" cy="571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750" b="0" i="0">
                <a:solidFill>
                  <a:srgbClr val="243B53"/>
                </a:solidFill>
              </a:defRPr>
            </a:pPr>
            <a:r>
              <a:rPr sz="1750" b="0" i="0">
                <a:solidFill>
                  <a:srgbClr val="243B53"/>
                </a:solidFill>
              </a:rPr>
              <a:t>fixed generated cases</a:t>
            </a:r>
            <a:endParaRPr/>
          </a:p>
        </p:txBody>
      </p:sp>
      <p:sp>
        <p:nvSpPr>
          <p:cNvPr id="192447447" name=""/>
          <p:cNvSpPr>
            <a:spLocks noGrp="1"/>
          </p:cNvSpPr>
          <p:nvPr/>
        </p:nvSpPr>
        <p:spPr bwMode="auto">
          <a:xfrm>
            <a:off x="990600" y="4019550"/>
            <a:ext cx="2381250" cy="571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3150" b="1" i="0">
                <a:solidFill>
                  <a:srgbClr val="E76F51"/>
                </a:solidFill>
              </a:defRPr>
            </a:pPr>
            <a:r>
              <a:rPr sz="3150" b="1" i="0">
                <a:solidFill>
                  <a:srgbClr val="E76F51"/>
                </a:solidFill>
              </a:rPr>
              <a:t>60</a:t>
            </a:r>
            <a:endParaRPr/>
          </a:p>
        </p:txBody>
      </p:sp>
      <p:sp>
        <p:nvSpPr>
          <p:cNvPr id="1889973131" name=""/>
          <p:cNvSpPr>
            <a:spLocks noGrp="1"/>
          </p:cNvSpPr>
          <p:nvPr/>
        </p:nvSpPr>
        <p:spPr bwMode="auto">
          <a:xfrm>
            <a:off x="3676650" y="4133850"/>
            <a:ext cx="38100" cy="342900"/>
          </a:xfrm>
          <a:prstGeom prst="rect">
            <a:avLst/>
          </a:prstGeom>
          <a:solidFill>
            <a:srgbClr val="E76F51"/>
          </a:solidFill>
          <a:ln w="11430">
            <a:solidFill>
              <a:srgbClr val="E76F51"/>
            </a:solidFill>
            <a:prstDash val="solid"/>
          </a:ln>
        </p:spPr>
      </p:sp>
      <p:sp>
        <p:nvSpPr>
          <p:cNvPr id="108833090" name=""/>
          <p:cNvSpPr>
            <a:spLocks noGrp="1"/>
          </p:cNvSpPr>
          <p:nvPr/>
        </p:nvSpPr>
        <p:spPr bwMode="auto">
          <a:xfrm>
            <a:off x="4000500" y="4019550"/>
            <a:ext cx="6858000" cy="571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750" b="0" i="0">
                <a:solidFill>
                  <a:srgbClr val="243B53"/>
                </a:solidFill>
              </a:defRPr>
            </a:pPr>
            <a:r>
              <a:rPr sz="1750" b="0" i="0">
                <a:solidFill>
                  <a:srgbClr val="243B53"/>
                </a:solidFill>
              </a:rPr>
              <a:t>formal case-level checked-state audits</a:t>
            </a:r>
            <a:endParaRPr/>
          </a:p>
        </p:txBody>
      </p:sp>
      <p:sp>
        <p:nvSpPr>
          <p:cNvPr id="241721839" name=""/>
          <p:cNvSpPr>
            <a:spLocks noGrp="1"/>
          </p:cNvSpPr>
          <p:nvPr/>
        </p:nvSpPr>
        <p:spPr bwMode="auto">
          <a:xfrm>
            <a:off x="990600" y="4857750"/>
            <a:ext cx="2381250" cy="571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2550" b="1" i="0">
                <a:solidFill>
                  <a:srgbClr val="2A9D8F"/>
                </a:solidFill>
              </a:defRPr>
            </a:pPr>
            <a:r>
              <a:rPr sz="2550" b="1" i="0">
                <a:solidFill>
                  <a:srgbClr val="2A9D8F"/>
                </a:solidFill>
              </a:rPr>
              <a:t>passed</a:t>
            </a:r>
            <a:endParaRPr/>
          </a:p>
        </p:txBody>
      </p:sp>
      <p:sp>
        <p:nvSpPr>
          <p:cNvPr id="1520806552" name=""/>
          <p:cNvSpPr>
            <a:spLocks noGrp="1"/>
          </p:cNvSpPr>
          <p:nvPr/>
        </p:nvSpPr>
        <p:spPr bwMode="auto">
          <a:xfrm>
            <a:off x="3676650" y="4972050"/>
            <a:ext cx="38100" cy="342900"/>
          </a:xfrm>
          <a:prstGeom prst="rect">
            <a:avLst/>
          </a:prstGeom>
          <a:solidFill>
            <a:srgbClr val="2A9D8F"/>
          </a:solidFill>
          <a:ln w="11430">
            <a:solidFill>
              <a:srgbClr val="2A9D8F"/>
            </a:solidFill>
            <a:prstDash val="solid"/>
          </a:ln>
        </p:spPr>
      </p:sp>
      <p:sp>
        <p:nvSpPr>
          <p:cNvPr id="2081835431" name=""/>
          <p:cNvSpPr>
            <a:spLocks noGrp="1"/>
          </p:cNvSpPr>
          <p:nvPr/>
        </p:nvSpPr>
        <p:spPr bwMode="auto">
          <a:xfrm>
            <a:off x="4000500" y="4857750"/>
            <a:ext cx="6858000" cy="571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1750" b="0" i="0">
                <a:solidFill>
                  <a:srgbClr val="243B53"/>
                </a:solidFill>
              </a:defRPr>
            </a:pPr>
            <a:r>
              <a:rPr sz="1750" b="0" i="0">
                <a:solidFill>
                  <a:srgbClr val="243B53"/>
                </a:solidFill>
              </a:rPr>
              <a:t>formal evidence-contract validation</a:t>
            </a:r>
            <a:endParaRPr/>
          </a:p>
        </p:txBody>
      </p:sp>
      <p:sp>
        <p:nvSpPr>
          <p:cNvPr id="1115792539" name=""/>
          <p:cNvSpPr>
            <a:spLocks noGrp="1"/>
          </p:cNvSpPr>
          <p:nvPr/>
        </p:nvSpPr>
        <p:spPr bwMode="auto">
          <a:xfrm>
            <a:off x="1866900" y="5810250"/>
            <a:ext cx="8458200" cy="457200"/>
          </a:xfrm>
          <a:prstGeom prst="roundRect">
            <a:avLst>
              <a:gd name="adj" fmla="val 12500"/>
            </a:avLst>
          </a:prstGeom>
          <a:solidFill>
            <a:srgbClr val="FCEEEA"/>
          </a:solidFill>
          <a:ln w="11430">
            <a:solidFill>
              <a:srgbClr val="E76F51"/>
            </a:solidFill>
            <a:prstDash val="solid"/>
          </a:ln>
        </p:spPr>
      </p:sp>
      <p:sp>
        <p:nvSpPr>
          <p:cNvPr id="1387512686" name=""/>
          <p:cNvSpPr>
            <a:spLocks noGrp="1"/>
          </p:cNvSpPr>
          <p:nvPr/>
        </p:nvSpPr>
        <p:spPr bwMode="auto">
          <a:xfrm>
            <a:off x="2057400" y="5848350"/>
            <a:ext cx="807720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500" b="1" i="0">
                <a:solidFill>
                  <a:srgbClr val="E76F51"/>
                </a:solidFill>
              </a:defRPr>
            </a:pPr>
            <a:r>
              <a:rPr sz="1500" b="1" i="0">
                <a:solidFill>
                  <a:srgbClr val="E76F51"/>
                </a:solidFill>
              </a:rPr>
              <a:t>Finite validation evidence is not a proof for every Jordan sequence.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896742880"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E76F51"/>
                </a:solidFill>
              </a:defRPr>
            </a:pPr>
            <a:r>
              <a:rPr sz="900" b="1" i="0">
                <a:solidFill>
                  <a:srgbClr val="E76F51"/>
                </a:solidFill>
              </a:rPr>
              <a:t>BACKUP D</a:t>
            </a:r>
            <a:endParaRPr/>
          </a:p>
        </p:txBody>
      </p:sp>
      <p:sp>
        <p:nvSpPr>
          <p:cNvPr id="1099675660"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Increasing and decreasing iterations use reflected local choices</a:t>
            </a:r>
            <a:endParaRPr/>
          </a:p>
        </p:txBody>
      </p:sp>
      <p:sp>
        <p:nvSpPr>
          <p:cNvPr id="1803599187" name=""/>
          <p:cNvSpPr>
            <a:spLocks noGrp="1"/>
          </p:cNvSpPr>
          <p:nvPr/>
        </p:nvSpPr>
        <p:spPr bwMode="auto">
          <a:xfrm>
            <a:off x="609600" y="1085850"/>
            <a:ext cx="10972800" cy="9525"/>
          </a:xfrm>
          <a:prstGeom prst="line">
            <a:avLst/>
          </a:prstGeom>
          <a:noFill/>
          <a:ln w="28575">
            <a:solidFill>
              <a:srgbClr val="E76F51"/>
            </a:solidFill>
            <a:prstDash val="solid"/>
          </a:ln>
        </p:spPr>
      </p:sp>
      <p:sp>
        <p:nvSpPr>
          <p:cNvPr id="764560983" name=""/>
          <p:cNvSpPr>
            <a:spLocks noGrp="1"/>
          </p:cNvSpPr>
          <p:nvPr/>
        </p:nvSpPr>
        <p:spPr bwMode="auto">
          <a:xfrm>
            <a:off x="609600" y="6477000"/>
            <a:ext cx="10972800" cy="9525"/>
          </a:xfrm>
          <a:prstGeom prst="line">
            <a:avLst/>
          </a:prstGeom>
          <a:noFill/>
          <a:ln w="9525">
            <a:solidFill>
              <a:srgbClr val="D9E2EC"/>
            </a:solidFill>
            <a:prstDash val="solid"/>
          </a:ln>
        </p:spPr>
      </p:sp>
      <p:sp>
        <p:nvSpPr>
          <p:cNvPr id="1974230262"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E76F51"/>
                </a:solidFill>
              </a:defRPr>
            </a:pPr>
            <a:r>
              <a:rPr sz="850" b="1" i="0">
                <a:solidFill>
                  <a:srgbClr val="E76F51"/>
                </a:solidFill>
              </a:rPr>
              <a:t>BACKUP</a:t>
            </a:r>
            <a:endParaRPr/>
          </a:p>
        </p:txBody>
      </p:sp>
      <p:sp>
        <p:nvSpPr>
          <p:cNvPr id="1012299200"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D</a:t>
            </a:r>
            <a:endParaRPr/>
          </a:p>
        </p:txBody>
      </p:sp>
      <p:sp>
        <p:nvSpPr>
          <p:cNvPr id="851770028" name=""/>
          <p:cNvSpPr>
            <a:spLocks noGrp="1"/>
          </p:cNvSpPr>
          <p:nvPr/>
        </p:nvSpPr>
        <p:spPr bwMode="auto">
          <a:xfrm>
            <a:off x="876299" y="1466849"/>
            <a:ext cx="3314700" cy="495300"/>
          </a:xfrm>
          <a:prstGeom prst="rect">
            <a:avLst/>
          </a:prstGeom>
          <a:solidFill>
            <a:srgbClr val="102A43"/>
          </a:solidFill>
          <a:ln w="11430">
            <a:solidFill>
              <a:srgbClr val="D9E2EC"/>
            </a:solidFill>
            <a:prstDash val="solid"/>
          </a:ln>
        </p:spPr>
      </p:sp>
      <p:sp>
        <p:nvSpPr>
          <p:cNvPr id="1089018230" name=""/>
          <p:cNvSpPr>
            <a:spLocks noGrp="1"/>
          </p:cNvSpPr>
          <p:nvPr/>
        </p:nvSpPr>
        <p:spPr bwMode="auto">
          <a:xfrm>
            <a:off x="952500" y="1524000"/>
            <a:ext cx="316230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1" i="0">
                <a:solidFill>
                  <a:srgbClr val="FFFFFF"/>
                </a:solidFill>
              </a:defRPr>
            </a:pPr>
            <a:r>
              <a:rPr sz="1450" b="1" i="0">
                <a:solidFill>
                  <a:srgbClr val="FFFFFF"/>
                </a:solidFill>
              </a:rPr>
              <a:t>Control choice</a:t>
            </a:r>
            <a:endParaRPr/>
          </a:p>
        </p:txBody>
      </p:sp>
      <p:sp>
        <p:nvSpPr>
          <p:cNvPr id="1265152343" name=""/>
          <p:cNvSpPr>
            <a:spLocks noGrp="1"/>
          </p:cNvSpPr>
          <p:nvPr/>
        </p:nvSpPr>
        <p:spPr bwMode="auto">
          <a:xfrm>
            <a:off x="4191000" y="1466849"/>
            <a:ext cx="3295650" cy="495300"/>
          </a:xfrm>
          <a:prstGeom prst="rect">
            <a:avLst/>
          </a:prstGeom>
          <a:solidFill>
            <a:srgbClr val="E8F5F3"/>
          </a:solidFill>
          <a:ln w="11430">
            <a:solidFill>
              <a:srgbClr val="D9E2EC"/>
            </a:solidFill>
            <a:prstDash val="solid"/>
          </a:ln>
        </p:spPr>
      </p:sp>
      <p:sp>
        <p:nvSpPr>
          <p:cNvPr id="1851498260" name=""/>
          <p:cNvSpPr>
            <a:spLocks noGrp="1"/>
          </p:cNvSpPr>
          <p:nvPr/>
        </p:nvSpPr>
        <p:spPr bwMode="auto">
          <a:xfrm>
            <a:off x="4267200" y="1524000"/>
            <a:ext cx="314325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1" i="0">
                <a:solidFill>
                  <a:srgbClr val="2A9D8F"/>
                </a:solidFill>
              </a:defRPr>
            </a:pPr>
            <a:r>
              <a:rPr sz="1450" b="1" i="0">
                <a:solidFill>
                  <a:srgbClr val="2A9D8F"/>
                </a:solidFill>
              </a:rPr>
              <a:t>Increasing orientation</a:t>
            </a:r>
            <a:endParaRPr/>
          </a:p>
        </p:txBody>
      </p:sp>
      <p:sp>
        <p:nvSpPr>
          <p:cNvPr id="1854220834" name=""/>
          <p:cNvSpPr>
            <a:spLocks noGrp="1"/>
          </p:cNvSpPr>
          <p:nvPr/>
        </p:nvSpPr>
        <p:spPr bwMode="auto">
          <a:xfrm>
            <a:off x="7486650" y="1466849"/>
            <a:ext cx="3752850" cy="495300"/>
          </a:xfrm>
          <a:prstGeom prst="rect">
            <a:avLst/>
          </a:prstGeom>
          <a:solidFill>
            <a:srgbClr val="FCEEEA"/>
          </a:solidFill>
          <a:ln w="11430">
            <a:solidFill>
              <a:srgbClr val="D9E2EC"/>
            </a:solidFill>
            <a:prstDash val="solid"/>
          </a:ln>
        </p:spPr>
      </p:sp>
      <p:sp>
        <p:nvSpPr>
          <p:cNvPr id="2021309384" name=""/>
          <p:cNvSpPr>
            <a:spLocks noGrp="1"/>
          </p:cNvSpPr>
          <p:nvPr/>
        </p:nvSpPr>
        <p:spPr bwMode="auto">
          <a:xfrm>
            <a:off x="7562850" y="1524000"/>
            <a:ext cx="360045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1" i="0">
                <a:solidFill>
                  <a:srgbClr val="E76F51"/>
                </a:solidFill>
              </a:defRPr>
            </a:pPr>
            <a:r>
              <a:rPr sz="1450" b="1" i="0">
                <a:solidFill>
                  <a:srgbClr val="E76F51"/>
                </a:solidFill>
              </a:rPr>
              <a:t>Decreasing orientation</a:t>
            </a:r>
            <a:endParaRPr/>
          </a:p>
        </p:txBody>
      </p:sp>
      <p:sp>
        <p:nvSpPr>
          <p:cNvPr id="2016850195" name=""/>
          <p:cNvSpPr>
            <a:spLocks noGrp="1"/>
          </p:cNvSpPr>
          <p:nvPr/>
        </p:nvSpPr>
        <p:spPr bwMode="auto">
          <a:xfrm>
            <a:off x="876299" y="1962150"/>
            <a:ext cx="3314700" cy="514350"/>
          </a:xfrm>
          <a:prstGeom prst="rect">
            <a:avLst/>
          </a:prstGeom>
          <a:solidFill>
            <a:srgbClr val="FFFFFF"/>
          </a:solidFill>
          <a:ln w="11430">
            <a:solidFill>
              <a:srgbClr val="D9E2EC"/>
            </a:solidFill>
            <a:prstDash val="solid"/>
          </a:ln>
        </p:spPr>
      </p:sp>
      <p:sp>
        <p:nvSpPr>
          <p:cNvPr id="1858946218" name=""/>
          <p:cNvSpPr>
            <a:spLocks noGrp="1"/>
          </p:cNvSpPr>
          <p:nvPr/>
        </p:nvSpPr>
        <p:spPr bwMode="auto">
          <a:xfrm>
            <a:off x="952500" y="2019300"/>
            <a:ext cx="31623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243B53"/>
                </a:solidFill>
              </a:defRPr>
            </a:pPr>
            <a:r>
              <a:rPr sz="1300" b="1" i="0">
                <a:solidFill>
                  <a:srgbClr val="243B53"/>
                </a:solidFill>
              </a:rPr>
              <a:t>Step 3(a) boundary</a:t>
            </a:r>
            <a:endParaRPr/>
          </a:p>
        </p:txBody>
      </p:sp>
      <p:sp>
        <p:nvSpPr>
          <p:cNvPr id="1006997392" name=""/>
          <p:cNvSpPr>
            <a:spLocks noGrp="1"/>
          </p:cNvSpPr>
          <p:nvPr/>
        </p:nvSpPr>
        <p:spPr bwMode="auto">
          <a:xfrm>
            <a:off x="4191000" y="1962150"/>
            <a:ext cx="3295650" cy="514350"/>
          </a:xfrm>
          <a:prstGeom prst="rect">
            <a:avLst/>
          </a:prstGeom>
          <a:solidFill>
            <a:srgbClr val="FFFFFF"/>
          </a:solidFill>
          <a:ln w="11430">
            <a:solidFill>
              <a:srgbClr val="D9E2EC"/>
            </a:solidFill>
            <a:prstDash val="solid"/>
          </a:ln>
        </p:spPr>
      </p:sp>
      <p:sp>
        <p:nvSpPr>
          <p:cNvPr id="491505706" name=""/>
          <p:cNvSpPr>
            <a:spLocks noGrp="1"/>
          </p:cNvSpPr>
          <p:nvPr/>
        </p:nvSpPr>
        <p:spPr bwMode="auto">
          <a:xfrm>
            <a:off x="4267200" y="2019300"/>
            <a:ext cx="31432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predecessor-side (Aᵢ)</a:t>
            </a:r>
            <a:endParaRPr/>
          </a:p>
        </p:txBody>
      </p:sp>
      <p:sp>
        <p:nvSpPr>
          <p:cNvPr id="926930968" name=""/>
          <p:cNvSpPr>
            <a:spLocks noGrp="1"/>
          </p:cNvSpPr>
          <p:nvPr/>
        </p:nvSpPr>
        <p:spPr bwMode="auto">
          <a:xfrm>
            <a:off x="7486650" y="1962150"/>
            <a:ext cx="3752850" cy="514350"/>
          </a:xfrm>
          <a:prstGeom prst="rect">
            <a:avLst/>
          </a:prstGeom>
          <a:solidFill>
            <a:srgbClr val="FFFFFF"/>
          </a:solidFill>
          <a:ln w="11430">
            <a:solidFill>
              <a:srgbClr val="D9E2EC"/>
            </a:solidFill>
            <a:prstDash val="solid"/>
          </a:ln>
        </p:spPr>
      </p:sp>
      <p:sp>
        <p:nvSpPr>
          <p:cNvPr id="1360318104" name=""/>
          <p:cNvSpPr>
            <a:spLocks noGrp="1"/>
          </p:cNvSpPr>
          <p:nvPr/>
        </p:nvSpPr>
        <p:spPr bwMode="auto">
          <a:xfrm>
            <a:off x="7562850" y="2019300"/>
            <a:ext cx="36004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successor-side (Bᵢ)</a:t>
            </a:r>
            <a:endParaRPr/>
          </a:p>
        </p:txBody>
      </p:sp>
      <p:sp>
        <p:nvSpPr>
          <p:cNvPr id="1032559653" name=""/>
          <p:cNvSpPr>
            <a:spLocks noGrp="1"/>
          </p:cNvSpPr>
          <p:nvPr/>
        </p:nvSpPr>
        <p:spPr bwMode="auto">
          <a:xfrm>
            <a:off x="876299" y="2476500"/>
            <a:ext cx="3314700" cy="514350"/>
          </a:xfrm>
          <a:prstGeom prst="rect">
            <a:avLst/>
          </a:prstGeom>
          <a:solidFill>
            <a:srgbClr val="F0F4F8"/>
          </a:solidFill>
          <a:ln w="11430">
            <a:solidFill>
              <a:srgbClr val="D9E2EC"/>
            </a:solidFill>
            <a:prstDash val="solid"/>
          </a:ln>
        </p:spPr>
      </p:sp>
      <p:sp>
        <p:nvSpPr>
          <p:cNvPr id="1696015758" name=""/>
          <p:cNvSpPr>
            <a:spLocks noGrp="1"/>
          </p:cNvSpPr>
          <p:nvPr/>
        </p:nvSpPr>
        <p:spPr bwMode="auto">
          <a:xfrm>
            <a:off x="952500" y="2533650"/>
            <a:ext cx="31623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243B53"/>
                </a:solidFill>
              </a:defRPr>
            </a:pPr>
            <a:r>
              <a:rPr sz="1300" b="1" i="0">
                <a:solidFill>
                  <a:srgbClr val="243B53"/>
                </a:solidFill>
              </a:rPr>
              <a:t>Boundary insertion</a:t>
            </a:r>
            <a:endParaRPr/>
          </a:p>
        </p:txBody>
      </p:sp>
      <p:sp>
        <p:nvSpPr>
          <p:cNvPr id="265776099" name=""/>
          <p:cNvSpPr>
            <a:spLocks noGrp="1"/>
          </p:cNvSpPr>
          <p:nvPr/>
        </p:nvSpPr>
        <p:spPr bwMode="auto">
          <a:xfrm>
            <a:off x="4191000" y="2476500"/>
            <a:ext cx="3295650" cy="514350"/>
          </a:xfrm>
          <a:prstGeom prst="rect">
            <a:avLst/>
          </a:prstGeom>
          <a:solidFill>
            <a:srgbClr val="F0F4F8"/>
          </a:solidFill>
          <a:ln w="11430">
            <a:solidFill>
              <a:srgbClr val="D9E2EC"/>
            </a:solidFill>
            <a:prstDash val="solid"/>
          </a:ln>
        </p:spPr>
      </p:sp>
      <p:sp>
        <p:nvSpPr>
          <p:cNvPr id="857370058" name=""/>
          <p:cNvSpPr>
            <a:spLocks noGrp="1"/>
          </p:cNvSpPr>
          <p:nvPr/>
        </p:nvSpPr>
        <p:spPr bwMode="auto">
          <a:xfrm>
            <a:off x="4267200" y="2533650"/>
            <a:ext cx="31432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after last sibling</a:t>
            </a:r>
            <a:endParaRPr/>
          </a:p>
        </p:txBody>
      </p:sp>
      <p:sp>
        <p:nvSpPr>
          <p:cNvPr id="1292259825" name=""/>
          <p:cNvSpPr>
            <a:spLocks noGrp="1"/>
          </p:cNvSpPr>
          <p:nvPr/>
        </p:nvSpPr>
        <p:spPr bwMode="auto">
          <a:xfrm>
            <a:off x="7486650" y="2476500"/>
            <a:ext cx="3752850" cy="514350"/>
          </a:xfrm>
          <a:prstGeom prst="rect">
            <a:avLst/>
          </a:prstGeom>
          <a:solidFill>
            <a:srgbClr val="F0F4F8"/>
          </a:solidFill>
          <a:ln w="11430">
            <a:solidFill>
              <a:srgbClr val="D9E2EC"/>
            </a:solidFill>
            <a:prstDash val="solid"/>
          </a:ln>
        </p:spPr>
      </p:sp>
      <p:sp>
        <p:nvSpPr>
          <p:cNvPr id="1554983781" name=""/>
          <p:cNvSpPr>
            <a:spLocks noGrp="1"/>
          </p:cNvSpPr>
          <p:nvPr/>
        </p:nvSpPr>
        <p:spPr bwMode="auto">
          <a:xfrm>
            <a:off x="7562850" y="2533650"/>
            <a:ext cx="36004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before first sibling</a:t>
            </a:r>
            <a:endParaRPr/>
          </a:p>
        </p:txBody>
      </p:sp>
      <p:sp>
        <p:nvSpPr>
          <p:cNvPr id="2142844701" name=""/>
          <p:cNvSpPr>
            <a:spLocks noGrp="1"/>
          </p:cNvSpPr>
          <p:nvPr/>
        </p:nvSpPr>
        <p:spPr bwMode="auto">
          <a:xfrm>
            <a:off x="876299" y="2990850"/>
            <a:ext cx="3314700" cy="514350"/>
          </a:xfrm>
          <a:prstGeom prst="rect">
            <a:avLst/>
          </a:prstGeom>
          <a:solidFill>
            <a:srgbClr val="FFFFFF"/>
          </a:solidFill>
          <a:ln w="11430">
            <a:solidFill>
              <a:srgbClr val="D9E2EC"/>
            </a:solidFill>
            <a:prstDash val="solid"/>
          </a:ln>
        </p:spPr>
      </p:sp>
      <p:sp>
        <p:nvSpPr>
          <p:cNvPr id="1658438334" name=""/>
          <p:cNvSpPr>
            <a:spLocks noGrp="1"/>
          </p:cNvSpPr>
          <p:nvPr/>
        </p:nvSpPr>
        <p:spPr bwMode="auto">
          <a:xfrm>
            <a:off x="952500" y="3048000"/>
            <a:ext cx="31623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243B53"/>
                </a:solidFill>
              </a:defRPr>
            </a:pPr>
            <a:r>
              <a:rPr sz="1300" b="1" i="0">
                <a:solidFill>
                  <a:srgbClr val="243B53"/>
                </a:solidFill>
              </a:rPr>
              <a:t>Step 3(b) boundary</a:t>
            </a:r>
            <a:endParaRPr/>
          </a:p>
        </p:txBody>
      </p:sp>
      <p:sp>
        <p:nvSpPr>
          <p:cNvPr id="800256295" name=""/>
          <p:cNvSpPr>
            <a:spLocks noGrp="1"/>
          </p:cNvSpPr>
          <p:nvPr/>
        </p:nvSpPr>
        <p:spPr bwMode="auto">
          <a:xfrm>
            <a:off x="4191000" y="2990850"/>
            <a:ext cx="3295650" cy="514350"/>
          </a:xfrm>
          <a:prstGeom prst="rect">
            <a:avLst/>
          </a:prstGeom>
          <a:solidFill>
            <a:srgbClr val="FFFFFF"/>
          </a:solidFill>
          <a:ln w="11430">
            <a:solidFill>
              <a:srgbClr val="D9E2EC"/>
            </a:solidFill>
            <a:prstDash val="solid"/>
          </a:ln>
        </p:spPr>
      </p:sp>
      <p:sp>
        <p:nvSpPr>
          <p:cNvPr id="432002736" name=""/>
          <p:cNvSpPr>
            <a:spLocks noGrp="1"/>
          </p:cNvSpPr>
          <p:nvPr/>
        </p:nvSpPr>
        <p:spPr bwMode="auto">
          <a:xfrm>
            <a:off x="4267200" y="3048000"/>
            <a:ext cx="31432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successor-side (Bᵢ)</a:t>
            </a:r>
            <a:endParaRPr/>
          </a:p>
        </p:txBody>
      </p:sp>
      <p:sp>
        <p:nvSpPr>
          <p:cNvPr id="367180708" name=""/>
          <p:cNvSpPr>
            <a:spLocks noGrp="1"/>
          </p:cNvSpPr>
          <p:nvPr/>
        </p:nvSpPr>
        <p:spPr bwMode="auto">
          <a:xfrm>
            <a:off x="7486650" y="2990850"/>
            <a:ext cx="3752850" cy="514350"/>
          </a:xfrm>
          <a:prstGeom prst="rect">
            <a:avLst/>
          </a:prstGeom>
          <a:solidFill>
            <a:srgbClr val="FFFFFF"/>
          </a:solidFill>
          <a:ln w="11430">
            <a:solidFill>
              <a:srgbClr val="D9E2EC"/>
            </a:solidFill>
            <a:prstDash val="solid"/>
          </a:ln>
        </p:spPr>
      </p:sp>
      <p:sp>
        <p:nvSpPr>
          <p:cNvPr id="194634108" name=""/>
          <p:cNvSpPr>
            <a:spLocks noGrp="1"/>
          </p:cNvSpPr>
          <p:nvPr/>
        </p:nvSpPr>
        <p:spPr bwMode="auto">
          <a:xfrm>
            <a:off x="7562850" y="3048000"/>
            <a:ext cx="36004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predecessor-side (Aᵢ)</a:t>
            </a:r>
            <a:endParaRPr/>
          </a:p>
        </p:txBody>
      </p:sp>
      <p:sp>
        <p:nvSpPr>
          <p:cNvPr id="1863367590" name=""/>
          <p:cNvSpPr>
            <a:spLocks noGrp="1"/>
          </p:cNvSpPr>
          <p:nvPr/>
        </p:nvSpPr>
        <p:spPr bwMode="auto">
          <a:xfrm>
            <a:off x="876299" y="3505199"/>
            <a:ext cx="3314700" cy="514350"/>
          </a:xfrm>
          <a:prstGeom prst="rect">
            <a:avLst/>
          </a:prstGeom>
          <a:solidFill>
            <a:srgbClr val="F0F4F8"/>
          </a:solidFill>
          <a:ln w="11430">
            <a:solidFill>
              <a:srgbClr val="D9E2EC"/>
            </a:solidFill>
            <a:prstDash val="solid"/>
          </a:ln>
        </p:spPr>
      </p:sp>
      <p:sp>
        <p:nvSpPr>
          <p:cNvPr id="557140124" name=""/>
          <p:cNvSpPr>
            <a:spLocks noGrp="1"/>
          </p:cNvSpPr>
          <p:nvPr/>
        </p:nvSpPr>
        <p:spPr bwMode="auto">
          <a:xfrm>
            <a:off x="952500" y="3562350"/>
            <a:ext cx="31623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243B53"/>
                </a:solidFill>
              </a:defRPr>
            </a:pPr>
            <a:r>
              <a:rPr sz="1300" b="1" i="0">
                <a:solidFill>
                  <a:srgbClr val="243B53"/>
                </a:solidFill>
              </a:rPr>
              <a:t>Acquired split side</a:t>
            </a:r>
            <a:endParaRPr/>
          </a:p>
        </p:txBody>
      </p:sp>
      <p:sp>
        <p:nvSpPr>
          <p:cNvPr id="682900513" name=""/>
          <p:cNvSpPr>
            <a:spLocks noGrp="1"/>
          </p:cNvSpPr>
          <p:nvPr/>
        </p:nvSpPr>
        <p:spPr bwMode="auto">
          <a:xfrm>
            <a:off x="4191000" y="3505199"/>
            <a:ext cx="3295650" cy="514350"/>
          </a:xfrm>
          <a:prstGeom prst="rect">
            <a:avLst/>
          </a:prstGeom>
          <a:solidFill>
            <a:srgbClr val="F0F4F8"/>
          </a:solidFill>
          <a:ln w="11430">
            <a:solidFill>
              <a:srgbClr val="D9E2EC"/>
            </a:solidFill>
            <a:prstDash val="solid"/>
          </a:ln>
        </p:spPr>
      </p:sp>
      <p:sp>
        <p:nvSpPr>
          <p:cNvPr id="1870262827" name=""/>
          <p:cNvSpPr>
            <a:spLocks noGrp="1"/>
          </p:cNvSpPr>
          <p:nvPr/>
        </p:nvSpPr>
        <p:spPr bwMode="auto">
          <a:xfrm>
            <a:off x="4267200" y="3562350"/>
            <a:ext cx="31432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left</a:t>
            </a:r>
            <a:endParaRPr/>
          </a:p>
        </p:txBody>
      </p:sp>
      <p:sp>
        <p:nvSpPr>
          <p:cNvPr id="1624975339" name=""/>
          <p:cNvSpPr>
            <a:spLocks noGrp="1"/>
          </p:cNvSpPr>
          <p:nvPr/>
        </p:nvSpPr>
        <p:spPr bwMode="auto">
          <a:xfrm>
            <a:off x="7486650" y="3505199"/>
            <a:ext cx="3752850" cy="514350"/>
          </a:xfrm>
          <a:prstGeom prst="rect">
            <a:avLst/>
          </a:prstGeom>
          <a:solidFill>
            <a:srgbClr val="F0F4F8"/>
          </a:solidFill>
          <a:ln w="11430">
            <a:solidFill>
              <a:srgbClr val="D9E2EC"/>
            </a:solidFill>
            <a:prstDash val="solid"/>
          </a:ln>
        </p:spPr>
      </p:sp>
      <p:sp>
        <p:nvSpPr>
          <p:cNvPr id="1704685293" name=""/>
          <p:cNvSpPr>
            <a:spLocks noGrp="1"/>
          </p:cNvSpPr>
          <p:nvPr/>
        </p:nvSpPr>
        <p:spPr bwMode="auto">
          <a:xfrm>
            <a:off x="7562850" y="3562350"/>
            <a:ext cx="36004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right</a:t>
            </a:r>
            <a:endParaRPr/>
          </a:p>
        </p:txBody>
      </p:sp>
      <p:sp>
        <p:nvSpPr>
          <p:cNvPr id="1354890602" name=""/>
          <p:cNvSpPr>
            <a:spLocks noGrp="1"/>
          </p:cNvSpPr>
          <p:nvPr/>
        </p:nvSpPr>
        <p:spPr bwMode="auto">
          <a:xfrm>
            <a:off x="876299" y="4019550"/>
            <a:ext cx="3314700" cy="514350"/>
          </a:xfrm>
          <a:prstGeom prst="rect">
            <a:avLst/>
          </a:prstGeom>
          <a:solidFill>
            <a:srgbClr val="FFFFFF"/>
          </a:solidFill>
          <a:ln w="11430">
            <a:solidFill>
              <a:srgbClr val="D9E2EC"/>
            </a:solidFill>
            <a:prstDash val="solid"/>
          </a:ln>
        </p:spPr>
      </p:sp>
      <p:sp>
        <p:nvSpPr>
          <p:cNvPr id="581000882" name=""/>
          <p:cNvSpPr>
            <a:spLocks noGrp="1"/>
          </p:cNvSpPr>
          <p:nvPr/>
        </p:nvSpPr>
        <p:spPr bwMode="auto">
          <a:xfrm>
            <a:off x="952500" y="4076699"/>
            <a:ext cx="31623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243B53"/>
                </a:solidFill>
              </a:defRPr>
            </a:pPr>
            <a:r>
              <a:rPr sz="1300" b="1" i="0">
                <a:solidFill>
                  <a:srgbClr val="243B53"/>
                </a:solidFill>
              </a:rPr>
              <a:t>Child extreme</a:t>
            </a:r>
            <a:endParaRPr/>
          </a:p>
        </p:txBody>
      </p:sp>
      <p:sp>
        <p:nvSpPr>
          <p:cNvPr id="452674187" name=""/>
          <p:cNvSpPr>
            <a:spLocks noGrp="1"/>
          </p:cNvSpPr>
          <p:nvPr/>
        </p:nvSpPr>
        <p:spPr bwMode="auto">
          <a:xfrm>
            <a:off x="4191000" y="4019550"/>
            <a:ext cx="3295650" cy="514350"/>
          </a:xfrm>
          <a:prstGeom prst="rect">
            <a:avLst/>
          </a:prstGeom>
          <a:solidFill>
            <a:srgbClr val="FFFFFF"/>
          </a:solidFill>
          <a:ln w="11430">
            <a:solidFill>
              <a:srgbClr val="D9E2EC"/>
            </a:solidFill>
            <a:prstDash val="solid"/>
          </a:ln>
        </p:spPr>
      </p:sp>
      <p:sp>
        <p:nvSpPr>
          <p:cNvPr id="327380798" name=""/>
          <p:cNvSpPr>
            <a:spLocks noGrp="1"/>
          </p:cNvSpPr>
          <p:nvPr/>
        </p:nvSpPr>
        <p:spPr bwMode="auto">
          <a:xfrm>
            <a:off x="4267200" y="4076699"/>
            <a:ext cx="31432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rightmost child</a:t>
            </a:r>
            <a:endParaRPr/>
          </a:p>
        </p:txBody>
      </p:sp>
      <p:sp>
        <p:nvSpPr>
          <p:cNvPr id="1431374806" name=""/>
          <p:cNvSpPr>
            <a:spLocks noGrp="1"/>
          </p:cNvSpPr>
          <p:nvPr/>
        </p:nvSpPr>
        <p:spPr bwMode="auto">
          <a:xfrm>
            <a:off x="7486650" y="4019550"/>
            <a:ext cx="3752850" cy="514350"/>
          </a:xfrm>
          <a:prstGeom prst="rect">
            <a:avLst/>
          </a:prstGeom>
          <a:solidFill>
            <a:srgbClr val="FFFFFF"/>
          </a:solidFill>
          <a:ln w="11430">
            <a:solidFill>
              <a:srgbClr val="D9E2EC"/>
            </a:solidFill>
            <a:prstDash val="solid"/>
          </a:ln>
        </p:spPr>
      </p:sp>
      <p:sp>
        <p:nvSpPr>
          <p:cNvPr id="1460995164" name=""/>
          <p:cNvSpPr>
            <a:spLocks noGrp="1"/>
          </p:cNvSpPr>
          <p:nvPr/>
        </p:nvSpPr>
        <p:spPr bwMode="auto">
          <a:xfrm>
            <a:off x="7562850" y="4076699"/>
            <a:ext cx="36004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leftmost child</a:t>
            </a:r>
            <a:endParaRPr/>
          </a:p>
        </p:txBody>
      </p:sp>
      <p:sp>
        <p:nvSpPr>
          <p:cNvPr id="1076914673" name=""/>
          <p:cNvSpPr>
            <a:spLocks noGrp="1"/>
          </p:cNvSpPr>
          <p:nvPr/>
        </p:nvSpPr>
        <p:spPr bwMode="auto">
          <a:xfrm>
            <a:off x="876299" y="4533900"/>
            <a:ext cx="3314700" cy="514350"/>
          </a:xfrm>
          <a:prstGeom prst="rect">
            <a:avLst/>
          </a:prstGeom>
          <a:solidFill>
            <a:srgbClr val="F0F4F8"/>
          </a:solidFill>
          <a:ln w="11430">
            <a:solidFill>
              <a:srgbClr val="D9E2EC"/>
            </a:solidFill>
            <a:prstDash val="solid"/>
          </a:ln>
        </p:spPr>
      </p:sp>
      <p:sp>
        <p:nvSpPr>
          <p:cNvPr id="966652427" name=""/>
          <p:cNvSpPr>
            <a:spLocks noGrp="1"/>
          </p:cNvSpPr>
          <p:nvPr/>
        </p:nvSpPr>
        <p:spPr bwMode="auto">
          <a:xfrm>
            <a:off x="952500" y="4591050"/>
            <a:ext cx="31623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243B53"/>
                </a:solidFill>
              </a:defRPr>
            </a:pPr>
            <a:r>
              <a:rPr sz="1300" b="1" i="0">
                <a:solidFill>
                  <a:srgbClr val="243B53"/>
                </a:solidFill>
              </a:rPr>
              <a:t>Geometric anchor</a:t>
            </a:r>
            <a:endParaRPr/>
          </a:p>
        </p:txBody>
      </p:sp>
      <p:sp>
        <p:nvSpPr>
          <p:cNvPr id="46912368" name=""/>
          <p:cNvSpPr>
            <a:spLocks noGrp="1"/>
          </p:cNvSpPr>
          <p:nvPr/>
        </p:nvSpPr>
        <p:spPr bwMode="auto">
          <a:xfrm>
            <a:off x="4191000" y="4533900"/>
            <a:ext cx="3295650" cy="514350"/>
          </a:xfrm>
          <a:prstGeom prst="rect">
            <a:avLst/>
          </a:prstGeom>
          <a:solidFill>
            <a:srgbClr val="F0F4F8"/>
          </a:solidFill>
          <a:ln w="11430">
            <a:solidFill>
              <a:srgbClr val="D9E2EC"/>
            </a:solidFill>
            <a:prstDash val="solid"/>
          </a:ln>
        </p:spPr>
      </p:sp>
      <p:sp>
        <p:nvSpPr>
          <p:cNvPr id="709793135" name=""/>
          <p:cNvSpPr>
            <a:spLocks noGrp="1"/>
          </p:cNvSpPr>
          <p:nvPr/>
        </p:nvSpPr>
        <p:spPr bwMode="auto">
          <a:xfrm>
            <a:off x="4267200" y="4591050"/>
            <a:ext cx="31432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right endpoint</a:t>
            </a:r>
            <a:endParaRPr/>
          </a:p>
        </p:txBody>
      </p:sp>
      <p:sp>
        <p:nvSpPr>
          <p:cNvPr id="85814266" name=""/>
          <p:cNvSpPr>
            <a:spLocks noGrp="1"/>
          </p:cNvSpPr>
          <p:nvPr/>
        </p:nvSpPr>
        <p:spPr bwMode="auto">
          <a:xfrm>
            <a:off x="7486650" y="4533900"/>
            <a:ext cx="3752850" cy="514350"/>
          </a:xfrm>
          <a:prstGeom prst="rect">
            <a:avLst/>
          </a:prstGeom>
          <a:solidFill>
            <a:srgbClr val="F0F4F8"/>
          </a:solidFill>
          <a:ln w="11430">
            <a:solidFill>
              <a:srgbClr val="D9E2EC"/>
            </a:solidFill>
            <a:prstDash val="solid"/>
          </a:ln>
        </p:spPr>
      </p:sp>
      <p:sp>
        <p:nvSpPr>
          <p:cNvPr id="1360928292" name=""/>
          <p:cNvSpPr>
            <a:spLocks noGrp="1"/>
          </p:cNvSpPr>
          <p:nvPr/>
        </p:nvSpPr>
        <p:spPr bwMode="auto">
          <a:xfrm>
            <a:off x="7562850" y="4591050"/>
            <a:ext cx="36004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left endpoint</a:t>
            </a:r>
            <a:endParaRPr/>
          </a:p>
        </p:txBody>
      </p:sp>
      <p:sp>
        <p:nvSpPr>
          <p:cNvPr id="1644626380" name=""/>
          <p:cNvSpPr>
            <a:spLocks noGrp="1"/>
          </p:cNvSpPr>
          <p:nvPr/>
        </p:nvSpPr>
        <p:spPr bwMode="auto">
          <a:xfrm>
            <a:off x="876299" y="5048250"/>
            <a:ext cx="3314700" cy="514350"/>
          </a:xfrm>
          <a:prstGeom prst="rect">
            <a:avLst/>
          </a:prstGeom>
          <a:solidFill>
            <a:srgbClr val="FFFFFF"/>
          </a:solidFill>
          <a:ln w="11430">
            <a:solidFill>
              <a:srgbClr val="D9E2EC"/>
            </a:solidFill>
            <a:prstDash val="solid"/>
          </a:ln>
        </p:spPr>
      </p:sp>
      <p:sp>
        <p:nvSpPr>
          <p:cNvPr id="1416071997" name=""/>
          <p:cNvSpPr>
            <a:spLocks noGrp="1"/>
          </p:cNvSpPr>
          <p:nvPr/>
        </p:nvSpPr>
        <p:spPr bwMode="auto">
          <a:xfrm>
            <a:off x="952500" y="5105400"/>
            <a:ext cx="31623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1" i="0">
                <a:solidFill>
                  <a:srgbClr val="243B53"/>
                </a:solidFill>
              </a:defRPr>
            </a:pPr>
            <a:r>
              <a:rPr sz="1300" b="1" i="0">
                <a:solidFill>
                  <a:srgbClr val="243B53"/>
                </a:solidFill>
              </a:rPr>
              <a:t>Output insertion</a:t>
            </a:r>
            <a:endParaRPr/>
          </a:p>
        </p:txBody>
      </p:sp>
      <p:sp>
        <p:nvSpPr>
          <p:cNvPr id="1856398089" name=""/>
          <p:cNvSpPr>
            <a:spLocks noGrp="1"/>
          </p:cNvSpPr>
          <p:nvPr/>
        </p:nvSpPr>
        <p:spPr bwMode="auto">
          <a:xfrm>
            <a:off x="4191000" y="5048250"/>
            <a:ext cx="3295650" cy="514350"/>
          </a:xfrm>
          <a:prstGeom prst="rect">
            <a:avLst/>
          </a:prstGeom>
          <a:solidFill>
            <a:srgbClr val="FFFFFF"/>
          </a:solidFill>
          <a:ln w="11430">
            <a:solidFill>
              <a:srgbClr val="D9E2EC"/>
            </a:solidFill>
            <a:prstDash val="solid"/>
          </a:ln>
        </p:spPr>
      </p:sp>
      <p:sp>
        <p:nvSpPr>
          <p:cNvPr id="236339779" name=""/>
          <p:cNvSpPr>
            <a:spLocks noGrp="1"/>
          </p:cNvSpPr>
          <p:nvPr/>
        </p:nvSpPr>
        <p:spPr bwMode="auto">
          <a:xfrm>
            <a:off x="4267200" y="5105400"/>
            <a:ext cx="31432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after anchor</a:t>
            </a:r>
            <a:endParaRPr/>
          </a:p>
        </p:txBody>
      </p:sp>
      <p:sp>
        <p:nvSpPr>
          <p:cNvPr id="1687971021" name=""/>
          <p:cNvSpPr>
            <a:spLocks noGrp="1"/>
          </p:cNvSpPr>
          <p:nvPr/>
        </p:nvSpPr>
        <p:spPr bwMode="auto">
          <a:xfrm>
            <a:off x="7486650" y="5048250"/>
            <a:ext cx="3752850" cy="514350"/>
          </a:xfrm>
          <a:prstGeom prst="rect">
            <a:avLst/>
          </a:prstGeom>
          <a:solidFill>
            <a:srgbClr val="FFFFFF"/>
          </a:solidFill>
          <a:ln w="11430">
            <a:solidFill>
              <a:srgbClr val="D9E2EC"/>
            </a:solidFill>
            <a:prstDash val="solid"/>
          </a:ln>
        </p:spPr>
      </p:sp>
      <p:sp>
        <p:nvSpPr>
          <p:cNvPr id="508032109" name=""/>
          <p:cNvSpPr>
            <a:spLocks noGrp="1"/>
          </p:cNvSpPr>
          <p:nvPr/>
        </p:nvSpPr>
        <p:spPr bwMode="auto">
          <a:xfrm>
            <a:off x="7562850" y="5105400"/>
            <a:ext cx="36004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00" b="0" i="0">
                <a:solidFill>
                  <a:srgbClr val="243B53"/>
                </a:solidFill>
              </a:defRPr>
            </a:pPr>
            <a:r>
              <a:rPr sz="1300" b="0" i="0">
                <a:solidFill>
                  <a:srgbClr val="243B53"/>
                </a:solidFill>
              </a:rPr>
              <a:t>before anchor</a:t>
            </a:r>
            <a:endParaRPr/>
          </a:p>
        </p:txBody>
      </p:sp>
      <p:sp>
        <p:nvSpPr>
          <p:cNvPr id="83415924" name=""/>
          <p:cNvSpPr>
            <a:spLocks noGrp="1"/>
          </p:cNvSpPr>
          <p:nvPr/>
        </p:nvSpPr>
        <p:spPr bwMode="auto">
          <a:xfrm>
            <a:off x="1143000" y="5734050"/>
            <a:ext cx="99060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350" b="1" i="0">
                <a:solidFill>
                  <a:srgbClr val="102A43"/>
                </a:solidFill>
              </a:defRPr>
            </a:pPr>
            <a:r>
              <a:rPr sz="1350" b="1" i="0">
                <a:solidFill>
                  <a:srgbClr val="102A43"/>
                </a:solidFill>
              </a:rPr>
              <a:t>Step 1 always selects Aᵢ and Step 2 always selects Bᵢ; Step 3 reflects how those boundaries are used.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AFC"/>
        </a:solidFill>
      </p:bgPr>
    </p:bg>
    <p:spTree>
      <p:nvGrpSpPr>
        <p:cNvPr id="1" name=""/>
        <p:cNvGrpSpPr/>
        <p:nvPr/>
      </p:nvGrpSpPr>
      <p:grpSpPr bwMode="auto">
        <a:xfrm>
          <a:off x="0" y="0"/>
          <a:ext cx="0" cy="0"/>
          <a:chOff x="0" y="0"/>
          <a:chExt cx="0" cy="0"/>
        </a:xfrm>
      </p:grpSpPr>
      <p:sp>
        <p:nvSpPr>
          <p:cNvPr id="1833741003" name=""/>
          <p:cNvSpPr>
            <a:spLocks noGrp="1"/>
          </p:cNvSpPr>
          <p:nvPr/>
        </p:nvSpPr>
        <p:spPr bwMode="auto">
          <a:xfrm>
            <a:off x="628650" y="247650"/>
            <a:ext cx="3429000" cy="20955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900" b="1" i="0">
                <a:solidFill>
                  <a:srgbClr val="E76F51"/>
                </a:solidFill>
              </a:defRPr>
            </a:pPr>
            <a:r>
              <a:rPr sz="900" b="1" i="0">
                <a:solidFill>
                  <a:srgbClr val="E76F51"/>
                </a:solidFill>
              </a:rPr>
              <a:t>BACKUP E</a:t>
            </a:r>
            <a:endParaRPr/>
          </a:p>
        </p:txBody>
      </p:sp>
      <p:sp>
        <p:nvSpPr>
          <p:cNvPr id="2511796" name=""/>
          <p:cNvSpPr>
            <a:spLocks noGrp="1"/>
          </p:cNvSpPr>
          <p:nvPr/>
        </p:nvSpPr>
        <p:spPr bwMode="auto">
          <a:xfrm>
            <a:off x="609600" y="514350"/>
            <a:ext cx="10972800" cy="523875"/>
          </a:xfrm>
          <a:prstGeom prst="rect">
            <a:avLst/>
          </a:prstGeom>
          <a:noFill/>
          <a:ln w="0">
            <a:noFill/>
            <a:prstDash val="solid"/>
          </a:ln>
        </p:spPr>
        <p:txBody>
          <a:bodyPr wrap="square" lIns="38100" tIns="19050" rIns="38100" bIns="19050" anchor="ctr">
            <a:normAutofit fontScale="100000"/>
          </a:bodyPr>
          <a:lstStyle/>
          <a:p>
            <a:pPr algn="l">
              <a:lnSpc>
                <a:spcPct val="95000"/>
              </a:lnSpc>
              <a:buNone/>
              <a:defRPr sz="2700" b="1" i="0">
                <a:solidFill>
                  <a:srgbClr val="102A43"/>
                </a:solidFill>
              </a:defRPr>
            </a:pPr>
            <a:r>
              <a:rPr sz="2700" b="1" i="0">
                <a:solidFill>
                  <a:srgbClr val="102A43"/>
                </a:solidFill>
              </a:rPr>
              <a:t>Proposed finger-tree backend boundary</a:t>
            </a:r>
            <a:endParaRPr/>
          </a:p>
        </p:txBody>
      </p:sp>
      <p:sp>
        <p:nvSpPr>
          <p:cNvPr id="1511728623" name=""/>
          <p:cNvSpPr>
            <a:spLocks noGrp="1"/>
          </p:cNvSpPr>
          <p:nvPr/>
        </p:nvSpPr>
        <p:spPr bwMode="auto">
          <a:xfrm>
            <a:off x="609600" y="1085850"/>
            <a:ext cx="10972800" cy="9525"/>
          </a:xfrm>
          <a:prstGeom prst="line">
            <a:avLst/>
          </a:prstGeom>
          <a:noFill/>
          <a:ln w="28575">
            <a:solidFill>
              <a:srgbClr val="E76F51"/>
            </a:solidFill>
            <a:prstDash val="solid"/>
          </a:ln>
        </p:spPr>
      </p:sp>
      <p:sp>
        <p:nvSpPr>
          <p:cNvPr id="1806780752" name=""/>
          <p:cNvSpPr>
            <a:spLocks noGrp="1"/>
          </p:cNvSpPr>
          <p:nvPr/>
        </p:nvSpPr>
        <p:spPr bwMode="auto">
          <a:xfrm>
            <a:off x="609600" y="6477000"/>
            <a:ext cx="10972800" cy="9525"/>
          </a:xfrm>
          <a:prstGeom prst="line">
            <a:avLst/>
          </a:prstGeom>
          <a:noFill/>
          <a:ln w="9525">
            <a:solidFill>
              <a:srgbClr val="D9E2EC"/>
            </a:solidFill>
            <a:prstDash val="solid"/>
          </a:ln>
        </p:spPr>
      </p:sp>
      <p:sp>
        <p:nvSpPr>
          <p:cNvPr id="1768675483" name=""/>
          <p:cNvSpPr>
            <a:spLocks noGrp="1"/>
          </p:cNvSpPr>
          <p:nvPr/>
        </p:nvSpPr>
        <p:spPr bwMode="auto">
          <a:xfrm>
            <a:off x="647700" y="6534150"/>
            <a:ext cx="3619500" cy="190500"/>
          </a:xfrm>
          <a:prstGeom prst="rect">
            <a:avLst/>
          </a:prstGeom>
          <a:noFill/>
          <a:ln w="0">
            <a:noFill/>
            <a:prstDash val="solid"/>
          </a:ln>
        </p:spPr>
        <p:txBody>
          <a:bodyPr wrap="square" lIns="38100" tIns="19050" rIns="38100" bIns="19050" anchor="ctr">
            <a:normAutofit fontScale="100000"/>
          </a:bodyPr>
          <a:lstStyle/>
          <a:p>
            <a:pPr algn="l">
              <a:lnSpc>
                <a:spcPct val="105000"/>
              </a:lnSpc>
              <a:buNone/>
              <a:defRPr sz="850" b="1" i="0">
                <a:solidFill>
                  <a:srgbClr val="E76F51"/>
                </a:solidFill>
              </a:defRPr>
            </a:pPr>
            <a:r>
              <a:rPr sz="850" b="1" i="0">
                <a:solidFill>
                  <a:srgbClr val="E76F51"/>
                </a:solidFill>
              </a:rPr>
              <a:t>BACKUP</a:t>
            </a:r>
            <a:endParaRPr/>
          </a:p>
        </p:txBody>
      </p:sp>
      <p:sp>
        <p:nvSpPr>
          <p:cNvPr id="887647740" name=""/>
          <p:cNvSpPr>
            <a:spLocks noGrp="1"/>
          </p:cNvSpPr>
          <p:nvPr/>
        </p:nvSpPr>
        <p:spPr bwMode="auto">
          <a:xfrm>
            <a:off x="10668000" y="6534150"/>
            <a:ext cx="876299" cy="190500"/>
          </a:xfrm>
          <a:prstGeom prst="rect">
            <a:avLst/>
          </a:prstGeom>
          <a:noFill/>
          <a:ln w="0">
            <a:noFill/>
            <a:prstDash val="solid"/>
          </a:ln>
        </p:spPr>
        <p:txBody>
          <a:bodyPr wrap="square" lIns="38100" tIns="19050" rIns="38100" bIns="19050" anchor="ctr">
            <a:normAutofit fontScale="100000"/>
          </a:bodyPr>
          <a:lstStyle/>
          <a:p>
            <a:pPr algn="r">
              <a:lnSpc>
                <a:spcPct val="105000"/>
              </a:lnSpc>
              <a:buNone/>
              <a:defRPr sz="850" b="1" i="0">
                <a:solidFill>
                  <a:srgbClr val="7B8794"/>
                </a:solidFill>
              </a:defRPr>
            </a:pPr>
            <a:r>
              <a:rPr sz="850" b="1" i="0">
                <a:solidFill>
                  <a:srgbClr val="7B8794"/>
                </a:solidFill>
              </a:rPr>
              <a:t>E</a:t>
            </a:r>
            <a:endParaRPr/>
          </a:p>
        </p:txBody>
      </p:sp>
      <p:sp>
        <p:nvSpPr>
          <p:cNvPr id="1003985774" name=""/>
          <p:cNvSpPr>
            <a:spLocks noGrp="1"/>
          </p:cNvSpPr>
          <p:nvPr/>
        </p:nvSpPr>
        <p:spPr bwMode="auto">
          <a:xfrm>
            <a:off x="895350" y="1524000"/>
            <a:ext cx="2762250" cy="685800"/>
          </a:xfrm>
          <a:prstGeom prst="roundRect">
            <a:avLst>
              <a:gd name="adj" fmla="val 11111"/>
            </a:avLst>
          </a:prstGeom>
          <a:solidFill>
            <a:srgbClr val="E8F5F3"/>
          </a:solidFill>
          <a:ln w="14288">
            <a:solidFill>
              <a:srgbClr val="2A9D8F"/>
            </a:solidFill>
            <a:prstDash val="solid"/>
          </a:ln>
        </p:spPr>
      </p:sp>
      <p:sp>
        <p:nvSpPr>
          <p:cNvPr id="382717801" name=""/>
          <p:cNvSpPr>
            <a:spLocks noGrp="1"/>
          </p:cNvSpPr>
          <p:nvPr/>
        </p:nvSpPr>
        <p:spPr bwMode="auto">
          <a:xfrm>
            <a:off x="1028700" y="1657350"/>
            <a:ext cx="2495550" cy="4191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650" b="1" i="0">
                <a:solidFill>
                  <a:srgbClr val="102A43"/>
                </a:solidFill>
              </a:defRPr>
            </a:pPr>
            <a:r>
              <a:rPr sz="1650" b="1" i="0">
                <a:solidFill>
                  <a:srgbClr val="102A43"/>
                </a:solidFill>
              </a:rPr>
              <a:t>Paper Step 1/2/3</a:t>
            </a:r>
            <a:endParaRPr/>
          </a:p>
        </p:txBody>
      </p:sp>
      <p:sp>
        <p:nvSpPr>
          <p:cNvPr id="1628280056" name=""/>
          <p:cNvSpPr>
            <a:spLocks noGrp="1"/>
          </p:cNvSpPr>
          <p:nvPr/>
        </p:nvSpPr>
        <p:spPr bwMode="auto">
          <a:xfrm>
            <a:off x="4762500" y="1409700"/>
            <a:ext cx="6534150" cy="914400"/>
          </a:xfrm>
          <a:prstGeom prst="roundRect">
            <a:avLst>
              <a:gd name="adj" fmla="val 8333"/>
            </a:avLst>
          </a:prstGeom>
          <a:solidFill>
            <a:srgbClr val="FFFFFF"/>
          </a:solidFill>
          <a:ln w="14288">
            <a:solidFill>
              <a:srgbClr val="102A43"/>
            </a:solidFill>
            <a:prstDash val="solid"/>
          </a:ln>
        </p:spPr>
      </p:sp>
      <p:sp>
        <p:nvSpPr>
          <p:cNvPr id="639718668" name=""/>
          <p:cNvSpPr>
            <a:spLocks noGrp="1"/>
          </p:cNvSpPr>
          <p:nvPr/>
        </p:nvSpPr>
        <p:spPr bwMode="auto">
          <a:xfrm>
            <a:off x="4953000" y="1485900"/>
            <a:ext cx="6153149" cy="3429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650" b="1" i="0">
                <a:solidFill>
                  <a:srgbClr val="102A43"/>
                </a:solidFill>
              </a:defRPr>
            </a:pPr>
            <a:r>
              <a:rPr sz="1650" b="1" i="0">
                <a:solidFill>
                  <a:srgbClr val="102A43"/>
                </a:solidFill>
              </a:rPr>
              <a:t>Sibling-list backend interface</a:t>
            </a:r>
            <a:endParaRPr/>
          </a:p>
        </p:txBody>
      </p:sp>
      <p:sp>
        <p:nvSpPr>
          <p:cNvPr id="619169668" name=""/>
          <p:cNvSpPr>
            <a:spLocks noGrp="1"/>
          </p:cNvSpPr>
          <p:nvPr/>
        </p:nvSpPr>
        <p:spPr bwMode="auto">
          <a:xfrm>
            <a:off x="4991100" y="1847850"/>
            <a:ext cx="607695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050" b="0" i="0">
                <a:solidFill>
                  <a:srgbClr val="52606D"/>
                </a:solidFill>
              </a:defRPr>
            </a:pPr>
            <a:r>
              <a:rPr sz="1050" b="0" i="0">
                <a:solidFill>
                  <a:srgbClr val="52606D"/>
                </a:solidFill>
              </a:rPr>
              <a:t>make singleton • insert at left/right boundary • split at new-point value</a:t>
            </a:r>
            <a:endParaRPr/>
          </a:p>
          <a:p>
            <a:pPr algn="ctr">
              <a:lnSpc>
                <a:spcPct val="105000"/>
              </a:lnSpc>
              <a:buNone/>
              <a:defRPr sz="1050" b="0" i="0">
                <a:solidFill>
                  <a:srgbClr val="52606D"/>
                </a:solidFill>
              </a:defRPr>
            </a:pPr>
            <a:r>
              <a:rPr sz="1050" b="0" i="0">
                <a:solidFill>
                  <a:srgbClr val="52606D"/>
                </a:solidFill>
              </a:rPr>
              <a:t>access first/last child • preserve ownership and stable handles</a:t>
            </a:r>
            <a:endParaRPr/>
          </a:p>
        </p:txBody>
      </p:sp>
      <p:sp>
        <p:nvSpPr>
          <p:cNvPr id="294831189" name=""/>
          <p:cNvSpPr>
            <a:spLocks noGrp="1"/>
          </p:cNvSpPr>
          <p:nvPr/>
        </p:nvSpPr>
        <p:spPr bwMode="auto">
          <a:xfrm>
            <a:off x="876299" y="3352800"/>
            <a:ext cx="4762500" cy="1733550"/>
          </a:xfrm>
          <a:prstGeom prst="roundRect">
            <a:avLst>
              <a:gd name="adj" fmla="val 4396"/>
            </a:avLst>
          </a:prstGeom>
          <a:solidFill>
            <a:srgbClr val="E8F5F3"/>
          </a:solidFill>
          <a:ln w="14288">
            <a:solidFill>
              <a:srgbClr val="2A9D8F"/>
            </a:solidFill>
            <a:prstDash val="solid"/>
          </a:ln>
        </p:spPr>
      </p:sp>
      <p:sp>
        <p:nvSpPr>
          <p:cNvPr id="1025982473" name=""/>
          <p:cNvSpPr>
            <a:spLocks noGrp="1"/>
          </p:cNvSpPr>
          <p:nvPr/>
        </p:nvSpPr>
        <p:spPr bwMode="auto">
          <a:xfrm>
            <a:off x="6553200" y="3352800"/>
            <a:ext cx="4762500" cy="1733550"/>
          </a:xfrm>
          <a:prstGeom prst="roundRect">
            <a:avLst>
              <a:gd name="adj" fmla="val 4396"/>
            </a:avLst>
          </a:prstGeom>
          <a:solidFill>
            <a:srgbClr val="FCEEEA"/>
          </a:solidFill>
          <a:ln w="14288">
            <a:solidFill>
              <a:srgbClr val="E76F51"/>
            </a:solidFill>
            <a:prstDash val="solid"/>
          </a:ln>
        </p:spPr>
      </p:sp>
      <p:sp>
        <p:nvSpPr>
          <p:cNvPr id="207887794" name=""/>
          <p:cNvSpPr>
            <a:spLocks noGrp="1"/>
          </p:cNvSpPr>
          <p:nvPr/>
        </p:nvSpPr>
        <p:spPr bwMode="auto">
          <a:xfrm>
            <a:off x="1162050" y="3524250"/>
            <a:ext cx="419100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2A9D8F"/>
                </a:solidFill>
              </a:defRPr>
            </a:pPr>
            <a:r>
              <a:rPr sz="1950" b="1" i="0">
                <a:solidFill>
                  <a:srgbClr val="2A9D8F"/>
                </a:solidFill>
              </a:rPr>
              <a:t>Ordinary-list backend</a:t>
            </a:r>
            <a:endParaRPr/>
          </a:p>
        </p:txBody>
      </p:sp>
      <p:sp>
        <p:nvSpPr>
          <p:cNvPr id="1025517627" name=""/>
          <p:cNvSpPr>
            <a:spLocks noGrp="1"/>
          </p:cNvSpPr>
          <p:nvPr/>
        </p:nvSpPr>
        <p:spPr bwMode="auto">
          <a:xfrm>
            <a:off x="1162050" y="3943350"/>
            <a:ext cx="41910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750" b="1" i="0">
                <a:solidFill>
                  <a:srgbClr val="102A43"/>
                </a:solidFill>
              </a:defRPr>
            </a:pPr>
            <a:r>
              <a:rPr sz="1750" b="1" i="0">
                <a:solidFill>
                  <a:srgbClr val="102A43"/>
                </a:solidFill>
              </a:rPr>
              <a:t>CURRENT VALIDATED BASELINE</a:t>
            </a:r>
            <a:endParaRPr/>
          </a:p>
        </p:txBody>
      </p:sp>
      <p:sp>
        <p:nvSpPr>
          <p:cNvPr id="1739091644" name=""/>
          <p:cNvSpPr>
            <a:spLocks noGrp="1"/>
          </p:cNvSpPr>
          <p:nvPr/>
        </p:nvSpPr>
        <p:spPr bwMode="auto">
          <a:xfrm>
            <a:off x="1352550" y="4400550"/>
            <a:ext cx="3810000" cy="5143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0" i="0">
                <a:solidFill>
                  <a:srgbClr val="243B53"/>
                </a:solidFill>
              </a:defRPr>
            </a:pPr>
            <a:r>
              <a:rPr sz="1450" b="0" i="0">
                <a:solidFill>
                  <a:srgbClr val="243B53"/>
                </a:solidFill>
              </a:rPr>
              <a:t>ordinary Python lists</a:t>
            </a:r>
            <a:endParaRPr/>
          </a:p>
          <a:p>
            <a:pPr algn="ctr">
              <a:lnSpc>
                <a:spcPct val="105000"/>
              </a:lnSpc>
              <a:buNone/>
              <a:defRPr sz="1450" b="0" i="0">
                <a:solidFill>
                  <a:srgbClr val="243B53"/>
                </a:solidFill>
              </a:defRPr>
            </a:pPr>
            <a:r>
              <a:rPr sz="1450" b="0" i="0">
                <a:solidFill>
                  <a:srgbClr val="243B53"/>
                </a:solidFill>
              </a:rPr>
              <a:t>archived correctness and timing evidence</a:t>
            </a:r>
            <a:endParaRPr/>
          </a:p>
        </p:txBody>
      </p:sp>
      <p:sp>
        <p:nvSpPr>
          <p:cNvPr id="1486167769" name=""/>
          <p:cNvSpPr>
            <a:spLocks noGrp="1"/>
          </p:cNvSpPr>
          <p:nvPr/>
        </p:nvSpPr>
        <p:spPr bwMode="auto">
          <a:xfrm>
            <a:off x="6838950" y="3524250"/>
            <a:ext cx="4191000" cy="38100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950" b="1" i="0">
                <a:solidFill>
                  <a:srgbClr val="E76F51"/>
                </a:solidFill>
              </a:defRPr>
            </a:pPr>
            <a:r>
              <a:rPr sz="1950" b="1" i="0">
                <a:solidFill>
                  <a:srgbClr val="E76F51"/>
                </a:solidFill>
              </a:rPr>
              <a:t>Finger-tree backend</a:t>
            </a:r>
            <a:endParaRPr/>
          </a:p>
        </p:txBody>
      </p:sp>
      <p:sp>
        <p:nvSpPr>
          <p:cNvPr id="2030027296" name=""/>
          <p:cNvSpPr>
            <a:spLocks noGrp="1"/>
          </p:cNvSpPr>
          <p:nvPr/>
        </p:nvSpPr>
        <p:spPr bwMode="auto">
          <a:xfrm>
            <a:off x="6838950" y="3943350"/>
            <a:ext cx="4191000" cy="4000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750" b="1" i="0">
                <a:solidFill>
                  <a:srgbClr val="102A43"/>
                </a:solidFill>
              </a:defRPr>
            </a:pPr>
            <a:r>
              <a:rPr sz="1750" b="1" i="0">
                <a:solidFill>
                  <a:srgbClr val="102A43"/>
                </a:solidFill>
              </a:rPr>
              <a:t>PROPOSED EXTENSION</a:t>
            </a:r>
            <a:endParaRPr/>
          </a:p>
        </p:txBody>
      </p:sp>
      <p:sp>
        <p:nvSpPr>
          <p:cNvPr id="1431431921" name=""/>
          <p:cNvSpPr>
            <a:spLocks noGrp="1"/>
          </p:cNvSpPr>
          <p:nvPr/>
        </p:nvSpPr>
        <p:spPr bwMode="auto">
          <a:xfrm>
            <a:off x="7029450" y="4400550"/>
            <a:ext cx="3810000" cy="514350"/>
          </a:xfrm>
          <a:prstGeom prst="rect">
            <a:avLst/>
          </a:prstGeom>
          <a:noFill/>
          <a:ln w="0">
            <a:noFill/>
            <a:prstDash val="solid"/>
          </a:ln>
        </p:spPr>
        <p:txBody>
          <a:bodyPr wrap="square" lIns="38100" tIns="19050" rIns="38100" bIns="19050" anchor="ctr">
            <a:normAutofit fontScale="100000"/>
          </a:bodyPr>
          <a:lstStyle/>
          <a:p>
            <a:pPr algn="ctr">
              <a:lnSpc>
                <a:spcPct val="105000"/>
              </a:lnSpc>
              <a:buNone/>
              <a:defRPr sz="1450" b="0" i="0">
                <a:solidFill>
                  <a:srgbClr val="243B53"/>
                </a:solidFill>
              </a:defRPr>
            </a:pPr>
            <a:r>
              <a:rPr sz="1450" b="0" i="0">
                <a:solidFill>
                  <a:srgbClr val="243B53"/>
                </a:solidFill>
              </a:rPr>
              <a:t>semantic-equivalence target</a:t>
            </a:r>
            <a:endParaRPr/>
          </a:p>
          <a:p>
            <a:pPr algn="ctr">
              <a:lnSpc>
                <a:spcPct val="105000"/>
              </a:lnSpc>
              <a:buNone/>
              <a:defRPr sz="1450" b="0" i="0">
                <a:solidFill>
                  <a:srgbClr val="243B53"/>
                </a:solidFill>
              </a:defRPr>
            </a:pPr>
            <a:r>
              <a:rPr sz="1450" b="0" i="0">
                <a:solidFill>
                  <a:srgbClr val="243B53"/>
                </a:solidFill>
              </a:rPr>
              <a:t>new validation and experiment version</a:t>
            </a:r>
            <a:endParaRPr/>
          </a:p>
        </p:txBody>
      </p:sp>
      <p:sp>
        <p:nvSpPr>
          <p:cNvPr id="2050175132" name=""/>
          <p:cNvSpPr>
            <a:spLocks noGrp="1"/>
          </p:cNvSpPr>
          <p:nvPr/>
        </p:nvSpPr>
        <p:spPr bwMode="auto">
          <a:xfrm>
            <a:off x="1657350" y="5429250"/>
            <a:ext cx="8877300" cy="609600"/>
          </a:xfrm>
          <a:prstGeom prst="rect">
            <a:avLst/>
          </a:prstGeom>
          <a:noFill/>
          <a:ln w="0">
            <a:noFill/>
            <a:prstDash val="solid"/>
          </a:ln>
        </p:spPr>
        <p:txBody>
          <a:bodyPr wrap="square" lIns="38100" tIns="19050" rIns="38100" bIns="19050" anchor="ctr">
            <a:normAutofit fontScale="95238"/>
          </a:bodyPr>
          <a:lstStyle/>
          <a:p>
            <a:pPr algn="ctr">
              <a:lnSpc>
                <a:spcPct val="105000"/>
              </a:lnSpc>
              <a:buNone/>
              <a:defRPr sz="1900" b="1" i="0">
                <a:solidFill>
                  <a:srgbClr val="102A43"/>
                </a:solidFill>
              </a:defRPr>
            </a:pPr>
            <a:r>
              <a:rPr sz="1900" b="1" i="0">
                <a:solidFill>
                  <a:srgbClr val="102A43"/>
                </a:solidFill>
              </a:rPr>
              <a:t>Efficient tree splitting alone is insufficient if ownership transfer still scans and</a:t>
            </a:r>
            <a:endParaRPr/>
          </a:p>
          <a:p>
            <a:pPr algn="ctr">
              <a:lnSpc>
                <a:spcPct val="105000"/>
              </a:lnSpc>
              <a:buNone/>
              <a:defRPr sz="1900" b="1" i="0">
                <a:solidFill>
                  <a:srgbClr val="102A43"/>
                </a:solidFill>
              </a:defRPr>
            </a:pPr>
            <a:r>
              <a:rPr sz="1900" b="1" i="0">
                <a:solidFill>
                  <a:srgbClr val="102A43"/>
                </a:solidFill>
              </a:rPr>
              <a:t>rebinds every item.</a:t>
            </a:r>
            <a:endParaRPr/>
          </a:p>
        </p:txBody>
      </p:sp>
      <p:cxnSp>
        <p:nvCxnSpPr>
          <p:cNvPr id="759430426" name=""/>
          <p:cNvCxnSpPr>
            <a:stCxn id="1003985774" idx="3"/>
            <a:endCxn id="1628280056" idx="1"/>
          </p:cNvCxnSpPr>
          <p:nvPr/>
        </p:nvCxnSpPr>
        <p:spPr bwMode="auto">
          <a:xfrm>
            <a:off x="3657600" y="1866900"/>
            <a:ext cx="1104900" cy="0"/>
          </a:xfrm>
          <a:prstGeom prst="straightConnector1">
            <a:avLst/>
          </a:prstGeom>
          <a:ln w="19050">
            <a:solidFill>
              <a:srgbClr val="2A9D8F"/>
            </a:solidFill>
            <a:prstDash val="solid"/>
            <a:tailEnd type="arrow" w="med" len="med"/>
          </a:ln>
        </p:spPr>
      </p:cxnSp>
      <p:cxnSp>
        <p:nvCxnSpPr>
          <p:cNvPr id="1201156437" name=""/>
          <p:cNvCxnSpPr>
            <a:stCxn id="1628280056" idx="2"/>
            <a:endCxn id="294831189" idx="0"/>
          </p:cNvCxnSpPr>
          <p:nvPr/>
        </p:nvCxnSpPr>
        <p:spPr bwMode="auto">
          <a:xfrm flipH="1">
            <a:off x="3257550" y="2324100"/>
            <a:ext cx="4772025" cy="1028700"/>
          </a:xfrm>
          <a:prstGeom prst="bentConnector4">
            <a:avLst>
              <a:gd name="adj1" fmla="val 0"/>
              <a:gd name="adj2" fmla="val 50000"/>
            </a:avLst>
          </a:prstGeom>
          <a:ln w="19050">
            <a:solidFill>
              <a:srgbClr val="2A9D8F"/>
            </a:solidFill>
            <a:prstDash val="solid"/>
            <a:tailEnd type="arrow" w="med" len="med"/>
          </a:ln>
        </p:spPr>
      </p:cxnSp>
      <p:cxnSp>
        <p:nvCxnSpPr>
          <p:cNvPr id="699703085" name=""/>
          <p:cNvCxnSpPr>
            <a:stCxn id="1628280056" idx="2"/>
            <a:endCxn id="1025982473" idx="0"/>
          </p:cNvCxnSpPr>
          <p:nvPr/>
        </p:nvCxnSpPr>
        <p:spPr bwMode="auto">
          <a:xfrm>
            <a:off x="8029575" y="2324100"/>
            <a:ext cx="904875" cy="1028700"/>
          </a:xfrm>
          <a:prstGeom prst="bentConnector4">
            <a:avLst>
              <a:gd name="adj1" fmla="val 0"/>
              <a:gd name="adj2" fmla="val 50000"/>
            </a:avLst>
          </a:prstGeom>
          <a:ln w="19050">
            <a:solidFill>
              <a:srgbClr val="E76F51"/>
            </a:solidFill>
            <a:prstDash val="solid"/>
            <a:tailEnd type="arrow"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21</Slides>
  <Notes>21</Notes>
  <HiddenSlides>0</HiddenSlides>
  <MMClips>2</MMClips>
  <ScaleCrop>0</ScaleCrop>
  <HeadingPairs>
    <vt:vector size="4" baseType="variant">
      <vt:variant>
        <vt:lpstr>Theme</vt:lpstr>
      </vt:variant>
      <vt:variant>
        <vt:i4>1</vt:i4>
      </vt:variant>
      <vt:variant>
        <vt:lpstr>Slide Titles</vt:lpstr>
      </vt:variant>
      <vt:variant>
        <vt:i4>21</vt:i4>
      </vt:variant>
    </vt:vector>
  </HeadingPairs>
  <TitlesOfParts>
    <vt:vector size="2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cp:revision>
  <dcterms:modified xsi:type="dcterms:W3CDTF">2026-09-15T12:11:04Z</dcterms:modified>
</cp:coreProperties>
</file>