
<file path=[Content_Types].xml><?xml version="1.0" encoding="utf-8"?>
<Types xmlns="http://schemas.openxmlformats.org/package/2006/content-types">
  <Default Extension="xml" ContentType="application/xml"/>
  <Default Extension="xlsx" ContentType="application/vnd.openxmlformats-officedocument.spreadsheetml.sheet"/>
  <Default Extension="jpeg" ContentType="image/jpeg"/>
  <Default Extension="wmf" ContentType="image/x-wmf"/>
  <Default Extension="png" ContentType="image/png"/>
  <Default Extension="rels" ContentType="application/vnd.openxmlformats-package.relationships+xml"/>
  <Default Extension="bin" ContentType="application/vnd.openxmlformats-officedocument.oleObject"/>
  <Override PartName="/ppt/notesSlides/notesSlide13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16.xml" ContentType="application/vnd.openxmlformats-officedocument.presentationml.notesSlide+xml"/>
  <Override PartName="/ppt/slides/slide16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5.xml" ContentType="application/vnd.openxmlformats-officedocument.presentationml.slide+xml"/>
  <Override PartName="/ppt/slides/slide8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slides/slide7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2.xml" ContentType="application/vnd.openxmlformats-officedocument.presentationml.slide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14.xml" ContentType="application/vnd.openxmlformats-officedocument.presentationml.slid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theme/theme2.xml" ContentType="application/vnd.openxmlformats-officedocument.theme+xml"/>
  <Override PartName="/ppt/presentation.xml" ContentType="application/vnd.openxmlformats-officedocument.presentationml.presentation.main+xml"/>
  <Override PartName="/docProps/core.xml" ContentType="application/vnd.openxmlformats-package.core-properties+xml"/>
  <Override PartName="/ppt/notesSlides/notesSlide1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tableStyles.xml" ContentType="application/vnd.openxmlformats-officedocument.presentationml.tableStyle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notesSlides/notesSlide10.xml" ContentType="application/vnd.openxmlformats-officedocument.presentationml.notesSlide+xml"/>
  <Override PartName="/ppt/charts/chart1.xml" ContentType="application/vnd.openxmlformats-officedocument.drawingml.chart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sldMasterIdLst>
    <p:sldMasterId id="2147483648" r:id="rId1"/>
  </p:sldMasterIdLst>
  <p:notesMasterIdLst>
    <p:notesMasterId r:id="rId20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>
      <p:cViewPr varScale="1">
        <p:scale>
          <a:sx n="0" d="0"/>
          <a:sy n="0" d="0"/>
        </p:scale>
        <p:origin x="0" y="0"/>
      </p:cViewPr>
      <p:guideLst>
        <p:guide pos="3840"/>
        <p:guide pos="2160" orient="horz"/>
      </p:guideLst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 /><Relationship Id="rId22" Type="http://schemas.openxmlformats.org/officeDocument/2006/relationships/tableStyles" Target="tableStyles.xml" /><Relationship Id="rId23" Type="http://schemas.openxmlformats.org/officeDocument/2006/relationships/viewProps" Target="viewProps.xml" 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 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mc="http://schemas.openxmlformats.org/markup-compatibility/2006" xmlns:c15="http://schemas.microsoft.com/office/drawing/2012/chart" xmlns:c14="http://schemas.microsoft.com/office/drawing/2007/8/2/chart" xmlns:c16r2="http://schemas.microsoft.com/office/drawing/2015/06/chart">
  <c:date1904 val="0"/>
  <c:lang val="en-US"/>
  <c:roundedCorners val="0"/>
  <mc:AlternateContent>
    <mc:Choice Requires="c14">
      <c14:style val="102"/>
    </mc:Choice>
    <mc:Fallback>
      <c:style val="2"/>
    </mc:Fallback>
  </mc:AlternateContent>
  <c:chart>
    <c:plotArea>
      <c:layout/>
      <c:lineChart>
        <c:grouping val="standard"/>
        <c:varyColors val="0"/>
        <c:ser>
          <c:idx val="0"/>
          <c:order val="0"/>
          <c:tx>
            <c:v>Paper ordinary-list core</c:v>
          </c:tx>
          <c:spPr bwMode="auto">
            <a:prstGeom prst="rect">
              <a:avLst/>
            </a:prstGeom>
            <a:ln w="28575">
              <a:solidFill>
                <a:srgbClr val="2A9D8F"/>
              </a:solidFill>
              <a:prstDash val="solid"/>
            </a:ln>
          </c:spPr>
          <c:marker>
            <c:symbol val="circle"/>
            <c:size val="8"/>
            <c:spPr bwMode="auto">
              <a:prstGeom prst="rect">
                <a:avLst/>
              </a:prstGeom>
              <a:solidFill>
                <a:srgbClr val="2A9D8F"/>
              </a:solidFill>
            </c:spPr>
          </c:marker>
          <c:cat>
            <c:numRef>
              <c:f>'Chart Data'!$A$2:$A$6</c:f>
              <c:numCache>
                <c:formatCode>General</c:formatCode>
                <c:ptCount val="5"/>
                <c:pt idx="0">
                  <c:v>32</c:v>
                </c:pt>
                <c:pt idx="1">
                  <c:v>64</c:v>
                </c:pt>
                <c:pt idx="2">
                  <c:v>128</c:v>
                </c:pt>
                <c:pt idx="3">
                  <c:v>256</c:v>
                </c:pt>
                <c:pt idx="4">
                  <c:v>512</c:v>
                </c:pt>
              </c:numCache>
            </c:numRef>
          </c:cat>
          <c:val>
            <c:numRef>
              <c:f>'Chart Data'!$B$2:$B$6</c:f>
              <c:numCache>
                <c:formatCode>0.####</c:formatCode>
                <c:ptCount val="5"/>
                <c:pt idx="0">
                  <c:v>0.58690625</c:v>
                </c:pt>
                <c:pt idx="1">
                  <c:v>1.2821975</c:v>
                </c:pt>
                <c:pt idx="2">
                  <c:v>2.81508325</c:v>
                </c:pt>
                <c:pt idx="3">
                  <c:v>6.72124975</c:v>
                </c:pt>
                <c:pt idx="4">
                  <c:v>18.71668725</c:v>
                </c:pt>
              </c:numCache>
            </c:numRef>
          </c:val>
          <c:smooth val="0"/>
        </c:ser>
        <c:ser>
          <c:idx val="1"/>
          <c:order val="1"/>
          <c:tx>
            <c:v>Python sort</c:v>
          </c:tx>
          <c:spPr bwMode="auto">
            <a:prstGeom prst="rect">
              <a:avLst/>
            </a:prstGeom>
            <a:ln w="28575">
              <a:solidFill>
                <a:srgbClr val="E76F51"/>
              </a:solidFill>
              <a:prstDash val="solid"/>
            </a:ln>
          </c:spPr>
          <c:marker>
            <c:symbol val="square"/>
            <c:size val="8"/>
            <c:spPr bwMode="auto">
              <a:prstGeom prst="rect">
                <a:avLst/>
              </a:prstGeom>
              <a:solidFill>
                <a:srgbClr val="E76F51"/>
              </a:solidFill>
            </c:spPr>
          </c:marker>
          <c:cat>
            <c:numRef>
              <c:f>'Chart Data'!$C$2:$C$6</c:f>
              <c:numCache>
                <c:formatCode>General</c:formatCode>
                <c:ptCount val="5"/>
                <c:pt idx="0">
                  <c:v>32</c:v>
                </c:pt>
                <c:pt idx="1">
                  <c:v>64</c:v>
                </c:pt>
                <c:pt idx="2">
                  <c:v>128</c:v>
                </c:pt>
                <c:pt idx="3">
                  <c:v>256</c:v>
                </c:pt>
                <c:pt idx="4">
                  <c:v>512</c:v>
                </c:pt>
              </c:numCache>
            </c:numRef>
          </c:cat>
          <c:val>
            <c:numRef>
              <c:f>'Chart Data'!$D$2:$D$6</c:f>
              <c:numCache>
                <c:formatCode>0.####</c:formatCode>
                <c:ptCount val="5"/>
                <c:pt idx="0">
                  <c:v>0.000791</c:v>
                </c:pt>
                <c:pt idx="1">
                  <c:v>0.00141675</c:v>
                </c:pt>
                <c:pt idx="2">
                  <c:v>0.00263525</c:v>
                </c:pt>
                <c:pt idx="3">
                  <c:v>0.00520825</c:v>
                </c:pt>
                <c:pt idx="4">
                  <c:v>0.0105835</c:v>
                </c:pt>
              </c:numCache>
            </c:numRef>
          </c:val>
          <c:smooth val="0"/>
        </c:ser>
        <c:dLbls>
          <c:showBubbleSize val="0"/>
          <c:showCatName val="0"/>
          <c:showLeaderLines val="0"/>
          <c:showLegendKey val="0"/>
          <c:showPercent val="0"/>
          <c:showSerName val="0"/>
          <c:showVal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/>
                </a:pPr>
                <a:r>
                  <a:rPr sz="1300">
                    <a:solidFill>
                      <a:srgbClr val="52606D"/>
                    </a:solidFill>
                  </a:rPr>
                  <a:t>Input size n</a:t>
                </a:r>
                <a:endParaRPr/>
              </a:p>
            </c:rich>
          </c:tx>
          <c:layout/>
          <c:overlay val="0"/>
          <c:txPr>
            <a:bodyPr anchorCtr="1"/>
            <a:lstStyle/>
            <a:p>
              <a:pPr>
                <a:defRPr sz="1300">
                  <a:solidFill>
                    <a:srgbClr val="52606D"/>
                  </a:solidFill>
                </a:defRPr>
              </a:pPr>
              <a:endParaRPr/>
            </a:p>
          </c:txPr>
        </c:title>
        <c:numFmt formatCode="General"/>
        <c:majorTickMark val="none"/>
        <c:minorTickMark val="none"/>
        <c:spPr bwMode="auto">
          <a:prstGeom prst="rect">
            <a:avLst/>
          </a:prstGeom>
          <a:ln w="9525">
            <a:solidFill>
              <a:srgbClr val="D9E2EC"/>
            </a:solidFill>
            <a:prstDash val="solid"/>
          </a:ln>
        </c:spPr>
        <c:txPr>
          <a:bodyPr anchorCtr="1"/>
          <a:lstStyle/>
          <a:p>
            <a:pPr>
              <a:defRPr sz="1200">
                <a:solidFill>
                  <a:srgbClr val="52606D"/>
                </a:solidFill>
              </a:defRPr>
            </a:pPr>
            <a:endParaRPr/>
          </a:p>
        </c:txPr>
        <c:crossAx val="48672768"/>
        <c:crosses val="autoZero"/>
        <c:noMultiLvlLbl val="0"/>
      </c:catAx>
      <c:valAx>
        <c:axId val="48672768"/>
        <c:scaling>
          <c:logBase val="10.000000"/>
          <c:orientation val="minMax"/>
          <c:max val="100.000000"/>
          <c:min val="0.000100"/>
        </c:scaling>
        <c:delete val="0"/>
        <c:axPos val="l"/>
        <c:majorGridlines>
          <c:spPr bwMode="auto">
            <a:prstGeom prst="rect">
              <a:avLst/>
            </a:prstGeom>
            <a:ln w="9525">
              <a:solidFill>
                <a:srgbClr val="E6EDF3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/>
                </a:pPr>
                <a:r>
                  <a:rPr sz="1300">
                    <a:solidFill>
                      <a:srgbClr val="52606D"/>
                    </a:solidFill>
                  </a:rPr>
                  <a:t>Median call time (ms, log scale)</a:t>
                </a:r>
                <a:endParaRPr/>
              </a:p>
            </c:rich>
          </c:tx>
          <c:layout/>
          <c:overlay val="0"/>
          <c:txPr>
            <a:bodyPr anchorCtr="1"/>
            <a:lstStyle/>
            <a:p>
              <a:pPr>
                <a:defRPr sz="1300">
                  <a:solidFill>
                    <a:srgbClr val="52606D"/>
                  </a:solidFill>
                </a:defRPr>
              </a:pPr>
              <a:endParaRPr/>
            </a:p>
          </c:txPr>
        </c:title>
        <c:numFmt formatCode="0.####"/>
        <c:majorTickMark val="none"/>
        <c:minorTickMark val="none"/>
        <c:spPr bwMode="auto">
          <a:prstGeom prst="rect">
            <a:avLst/>
          </a:prstGeom>
          <a:ln w="9525">
            <a:solidFill>
              <a:srgbClr val="D9E2EC"/>
            </a:solidFill>
            <a:prstDash val="solid"/>
          </a:ln>
        </c:spPr>
        <c:txPr>
          <a:bodyPr anchorCtr="1"/>
          <a:lstStyle/>
          <a:p>
            <a:pPr>
              <a:defRPr sz="1150">
                <a:solidFill>
                  <a:srgbClr val="52606D"/>
                </a:solidFill>
              </a:defRPr>
            </a:pPr>
            <a:endParaRPr/>
          </a:p>
        </c:txPr>
        <c:crossAx val="48650112"/>
        <c:crosses val="autoZero"/>
        <c:crossBetween val="between"/>
      </c:valAx>
      <c:spPr bwMode="auto">
        <a:prstGeom prst="rect">
          <a:avLst/>
        </a:prstGeom>
        <a:solidFill>
          <a:srgbClr val="FFFFFF"/>
        </a:solidFill>
        <a:ln w="9525">
          <a:solidFill>
            <a:srgbClr val="D9E2EC"/>
          </a:solidFill>
          <a:prstDash val="solid"/>
        </a:ln>
      </c:spPr>
    </c:plotArea>
    <c:legend>
      <c:legendPos val="b"/>
      <c:layout/>
      <c:overlay val="0"/>
      <c:txPr>
        <a:bodyPr anchorCtr="1"/>
        <a:lstStyle/>
        <a:p>
          <a:pPr>
            <a:defRPr sz="1300">
              <a:solidFill>
                <a:srgbClr val="52606D"/>
              </a:solidFill>
            </a:defRPr>
          </a:pPr>
          <a:endParaRPr/>
        </a:p>
      </c:txPr>
    </c:legend>
    <c:plotVisOnly val="1"/>
    <c:showDLblsOverMax val="0"/>
  </c:chart>
  <c:spPr bwMode="auto">
    <a:xfrm rot="0">
      <a:off x="647700" y="1409700"/>
      <a:ext cx="7143750" cy="4286250"/>
    </a:xfrm>
    <a:prstGeom prst="rect">
      <a:avLst/>
    </a:prstGeom>
    <a:solidFill>
      <a:srgbClr val="FFFFFF"/>
    </a:solidFill>
    <a:ln w="9525">
      <a:solidFill>
        <a:srgbClr val="D9E2EC"/>
      </a:solidFill>
      <a:prstDash val="solid"/>
    </a:ln>
  </c:spPr>
  <c:externalData r:id="rId1">
    <c:autoUpdate val="1"/>
  </c:externalData>
</c:chartSpace>
</file>

<file path=ppt/embeddings/_rels/Microsoft_Excel_Worksheet1.xlsx.rels><?xml version="1.0" encoding="UTF-8" standalone="yes"?><Relationships xmlns="http://schemas.openxmlformats.org/package/2006/relationships"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4206027" name="Header Placeholder"/>
          <p:cNvSpPr/>
          <p:nvPr>
            <p:ph type="hdr" sz="quarter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6744809" name="Date Placeholder"/>
          <p:cNvSpPr/>
          <p:nvPr>
            <p:ph type="dt" sz="quarter" idx="1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34432596" name="Slide Image Placeholder"/>
          <p:cNvSpPr/>
          <p:nvPr>
            <p:ph type="sldImg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6707897" name="Notes Placeholder"/>
          <p:cNvSpPr/>
          <p:nvPr>
            <p:ph type="body" sz="quarter" idx="3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8701008" name="Footer Placeholder"/>
          <p:cNvSpPr/>
          <p:nvPr>
            <p:ph type="ftr" sz="quarter" idx="4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5892390" name="Slide Number Placeholder"/>
          <p:cNvSpPr/>
          <p:nvPr>
            <p:ph type="sldNum" sz="quarter" idx="5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/>
    </a:lvl1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 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 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 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 ?>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 ?>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8993172" name="Slide Image Placeholder 1"/>
          <p:cNvSpPr>
            <a:spLocks noGrp="1"/>
          </p:cNvSpPr>
          <p:nvPr>
            <p:ph type="sldImg" idx="0"/>
          </p:nvPr>
        </p:nvSpPr>
        <p:spPr bwMode="auto"/>
      </p:sp>
      <p:sp>
        <p:nvSpPr>
          <p:cNvPr id="63388595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sz="1400"/>
              <a:t>Good afternoon. This presentation updates my master's thesis on an executable reconstruction of Simplified Jordan Sorting using ordinary Python lists. </a:t>
            </a:r>
            <a:endParaRPr sz="1400"/>
          </a:p>
          <a:p>
            <a:pPr>
              <a:defRPr/>
            </a:pPr>
            <a:r>
              <a:rPr sz="1400"/>
              <a:t>The input gives the intersection points in curve order. </a:t>
            </a:r>
            <a:endParaRPr sz="1400"/>
          </a:p>
          <a:p>
            <a:pPr>
              <a:defRPr/>
            </a:pPr>
            <a:r>
              <a:rPr sz="1400"/>
              <a:t>The task is to recover their order along the x-axis. </a:t>
            </a:r>
            <a:endParaRPr sz="1400"/>
          </a:p>
          <a:p>
            <a:pPr>
              <a:defRPr/>
            </a:pPr>
            <a:r>
              <a:rPr sz="1400"/>
              <a:t>My previous report focused on static structure: rank intervals, upper and lower pair families, family trees, and an oracle-backed reference. </a:t>
            </a:r>
            <a:endParaRPr sz="1400"/>
          </a:p>
          <a:p>
            <a:pPr>
              <a:defRPr/>
            </a:pPr>
            <a:r>
              <a:rPr sz="1400"/>
              <a:t>The main question is whether the paper's dynamic procedure can maintain its own state and recover its own output. </a:t>
            </a:r>
            <a:endParaRPr sz="1400"/>
          </a:p>
          <a:p>
            <a:pPr>
              <a:defRPr/>
            </a:pPr>
            <a:r>
              <a:rPr sz="1400"/>
              <a:t>I will focus on two reconstruction decisions, then explain the validation checks and the runtime results from the formal experiment.</a:t>
            </a:r>
            <a:endParaRPr/>
          </a:p>
          <a:p>
            <a:pPr>
              <a:defRPr/>
            </a:pPr>
            <a:endParaRPr/>
          </a:p>
          <a:p>
            <a:pPr>
              <a:defRPr/>
            </a:pPr>
            <a:r>
              <a:rPr/>
              <a:t>中文参考</a:t>
            </a:r>
            <a:endParaRPr/>
          </a:p>
          <a:p>
            <a:pPr>
              <a:defRPr/>
            </a:pPr>
            <a:r>
              <a:rPr/>
              <a:t>大家好。这次汇报介绍我的硕士论文进展，主题是使用普通 Python list 对 Simplified Jordan Sorting 进行可执行重构。输入按沿曲线遇到交点的顺序给出；任务是恢复这些点沿横坐标轴的顺序。上次汇报聚焦静态结构，包括 rank interval、upper 和 lower pair family、family tree，以及 oracle 支持的 reference。核心问题是，论文中的动态过程能否维护自身状态，并从中恢复输出。我将重点解释两处重构决定，再介绍验证检查和正式实验的运行时间结果。</a:t>
            </a:r>
            <a:endParaRPr/>
          </a:p>
          <a:p>
            <a:pPr>
              <a:defRPr/>
            </a:pPr>
            <a:endParaRPr/>
          </a:p>
          <a:p>
            <a:pPr>
              <a:defRPr/>
            </a:pPr>
            <a:endParaRPr/>
          </a:p>
          <a:p>
            <a:pPr>
              <a:defRPr/>
            </a:pPr>
            <a:r>
              <a:rPr/>
              <a:t>[Sources]</a:t>
            </a:r>
            <a:endParaRPr/>
          </a:p>
          <a:p>
            <a:pPr>
              <a:defRPr/>
            </a:pPr>
            <a:r>
              <a:rPr/>
              <a:t>- thesis/frontmatter/abstract.tex</a:t>
            </a:r>
            <a:endParaRPr/>
          </a:p>
          <a:p>
            <a:pPr>
              <a:defRPr/>
            </a:pPr>
            <a:r>
              <a:rPr/>
              <a:t>- thesis/chapters/introduction.tex</a:t>
            </a:r>
            <a:endParaRPr/>
          </a:p>
          <a:p>
            <a:pPr>
              <a:defRPr/>
            </a:pPr>
            <a:r>
              <a:rPr/>
              <a:t>- thesis/figures/jordan_sorting_problem.pdf</a:t>
            </a:r>
            <a:endParaRPr/>
          </a:p>
        </p:txBody>
      </p:sp>
      <p:sp>
        <p:nvSpPr>
          <p:cNvPr id="65289341" name="Slide Number Placeholder 3"/>
          <p:cNvSpPr>
            <a:spLocks noGrp="1"/>
          </p:cNvSpPr>
          <p:nvPr>
            <p:ph type="sldNum" idx="5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2704214" name="Slide Image Placeholder 1"/>
          <p:cNvSpPr>
            <a:spLocks noGrp="1"/>
          </p:cNvSpPr>
          <p:nvPr>
            <p:ph type="sldImg" idx="0"/>
          </p:nvPr>
        </p:nvSpPr>
        <p:spPr bwMode="auto"/>
      </p:sp>
      <p:sp>
        <p:nvSpPr>
          <p:cNvPr id="35354544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sz="1400"/>
              <a:t>The previous implementation represented rank intervals, separated upper and lower pair families, rebuilt their laminar family trees, and computed structural metrics. </a:t>
            </a:r>
            <a:endParaRPr sz="1400"/>
          </a:p>
          <a:p>
            <a:pPr>
              <a:defRPr/>
            </a:pPr>
            <a:r>
              <a:rPr sz="1400"/>
              <a:t>An oracle checked input validity and supplied a reference answer. </a:t>
            </a:r>
            <a:endParaRPr sz="1400"/>
          </a:p>
          <a:p>
            <a:pPr>
              <a:defRPr/>
            </a:pPr>
            <a:r>
              <a:rPr sz="1400"/>
              <a:t>The missing part was the dynamic procedure: updating the processed prefix, splitting sibling lists, transferring ownership, and recovering output from maintained state. </a:t>
            </a:r>
            <a:endParaRPr sz="1400"/>
          </a:p>
          <a:p>
            <a:pPr>
              <a:defRPr/>
            </a:pPr>
            <a:r>
              <a:rPr sz="1400"/>
              <a:t>Each update must preserve both the partial order and the family structure. </a:t>
            </a:r>
            <a:endParaRPr sz="1400"/>
          </a:p>
          <a:p>
            <a:pPr>
              <a:defRPr/>
            </a:pPr>
            <a:r>
              <a:rPr sz="1400"/>
              <a:t>An error in one update can corrupt both, so safe dynamic updates were the main implementation gap.</a:t>
            </a:r>
            <a:endParaRPr/>
          </a:p>
          <a:p>
            <a:pPr>
              <a:defRPr/>
            </a:pPr>
            <a:endParaRPr/>
          </a:p>
          <a:p>
            <a:pPr>
              <a:defRPr/>
            </a:pPr>
            <a:r>
              <a:rPr/>
              <a:t>中文参考</a:t>
            </a:r>
            <a:endParaRPr/>
          </a:p>
          <a:p>
            <a:pPr>
              <a:defRPr/>
            </a:pPr>
            <a:r>
              <a:rPr/>
              <a:t>上次实现用 rank interval 表示输入，区分 upper 和 lower pair family，重构 laminar family tree，并计算结构指标。Oracle 检查输入有效性并提供参考答案。尚未实现的是动态过程：更新 processed prefix、拆分 sibling list、转移 ownership，以及从维护状态恢复输出。每次更新都必须保持 partial order 和 family structure 一致。一次更新出错就可能同时破坏两者，因此安全的动态更新是当时的主要实现缺口。</a:t>
            </a:r>
            <a:endParaRPr/>
          </a:p>
          <a:p>
            <a:pPr>
              <a:defRPr/>
            </a:pPr>
            <a:endParaRPr/>
          </a:p>
          <a:p>
            <a:pPr>
              <a:defRPr/>
            </a:pPr>
            <a:r>
              <a:rPr/>
              <a:t>[Sources]</a:t>
            </a:r>
            <a:endParaRPr/>
          </a:p>
          <a:p>
            <a:pPr>
              <a:defRPr/>
            </a:pPr>
            <a:r>
              <a:rPr/>
              <a:t>- thesis/chapters/background.tex</a:t>
            </a:r>
            <a:endParaRPr/>
          </a:p>
          <a:p>
            <a:pPr>
              <a:defRPr/>
            </a:pPr>
            <a:r>
              <a:rPr/>
              <a:t>- thesis/chapters/implementation.tex</a:t>
            </a:r>
            <a:endParaRPr/>
          </a:p>
          <a:p>
            <a:pPr>
              <a:defRPr/>
            </a:pPr>
            <a:r>
              <a:rPr/>
              <a:t>- Hoffmann et al. (1986), doi:10.1016/S0019-9958(86)80033-X</a:t>
            </a:r>
            <a:endParaRPr/>
          </a:p>
          <a:p>
            <a:pPr>
              <a:defRPr/>
            </a:pPr>
            <a:r>
              <a:rPr/>
              <a:t>- Fung et al. (1990), doi:10.1016/0020-0190(90)90111-A</a:t>
            </a:r>
            <a:endParaRPr/>
          </a:p>
        </p:txBody>
      </p:sp>
      <p:sp>
        <p:nvSpPr>
          <p:cNvPr id="1358745387" name="Slide Number Placeholder 3"/>
          <p:cNvSpPr>
            <a:spLocks noGrp="1"/>
          </p:cNvSpPr>
          <p:nvPr>
            <p:ph type="sldNum" idx="5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46516900" name="Slide Image Placeholder 1"/>
          <p:cNvSpPr>
            <a:spLocks noGrp="1"/>
          </p:cNvSpPr>
          <p:nvPr>
            <p:ph type="sldImg" idx="0"/>
          </p:nvPr>
        </p:nvSpPr>
        <p:spPr bwMode="auto"/>
      </p:sp>
      <p:sp>
        <p:nvSpPr>
          <p:cNvPr id="193310086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sz="1400"/>
              <a:t>Since then, I narrowed the scope to externally certified valid inputs and implemented the Step 1, Step 2, and Step 3 control flow. </a:t>
            </a:r>
            <a:endParaRPr sz="1400"/>
          </a:p>
          <a:p>
            <a:pPr>
              <a:defRPr/>
            </a:pPr>
            <a:r>
              <a:rPr sz="1400"/>
              <a:t>I added ownership checks, transactional updates, replay, and bounded validation. </a:t>
            </a:r>
            <a:endParaRPr sz="1400"/>
          </a:p>
          <a:p>
            <a:pPr>
              <a:defRPr/>
            </a:pPr>
            <a:r>
              <a:rPr sz="1400"/>
              <a:t>Once the implementation passed these checks, I ran a formal experiment with a fixed protocol. </a:t>
            </a:r>
            <a:endParaRPr sz="1400"/>
          </a:p>
          <a:p>
            <a:pPr>
              <a:defRPr/>
            </a:pPr>
            <a:r>
              <a:rPr sz="1400"/>
              <a:t>The result is an executable ordinary-list reconstruction.</a:t>
            </a:r>
            <a:endParaRPr/>
          </a:p>
          <a:p>
            <a:pPr>
              <a:defRPr/>
            </a:pPr>
            <a:endParaRPr/>
          </a:p>
          <a:p>
            <a:pPr>
              <a:defRPr/>
            </a:pPr>
            <a:r>
              <a:rPr/>
              <a:t>中文参考</a:t>
            </a:r>
            <a:endParaRPr/>
          </a:p>
          <a:p>
            <a:pPr>
              <a:defRPr/>
            </a:pPr>
            <a:r>
              <a:rPr/>
              <a:t>此后，我将范围缩小到外部 oracle 已认证的有效输入，并实现 Step 1、Step 2 和 Step 3 控制流。我加入 ownership 检查、事务式更新、重放和有界验证。实现通过这些检查后，我按固定协议运行了正式实验。当前成果是可执行的普通列表重构。</a:t>
            </a:r>
            <a:endParaRPr/>
          </a:p>
          <a:p>
            <a:pPr>
              <a:defRPr/>
            </a:pPr>
            <a:endParaRPr/>
          </a:p>
          <a:p>
            <a:pPr>
              <a:defRPr/>
            </a:pPr>
            <a:r>
              <a:rPr/>
              <a:t>[Sources]</a:t>
            </a:r>
            <a:endParaRPr/>
          </a:p>
          <a:p>
            <a:pPr>
              <a:defRPr/>
            </a:pPr>
            <a:r>
              <a:rPr/>
              <a:t>- thesis/chapters/introduction.tex</a:t>
            </a:r>
            <a:endParaRPr/>
          </a:p>
          <a:p>
            <a:pPr>
              <a:defRPr/>
            </a:pPr>
            <a:r>
              <a:rPr/>
              <a:t>- thesis/chapters/implementation.tex</a:t>
            </a:r>
            <a:endParaRPr/>
          </a:p>
          <a:p>
            <a:pPr>
              <a:defRPr/>
            </a:pPr>
            <a:r>
              <a:rPr/>
              <a:t>- thesis/chapters/methodology.tex</a:t>
            </a:r>
            <a:endParaRPr/>
          </a:p>
        </p:txBody>
      </p:sp>
      <p:sp>
        <p:nvSpPr>
          <p:cNvPr id="819563774" name="Slide Number Placeholder 3"/>
          <p:cNvSpPr>
            <a:spLocks noGrp="1"/>
          </p:cNvSpPr>
          <p:nvPr>
            <p:ph type="sldNum" idx="5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4011903" name="Slide Image Placeholder 1"/>
          <p:cNvSpPr>
            <a:spLocks noGrp="1"/>
          </p:cNvSpPr>
          <p:nvPr>
            <p:ph type="sldImg" idx="0"/>
          </p:nvPr>
        </p:nvSpPr>
        <p:spPr bwMode="auto"/>
      </p:sp>
      <p:sp>
        <p:nvSpPr>
          <p:cNvPr id="10409060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sz="1400"/>
              <a:t>The thesis studies the 1990 sorting procedure on inputs already certified as valid by an oracle. </a:t>
            </a:r>
            <a:endParaRPr sz="1400"/>
          </a:p>
          <a:p>
            <a:pPr>
              <a:defRPr/>
            </a:pPr>
            <a:r>
              <a:rPr sz="1400"/>
              <a:t>The experiment compares Python sort, the complete oracle-backed reference pipeline, and the reconstructed paper core. </a:t>
            </a:r>
            <a:endParaRPr sz="1400"/>
          </a:p>
          <a:p>
            <a:pPr>
              <a:defRPr/>
            </a:pPr>
            <a:r>
              <a:rPr sz="1400"/>
              <a:t>Recognition remains outside this experiment. </a:t>
            </a:r>
            <a:endParaRPr sz="1400"/>
          </a:p>
          <a:p>
            <a:pPr>
              <a:defRPr/>
            </a:pPr>
            <a:r>
              <a:rPr sz="1400"/>
              <a:t>The current core uses ordinary Python lists. </a:t>
            </a:r>
            <a:endParaRPr sz="1400"/>
          </a:p>
          <a:p>
            <a:pPr>
              <a:defRPr/>
            </a:pPr>
            <a:r>
              <a:rPr sz="1400"/>
              <a:t>It does not implement the specialized backend used in the historical linear-time analysis.</a:t>
            </a:r>
            <a:endParaRPr/>
          </a:p>
          <a:p>
            <a:pPr>
              <a:defRPr/>
            </a:pPr>
            <a:endParaRPr/>
          </a:p>
          <a:p>
            <a:pPr>
              <a:defRPr/>
            </a:pPr>
            <a:r>
              <a:rPr/>
              <a:t>中文参考</a:t>
            </a:r>
            <a:endParaRPr/>
          </a:p>
          <a:p>
            <a:pPr>
              <a:defRPr/>
            </a:pPr>
            <a:r>
              <a:rPr/>
              <a:t>论文研究的是 1990 年 sorting procedure 在 oracle 已认证有效的输入上的运行。实验比较 Python sort、完整的 oracle-backed reference pipeline 和重构后的 paper core。Recognition 不在本次实验范围内。当前 core 使用普通 Python list，尚未实现历史线性时间分析所使用的专用后端。</a:t>
            </a:r>
            <a:endParaRPr/>
          </a:p>
          <a:p>
            <a:pPr>
              <a:defRPr/>
            </a:pPr>
            <a:endParaRPr/>
          </a:p>
          <a:p>
            <a:pPr>
              <a:defRPr/>
            </a:pPr>
            <a:r>
              <a:rPr/>
              <a:t>[Sources]</a:t>
            </a:r>
            <a:endParaRPr/>
          </a:p>
          <a:p>
            <a:pPr>
              <a:defRPr/>
            </a:pPr>
            <a:r>
              <a:rPr/>
              <a:t>- thesis/chapters/introduction.tex</a:t>
            </a:r>
            <a:endParaRPr/>
          </a:p>
          <a:p>
            <a:pPr>
              <a:defRPr/>
            </a:pPr>
            <a:r>
              <a:rPr/>
              <a:t>- thesis/chapters/limitations.tex</a:t>
            </a:r>
            <a:endParaRPr/>
          </a:p>
          <a:p>
            <a:pPr>
              <a:defRPr/>
            </a:pPr>
            <a:r>
              <a:rPr/>
              <a:t>- thesis/chapters/methodology.tex</a:t>
            </a:r>
            <a:endParaRPr/>
          </a:p>
          <a:p>
            <a:pPr>
              <a:defRPr/>
            </a:pPr>
            <a:r>
              <a:rPr/>
              <a:t>- Supervisor feedback, September 2026</a:t>
            </a:r>
            <a:endParaRPr/>
          </a:p>
        </p:txBody>
      </p:sp>
      <p:sp>
        <p:nvSpPr>
          <p:cNvPr id="799686150" name="Slide Number Placeholder 3"/>
          <p:cNvSpPr>
            <a:spLocks noGrp="1"/>
          </p:cNvSpPr>
          <p:nvPr>
            <p:ph type="sldNum" idx="5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0189228" name="Slide Image Placeholder 1"/>
          <p:cNvSpPr>
            <a:spLocks noGrp="1"/>
          </p:cNvSpPr>
          <p:nvPr>
            <p:ph type="sldImg" idx="0"/>
          </p:nvPr>
        </p:nvSpPr>
        <p:spPr bwMode="auto"/>
      </p:sp>
      <p:sp>
        <p:nvSpPr>
          <p:cNvPr id="2049703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sz="1400"/>
              <a:t>RQ1 is the main technical question: can the ordinary-list reconstruction recover the correct sorted order from maintained state on certified valid inputs? </a:t>
            </a:r>
            <a:endParaRPr sz="1400"/>
          </a:p>
          <a:p>
            <a:pPr>
              <a:defRPr/>
            </a:pPr>
            <a:r>
              <a:rPr sz="1400"/>
              <a:t>RQ2 compares the paper call with Python sort and the complete reference pipeline under their stated timing scopes. </a:t>
            </a:r>
            <a:endParaRPr sz="1400"/>
          </a:p>
          <a:p>
            <a:pPr>
              <a:defRPr/>
            </a:pPr>
            <a:r>
              <a:rPr sz="1400"/>
              <a:t>RQ3 explores descriptive relationships between input structure, checked operation counters, and runtime. </a:t>
            </a:r>
            <a:endParaRPr sz="1400"/>
          </a:p>
          <a:p>
            <a:pPr>
              <a:defRPr/>
            </a:pPr>
            <a:r>
              <a:rPr sz="1400"/>
              <a:t>It does not claim a causal explanation. This talk focuses on RQ1 and the runtime baseline in RQ2. </a:t>
            </a:r>
            <a:endParaRPr sz="1400"/>
          </a:p>
          <a:p>
            <a:pPr>
              <a:defRPr/>
            </a:pPr>
            <a:r>
              <a:rPr sz="1400"/>
              <a:t>I do not present the structure–cost analysis here.</a:t>
            </a:r>
            <a:endParaRPr/>
          </a:p>
          <a:p>
            <a:pPr>
              <a:defRPr/>
            </a:pPr>
            <a:endParaRPr/>
          </a:p>
          <a:p>
            <a:pPr>
              <a:defRPr/>
            </a:pPr>
            <a:r>
              <a:rPr/>
              <a:t>中文参考</a:t>
            </a:r>
            <a:endParaRPr/>
          </a:p>
          <a:p>
            <a:pPr>
              <a:defRPr/>
            </a:pPr>
            <a:r>
              <a:rPr/>
              <a:t>RQ1 是主要技术问题：普通列表重构能否在认证后的有效输入上，从维护状态恢复正确排序？RQ2 比较 paper call、Python sort 和完整 reference pipeline 在各自计时范围下的表现。RQ3 探索输入结构、checked operation counter 与运行时间之间的描述性关系，不作因果解释。 本次汇报重点介绍 RQ1，以及 RQ2 中的运行时间基线；不展开结构与成本关系的分析。</a:t>
            </a:r>
            <a:endParaRPr/>
          </a:p>
          <a:p>
            <a:pPr>
              <a:defRPr/>
            </a:pPr>
            <a:endParaRPr/>
          </a:p>
          <a:p>
            <a:pPr>
              <a:defRPr/>
            </a:pPr>
            <a:endParaRPr/>
          </a:p>
          <a:p>
            <a:pPr>
              <a:defRPr/>
            </a:pPr>
            <a:r>
              <a:rPr/>
              <a:t>[Sources]</a:t>
            </a:r>
            <a:endParaRPr/>
          </a:p>
          <a:p>
            <a:pPr>
              <a:defRPr/>
            </a:pPr>
            <a:r>
              <a:rPr/>
              <a:t>- thesis/chapters/introduction.tex</a:t>
            </a:r>
            <a:endParaRPr/>
          </a:p>
        </p:txBody>
      </p:sp>
      <p:sp>
        <p:nvSpPr>
          <p:cNvPr id="1255250583" name="Slide Number Placeholder 3"/>
          <p:cNvSpPr>
            <a:spLocks noGrp="1"/>
          </p:cNvSpPr>
          <p:nvPr>
            <p:ph type="sldNum" idx="5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1391139" name="Slide Image Placeholder 1"/>
          <p:cNvSpPr>
            <a:spLocks noGrp="1"/>
          </p:cNvSpPr>
          <p:nvPr>
            <p:ph type="sldImg" idx="0"/>
          </p:nvPr>
        </p:nvSpPr>
        <p:spPr bwMode="auto"/>
      </p:sp>
      <p:sp>
        <p:nvSpPr>
          <p:cNvPr id="98794730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sz="1400"/>
              <a:t>Before the paper call, the oracle certifies input validity. </a:t>
            </a:r>
            <a:endParaRPr sz="1400"/>
          </a:p>
          <a:p>
            <a:pPr>
              <a:defRPr/>
            </a:pPr>
            <a:r>
              <a:rPr sz="1400"/>
              <a:t>After the call, the runner compares the returned output with the oracle's sorted result. </a:t>
            </a:r>
            <a:endParaRPr sz="1400"/>
          </a:p>
          <a:p>
            <a:pPr>
              <a:defRPr/>
            </a:pPr>
            <a:r>
              <a:rPr sz="1400"/>
              <a:t>The reference pipeline uses the complete oracle result, including that sorted output. </a:t>
            </a:r>
            <a:endParaRPr sz="1400"/>
          </a:p>
          <a:p>
            <a:pPr>
              <a:defRPr/>
            </a:pPr>
            <a:r>
              <a:rPr sz="1400"/>
              <a:t>The paper core receives only the original sequence under the certified precondition. </a:t>
            </a:r>
            <a:endParaRPr sz="1400"/>
          </a:p>
          <a:p>
            <a:pPr>
              <a:defRPr/>
            </a:pPr>
            <a:r>
              <a:rPr sz="1400"/>
              <a:t>It executes Step 1, Step 2, and Step 3, maintains the partial order and sibling lists, and recovers output from the partial order. </a:t>
            </a:r>
            <a:endParaRPr sz="1400"/>
          </a:p>
          <a:p>
            <a:pPr>
              <a:defRPr/>
            </a:pPr>
            <a:r>
              <a:rPr sz="1400"/>
              <a:t>Both methods are checked against the same expected answer, but they produce their outputs differently. </a:t>
            </a:r>
            <a:endParaRPr sz="1400"/>
          </a:p>
          <a:p>
            <a:pPr>
              <a:defRPr/>
            </a:pPr>
            <a:r>
              <a:rPr sz="1400"/>
              <a:t>The oracle-sorted answer never enters the paper core. </a:t>
            </a:r>
            <a:endParaRPr sz="1400"/>
          </a:p>
          <a:p>
            <a:pPr>
              <a:defRPr/>
            </a:pPr>
            <a:r>
              <a:rPr sz="1400"/>
              <a:t>The dashed comparison box therefore sits outside it.</a:t>
            </a:r>
            <a:endParaRPr/>
          </a:p>
          <a:p>
            <a:pPr>
              <a:defRPr/>
            </a:pPr>
            <a:endParaRPr/>
          </a:p>
          <a:p>
            <a:pPr>
              <a:defRPr/>
            </a:pPr>
            <a:r>
              <a:rPr/>
              <a:t>中文参考</a:t>
            </a:r>
            <a:endParaRPr/>
          </a:p>
          <a:p>
            <a:pPr>
              <a:defRPr/>
            </a:pPr>
            <a:r>
              <a:rPr/>
              <a:t>Paper call 之前，oracle 认证输入有效性；调用之后，runner 将返回值与 oracle 的排序结果比较。Reference pipeline 使用完整 oracle result，包括 sorted output。Paper core 只接收原始序列，并以已认证有效为前提。它执行 Step 1、Step 2 和 Step 3，维护 partial order 与 sibling list，再从 partial order 恢复输出。两条路径使用同一个 expected answer 检查，但输出来源不同。Oracle 的排序答案不会进入 paper core，因此图中的虚线比较框位于 core 外部。</a:t>
            </a:r>
            <a:endParaRPr/>
          </a:p>
          <a:p>
            <a:pPr>
              <a:defRPr/>
            </a:pPr>
            <a:endParaRPr/>
          </a:p>
          <a:p>
            <a:pPr>
              <a:defRPr/>
            </a:pPr>
            <a:r>
              <a:rPr/>
              <a:t>[Sources]</a:t>
            </a:r>
            <a:endParaRPr/>
          </a:p>
          <a:p>
            <a:pPr>
              <a:defRPr/>
            </a:pPr>
            <a:r>
              <a:rPr/>
              <a:t>- thesis/chapters/implementation.tex</a:t>
            </a:r>
            <a:endParaRPr/>
          </a:p>
          <a:p>
            <a:pPr>
              <a:defRPr/>
            </a:pPr>
            <a:r>
              <a:rPr/>
              <a:t>- thesis/chapters/methodology.tex</a:t>
            </a:r>
            <a:endParaRPr/>
          </a:p>
          <a:p>
            <a:pPr>
              <a:defRPr/>
            </a:pPr>
            <a:r>
              <a:rPr/>
              <a:t>- src/paper_jordan.py</a:t>
            </a:r>
            <a:endParaRPr/>
          </a:p>
          <a:p>
            <a:pPr>
              <a:defRPr/>
            </a:pPr>
            <a:r>
              <a:rPr/>
              <a:t>- src/simplified_jordan.py</a:t>
            </a:r>
            <a:endParaRPr/>
          </a:p>
        </p:txBody>
      </p:sp>
      <p:sp>
        <p:nvSpPr>
          <p:cNvPr id="1261904226" name="Slide Number Placeholder 3"/>
          <p:cNvSpPr>
            <a:spLocks noGrp="1"/>
          </p:cNvSpPr>
          <p:nvPr>
            <p:ph type="sldNum" idx="5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1040710" name="Slide Image Placeholder 1"/>
          <p:cNvSpPr>
            <a:spLocks noGrp="1"/>
          </p:cNvSpPr>
          <p:nvPr>
            <p:ph type="sldImg" idx="0"/>
          </p:nvPr>
        </p:nvSpPr>
        <p:spPr bwMode="auto"/>
      </p:sp>
      <p:sp>
        <p:nvSpPr>
          <p:cNvPr id="185719115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We maintain two things: the sorted order of the processed points, and the parent-child structure of the pairs. </a:t>
            </a:r>
            <a:endParaRPr/>
          </a:p>
          <a:p>
            <a:pPr>
              <a:defRPr/>
            </a:pPr>
            <a:r>
              <a:rPr sz="1400"/>
              <a:t>We initialize once, sorting only the first three points by x-coordinate. </a:t>
            </a:r>
            <a:endParaRPr sz="1400"/>
          </a:p>
          <a:p>
            <a:pPr>
              <a:defRPr/>
            </a:pPr>
            <a:r>
              <a:rPr sz="1400"/>
              <a:t>Their sorted order is called S three. We also initialize the upper and lower pair families, without an oracle answer. </a:t>
            </a:r>
            <a:endParaRPr sz="1400"/>
          </a:p>
          <a:p>
            <a:pPr>
              <a:defRPr/>
            </a:pPr>
            <a:r>
              <a:rPr sz="1400"/>
              <a:t>Point labels and stored pair endpoints keep curve order. </a:t>
            </a:r>
            <a:endParaRPr sz="1400"/>
          </a:p>
          <a:p>
            <a:pPr>
              <a:defRPr/>
            </a:pPr>
            <a:r>
              <a:rPr sz="1400"/>
              <a:t>Starting with point four, each round adds one point. </a:t>
            </a:r>
            <a:endParaRPr sz="1400"/>
          </a:p>
          <a:p>
            <a:pPr>
              <a:defRPr/>
            </a:pPr>
            <a:r>
              <a:rPr sz="1400"/>
              <a:t>We start from the previous point along the curve. </a:t>
            </a:r>
            <a:endParaRPr sz="1400"/>
          </a:p>
          <a:p>
            <a:pPr>
              <a:defRPr/>
            </a:pPr>
            <a:r>
              <a:rPr sz="1400"/>
              <a:t>Steps one and two use its neighbors in the sorted list to find predecessor boundary A sub i and successor boundary B sub i. </a:t>
            </a:r>
            <a:endParaRPr sz="1400"/>
          </a:p>
          <a:p>
            <a:pPr>
              <a:defRPr/>
            </a:pPr>
            <a:r>
              <a:rPr sz="1400"/>
              <a:t>Step three A places the new pair in the family structure and assigns its parent. </a:t>
            </a:r>
            <a:endParaRPr sz="1400"/>
          </a:p>
          <a:p>
            <a:pPr>
              <a:defRPr/>
            </a:pPr>
            <a:r>
              <a:rPr sz="1400"/>
              <a:t>Step three B splits a sibling list when needed, so newly enclosed pairs become children of the new pair. </a:t>
            </a:r>
            <a:endParaRPr sz="1400"/>
          </a:p>
          <a:p>
            <a:pPr>
              <a:defRPr/>
            </a:pPr>
            <a:r>
              <a:rPr sz="1400"/>
              <a:t>Only then does Step three C insert the new point into the sorted list, using an anchor selected from the maintained state. </a:t>
            </a:r>
            <a:endParaRPr sz="1400"/>
          </a:p>
          <a:p>
            <a:pPr>
              <a:defRPr/>
            </a:pPr>
            <a:r>
              <a:rPr sz="1400"/>
              <a:t>Increasing Step three A uses A sub i, and three B uses B sub i. </a:t>
            </a:r>
            <a:endParaRPr sz="1400"/>
          </a:p>
          <a:p>
            <a:pPr>
              <a:defRPr/>
            </a:pPr>
            <a:r>
              <a:rPr sz="1400"/>
              <a:t>Decreasing swaps these uses and reflects left and right operations. </a:t>
            </a:r>
            <a:endParaRPr sz="1400"/>
          </a:p>
          <a:p>
            <a:pPr>
              <a:defRPr/>
            </a:pPr>
            <a:r>
              <a:rPr sz="1400"/>
              <a:t>Steps one and two still return A and B. The paper states the increasing case. </a:t>
            </a:r>
            <a:endParaRPr sz="1400"/>
          </a:p>
          <a:p>
            <a:pPr>
              <a:defRPr/>
            </a:pPr>
            <a:r>
              <a:rPr sz="1400"/>
              <a:t>Decreasing is a symmetric reconstruction; anchor details are executable clarifications. </a:t>
            </a:r>
            <a:endParaRPr sz="1400"/>
          </a:p>
          <a:p>
            <a:pPr>
              <a:defRPr/>
            </a:pPr>
            <a:r>
              <a:rPr sz="1400"/>
              <a:t>These categories describe the basis of the reconstruction, not separate steps.</a:t>
            </a:r>
            <a:endParaRPr/>
          </a:p>
          <a:p>
            <a:pPr>
              <a:defRPr/>
            </a:pPr>
            <a:r>
              <a:rPr/>
              <a:t>中文参考</a:t>
            </a:r>
            <a:endParaRPr/>
          </a:p>
          <a:p>
            <a:pPr>
              <a:defRPr/>
            </a:pPr>
            <a:r>
              <a:rPr lang="en-US" sz="1200" b="0" i="0" u="none" strike="noStrike" cap="none" spc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我们同时维护两种信息：已处理点的排序，以及 pairs 之间的父子关系。初始化只做一次，仅将前三个点按 x 坐标排序，这个有序列表称为 S₃。同时建立 upper、lower pair family，不使用 oracle 的排序答案。点的编号和 pair 的端点存储仍保持曲线顺序。从第 4 个点开始，每轮加入一个新点。我们从沿曲线的前一个点出发。Step 1、2 利用它在有序列表中的邻居，分别找到 predecessor boundary Aᵢ 和 successor boundary Bᵢ。Step 3(a) 将新 pair 放入 family 结构，并确定它的 parent。Step 3(b) 在需要时拆分 sibling list，让新包含的旧 pairs 成为新 pair 的 children。到这时，Step 3(c) 才根据维护的状态选择 anchor，将新点插入有序列表。Increasing 时，Step 3(a) 使用 Aᵢ，3(b) 使用 Bᵢ。Decreasing 交换两者的用途，并镜像左右操作；Step 1、2 仍分别返回 Aᵢ、Bᵢ。论文描述 increasing 情形；decreasing 来自对称重构，anchor 的细节属于可执行化澄清。这些类别说明重构的依据，并不分别对应某个步骤。</a:t>
            </a:r>
            <a:endParaRPr sz="1200"/>
          </a:p>
          <a:p>
            <a:pPr>
              <a:defRPr/>
            </a:pPr>
            <a:endParaRPr/>
          </a:p>
          <a:p>
            <a:pPr>
              <a:defRPr/>
            </a:pPr>
            <a:r>
              <a:rPr/>
              <a:t>[Sources]</a:t>
            </a:r>
            <a:endParaRPr/>
          </a:p>
          <a:p>
            <a:pPr>
              <a:defRPr/>
            </a:pPr>
            <a:r>
              <a:rPr/>
              <a:t>- thesis/chapters/algorithm.tex</a:t>
            </a:r>
            <a:endParaRPr/>
          </a:p>
          <a:p>
            <a:pPr>
              <a:defRPr/>
            </a:pPr>
            <a:r>
              <a:rPr/>
              <a:t>- thesis/chapters/implementation.tex</a:t>
            </a:r>
            <a:endParaRPr/>
          </a:p>
          <a:p>
            <a:pPr>
              <a:defRPr/>
            </a:pPr>
            <a:r>
              <a:rPr/>
              <a:t>- Fung et al. (1990), doi:10.1016/0020-0190(90)90111-A</a:t>
            </a:r>
            <a:endParaRPr/>
          </a:p>
        </p:txBody>
      </p:sp>
      <p:sp>
        <p:nvSpPr>
          <p:cNvPr id="24461738" name="Slide Number Placeholder 3"/>
          <p:cNvSpPr>
            <a:spLocks noGrp="1"/>
          </p:cNvSpPr>
          <p:nvPr>
            <p:ph type="sldNum" idx="5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822440" name="Slide Image Placeholder 1"/>
          <p:cNvSpPr>
            <a:spLocks noGrp="1"/>
          </p:cNvSpPr>
          <p:nvPr>
            <p:ph type="sldImg" idx="0"/>
          </p:nvPr>
        </p:nvSpPr>
        <p:spPr bwMode="auto"/>
      </p:sp>
      <p:sp>
        <p:nvSpPr>
          <p:cNvPr id="73650779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sz="1400"/>
              <a:t>Take the input three, two, one, four. </a:t>
            </a:r>
            <a:endParaRPr sz="1400"/>
          </a:p>
          <a:p>
            <a:pPr>
              <a:defRPr/>
            </a:pPr>
            <a:r>
              <a:rPr sz="1400"/>
              <a:t>After initialization, the sorted list is one, two, three. </a:t>
            </a:r>
            <a:endParaRPr sz="1400"/>
          </a:p>
          <a:p>
            <a:pPr>
              <a:defRPr/>
            </a:pPr>
            <a:r>
              <a:rPr sz="1400"/>
              <a:t>The point labels still follow curve order.</a:t>
            </a:r>
            <a:endParaRPr sz="1400"/>
          </a:p>
          <a:p>
            <a:pPr>
              <a:defRPr/>
            </a:pPr>
            <a:r>
              <a:rPr sz="1400"/>
              <a:t>We now insert the fourth point, four. </a:t>
            </a:r>
            <a:endParaRPr sz="1400"/>
          </a:p>
          <a:p>
            <a:pPr>
              <a:defRPr/>
            </a:pPr>
            <a:r>
              <a:rPr sz="1400"/>
              <a:t>After Step three B, the new upper pair P four, with endpoints one and four, has one child: P two, stored as three, two.</a:t>
            </a:r>
            <a:endParaRPr sz="1400"/>
          </a:p>
          <a:p>
            <a:pPr>
              <a:defRPr/>
            </a:pPr>
            <a:r>
              <a:rPr sz="1400"/>
              <a:t>This update goes from one to four, so it is increasing. </a:t>
            </a:r>
            <a:endParaRPr sz="1400"/>
          </a:p>
          <a:p>
            <a:pPr>
              <a:defRPr/>
            </a:pPr>
            <a:r>
              <a:rPr sz="1400"/>
              <a:t>The child’s interval, from two to three, lies inside the new interval, from one to four. </a:t>
            </a:r>
            <a:endParaRPr sz="1400"/>
          </a:p>
          <a:p>
            <a:pPr>
              <a:defRPr/>
            </a:pPr>
            <a:r>
              <a:rPr sz="1400"/>
              <a:t>Four must therefore come after both child endpoints. </a:t>
            </a:r>
            <a:endParaRPr sz="1400"/>
          </a:p>
          <a:p>
            <a:pPr>
              <a:defRPr/>
            </a:pPr>
            <a:r>
              <a:rPr sz="1400"/>
              <a:t>The child’s right boundary is three, so three is our anchor.</a:t>
            </a:r>
            <a:endParaRPr sz="1400"/>
          </a:p>
          <a:p>
            <a:pPr>
              <a:defRPr/>
            </a:pPr>
            <a:r>
              <a:rPr sz="1400"/>
              <a:t>Inserting four immediately after two would put it between the child endpoints, giving one, two, four, three. </a:t>
            </a:r>
            <a:endParaRPr sz="1400"/>
          </a:p>
          <a:p>
            <a:pPr>
              <a:defRPr/>
            </a:pPr>
            <a:r>
              <a:rPr sz="1400"/>
              <a:t>Inserting it after three gives one, two, three, four.</a:t>
            </a:r>
            <a:endParaRPr sz="1400"/>
          </a:p>
          <a:p>
            <a:pPr>
              <a:defRPr/>
            </a:pPr>
            <a:r>
              <a:rPr sz="1400"/>
              <a:t>We could also store the endpoints from left to right, provided we keep their curve-order identities. </a:t>
            </a:r>
            <a:endParaRPr sz="1400"/>
          </a:p>
          <a:p>
            <a:pPr>
              <a:defRPr/>
            </a:pPr>
            <a:r>
              <a:rPr sz="1400"/>
              <a:t>The mistake is treating the second curve-order endpoint as the right endpoint.</a:t>
            </a:r>
            <a:endParaRPr sz="1400"/>
          </a:p>
          <a:p>
            <a:pPr>
              <a:defRPr/>
            </a:pPr>
            <a:r>
              <a:rPr sz="1400"/>
              <a:t>I record this as an executable clarification, not a verbatim rule from the 1990 paper.</a:t>
            </a:r>
            <a:endParaRPr/>
          </a:p>
          <a:p>
            <a:pPr>
              <a:defRPr/>
            </a:pPr>
            <a:r>
              <a:rPr/>
              <a:t>中文参考</a:t>
            </a:r>
            <a:endParaRPr/>
          </a:p>
          <a:p>
            <a:pPr>
              <a:defRPr/>
            </a:pPr>
            <a:r>
              <a:rPr/>
              <a:t>输入是 (3,2,1,4)。初始化后，有序列表是 [1,2,3]，但点的编号仍然按照曲线访问顺序保留。</a:t>
            </a:r>
            <a:endParaRPr/>
          </a:p>
          <a:p>
            <a:pPr>
              <a:defRPr/>
            </a:pPr>
            <a:r>
              <a:rPr/>
              <a:t>现在插入第四个点，也就是 4。Step 3(b) 完成后，新 upper pair P₄ 的端点是 (1,4)，它有一个 child：P₂，按曲线顺序存为 (3,2)。</a:t>
            </a:r>
            <a:endParaRPr/>
          </a:p>
          <a:p>
            <a:pPr>
              <a:defRPr/>
            </a:pPr>
            <a:r>
              <a:rPr/>
              <a:t>本次从 1 到 4，因此是 increasing。Child 的几何区间 [2,3] 位于新 pair 的区间 [1,4] 内。因此，4 必须排在 child 的两个端点之后。Child 的右边界是 3，所以我们选择 3 作为 anchor。</a:t>
            </a:r>
            <a:endParaRPr/>
          </a:p>
          <a:p>
            <a:pPr>
              <a:defRPr/>
            </a:pPr>
            <a:r>
              <a:rPr/>
              <a:t>如果把 4 紧挨着插在 2 后面，它就会落在列表中 child 的两个端点之间，得到 [1,2,4,3]。插在 3 后面，才得到 [1,2,3,4]。</a:t>
            </a:r>
            <a:endParaRPr/>
          </a:p>
          <a:p>
            <a:pPr>
              <a:defRPr/>
            </a:pPr>
            <a:r>
              <a:rPr/>
              <a:t>我们也可以把端点按从左到右的顺序存储，前提是保留它们的曲线身份信息。真正的错误，是把“曲线顺序中的第二个端点”当成“几何右端点”。</a:t>
            </a:r>
            <a:endParaRPr/>
          </a:p>
          <a:p>
            <a:pPr>
              <a:defRPr/>
            </a:pPr>
            <a:r>
              <a:rPr/>
              <a:t>我将这一明确选择记录为可执行化澄清，而不是 1990 年论文的逐字规则。</a:t>
            </a:r>
            <a:endParaRPr/>
          </a:p>
          <a:p>
            <a:pPr>
              <a:defRPr/>
            </a:pPr>
            <a:r>
              <a:rPr/>
              <a:t>[Sources]</a:t>
            </a:r>
            <a:endParaRPr/>
          </a:p>
          <a:p>
            <a:pPr>
              <a:defRPr/>
            </a:pPr>
            <a:r>
              <a:rPr/>
              <a:t>- thesis/chapters/algorithm.tex</a:t>
            </a:r>
            <a:endParaRPr/>
          </a:p>
          <a:p>
            <a:pPr>
              <a:defRPr/>
            </a:pPr>
            <a:r>
              <a:rPr/>
              <a:t>- src/paper_jordan.py</a:t>
            </a:r>
            <a:endParaRPr/>
          </a:p>
          <a:p>
            <a:pPr>
              <a:defRPr/>
            </a:pPr>
            <a:endParaRPr/>
          </a:p>
        </p:txBody>
      </p:sp>
      <p:sp>
        <p:nvSpPr>
          <p:cNvPr id="27016942" name="Slide Number Placeholder 3"/>
          <p:cNvSpPr>
            <a:spLocks noGrp="1"/>
          </p:cNvSpPr>
          <p:nvPr>
            <p:ph type="sldNum" idx="5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12125508" name="Slide Image Placeholder 1"/>
          <p:cNvSpPr>
            <a:spLocks noGrp="1"/>
          </p:cNvSpPr>
          <p:nvPr>
            <p:ph type="sldImg" idx="0"/>
          </p:nvPr>
        </p:nvSpPr>
        <p:spPr bwMode="auto"/>
      </p:sp>
      <p:sp>
        <p:nvSpPr>
          <p:cNvPr id="98438074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sz="1400"/>
              <a:t>Here we insert zero at iteration seven. </a:t>
            </a:r>
            <a:endParaRPr sz="1400"/>
          </a:p>
          <a:p>
            <a:pPr>
              <a:defRPr/>
            </a:pPr>
            <a:r>
              <a:rPr sz="1400"/>
              <a:t>The odd index makes the new pair a lower pair. </a:t>
            </a:r>
            <a:endParaRPr sz="1400"/>
          </a:p>
          <a:p>
            <a:pPr>
              <a:defRPr/>
            </a:pPr>
            <a:r>
              <a:rPr sz="1400"/>
              <a:t>Since zero is less than seven, this iteration is decreasing. </a:t>
            </a:r>
            <a:endParaRPr sz="1400"/>
          </a:p>
          <a:p>
            <a:pPr>
              <a:defRPr/>
            </a:pPr>
            <a:r>
              <a:rPr sz="1400"/>
              <a:t>After Step three B, the new pair has children P three and P five, shown here. </a:t>
            </a:r>
            <a:endParaRPr sz="1400"/>
          </a:p>
          <a:p>
            <a:pPr>
              <a:defRPr/>
            </a:pPr>
            <a:r>
              <a:rPr sz="1400"/>
              <a:t>Step three C takes the left endpoint of the leftmost child, P three, with endpoints two and three. </a:t>
            </a:r>
            <a:endParaRPr sz="1400"/>
          </a:p>
          <a:p>
            <a:pPr>
              <a:defRPr/>
            </a:pPr>
            <a:r>
              <a:rPr sz="1400"/>
              <a:t>So the base anchor is two. However, z one, with value one, is not an endpoint of any lower pair. </a:t>
            </a:r>
            <a:endParaRPr sz="1400"/>
          </a:p>
          <a:p>
            <a:pPr>
              <a:defRPr/>
            </a:pPr>
            <a:r>
              <a:rPr sz="1400"/>
              <a:t>It is still in the sorted list. Inserting zero before two would leave zero after one. </a:t>
            </a:r>
            <a:endParaRPr sz="1400"/>
          </a:p>
          <a:p>
            <a:pPr>
              <a:defRPr/>
            </a:pPr>
            <a:r>
              <a:rPr sz="1400"/>
              <a:t>Here the index is odd, and zero is smaller than z one, which is smaller than the base anchor. </a:t>
            </a:r>
            <a:endParaRPr sz="1400"/>
          </a:p>
          <a:p>
            <a:pPr>
              <a:defRPr/>
            </a:pPr>
            <a:r>
              <a:rPr sz="1400"/>
              <a:t>We therefore change the anchor to z one. </a:t>
            </a:r>
            <a:endParaRPr sz="1400"/>
          </a:p>
          <a:p>
            <a:pPr>
              <a:defRPr/>
            </a:pPr>
            <a:r>
              <a:rPr sz="1400"/>
              <a:t>This changes only output insertion, not the earlier boundary-pair selection.</a:t>
            </a:r>
            <a:endParaRPr/>
          </a:p>
          <a:p>
            <a:pPr>
              <a:defRPr/>
            </a:pPr>
            <a:endParaRPr/>
          </a:p>
          <a:p>
            <a:pPr>
              <a:defRPr/>
            </a:pPr>
            <a:r>
              <a:rPr/>
              <a:t>中文参考</a:t>
            </a:r>
            <a:endParaRPr/>
          </a:p>
          <a:p>
            <a:pPr>
              <a:defRPr/>
            </a:pPr>
            <a:r>
              <a:rPr lang="en-US" sz="1200" b="0" i="0" u="none" strike="noStrike" cap="none" spc="0">
                <a:solidFill>
                  <a:srgbClr val="000000"/>
                </a:solidFill>
                <a:latin typeface="+mn-lt"/>
                <a:ea typeface="+mn-ea"/>
                <a:cs typeface="+mn-cs"/>
              </a:rPr>
              <a:t>这里在第 7 次迭代插入 0。结束下标为奇数，因此新 pair 属于 lower family；0 小于旧端点 7，因此本次为 decreasing。Step 3(b) 后，新 pair 获得图中的 P₃ 和 P₅。Step 3(c) 取最左 child P₃ 的几何左端点。P₃ 的端点为 2 和 3，所以 base anchor 是 2。但是 z₁ 的值为 1，它不是任何 lower pair 的端点，却仍在有序列表中。若直接把 0 插在 2 前，会让 0 留在 1 后面。本例下标为奇数，且 0 小于 z₁，z₁ 又小于 base anchor，因此最终 anchor 改为 z₁。这只改变输出插入，不替代先前的 boundary-pair selection。</a:t>
            </a:r>
            <a:endParaRPr/>
          </a:p>
          <a:p>
            <a:pPr>
              <a:defRPr/>
            </a:pPr>
            <a:endParaRPr lang="en-US" sz="1200" b="0" i="0" u="none" strike="noStrike" cap="none" spc="0">
              <a:solidFill>
                <a:srgbClr val="000000"/>
              </a:solidFill>
              <a:latin typeface="+mn-lt"/>
              <a:ea typeface="+mn-ea"/>
              <a:cs typeface="+mn-cs"/>
            </a:endParaRPr>
          </a:p>
          <a:p>
            <a:pPr>
              <a:defRPr/>
            </a:pPr>
            <a:r>
              <a:rPr/>
              <a:t>[Sources]</a:t>
            </a:r>
            <a:endParaRPr/>
          </a:p>
          <a:p>
            <a:pPr>
              <a:defRPr/>
            </a:pPr>
            <a:r>
              <a:rPr/>
              <a:t>- thesis/chapters/algorithm.tex</a:t>
            </a:r>
            <a:endParaRPr/>
          </a:p>
          <a:p>
            <a:pPr>
              <a:defRPr/>
            </a:pPr>
            <a:r>
              <a:rPr/>
              <a:t>- thesis/figures/step3c_anchor_z1_anomaly.pdf</a:t>
            </a:r>
            <a:endParaRPr/>
          </a:p>
          <a:p>
            <a:pPr>
              <a:defRPr/>
            </a:pPr>
            <a:r>
              <a:rPr/>
              <a:t>- Hoffmann et al. (1986), p. 175, doi:10.1016/S0019-9958(86)80033-X</a:t>
            </a:r>
            <a:endParaRPr/>
          </a:p>
        </p:txBody>
      </p:sp>
      <p:sp>
        <p:nvSpPr>
          <p:cNvPr id="1729856411" name="Slide Number Placeholder 3"/>
          <p:cNvSpPr>
            <a:spLocks noGrp="1"/>
          </p:cNvSpPr>
          <p:nvPr>
            <p:ph type="sldNum" idx="5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2263618" name="Slide Image Placeholder 1"/>
          <p:cNvSpPr>
            <a:spLocks noGrp="1"/>
          </p:cNvSpPr>
          <p:nvPr>
            <p:ph type="sldImg" idx="0"/>
          </p:nvPr>
        </p:nvSpPr>
        <p:spPr bwMode="auto"/>
      </p:sp>
      <p:sp>
        <p:nvSpPr>
          <p:cNvPr id="179107615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sz="1400"/>
              <a:t>Here, ownership means which parent pair a child list belongs to. </a:t>
            </a:r>
            <a:endParaRPr sz="1400"/>
          </a:p>
          <a:p>
            <a:pPr>
              <a:defRPr/>
            </a:pPr>
            <a:r>
              <a:rPr sz="1400"/>
              <a:t>When children move, their parent links and list membership must stay consistent. </a:t>
            </a:r>
            <a:endParaRPr sz="1400"/>
          </a:p>
          <a:p>
            <a:pPr>
              <a:defRPr/>
            </a:pPr>
            <a:r>
              <a:rPr sz="1400"/>
              <a:t>Before a split, the existing parent owns both segments. </a:t>
            </a:r>
            <a:endParaRPr sz="1400"/>
          </a:p>
          <a:p>
            <a:pPr>
              <a:defRPr/>
            </a:pPr>
            <a:r>
              <a:rPr sz="1400"/>
              <a:t>After the split, it keeps the retained segment, while the new parent receives the acquired segment. </a:t>
            </a:r>
            <a:endParaRPr sz="1400"/>
          </a:p>
          <a:p>
            <a:pPr>
              <a:defRPr/>
            </a:pPr>
            <a:r>
              <a:rPr sz="1400"/>
              <a:t>Both nonempty sides may get new lists, but only the acquired segment changes parent. </a:t>
            </a:r>
            <a:endParaRPr sz="1400"/>
          </a:p>
          <a:p>
            <a:pPr>
              <a:defRPr/>
            </a:pPr>
            <a:r>
              <a:rPr sz="1400"/>
              <a:t>Split and transfer form one transaction: save the affected state, update it, then check the boundary and ownership. </a:t>
            </a:r>
            <a:endParaRPr sz="1400"/>
          </a:p>
          <a:p>
            <a:pPr>
              <a:defRPr/>
            </a:pPr>
            <a:r>
              <a:rPr sz="1400"/>
              <a:t>If a check fails, rollback restores the previous state. </a:t>
            </a:r>
            <a:endParaRPr sz="1400"/>
          </a:p>
          <a:p>
            <a:pPr>
              <a:defRPr/>
            </a:pPr>
            <a:r>
              <a:rPr sz="1400"/>
              <a:t>Ordinary lists incur scanning, copying, slicing, and ownership-rebinding costs. </a:t>
            </a:r>
            <a:endParaRPr sz="1400"/>
          </a:p>
          <a:p>
            <a:pPr>
              <a:defRPr/>
            </a:pPr>
            <a:r>
              <a:rPr sz="1400"/>
              <a:t>These checks do not establish the update bounds required by the historical linear-time analysis.</a:t>
            </a:r>
            <a:endParaRPr/>
          </a:p>
          <a:p>
            <a:pPr>
              <a:defRPr/>
            </a:pPr>
            <a:endParaRPr/>
          </a:p>
          <a:p>
            <a:pPr>
              <a:defRPr/>
            </a:pPr>
            <a:r>
              <a:rPr/>
              <a:t>中文参考</a:t>
            </a:r>
            <a:endParaRPr/>
          </a:p>
          <a:p>
            <a:pPr>
              <a:defRPr/>
            </a:pPr>
            <a:r>
              <a:rPr/>
              <a:t>这里的 ownership 指一张 children list 归哪个 parent pair 管理。当 children 转移时，parent 记录和列表归属必须一起保持一致。拆分前，原 parent 拥有两个片段。拆分后，它保留 retained segment，新 parent 接收 acquired segment。两个非空侧都可能得到新 list，但只有 acquired segment 改变 parent。Split 和 transfer 构成一个 transaction：保存受影响状态，执行更新，再检查边界和 ownership。若检查失败，rollback 恢复之前的状态。普通列表会产生扫描、复制、切片和 ownership rebinding 成本。这些检查不能建立历史线性时间分析所需的更新界。</a:t>
            </a:r>
            <a:endParaRPr/>
          </a:p>
          <a:p>
            <a:pPr>
              <a:defRPr/>
            </a:pPr>
            <a:endParaRPr/>
          </a:p>
          <a:p>
            <a:pPr>
              <a:defRPr/>
            </a:pPr>
            <a:endParaRPr/>
          </a:p>
          <a:p>
            <a:pPr>
              <a:defRPr/>
            </a:pPr>
            <a:r>
              <a:rPr/>
              <a:t>[Sources]</a:t>
            </a:r>
            <a:endParaRPr/>
          </a:p>
          <a:p>
            <a:pPr>
              <a:defRPr/>
            </a:pPr>
            <a:r>
              <a:rPr/>
              <a:t>- thesis/chapters/implementation.tex</a:t>
            </a:r>
            <a:endParaRPr/>
          </a:p>
          <a:p>
            <a:pPr>
              <a:defRPr/>
            </a:pPr>
            <a:r>
              <a:rPr/>
              <a:t>- thesis/figures/family_sibling_structure.pdf</a:t>
            </a:r>
            <a:endParaRPr/>
          </a:p>
          <a:p>
            <a:pPr>
              <a:defRPr/>
            </a:pPr>
            <a:r>
              <a:rPr/>
              <a:t>- src/paper_jordan.py</a:t>
            </a:r>
            <a:endParaRPr/>
          </a:p>
        </p:txBody>
      </p:sp>
      <p:sp>
        <p:nvSpPr>
          <p:cNvPr id="646246311" name="Slide Number Placeholder 3"/>
          <p:cNvSpPr>
            <a:spLocks noGrp="1"/>
          </p:cNvSpPr>
          <p:nvPr>
            <p:ph type="sldNum" idx="5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2163059" name="Slide Image Placeholder 1"/>
          <p:cNvSpPr>
            <a:spLocks noGrp="1"/>
          </p:cNvSpPr>
          <p:nvPr>
            <p:ph type="sldImg" idx="0"/>
          </p:nvPr>
        </p:nvSpPr>
        <p:spPr bwMode="auto"/>
      </p:sp>
      <p:sp>
        <p:nvSpPr>
          <p:cNvPr id="185906156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sz="1400"/>
              <a:t>The left side checks the implementation and its state.</a:t>
            </a:r>
            <a:r>
              <a:rPr sz="1400"/>
              <a:t> </a:t>
            </a:r>
            <a:endParaRPr sz="1400"/>
          </a:p>
          <a:p>
            <a:pPr>
              <a:defRPr/>
            </a:pPr>
            <a:r>
              <a:rPr sz="1400"/>
              <a:t>The right side checks the saved experiment records and recomputes their summaries. </a:t>
            </a:r>
            <a:endParaRPr sz="1400"/>
          </a:p>
          <a:p>
            <a:pPr>
              <a:defRPr/>
            </a:pPr>
            <a:r>
              <a:rPr sz="1400"/>
              <a:t>On the left, complementary checks include focused regression cases, all 2,074 oracle-valid permutations up to size eight, and checked-state audits of parent links, ownership, sibling lists, and recovered output. </a:t>
            </a:r>
            <a:endParaRPr sz="1400"/>
          </a:p>
          <a:p>
            <a:pPr>
              <a:defRPr/>
            </a:pPr>
            <a:r>
              <a:rPr sz="1400"/>
              <a:t>Deterministic replay compares states from repeated runs of the same core; it is not a second independent implementation. </a:t>
            </a:r>
            <a:endParaRPr sz="1400"/>
          </a:p>
          <a:p>
            <a:pPr>
              <a:defRPr/>
            </a:pPr>
            <a:r>
              <a:rPr sz="1400"/>
              <a:t>On the right, checks compare the archived records with the fixed experiment setup and recomputed summaries. </a:t>
            </a:r>
            <a:endParaRPr sz="1400"/>
          </a:p>
          <a:p>
            <a:pPr>
              <a:defRPr/>
            </a:pPr>
            <a:r>
              <a:rPr sz="1400"/>
              <a:t>This finite evidence is not a mathematical proof for every Jordan sequence.</a:t>
            </a:r>
            <a:endParaRPr/>
          </a:p>
          <a:p>
            <a:pPr>
              <a:defRPr/>
            </a:pPr>
            <a:endParaRPr/>
          </a:p>
          <a:p>
            <a:pPr>
              <a:defRPr/>
            </a:pPr>
            <a:r>
              <a:rPr/>
              <a:t>中文参考</a:t>
            </a:r>
            <a:endParaRPr/>
          </a:p>
          <a:p>
            <a:pPr>
              <a:defRPr/>
            </a:pPr>
            <a:r>
              <a:rPr/>
              <a:t>左侧检查实现及其内部状态；右侧检查保存的实验记录，并重新计算汇总。左侧是互补的检查方式，包括重点回归用例、n 不超过 8 的全部 2,074 个 oracle-valid permutation，以及对 parent link、ownership、sibling list 和恢复输出的 checked-state audit。确定性重放比较同一 core 多次运行后的状态，并不是第二套独立实现。右侧将归档记录与固定实验设置及重算汇总核对。这些有限证据不是对所有 Jordan sequence 的数学证明。</a:t>
            </a:r>
            <a:endParaRPr/>
          </a:p>
          <a:p>
            <a:pPr>
              <a:defRPr/>
            </a:pPr>
            <a:endParaRPr/>
          </a:p>
          <a:p>
            <a:pPr>
              <a:defRPr/>
            </a:pPr>
            <a:endParaRPr/>
          </a:p>
          <a:p>
            <a:pPr>
              <a:defRPr/>
            </a:pPr>
            <a:r>
              <a:rPr/>
              <a:t>[Sources]</a:t>
            </a:r>
            <a:endParaRPr/>
          </a:p>
          <a:p>
            <a:pPr>
              <a:defRPr/>
            </a:pPr>
            <a:r>
              <a:rPr/>
              <a:t>- thesis/chapters/implementation.tex</a:t>
            </a:r>
            <a:endParaRPr/>
          </a:p>
          <a:p>
            <a:pPr>
              <a:defRPr/>
            </a:pPr>
            <a:r>
              <a:rPr/>
              <a:t>- thesis/chapters/methodology.tex</a:t>
            </a:r>
            <a:endParaRPr/>
          </a:p>
          <a:p>
            <a:pPr>
              <a:defRPr/>
            </a:pPr>
            <a:r>
              <a:rPr/>
              <a:t>- docs/thesis/latex_final_audit.md</a:t>
            </a:r>
            <a:endParaRPr/>
          </a:p>
          <a:p>
            <a:pPr>
              <a:defRPr/>
            </a:pPr>
            <a:r>
              <a:rPr/>
              <a:t>- experiments/validate_week12_formal_sorting_outputs.py</a:t>
            </a:r>
            <a:endParaRPr/>
          </a:p>
        </p:txBody>
      </p:sp>
      <p:sp>
        <p:nvSpPr>
          <p:cNvPr id="1616603170" name="Slide Number Placeholder 3"/>
          <p:cNvSpPr>
            <a:spLocks noGrp="1"/>
          </p:cNvSpPr>
          <p:nvPr>
            <p:ph type="sldNum" idx="5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3262245" name="Slide Image Placeholder 1"/>
          <p:cNvSpPr>
            <a:spLocks noGrp="1"/>
          </p:cNvSpPr>
          <p:nvPr>
            <p:ph type="sldImg" idx="0"/>
          </p:nvPr>
        </p:nvSpPr>
        <p:spPr bwMode="auto"/>
      </p:sp>
      <p:sp>
        <p:nvSpPr>
          <p:cNvPr id="161809999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sz="1400"/>
              <a:t>We test five sizes from 32 to 512 points. </a:t>
            </a:r>
            <a:endParaRPr sz="1400"/>
          </a:p>
          <a:p>
            <a:pPr>
              <a:defRPr/>
            </a:pPr>
            <a:r>
              <a:rPr sz="1400"/>
              <a:t>Each size has one flat case, one nested case, and ten incrementally generated valid cases: 60 inputs. </a:t>
            </a:r>
            <a:endParaRPr sz="1400"/>
          </a:p>
          <a:p>
            <a:pPr>
              <a:defRPr/>
            </a:pPr>
            <a:r>
              <a:rPr sz="1400"/>
              <a:t>Flat inputs increase; nested inputs alternate the smallest and largest remaining values. </a:t>
            </a:r>
            <a:endParaRPr sz="1400"/>
          </a:p>
          <a:p>
            <a:pPr>
              <a:defRPr/>
            </a:pPr>
            <a:r>
              <a:rPr sz="1400"/>
              <a:t>Incremental generation uses fixed seeds and validity checks. </a:t>
            </a:r>
            <a:endParaRPr sz="1400"/>
          </a:p>
          <a:p>
            <a:pPr>
              <a:defRPr/>
            </a:pPr>
            <a:r>
              <a:rPr sz="1400"/>
              <a:t>Each algorithm has five warm-ups and twenty measured calls per input, giving 3,600 rows. </a:t>
            </a:r>
            <a:endParaRPr sz="1400"/>
          </a:p>
          <a:p>
            <a:pPr>
              <a:defRPr/>
            </a:pPr>
            <a:r>
              <a:rPr sz="1400"/>
              <a:t>Repeated calls use fresh lists; algorithm positions rotate. </a:t>
            </a:r>
            <a:endParaRPr sz="1400"/>
          </a:p>
          <a:p>
            <a:pPr>
              <a:defRPr/>
            </a:pPr>
            <a:r>
              <a:rPr sz="1400"/>
              <a:t>Certification and one checked-state audit per case precede paper timing. Minimal mode runs the same core on all points, omitting detailed trace and some diagnostic checks. </a:t>
            </a:r>
            <a:endParaRPr sz="1400"/>
          </a:p>
          <a:p>
            <a:pPr>
              <a:defRPr/>
            </a:pPr>
            <a:r>
              <a:rPr sz="1400"/>
              <a:t>Paper timing includes initialization, Steps one to three, and output recovery. </a:t>
            </a:r>
            <a:endParaRPr sz="1400"/>
          </a:p>
          <a:p>
            <a:pPr>
              <a:defRPr/>
            </a:pPr>
            <a:r>
              <a:rPr sz="1400"/>
              <a:t>Output comparison follows timing. </a:t>
            </a:r>
            <a:endParaRPr sz="1400"/>
          </a:p>
          <a:p>
            <a:pPr>
              <a:defRPr/>
            </a:pPr>
            <a:r>
              <a:rPr sz="1400"/>
              <a:t>Python times sorting; reference times its complete oracle-backed pipeline. The runtime slide shows paper and Python.</a:t>
            </a:r>
            <a:endParaRPr/>
          </a:p>
          <a:p>
            <a:pPr>
              <a:defRPr/>
            </a:pPr>
            <a:endParaRPr/>
          </a:p>
          <a:p>
            <a:pPr>
              <a:defRPr/>
            </a:pPr>
            <a:r>
              <a:rPr/>
              <a:t>中文参考</a:t>
            </a:r>
            <a:endParaRPr/>
          </a:p>
          <a:p>
            <a:pPr>
              <a:defRPr/>
            </a:pPr>
            <a:r>
              <a:rPr/>
              <a:t>实验测试从 32 到 512 个点的 5 个规模。每个规模有 1 个 flat、1 个 nested 和 10 个逐步生成的有效输入，共 60 个。Flat 输入递增；nested 输入交替取剩余值中的最小值和最大值。Incremental 生成使用固定种子并检查有效性。每种算法对每个输入预热 5 次、测量 20 次，共 3,600 条记录。重复调用使用 fresh list，算法位置轮转。认证及每个 case 一次的 checked-state audit 位于 paper 计时前。Minimal 模式对全部点运行相同核心，省略详细 trace 和部分诊断检查。Paper 计时包含初始化、Step 1 至 3 和输出恢复。输出比较在计时后。Python 计时覆盖排序；reference 计时覆盖完整 oracle-backed pipeline。运行时间页展示 paper 和 Python。</a:t>
            </a:r>
            <a:endParaRPr/>
          </a:p>
          <a:p>
            <a:pPr>
              <a:defRPr/>
            </a:pPr>
            <a:endParaRPr/>
          </a:p>
          <a:p>
            <a:pPr>
              <a:defRPr/>
            </a:pPr>
            <a:endParaRPr/>
          </a:p>
          <a:p>
            <a:pPr>
              <a:defRPr/>
            </a:pPr>
            <a:r>
              <a:rPr/>
              <a:t>[Sources]</a:t>
            </a:r>
            <a:endParaRPr/>
          </a:p>
          <a:p>
            <a:pPr>
              <a:defRPr/>
            </a:pPr>
            <a:r>
              <a:rPr/>
              <a:t>- thesis/chapters/methodology.tex</a:t>
            </a:r>
            <a:endParaRPr/>
          </a:p>
          <a:p>
            <a:pPr>
              <a:defRPr/>
            </a:pPr>
            <a:r>
              <a:rPr/>
              <a:t>- thesis/figures/formal_experiment_pipeline.pdf</a:t>
            </a:r>
            <a:endParaRPr/>
          </a:p>
          <a:p>
            <a:pPr>
              <a:defRPr/>
            </a:pPr>
            <a:r>
              <a:rPr/>
              <a:t>- results/runs/week12_formal_sorting_v1__run001/config.json</a:t>
            </a:r>
            <a:endParaRPr/>
          </a:p>
          <a:p>
            <a:pPr>
              <a:defRPr/>
            </a:pPr>
            <a:r>
              <a:rPr/>
              <a:t>- results/runs/week12_formal_sorting_v1__run001/manifest.json</a:t>
            </a:r>
            <a:endParaRPr/>
          </a:p>
        </p:txBody>
      </p:sp>
      <p:sp>
        <p:nvSpPr>
          <p:cNvPr id="2103917084" name="Slide Number Placeholder 3"/>
          <p:cNvSpPr>
            <a:spLocks noGrp="1"/>
          </p:cNvSpPr>
          <p:nvPr>
            <p:ph type="sldNum" idx="5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2643238" name="Slide Image Placeholder 1"/>
          <p:cNvSpPr>
            <a:spLocks noGrp="1"/>
          </p:cNvSpPr>
          <p:nvPr>
            <p:ph type="sldImg" idx="0"/>
          </p:nvPr>
        </p:nvSpPr>
        <p:spPr bwMode="auto"/>
      </p:sp>
      <p:sp>
        <p:nvSpPr>
          <p:cNvPr id="182111315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sz="1400"/>
              <a:t>All 60 cases in this runtime experiment passed certification and one checked-state audit each. Every measured call returned the expected output, with no recorded correctness errors. The 3,600 measured rows carry their case-level audit results; they do not represent 3,600 independent audits. These results cover the tested valid cases only.</a:t>
            </a:r>
            <a:endParaRPr/>
          </a:p>
          <a:p>
            <a:pPr>
              <a:defRPr/>
            </a:pPr>
            <a:endParaRPr/>
          </a:p>
          <a:p>
            <a:pPr>
              <a:defRPr/>
            </a:pPr>
            <a:r>
              <a:rPr/>
              <a:t>中文参考</a:t>
            </a:r>
            <a:endParaRPr/>
          </a:p>
          <a:p>
            <a:pPr>
              <a:defRPr/>
            </a:pPr>
            <a:r>
              <a:rPr/>
              <a:t>本次运行时间实验中的 60 个 case 均通过认证，并各通过一次 checked-state audit。每次 measured call 都返回 expected output，没有记录正确性错误。3,600 条测量记录携带各自的 case-level audit 结果，不代表进行了 3,600 次独立 audit。这些结果仅覆盖本次测试的有效用例。</a:t>
            </a:r>
            <a:endParaRPr/>
          </a:p>
          <a:p>
            <a:pPr>
              <a:defRPr/>
            </a:pPr>
            <a:endParaRPr/>
          </a:p>
          <a:p>
            <a:pPr>
              <a:defRPr/>
            </a:pPr>
            <a:endParaRPr/>
          </a:p>
          <a:p>
            <a:pPr>
              <a:defRPr/>
            </a:pPr>
            <a:r>
              <a:rPr/>
              <a:t>[Sources]</a:t>
            </a:r>
            <a:endParaRPr/>
          </a:p>
          <a:p>
            <a:pPr>
              <a:defRPr/>
            </a:pPr>
            <a:r>
              <a:rPr/>
              <a:t>- thesis/chapters/results.tex</a:t>
            </a:r>
            <a:endParaRPr/>
          </a:p>
          <a:p>
            <a:pPr>
              <a:defRPr/>
            </a:pPr>
            <a:r>
              <a:rPr/>
              <a:t>- results/runs/week12_formal_sorting_v1__run001/raw.csv</a:t>
            </a:r>
            <a:endParaRPr/>
          </a:p>
          <a:p>
            <a:pPr>
              <a:defRPr/>
            </a:pPr>
            <a:r>
              <a:rPr/>
              <a:t>- results/runs/week12_formal_sorting_v1__run001/case_audit.csv</a:t>
            </a:r>
            <a:endParaRPr/>
          </a:p>
          <a:p>
            <a:pPr>
              <a:defRPr/>
            </a:pPr>
            <a:r>
              <a:rPr/>
              <a:t>- results/runs/week12_formal_sorting_v1__run001/validation_report.json</a:t>
            </a:r>
            <a:endParaRPr/>
          </a:p>
        </p:txBody>
      </p:sp>
      <p:sp>
        <p:nvSpPr>
          <p:cNvPr id="424172352" name="Slide Number Placeholder 3"/>
          <p:cNvSpPr>
            <a:spLocks noGrp="1"/>
          </p:cNvSpPr>
          <p:nvPr>
            <p:ph type="sldNum" idx="5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4999487" name="Slide Image Placeholder 1"/>
          <p:cNvSpPr>
            <a:spLocks noGrp="1"/>
          </p:cNvSpPr>
          <p:nvPr>
            <p:ph type="sldImg" idx="0"/>
          </p:nvPr>
        </p:nvSpPr>
        <p:spPr bwMode="auto"/>
      </p:sp>
      <p:sp>
        <p:nvSpPr>
          <p:cNvPr id="467930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sz="1400"/>
              <a:t>This slide shows the runtime of the ordinary-list paper core, with Python sort as a practical baseline.</a:t>
            </a:r>
            <a:endParaRPr sz="1400"/>
          </a:p>
          <a:p>
            <a:pPr>
              <a:defRPr/>
            </a:pPr>
            <a:r>
              <a:rPr sz="1400"/>
              <a:t>Both methods receive the same valid inputs and produce their own sorted outputs. Certification and external checks are outside timing. Each method's output construction remains timed.</a:t>
            </a:r>
            <a:endParaRPr sz="1400"/>
          </a:p>
          <a:p>
            <a:pPr>
              <a:defRPr/>
            </a:pPr>
            <a:r>
              <a:rPr sz="1400"/>
              <a:t>Each plotted value is the median of twelve case medians, with equal weight per case. Each case median comes from twenty timed calls. The vertical axis uses a logarithmic scale.</a:t>
            </a:r>
            <a:endParaRPr sz="1400"/>
          </a:p>
          <a:p>
            <a:pPr>
              <a:defRPr/>
            </a:pPr>
            <a:r>
              <a:rPr sz="1400"/>
              <a:t>The paper time rises from about 0.59 milliseconds at 32 points to 18.72 milliseconds at 512 points. Python sort has a much lower median time at every tested size.</a:t>
            </a:r>
            <a:endParaRPr sz="1400"/>
          </a:p>
          <a:p>
            <a:pPr>
              <a:defRPr/>
            </a:pPr>
            <a:r>
              <a:rPr sz="1400"/>
              <a:t>These results describe the current implementation. They do not establish linear-time performance or isolate the cost of individual components. They give us a baseline for later optimization and backend comparisons.</a:t>
            </a:r>
            <a:endParaRPr/>
          </a:p>
          <a:p>
            <a:pPr>
              <a:defRPr/>
            </a:pPr>
            <a:endParaRPr/>
          </a:p>
          <a:p>
            <a:pPr>
              <a:defRPr/>
            </a:pPr>
            <a:r>
              <a:rPr/>
              <a:t>[中文参考]</a:t>
            </a:r>
            <a:endParaRPr/>
          </a:p>
          <a:p>
            <a:pPr>
              <a:defRPr/>
            </a:pPr>
            <a:r>
              <a:rPr/>
              <a:t>这一页展示普通列表 paper core 的运行时间，并以 Python sort 作为实际排序基线。</a:t>
            </a:r>
            <a:endParaRPr/>
          </a:p>
          <a:p>
            <a:pPr>
              <a:defRPr/>
            </a:pPr>
            <a:endParaRPr/>
          </a:p>
          <a:p>
            <a:pPr>
              <a:defRPr/>
            </a:pPr>
            <a:r>
              <a:rPr/>
              <a:t>两种方法接收相同的有效输入，各自产生排序结果。认证和外部检查位于计时之外。每种方法自身的输出构造仍在计时内。</a:t>
            </a:r>
            <a:endParaRPr/>
          </a:p>
          <a:p>
            <a:pPr>
              <a:defRPr/>
            </a:pPr>
            <a:endParaRPr/>
          </a:p>
          <a:p>
            <a:pPr>
              <a:defRPr/>
            </a:pPr>
            <a:r>
              <a:rPr/>
              <a:t>图中每个数值是同一规模下 12 个 case 中位数的中位数，每个 case 权重相同。每个 case 的中位数来自 20 次计时调用。纵轴采用对数刻度。</a:t>
            </a:r>
            <a:endParaRPr/>
          </a:p>
          <a:p>
            <a:pPr>
              <a:defRPr/>
            </a:pPr>
            <a:endParaRPr/>
          </a:p>
          <a:p>
            <a:pPr>
              <a:defRPr/>
            </a:pPr>
            <a:r>
              <a:rPr/>
              <a:t>Paper 的耗时从 32 个点时约 0.59 毫秒，上升到 512 个点时约 18.72 毫秒。Python sort 在每个测试规模上的中位耗时都低得多。</a:t>
            </a:r>
            <a:endParaRPr/>
          </a:p>
          <a:p>
            <a:pPr>
              <a:defRPr/>
            </a:pPr>
            <a:endParaRPr/>
          </a:p>
          <a:p>
            <a:pPr>
              <a:defRPr/>
            </a:pPr>
            <a:r>
              <a:rPr/>
              <a:t>这些结果描述当前实现，不能证明线性时间性能，也没有隔离各个组成部分的成本。它们为后续优化和后端比较提供基线。</a:t>
            </a:r>
            <a:endParaRPr/>
          </a:p>
          <a:p>
            <a:pPr>
              <a:defRPr/>
            </a:pPr>
            <a:endParaRPr/>
          </a:p>
          <a:p>
            <a:pPr>
              <a:defRPr/>
            </a:pPr>
            <a:r>
              <a:rPr/>
              <a:t>[Sources]</a:t>
            </a:r>
            <a:endParaRPr/>
          </a:p>
          <a:p>
            <a:pPr>
              <a:defRPr/>
            </a:pPr>
            <a:r>
              <a:rPr/>
              <a:t>- thesis/chapters/results.tex</a:t>
            </a:r>
            <a:endParaRPr/>
          </a:p>
          <a:p>
            <a:pPr>
              <a:defRPr/>
            </a:pPr>
            <a:r>
              <a:rPr/>
              <a:t>- thesis/chapters/methodology.tex</a:t>
            </a:r>
            <a:endParaRPr/>
          </a:p>
          <a:p>
            <a:pPr>
              <a:defRPr/>
            </a:pPr>
            <a:r>
              <a:rPr/>
              <a:t>- results/runs/week12_formal_sorting_v1__run001/case_summary.csv</a:t>
            </a:r>
            <a:endParaRPr/>
          </a:p>
          <a:p>
            <a:pPr>
              <a:defRPr/>
            </a:pPr>
            <a:r>
              <a:rPr/>
              <a:t>- results/runs/week12_formal_sorting_v1__run001/config.json</a:t>
            </a:r>
            <a:endParaRPr/>
          </a:p>
          <a:p>
            <a:pPr>
              <a:defRPr/>
            </a:pPr>
            <a:r>
              <a:rPr/>
              <a:t>- results/runs/week12_formal_sorting_v1__run001/manifest.json (source_commit: 98868b1b705f6d5f22404ee8ad7b88ad7a834f52)</a:t>
            </a:r>
            <a:endParaRPr/>
          </a:p>
          <a:p>
            <a:pPr>
              <a:defRPr/>
            </a:pPr>
            <a:r>
              <a:rPr/>
              <a:t>- results/runs/week12_formal_sorting_v1__run001/environment.json</a:t>
            </a:r>
            <a:endParaRPr/>
          </a:p>
          <a:p>
            <a:pPr>
              <a:defRPr/>
            </a:pPr>
            <a:r>
              <a:rPr/>
              <a:t>- experiments/run_week11_pilot.py (timing boundaries at the manifest source_commit)</a:t>
            </a:r>
            <a:endParaRPr/>
          </a:p>
          <a:p>
            <a:pPr>
              <a:defRPr/>
            </a:pPr>
            <a:r>
              <a:rPr/>
              <a:t>- src/paper_jordan_sort.py (output recovery at the manifest source_commit)</a:t>
            </a:r>
            <a:endParaRPr/>
          </a:p>
        </p:txBody>
      </p:sp>
      <p:sp>
        <p:nvSpPr>
          <p:cNvPr id="1600887280" name="Slide Number Placeholder 3"/>
          <p:cNvSpPr>
            <a:spLocks noGrp="1"/>
          </p:cNvSpPr>
          <p:nvPr>
            <p:ph type="sldNum" idx="5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3120181" name="Slide Image Placeholder 1"/>
          <p:cNvSpPr>
            <a:spLocks noGrp="1"/>
          </p:cNvSpPr>
          <p:nvPr>
            <p:ph type="sldImg" idx="0"/>
          </p:nvPr>
        </p:nvSpPr>
        <p:spPr bwMode="auto"/>
      </p:sp>
      <p:sp>
        <p:nvSpPr>
          <p:cNvPr id="88068506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sz="1400"/>
              <a:t>The evidence supports an executable ordinary-list reconstruction that recovers output from maintained state, with correct results on the 60 cases in the runtime experiment. </a:t>
            </a:r>
            <a:endParaRPr sz="1400"/>
          </a:p>
          <a:p>
            <a:pPr>
              <a:defRPr/>
            </a:pPr>
            <a:r>
              <a:rPr sz="1400"/>
              <a:t>The runtime trend describes this implementation under the stated timing scopes. </a:t>
            </a:r>
            <a:endParaRPr sz="1400"/>
          </a:p>
          <a:p>
            <a:pPr>
              <a:defRPr/>
            </a:pPr>
            <a:r>
              <a:rPr sz="1400"/>
              <a:t>Ordinary lists do not establish a linear-time implementation, and five tested sizes do not establish asymptotic complexity. </a:t>
            </a:r>
            <a:endParaRPr sz="1400"/>
          </a:p>
          <a:p>
            <a:pPr>
              <a:defRPr/>
            </a:pPr>
            <a:r>
              <a:rPr sz="1400"/>
              <a:t>Recognition was not evaluated.</a:t>
            </a:r>
            <a:endParaRPr/>
          </a:p>
          <a:p>
            <a:pPr>
              <a:defRPr/>
            </a:pPr>
            <a:endParaRPr/>
          </a:p>
          <a:p>
            <a:pPr>
              <a:defRPr/>
            </a:pPr>
            <a:r>
              <a:rPr/>
              <a:t>中文参考</a:t>
            </a:r>
            <a:endParaRPr/>
          </a:p>
          <a:p>
            <a:pPr>
              <a:defRPr/>
            </a:pPr>
            <a:r>
              <a:rPr/>
              <a:t>当前证据支持一个从维护状态恢复输出的可执行普通列表重构，并在运行时间实验中的 60 个用例上得到正确结果。运行时间趋势描述的是当前实现及其计时范围。普通列表不构成线性时间实现，五个测试规模也不能确定渐近复杂度。本实验没有评估 recognition。</a:t>
            </a:r>
            <a:endParaRPr/>
          </a:p>
          <a:p>
            <a:pPr>
              <a:defRPr/>
            </a:pPr>
            <a:endParaRPr/>
          </a:p>
          <a:p>
            <a:pPr>
              <a:defRPr/>
            </a:pPr>
            <a:endParaRPr/>
          </a:p>
          <a:p>
            <a:pPr>
              <a:defRPr/>
            </a:pPr>
            <a:r>
              <a:rPr/>
              <a:t>[Sources]</a:t>
            </a:r>
            <a:endParaRPr/>
          </a:p>
          <a:p>
            <a:pPr>
              <a:defRPr/>
            </a:pPr>
            <a:r>
              <a:rPr/>
              <a:t>- thesis/chapters/limitations.tex</a:t>
            </a:r>
            <a:endParaRPr/>
          </a:p>
          <a:p>
            <a:pPr>
              <a:defRPr/>
            </a:pPr>
            <a:r>
              <a:rPr/>
              <a:t>- thesis/chapters/conclusion.tex</a:t>
            </a:r>
            <a:endParaRPr/>
          </a:p>
          <a:p>
            <a:pPr>
              <a:defRPr/>
            </a:pPr>
            <a:r>
              <a:rPr/>
              <a:t>- Supervisor feedback, September 2026</a:t>
            </a:r>
            <a:endParaRPr/>
          </a:p>
        </p:txBody>
      </p:sp>
      <p:sp>
        <p:nvSpPr>
          <p:cNvPr id="1788561631" name="Slide Number Placeholder 3"/>
          <p:cNvSpPr>
            <a:spLocks noGrp="1"/>
          </p:cNvSpPr>
          <p:nvPr>
            <p:ph type="sldNum" idx="5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7785919" name="Slide Image Placeholder 1"/>
          <p:cNvSpPr>
            <a:spLocks noGrp="1"/>
          </p:cNvSpPr>
          <p:nvPr>
            <p:ph type="sldImg" idx="0"/>
          </p:nvPr>
        </p:nvSpPr>
        <p:spPr bwMode="auto"/>
      </p:sp>
      <p:sp>
        <p:nvSpPr>
          <p:cNvPr id="59101305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sz="1400"/>
              <a:t>A finger-tree backend is a possible future extension, outside the current experimental evidence. </a:t>
            </a:r>
            <a:endParaRPr sz="1400"/>
          </a:p>
          <a:p>
            <a:pPr>
              <a:defRPr/>
            </a:pPr>
            <a:r>
              <a:rPr sz="1400"/>
              <a:t>It would keep the same Step 1, Step 2, and Step 3 behavior. </a:t>
            </a:r>
            <a:endParaRPr sz="1400"/>
          </a:p>
          <a:p>
            <a:pPr>
              <a:defRPr/>
            </a:pPr>
            <a:r>
              <a:rPr sz="1400"/>
              <a:t>The ordinary-list implementation provides a tested reference point for checking the behavior of a new backend. </a:t>
            </a:r>
            <a:endParaRPr sz="1400"/>
          </a:p>
          <a:p>
            <a:pPr>
              <a:defRPr/>
            </a:pPr>
            <a:r>
              <a:rPr sz="1400"/>
              <a:t>I would like guidance on two questions. </a:t>
            </a:r>
            <a:endParaRPr sz="1400"/>
          </a:p>
          <a:p>
            <a:pPr>
              <a:defRPr/>
            </a:pPr>
            <a:r>
              <a:rPr sz="1400"/>
              <a:t>Should I target the historical heterogeneous finger tree, or an equivalent backend supporting the required list operations? </a:t>
            </a:r>
            <a:endParaRPr sz="1400"/>
          </a:p>
          <a:p>
            <a:pPr>
              <a:defRPr/>
            </a:pPr>
            <a:r>
              <a:rPr sz="1400"/>
              <a:t>Is a tested, semantically equivalent prototype enough, or should I also prove the required amortized operation bounds?</a:t>
            </a:r>
            <a:endParaRPr/>
          </a:p>
          <a:p>
            <a:pPr>
              <a:defRPr/>
            </a:pPr>
            <a:endParaRPr/>
          </a:p>
          <a:p>
            <a:pPr>
              <a:defRPr/>
            </a:pPr>
            <a:r>
              <a:rPr/>
              <a:t>中文参考</a:t>
            </a:r>
            <a:endParaRPr/>
          </a:p>
          <a:p>
            <a:pPr>
              <a:defRPr/>
            </a:pPr>
            <a:r>
              <a:rPr/>
              <a:t>Finger-tree 后端是可能的未来扩展，不属于当前实验证据。它将保持相同的 Step 1、Step 2 和 Step 3 行为。普通列表实现为检查新后端的行为提供了经过测试的参照点。我希望向导师确认两个问题：应实现历史 heterogeneous finger tree，还是支持所需列表操作的等价后端？一个经过测试、语义等价的原型是否足够，还是还应证明所需的摊还操作界？</a:t>
            </a:r>
            <a:endParaRPr/>
          </a:p>
          <a:p>
            <a:pPr>
              <a:defRPr/>
            </a:pPr>
            <a:endParaRPr/>
          </a:p>
          <a:p>
            <a:pPr>
              <a:defRPr/>
            </a:pPr>
            <a:r>
              <a:rPr/>
              <a:t>[Sources]</a:t>
            </a:r>
            <a:r>
              <a:rPr lang="de-DE"/>
              <a:t>ö</a:t>
            </a:r>
            <a:endParaRPr/>
          </a:p>
          <a:p>
            <a:pPr>
              <a:defRPr/>
            </a:pPr>
            <a:r>
              <a:rPr/>
              <a:t>- thesis/chapters/implementation.tex</a:t>
            </a:r>
            <a:endParaRPr/>
          </a:p>
          <a:p>
            <a:pPr>
              <a:defRPr/>
            </a:pPr>
            <a:r>
              <a:rPr/>
              <a:t>- thesis/chapters/limitations.tex</a:t>
            </a:r>
            <a:endParaRPr/>
          </a:p>
          <a:p>
            <a:pPr>
              <a:defRPr/>
            </a:pPr>
            <a:r>
              <a:rPr/>
              <a:t>- thesis/README.md</a:t>
            </a:r>
            <a:endParaRPr/>
          </a:p>
          <a:p>
            <a:pPr>
              <a:defRPr/>
            </a:pPr>
            <a:r>
              <a:rPr/>
              <a:t>- Fung et al. (1990), doi:10.1016/0020-0190(90)90111-A</a:t>
            </a:r>
            <a:endParaRPr/>
          </a:p>
          <a:p>
            <a:pPr>
              <a:defRPr/>
            </a:pPr>
            <a:r>
              <a:rPr/>
              <a:t>- Supervisor feedback, September 2026</a:t>
            </a:r>
            <a:endParaRPr/>
          </a:p>
        </p:txBody>
      </p:sp>
      <p:sp>
        <p:nvSpPr>
          <p:cNvPr id="617420481" name="Slide Number Placeholder 3"/>
          <p:cNvSpPr>
            <a:spLocks noGrp="1"/>
          </p:cNvSpPr>
          <p:nvPr>
            <p:ph type="sldNum" idx="5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Master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chart" Target="../charts/chart1.xml" 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102A43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974156" name=""/>
          <p:cNvSpPr>
            <a:spLocks noGrp="1"/>
          </p:cNvSpPr>
          <p:nvPr/>
        </p:nvSpPr>
        <p:spPr bwMode="auto">
          <a:xfrm>
            <a:off x="7239000" y="0"/>
            <a:ext cx="4953000" cy="6858000"/>
          </a:xfrm>
          <a:prstGeom prst="rect">
            <a:avLst/>
          </a:prstGeom>
          <a:solidFill>
            <a:srgbClr val="FFFFFF"/>
          </a:solidFill>
          <a:ln w="11430">
            <a:solidFill>
              <a:srgbClr val="FFFFFF"/>
            </a:solidFill>
            <a:prstDash val="solid"/>
          </a:ln>
        </p:spPr>
      </p:sp>
      <p:pic>
        <p:nvPicPr>
          <p:cNvPr id="773466158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7334250" y="1695818"/>
            <a:ext cx="4667250" cy="2666262"/>
          </a:xfrm>
          <a:prstGeom prst="rect">
            <a:avLst/>
          </a:prstGeom>
        </p:spPr>
      </p:pic>
      <p:sp>
        <p:nvSpPr>
          <p:cNvPr id="47954861" name=""/>
          <p:cNvSpPr>
            <a:spLocks noGrp="1"/>
          </p:cNvSpPr>
          <p:nvPr/>
        </p:nvSpPr>
        <p:spPr bwMode="auto">
          <a:xfrm>
            <a:off x="685800" y="666750"/>
            <a:ext cx="5619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050" b="1" i="0">
                <a:solidFill>
                  <a:srgbClr val="2A9D8F"/>
                </a:solidFill>
              </a:defRPr>
            </a:pPr>
            <a:r>
              <a:rPr sz="1050" b="1" i="0">
                <a:solidFill>
                  <a:srgbClr val="2A9D8F"/>
                </a:solidFill>
              </a:rPr>
              <a:t>MASTER'S THESIS PROGRESS REPORT</a:t>
            </a:r>
            <a:endParaRPr/>
          </a:p>
        </p:txBody>
      </p:sp>
      <p:sp>
        <p:nvSpPr>
          <p:cNvPr id="2093791544" name=""/>
          <p:cNvSpPr>
            <a:spLocks noGrp="1"/>
          </p:cNvSpPr>
          <p:nvPr/>
        </p:nvSpPr>
        <p:spPr bwMode="auto">
          <a:xfrm>
            <a:off x="685800" y="1219200"/>
            <a:ext cx="5905500" cy="2476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100000"/>
          </a:bodyPr>
          <a:lstStyle/>
          <a:p>
            <a:pPr algn="l">
              <a:lnSpc>
                <a:spcPct val="92000"/>
              </a:lnSpc>
              <a:buNone/>
              <a:defRPr sz="3750" b="1" i="0">
                <a:solidFill>
                  <a:srgbClr val="FFFFFF"/>
                </a:solidFill>
              </a:defRPr>
            </a:pPr>
            <a:r>
              <a:rPr sz="3750" b="1" i="0">
                <a:solidFill>
                  <a:srgbClr val="FFFFFF"/>
                </a:solidFill>
              </a:rPr>
              <a:t>Progress on the Executable Reconstruction of Simplified Jordan Sorting</a:t>
            </a:r>
            <a:endParaRPr/>
          </a:p>
        </p:txBody>
      </p:sp>
      <p:sp>
        <p:nvSpPr>
          <p:cNvPr id="749722068" name=""/>
          <p:cNvSpPr>
            <a:spLocks noGrp="1"/>
          </p:cNvSpPr>
          <p:nvPr/>
        </p:nvSpPr>
        <p:spPr bwMode="auto">
          <a:xfrm>
            <a:off x="723900" y="3857625"/>
            <a:ext cx="53340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800" b="0" i="0">
                <a:solidFill>
                  <a:srgbClr val="D9EAF2"/>
                </a:solidFill>
              </a:defRPr>
            </a:pPr>
            <a:r>
              <a:rPr sz="1800" b="0" i="0">
                <a:solidFill>
                  <a:srgbClr val="D9EAF2"/>
                </a:solidFill>
              </a:rPr>
              <a:t>Implementation progress, validation, and initial experimental results</a:t>
            </a:r>
            <a:endParaRPr/>
          </a:p>
        </p:txBody>
      </p:sp>
      <p:sp>
        <p:nvSpPr>
          <p:cNvPr id="707218067" name=""/>
          <p:cNvSpPr>
            <a:spLocks noGrp="1"/>
          </p:cNvSpPr>
          <p:nvPr/>
        </p:nvSpPr>
        <p:spPr bwMode="auto">
          <a:xfrm>
            <a:off x="723900" y="4838700"/>
            <a:ext cx="1428750" cy="9525"/>
          </a:xfrm>
          <a:prstGeom prst="line">
            <a:avLst/>
          </a:prstGeom>
          <a:noFill/>
          <a:ln w="47625">
            <a:solidFill>
              <a:srgbClr val="E76F51"/>
            </a:solidFill>
            <a:prstDash val="solid"/>
          </a:ln>
        </p:spPr>
      </p:sp>
      <p:sp>
        <p:nvSpPr>
          <p:cNvPr id="1144917437" name=""/>
          <p:cNvSpPr>
            <a:spLocks noGrp="1"/>
          </p:cNvSpPr>
          <p:nvPr/>
        </p:nvSpPr>
        <p:spPr bwMode="auto">
          <a:xfrm>
            <a:off x="723900" y="5086350"/>
            <a:ext cx="5905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300" b="0" i="0">
                <a:solidFill>
                  <a:srgbClr val="BCCCDC"/>
                </a:solidFill>
              </a:defRPr>
            </a:pPr>
            <a:r>
              <a:rPr sz="1300" b="0" i="0">
                <a:solidFill>
                  <a:srgbClr val="BCCCDC"/>
                </a:solidFill>
              </a:rPr>
              <a:t>Research Seminar  |  Freie Universität Berlin  |  September 2026</a:t>
            </a:r>
            <a:endParaRPr/>
          </a:p>
        </p:txBody>
      </p:sp>
      <p:sp>
        <p:nvSpPr>
          <p:cNvPr id="575786776" name=""/>
          <p:cNvSpPr>
            <a:spLocks noGrp="1"/>
          </p:cNvSpPr>
          <p:nvPr/>
        </p:nvSpPr>
        <p:spPr bwMode="auto">
          <a:xfrm>
            <a:off x="11010900" y="6477000"/>
            <a:ext cx="7048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100000"/>
          </a:bodyPr>
          <a:lstStyle/>
          <a:p>
            <a:pPr algn="r">
              <a:lnSpc>
                <a:spcPct val="105000"/>
              </a:lnSpc>
              <a:buNone/>
              <a:defRPr sz="850" b="0" i="0">
                <a:solidFill>
                  <a:srgbClr val="7B8794"/>
                </a:solidFill>
              </a:defRPr>
            </a:pPr>
            <a:r>
              <a:rPr sz="850" b="0" i="0">
                <a:solidFill>
                  <a:srgbClr val="7B8794"/>
                </a:solidFill>
              </a:rPr>
              <a:t>1 / 16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7FAFC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4668085" name=""/>
          <p:cNvSpPr>
            <a:spLocks noGrp="1"/>
          </p:cNvSpPr>
          <p:nvPr/>
        </p:nvSpPr>
        <p:spPr bwMode="auto">
          <a:xfrm>
            <a:off x="628650" y="247650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900" b="1" i="0">
                <a:solidFill>
                  <a:srgbClr val="2A9D8F"/>
                </a:solidFill>
              </a:defRPr>
            </a:pPr>
            <a:r>
              <a:rPr sz="900" b="1" i="0">
                <a:solidFill>
                  <a:srgbClr val="2A9D8F"/>
                </a:solidFill>
              </a:rPr>
              <a:t>CONTEXT</a:t>
            </a:r>
            <a:endParaRPr/>
          </a:p>
        </p:txBody>
      </p:sp>
      <p:sp>
        <p:nvSpPr>
          <p:cNvPr id="233055163" name=""/>
          <p:cNvSpPr>
            <a:spLocks noGrp="1"/>
          </p:cNvSpPr>
          <p:nvPr/>
        </p:nvSpPr>
        <p:spPr bwMode="auto">
          <a:xfrm>
            <a:off x="609600" y="514350"/>
            <a:ext cx="109728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The previous report established a static structural baseline</a:t>
            </a:r>
            <a:endParaRPr/>
          </a:p>
        </p:txBody>
      </p:sp>
      <p:sp>
        <p:nvSpPr>
          <p:cNvPr id="2146880866" name=""/>
          <p:cNvSpPr>
            <a:spLocks noGrp="1"/>
          </p:cNvSpPr>
          <p:nvPr/>
        </p:nvSpPr>
        <p:spPr bwMode="auto">
          <a:xfrm>
            <a:off x="609600" y="1085850"/>
            <a:ext cx="10972800" cy="9525"/>
          </a:xfrm>
          <a:prstGeom prst="line">
            <a:avLst/>
          </a:prstGeom>
          <a:noFill/>
          <a:ln w="28575">
            <a:solidFill>
              <a:srgbClr val="2A9D8F"/>
            </a:solidFill>
            <a:prstDash val="solid"/>
          </a:ln>
        </p:spPr>
      </p:sp>
      <p:sp>
        <p:nvSpPr>
          <p:cNvPr id="1553426570" name=""/>
          <p:cNvSpPr>
            <a:spLocks noGrp="1"/>
          </p:cNvSpPr>
          <p:nvPr/>
        </p:nvSpPr>
        <p:spPr bwMode="auto">
          <a:xfrm>
            <a:off x="609600" y="6477000"/>
            <a:ext cx="10972800" cy="9525"/>
          </a:xfrm>
          <a:prstGeom prst="line">
            <a:avLst/>
          </a:prstGeom>
          <a:noFill/>
          <a:ln w="9525">
            <a:solidFill>
              <a:srgbClr val="D9E2EC"/>
            </a:solidFill>
            <a:prstDash val="solid"/>
          </a:ln>
        </p:spPr>
      </p:sp>
      <p:sp>
        <p:nvSpPr>
          <p:cNvPr id="1725045959" name=""/>
          <p:cNvSpPr>
            <a:spLocks noGrp="1"/>
          </p:cNvSpPr>
          <p:nvPr/>
        </p:nvSpPr>
        <p:spPr bwMode="auto">
          <a:xfrm>
            <a:off x="647700" y="6534150"/>
            <a:ext cx="3619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850" b="1" i="0">
                <a:solidFill>
                  <a:srgbClr val="7B8794"/>
                </a:solidFill>
              </a:defRPr>
            </a:pPr>
            <a:r>
              <a:rPr sz="850" b="1" i="0">
                <a:solidFill>
                  <a:srgbClr val="7B8794"/>
                </a:solidFill>
              </a:rPr>
              <a:t>MASTER'S THESIS PROGRESS REPORT</a:t>
            </a:r>
            <a:endParaRPr/>
          </a:p>
        </p:txBody>
      </p:sp>
      <p:sp>
        <p:nvSpPr>
          <p:cNvPr id="1789555369" name=""/>
          <p:cNvSpPr>
            <a:spLocks noGrp="1"/>
          </p:cNvSpPr>
          <p:nvPr/>
        </p:nvSpPr>
        <p:spPr bwMode="auto">
          <a:xfrm>
            <a:off x="10668000" y="6534150"/>
            <a:ext cx="876299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100000"/>
          </a:bodyPr>
          <a:lstStyle/>
          <a:p>
            <a:pPr algn="r">
              <a:lnSpc>
                <a:spcPct val="105000"/>
              </a:lnSpc>
              <a:buNone/>
              <a:defRPr sz="850" b="1" i="0">
                <a:solidFill>
                  <a:srgbClr val="7B8794"/>
                </a:solidFill>
              </a:defRPr>
            </a:pPr>
            <a:r>
              <a:rPr sz="850" b="1" i="0">
                <a:solidFill>
                  <a:srgbClr val="7B8794"/>
                </a:solidFill>
              </a:rPr>
              <a:t>2 / 16</a:t>
            </a:r>
            <a:endParaRPr/>
          </a:p>
        </p:txBody>
      </p:sp>
      <p:sp>
        <p:nvSpPr>
          <p:cNvPr id="1093424541" name=""/>
          <p:cNvSpPr>
            <a:spLocks noGrp="1"/>
          </p:cNvSpPr>
          <p:nvPr/>
        </p:nvSpPr>
        <p:spPr bwMode="auto">
          <a:xfrm>
            <a:off x="895350" y="1428750"/>
            <a:ext cx="3714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150" b="1" i="0">
                <a:solidFill>
                  <a:srgbClr val="2A9D8F"/>
                </a:solidFill>
              </a:defRPr>
            </a:pPr>
            <a:r>
              <a:rPr sz="1150" b="1" i="0">
                <a:solidFill>
                  <a:srgbClr val="2A9D8F"/>
                </a:solidFill>
              </a:rPr>
              <a:t>PREVIOUS BASELINE</a:t>
            </a:r>
            <a:endParaRPr/>
          </a:p>
        </p:txBody>
      </p:sp>
      <p:sp>
        <p:nvSpPr>
          <p:cNvPr id="1504776947" name=""/>
          <p:cNvSpPr>
            <a:spLocks noGrp="1"/>
          </p:cNvSpPr>
          <p:nvPr/>
        </p:nvSpPr>
        <p:spPr bwMode="auto">
          <a:xfrm>
            <a:off x="895350" y="1762125"/>
            <a:ext cx="37147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4383"/>
          </a:bodyPr>
          <a:lstStyle/>
          <a:p>
            <a:pPr algn="l">
              <a:lnSpc>
                <a:spcPct val="105000"/>
              </a:lnSpc>
              <a:buNone/>
              <a:defRPr sz="2050" b="1" i="0">
                <a:solidFill>
                  <a:srgbClr val="102A43"/>
                </a:solidFill>
              </a:defRPr>
            </a:pPr>
            <a:r>
              <a:rPr sz="2050" b="1" i="0">
                <a:solidFill>
                  <a:srgbClr val="102A43"/>
                </a:solidFill>
              </a:rPr>
              <a:t>Structural reference framework</a:t>
            </a:r>
            <a:endParaRPr/>
          </a:p>
        </p:txBody>
      </p:sp>
      <p:sp>
        <p:nvSpPr>
          <p:cNvPr id="677399687" name=""/>
          <p:cNvSpPr>
            <a:spLocks noGrp="1"/>
          </p:cNvSpPr>
          <p:nvPr/>
        </p:nvSpPr>
        <p:spPr bwMode="auto">
          <a:xfrm>
            <a:off x="971550" y="2457450"/>
            <a:ext cx="95250" cy="95250"/>
          </a:xfrm>
          <a:prstGeom prst="ellipse">
            <a:avLst/>
          </a:prstGeom>
          <a:solidFill>
            <a:srgbClr val="2A9D8F"/>
          </a:solidFill>
          <a:ln w="0">
            <a:solidFill>
              <a:srgbClr val="2A9D8F"/>
            </a:solidFill>
            <a:prstDash val="solid"/>
          </a:ln>
        </p:spPr>
      </p:sp>
      <p:sp>
        <p:nvSpPr>
          <p:cNvPr id="1555405752" name=""/>
          <p:cNvSpPr>
            <a:spLocks noGrp="1"/>
          </p:cNvSpPr>
          <p:nvPr/>
        </p:nvSpPr>
        <p:spPr bwMode="auto">
          <a:xfrm>
            <a:off x="1181099" y="2381250"/>
            <a:ext cx="3505199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rank-interval abstraction</a:t>
            </a:r>
            <a:endParaRPr/>
          </a:p>
        </p:txBody>
      </p:sp>
      <p:sp>
        <p:nvSpPr>
          <p:cNvPr id="39567184" name=""/>
          <p:cNvSpPr>
            <a:spLocks noGrp="1"/>
          </p:cNvSpPr>
          <p:nvPr/>
        </p:nvSpPr>
        <p:spPr bwMode="auto">
          <a:xfrm>
            <a:off x="971550" y="2952750"/>
            <a:ext cx="95250" cy="95250"/>
          </a:xfrm>
          <a:prstGeom prst="ellipse">
            <a:avLst/>
          </a:prstGeom>
          <a:solidFill>
            <a:srgbClr val="2A9D8F"/>
          </a:solidFill>
          <a:ln w="0">
            <a:solidFill>
              <a:srgbClr val="2A9D8F"/>
            </a:solidFill>
            <a:prstDash val="solid"/>
          </a:ln>
        </p:spPr>
      </p:sp>
      <p:sp>
        <p:nvSpPr>
          <p:cNvPr id="1706754858" name=""/>
          <p:cNvSpPr>
            <a:spLocks noGrp="1"/>
          </p:cNvSpPr>
          <p:nvPr/>
        </p:nvSpPr>
        <p:spPr bwMode="auto">
          <a:xfrm>
            <a:off x="1181099" y="2876550"/>
            <a:ext cx="3505199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upper and lower families</a:t>
            </a:r>
            <a:endParaRPr/>
          </a:p>
        </p:txBody>
      </p:sp>
      <p:sp>
        <p:nvSpPr>
          <p:cNvPr id="1552432969" name=""/>
          <p:cNvSpPr>
            <a:spLocks noGrp="1"/>
          </p:cNvSpPr>
          <p:nvPr/>
        </p:nvSpPr>
        <p:spPr bwMode="auto">
          <a:xfrm>
            <a:off x="971550" y="3448050"/>
            <a:ext cx="95250" cy="95250"/>
          </a:xfrm>
          <a:prstGeom prst="ellipse">
            <a:avLst/>
          </a:prstGeom>
          <a:solidFill>
            <a:srgbClr val="2A9D8F"/>
          </a:solidFill>
          <a:ln w="0">
            <a:solidFill>
              <a:srgbClr val="2A9D8F"/>
            </a:solidFill>
            <a:prstDash val="solid"/>
          </a:ln>
        </p:spPr>
      </p:sp>
      <p:sp>
        <p:nvSpPr>
          <p:cNvPr id="848221327" name=""/>
          <p:cNvSpPr>
            <a:spLocks noGrp="1"/>
          </p:cNvSpPr>
          <p:nvPr/>
        </p:nvSpPr>
        <p:spPr bwMode="auto">
          <a:xfrm>
            <a:off x="1181099" y="3371850"/>
            <a:ext cx="3505199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family trees and structural metrics</a:t>
            </a:r>
            <a:endParaRPr/>
          </a:p>
        </p:txBody>
      </p:sp>
      <p:sp>
        <p:nvSpPr>
          <p:cNvPr id="1854402752" name=""/>
          <p:cNvSpPr>
            <a:spLocks noGrp="1"/>
          </p:cNvSpPr>
          <p:nvPr/>
        </p:nvSpPr>
        <p:spPr bwMode="auto">
          <a:xfrm>
            <a:off x="971550" y="3943350"/>
            <a:ext cx="95250" cy="95250"/>
          </a:xfrm>
          <a:prstGeom prst="ellipse">
            <a:avLst/>
          </a:prstGeom>
          <a:solidFill>
            <a:srgbClr val="2A9D8F"/>
          </a:solidFill>
          <a:ln w="0">
            <a:solidFill>
              <a:srgbClr val="2A9D8F"/>
            </a:solidFill>
            <a:prstDash val="solid"/>
          </a:ln>
        </p:spPr>
      </p:sp>
      <p:sp>
        <p:nvSpPr>
          <p:cNvPr id="1295262134" name=""/>
          <p:cNvSpPr>
            <a:spLocks noGrp="1"/>
          </p:cNvSpPr>
          <p:nvPr/>
        </p:nvSpPr>
        <p:spPr bwMode="auto">
          <a:xfrm>
            <a:off x="1181099" y="3867150"/>
            <a:ext cx="3505199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oracle-backed validation</a:t>
            </a:r>
            <a:endParaRPr/>
          </a:p>
        </p:txBody>
      </p:sp>
      <p:sp>
        <p:nvSpPr>
          <p:cNvPr id="1113322357" name=""/>
          <p:cNvSpPr>
            <a:spLocks noGrp="1"/>
          </p:cNvSpPr>
          <p:nvPr/>
        </p:nvSpPr>
        <p:spPr bwMode="auto">
          <a:xfrm>
            <a:off x="5219700" y="2971800"/>
            <a:ext cx="1143000" cy="552450"/>
          </a:xfrm>
          <a:prstGeom prst="roundRect">
            <a:avLst>
              <a:gd name="adj" fmla="val 50000"/>
            </a:avLst>
          </a:prstGeom>
          <a:solidFill>
            <a:srgbClr val="EAF1F8"/>
          </a:solidFill>
          <a:ln w="11430">
            <a:solidFill>
              <a:srgbClr val="102A43"/>
            </a:solidFill>
            <a:prstDash val="solid"/>
          </a:ln>
        </p:spPr>
      </p:sp>
      <p:sp>
        <p:nvSpPr>
          <p:cNvPr id="764494753" name=""/>
          <p:cNvSpPr>
            <a:spLocks noGrp="1"/>
          </p:cNvSpPr>
          <p:nvPr/>
        </p:nvSpPr>
        <p:spPr bwMode="auto">
          <a:xfrm>
            <a:off x="5238750" y="3028950"/>
            <a:ext cx="11049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1350" b="1" i="0">
                <a:solidFill>
                  <a:srgbClr val="102A43"/>
                </a:solidFill>
              </a:defRPr>
            </a:pPr>
            <a:r>
              <a:rPr sz="1350" b="1" i="0">
                <a:solidFill>
                  <a:srgbClr val="102A43"/>
                </a:solidFill>
              </a:rPr>
              <a:t>static</a:t>
            </a:r>
            <a:endParaRPr/>
          </a:p>
        </p:txBody>
      </p:sp>
      <p:sp>
        <p:nvSpPr>
          <p:cNvPr id="1635236220" name=""/>
          <p:cNvSpPr>
            <a:spLocks noGrp="1"/>
          </p:cNvSpPr>
          <p:nvPr/>
        </p:nvSpPr>
        <p:spPr bwMode="auto">
          <a:xfrm>
            <a:off x="6334125" y="2981325"/>
            <a:ext cx="66675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2850" b="1" i="0">
                <a:solidFill>
                  <a:srgbClr val="E76F51"/>
                </a:solidFill>
              </a:defRPr>
            </a:pPr>
            <a:r>
              <a:rPr sz="2850" b="1" i="0">
                <a:solidFill>
                  <a:srgbClr val="E76F51"/>
                </a:solidFill>
              </a:rPr>
              <a:t>→</a:t>
            </a:r>
            <a:endParaRPr/>
          </a:p>
        </p:txBody>
      </p:sp>
      <p:sp>
        <p:nvSpPr>
          <p:cNvPr id="1384056322" name=""/>
          <p:cNvSpPr>
            <a:spLocks noGrp="1"/>
          </p:cNvSpPr>
          <p:nvPr/>
        </p:nvSpPr>
        <p:spPr bwMode="auto">
          <a:xfrm>
            <a:off x="6953250" y="2971800"/>
            <a:ext cx="1238250" cy="552450"/>
          </a:xfrm>
          <a:prstGeom prst="roundRect">
            <a:avLst>
              <a:gd name="adj" fmla="val 50000"/>
            </a:avLst>
          </a:prstGeom>
          <a:solidFill>
            <a:srgbClr val="E8F5F3"/>
          </a:solidFill>
          <a:ln w="11430">
            <a:solidFill>
              <a:srgbClr val="2A9D8F"/>
            </a:solidFill>
            <a:prstDash val="solid"/>
          </a:ln>
        </p:spPr>
      </p:sp>
      <p:sp>
        <p:nvSpPr>
          <p:cNvPr id="702606510" name=""/>
          <p:cNvSpPr>
            <a:spLocks noGrp="1"/>
          </p:cNvSpPr>
          <p:nvPr/>
        </p:nvSpPr>
        <p:spPr bwMode="auto">
          <a:xfrm>
            <a:off x="6991350" y="3028950"/>
            <a:ext cx="11620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1350" b="1" i="0">
                <a:solidFill>
                  <a:srgbClr val="2A9D8F"/>
                </a:solidFill>
              </a:defRPr>
            </a:pPr>
            <a:r>
              <a:rPr sz="1350" b="1" i="0">
                <a:solidFill>
                  <a:srgbClr val="2A9D8F"/>
                </a:solidFill>
              </a:rPr>
              <a:t>dynamic</a:t>
            </a:r>
            <a:endParaRPr/>
          </a:p>
        </p:txBody>
      </p:sp>
      <p:sp>
        <p:nvSpPr>
          <p:cNvPr id="1860389715" name=""/>
          <p:cNvSpPr>
            <a:spLocks noGrp="1"/>
          </p:cNvSpPr>
          <p:nvPr/>
        </p:nvSpPr>
        <p:spPr bwMode="auto">
          <a:xfrm>
            <a:off x="8572500" y="1428750"/>
            <a:ext cx="285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150" b="1" i="0">
                <a:solidFill>
                  <a:srgbClr val="E76F51"/>
                </a:solidFill>
              </a:defRPr>
            </a:pPr>
            <a:r>
              <a:rPr sz="1150" b="1" i="0">
                <a:solidFill>
                  <a:srgbClr val="E76F51"/>
                </a:solidFill>
              </a:rPr>
              <a:t>OPEN IMPLEMENTATION GAP</a:t>
            </a:r>
            <a:endParaRPr/>
          </a:p>
        </p:txBody>
      </p:sp>
      <p:sp>
        <p:nvSpPr>
          <p:cNvPr id="103199528" name=""/>
          <p:cNvSpPr>
            <a:spLocks noGrp="1"/>
          </p:cNvSpPr>
          <p:nvPr/>
        </p:nvSpPr>
        <p:spPr bwMode="auto">
          <a:xfrm>
            <a:off x="8572500" y="1762125"/>
            <a:ext cx="28575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7002"/>
          </a:bodyPr>
          <a:lstStyle/>
          <a:p>
            <a:pPr algn="l">
              <a:lnSpc>
                <a:spcPct val="105000"/>
              </a:lnSpc>
              <a:buNone/>
              <a:defRPr sz="2050" b="1" i="0">
                <a:solidFill>
                  <a:srgbClr val="102A43"/>
                </a:solidFill>
              </a:defRPr>
            </a:pPr>
            <a:r>
              <a:rPr sz="2050" b="1" i="0">
                <a:solidFill>
                  <a:srgbClr val="102A43"/>
                </a:solidFill>
              </a:rPr>
              <a:t>Executable dynamic reconstruction</a:t>
            </a:r>
            <a:endParaRPr/>
          </a:p>
        </p:txBody>
      </p:sp>
      <p:sp>
        <p:nvSpPr>
          <p:cNvPr id="1077098396" name=""/>
          <p:cNvSpPr>
            <a:spLocks noGrp="1"/>
          </p:cNvSpPr>
          <p:nvPr/>
        </p:nvSpPr>
        <p:spPr bwMode="auto">
          <a:xfrm>
            <a:off x="8648700" y="2647949"/>
            <a:ext cx="95250" cy="95250"/>
          </a:xfrm>
          <a:prstGeom prst="ellipse">
            <a:avLst/>
          </a:prstGeom>
          <a:solidFill>
            <a:srgbClr val="E76F51"/>
          </a:solidFill>
          <a:ln w="0">
            <a:solidFill>
              <a:srgbClr val="E76F51"/>
            </a:solidFill>
            <a:prstDash val="solid"/>
          </a:ln>
        </p:spPr>
      </p:sp>
      <p:sp>
        <p:nvSpPr>
          <p:cNvPr id="1280267588" name=""/>
          <p:cNvSpPr>
            <a:spLocks noGrp="1"/>
          </p:cNvSpPr>
          <p:nvPr/>
        </p:nvSpPr>
        <p:spPr bwMode="auto">
          <a:xfrm>
            <a:off x="8858250" y="2571750"/>
            <a:ext cx="25908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Step 1/2/3 control flow</a:t>
            </a:r>
            <a:endParaRPr/>
          </a:p>
        </p:txBody>
      </p:sp>
      <p:sp>
        <p:nvSpPr>
          <p:cNvPr id="1911871852" name=""/>
          <p:cNvSpPr>
            <a:spLocks noGrp="1"/>
          </p:cNvSpPr>
          <p:nvPr/>
        </p:nvSpPr>
        <p:spPr bwMode="auto">
          <a:xfrm>
            <a:off x="8648700" y="3143250"/>
            <a:ext cx="95250" cy="95250"/>
          </a:xfrm>
          <a:prstGeom prst="ellipse">
            <a:avLst/>
          </a:prstGeom>
          <a:solidFill>
            <a:srgbClr val="E76F51"/>
          </a:solidFill>
          <a:ln w="0">
            <a:solidFill>
              <a:srgbClr val="E76F51"/>
            </a:solidFill>
            <a:prstDash val="solid"/>
          </a:ln>
        </p:spPr>
      </p:sp>
      <p:sp>
        <p:nvSpPr>
          <p:cNvPr id="1317413560" name=""/>
          <p:cNvSpPr>
            <a:spLocks noGrp="1"/>
          </p:cNvSpPr>
          <p:nvPr/>
        </p:nvSpPr>
        <p:spPr bwMode="auto">
          <a:xfrm>
            <a:off x="8858250" y="3067050"/>
            <a:ext cx="25908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95833"/>
          </a:bodyPr>
          <a:lstStyle/>
          <a:p>
            <a:pPr algn="l">
              <a:lnSpc>
                <a:spcPct val="100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sibling-list insertion and splitting</a:t>
            </a:r>
            <a:endParaRPr/>
          </a:p>
        </p:txBody>
      </p:sp>
      <p:sp>
        <p:nvSpPr>
          <p:cNvPr id="1060329071" name=""/>
          <p:cNvSpPr>
            <a:spLocks noGrp="1"/>
          </p:cNvSpPr>
          <p:nvPr/>
        </p:nvSpPr>
        <p:spPr bwMode="auto">
          <a:xfrm>
            <a:off x="8648700" y="3638550"/>
            <a:ext cx="95250" cy="95250"/>
          </a:xfrm>
          <a:prstGeom prst="ellipse">
            <a:avLst/>
          </a:prstGeom>
          <a:solidFill>
            <a:srgbClr val="E76F51"/>
          </a:solidFill>
          <a:ln w="0">
            <a:solidFill>
              <a:srgbClr val="E76F51"/>
            </a:solidFill>
            <a:prstDash val="solid"/>
          </a:ln>
        </p:spPr>
      </p:sp>
      <p:sp>
        <p:nvSpPr>
          <p:cNvPr id="1819913462" name=""/>
          <p:cNvSpPr>
            <a:spLocks noGrp="1"/>
          </p:cNvSpPr>
          <p:nvPr/>
        </p:nvSpPr>
        <p:spPr bwMode="auto">
          <a:xfrm>
            <a:off x="8858250" y="3562350"/>
            <a:ext cx="25908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ownership transfer</a:t>
            </a:r>
            <a:endParaRPr/>
          </a:p>
        </p:txBody>
      </p:sp>
      <p:sp>
        <p:nvSpPr>
          <p:cNvPr id="275644130" name=""/>
          <p:cNvSpPr>
            <a:spLocks noGrp="1"/>
          </p:cNvSpPr>
          <p:nvPr/>
        </p:nvSpPr>
        <p:spPr bwMode="auto">
          <a:xfrm>
            <a:off x="8648700" y="4133850"/>
            <a:ext cx="95250" cy="95250"/>
          </a:xfrm>
          <a:prstGeom prst="ellipse">
            <a:avLst/>
          </a:prstGeom>
          <a:solidFill>
            <a:srgbClr val="E76F51"/>
          </a:solidFill>
          <a:ln w="0">
            <a:solidFill>
              <a:srgbClr val="E76F51"/>
            </a:solidFill>
            <a:prstDash val="solid"/>
          </a:ln>
        </p:spPr>
      </p:sp>
      <p:sp>
        <p:nvSpPr>
          <p:cNvPr id="88947246" name=""/>
          <p:cNvSpPr>
            <a:spLocks noGrp="1"/>
          </p:cNvSpPr>
          <p:nvPr/>
        </p:nvSpPr>
        <p:spPr bwMode="auto">
          <a:xfrm>
            <a:off x="8858250" y="4057650"/>
            <a:ext cx="25908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95833"/>
          </a:bodyPr>
          <a:lstStyle/>
          <a:p>
            <a:pPr algn="l">
              <a:lnSpc>
                <a:spcPct val="100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output recovery from maintained state</a:t>
            </a:r>
            <a:endParaRPr/>
          </a:p>
        </p:txBody>
      </p:sp>
      <p:sp>
        <p:nvSpPr>
          <p:cNvPr id="1799393055" name=""/>
          <p:cNvSpPr>
            <a:spLocks noGrp="1"/>
          </p:cNvSpPr>
          <p:nvPr/>
        </p:nvSpPr>
        <p:spPr bwMode="auto">
          <a:xfrm>
            <a:off x="895350" y="5572125"/>
            <a:ext cx="10534650" cy="514350"/>
          </a:xfrm>
          <a:prstGeom prst="roundRect">
            <a:avLst>
              <a:gd name="adj" fmla="val 11111"/>
            </a:avLst>
          </a:prstGeom>
          <a:solidFill>
            <a:srgbClr val="102A43"/>
          </a:solidFill>
          <a:ln w="11430">
            <a:solidFill>
              <a:srgbClr val="102A43"/>
            </a:solidFill>
            <a:prstDash val="solid"/>
          </a:ln>
        </p:spPr>
      </p:sp>
      <p:sp>
        <p:nvSpPr>
          <p:cNvPr id="1489573877" name=""/>
          <p:cNvSpPr>
            <a:spLocks noGrp="1"/>
          </p:cNvSpPr>
          <p:nvPr/>
        </p:nvSpPr>
        <p:spPr bwMode="auto">
          <a:xfrm>
            <a:off x="1066800" y="5619750"/>
            <a:ext cx="101917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1600" b="1" i="0">
                <a:solidFill>
                  <a:srgbClr val="FFFFFF"/>
                </a:solidFill>
              </a:defRPr>
            </a:pPr>
            <a:r>
              <a:rPr sz="1600" b="1" i="0">
                <a:solidFill>
                  <a:srgbClr val="FFFFFF"/>
                </a:solidFill>
              </a:rPr>
              <a:t>Family trees explain nesting; executable Jordan sorting requires dynamic updates.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7FAFC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97092687" name=""/>
          <p:cNvSpPr>
            <a:spLocks noGrp="1"/>
          </p:cNvSpPr>
          <p:nvPr/>
        </p:nvSpPr>
        <p:spPr bwMode="auto">
          <a:xfrm>
            <a:off x="628650" y="247650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900" b="1" i="0">
                <a:solidFill>
                  <a:srgbClr val="2A9D8F"/>
                </a:solidFill>
              </a:defRPr>
            </a:pPr>
            <a:r>
              <a:rPr sz="900" b="1" i="0">
                <a:solidFill>
                  <a:srgbClr val="2A9D8F"/>
                </a:solidFill>
              </a:rPr>
              <a:t>PROGRESS</a:t>
            </a:r>
            <a:endParaRPr/>
          </a:p>
        </p:txBody>
      </p:sp>
      <p:sp>
        <p:nvSpPr>
          <p:cNvPr id="737903410" name=""/>
          <p:cNvSpPr>
            <a:spLocks noGrp="1"/>
          </p:cNvSpPr>
          <p:nvPr/>
        </p:nvSpPr>
        <p:spPr bwMode="auto">
          <a:xfrm>
            <a:off x="609600" y="514350"/>
            <a:ext cx="109728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Progress since the previous report</a:t>
            </a:r>
            <a:endParaRPr/>
          </a:p>
        </p:txBody>
      </p:sp>
      <p:sp>
        <p:nvSpPr>
          <p:cNvPr id="1462969034" name=""/>
          <p:cNvSpPr>
            <a:spLocks noGrp="1"/>
          </p:cNvSpPr>
          <p:nvPr/>
        </p:nvSpPr>
        <p:spPr bwMode="auto">
          <a:xfrm>
            <a:off x="609600" y="1085850"/>
            <a:ext cx="10972800" cy="9525"/>
          </a:xfrm>
          <a:prstGeom prst="line">
            <a:avLst/>
          </a:prstGeom>
          <a:noFill/>
          <a:ln w="28575">
            <a:solidFill>
              <a:srgbClr val="2A9D8F"/>
            </a:solidFill>
            <a:prstDash val="solid"/>
          </a:ln>
        </p:spPr>
      </p:sp>
      <p:sp>
        <p:nvSpPr>
          <p:cNvPr id="1247740208" name=""/>
          <p:cNvSpPr>
            <a:spLocks noGrp="1"/>
          </p:cNvSpPr>
          <p:nvPr/>
        </p:nvSpPr>
        <p:spPr bwMode="auto">
          <a:xfrm>
            <a:off x="609600" y="6477000"/>
            <a:ext cx="10972800" cy="9525"/>
          </a:xfrm>
          <a:prstGeom prst="line">
            <a:avLst/>
          </a:prstGeom>
          <a:noFill/>
          <a:ln w="9525">
            <a:solidFill>
              <a:srgbClr val="D9E2EC"/>
            </a:solidFill>
            <a:prstDash val="solid"/>
          </a:ln>
        </p:spPr>
      </p:sp>
      <p:sp>
        <p:nvSpPr>
          <p:cNvPr id="1400907447" name=""/>
          <p:cNvSpPr>
            <a:spLocks noGrp="1"/>
          </p:cNvSpPr>
          <p:nvPr/>
        </p:nvSpPr>
        <p:spPr bwMode="auto">
          <a:xfrm>
            <a:off x="647700" y="6534150"/>
            <a:ext cx="3619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850" b="1" i="0">
                <a:solidFill>
                  <a:srgbClr val="7B8794"/>
                </a:solidFill>
              </a:defRPr>
            </a:pPr>
            <a:r>
              <a:rPr sz="850" b="1" i="0">
                <a:solidFill>
                  <a:srgbClr val="7B8794"/>
                </a:solidFill>
              </a:rPr>
              <a:t>MASTER'S THESIS PROGRESS REPORT</a:t>
            </a:r>
            <a:endParaRPr/>
          </a:p>
        </p:txBody>
      </p:sp>
      <p:sp>
        <p:nvSpPr>
          <p:cNvPr id="1475937694" name=""/>
          <p:cNvSpPr>
            <a:spLocks noGrp="1"/>
          </p:cNvSpPr>
          <p:nvPr/>
        </p:nvSpPr>
        <p:spPr bwMode="auto">
          <a:xfrm>
            <a:off x="10668000" y="6534150"/>
            <a:ext cx="876299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100000"/>
          </a:bodyPr>
          <a:lstStyle/>
          <a:p>
            <a:pPr algn="r">
              <a:lnSpc>
                <a:spcPct val="105000"/>
              </a:lnSpc>
              <a:buNone/>
              <a:defRPr sz="850" b="1" i="0">
                <a:solidFill>
                  <a:srgbClr val="7B8794"/>
                </a:solidFill>
              </a:defRPr>
            </a:pPr>
            <a:r>
              <a:rPr sz="850" b="1" i="0">
                <a:solidFill>
                  <a:srgbClr val="7B8794"/>
                </a:solidFill>
              </a:rPr>
              <a:t>3 / 16</a:t>
            </a:r>
            <a:endParaRPr/>
          </a:p>
        </p:txBody>
      </p:sp>
      <p:sp>
        <p:nvSpPr>
          <p:cNvPr id="288066548" name=""/>
          <p:cNvSpPr>
            <a:spLocks noGrp="1"/>
          </p:cNvSpPr>
          <p:nvPr/>
        </p:nvSpPr>
        <p:spPr bwMode="auto">
          <a:xfrm>
            <a:off x="723900" y="1619250"/>
            <a:ext cx="6858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9206"/>
          </a:bodyPr>
          <a:lstStyle/>
          <a:p>
            <a:pPr algn="l">
              <a:lnSpc>
                <a:spcPct val="105000"/>
              </a:lnSpc>
              <a:buNone/>
              <a:defRPr sz="3000" b="1" i="0">
                <a:solidFill>
                  <a:srgbClr val="102A43"/>
                </a:solidFill>
              </a:defRPr>
            </a:pPr>
            <a:r>
              <a:rPr sz="3000" b="1" i="0">
                <a:solidFill>
                  <a:srgbClr val="102A43"/>
                </a:solidFill>
              </a:rPr>
              <a:t>01</a:t>
            </a:r>
            <a:endParaRPr/>
          </a:p>
        </p:txBody>
      </p:sp>
      <p:sp>
        <p:nvSpPr>
          <p:cNvPr id="1524825343" name=""/>
          <p:cNvSpPr>
            <a:spLocks noGrp="1"/>
          </p:cNvSpPr>
          <p:nvPr/>
        </p:nvSpPr>
        <p:spPr bwMode="auto">
          <a:xfrm>
            <a:off x="723900" y="2209800"/>
            <a:ext cx="1952625" cy="9525"/>
          </a:xfrm>
          <a:prstGeom prst="line">
            <a:avLst/>
          </a:prstGeom>
          <a:noFill/>
          <a:ln w="38100">
            <a:solidFill>
              <a:srgbClr val="102A43"/>
            </a:solidFill>
            <a:prstDash val="solid"/>
          </a:ln>
        </p:spPr>
      </p:sp>
      <p:sp>
        <p:nvSpPr>
          <p:cNvPr id="1793102354" name=""/>
          <p:cNvSpPr>
            <a:spLocks noGrp="1"/>
          </p:cNvSpPr>
          <p:nvPr/>
        </p:nvSpPr>
        <p:spPr bwMode="auto">
          <a:xfrm>
            <a:off x="723900" y="2457450"/>
            <a:ext cx="20955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800" b="1" i="0">
                <a:solidFill>
                  <a:srgbClr val="102A43"/>
                </a:solidFill>
              </a:defRPr>
            </a:pPr>
            <a:r>
              <a:rPr sz="1800" b="1" i="0">
                <a:solidFill>
                  <a:srgbClr val="102A43"/>
                </a:solidFill>
              </a:rPr>
              <a:t>Scope stabilization</a:t>
            </a:r>
            <a:endParaRPr/>
          </a:p>
        </p:txBody>
      </p:sp>
      <p:sp>
        <p:nvSpPr>
          <p:cNvPr id="1545320163" name=""/>
          <p:cNvSpPr>
            <a:spLocks noGrp="1"/>
          </p:cNvSpPr>
          <p:nvPr/>
        </p:nvSpPr>
        <p:spPr bwMode="auto">
          <a:xfrm>
            <a:off x="723900" y="3333750"/>
            <a:ext cx="2152650" cy="1619250"/>
          </a:xfrm>
          <a:prstGeom prst="roundRect">
            <a:avLst>
              <a:gd name="adj" fmla="val 4706"/>
            </a:avLst>
          </a:prstGeom>
          <a:solidFill>
            <a:srgbClr val="EAF1F8"/>
          </a:solidFill>
          <a:ln w="11430">
            <a:solidFill>
              <a:srgbClr val="EAF1F8"/>
            </a:solidFill>
            <a:prstDash val="solid"/>
          </a:ln>
        </p:spPr>
      </p:sp>
      <p:sp>
        <p:nvSpPr>
          <p:cNvPr id="1254932513" name=""/>
          <p:cNvSpPr>
            <a:spLocks noGrp="1"/>
          </p:cNvSpPr>
          <p:nvPr/>
        </p:nvSpPr>
        <p:spPr bwMode="auto">
          <a:xfrm>
            <a:off x="857250" y="3486150"/>
            <a:ext cx="1885950" cy="1333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100000"/>
          </a:bodyPr>
          <a:lstStyle/>
          <a:p>
            <a:pPr algn="ctr">
              <a:lnSpc>
                <a:spcPct val="108000"/>
              </a:lnSpc>
              <a:buNone/>
              <a:defRPr sz="1450" b="0" i="0">
                <a:solidFill>
                  <a:srgbClr val="243B53"/>
                </a:solidFill>
              </a:defRPr>
            </a:pPr>
            <a:r>
              <a:rPr sz="1450" b="0" i="0">
                <a:solidFill>
                  <a:srgbClr val="243B53"/>
                </a:solidFill>
              </a:rPr>
              <a:t>Separated valid-input sorting, recognition, and theoretical-backend claims</a:t>
            </a:r>
            <a:endParaRPr/>
          </a:p>
        </p:txBody>
      </p:sp>
      <p:sp>
        <p:nvSpPr>
          <p:cNvPr id="265094644" name=""/>
          <p:cNvSpPr>
            <a:spLocks noGrp="1"/>
          </p:cNvSpPr>
          <p:nvPr/>
        </p:nvSpPr>
        <p:spPr bwMode="auto">
          <a:xfrm>
            <a:off x="3533775" y="1619250"/>
            <a:ext cx="6858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9206"/>
          </a:bodyPr>
          <a:lstStyle/>
          <a:p>
            <a:pPr algn="l">
              <a:lnSpc>
                <a:spcPct val="105000"/>
              </a:lnSpc>
              <a:buNone/>
              <a:defRPr sz="3000" b="1" i="0">
                <a:solidFill>
                  <a:srgbClr val="2A9D8F"/>
                </a:solidFill>
              </a:defRPr>
            </a:pPr>
            <a:r>
              <a:rPr sz="3000" b="1" i="0">
                <a:solidFill>
                  <a:srgbClr val="2A9D8F"/>
                </a:solidFill>
              </a:rPr>
              <a:t>02</a:t>
            </a:r>
            <a:endParaRPr/>
          </a:p>
        </p:txBody>
      </p:sp>
      <p:sp>
        <p:nvSpPr>
          <p:cNvPr id="1213421537" name=""/>
          <p:cNvSpPr>
            <a:spLocks noGrp="1"/>
          </p:cNvSpPr>
          <p:nvPr/>
        </p:nvSpPr>
        <p:spPr bwMode="auto">
          <a:xfrm>
            <a:off x="3533775" y="2209800"/>
            <a:ext cx="1952625" cy="9525"/>
          </a:xfrm>
          <a:prstGeom prst="line">
            <a:avLst/>
          </a:prstGeom>
          <a:noFill/>
          <a:ln w="38100">
            <a:solidFill>
              <a:srgbClr val="2A9D8F"/>
            </a:solidFill>
            <a:prstDash val="solid"/>
          </a:ln>
        </p:spPr>
      </p:sp>
      <p:sp>
        <p:nvSpPr>
          <p:cNvPr id="2041797522" name=""/>
          <p:cNvSpPr>
            <a:spLocks noGrp="1"/>
          </p:cNvSpPr>
          <p:nvPr/>
        </p:nvSpPr>
        <p:spPr bwMode="auto">
          <a:xfrm>
            <a:off x="3533775" y="2457450"/>
            <a:ext cx="20955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800" b="1" i="0">
                <a:solidFill>
                  <a:srgbClr val="102A43"/>
                </a:solidFill>
              </a:defRPr>
            </a:pPr>
            <a:r>
              <a:rPr sz="1800" b="1" i="0">
                <a:solidFill>
                  <a:srgbClr val="102A43"/>
                </a:solidFill>
              </a:rPr>
              <a:t>Executable reconstruction</a:t>
            </a:r>
            <a:endParaRPr/>
          </a:p>
        </p:txBody>
      </p:sp>
      <p:sp>
        <p:nvSpPr>
          <p:cNvPr id="244991133" name=""/>
          <p:cNvSpPr>
            <a:spLocks noGrp="1"/>
          </p:cNvSpPr>
          <p:nvPr/>
        </p:nvSpPr>
        <p:spPr bwMode="auto">
          <a:xfrm>
            <a:off x="3533775" y="3333750"/>
            <a:ext cx="2152650" cy="1619250"/>
          </a:xfrm>
          <a:prstGeom prst="roundRect">
            <a:avLst>
              <a:gd name="adj" fmla="val 4706"/>
            </a:avLst>
          </a:prstGeom>
          <a:solidFill>
            <a:srgbClr val="E8F5F3"/>
          </a:solidFill>
          <a:ln w="11430">
            <a:solidFill>
              <a:srgbClr val="E8F5F3"/>
            </a:solidFill>
            <a:prstDash val="solid"/>
          </a:ln>
        </p:spPr>
      </p:sp>
      <p:sp>
        <p:nvSpPr>
          <p:cNvPr id="74117245" name=""/>
          <p:cNvSpPr>
            <a:spLocks noGrp="1"/>
          </p:cNvSpPr>
          <p:nvPr/>
        </p:nvSpPr>
        <p:spPr bwMode="auto">
          <a:xfrm>
            <a:off x="3667125" y="3486150"/>
            <a:ext cx="1885950" cy="1333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100000"/>
          </a:bodyPr>
          <a:lstStyle/>
          <a:p>
            <a:pPr algn="ctr">
              <a:lnSpc>
                <a:spcPct val="108000"/>
              </a:lnSpc>
              <a:buNone/>
              <a:defRPr sz="1450" b="0" i="0">
                <a:solidFill>
                  <a:srgbClr val="243B53"/>
                </a:solidFill>
              </a:defRPr>
            </a:pPr>
            <a:r>
              <a:rPr sz="1450" b="0" i="0">
                <a:solidFill>
                  <a:srgbClr val="243B53"/>
                </a:solidFill>
              </a:rPr>
              <a:t>Implemented the paper-facing Step 1/2/3 control flow</a:t>
            </a:r>
            <a:endParaRPr/>
          </a:p>
        </p:txBody>
      </p:sp>
      <p:sp>
        <p:nvSpPr>
          <p:cNvPr id="1109442057" name=""/>
          <p:cNvSpPr>
            <a:spLocks noGrp="1"/>
          </p:cNvSpPr>
          <p:nvPr/>
        </p:nvSpPr>
        <p:spPr bwMode="auto">
          <a:xfrm>
            <a:off x="6343650" y="1619250"/>
            <a:ext cx="6858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9206"/>
          </a:bodyPr>
          <a:lstStyle/>
          <a:p>
            <a:pPr algn="l">
              <a:lnSpc>
                <a:spcPct val="105000"/>
              </a:lnSpc>
              <a:buNone/>
              <a:defRPr sz="3000" b="1" i="0">
                <a:solidFill>
                  <a:srgbClr val="E76F51"/>
                </a:solidFill>
              </a:defRPr>
            </a:pPr>
            <a:r>
              <a:rPr sz="3000" b="1" i="0">
                <a:solidFill>
                  <a:srgbClr val="E76F51"/>
                </a:solidFill>
              </a:rPr>
              <a:t>03</a:t>
            </a:r>
            <a:endParaRPr/>
          </a:p>
        </p:txBody>
      </p:sp>
      <p:sp>
        <p:nvSpPr>
          <p:cNvPr id="947030980" name=""/>
          <p:cNvSpPr>
            <a:spLocks noGrp="1"/>
          </p:cNvSpPr>
          <p:nvPr/>
        </p:nvSpPr>
        <p:spPr bwMode="auto">
          <a:xfrm>
            <a:off x="6343650" y="2209800"/>
            <a:ext cx="1952625" cy="9525"/>
          </a:xfrm>
          <a:prstGeom prst="line">
            <a:avLst/>
          </a:prstGeom>
          <a:noFill/>
          <a:ln w="38100">
            <a:solidFill>
              <a:srgbClr val="E76F51"/>
            </a:solidFill>
            <a:prstDash val="solid"/>
          </a:ln>
        </p:spPr>
      </p:sp>
      <p:sp>
        <p:nvSpPr>
          <p:cNvPr id="924729384" name=""/>
          <p:cNvSpPr>
            <a:spLocks noGrp="1"/>
          </p:cNvSpPr>
          <p:nvPr/>
        </p:nvSpPr>
        <p:spPr bwMode="auto">
          <a:xfrm>
            <a:off x="6343650" y="2457450"/>
            <a:ext cx="20955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89573"/>
          </a:bodyPr>
          <a:lstStyle/>
          <a:p>
            <a:pPr algn="l">
              <a:lnSpc>
                <a:spcPct val="105000"/>
              </a:lnSpc>
              <a:buNone/>
              <a:defRPr sz="1800" b="1" i="0">
                <a:solidFill>
                  <a:srgbClr val="102A43"/>
                </a:solidFill>
              </a:defRPr>
            </a:pPr>
            <a:r>
              <a:rPr sz="1800" b="1" i="0">
                <a:solidFill>
                  <a:srgbClr val="102A43"/>
                </a:solidFill>
              </a:rPr>
              <a:t>State and correctness controls</a:t>
            </a:r>
            <a:endParaRPr/>
          </a:p>
        </p:txBody>
      </p:sp>
      <p:sp>
        <p:nvSpPr>
          <p:cNvPr id="2128368347" name=""/>
          <p:cNvSpPr>
            <a:spLocks noGrp="1"/>
          </p:cNvSpPr>
          <p:nvPr/>
        </p:nvSpPr>
        <p:spPr bwMode="auto">
          <a:xfrm>
            <a:off x="6343650" y="3333750"/>
            <a:ext cx="2152650" cy="1619250"/>
          </a:xfrm>
          <a:prstGeom prst="roundRect">
            <a:avLst>
              <a:gd name="adj" fmla="val 4706"/>
            </a:avLst>
          </a:prstGeom>
          <a:solidFill>
            <a:srgbClr val="FCEEEA"/>
          </a:solidFill>
          <a:ln w="11430">
            <a:solidFill>
              <a:srgbClr val="FCEEEA"/>
            </a:solidFill>
            <a:prstDash val="solid"/>
          </a:ln>
        </p:spPr>
      </p:sp>
      <p:sp>
        <p:nvSpPr>
          <p:cNvPr id="1278982792" name=""/>
          <p:cNvSpPr>
            <a:spLocks noGrp="1"/>
          </p:cNvSpPr>
          <p:nvPr/>
        </p:nvSpPr>
        <p:spPr bwMode="auto">
          <a:xfrm>
            <a:off x="6477000" y="3486150"/>
            <a:ext cx="1885950" cy="1333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100000"/>
          </a:bodyPr>
          <a:lstStyle/>
          <a:p>
            <a:pPr algn="ctr">
              <a:lnSpc>
                <a:spcPct val="108000"/>
              </a:lnSpc>
              <a:buNone/>
              <a:defRPr sz="1450" b="0" i="0">
                <a:solidFill>
                  <a:srgbClr val="243B53"/>
                </a:solidFill>
              </a:defRPr>
            </a:pPr>
            <a:r>
              <a:rPr sz="1450" b="0" i="0">
                <a:solidFill>
                  <a:srgbClr val="243B53"/>
                </a:solidFill>
              </a:rPr>
              <a:t>Added ownership invariants, transactional updates, and replay</a:t>
            </a:r>
            <a:endParaRPr/>
          </a:p>
        </p:txBody>
      </p:sp>
      <p:sp>
        <p:nvSpPr>
          <p:cNvPr id="142898436" name=""/>
          <p:cNvSpPr>
            <a:spLocks noGrp="1"/>
          </p:cNvSpPr>
          <p:nvPr/>
        </p:nvSpPr>
        <p:spPr bwMode="auto">
          <a:xfrm>
            <a:off x="9153525" y="1619250"/>
            <a:ext cx="6858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9206"/>
          </a:bodyPr>
          <a:lstStyle/>
          <a:p>
            <a:pPr algn="l">
              <a:lnSpc>
                <a:spcPct val="105000"/>
              </a:lnSpc>
              <a:buNone/>
              <a:defRPr sz="3000" b="1" i="0">
                <a:solidFill>
                  <a:srgbClr val="52606D"/>
                </a:solidFill>
              </a:defRPr>
            </a:pPr>
            <a:r>
              <a:rPr sz="3000" b="1" i="0">
                <a:solidFill>
                  <a:srgbClr val="52606D"/>
                </a:solidFill>
              </a:rPr>
              <a:t>04</a:t>
            </a:r>
            <a:endParaRPr/>
          </a:p>
        </p:txBody>
      </p:sp>
      <p:sp>
        <p:nvSpPr>
          <p:cNvPr id="1126808942" name=""/>
          <p:cNvSpPr>
            <a:spLocks noGrp="1"/>
          </p:cNvSpPr>
          <p:nvPr/>
        </p:nvSpPr>
        <p:spPr bwMode="auto">
          <a:xfrm>
            <a:off x="9153525" y="2209800"/>
            <a:ext cx="1952625" cy="9525"/>
          </a:xfrm>
          <a:prstGeom prst="line">
            <a:avLst/>
          </a:prstGeom>
          <a:noFill/>
          <a:ln w="38100">
            <a:solidFill>
              <a:srgbClr val="52606D"/>
            </a:solidFill>
            <a:prstDash val="solid"/>
          </a:ln>
        </p:spPr>
      </p:sp>
      <p:sp>
        <p:nvSpPr>
          <p:cNvPr id="425640783" name=""/>
          <p:cNvSpPr>
            <a:spLocks noGrp="1"/>
          </p:cNvSpPr>
          <p:nvPr/>
        </p:nvSpPr>
        <p:spPr bwMode="auto">
          <a:xfrm>
            <a:off x="9153525" y="2457450"/>
            <a:ext cx="20955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800" b="1" i="0">
                <a:solidFill>
                  <a:srgbClr val="102A43"/>
                </a:solidFill>
              </a:defRPr>
            </a:pPr>
            <a:r>
              <a:rPr sz="1800" b="1" i="0">
                <a:solidFill>
                  <a:srgbClr val="102A43"/>
                </a:solidFill>
              </a:rPr>
              <a:t>Initial formal evaluation</a:t>
            </a:r>
            <a:endParaRPr/>
          </a:p>
        </p:txBody>
      </p:sp>
      <p:sp>
        <p:nvSpPr>
          <p:cNvPr id="562800052" name=""/>
          <p:cNvSpPr>
            <a:spLocks noGrp="1"/>
          </p:cNvSpPr>
          <p:nvPr/>
        </p:nvSpPr>
        <p:spPr bwMode="auto">
          <a:xfrm>
            <a:off x="9153525" y="3333750"/>
            <a:ext cx="2152650" cy="1619250"/>
          </a:xfrm>
          <a:prstGeom prst="roundRect">
            <a:avLst>
              <a:gd name="adj" fmla="val 4706"/>
            </a:avLst>
          </a:prstGeom>
          <a:solidFill>
            <a:srgbClr val="EDF2F7"/>
          </a:solidFill>
          <a:ln w="11430">
            <a:solidFill>
              <a:srgbClr val="EDF2F7"/>
            </a:solidFill>
            <a:prstDash val="solid"/>
          </a:ln>
        </p:spPr>
      </p:sp>
      <p:sp>
        <p:nvSpPr>
          <p:cNvPr id="1671502803" name=""/>
          <p:cNvSpPr>
            <a:spLocks noGrp="1"/>
          </p:cNvSpPr>
          <p:nvPr/>
        </p:nvSpPr>
        <p:spPr bwMode="auto">
          <a:xfrm>
            <a:off x="9286875" y="3486150"/>
            <a:ext cx="1885950" cy="1333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100000"/>
          </a:bodyPr>
          <a:lstStyle/>
          <a:p>
            <a:pPr algn="ctr">
              <a:lnSpc>
                <a:spcPct val="108000"/>
              </a:lnSpc>
              <a:buNone/>
              <a:defRPr sz="1450" b="0" i="0">
                <a:solidFill>
                  <a:srgbClr val="243B53"/>
                </a:solidFill>
              </a:defRPr>
            </a:pPr>
            <a:r>
              <a:rPr sz="1450" b="0" i="0">
                <a:solidFill>
                  <a:srgbClr val="243B53"/>
                </a:solidFill>
              </a:rPr>
              <a:t>Executed a fixed valid-input sorting experiment</a:t>
            </a:r>
            <a:endParaRPr/>
          </a:p>
        </p:txBody>
      </p:sp>
      <p:sp>
        <p:nvSpPr>
          <p:cNvPr id="370493738" name=""/>
          <p:cNvSpPr>
            <a:spLocks noGrp="1"/>
          </p:cNvSpPr>
          <p:nvPr/>
        </p:nvSpPr>
        <p:spPr bwMode="auto">
          <a:xfrm>
            <a:off x="1238250" y="5524500"/>
            <a:ext cx="97155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89776"/>
          </a:bodyPr>
          <a:lstStyle/>
          <a:p>
            <a:pPr algn="ctr">
              <a:lnSpc>
                <a:spcPct val="105000"/>
              </a:lnSpc>
              <a:buNone/>
              <a:defRPr sz="1750" b="1" i="0">
                <a:solidFill>
                  <a:srgbClr val="102A43"/>
                </a:solidFill>
              </a:defRPr>
            </a:pPr>
            <a:r>
              <a:rPr sz="1750" b="1" i="0">
                <a:solidFill>
                  <a:srgbClr val="102A43"/>
                </a:solidFill>
              </a:rPr>
              <a:t>Current result: an executable ordinary-list implementation. The historical backend remains future work.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7FAFC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18049818" name=""/>
          <p:cNvSpPr>
            <a:spLocks noGrp="1"/>
          </p:cNvSpPr>
          <p:nvPr/>
        </p:nvSpPr>
        <p:spPr bwMode="auto">
          <a:xfrm>
            <a:off x="628650" y="247650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900" b="1" i="0">
                <a:solidFill>
                  <a:srgbClr val="2A9D8F"/>
                </a:solidFill>
              </a:defRPr>
            </a:pPr>
            <a:r>
              <a:rPr sz="900" b="1" i="0">
                <a:solidFill>
                  <a:srgbClr val="2A9D8F"/>
                </a:solidFill>
              </a:rPr>
              <a:t>SCOPE</a:t>
            </a:r>
            <a:endParaRPr/>
          </a:p>
        </p:txBody>
      </p:sp>
      <p:sp>
        <p:nvSpPr>
          <p:cNvPr id="841776833" name=""/>
          <p:cNvSpPr>
            <a:spLocks noGrp="1"/>
          </p:cNvSpPr>
          <p:nvPr/>
        </p:nvSpPr>
        <p:spPr bwMode="auto">
          <a:xfrm>
            <a:off x="609600" y="514350"/>
            <a:ext cx="109728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Current scope: valid-input sorting</a:t>
            </a:r>
            <a:endParaRPr/>
          </a:p>
        </p:txBody>
      </p:sp>
      <p:sp>
        <p:nvSpPr>
          <p:cNvPr id="1083607683" name=""/>
          <p:cNvSpPr>
            <a:spLocks noGrp="1"/>
          </p:cNvSpPr>
          <p:nvPr/>
        </p:nvSpPr>
        <p:spPr bwMode="auto">
          <a:xfrm>
            <a:off x="609600" y="1085850"/>
            <a:ext cx="10972800" cy="9525"/>
          </a:xfrm>
          <a:prstGeom prst="line">
            <a:avLst/>
          </a:prstGeom>
          <a:noFill/>
          <a:ln w="28575">
            <a:solidFill>
              <a:srgbClr val="2A9D8F"/>
            </a:solidFill>
            <a:prstDash val="solid"/>
          </a:ln>
        </p:spPr>
      </p:sp>
      <p:sp>
        <p:nvSpPr>
          <p:cNvPr id="1948773007" name=""/>
          <p:cNvSpPr>
            <a:spLocks noGrp="1"/>
          </p:cNvSpPr>
          <p:nvPr/>
        </p:nvSpPr>
        <p:spPr bwMode="auto">
          <a:xfrm>
            <a:off x="609600" y="6477000"/>
            <a:ext cx="10972800" cy="9525"/>
          </a:xfrm>
          <a:prstGeom prst="line">
            <a:avLst/>
          </a:prstGeom>
          <a:noFill/>
          <a:ln w="9525">
            <a:solidFill>
              <a:srgbClr val="D9E2EC"/>
            </a:solidFill>
            <a:prstDash val="solid"/>
          </a:ln>
        </p:spPr>
      </p:sp>
      <p:sp>
        <p:nvSpPr>
          <p:cNvPr id="1327138829" name=""/>
          <p:cNvSpPr>
            <a:spLocks noGrp="1"/>
          </p:cNvSpPr>
          <p:nvPr/>
        </p:nvSpPr>
        <p:spPr bwMode="auto">
          <a:xfrm>
            <a:off x="647700" y="6534150"/>
            <a:ext cx="3619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850" b="1" i="0">
                <a:solidFill>
                  <a:srgbClr val="7B8794"/>
                </a:solidFill>
              </a:defRPr>
            </a:pPr>
            <a:r>
              <a:rPr sz="850" b="1" i="0">
                <a:solidFill>
                  <a:srgbClr val="7B8794"/>
                </a:solidFill>
              </a:rPr>
              <a:t>MASTER'S THESIS PROGRESS REPORT</a:t>
            </a:r>
            <a:endParaRPr/>
          </a:p>
        </p:txBody>
      </p:sp>
      <p:sp>
        <p:nvSpPr>
          <p:cNvPr id="1094015778" name=""/>
          <p:cNvSpPr>
            <a:spLocks noGrp="1"/>
          </p:cNvSpPr>
          <p:nvPr/>
        </p:nvSpPr>
        <p:spPr bwMode="auto">
          <a:xfrm>
            <a:off x="10668000" y="6534150"/>
            <a:ext cx="876299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100000"/>
          </a:bodyPr>
          <a:lstStyle/>
          <a:p>
            <a:pPr algn="r">
              <a:lnSpc>
                <a:spcPct val="105000"/>
              </a:lnSpc>
              <a:buNone/>
              <a:defRPr sz="850" b="1" i="0">
                <a:solidFill>
                  <a:srgbClr val="7B8794"/>
                </a:solidFill>
              </a:defRPr>
            </a:pPr>
            <a:r>
              <a:rPr sz="850" b="1" i="0">
                <a:solidFill>
                  <a:srgbClr val="7B8794"/>
                </a:solidFill>
              </a:rPr>
              <a:t>4 / 16</a:t>
            </a:r>
            <a:endParaRPr/>
          </a:p>
        </p:txBody>
      </p:sp>
      <p:sp>
        <p:nvSpPr>
          <p:cNvPr id="266709243" name=""/>
          <p:cNvSpPr>
            <a:spLocks noGrp="1"/>
          </p:cNvSpPr>
          <p:nvPr/>
        </p:nvSpPr>
        <p:spPr bwMode="auto">
          <a:xfrm>
            <a:off x="723900" y="1447800"/>
            <a:ext cx="4953000" cy="390525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11430">
            <a:solidFill>
              <a:srgbClr val="D9E2EC"/>
            </a:solidFill>
            <a:prstDash val="solid"/>
          </a:ln>
        </p:spPr>
      </p:sp>
      <p:sp>
        <p:nvSpPr>
          <p:cNvPr id="1067890975" name=""/>
          <p:cNvSpPr>
            <a:spLocks noGrp="1"/>
          </p:cNvSpPr>
          <p:nvPr/>
        </p:nvSpPr>
        <p:spPr bwMode="auto">
          <a:xfrm>
            <a:off x="6515100" y="1447800"/>
            <a:ext cx="4953000" cy="390525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19050">
            <a:solidFill>
              <a:srgbClr val="2A9D8F"/>
            </a:solidFill>
            <a:prstDash val="solid"/>
          </a:ln>
        </p:spPr>
      </p:sp>
      <p:sp>
        <p:nvSpPr>
          <p:cNvPr id="1883921989" name=""/>
          <p:cNvSpPr>
            <a:spLocks noGrp="1"/>
          </p:cNvSpPr>
          <p:nvPr/>
        </p:nvSpPr>
        <p:spPr bwMode="auto">
          <a:xfrm>
            <a:off x="952500" y="1676400"/>
            <a:ext cx="44767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900" b="1" i="0">
                <a:solidFill>
                  <a:srgbClr val="52606D"/>
                </a:solidFill>
              </a:defRPr>
            </a:pPr>
            <a:r>
              <a:rPr sz="1900" b="1" i="0">
                <a:solidFill>
                  <a:srgbClr val="52606D"/>
                </a:solidFill>
              </a:rPr>
              <a:t>Earlier planning emphasis</a:t>
            </a:r>
            <a:endParaRPr/>
          </a:p>
        </p:txBody>
      </p:sp>
      <p:sp>
        <p:nvSpPr>
          <p:cNvPr id="1537823608" name=""/>
          <p:cNvSpPr>
            <a:spLocks noGrp="1"/>
          </p:cNvSpPr>
          <p:nvPr/>
        </p:nvSpPr>
        <p:spPr bwMode="auto">
          <a:xfrm>
            <a:off x="6743700" y="1676400"/>
            <a:ext cx="44767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900" b="1" i="0">
                <a:solidFill>
                  <a:srgbClr val="2A9D8F"/>
                </a:solidFill>
              </a:defRPr>
            </a:pPr>
            <a:r>
              <a:rPr sz="1900" b="1" i="0">
                <a:solidFill>
                  <a:srgbClr val="2A9D8F"/>
                </a:solidFill>
              </a:rPr>
              <a:t>Current research scope</a:t>
            </a:r>
            <a:endParaRPr/>
          </a:p>
        </p:txBody>
      </p:sp>
      <p:sp>
        <p:nvSpPr>
          <p:cNvPr id="1098443883" name=""/>
          <p:cNvSpPr>
            <a:spLocks noGrp="1"/>
          </p:cNvSpPr>
          <p:nvPr/>
        </p:nvSpPr>
        <p:spPr bwMode="auto">
          <a:xfrm>
            <a:off x="971550" y="2266950"/>
            <a:ext cx="4333875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350" b="0" i="0">
                <a:solidFill>
                  <a:srgbClr val="52606D"/>
                </a:solidFill>
              </a:defRPr>
            </a:pPr>
            <a:r>
              <a:rPr sz="1350" b="0" i="0">
                <a:solidFill>
                  <a:srgbClr val="52606D"/>
                </a:solidFill>
              </a:rPr>
              <a:t>General structural framework</a:t>
            </a:r>
            <a:endParaRPr/>
          </a:p>
        </p:txBody>
      </p:sp>
      <p:sp>
        <p:nvSpPr>
          <p:cNvPr id="507858612" name=""/>
          <p:cNvSpPr>
            <a:spLocks noGrp="1"/>
          </p:cNvSpPr>
          <p:nvPr/>
        </p:nvSpPr>
        <p:spPr bwMode="auto">
          <a:xfrm>
            <a:off x="5810250" y="2266950"/>
            <a:ext cx="5524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1950" b="1" i="0">
                <a:solidFill>
                  <a:srgbClr val="E76F51"/>
                </a:solidFill>
              </a:defRPr>
            </a:pPr>
            <a:r>
              <a:rPr sz="1950" b="1" i="0">
                <a:solidFill>
                  <a:srgbClr val="E76F51"/>
                </a:solidFill>
              </a:rPr>
              <a:t>→</a:t>
            </a:r>
            <a:endParaRPr/>
          </a:p>
        </p:txBody>
      </p:sp>
      <p:sp>
        <p:nvSpPr>
          <p:cNvPr id="1833490828" name=""/>
          <p:cNvSpPr>
            <a:spLocks noGrp="1"/>
          </p:cNvSpPr>
          <p:nvPr/>
        </p:nvSpPr>
        <p:spPr bwMode="auto">
          <a:xfrm>
            <a:off x="6762750" y="2266950"/>
            <a:ext cx="4333875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350" b="1" i="0">
                <a:solidFill>
                  <a:srgbClr val="243B53"/>
                </a:solidFill>
              </a:defRPr>
            </a:pPr>
            <a:r>
              <a:rPr sz="1350" b="1" i="0">
                <a:solidFill>
                  <a:srgbClr val="243B53"/>
                </a:solidFill>
              </a:rPr>
              <a:t>Executable reconstruction of the 1990 procedure</a:t>
            </a:r>
            <a:endParaRPr/>
          </a:p>
        </p:txBody>
      </p:sp>
      <p:sp>
        <p:nvSpPr>
          <p:cNvPr id="193892835" name=""/>
          <p:cNvSpPr>
            <a:spLocks noGrp="1"/>
          </p:cNvSpPr>
          <p:nvPr/>
        </p:nvSpPr>
        <p:spPr bwMode="auto">
          <a:xfrm>
            <a:off x="971550" y="2743200"/>
            <a:ext cx="4333875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350" b="0" i="0">
                <a:solidFill>
                  <a:srgbClr val="52606D"/>
                </a:solidFill>
              </a:defRPr>
            </a:pPr>
            <a:r>
              <a:rPr sz="1350" b="0" i="0">
                <a:solidFill>
                  <a:srgbClr val="52606D"/>
                </a:solidFill>
              </a:rPr>
              <a:t>Valid and invalid generators</a:t>
            </a:r>
            <a:endParaRPr/>
          </a:p>
        </p:txBody>
      </p:sp>
      <p:sp>
        <p:nvSpPr>
          <p:cNvPr id="1344061906" name=""/>
          <p:cNvSpPr>
            <a:spLocks noGrp="1"/>
          </p:cNvSpPr>
          <p:nvPr/>
        </p:nvSpPr>
        <p:spPr bwMode="auto">
          <a:xfrm>
            <a:off x="5810250" y="2743200"/>
            <a:ext cx="5524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1950" b="1" i="0">
                <a:solidFill>
                  <a:srgbClr val="E76F51"/>
                </a:solidFill>
              </a:defRPr>
            </a:pPr>
            <a:r>
              <a:rPr sz="1950" b="1" i="0">
                <a:solidFill>
                  <a:srgbClr val="E76F51"/>
                </a:solidFill>
              </a:rPr>
              <a:t>→</a:t>
            </a:r>
            <a:endParaRPr/>
          </a:p>
        </p:txBody>
      </p:sp>
      <p:sp>
        <p:nvSpPr>
          <p:cNvPr id="1382580358" name=""/>
          <p:cNvSpPr>
            <a:spLocks noGrp="1"/>
          </p:cNvSpPr>
          <p:nvPr/>
        </p:nvSpPr>
        <p:spPr bwMode="auto">
          <a:xfrm>
            <a:off x="6762750" y="2743200"/>
            <a:ext cx="4333875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350" b="0" i="0">
                <a:solidFill>
                  <a:srgbClr val="243B53"/>
                </a:solidFill>
              </a:defRPr>
            </a:pPr>
            <a:r>
              <a:rPr sz="1350" b="0" i="0">
                <a:solidFill>
                  <a:srgbClr val="243B53"/>
                </a:solidFill>
              </a:rPr>
              <a:t>Oracle-certified valid-input sorting</a:t>
            </a:r>
            <a:endParaRPr/>
          </a:p>
        </p:txBody>
      </p:sp>
      <p:sp>
        <p:nvSpPr>
          <p:cNvPr id="1084230045" name=""/>
          <p:cNvSpPr>
            <a:spLocks noGrp="1"/>
          </p:cNvSpPr>
          <p:nvPr/>
        </p:nvSpPr>
        <p:spPr bwMode="auto">
          <a:xfrm>
            <a:off x="971550" y="3219449"/>
            <a:ext cx="4333875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350" b="0" i="0">
                <a:solidFill>
                  <a:srgbClr val="52606D"/>
                </a:solidFill>
              </a:defRPr>
            </a:pPr>
            <a:r>
              <a:rPr sz="1350" b="0" i="0">
                <a:solidFill>
                  <a:srgbClr val="52606D"/>
                </a:solidFill>
              </a:rPr>
              <a:t>Static family trees</a:t>
            </a:r>
            <a:endParaRPr/>
          </a:p>
        </p:txBody>
      </p:sp>
      <p:sp>
        <p:nvSpPr>
          <p:cNvPr id="622788154" name=""/>
          <p:cNvSpPr>
            <a:spLocks noGrp="1"/>
          </p:cNvSpPr>
          <p:nvPr/>
        </p:nvSpPr>
        <p:spPr bwMode="auto">
          <a:xfrm>
            <a:off x="5810250" y="3219449"/>
            <a:ext cx="5524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1950" b="1" i="0">
                <a:solidFill>
                  <a:srgbClr val="E76F51"/>
                </a:solidFill>
              </a:defRPr>
            </a:pPr>
            <a:r>
              <a:rPr sz="1950" b="1" i="0">
                <a:solidFill>
                  <a:srgbClr val="E76F51"/>
                </a:solidFill>
              </a:rPr>
              <a:t>→</a:t>
            </a:r>
            <a:endParaRPr/>
          </a:p>
        </p:txBody>
      </p:sp>
      <p:sp>
        <p:nvSpPr>
          <p:cNvPr id="1658177239" name=""/>
          <p:cNvSpPr>
            <a:spLocks noGrp="1"/>
          </p:cNvSpPr>
          <p:nvPr/>
        </p:nvSpPr>
        <p:spPr bwMode="auto">
          <a:xfrm>
            <a:off x="6762750" y="3219449"/>
            <a:ext cx="4333875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350" b="1" i="0">
                <a:solidFill>
                  <a:srgbClr val="243B53"/>
                </a:solidFill>
              </a:defRPr>
            </a:pPr>
            <a:r>
              <a:rPr sz="1350" b="1" i="0">
                <a:solidFill>
                  <a:srgbClr val="243B53"/>
                </a:solidFill>
              </a:rPr>
              <a:t>Dynamic sibling-list state</a:t>
            </a:r>
            <a:endParaRPr/>
          </a:p>
        </p:txBody>
      </p:sp>
      <p:sp>
        <p:nvSpPr>
          <p:cNvPr id="1344313350" name=""/>
          <p:cNvSpPr>
            <a:spLocks noGrp="1"/>
          </p:cNvSpPr>
          <p:nvPr/>
        </p:nvSpPr>
        <p:spPr bwMode="auto">
          <a:xfrm>
            <a:off x="971550" y="3695700"/>
            <a:ext cx="4333875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350" b="0" i="0">
                <a:solidFill>
                  <a:srgbClr val="52606D"/>
                </a:solidFill>
              </a:defRPr>
            </a:pPr>
            <a:r>
              <a:rPr sz="1350" b="0" i="0">
                <a:solidFill>
                  <a:srgbClr val="52606D"/>
                </a:solidFill>
              </a:rPr>
              <a:t>Broad reference evaluation</a:t>
            </a:r>
            <a:endParaRPr/>
          </a:p>
        </p:txBody>
      </p:sp>
      <p:sp>
        <p:nvSpPr>
          <p:cNvPr id="1326245683" name=""/>
          <p:cNvSpPr>
            <a:spLocks noGrp="1"/>
          </p:cNvSpPr>
          <p:nvPr/>
        </p:nvSpPr>
        <p:spPr bwMode="auto">
          <a:xfrm>
            <a:off x="5810250" y="3695700"/>
            <a:ext cx="5524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1950" b="1" i="0">
                <a:solidFill>
                  <a:srgbClr val="E76F51"/>
                </a:solidFill>
              </a:defRPr>
            </a:pPr>
            <a:r>
              <a:rPr sz="1950" b="1" i="0">
                <a:solidFill>
                  <a:srgbClr val="E76F51"/>
                </a:solidFill>
              </a:rPr>
              <a:t>→</a:t>
            </a:r>
            <a:endParaRPr/>
          </a:p>
        </p:txBody>
      </p:sp>
      <p:sp>
        <p:nvSpPr>
          <p:cNvPr id="1383802065" name=""/>
          <p:cNvSpPr>
            <a:spLocks noGrp="1"/>
          </p:cNvSpPr>
          <p:nvPr/>
        </p:nvSpPr>
        <p:spPr bwMode="auto">
          <a:xfrm>
            <a:off x="6762750" y="3695700"/>
            <a:ext cx="4333875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350" b="0" i="0">
                <a:solidFill>
                  <a:srgbClr val="243B53"/>
                </a:solidFill>
              </a:defRPr>
            </a:pPr>
            <a:r>
              <a:rPr sz="1350" b="0" i="0">
                <a:solidFill>
                  <a:srgbClr val="243B53"/>
                </a:solidFill>
              </a:rPr>
              <a:t>Paper core, reference pipeline, Python sort</a:t>
            </a:r>
            <a:endParaRPr/>
          </a:p>
        </p:txBody>
      </p:sp>
      <p:sp>
        <p:nvSpPr>
          <p:cNvPr id="211454566" name=""/>
          <p:cNvSpPr>
            <a:spLocks noGrp="1"/>
          </p:cNvSpPr>
          <p:nvPr/>
        </p:nvSpPr>
        <p:spPr bwMode="auto">
          <a:xfrm>
            <a:off x="971550" y="4171950"/>
            <a:ext cx="4333875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350" b="0" i="0">
                <a:solidFill>
                  <a:srgbClr val="52606D"/>
                </a:solidFill>
              </a:defRPr>
            </a:pPr>
            <a:r>
              <a:rPr sz="1350" b="0" i="0">
                <a:solidFill>
                  <a:srgbClr val="52606D"/>
                </a:solidFill>
              </a:rPr>
              <a:t>Recognition as a possible experiment</a:t>
            </a:r>
            <a:endParaRPr/>
          </a:p>
        </p:txBody>
      </p:sp>
      <p:sp>
        <p:nvSpPr>
          <p:cNvPr id="1725579452" name=""/>
          <p:cNvSpPr>
            <a:spLocks noGrp="1"/>
          </p:cNvSpPr>
          <p:nvPr/>
        </p:nvSpPr>
        <p:spPr bwMode="auto">
          <a:xfrm>
            <a:off x="5810250" y="4171950"/>
            <a:ext cx="5524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1950" b="1" i="0">
                <a:solidFill>
                  <a:srgbClr val="E76F51"/>
                </a:solidFill>
              </a:defRPr>
            </a:pPr>
            <a:r>
              <a:rPr sz="1950" b="1" i="0">
                <a:solidFill>
                  <a:srgbClr val="E76F51"/>
                </a:solidFill>
              </a:rPr>
              <a:t>→</a:t>
            </a:r>
            <a:endParaRPr/>
          </a:p>
        </p:txBody>
      </p:sp>
      <p:sp>
        <p:nvSpPr>
          <p:cNvPr id="1451697768" name=""/>
          <p:cNvSpPr>
            <a:spLocks noGrp="1"/>
          </p:cNvSpPr>
          <p:nvPr/>
        </p:nvSpPr>
        <p:spPr bwMode="auto">
          <a:xfrm>
            <a:off x="6762750" y="4171950"/>
            <a:ext cx="4333875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350" b="0" i="0">
                <a:solidFill>
                  <a:srgbClr val="243B53"/>
                </a:solidFill>
              </a:defRPr>
            </a:pPr>
            <a:r>
              <a:rPr sz="1350" b="0" i="0">
                <a:solidFill>
                  <a:srgbClr val="243B53"/>
                </a:solidFill>
              </a:rPr>
              <a:t>Recognition remains separate</a:t>
            </a:r>
            <a:endParaRPr/>
          </a:p>
        </p:txBody>
      </p:sp>
      <p:sp>
        <p:nvSpPr>
          <p:cNvPr id="53753758" name=""/>
          <p:cNvSpPr>
            <a:spLocks noGrp="1"/>
          </p:cNvSpPr>
          <p:nvPr/>
        </p:nvSpPr>
        <p:spPr bwMode="auto">
          <a:xfrm>
            <a:off x="971550" y="4648200"/>
            <a:ext cx="4333875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350" b="0" i="0">
                <a:solidFill>
                  <a:srgbClr val="52606D"/>
                </a:solidFill>
              </a:defRPr>
            </a:pPr>
            <a:r>
              <a:rPr sz="1350" b="0" i="0">
                <a:solidFill>
                  <a:srgbClr val="52606D"/>
                </a:solidFill>
              </a:rPr>
              <a:t>Theoretical backend implementation</a:t>
            </a:r>
            <a:endParaRPr/>
          </a:p>
        </p:txBody>
      </p:sp>
      <p:sp>
        <p:nvSpPr>
          <p:cNvPr id="1787052425" name=""/>
          <p:cNvSpPr>
            <a:spLocks noGrp="1"/>
          </p:cNvSpPr>
          <p:nvPr/>
        </p:nvSpPr>
        <p:spPr bwMode="auto">
          <a:xfrm>
            <a:off x="5810250" y="4648200"/>
            <a:ext cx="5524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1950" b="1" i="0">
                <a:solidFill>
                  <a:srgbClr val="E76F51"/>
                </a:solidFill>
              </a:defRPr>
            </a:pPr>
            <a:r>
              <a:rPr sz="1950" b="1" i="0">
                <a:solidFill>
                  <a:srgbClr val="E76F51"/>
                </a:solidFill>
              </a:rPr>
              <a:t>→</a:t>
            </a:r>
            <a:endParaRPr/>
          </a:p>
        </p:txBody>
      </p:sp>
      <p:sp>
        <p:nvSpPr>
          <p:cNvPr id="16615314" name=""/>
          <p:cNvSpPr>
            <a:spLocks noGrp="1"/>
          </p:cNvSpPr>
          <p:nvPr/>
        </p:nvSpPr>
        <p:spPr bwMode="auto">
          <a:xfrm>
            <a:off x="6762750" y="4648200"/>
            <a:ext cx="4333875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350" b="0" i="0">
                <a:solidFill>
                  <a:srgbClr val="243B53"/>
                </a:solidFill>
              </a:defRPr>
            </a:pPr>
            <a:r>
              <a:rPr sz="1350" b="0" i="0">
                <a:solidFill>
                  <a:srgbClr val="243B53"/>
                </a:solidFill>
              </a:rPr>
              <a:t>Ordinary lists in the current implementation</a:t>
            </a:r>
            <a:endParaRPr/>
          </a:p>
        </p:txBody>
      </p:sp>
      <p:sp>
        <p:nvSpPr>
          <p:cNvPr id="1407513731" name=""/>
          <p:cNvSpPr>
            <a:spLocks noGrp="1"/>
          </p:cNvSpPr>
          <p:nvPr/>
        </p:nvSpPr>
        <p:spPr bwMode="auto">
          <a:xfrm>
            <a:off x="1143000" y="5505450"/>
            <a:ext cx="99060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</a:defRPr>
            </a:pPr>
            <a:r>
              <a:rPr sz="1650" b="1" i="0">
                <a:solidFill>
                  <a:srgbClr val="102A43"/>
                </a:solidFill>
              </a:rPr>
              <a:t>The experiment evaluates the ordinary-list implementation. A finger-tree backend remains a possible extension.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7FAFC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29007043" name=""/>
          <p:cNvSpPr>
            <a:spLocks noGrp="1"/>
          </p:cNvSpPr>
          <p:nvPr/>
        </p:nvSpPr>
        <p:spPr bwMode="auto">
          <a:xfrm>
            <a:off x="628650" y="247650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900" b="1" i="0">
                <a:solidFill>
                  <a:srgbClr val="2A9D8F"/>
                </a:solidFill>
              </a:defRPr>
            </a:pPr>
            <a:r>
              <a:rPr sz="900" b="1" i="0">
                <a:solidFill>
                  <a:srgbClr val="2A9D8F"/>
                </a:solidFill>
              </a:rPr>
              <a:t>RESEARCH QUESTIONS</a:t>
            </a:r>
            <a:endParaRPr/>
          </a:p>
        </p:txBody>
      </p:sp>
      <p:sp>
        <p:nvSpPr>
          <p:cNvPr id="250408740" name=""/>
          <p:cNvSpPr>
            <a:spLocks noGrp="1"/>
          </p:cNvSpPr>
          <p:nvPr/>
        </p:nvSpPr>
        <p:spPr bwMode="auto">
          <a:xfrm>
            <a:off x="609600" y="514350"/>
            <a:ext cx="109728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90096"/>
          </a:bodyPr>
          <a:lstStyle/>
          <a:p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Three questions connect reconstruction, measurement, and interpretation</a:t>
            </a:r>
            <a:endParaRPr/>
          </a:p>
        </p:txBody>
      </p:sp>
      <p:sp>
        <p:nvSpPr>
          <p:cNvPr id="1189472267" name=""/>
          <p:cNvSpPr>
            <a:spLocks noGrp="1"/>
          </p:cNvSpPr>
          <p:nvPr/>
        </p:nvSpPr>
        <p:spPr bwMode="auto">
          <a:xfrm>
            <a:off x="609600" y="1085850"/>
            <a:ext cx="10972800" cy="9525"/>
          </a:xfrm>
          <a:prstGeom prst="line">
            <a:avLst/>
          </a:prstGeom>
          <a:noFill/>
          <a:ln w="28575">
            <a:solidFill>
              <a:srgbClr val="2A9D8F"/>
            </a:solidFill>
            <a:prstDash val="solid"/>
          </a:ln>
        </p:spPr>
      </p:sp>
      <p:sp>
        <p:nvSpPr>
          <p:cNvPr id="1635067124" name=""/>
          <p:cNvSpPr>
            <a:spLocks noGrp="1"/>
          </p:cNvSpPr>
          <p:nvPr/>
        </p:nvSpPr>
        <p:spPr bwMode="auto">
          <a:xfrm>
            <a:off x="609600" y="6477000"/>
            <a:ext cx="10972800" cy="9525"/>
          </a:xfrm>
          <a:prstGeom prst="line">
            <a:avLst/>
          </a:prstGeom>
          <a:noFill/>
          <a:ln w="9525">
            <a:solidFill>
              <a:srgbClr val="D9E2EC"/>
            </a:solidFill>
            <a:prstDash val="solid"/>
          </a:ln>
        </p:spPr>
      </p:sp>
      <p:sp>
        <p:nvSpPr>
          <p:cNvPr id="1127277305" name=""/>
          <p:cNvSpPr>
            <a:spLocks noGrp="1"/>
          </p:cNvSpPr>
          <p:nvPr/>
        </p:nvSpPr>
        <p:spPr bwMode="auto">
          <a:xfrm>
            <a:off x="647700" y="6534150"/>
            <a:ext cx="3619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850" b="1" i="0">
                <a:solidFill>
                  <a:srgbClr val="7B8794"/>
                </a:solidFill>
              </a:defRPr>
            </a:pPr>
            <a:r>
              <a:rPr sz="850" b="1" i="0">
                <a:solidFill>
                  <a:srgbClr val="7B8794"/>
                </a:solidFill>
              </a:rPr>
              <a:t>MASTER'S THESIS PROGRESS REPORT</a:t>
            </a:r>
            <a:endParaRPr/>
          </a:p>
        </p:txBody>
      </p:sp>
      <p:sp>
        <p:nvSpPr>
          <p:cNvPr id="802964817" name=""/>
          <p:cNvSpPr>
            <a:spLocks noGrp="1"/>
          </p:cNvSpPr>
          <p:nvPr/>
        </p:nvSpPr>
        <p:spPr bwMode="auto">
          <a:xfrm>
            <a:off x="10668000" y="6534150"/>
            <a:ext cx="876299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100000"/>
          </a:bodyPr>
          <a:lstStyle/>
          <a:p>
            <a:pPr algn="r">
              <a:lnSpc>
                <a:spcPct val="105000"/>
              </a:lnSpc>
              <a:buNone/>
              <a:defRPr sz="850" b="1" i="0">
                <a:solidFill>
                  <a:srgbClr val="7B8794"/>
                </a:solidFill>
              </a:defRPr>
            </a:pPr>
            <a:r>
              <a:rPr sz="850" b="1" i="0">
                <a:solidFill>
                  <a:srgbClr val="7B8794"/>
                </a:solidFill>
              </a:rPr>
              <a:t>5 / 16</a:t>
            </a:r>
            <a:endParaRPr/>
          </a:p>
        </p:txBody>
      </p:sp>
      <p:sp>
        <p:nvSpPr>
          <p:cNvPr id="6883186" name=""/>
          <p:cNvSpPr>
            <a:spLocks noGrp="1"/>
          </p:cNvSpPr>
          <p:nvPr/>
        </p:nvSpPr>
        <p:spPr bwMode="auto">
          <a:xfrm>
            <a:off x="723900" y="1485900"/>
            <a:ext cx="10744200" cy="1200150"/>
          </a:xfrm>
          <a:prstGeom prst="roundRect">
            <a:avLst>
              <a:gd name="adj" fmla="val 6349"/>
            </a:avLst>
          </a:prstGeom>
          <a:solidFill>
            <a:srgbClr val="E8F5F3"/>
          </a:solidFill>
          <a:ln w="11430">
            <a:solidFill>
              <a:srgbClr val="E8F5F3"/>
            </a:solidFill>
            <a:prstDash val="solid"/>
          </a:ln>
        </p:spPr>
      </p:sp>
      <p:sp>
        <p:nvSpPr>
          <p:cNvPr id="559641355" name=""/>
          <p:cNvSpPr>
            <a:spLocks noGrp="1"/>
          </p:cNvSpPr>
          <p:nvPr/>
        </p:nvSpPr>
        <p:spPr bwMode="auto">
          <a:xfrm>
            <a:off x="914400" y="1657350"/>
            <a:ext cx="1143000" cy="43814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2100" b="1" i="0">
                <a:solidFill>
                  <a:srgbClr val="2A9D8F"/>
                </a:solidFill>
              </a:defRPr>
            </a:pPr>
            <a:r>
              <a:rPr sz="2100" b="1" i="0">
                <a:solidFill>
                  <a:srgbClr val="2A9D8F"/>
                </a:solidFill>
              </a:rPr>
              <a:t>RQ1</a:t>
            </a:r>
            <a:endParaRPr/>
          </a:p>
        </p:txBody>
      </p:sp>
      <p:sp>
        <p:nvSpPr>
          <p:cNvPr id="96534450" name=""/>
          <p:cNvSpPr>
            <a:spLocks noGrp="1"/>
          </p:cNvSpPr>
          <p:nvPr/>
        </p:nvSpPr>
        <p:spPr bwMode="auto">
          <a:xfrm>
            <a:off x="2152650" y="1619250"/>
            <a:ext cx="4953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800" b="1" i="0">
                <a:solidFill>
                  <a:srgbClr val="102A43"/>
                </a:solidFill>
              </a:defRPr>
            </a:pPr>
            <a:r>
              <a:rPr sz="1800" b="1" i="0">
                <a:solidFill>
                  <a:srgbClr val="102A43"/>
                </a:solidFill>
              </a:rPr>
              <a:t>Executable reconstruction and correctness</a:t>
            </a:r>
            <a:endParaRPr/>
          </a:p>
        </p:txBody>
      </p:sp>
      <p:sp>
        <p:nvSpPr>
          <p:cNvPr id="1644593217" name=""/>
          <p:cNvSpPr>
            <a:spLocks noGrp="1"/>
          </p:cNvSpPr>
          <p:nvPr/>
        </p:nvSpPr>
        <p:spPr bwMode="auto">
          <a:xfrm>
            <a:off x="2152650" y="2057400"/>
            <a:ext cx="88582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350" b="0" i="0">
                <a:solidFill>
                  <a:srgbClr val="243B53"/>
                </a:solidFill>
              </a:defRPr>
            </a:pPr>
            <a:r>
              <a:rPr sz="1350" b="0" i="0">
                <a:solidFill>
                  <a:srgbClr val="243B53"/>
                </a:solidFill>
              </a:rPr>
              <a:t>Can an ordinary-list reconstruction recover sorted order from maintained state for oracle-certified valid inputs?</a:t>
            </a:r>
            <a:endParaRPr/>
          </a:p>
        </p:txBody>
      </p:sp>
      <p:sp>
        <p:nvSpPr>
          <p:cNvPr id="1587043972" name=""/>
          <p:cNvSpPr>
            <a:spLocks noGrp="1"/>
          </p:cNvSpPr>
          <p:nvPr/>
        </p:nvSpPr>
        <p:spPr bwMode="auto">
          <a:xfrm>
            <a:off x="8477250" y="1647825"/>
            <a:ext cx="2571750" cy="285750"/>
          </a:xfrm>
          <a:prstGeom prst="roundRect">
            <a:avLst>
              <a:gd name="adj" fmla="val 20000"/>
            </a:avLst>
          </a:prstGeom>
          <a:solidFill>
            <a:srgbClr val="2A9D8F"/>
          </a:solidFill>
          <a:ln w="11430">
            <a:solidFill>
              <a:srgbClr val="2A9D8F"/>
            </a:solidFill>
            <a:prstDash val="solid"/>
          </a:ln>
        </p:spPr>
      </p:sp>
      <p:sp>
        <p:nvSpPr>
          <p:cNvPr id="1345186259" name=""/>
          <p:cNvSpPr>
            <a:spLocks noGrp="1"/>
          </p:cNvSpPr>
          <p:nvPr/>
        </p:nvSpPr>
        <p:spPr bwMode="auto">
          <a:xfrm>
            <a:off x="8477250" y="1657350"/>
            <a:ext cx="2571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1000" b="1" i="0">
                <a:solidFill>
                  <a:srgbClr val="FFFFFF"/>
                </a:solidFill>
              </a:defRPr>
            </a:pPr>
            <a:r>
              <a:rPr sz="1000" b="1" i="0">
                <a:solidFill>
                  <a:srgbClr val="FFFFFF"/>
                </a:solidFill>
              </a:rPr>
              <a:t>PRIMARY TECHNICAL QUESTION</a:t>
            </a:r>
            <a:endParaRPr/>
          </a:p>
        </p:txBody>
      </p:sp>
      <p:sp>
        <p:nvSpPr>
          <p:cNvPr id="38064242" name=""/>
          <p:cNvSpPr>
            <a:spLocks noGrp="1"/>
          </p:cNvSpPr>
          <p:nvPr/>
        </p:nvSpPr>
        <p:spPr bwMode="auto">
          <a:xfrm>
            <a:off x="723900" y="2990850"/>
            <a:ext cx="10744200" cy="1200150"/>
          </a:xfrm>
          <a:prstGeom prst="roundRect">
            <a:avLst>
              <a:gd name="adj" fmla="val 6349"/>
            </a:avLst>
          </a:prstGeom>
          <a:solidFill>
            <a:srgbClr val="FCEEEA"/>
          </a:solidFill>
          <a:ln w="11430">
            <a:solidFill>
              <a:srgbClr val="FCEEEA"/>
            </a:solidFill>
            <a:prstDash val="solid"/>
          </a:ln>
        </p:spPr>
      </p:sp>
      <p:sp>
        <p:nvSpPr>
          <p:cNvPr id="1030459799" name=""/>
          <p:cNvSpPr>
            <a:spLocks noGrp="1"/>
          </p:cNvSpPr>
          <p:nvPr/>
        </p:nvSpPr>
        <p:spPr bwMode="auto">
          <a:xfrm>
            <a:off x="914400" y="3162300"/>
            <a:ext cx="1143000" cy="43814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2100" b="1" i="0">
                <a:solidFill>
                  <a:srgbClr val="E76F51"/>
                </a:solidFill>
              </a:defRPr>
            </a:pPr>
            <a:r>
              <a:rPr sz="2100" b="1" i="0">
                <a:solidFill>
                  <a:srgbClr val="E76F51"/>
                </a:solidFill>
              </a:rPr>
              <a:t>RQ2</a:t>
            </a:r>
            <a:endParaRPr/>
          </a:p>
        </p:txBody>
      </p:sp>
      <p:sp>
        <p:nvSpPr>
          <p:cNvPr id="1392888691" name=""/>
          <p:cNvSpPr>
            <a:spLocks noGrp="1"/>
          </p:cNvSpPr>
          <p:nvPr/>
        </p:nvSpPr>
        <p:spPr bwMode="auto">
          <a:xfrm>
            <a:off x="2152650" y="3124200"/>
            <a:ext cx="4953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800" b="1" i="0">
                <a:solidFill>
                  <a:srgbClr val="102A43"/>
                </a:solidFill>
              </a:defRPr>
            </a:pPr>
            <a:r>
              <a:rPr sz="1800" b="1" i="0">
                <a:solidFill>
                  <a:srgbClr val="102A43"/>
                </a:solidFill>
              </a:rPr>
              <a:t>Observed runtime behavior</a:t>
            </a:r>
            <a:endParaRPr/>
          </a:p>
        </p:txBody>
      </p:sp>
      <p:sp>
        <p:nvSpPr>
          <p:cNvPr id="1666704519" name=""/>
          <p:cNvSpPr>
            <a:spLocks noGrp="1"/>
          </p:cNvSpPr>
          <p:nvPr/>
        </p:nvSpPr>
        <p:spPr bwMode="auto">
          <a:xfrm>
            <a:off x="2152650" y="3562350"/>
            <a:ext cx="88582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350" b="0" i="0">
                <a:solidFill>
                  <a:srgbClr val="243B53"/>
                </a:solidFill>
              </a:defRPr>
            </a:pPr>
            <a:r>
              <a:rPr sz="1350" b="0" i="0">
                <a:solidFill>
                  <a:srgbClr val="243B53"/>
                </a:solidFill>
              </a:rPr>
              <a:t>How does the paper core behave on pre-certified inputs relative to Python sort and the complete reference pipeline under different timing scopes?</a:t>
            </a:r>
            <a:endParaRPr/>
          </a:p>
        </p:txBody>
      </p:sp>
      <p:sp>
        <p:nvSpPr>
          <p:cNvPr id="519503871" name=""/>
          <p:cNvSpPr>
            <a:spLocks noGrp="1"/>
          </p:cNvSpPr>
          <p:nvPr/>
        </p:nvSpPr>
        <p:spPr bwMode="auto">
          <a:xfrm>
            <a:off x="723900" y="4495800"/>
            <a:ext cx="10744200" cy="1200150"/>
          </a:xfrm>
          <a:prstGeom prst="roundRect">
            <a:avLst>
              <a:gd name="adj" fmla="val 6349"/>
            </a:avLst>
          </a:prstGeom>
          <a:solidFill>
            <a:srgbClr val="EDF2F7"/>
          </a:solidFill>
          <a:ln w="11430">
            <a:solidFill>
              <a:srgbClr val="EDF2F7"/>
            </a:solidFill>
            <a:prstDash val="solid"/>
          </a:ln>
        </p:spPr>
      </p:sp>
      <p:sp>
        <p:nvSpPr>
          <p:cNvPr id="1203569546" name=""/>
          <p:cNvSpPr>
            <a:spLocks noGrp="1"/>
          </p:cNvSpPr>
          <p:nvPr/>
        </p:nvSpPr>
        <p:spPr bwMode="auto">
          <a:xfrm>
            <a:off x="914400" y="4667250"/>
            <a:ext cx="1143000" cy="43814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2100" b="1" i="0">
                <a:solidFill>
                  <a:srgbClr val="52606D"/>
                </a:solidFill>
              </a:defRPr>
            </a:pPr>
            <a:r>
              <a:rPr sz="2100" b="1" i="0">
                <a:solidFill>
                  <a:srgbClr val="52606D"/>
                </a:solidFill>
              </a:rPr>
              <a:t>RQ3</a:t>
            </a:r>
            <a:endParaRPr/>
          </a:p>
        </p:txBody>
      </p:sp>
      <p:sp>
        <p:nvSpPr>
          <p:cNvPr id="1365322595" name=""/>
          <p:cNvSpPr>
            <a:spLocks noGrp="1"/>
          </p:cNvSpPr>
          <p:nvPr/>
        </p:nvSpPr>
        <p:spPr bwMode="auto">
          <a:xfrm>
            <a:off x="2152650" y="4629150"/>
            <a:ext cx="4953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800" b="1" i="0">
                <a:solidFill>
                  <a:srgbClr val="102A43"/>
                </a:solidFill>
              </a:defRPr>
            </a:pPr>
            <a:r>
              <a:rPr sz="1800" b="1" i="0">
                <a:solidFill>
                  <a:srgbClr val="102A43"/>
                </a:solidFill>
              </a:rPr>
              <a:t>Structure and implementation cost</a:t>
            </a:r>
            <a:endParaRPr/>
          </a:p>
        </p:txBody>
      </p:sp>
      <p:sp>
        <p:nvSpPr>
          <p:cNvPr id="755220788" name=""/>
          <p:cNvSpPr>
            <a:spLocks noGrp="1"/>
          </p:cNvSpPr>
          <p:nvPr/>
        </p:nvSpPr>
        <p:spPr bwMode="auto">
          <a:xfrm>
            <a:off x="2152650" y="5067300"/>
            <a:ext cx="88582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350" b="0" i="0">
                <a:solidFill>
                  <a:srgbClr val="243B53"/>
                </a:solidFill>
              </a:defRPr>
            </a:pPr>
            <a:r>
              <a:rPr sz="1350" b="0" i="0">
                <a:solidFill>
                  <a:srgbClr val="243B53"/>
                </a:solidFill>
              </a:rPr>
              <a:t>What descriptive relationships appear between input structure, checked operation counters, and runtime?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7FAFC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8967888" name=""/>
          <p:cNvSpPr>
            <a:spLocks noGrp="1"/>
          </p:cNvSpPr>
          <p:nvPr/>
        </p:nvSpPr>
        <p:spPr bwMode="auto">
          <a:xfrm>
            <a:off x="628650" y="247650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900" b="1" i="0">
                <a:solidFill>
                  <a:srgbClr val="2A9D8F"/>
                </a:solidFill>
              </a:defRPr>
            </a:pPr>
            <a:r>
              <a:rPr sz="900" b="1" i="0">
                <a:solidFill>
                  <a:srgbClr val="2A9D8F"/>
                </a:solidFill>
              </a:rPr>
              <a:t>ARCHITECTURE</a:t>
            </a:r>
            <a:endParaRPr/>
          </a:p>
        </p:txBody>
      </p:sp>
      <p:sp>
        <p:nvSpPr>
          <p:cNvPr id="1871266467" name=""/>
          <p:cNvSpPr>
            <a:spLocks noGrp="1"/>
          </p:cNvSpPr>
          <p:nvPr/>
        </p:nvSpPr>
        <p:spPr bwMode="auto">
          <a:xfrm>
            <a:off x="609600" y="514350"/>
            <a:ext cx="109728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The oracle, reference pipeline, and paper core have distinct roles</a:t>
            </a:r>
            <a:endParaRPr/>
          </a:p>
        </p:txBody>
      </p:sp>
      <p:sp>
        <p:nvSpPr>
          <p:cNvPr id="1319264641" name=""/>
          <p:cNvSpPr>
            <a:spLocks noGrp="1"/>
          </p:cNvSpPr>
          <p:nvPr/>
        </p:nvSpPr>
        <p:spPr bwMode="auto">
          <a:xfrm>
            <a:off x="609600" y="1085850"/>
            <a:ext cx="10972800" cy="9525"/>
          </a:xfrm>
          <a:prstGeom prst="line">
            <a:avLst/>
          </a:prstGeom>
          <a:noFill/>
          <a:ln w="28575">
            <a:solidFill>
              <a:srgbClr val="2A9D8F"/>
            </a:solidFill>
            <a:prstDash val="solid"/>
          </a:ln>
        </p:spPr>
      </p:sp>
      <p:sp>
        <p:nvSpPr>
          <p:cNvPr id="152074571" name=""/>
          <p:cNvSpPr>
            <a:spLocks noGrp="1"/>
          </p:cNvSpPr>
          <p:nvPr/>
        </p:nvSpPr>
        <p:spPr bwMode="auto">
          <a:xfrm>
            <a:off x="609600" y="6477000"/>
            <a:ext cx="10972800" cy="9525"/>
          </a:xfrm>
          <a:prstGeom prst="line">
            <a:avLst/>
          </a:prstGeom>
          <a:noFill/>
          <a:ln w="9525">
            <a:solidFill>
              <a:srgbClr val="D9E2EC"/>
            </a:solidFill>
            <a:prstDash val="solid"/>
          </a:ln>
        </p:spPr>
      </p:sp>
      <p:sp>
        <p:nvSpPr>
          <p:cNvPr id="15148501" name=""/>
          <p:cNvSpPr>
            <a:spLocks noGrp="1"/>
          </p:cNvSpPr>
          <p:nvPr/>
        </p:nvSpPr>
        <p:spPr bwMode="auto">
          <a:xfrm>
            <a:off x="647700" y="6534150"/>
            <a:ext cx="3619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850" b="1" i="0">
                <a:solidFill>
                  <a:srgbClr val="7B8794"/>
                </a:solidFill>
              </a:defRPr>
            </a:pPr>
            <a:r>
              <a:rPr sz="850" b="1" i="0">
                <a:solidFill>
                  <a:srgbClr val="7B8794"/>
                </a:solidFill>
              </a:rPr>
              <a:t>MASTER'S THESIS PROGRESS REPORT</a:t>
            </a:r>
            <a:endParaRPr/>
          </a:p>
        </p:txBody>
      </p:sp>
      <p:sp>
        <p:nvSpPr>
          <p:cNvPr id="1506693792" name=""/>
          <p:cNvSpPr>
            <a:spLocks noGrp="1"/>
          </p:cNvSpPr>
          <p:nvPr/>
        </p:nvSpPr>
        <p:spPr bwMode="auto">
          <a:xfrm>
            <a:off x="10668000" y="6534150"/>
            <a:ext cx="876299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100000"/>
          </a:bodyPr>
          <a:lstStyle/>
          <a:p>
            <a:pPr algn="r">
              <a:lnSpc>
                <a:spcPct val="105000"/>
              </a:lnSpc>
              <a:buNone/>
              <a:defRPr sz="850" b="1" i="0">
                <a:solidFill>
                  <a:srgbClr val="7B8794"/>
                </a:solidFill>
              </a:defRPr>
            </a:pPr>
            <a:r>
              <a:rPr sz="850" b="1" i="0">
                <a:solidFill>
                  <a:srgbClr val="7B8794"/>
                </a:solidFill>
              </a:rPr>
              <a:t>6 / 16</a:t>
            </a:r>
            <a:endParaRPr/>
          </a:p>
        </p:txBody>
      </p:sp>
      <p:sp>
        <p:nvSpPr>
          <p:cNvPr id="1326708548" name=""/>
          <p:cNvSpPr>
            <a:spLocks noGrp="1"/>
          </p:cNvSpPr>
          <p:nvPr/>
        </p:nvSpPr>
        <p:spPr bwMode="auto">
          <a:xfrm>
            <a:off x="4238625" y="1352550"/>
            <a:ext cx="3714750" cy="876299"/>
          </a:xfrm>
          <a:prstGeom prst="roundRect">
            <a:avLst>
              <a:gd name="adj" fmla="val 8696"/>
            </a:avLst>
          </a:prstGeom>
          <a:solidFill>
            <a:srgbClr val="EAF1F8"/>
          </a:solidFill>
          <a:ln w="19050">
            <a:solidFill>
              <a:srgbClr val="102A43"/>
            </a:solidFill>
            <a:prstDash val="solid"/>
          </a:ln>
        </p:spPr>
      </p:sp>
      <p:sp>
        <p:nvSpPr>
          <p:cNvPr id="431874190" name=""/>
          <p:cNvSpPr>
            <a:spLocks noGrp="1"/>
          </p:cNvSpPr>
          <p:nvPr/>
        </p:nvSpPr>
        <p:spPr bwMode="auto">
          <a:xfrm>
            <a:off x="4429125" y="1485900"/>
            <a:ext cx="3333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5238"/>
          </a:bodyPr>
          <a:lstStyle/>
          <a:p>
            <a:pPr algn="ctr">
              <a:lnSpc>
                <a:spcPct val="105000"/>
              </a:lnSpc>
              <a:buNone/>
              <a:defRPr sz="1900" b="1" i="0">
                <a:solidFill>
                  <a:srgbClr val="102A43"/>
                </a:solidFill>
              </a:defRPr>
            </a:pPr>
            <a:r>
              <a:rPr sz="1900" b="1" i="0">
                <a:solidFill>
                  <a:srgbClr val="102A43"/>
                </a:solidFill>
              </a:rPr>
              <a:t>Certification oracle</a:t>
            </a:r>
            <a:endParaRPr/>
          </a:p>
        </p:txBody>
      </p:sp>
      <p:sp>
        <p:nvSpPr>
          <p:cNvPr id="1519219964" name=""/>
          <p:cNvSpPr>
            <a:spLocks noGrp="1"/>
          </p:cNvSpPr>
          <p:nvPr/>
        </p:nvSpPr>
        <p:spPr bwMode="auto">
          <a:xfrm>
            <a:off x="4429125" y="1847850"/>
            <a:ext cx="3333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7002"/>
          </a:bodyPr>
          <a:lstStyle/>
          <a:p>
            <a:pPr algn="ctr">
              <a:lnSpc>
                <a:spcPct val="105000"/>
              </a:lnSpc>
              <a:buNone/>
              <a:defRPr sz="1350" b="0" i="0">
                <a:solidFill>
                  <a:srgbClr val="52606D"/>
                </a:solidFill>
              </a:defRPr>
            </a:pPr>
            <a:r>
              <a:rPr sz="1350" b="0" i="0">
                <a:solidFill>
                  <a:srgbClr val="52606D"/>
                </a:solidFill>
              </a:rPr>
              <a:t>validity + expected sorted order</a:t>
            </a:r>
            <a:endParaRPr/>
          </a:p>
        </p:txBody>
      </p:sp>
      <p:sp>
        <p:nvSpPr>
          <p:cNvPr id="670811248" name=""/>
          <p:cNvSpPr>
            <a:spLocks noGrp="1"/>
          </p:cNvSpPr>
          <p:nvPr/>
        </p:nvSpPr>
        <p:spPr bwMode="auto">
          <a:xfrm>
            <a:off x="876299" y="3105150"/>
            <a:ext cx="4333875" cy="1809750"/>
          </a:xfrm>
          <a:prstGeom prst="roundRect">
            <a:avLst>
              <a:gd name="adj" fmla="val 4211"/>
            </a:avLst>
          </a:prstGeom>
          <a:solidFill>
            <a:srgbClr val="FCEEEA"/>
          </a:solidFill>
          <a:ln w="19050">
            <a:solidFill>
              <a:srgbClr val="E76F51"/>
            </a:solidFill>
            <a:prstDash val="solid"/>
          </a:ln>
        </p:spPr>
      </p:sp>
      <p:sp>
        <p:nvSpPr>
          <p:cNvPr id="676235121" name=""/>
          <p:cNvSpPr>
            <a:spLocks noGrp="1"/>
          </p:cNvSpPr>
          <p:nvPr/>
        </p:nvSpPr>
        <p:spPr bwMode="auto">
          <a:xfrm>
            <a:off x="6981825" y="3105150"/>
            <a:ext cx="4333875" cy="1809750"/>
          </a:xfrm>
          <a:prstGeom prst="roundRect">
            <a:avLst>
              <a:gd name="adj" fmla="val 4211"/>
            </a:avLst>
          </a:prstGeom>
          <a:solidFill>
            <a:srgbClr val="E8F5F3"/>
          </a:solidFill>
          <a:ln w="19050">
            <a:solidFill>
              <a:srgbClr val="2A9D8F"/>
            </a:solidFill>
            <a:prstDash val="solid"/>
          </a:ln>
        </p:spPr>
      </p:sp>
      <p:cxnSp>
        <p:nvCxnSpPr>
          <p:cNvPr id="114061632" name=""/>
          <p:cNvCxnSpPr>
            <a:stCxn id="1326708548" idx="2"/>
            <a:endCxn id="670811248" idx="0"/>
          </p:cNvCxnSpPr>
          <p:nvPr/>
        </p:nvCxnSpPr>
        <p:spPr bwMode="auto">
          <a:xfrm flipH="1">
            <a:off x="3043238" y="2228850"/>
            <a:ext cx="3052763" cy="876299"/>
          </a:xfrm>
          <a:prstGeom prst="bentConnector4">
            <a:avLst>
              <a:gd name="adj1" fmla="val 0"/>
              <a:gd name="adj2" fmla="val 50000"/>
            </a:avLst>
          </a:prstGeom>
          <a:ln w="19050">
            <a:solidFill>
              <a:srgbClr val="52606D"/>
            </a:solidFill>
            <a:prstDash val="solid"/>
            <a:tailEnd type="arrow" w="med" len="med"/>
          </a:ln>
        </p:spPr>
      </p:cxnSp>
      <p:cxnSp>
        <p:nvCxnSpPr>
          <p:cNvPr id="451297198" name=""/>
          <p:cNvCxnSpPr>
            <a:stCxn id="1326708548" idx="2"/>
            <a:endCxn id="676235121" idx="0"/>
          </p:cNvCxnSpPr>
          <p:nvPr/>
        </p:nvCxnSpPr>
        <p:spPr bwMode="auto">
          <a:xfrm>
            <a:off x="6096000" y="2228850"/>
            <a:ext cx="3052763" cy="876299"/>
          </a:xfrm>
          <a:prstGeom prst="bentConnector4">
            <a:avLst>
              <a:gd name="adj1" fmla="val 0"/>
              <a:gd name="adj2" fmla="val 50000"/>
            </a:avLst>
          </a:prstGeom>
          <a:ln w="19050">
            <a:solidFill>
              <a:srgbClr val="52606D"/>
            </a:solidFill>
            <a:prstDash val="solid"/>
            <a:tailEnd type="arrow" w="med" len="med"/>
          </a:ln>
        </p:spPr>
      </p:cxnSp>
      <p:sp>
        <p:nvSpPr>
          <p:cNvPr id="448201383" name=""/>
          <p:cNvSpPr>
            <a:spLocks noGrp="1"/>
          </p:cNvSpPr>
          <p:nvPr/>
        </p:nvSpPr>
        <p:spPr bwMode="auto">
          <a:xfrm>
            <a:off x="1352550" y="2419350"/>
            <a:ext cx="3390900" cy="4572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1430">
            <a:solidFill>
              <a:srgbClr val="E76F51"/>
            </a:solidFill>
            <a:prstDash val="solid"/>
          </a:ln>
        </p:spPr>
      </p:sp>
      <p:sp>
        <p:nvSpPr>
          <p:cNvPr id="413264761" name=""/>
          <p:cNvSpPr>
            <a:spLocks noGrp="1"/>
          </p:cNvSpPr>
          <p:nvPr/>
        </p:nvSpPr>
        <p:spPr bwMode="auto">
          <a:xfrm>
            <a:off x="1485900" y="2476500"/>
            <a:ext cx="31242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1300" b="1" i="0">
                <a:solidFill>
                  <a:srgbClr val="E76F51"/>
                </a:solidFill>
              </a:defRPr>
            </a:pPr>
            <a:r>
              <a:rPr sz="1300" b="1" i="0">
                <a:solidFill>
                  <a:srgbClr val="E76F51"/>
                </a:solidFill>
              </a:rPr>
              <a:t>oracle result, including sorted output</a:t>
            </a:r>
            <a:endParaRPr/>
          </a:p>
        </p:txBody>
      </p:sp>
      <p:sp>
        <p:nvSpPr>
          <p:cNvPr id="816368846" name=""/>
          <p:cNvSpPr>
            <a:spLocks noGrp="1"/>
          </p:cNvSpPr>
          <p:nvPr/>
        </p:nvSpPr>
        <p:spPr bwMode="auto">
          <a:xfrm>
            <a:off x="7448550" y="2419350"/>
            <a:ext cx="3390900" cy="4572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1430">
            <a:solidFill>
              <a:srgbClr val="2A9D8F"/>
            </a:solidFill>
            <a:prstDash val="solid"/>
          </a:ln>
        </p:spPr>
      </p:sp>
      <p:sp>
        <p:nvSpPr>
          <p:cNvPr id="1741273022" name=""/>
          <p:cNvSpPr>
            <a:spLocks noGrp="1"/>
          </p:cNvSpPr>
          <p:nvPr/>
        </p:nvSpPr>
        <p:spPr bwMode="auto">
          <a:xfrm>
            <a:off x="7581899" y="2476500"/>
            <a:ext cx="31242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1300" b="1" i="0">
                <a:solidFill>
                  <a:srgbClr val="2A9D8F"/>
                </a:solidFill>
              </a:defRPr>
            </a:pPr>
            <a:r>
              <a:rPr sz="1300" b="1" i="0">
                <a:solidFill>
                  <a:srgbClr val="2A9D8F"/>
                </a:solidFill>
              </a:rPr>
              <a:t>valid-input certification only</a:t>
            </a:r>
            <a:endParaRPr/>
          </a:p>
        </p:txBody>
      </p:sp>
      <p:sp>
        <p:nvSpPr>
          <p:cNvPr id="715667901" name=""/>
          <p:cNvSpPr>
            <a:spLocks noGrp="1"/>
          </p:cNvSpPr>
          <p:nvPr/>
        </p:nvSpPr>
        <p:spPr bwMode="auto">
          <a:xfrm>
            <a:off x="1104900" y="3276600"/>
            <a:ext cx="3857625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9746"/>
          </a:bodyPr>
          <a:lstStyle/>
          <a:p>
            <a:pPr algn="ctr">
              <a:lnSpc>
                <a:spcPct val="105000"/>
              </a:lnSpc>
              <a:buNone/>
              <a:defRPr sz="1900" b="1" i="0">
                <a:solidFill>
                  <a:srgbClr val="E76F51"/>
                </a:solidFill>
              </a:defRPr>
            </a:pPr>
            <a:r>
              <a:rPr sz="1900" b="1" i="0">
                <a:solidFill>
                  <a:srgbClr val="E76F51"/>
                </a:solidFill>
              </a:rPr>
              <a:t>Oracle-backed reference pipeline</a:t>
            </a:r>
            <a:endParaRPr/>
          </a:p>
        </p:txBody>
      </p:sp>
      <p:sp>
        <p:nvSpPr>
          <p:cNvPr id="502344562" name=""/>
          <p:cNvSpPr>
            <a:spLocks noGrp="1"/>
          </p:cNvSpPr>
          <p:nvPr/>
        </p:nvSpPr>
        <p:spPr bwMode="auto">
          <a:xfrm>
            <a:off x="1200150" y="3848100"/>
            <a:ext cx="3667125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family trees</a:t>
            </a:r>
            <a:endParaRPr/>
          </a:p>
          <a:p>
            <a:pPr algn="ctr">
              <a:lnSpc>
                <a:spcPct val="105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structural information</a:t>
            </a:r>
            <a:endParaRPr/>
          </a:p>
          <a:p>
            <a:pPr algn="ctr">
              <a:lnSpc>
                <a:spcPct val="105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oracle-derived output</a:t>
            </a:r>
            <a:endParaRPr/>
          </a:p>
        </p:txBody>
      </p:sp>
      <p:sp>
        <p:nvSpPr>
          <p:cNvPr id="579740832" name=""/>
          <p:cNvSpPr>
            <a:spLocks noGrp="1"/>
          </p:cNvSpPr>
          <p:nvPr/>
        </p:nvSpPr>
        <p:spPr bwMode="auto">
          <a:xfrm>
            <a:off x="7210425" y="3276600"/>
            <a:ext cx="3857625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1900" b="1" i="0">
                <a:solidFill>
                  <a:srgbClr val="2A9D8F"/>
                </a:solidFill>
              </a:defRPr>
            </a:pPr>
            <a:r>
              <a:rPr sz="1900" b="1" i="0">
                <a:solidFill>
                  <a:srgbClr val="2A9D8F"/>
                </a:solidFill>
              </a:rPr>
              <a:t>Paper ordinary-list core</a:t>
            </a:r>
            <a:endParaRPr/>
          </a:p>
        </p:txBody>
      </p:sp>
      <p:sp>
        <p:nvSpPr>
          <p:cNvPr id="1914364968" name=""/>
          <p:cNvSpPr>
            <a:spLocks noGrp="1"/>
          </p:cNvSpPr>
          <p:nvPr/>
        </p:nvSpPr>
        <p:spPr bwMode="auto">
          <a:xfrm>
            <a:off x="7334250" y="3810000"/>
            <a:ext cx="3619500" cy="87629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1350" b="0" i="0">
                <a:solidFill>
                  <a:srgbClr val="243B53"/>
                </a:solidFill>
              </a:defRPr>
            </a:pPr>
            <a:r>
              <a:rPr sz="1350" b="0" i="0">
                <a:solidFill>
                  <a:srgbClr val="243B53"/>
                </a:solidFill>
              </a:rPr>
              <a:t>input sequence + certified precondition</a:t>
            </a:r>
            <a:endParaRPr/>
          </a:p>
          <a:p>
            <a:pPr algn="ctr">
              <a:lnSpc>
                <a:spcPct val="105000"/>
              </a:lnSpc>
              <a:buNone/>
              <a:defRPr sz="1350" b="0" i="0">
                <a:solidFill>
                  <a:srgbClr val="243B53"/>
                </a:solidFill>
              </a:defRPr>
            </a:pPr>
            <a:r>
              <a:rPr sz="1350" b="0" i="0">
                <a:solidFill>
                  <a:srgbClr val="243B53"/>
                </a:solidFill>
              </a:rPr>
              <a:t>Step 1/2/3 and maintained state</a:t>
            </a:r>
            <a:endParaRPr/>
          </a:p>
          <a:p>
            <a:pPr algn="ctr">
              <a:lnSpc>
                <a:spcPct val="105000"/>
              </a:lnSpc>
              <a:buNone/>
              <a:defRPr sz="1350" b="0" i="0">
                <a:solidFill>
                  <a:srgbClr val="243B53"/>
                </a:solidFill>
              </a:defRPr>
            </a:pPr>
            <a:r>
              <a:rPr sz="1350" b="0" i="0">
                <a:solidFill>
                  <a:srgbClr val="243B53"/>
                </a:solidFill>
              </a:rPr>
              <a:t>output recovered from state</a:t>
            </a:r>
            <a:endParaRPr/>
          </a:p>
        </p:txBody>
      </p:sp>
      <p:sp>
        <p:nvSpPr>
          <p:cNvPr id="1673860584" name=""/>
          <p:cNvSpPr>
            <a:spLocks noGrp="1"/>
          </p:cNvSpPr>
          <p:nvPr/>
        </p:nvSpPr>
        <p:spPr bwMode="auto">
          <a:xfrm>
            <a:off x="8172450" y="5010149"/>
            <a:ext cx="2724150" cy="342900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1430">
            <a:solidFill>
              <a:srgbClr val="52606D"/>
            </a:solidFill>
            <a:prstDash val="dash"/>
          </a:ln>
        </p:spPr>
      </p:sp>
      <p:sp>
        <p:nvSpPr>
          <p:cNvPr id="234985690" name=""/>
          <p:cNvSpPr>
            <a:spLocks noGrp="1"/>
          </p:cNvSpPr>
          <p:nvPr/>
        </p:nvSpPr>
        <p:spPr bwMode="auto">
          <a:xfrm>
            <a:off x="8267700" y="5057775"/>
            <a:ext cx="25336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1200" b="1" i="0">
                <a:solidFill>
                  <a:srgbClr val="52606D"/>
                </a:solidFill>
              </a:defRPr>
            </a:pPr>
            <a:r>
              <a:rPr sz="1200" b="1" i="0">
                <a:solidFill>
                  <a:srgbClr val="52606D"/>
                </a:solidFill>
              </a:rPr>
              <a:t>post-call output comparison</a:t>
            </a:r>
            <a:endParaRPr/>
          </a:p>
        </p:txBody>
      </p:sp>
      <p:cxnSp>
        <p:nvCxnSpPr>
          <p:cNvPr id="408597514" name=""/>
          <p:cNvCxnSpPr>
            <a:stCxn id="676235121" idx="2"/>
            <a:endCxn id="1673860584" idx="0"/>
          </p:cNvCxnSpPr>
          <p:nvPr/>
        </p:nvCxnSpPr>
        <p:spPr bwMode="auto">
          <a:xfrm>
            <a:off x="9148763" y="4914900"/>
            <a:ext cx="385762" cy="95250"/>
          </a:xfrm>
          <a:prstGeom prst="straightConnector1">
            <a:avLst/>
          </a:prstGeom>
          <a:ln w="14288">
            <a:solidFill>
              <a:srgbClr val="52606D"/>
            </a:solidFill>
            <a:prstDash val="dash"/>
            <a:tailEnd type="arrow" w="sm" len="sm"/>
          </a:ln>
        </p:spPr>
      </p:cxnSp>
      <p:sp>
        <p:nvSpPr>
          <p:cNvPr id="1293526550" name=""/>
          <p:cNvSpPr>
            <a:spLocks noGrp="1"/>
          </p:cNvSpPr>
          <p:nvPr/>
        </p:nvSpPr>
        <p:spPr bwMode="auto">
          <a:xfrm>
            <a:off x="1257300" y="5543550"/>
            <a:ext cx="9677400" cy="514350"/>
          </a:xfrm>
          <a:prstGeom prst="roundRect">
            <a:avLst>
              <a:gd name="adj" fmla="val 11111"/>
            </a:avLst>
          </a:prstGeom>
          <a:solidFill>
            <a:srgbClr val="102A43"/>
          </a:solidFill>
          <a:ln w="11430">
            <a:solidFill>
              <a:srgbClr val="102A43"/>
            </a:solidFill>
            <a:prstDash val="solid"/>
          </a:ln>
        </p:spPr>
      </p:sp>
      <p:sp>
        <p:nvSpPr>
          <p:cNvPr id="623636791" name=""/>
          <p:cNvSpPr>
            <a:spLocks noGrp="1"/>
          </p:cNvSpPr>
          <p:nvPr/>
        </p:nvSpPr>
        <p:spPr bwMode="auto">
          <a:xfrm>
            <a:off x="1428750" y="5610225"/>
            <a:ext cx="9334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1350" b="1" i="0">
                <a:solidFill>
                  <a:srgbClr val="FFFFFF"/>
                </a:solidFill>
              </a:defRPr>
            </a:pPr>
            <a:r>
              <a:rPr sz="1350" b="1" i="0">
                <a:solidFill>
                  <a:srgbClr val="FFFFFF"/>
                </a:solidFill>
              </a:rPr>
              <a:t>Certification before the paper call  |  comparison after the call  |  oracle-sorted output never enters the paper core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7FAFC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28224799" name=""/>
          <p:cNvSpPr>
            <a:spLocks noGrp="1"/>
          </p:cNvSpPr>
          <p:nvPr/>
        </p:nvSpPr>
        <p:spPr bwMode="auto">
          <a:xfrm>
            <a:off x="628650" y="247650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900" b="1" i="0">
                <a:solidFill>
                  <a:srgbClr val="2A9D8F"/>
                </a:solidFill>
              </a:defRPr>
            </a:pPr>
            <a:r>
              <a:rPr sz="900" b="1" i="0">
                <a:solidFill>
                  <a:srgbClr val="2A9D8F"/>
                </a:solidFill>
              </a:rPr>
              <a:t>RECONSTRUCTION</a:t>
            </a:r>
            <a:endParaRPr/>
          </a:p>
        </p:txBody>
      </p:sp>
      <p:sp>
        <p:nvSpPr>
          <p:cNvPr id="278470627" name=""/>
          <p:cNvSpPr>
            <a:spLocks noGrp="1"/>
          </p:cNvSpPr>
          <p:nvPr/>
        </p:nvSpPr>
        <p:spPr bwMode="auto">
          <a:xfrm>
            <a:off x="609600" y="514350"/>
            <a:ext cx="109728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Initialize once, then update one point at a time</a:t>
            </a:r>
            <a:endParaRPr/>
          </a:p>
        </p:txBody>
      </p:sp>
      <p:sp>
        <p:nvSpPr>
          <p:cNvPr id="468911678" name=""/>
          <p:cNvSpPr>
            <a:spLocks noGrp="1"/>
          </p:cNvSpPr>
          <p:nvPr/>
        </p:nvSpPr>
        <p:spPr bwMode="auto">
          <a:xfrm>
            <a:off x="609600" y="1085850"/>
            <a:ext cx="10972800" cy="9525"/>
          </a:xfrm>
          <a:prstGeom prst="line">
            <a:avLst/>
          </a:prstGeom>
          <a:noFill/>
          <a:ln w="28575">
            <a:solidFill>
              <a:srgbClr val="2A9D8F"/>
            </a:solidFill>
            <a:prstDash val="solid"/>
          </a:ln>
        </p:spPr>
      </p:sp>
      <p:sp>
        <p:nvSpPr>
          <p:cNvPr id="2112754609" name=""/>
          <p:cNvSpPr>
            <a:spLocks noGrp="1"/>
          </p:cNvSpPr>
          <p:nvPr/>
        </p:nvSpPr>
        <p:spPr bwMode="auto">
          <a:xfrm>
            <a:off x="609600" y="6477000"/>
            <a:ext cx="10972800" cy="9525"/>
          </a:xfrm>
          <a:prstGeom prst="line">
            <a:avLst/>
          </a:prstGeom>
          <a:noFill/>
          <a:ln w="9525">
            <a:solidFill>
              <a:srgbClr val="D9E2EC"/>
            </a:solidFill>
            <a:prstDash val="solid"/>
          </a:ln>
        </p:spPr>
      </p:sp>
      <p:sp>
        <p:nvSpPr>
          <p:cNvPr id="1493349624" name=""/>
          <p:cNvSpPr>
            <a:spLocks noGrp="1"/>
          </p:cNvSpPr>
          <p:nvPr/>
        </p:nvSpPr>
        <p:spPr bwMode="auto">
          <a:xfrm>
            <a:off x="647700" y="6534150"/>
            <a:ext cx="3619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850" b="1" i="0">
                <a:solidFill>
                  <a:srgbClr val="7B8794"/>
                </a:solidFill>
              </a:defRPr>
            </a:pPr>
            <a:r>
              <a:rPr sz="850" b="1" i="0">
                <a:solidFill>
                  <a:srgbClr val="7B8794"/>
                </a:solidFill>
              </a:rPr>
              <a:t>MASTER'S THESIS PROGRESS REPORT</a:t>
            </a:r>
            <a:endParaRPr/>
          </a:p>
        </p:txBody>
      </p:sp>
      <p:sp>
        <p:nvSpPr>
          <p:cNvPr id="744102660" name=""/>
          <p:cNvSpPr>
            <a:spLocks noGrp="1"/>
          </p:cNvSpPr>
          <p:nvPr/>
        </p:nvSpPr>
        <p:spPr bwMode="auto">
          <a:xfrm>
            <a:off x="10668000" y="6534150"/>
            <a:ext cx="876299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100000"/>
          </a:bodyPr>
          <a:lstStyle/>
          <a:p>
            <a:pPr algn="r">
              <a:lnSpc>
                <a:spcPct val="105000"/>
              </a:lnSpc>
              <a:buNone/>
              <a:defRPr sz="850" b="1" i="0">
                <a:solidFill>
                  <a:srgbClr val="7B8794"/>
                </a:solidFill>
              </a:defRPr>
            </a:pPr>
            <a:r>
              <a:rPr sz="850" b="1" i="0">
                <a:solidFill>
                  <a:srgbClr val="7B8794"/>
                </a:solidFill>
              </a:rPr>
              <a:t>7 / 16</a:t>
            </a:r>
            <a:endParaRPr/>
          </a:p>
        </p:txBody>
      </p:sp>
      <p:sp>
        <p:nvSpPr>
          <p:cNvPr id="556075811" name=""/>
          <p:cNvSpPr>
            <a:spLocks noGrp="1"/>
          </p:cNvSpPr>
          <p:nvPr/>
        </p:nvSpPr>
        <p:spPr bwMode="auto">
          <a:xfrm>
            <a:off x="723900" y="1314450"/>
            <a:ext cx="10744200" cy="1504950"/>
          </a:xfrm>
          <a:prstGeom prst="roundRect">
            <a:avLst>
              <a:gd name="adj" fmla="val 5063"/>
            </a:avLst>
          </a:prstGeom>
          <a:solidFill>
            <a:srgbClr val="EAF1F8"/>
          </a:solidFill>
          <a:ln w="11430">
            <a:solidFill>
              <a:srgbClr val="52606D"/>
            </a:solidFill>
            <a:prstDash val="solid"/>
          </a:ln>
        </p:spPr>
      </p:sp>
      <p:sp>
        <p:nvSpPr>
          <p:cNvPr id="950256621" name=""/>
          <p:cNvSpPr>
            <a:spLocks noGrp="1"/>
          </p:cNvSpPr>
          <p:nvPr/>
        </p:nvSpPr>
        <p:spPr bwMode="auto">
          <a:xfrm>
            <a:off x="876299" y="1390650"/>
            <a:ext cx="103632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89717"/>
          </a:bodyPr>
          <a:lstStyle/>
          <a:p>
            <a:pPr algn="l">
              <a:lnSpc>
                <a:spcPct val="105000"/>
              </a:lnSpc>
              <a:buNone/>
              <a:defRPr sz="1750" b="1" i="0">
                <a:solidFill>
                  <a:srgbClr val="102A43"/>
                </a:solidFill>
              </a:defRPr>
            </a:pPr>
            <a:r>
              <a:rPr sz="1750" b="1" i="0">
                <a:solidFill>
                  <a:srgbClr val="102A43"/>
                </a:solidFill>
              </a:rPr>
              <a:t>A. Initialize once (n ≥ 3)</a:t>
            </a:r>
            <a:endParaRPr/>
          </a:p>
        </p:txBody>
      </p:sp>
      <p:sp>
        <p:nvSpPr>
          <p:cNvPr id="982001361" name=""/>
          <p:cNvSpPr>
            <a:spLocks noGrp="1"/>
          </p:cNvSpPr>
          <p:nvPr/>
        </p:nvSpPr>
        <p:spPr bwMode="auto">
          <a:xfrm>
            <a:off x="914400" y="1809750"/>
            <a:ext cx="2857500" cy="59054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1750" b="0" i="0">
                <a:solidFill>
                  <a:srgbClr val="243B53"/>
                </a:solidFill>
              </a:defRPr>
            </a:pPr>
            <a:r>
              <a:rPr sz="1750" b="0" i="0">
                <a:solidFill>
                  <a:srgbClr val="243B53"/>
                </a:solidFill>
              </a:rPr>
              <a:t>Sort only z₁, z₂, z₃</a:t>
            </a:r>
            <a:endParaRPr/>
          </a:p>
          <a:p>
            <a:pPr algn="ctr">
              <a:lnSpc>
                <a:spcPct val="105000"/>
              </a:lnSpc>
              <a:buNone/>
              <a:defRPr sz="1750" b="0" i="0">
                <a:solidFill>
                  <a:srgbClr val="243B53"/>
                </a:solidFill>
              </a:defRPr>
            </a:pPr>
            <a:r>
              <a:rPr sz="1750" b="0" i="0">
                <a:solidFill>
                  <a:srgbClr val="243B53"/>
                </a:solidFill>
              </a:rPr>
              <a:t>by x-coordinate</a:t>
            </a:r>
            <a:endParaRPr/>
          </a:p>
        </p:txBody>
      </p:sp>
      <p:sp>
        <p:nvSpPr>
          <p:cNvPr id="66174263" name=""/>
          <p:cNvSpPr>
            <a:spLocks noGrp="1"/>
          </p:cNvSpPr>
          <p:nvPr/>
        </p:nvSpPr>
        <p:spPr bwMode="auto">
          <a:xfrm>
            <a:off x="3790949" y="1847850"/>
            <a:ext cx="438149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5238"/>
          </a:bodyPr>
          <a:lstStyle/>
          <a:p>
            <a:pPr algn="ctr">
              <a:lnSpc>
                <a:spcPct val="105000"/>
              </a:lnSpc>
              <a:buNone/>
              <a:defRPr sz="2250" b="0" i="0">
                <a:solidFill>
                  <a:srgbClr val="2A9D8F"/>
                </a:solidFill>
              </a:defRPr>
            </a:pPr>
            <a:r>
              <a:rPr sz="2250" b="0" i="0">
                <a:solidFill>
                  <a:srgbClr val="2A9D8F"/>
                </a:solidFill>
              </a:rPr>
              <a:t>→</a:t>
            </a:r>
            <a:endParaRPr/>
          </a:p>
        </p:txBody>
      </p:sp>
      <p:sp>
        <p:nvSpPr>
          <p:cNvPr id="1117059045" name=""/>
          <p:cNvSpPr>
            <a:spLocks noGrp="1"/>
          </p:cNvSpPr>
          <p:nvPr/>
        </p:nvSpPr>
        <p:spPr bwMode="auto">
          <a:xfrm>
            <a:off x="4305300" y="1847850"/>
            <a:ext cx="2952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1800" b="1" i="0">
                <a:solidFill>
                  <a:srgbClr val="2A9D8F"/>
                </a:solidFill>
              </a:defRPr>
            </a:pPr>
            <a:r>
              <a:rPr sz="1800" b="1" i="0">
                <a:solidFill>
                  <a:srgbClr val="2A9D8F"/>
                </a:solidFill>
              </a:rPr>
              <a:t>Initial sorted list S₃</a:t>
            </a:r>
            <a:endParaRPr/>
          </a:p>
        </p:txBody>
      </p:sp>
      <p:sp>
        <p:nvSpPr>
          <p:cNvPr id="1377761489" name=""/>
          <p:cNvSpPr>
            <a:spLocks noGrp="1"/>
          </p:cNvSpPr>
          <p:nvPr/>
        </p:nvSpPr>
        <p:spPr bwMode="auto">
          <a:xfrm>
            <a:off x="7296149" y="1847850"/>
            <a:ext cx="438149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5238"/>
          </a:bodyPr>
          <a:lstStyle/>
          <a:p>
            <a:pPr algn="ctr">
              <a:lnSpc>
                <a:spcPct val="105000"/>
              </a:lnSpc>
              <a:buNone/>
              <a:defRPr sz="2250" b="0" i="0">
                <a:solidFill>
                  <a:srgbClr val="2A9D8F"/>
                </a:solidFill>
              </a:defRPr>
            </a:pPr>
            <a:r>
              <a:rPr sz="2250" b="0" i="0">
                <a:solidFill>
                  <a:srgbClr val="2A9D8F"/>
                </a:solidFill>
              </a:rPr>
              <a:t>→</a:t>
            </a:r>
            <a:endParaRPr/>
          </a:p>
        </p:txBody>
      </p:sp>
      <p:sp>
        <p:nvSpPr>
          <p:cNvPr id="271219995" name=""/>
          <p:cNvSpPr>
            <a:spLocks noGrp="1"/>
          </p:cNvSpPr>
          <p:nvPr/>
        </p:nvSpPr>
        <p:spPr bwMode="auto">
          <a:xfrm>
            <a:off x="7829550" y="1771650"/>
            <a:ext cx="34290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1650" b="0" i="0">
                <a:solidFill>
                  <a:srgbClr val="243B53"/>
                </a:solidFill>
              </a:defRPr>
            </a:pPr>
            <a:r>
              <a:rPr sz="1650" b="0" i="0">
                <a:solidFill>
                  <a:srgbClr val="243B53"/>
                </a:solidFill>
              </a:rPr>
              <a:t>Upper/lower families</a:t>
            </a:r>
            <a:endParaRPr/>
          </a:p>
          <a:p>
            <a:pPr algn="ctr">
              <a:lnSpc>
                <a:spcPct val="105000"/>
              </a:lnSpc>
              <a:buNone/>
              <a:defRPr sz="1650" b="0" i="0">
                <a:solidFill>
                  <a:srgbClr val="243B53"/>
                </a:solidFill>
              </a:defRPr>
            </a:pPr>
            <a:r>
              <a:rPr sz="1650" b="0" i="0">
                <a:solidFill>
                  <a:srgbClr val="243B53"/>
                </a:solidFill>
              </a:rPr>
              <a:t>P₂, P₃ and dummy roots</a:t>
            </a:r>
            <a:endParaRPr/>
          </a:p>
        </p:txBody>
      </p:sp>
      <p:sp>
        <p:nvSpPr>
          <p:cNvPr id="117653341" name=""/>
          <p:cNvSpPr>
            <a:spLocks noGrp="1"/>
          </p:cNvSpPr>
          <p:nvPr/>
        </p:nvSpPr>
        <p:spPr bwMode="auto">
          <a:xfrm>
            <a:off x="895350" y="2457450"/>
            <a:ext cx="10401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5238"/>
          </a:bodyPr>
          <a:lstStyle/>
          <a:p>
            <a:pPr algn="ctr">
              <a:lnSpc>
                <a:spcPct val="105000"/>
              </a:lnSpc>
              <a:buNone/>
              <a:defRPr sz="1500" b="0" i="0">
                <a:solidFill>
                  <a:srgbClr val="52606D"/>
                </a:solidFill>
              </a:defRPr>
            </a:pPr>
            <a:r>
              <a:rPr sz="1500" b="0" i="0">
                <a:solidFill>
                  <a:srgbClr val="52606D"/>
                </a:solidFill>
              </a:rPr>
              <a:t>Core-local initialization. No oracle answer. Labels and stored pair endpoints keep curve order.</a:t>
            </a:r>
            <a:endParaRPr/>
          </a:p>
        </p:txBody>
      </p:sp>
      <p:sp>
        <p:nvSpPr>
          <p:cNvPr id="1325084843" name=""/>
          <p:cNvSpPr>
            <a:spLocks noGrp="1"/>
          </p:cNvSpPr>
          <p:nvPr/>
        </p:nvSpPr>
        <p:spPr bwMode="auto">
          <a:xfrm>
            <a:off x="723900" y="2971800"/>
            <a:ext cx="107442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2593"/>
          </a:bodyPr>
          <a:lstStyle/>
          <a:p>
            <a:pPr algn="l">
              <a:lnSpc>
                <a:spcPct val="105000"/>
              </a:lnSpc>
              <a:buNone/>
              <a:defRPr sz="1800" b="1" i="0">
                <a:solidFill>
                  <a:srgbClr val="2A9D8F"/>
                </a:solidFill>
              </a:defRPr>
            </a:pPr>
            <a:r>
              <a:rPr sz="1800" b="1" i="0">
                <a:solidFill>
                  <a:srgbClr val="2A9D8F"/>
                </a:solidFill>
              </a:rPr>
              <a:t>B. For i = 4, …, n: process one new point</a:t>
            </a:r>
            <a:endParaRPr/>
          </a:p>
        </p:txBody>
      </p:sp>
      <p:sp>
        <p:nvSpPr>
          <p:cNvPr id="2060164734" name=""/>
          <p:cNvSpPr>
            <a:spLocks noGrp="1"/>
          </p:cNvSpPr>
          <p:nvPr/>
        </p:nvSpPr>
        <p:spPr bwMode="auto">
          <a:xfrm>
            <a:off x="723900" y="3333750"/>
            <a:ext cx="107442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6618"/>
          </a:bodyPr>
          <a:lstStyle/>
          <a:p>
            <a:pPr algn="ctr">
              <a:lnSpc>
                <a:spcPct val="105000"/>
              </a:lnSpc>
              <a:buNone/>
              <a:defRPr sz="1750" b="1" i="0">
                <a:solidFill>
                  <a:srgbClr val="102A43"/>
                </a:solidFill>
              </a:defRPr>
            </a:pPr>
            <a:r>
              <a:rPr sz="1750" b="1" i="0">
                <a:solidFill>
                  <a:srgbClr val="102A43"/>
                </a:solidFill>
              </a:rPr>
              <a:t>Sᵢ₋₁ + new point zᵢ → one round below → Sᵢ</a:t>
            </a:r>
            <a:endParaRPr/>
          </a:p>
        </p:txBody>
      </p:sp>
      <p:sp>
        <p:nvSpPr>
          <p:cNvPr id="181674002" name=""/>
          <p:cNvSpPr>
            <a:spLocks noGrp="1"/>
          </p:cNvSpPr>
          <p:nvPr/>
        </p:nvSpPr>
        <p:spPr bwMode="auto">
          <a:xfrm>
            <a:off x="723900" y="3790949"/>
            <a:ext cx="1981200" cy="1085850"/>
          </a:xfrm>
          <a:prstGeom prst="roundRect">
            <a:avLst>
              <a:gd name="adj" fmla="val 5263"/>
            </a:avLst>
          </a:prstGeom>
          <a:solidFill>
            <a:srgbClr val="EAF1F8"/>
          </a:solidFill>
          <a:ln w="11430">
            <a:solidFill>
              <a:srgbClr val="52606D"/>
            </a:solidFill>
            <a:prstDash val="solid"/>
          </a:ln>
        </p:spPr>
      </p:sp>
      <p:sp>
        <p:nvSpPr>
          <p:cNvPr id="1481274825" name=""/>
          <p:cNvSpPr>
            <a:spLocks noGrp="1"/>
          </p:cNvSpPr>
          <p:nvPr/>
        </p:nvSpPr>
        <p:spPr bwMode="auto">
          <a:xfrm>
            <a:off x="800100" y="3867150"/>
            <a:ext cx="18288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3795"/>
          </a:bodyPr>
          <a:lstStyle/>
          <a:p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</a:defRPr>
            </a:pPr>
            <a:r>
              <a:rPr sz="1650" b="1" i="0">
                <a:solidFill>
                  <a:srgbClr val="102A43"/>
                </a:solidFill>
              </a:rPr>
              <a:t>Step 1</a:t>
            </a:r>
            <a:endParaRPr/>
          </a:p>
        </p:txBody>
      </p:sp>
      <p:sp>
        <p:nvSpPr>
          <p:cNvPr id="545358561" name=""/>
          <p:cNvSpPr>
            <a:spLocks noGrp="1"/>
          </p:cNvSpPr>
          <p:nvPr/>
        </p:nvSpPr>
        <p:spPr bwMode="auto">
          <a:xfrm>
            <a:off x="790575" y="4200525"/>
            <a:ext cx="184785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98413"/>
          </a:bodyPr>
          <a:lstStyle/>
          <a:p>
            <a:pPr algn="ctr">
              <a:lnSpc>
                <a:spcPct val="105000"/>
              </a:lnSpc>
              <a:buNone/>
              <a:defRPr sz="1450" b="0" i="0">
                <a:solidFill>
                  <a:srgbClr val="243B53"/>
                </a:solidFill>
              </a:defRPr>
            </a:pPr>
            <a:r>
              <a:rPr sz="1450" b="0" i="0">
                <a:solidFill>
                  <a:srgbClr val="243B53"/>
                </a:solidFill>
              </a:rPr>
              <a:t>Find predecessor-side</a:t>
            </a:r>
            <a:endParaRPr/>
          </a:p>
          <a:p>
            <a:pPr algn="ctr">
              <a:lnSpc>
                <a:spcPct val="105000"/>
              </a:lnSpc>
              <a:buNone/>
              <a:defRPr sz="1450" b="0" i="0">
                <a:solidFill>
                  <a:srgbClr val="243B53"/>
                </a:solidFill>
              </a:defRPr>
            </a:pPr>
            <a:r>
              <a:rPr sz="1450" b="0" i="0">
                <a:solidFill>
                  <a:srgbClr val="243B53"/>
                </a:solidFill>
              </a:rPr>
              <a:t>boundary Aᵢ</a:t>
            </a:r>
            <a:endParaRPr/>
          </a:p>
        </p:txBody>
      </p:sp>
      <p:sp>
        <p:nvSpPr>
          <p:cNvPr id="45031142" name=""/>
          <p:cNvSpPr>
            <a:spLocks noGrp="1"/>
          </p:cNvSpPr>
          <p:nvPr/>
        </p:nvSpPr>
        <p:spPr bwMode="auto">
          <a:xfrm>
            <a:off x="2914650" y="3790949"/>
            <a:ext cx="1981200" cy="1085850"/>
          </a:xfrm>
          <a:prstGeom prst="roundRect">
            <a:avLst>
              <a:gd name="adj" fmla="val 5263"/>
            </a:avLst>
          </a:prstGeom>
          <a:solidFill>
            <a:srgbClr val="EAF1F8"/>
          </a:solidFill>
          <a:ln w="11430">
            <a:solidFill>
              <a:srgbClr val="52606D"/>
            </a:solidFill>
            <a:prstDash val="solid"/>
          </a:ln>
        </p:spPr>
      </p:sp>
      <p:sp>
        <p:nvSpPr>
          <p:cNvPr id="1314964618" name=""/>
          <p:cNvSpPr>
            <a:spLocks noGrp="1"/>
          </p:cNvSpPr>
          <p:nvPr/>
        </p:nvSpPr>
        <p:spPr bwMode="auto">
          <a:xfrm>
            <a:off x="2990850" y="3867150"/>
            <a:ext cx="18288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3795"/>
          </a:bodyPr>
          <a:lstStyle/>
          <a:p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</a:defRPr>
            </a:pPr>
            <a:r>
              <a:rPr sz="1650" b="1" i="0">
                <a:solidFill>
                  <a:srgbClr val="102A43"/>
                </a:solidFill>
              </a:rPr>
              <a:t>Step 2</a:t>
            </a:r>
            <a:endParaRPr/>
          </a:p>
        </p:txBody>
      </p:sp>
      <p:sp>
        <p:nvSpPr>
          <p:cNvPr id="1143571713" name=""/>
          <p:cNvSpPr>
            <a:spLocks noGrp="1"/>
          </p:cNvSpPr>
          <p:nvPr/>
        </p:nvSpPr>
        <p:spPr bwMode="auto">
          <a:xfrm>
            <a:off x="2981325" y="4200525"/>
            <a:ext cx="184785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1450" b="0" i="0">
                <a:solidFill>
                  <a:srgbClr val="243B53"/>
                </a:solidFill>
              </a:defRPr>
            </a:pPr>
            <a:r>
              <a:rPr sz="1450" b="0" i="0">
                <a:solidFill>
                  <a:srgbClr val="243B53"/>
                </a:solidFill>
              </a:rPr>
              <a:t>Find successor-side</a:t>
            </a:r>
            <a:endParaRPr/>
          </a:p>
          <a:p>
            <a:pPr algn="ctr">
              <a:lnSpc>
                <a:spcPct val="105000"/>
              </a:lnSpc>
              <a:buNone/>
              <a:defRPr sz="1450" b="0" i="0">
                <a:solidFill>
                  <a:srgbClr val="243B53"/>
                </a:solidFill>
              </a:defRPr>
            </a:pPr>
            <a:r>
              <a:rPr sz="1450" b="0" i="0">
                <a:solidFill>
                  <a:srgbClr val="243B53"/>
                </a:solidFill>
              </a:rPr>
              <a:t>boundary Bᵢ</a:t>
            </a:r>
            <a:endParaRPr/>
          </a:p>
        </p:txBody>
      </p:sp>
      <p:sp>
        <p:nvSpPr>
          <p:cNvPr id="1602211507" name=""/>
          <p:cNvSpPr>
            <a:spLocks noGrp="1"/>
          </p:cNvSpPr>
          <p:nvPr/>
        </p:nvSpPr>
        <p:spPr bwMode="auto">
          <a:xfrm>
            <a:off x="5105400" y="3790949"/>
            <a:ext cx="1981200" cy="1085850"/>
          </a:xfrm>
          <a:prstGeom prst="roundRect">
            <a:avLst>
              <a:gd name="adj" fmla="val 5263"/>
            </a:avLst>
          </a:prstGeom>
          <a:solidFill>
            <a:srgbClr val="E8F5F3"/>
          </a:solidFill>
          <a:ln w="11430">
            <a:solidFill>
              <a:srgbClr val="52606D"/>
            </a:solidFill>
            <a:prstDash val="solid"/>
          </a:ln>
        </p:spPr>
      </p:sp>
      <p:sp>
        <p:nvSpPr>
          <p:cNvPr id="1347867133" name=""/>
          <p:cNvSpPr>
            <a:spLocks noGrp="1"/>
          </p:cNvSpPr>
          <p:nvPr/>
        </p:nvSpPr>
        <p:spPr bwMode="auto">
          <a:xfrm>
            <a:off x="5181600" y="3867150"/>
            <a:ext cx="18288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3795"/>
          </a:bodyPr>
          <a:lstStyle/>
          <a:p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</a:defRPr>
            </a:pPr>
            <a:r>
              <a:rPr sz="1650" b="1" i="0">
                <a:solidFill>
                  <a:srgbClr val="102A43"/>
                </a:solidFill>
              </a:rPr>
              <a:t>Step 3(a)</a:t>
            </a:r>
            <a:endParaRPr/>
          </a:p>
        </p:txBody>
      </p:sp>
      <p:sp>
        <p:nvSpPr>
          <p:cNvPr id="11236025" name=""/>
          <p:cNvSpPr>
            <a:spLocks noGrp="1"/>
          </p:cNvSpPr>
          <p:nvPr/>
        </p:nvSpPr>
        <p:spPr bwMode="auto">
          <a:xfrm>
            <a:off x="5172075" y="4200525"/>
            <a:ext cx="184785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1450" b="0" i="0">
                <a:solidFill>
                  <a:srgbClr val="243B53"/>
                </a:solidFill>
              </a:defRPr>
            </a:pPr>
            <a:r>
              <a:rPr sz="1450" b="0" i="0">
                <a:solidFill>
                  <a:srgbClr val="243B53"/>
                </a:solidFill>
              </a:rPr>
              <a:t>Insert new pair</a:t>
            </a:r>
            <a:endParaRPr/>
          </a:p>
          <a:p>
            <a:pPr algn="ctr">
              <a:lnSpc>
                <a:spcPct val="105000"/>
              </a:lnSpc>
              <a:buNone/>
              <a:defRPr sz="1450" b="0" i="0">
                <a:solidFill>
                  <a:srgbClr val="243B53"/>
                </a:solidFill>
              </a:defRPr>
            </a:pPr>
            <a:r>
              <a:rPr sz="1450" b="0" i="0">
                <a:solidFill>
                  <a:srgbClr val="243B53"/>
                </a:solidFill>
              </a:rPr>
              <a:t>Pᵢ = (zᵢ₋₁, zᵢ)</a:t>
            </a:r>
            <a:endParaRPr/>
          </a:p>
        </p:txBody>
      </p:sp>
      <p:sp>
        <p:nvSpPr>
          <p:cNvPr id="975039568" name=""/>
          <p:cNvSpPr>
            <a:spLocks noGrp="1"/>
          </p:cNvSpPr>
          <p:nvPr/>
        </p:nvSpPr>
        <p:spPr bwMode="auto">
          <a:xfrm>
            <a:off x="7296149" y="3790949"/>
            <a:ext cx="1981200" cy="1085850"/>
          </a:xfrm>
          <a:prstGeom prst="roundRect">
            <a:avLst>
              <a:gd name="adj" fmla="val 5263"/>
            </a:avLst>
          </a:prstGeom>
          <a:solidFill>
            <a:srgbClr val="E8F5F3"/>
          </a:solidFill>
          <a:ln w="11430">
            <a:solidFill>
              <a:srgbClr val="52606D"/>
            </a:solidFill>
            <a:prstDash val="solid"/>
          </a:ln>
        </p:spPr>
      </p:sp>
      <p:sp>
        <p:nvSpPr>
          <p:cNvPr id="1397747152" name=""/>
          <p:cNvSpPr>
            <a:spLocks noGrp="1"/>
          </p:cNvSpPr>
          <p:nvPr/>
        </p:nvSpPr>
        <p:spPr bwMode="auto">
          <a:xfrm>
            <a:off x="7372350" y="3867150"/>
            <a:ext cx="18288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3795"/>
          </a:bodyPr>
          <a:lstStyle/>
          <a:p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</a:defRPr>
            </a:pPr>
            <a:r>
              <a:rPr sz="1650" b="1" i="0">
                <a:solidFill>
                  <a:srgbClr val="102A43"/>
                </a:solidFill>
              </a:rPr>
              <a:t>Step 3(b)</a:t>
            </a:r>
            <a:endParaRPr/>
          </a:p>
        </p:txBody>
      </p:sp>
      <p:sp>
        <p:nvSpPr>
          <p:cNvPr id="905026746" name=""/>
          <p:cNvSpPr>
            <a:spLocks noGrp="1"/>
          </p:cNvSpPr>
          <p:nvPr/>
        </p:nvSpPr>
        <p:spPr bwMode="auto">
          <a:xfrm>
            <a:off x="7362825" y="4200525"/>
            <a:ext cx="184785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86327"/>
          </a:bodyPr>
          <a:lstStyle/>
          <a:p>
            <a:pPr algn="ctr">
              <a:lnSpc>
                <a:spcPct val="105000"/>
              </a:lnSpc>
              <a:buNone/>
              <a:defRPr sz="1450" b="0" i="0">
                <a:solidFill>
                  <a:srgbClr val="243B53"/>
                </a:solidFill>
              </a:defRPr>
            </a:pPr>
            <a:r>
              <a:rPr sz="1450" b="0" i="0">
                <a:solidFill>
                  <a:srgbClr val="243B53"/>
                </a:solidFill>
              </a:rPr>
              <a:t>Split sibling lists</a:t>
            </a:r>
            <a:endParaRPr/>
          </a:p>
          <a:p>
            <a:pPr algn="ctr">
              <a:lnSpc>
                <a:spcPct val="105000"/>
              </a:lnSpc>
              <a:buNone/>
              <a:defRPr sz="1450" b="0" i="0">
                <a:solidFill>
                  <a:srgbClr val="243B53"/>
                </a:solidFill>
              </a:defRPr>
            </a:pPr>
            <a:r>
              <a:rPr sz="1450" b="0" i="0">
                <a:solidFill>
                  <a:srgbClr val="243B53"/>
                </a:solidFill>
              </a:rPr>
              <a:t>Transfer ownership</a:t>
            </a:r>
            <a:endParaRPr/>
          </a:p>
          <a:p>
            <a:pPr algn="ctr">
              <a:lnSpc>
                <a:spcPct val="105000"/>
              </a:lnSpc>
              <a:buNone/>
              <a:defRPr sz="1450" b="0" i="0">
                <a:solidFill>
                  <a:srgbClr val="243B53"/>
                </a:solidFill>
              </a:defRPr>
            </a:pPr>
            <a:r>
              <a:rPr sz="1450" b="0" i="0">
                <a:solidFill>
                  <a:srgbClr val="243B53"/>
                </a:solidFill>
              </a:rPr>
              <a:t>when needed</a:t>
            </a:r>
            <a:endParaRPr/>
          </a:p>
        </p:txBody>
      </p:sp>
      <p:sp>
        <p:nvSpPr>
          <p:cNvPr id="1601100545" name=""/>
          <p:cNvSpPr>
            <a:spLocks noGrp="1"/>
          </p:cNvSpPr>
          <p:nvPr/>
        </p:nvSpPr>
        <p:spPr bwMode="auto">
          <a:xfrm>
            <a:off x="9486900" y="3790949"/>
            <a:ext cx="1981200" cy="1085850"/>
          </a:xfrm>
          <a:prstGeom prst="roundRect">
            <a:avLst>
              <a:gd name="adj" fmla="val 5263"/>
            </a:avLst>
          </a:prstGeom>
          <a:solidFill>
            <a:srgbClr val="E8F5F3"/>
          </a:solidFill>
          <a:ln w="11430">
            <a:solidFill>
              <a:srgbClr val="52606D"/>
            </a:solidFill>
            <a:prstDash val="solid"/>
          </a:ln>
        </p:spPr>
      </p:sp>
      <p:sp>
        <p:nvSpPr>
          <p:cNvPr id="2012169858" name=""/>
          <p:cNvSpPr>
            <a:spLocks noGrp="1"/>
          </p:cNvSpPr>
          <p:nvPr/>
        </p:nvSpPr>
        <p:spPr bwMode="auto">
          <a:xfrm>
            <a:off x="9563100" y="3867150"/>
            <a:ext cx="18288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3795"/>
          </a:bodyPr>
          <a:lstStyle/>
          <a:p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</a:defRPr>
            </a:pPr>
            <a:r>
              <a:rPr sz="1650" b="1" i="0">
                <a:solidFill>
                  <a:srgbClr val="102A43"/>
                </a:solidFill>
              </a:rPr>
              <a:t>Step 3(c)</a:t>
            </a:r>
            <a:endParaRPr/>
          </a:p>
        </p:txBody>
      </p:sp>
      <p:sp>
        <p:nvSpPr>
          <p:cNvPr id="1730244022" name=""/>
          <p:cNvSpPr>
            <a:spLocks noGrp="1"/>
          </p:cNvSpPr>
          <p:nvPr/>
        </p:nvSpPr>
        <p:spPr bwMode="auto">
          <a:xfrm>
            <a:off x="9553575" y="4200525"/>
            <a:ext cx="184785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1450" b="0" i="0">
                <a:solidFill>
                  <a:srgbClr val="243B53"/>
                </a:solidFill>
              </a:defRPr>
            </a:pPr>
            <a:r>
              <a:rPr sz="1450" b="0" i="0">
                <a:solidFill>
                  <a:srgbClr val="243B53"/>
                </a:solidFill>
              </a:rPr>
              <a:t>Insert zᵢ into the</a:t>
            </a:r>
            <a:endParaRPr/>
          </a:p>
          <a:p>
            <a:pPr algn="ctr">
              <a:lnSpc>
                <a:spcPct val="105000"/>
              </a:lnSpc>
              <a:buNone/>
              <a:defRPr sz="1450" b="0" i="0">
                <a:solidFill>
                  <a:srgbClr val="243B53"/>
                </a:solidFill>
              </a:defRPr>
            </a:pPr>
            <a:r>
              <a:rPr sz="1450" b="0" i="0">
                <a:solidFill>
                  <a:srgbClr val="243B53"/>
                </a:solidFill>
              </a:rPr>
              <a:t>maintained sorted list</a:t>
            </a:r>
            <a:endParaRPr/>
          </a:p>
        </p:txBody>
      </p:sp>
      <p:cxnSp>
        <p:nvCxnSpPr>
          <p:cNvPr id="302941130" name=""/>
          <p:cNvCxnSpPr>
            <a:stCxn id="181674002" idx="3"/>
            <a:endCxn id="45031142" idx="1"/>
          </p:cNvCxnSpPr>
          <p:nvPr/>
        </p:nvCxnSpPr>
        <p:spPr bwMode="auto">
          <a:xfrm>
            <a:off x="2705100" y="4333875"/>
            <a:ext cx="209550" cy="0"/>
          </a:xfrm>
          <a:prstGeom prst="straightConnector1">
            <a:avLst/>
          </a:prstGeom>
          <a:ln w="19050">
            <a:solidFill>
              <a:srgbClr val="2A9D8F"/>
            </a:solidFill>
            <a:prstDash val="solid"/>
            <a:tailEnd type="arrow" w="sm" len="sm"/>
          </a:ln>
        </p:spPr>
      </p:cxnSp>
      <p:cxnSp>
        <p:nvCxnSpPr>
          <p:cNvPr id="1494226157" name=""/>
          <p:cNvCxnSpPr>
            <a:stCxn id="45031142" idx="3"/>
            <a:endCxn id="1602211507" idx="1"/>
          </p:cNvCxnSpPr>
          <p:nvPr/>
        </p:nvCxnSpPr>
        <p:spPr bwMode="auto">
          <a:xfrm>
            <a:off x="4895850" y="4333875"/>
            <a:ext cx="209550" cy="0"/>
          </a:xfrm>
          <a:prstGeom prst="straightConnector1">
            <a:avLst/>
          </a:prstGeom>
          <a:ln w="19050">
            <a:solidFill>
              <a:srgbClr val="2A9D8F"/>
            </a:solidFill>
            <a:prstDash val="solid"/>
            <a:tailEnd type="arrow" w="sm" len="sm"/>
          </a:ln>
        </p:spPr>
      </p:cxnSp>
      <p:cxnSp>
        <p:nvCxnSpPr>
          <p:cNvPr id="1949209001" name=""/>
          <p:cNvCxnSpPr>
            <a:stCxn id="1602211507" idx="3"/>
            <a:endCxn id="975039568" idx="1"/>
          </p:cNvCxnSpPr>
          <p:nvPr/>
        </p:nvCxnSpPr>
        <p:spPr bwMode="auto">
          <a:xfrm>
            <a:off x="7086600" y="4333875"/>
            <a:ext cx="209550" cy="0"/>
          </a:xfrm>
          <a:prstGeom prst="straightConnector1">
            <a:avLst/>
          </a:prstGeom>
          <a:ln w="19050">
            <a:solidFill>
              <a:srgbClr val="2A9D8F"/>
            </a:solidFill>
            <a:prstDash val="solid"/>
            <a:tailEnd type="arrow" w="sm" len="sm"/>
          </a:ln>
        </p:spPr>
      </p:cxnSp>
      <p:cxnSp>
        <p:nvCxnSpPr>
          <p:cNvPr id="1506350008" name=""/>
          <p:cNvCxnSpPr>
            <a:stCxn id="975039568" idx="3"/>
            <a:endCxn id="1601100545" idx="1"/>
          </p:cNvCxnSpPr>
          <p:nvPr/>
        </p:nvCxnSpPr>
        <p:spPr bwMode="auto">
          <a:xfrm>
            <a:off x="9277350" y="4333875"/>
            <a:ext cx="209550" cy="0"/>
          </a:xfrm>
          <a:prstGeom prst="straightConnector1">
            <a:avLst/>
          </a:prstGeom>
          <a:ln w="19050">
            <a:solidFill>
              <a:srgbClr val="2A9D8F"/>
            </a:solidFill>
            <a:prstDash val="solid"/>
            <a:tailEnd type="arrow" w="sm" len="sm"/>
          </a:ln>
        </p:spPr>
      </p:cxnSp>
      <p:sp>
        <p:nvSpPr>
          <p:cNvPr id="1053105397" name=""/>
          <p:cNvSpPr>
            <a:spLocks noGrp="1"/>
          </p:cNvSpPr>
          <p:nvPr/>
        </p:nvSpPr>
        <p:spPr bwMode="auto">
          <a:xfrm>
            <a:off x="723900" y="4972050"/>
            <a:ext cx="107442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0703"/>
          </a:bodyPr>
          <a:lstStyle/>
          <a:p>
            <a:pPr algn="ctr">
              <a:lnSpc>
                <a:spcPct val="105000"/>
              </a:lnSpc>
              <a:buNone/>
              <a:defRPr sz="1600" b="1" i="0">
                <a:solidFill>
                  <a:srgbClr val="102A43"/>
                </a:solidFill>
              </a:defRPr>
            </a:pPr>
            <a:r>
              <a:rPr sz="1600" b="1" i="0">
                <a:solidFill>
                  <a:srgbClr val="102A43"/>
                </a:solidFill>
              </a:rPr>
              <a:t>Step 1 → Aᵢ and Step 2 → Bᵢ in both orientations</a:t>
            </a:r>
            <a:endParaRPr/>
          </a:p>
        </p:txBody>
      </p:sp>
      <p:sp>
        <p:nvSpPr>
          <p:cNvPr id="904826864" name=""/>
          <p:cNvSpPr>
            <a:spLocks noGrp="1"/>
          </p:cNvSpPr>
          <p:nvPr/>
        </p:nvSpPr>
        <p:spPr bwMode="auto">
          <a:xfrm>
            <a:off x="723900" y="5257800"/>
            <a:ext cx="107442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5238"/>
          </a:bodyPr>
          <a:lstStyle/>
          <a:p>
            <a:pPr algn="ctr">
              <a:lnSpc>
                <a:spcPct val="105000"/>
              </a:lnSpc>
              <a:buNone/>
              <a:defRPr sz="1500" b="0" i="0">
                <a:solidFill>
                  <a:srgbClr val="52606D"/>
                </a:solidFill>
              </a:defRPr>
            </a:pPr>
            <a:r>
              <a:rPr sz="1500" b="0" i="0">
                <a:solidFill>
                  <a:srgbClr val="52606D"/>
                </a:solidFill>
              </a:rPr>
              <a:t>Increasing: 3(a) uses Aᵢ, 3(b) uses Bᵢ. Decreasing swaps these uses and reflects left/right operations.</a:t>
            </a:r>
            <a:endParaRPr/>
          </a:p>
        </p:txBody>
      </p:sp>
      <p:sp>
        <p:nvSpPr>
          <p:cNvPr id="1896696539" name=""/>
          <p:cNvSpPr>
            <a:spLocks noGrp="1"/>
          </p:cNvSpPr>
          <p:nvPr/>
        </p:nvSpPr>
        <p:spPr bwMode="auto">
          <a:xfrm>
            <a:off x="723900" y="5657850"/>
            <a:ext cx="107442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1896"/>
          </a:bodyPr>
          <a:lstStyle/>
          <a:p>
            <a:pPr algn="l">
              <a:lnSpc>
                <a:spcPct val="105000"/>
              </a:lnSpc>
              <a:buNone/>
              <a:defRPr sz="1450" b="0" i="0">
                <a:solidFill>
                  <a:srgbClr val="7B8794"/>
                </a:solidFill>
              </a:defRPr>
            </a:pPr>
            <a:r>
              <a:rPr sz="1450" b="0" i="0">
                <a:solidFill>
                  <a:srgbClr val="7B8794"/>
                </a:solidFill>
              </a:rPr>
              <a:t>How the reconstruction is justified (categories, not algorithm stages)</a:t>
            </a:r>
            <a:endParaRPr/>
          </a:p>
        </p:txBody>
      </p:sp>
      <p:sp>
        <p:nvSpPr>
          <p:cNvPr id="99398908" name=""/>
          <p:cNvSpPr>
            <a:spLocks noGrp="1"/>
          </p:cNvSpPr>
          <p:nvPr/>
        </p:nvSpPr>
        <p:spPr bwMode="auto">
          <a:xfrm>
            <a:off x="723900" y="6000750"/>
            <a:ext cx="3429000" cy="381000"/>
          </a:xfrm>
          <a:prstGeom prst="roundRect">
            <a:avLst>
              <a:gd name="adj" fmla="val 15000"/>
            </a:avLst>
          </a:prstGeom>
          <a:solidFill>
            <a:srgbClr val="EAF1F8"/>
          </a:solidFill>
          <a:ln w="11430">
            <a:solidFill>
              <a:srgbClr val="102A43"/>
            </a:solidFill>
            <a:prstDash val="solid"/>
          </a:ln>
        </p:spPr>
      </p:sp>
      <p:sp>
        <p:nvSpPr>
          <p:cNvPr id="1205118493" name=""/>
          <p:cNvSpPr>
            <a:spLocks noGrp="1"/>
          </p:cNvSpPr>
          <p:nvPr/>
        </p:nvSpPr>
        <p:spPr bwMode="auto">
          <a:xfrm>
            <a:off x="800100" y="6038850"/>
            <a:ext cx="3276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8261"/>
          </a:bodyPr>
          <a:lstStyle/>
          <a:p>
            <a:pPr algn="ctr">
              <a:lnSpc>
                <a:spcPct val="105000"/>
              </a:lnSpc>
              <a:buNone/>
              <a:defRPr sz="1600" b="1" i="0">
                <a:solidFill>
                  <a:srgbClr val="102A43"/>
                </a:solidFill>
              </a:defRPr>
            </a:pPr>
            <a:r>
              <a:rPr sz="1600" b="1" i="0">
                <a:solidFill>
                  <a:srgbClr val="102A43"/>
                </a:solidFill>
              </a:rPr>
              <a:t>Explicit source rules</a:t>
            </a:r>
            <a:endParaRPr/>
          </a:p>
        </p:txBody>
      </p:sp>
      <p:sp>
        <p:nvSpPr>
          <p:cNvPr id="110656753" name=""/>
          <p:cNvSpPr>
            <a:spLocks noGrp="1"/>
          </p:cNvSpPr>
          <p:nvPr/>
        </p:nvSpPr>
        <p:spPr bwMode="auto">
          <a:xfrm>
            <a:off x="4381500" y="6000750"/>
            <a:ext cx="3429000" cy="381000"/>
          </a:xfrm>
          <a:prstGeom prst="roundRect">
            <a:avLst>
              <a:gd name="adj" fmla="val 15000"/>
            </a:avLst>
          </a:prstGeom>
          <a:solidFill>
            <a:srgbClr val="E8F5F3"/>
          </a:solidFill>
          <a:ln w="11430">
            <a:solidFill>
              <a:srgbClr val="2A9D8F"/>
            </a:solidFill>
            <a:prstDash val="solid"/>
          </a:ln>
        </p:spPr>
      </p:sp>
      <p:sp>
        <p:nvSpPr>
          <p:cNvPr id="305257397" name=""/>
          <p:cNvSpPr>
            <a:spLocks noGrp="1"/>
          </p:cNvSpPr>
          <p:nvPr/>
        </p:nvSpPr>
        <p:spPr bwMode="auto">
          <a:xfrm>
            <a:off x="4457700" y="6038850"/>
            <a:ext cx="3276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8261"/>
          </a:bodyPr>
          <a:lstStyle/>
          <a:p>
            <a:pPr algn="ctr">
              <a:lnSpc>
                <a:spcPct val="105000"/>
              </a:lnSpc>
              <a:buNone/>
              <a:defRPr sz="1600" b="1" i="0">
                <a:solidFill>
                  <a:srgbClr val="2A9D8F"/>
                </a:solidFill>
              </a:defRPr>
            </a:pPr>
            <a:r>
              <a:rPr sz="1600" b="1" i="0">
                <a:solidFill>
                  <a:srgbClr val="2A9D8F"/>
                </a:solidFill>
              </a:rPr>
              <a:t>Symmetric reconstruction</a:t>
            </a:r>
            <a:endParaRPr/>
          </a:p>
        </p:txBody>
      </p:sp>
      <p:sp>
        <p:nvSpPr>
          <p:cNvPr id="1577600718" name=""/>
          <p:cNvSpPr>
            <a:spLocks noGrp="1"/>
          </p:cNvSpPr>
          <p:nvPr/>
        </p:nvSpPr>
        <p:spPr bwMode="auto">
          <a:xfrm>
            <a:off x="8039100" y="6000750"/>
            <a:ext cx="3429000" cy="381000"/>
          </a:xfrm>
          <a:prstGeom prst="roundRect">
            <a:avLst>
              <a:gd name="adj" fmla="val 15000"/>
            </a:avLst>
          </a:prstGeom>
          <a:solidFill>
            <a:srgbClr val="FCEEEA"/>
          </a:solidFill>
          <a:ln w="11430">
            <a:solidFill>
              <a:srgbClr val="E76F51"/>
            </a:solidFill>
            <a:prstDash val="solid"/>
          </a:ln>
        </p:spPr>
      </p:sp>
      <p:sp>
        <p:nvSpPr>
          <p:cNvPr id="1541164336" name=""/>
          <p:cNvSpPr>
            <a:spLocks noGrp="1"/>
          </p:cNvSpPr>
          <p:nvPr/>
        </p:nvSpPr>
        <p:spPr bwMode="auto">
          <a:xfrm>
            <a:off x="8115300" y="6038850"/>
            <a:ext cx="3276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8261"/>
          </a:bodyPr>
          <a:lstStyle/>
          <a:p>
            <a:pPr algn="ctr">
              <a:lnSpc>
                <a:spcPct val="105000"/>
              </a:lnSpc>
              <a:buNone/>
              <a:defRPr sz="1600" b="1" i="0">
                <a:solidFill>
                  <a:srgbClr val="E76F51"/>
                </a:solidFill>
              </a:defRPr>
            </a:pPr>
            <a:r>
              <a:rPr sz="1600" b="1" i="0">
                <a:solidFill>
                  <a:srgbClr val="E76F51"/>
                </a:solidFill>
              </a:rPr>
              <a:t>Executable clarifications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7FAFC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7241827" name=""/>
          <p:cNvSpPr>
            <a:spLocks noGrp="1"/>
          </p:cNvSpPr>
          <p:nvPr/>
        </p:nvSpPr>
        <p:spPr bwMode="auto">
          <a:xfrm>
            <a:off x="628650" y="247650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900" b="1" i="0">
                <a:solidFill>
                  <a:srgbClr val="2A9D8F"/>
                </a:solidFill>
              </a:defRPr>
            </a:pPr>
            <a:r>
              <a:rPr sz="900" b="1" i="0">
                <a:solidFill>
                  <a:srgbClr val="2A9D8F"/>
                </a:solidFill>
              </a:rPr>
              <a:t>RECONSTRUCTION ISSUE I</a:t>
            </a:r>
            <a:endParaRPr/>
          </a:p>
        </p:txBody>
      </p:sp>
      <p:sp>
        <p:nvSpPr>
          <p:cNvPr id="1534575177" name=""/>
          <p:cNvSpPr>
            <a:spLocks noGrp="1"/>
          </p:cNvSpPr>
          <p:nvPr/>
        </p:nvSpPr>
        <p:spPr bwMode="auto">
          <a:xfrm>
            <a:off x="609600" y="514350"/>
            <a:ext cx="109728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From S₃ to S₄: the geometric insertion anchor</a:t>
            </a:r>
            <a:endParaRPr/>
          </a:p>
        </p:txBody>
      </p:sp>
      <p:sp>
        <p:nvSpPr>
          <p:cNvPr id="37745189" name=""/>
          <p:cNvSpPr>
            <a:spLocks noGrp="1"/>
          </p:cNvSpPr>
          <p:nvPr/>
        </p:nvSpPr>
        <p:spPr bwMode="auto">
          <a:xfrm>
            <a:off x="609600" y="1085850"/>
            <a:ext cx="10972800" cy="9525"/>
          </a:xfrm>
          <a:prstGeom prst="line">
            <a:avLst/>
          </a:prstGeom>
          <a:noFill/>
          <a:ln w="28575">
            <a:solidFill>
              <a:srgbClr val="2A9D8F"/>
            </a:solidFill>
            <a:prstDash val="solid"/>
          </a:ln>
        </p:spPr>
      </p:sp>
      <p:sp>
        <p:nvSpPr>
          <p:cNvPr id="658495876" name=""/>
          <p:cNvSpPr>
            <a:spLocks noGrp="1"/>
          </p:cNvSpPr>
          <p:nvPr/>
        </p:nvSpPr>
        <p:spPr bwMode="auto">
          <a:xfrm>
            <a:off x="609600" y="6477000"/>
            <a:ext cx="10972800" cy="9525"/>
          </a:xfrm>
          <a:prstGeom prst="line">
            <a:avLst/>
          </a:prstGeom>
          <a:noFill/>
          <a:ln w="9525">
            <a:solidFill>
              <a:srgbClr val="D9E2EC"/>
            </a:solidFill>
            <a:prstDash val="solid"/>
          </a:ln>
        </p:spPr>
      </p:sp>
      <p:sp>
        <p:nvSpPr>
          <p:cNvPr id="1364830587" name=""/>
          <p:cNvSpPr>
            <a:spLocks noGrp="1"/>
          </p:cNvSpPr>
          <p:nvPr/>
        </p:nvSpPr>
        <p:spPr bwMode="auto">
          <a:xfrm>
            <a:off x="647700" y="6534150"/>
            <a:ext cx="3619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850" b="1" i="0">
                <a:solidFill>
                  <a:srgbClr val="7B8794"/>
                </a:solidFill>
              </a:defRPr>
            </a:pPr>
            <a:r>
              <a:rPr sz="850" b="1" i="0">
                <a:solidFill>
                  <a:srgbClr val="7B8794"/>
                </a:solidFill>
              </a:rPr>
              <a:t>MASTER'S THESIS PROGRESS REPORT</a:t>
            </a:r>
            <a:endParaRPr/>
          </a:p>
        </p:txBody>
      </p:sp>
      <p:sp>
        <p:nvSpPr>
          <p:cNvPr id="844492521" name=""/>
          <p:cNvSpPr>
            <a:spLocks noGrp="1"/>
          </p:cNvSpPr>
          <p:nvPr/>
        </p:nvSpPr>
        <p:spPr bwMode="auto">
          <a:xfrm>
            <a:off x="10668000" y="6534150"/>
            <a:ext cx="876299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100000"/>
          </a:bodyPr>
          <a:lstStyle/>
          <a:p>
            <a:pPr algn="r">
              <a:lnSpc>
                <a:spcPct val="105000"/>
              </a:lnSpc>
              <a:buNone/>
              <a:defRPr sz="850" b="1" i="0">
                <a:solidFill>
                  <a:srgbClr val="7B8794"/>
                </a:solidFill>
              </a:defRPr>
            </a:pPr>
            <a:r>
              <a:rPr sz="850" b="1" i="0">
                <a:solidFill>
                  <a:srgbClr val="7B8794"/>
                </a:solidFill>
              </a:rPr>
              <a:t>8 / 16</a:t>
            </a:r>
            <a:endParaRPr/>
          </a:p>
        </p:txBody>
      </p:sp>
      <p:sp>
        <p:nvSpPr>
          <p:cNvPr id="1516144429" name=""/>
          <p:cNvSpPr>
            <a:spLocks noGrp="1"/>
          </p:cNvSpPr>
          <p:nvPr/>
        </p:nvSpPr>
        <p:spPr bwMode="auto">
          <a:xfrm>
            <a:off x="723900" y="1314450"/>
            <a:ext cx="107442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5238"/>
          </a:bodyPr>
          <a:lstStyle/>
          <a:p>
            <a:pPr algn="l">
              <a:lnSpc>
                <a:spcPct val="105000"/>
              </a:lnSpc>
              <a:buNone/>
              <a:defRPr sz="1900" b="1" i="0">
                <a:solidFill>
                  <a:srgbClr val="102A43"/>
                </a:solidFill>
              </a:defRPr>
            </a:pPr>
            <a:r>
              <a:rPr sz="1900" b="1" i="0">
                <a:solidFill>
                  <a:srgbClr val="102A43"/>
                </a:solidFill>
              </a:rPr>
              <a:t>Input in curve order: (z₁, z₂, z₃, z₄) = (3, 2, 1, 4)</a:t>
            </a:r>
            <a:endParaRPr/>
          </a:p>
        </p:txBody>
      </p:sp>
      <p:sp>
        <p:nvSpPr>
          <p:cNvPr id="599555655" name=""/>
          <p:cNvSpPr>
            <a:spLocks noGrp="1"/>
          </p:cNvSpPr>
          <p:nvPr/>
        </p:nvSpPr>
        <p:spPr bwMode="auto">
          <a:xfrm>
            <a:off x="723900" y="1790700"/>
            <a:ext cx="6572250" cy="1066800"/>
          </a:xfrm>
          <a:prstGeom prst="roundRect">
            <a:avLst>
              <a:gd name="adj" fmla="val 5357"/>
            </a:avLst>
          </a:prstGeom>
          <a:solidFill>
            <a:srgbClr val="EAF1F8"/>
          </a:solidFill>
          <a:ln w="11430">
            <a:solidFill>
              <a:srgbClr val="52606D"/>
            </a:solidFill>
            <a:prstDash val="solid"/>
          </a:ln>
        </p:spPr>
      </p:sp>
      <p:sp>
        <p:nvSpPr>
          <p:cNvPr id="1220285830" name=""/>
          <p:cNvSpPr>
            <a:spLocks noGrp="1"/>
          </p:cNvSpPr>
          <p:nvPr/>
        </p:nvSpPr>
        <p:spPr bwMode="auto">
          <a:xfrm>
            <a:off x="876299" y="1885950"/>
            <a:ext cx="62674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900" b="1" i="0">
                <a:solidFill>
                  <a:srgbClr val="102A43"/>
                </a:solidFill>
              </a:defRPr>
            </a:pPr>
            <a:r>
              <a:rPr sz="1900" b="1" i="0">
                <a:solidFill>
                  <a:srgbClr val="102A43"/>
                </a:solidFill>
              </a:rPr>
              <a:t>After initialization: S₃ = [1, 2, 3]</a:t>
            </a:r>
            <a:endParaRPr/>
          </a:p>
        </p:txBody>
      </p:sp>
      <p:sp>
        <p:nvSpPr>
          <p:cNvPr id="863690595" name=""/>
          <p:cNvSpPr>
            <a:spLocks noGrp="1"/>
          </p:cNvSpPr>
          <p:nvPr/>
        </p:nvSpPr>
        <p:spPr bwMode="auto">
          <a:xfrm>
            <a:off x="876299" y="2381250"/>
            <a:ext cx="62674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650" b="0" i="0">
                <a:solidFill>
                  <a:srgbClr val="52606D"/>
                </a:solidFill>
              </a:defRPr>
            </a:pPr>
            <a:r>
              <a:rPr sz="1650" b="0" i="0">
                <a:solidFill>
                  <a:srgbClr val="52606D"/>
                </a:solidFill>
              </a:rPr>
              <a:t>Point IDs: [z₃, z₂, z₁]. Curve labels stay unchanged.</a:t>
            </a:r>
            <a:endParaRPr/>
          </a:p>
        </p:txBody>
      </p:sp>
      <p:sp>
        <p:nvSpPr>
          <p:cNvPr id="126818109" name=""/>
          <p:cNvSpPr>
            <a:spLocks noGrp="1"/>
          </p:cNvSpPr>
          <p:nvPr/>
        </p:nvSpPr>
        <p:spPr bwMode="auto">
          <a:xfrm>
            <a:off x="7524750" y="1790700"/>
            <a:ext cx="3943350" cy="1066800"/>
          </a:xfrm>
          <a:prstGeom prst="roundRect">
            <a:avLst>
              <a:gd name="adj" fmla="val 5357"/>
            </a:avLst>
          </a:prstGeom>
          <a:solidFill>
            <a:srgbClr val="E8F5F3"/>
          </a:solidFill>
          <a:ln w="11430">
            <a:solidFill>
              <a:srgbClr val="2A9D8F"/>
            </a:solidFill>
            <a:prstDash val="solid"/>
          </a:ln>
        </p:spPr>
      </p:sp>
      <p:sp>
        <p:nvSpPr>
          <p:cNvPr id="1881555382" name=""/>
          <p:cNvSpPr>
            <a:spLocks noGrp="1"/>
          </p:cNvSpPr>
          <p:nvPr/>
        </p:nvSpPr>
        <p:spPr bwMode="auto">
          <a:xfrm>
            <a:off x="7677150" y="1885950"/>
            <a:ext cx="36385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900" b="1" i="0">
                <a:solidFill>
                  <a:srgbClr val="2A9D8F"/>
                </a:solidFill>
              </a:defRPr>
            </a:pPr>
            <a:r>
              <a:rPr sz="1900" b="1" i="0">
                <a:solidFill>
                  <a:srgbClr val="2A9D8F"/>
                </a:solidFill>
              </a:rPr>
              <a:t>Now process z₄ = 4</a:t>
            </a:r>
            <a:endParaRPr/>
          </a:p>
        </p:txBody>
      </p:sp>
      <p:sp>
        <p:nvSpPr>
          <p:cNvPr id="1212450017" name=""/>
          <p:cNvSpPr>
            <a:spLocks noGrp="1"/>
          </p:cNvSpPr>
          <p:nvPr/>
        </p:nvSpPr>
        <p:spPr bwMode="auto">
          <a:xfrm>
            <a:off x="7677150" y="2381250"/>
            <a:ext cx="36385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650" b="0" i="0">
                <a:solidFill>
                  <a:srgbClr val="243B53"/>
                </a:solidFill>
              </a:defRPr>
            </a:pPr>
            <a:r>
              <a:rPr sz="1650" b="0" i="0">
                <a:solidFill>
                  <a:srgbClr val="243B53"/>
                </a:solidFill>
              </a:rPr>
              <a:t>z₃ = 1 → z₄ = 4: increasing</a:t>
            </a:r>
            <a:endParaRPr/>
          </a:p>
        </p:txBody>
      </p:sp>
      <p:sp>
        <p:nvSpPr>
          <p:cNvPr id="1329951199" name=""/>
          <p:cNvSpPr>
            <a:spLocks noGrp="1"/>
          </p:cNvSpPr>
          <p:nvPr/>
        </p:nvSpPr>
        <p:spPr bwMode="auto">
          <a:xfrm>
            <a:off x="723900" y="3086100"/>
            <a:ext cx="23050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</a:defRPr>
            </a:pPr>
            <a:r>
              <a:rPr sz="1650" b="1" i="0">
                <a:solidFill>
                  <a:srgbClr val="102A43"/>
                </a:solidFill>
              </a:rPr>
              <a:t>After Step 3(b)</a:t>
            </a:r>
            <a:endParaRPr/>
          </a:p>
        </p:txBody>
      </p:sp>
      <p:sp>
        <p:nvSpPr>
          <p:cNvPr id="1607510531" name=""/>
          <p:cNvSpPr>
            <a:spLocks noGrp="1"/>
          </p:cNvSpPr>
          <p:nvPr/>
        </p:nvSpPr>
        <p:spPr bwMode="auto">
          <a:xfrm>
            <a:off x="3048000" y="3086100"/>
            <a:ext cx="4000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650" b="1" i="0">
                <a:solidFill>
                  <a:srgbClr val="2A9D8F"/>
                </a:solidFill>
              </a:defRPr>
            </a:pPr>
            <a:r>
              <a:rPr sz="1650" b="1" i="0">
                <a:solidFill>
                  <a:srgbClr val="2A9D8F"/>
                </a:solidFill>
              </a:rPr>
              <a:t>New upper P₄ = (z₃, z₄) = (1, 4)</a:t>
            </a:r>
            <a:endParaRPr/>
          </a:p>
        </p:txBody>
      </p:sp>
      <p:sp>
        <p:nvSpPr>
          <p:cNvPr id="949753882" name=""/>
          <p:cNvSpPr>
            <a:spLocks noGrp="1"/>
          </p:cNvSpPr>
          <p:nvPr/>
        </p:nvSpPr>
        <p:spPr bwMode="auto">
          <a:xfrm>
            <a:off x="7086600" y="3086100"/>
            <a:ext cx="10096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650" b="0" i="0">
                <a:solidFill>
                  <a:srgbClr val="2A9D8F"/>
                </a:solidFill>
              </a:defRPr>
            </a:pPr>
            <a:r>
              <a:rPr sz="1650" b="0" i="0">
                <a:solidFill>
                  <a:srgbClr val="2A9D8F"/>
                </a:solidFill>
              </a:rPr>
              <a:t>→ child</a:t>
            </a:r>
            <a:endParaRPr/>
          </a:p>
        </p:txBody>
      </p:sp>
      <p:sp>
        <p:nvSpPr>
          <p:cNvPr id="2085196727" name=""/>
          <p:cNvSpPr>
            <a:spLocks noGrp="1"/>
          </p:cNvSpPr>
          <p:nvPr/>
        </p:nvSpPr>
        <p:spPr bwMode="auto">
          <a:xfrm>
            <a:off x="8096250" y="3086100"/>
            <a:ext cx="33718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600" b="1" i="0">
                <a:solidFill>
                  <a:srgbClr val="102A43"/>
                </a:solidFill>
              </a:defRPr>
            </a:pPr>
            <a:r>
              <a:rPr sz="1600" b="1" i="0">
                <a:solidFill>
                  <a:srgbClr val="102A43"/>
                </a:solidFill>
              </a:rPr>
              <a:t>Upper P₂ = (z₁, z₂) = (3, 2)</a:t>
            </a:r>
            <a:endParaRPr/>
          </a:p>
        </p:txBody>
      </p:sp>
      <p:sp>
        <p:nvSpPr>
          <p:cNvPr id="818307251" name=""/>
          <p:cNvSpPr>
            <a:spLocks noGrp="1"/>
          </p:cNvSpPr>
          <p:nvPr/>
        </p:nvSpPr>
        <p:spPr bwMode="auto">
          <a:xfrm>
            <a:off x="723900" y="3552825"/>
            <a:ext cx="107442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6618"/>
          </a:bodyPr>
          <a:lstStyle/>
          <a:p>
            <a:pPr algn="ctr">
              <a:lnSpc>
                <a:spcPct val="105000"/>
              </a:lnSpc>
              <a:buNone/>
              <a:defRPr sz="1750" b="1" i="0">
                <a:solidFill>
                  <a:srgbClr val="102A43"/>
                </a:solidFill>
              </a:defRPr>
            </a:pPr>
            <a:r>
              <a:rPr sz="1750" b="1" i="0">
                <a:solidFill>
                  <a:srgbClr val="102A43"/>
                </a:solidFill>
              </a:rPr>
              <a:t>P₄ has child P₂. In this increasing update, use its geometric right endpoint.</a:t>
            </a:r>
            <a:endParaRPr/>
          </a:p>
        </p:txBody>
      </p:sp>
      <p:sp>
        <p:nvSpPr>
          <p:cNvPr id="1076146635" name=""/>
          <p:cNvSpPr>
            <a:spLocks noGrp="1"/>
          </p:cNvSpPr>
          <p:nvPr/>
        </p:nvSpPr>
        <p:spPr bwMode="auto">
          <a:xfrm>
            <a:off x="723900" y="4067175"/>
            <a:ext cx="5257800" cy="1524000"/>
          </a:xfrm>
          <a:prstGeom prst="roundRect">
            <a:avLst>
              <a:gd name="adj" fmla="val 5000"/>
            </a:avLst>
          </a:prstGeom>
          <a:solidFill>
            <a:srgbClr val="FCEEEA"/>
          </a:solidFill>
          <a:ln w="19050">
            <a:solidFill>
              <a:srgbClr val="E76F51"/>
            </a:solidFill>
            <a:prstDash val="solid"/>
          </a:ln>
        </p:spPr>
      </p:sp>
      <p:sp>
        <p:nvSpPr>
          <p:cNvPr id="574352339" name=""/>
          <p:cNvSpPr>
            <a:spLocks noGrp="1"/>
          </p:cNvSpPr>
          <p:nvPr/>
        </p:nvSpPr>
        <p:spPr bwMode="auto">
          <a:xfrm>
            <a:off x="876299" y="4162425"/>
            <a:ext cx="4953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750" b="1" i="0">
                <a:solidFill>
                  <a:srgbClr val="E76F51"/>
                </a:solidFill>
              </a:defRPr>
            </a:pPr>
            <a:r>
              <a:rPr sz="1750" b="1" i="0">
                <a:solidFill>
                  <a:srgbClr val="E76F51"/>
                </a:solidFill>
              </a:rPr>
              <a:t>Second stored endpoint of P₂: 2</a:t>
            </a:r>
            <a:endParaRPr/>
          </a:p>
        </p:txBody>
      </p:sp>
      <p:sp>
        <p:nvSpPr>
          <p:cNvPr id="1403744119" name=""/>
          <p:cNvSpPr>
            <a:spLocks noGrp="1"/>
          </p:cNvSpPr>
          <p:nvPr/>
        </p:nvSpPr>
        <p:spPr bwMode="auto">
          <a:xfrm>
            <a:off x="876299" y="4610100"/>
            <a:ext cx="4953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6618"/>
          </a:bodyPr>
          <a:lstStyle/>
          <a:p>
            <a:pPr algn="l">
              <a:lnSpc>
                <a:spcPct val="105000"/>
              </a:lnSpc>
              <a:buNone/>
              <a:defRPr sz="1750" b="0" i="0">
                <a:solidFill>
                  <a:srgbClr val="243B53"/>
                </a:solidFill>
              </a:defRPr>
            </a:pPr>
            <a:r>
              <a:rPr sz="1750" b="0" i="0">
                <a:solidFill>
                  <a:srgbClr val="243B53"/>
                </a:solidFill>
              </a:rPr>
              <a:t>Insert 4 immediately after 2</a:t>
            </a:r>
            <a:endParaRPr/>
          </a:p>
        </p:txBody>
      </p:sp>
      <p:sp>
        <p:nvSpPr>
          <p:cNvPr id="83761105" name=""/>
          <p:cNvSpPr>
            <a:spLocks noGrp="1"/>
          </p:cNvSpPr>
          <p:nvPr/>
        </p:nvSpPr>
        <p:spPr bwMode="auto">
          <a:xfrm>
            <a:off x="876299" y="5095875"/>
            <a:ext cx="4953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800" b="1" i="0">
                <a:solidFill>
                  <a:srgbClr val="E76F51"/>
                </a:solidFill>
              </a:defRPr>
            </a:pPr>
            <a:r>
              <a:rPr sz="1800" b="1" i="0">
                <a:solidFill>
                  <a:srgbClr val="E76F51"/>
                </a:solidFill>
              </a:rPr>
              <a:t>[1, 2, 4, 3]  Incorrect (illustration)</a:t>
            </a:r>
            <a:endParaRPr/>
          </a:p>
        </p:txBody>
      </p:sp>
      <p:sp>
        <p:nvSpPr>
          <p:cNvPr id="2131682919" name=""/>
          <p:cNvSpPr>
            <a:spLocks noGrp="1"/>
          </p:cNvSpPr>
          <p:nvPr/>
        </p:nvSpPr>
        <p:spPr bwMode="auto">
          <a:xfrm>
            <a:off x="6210300" y="4067175"/>
            <a:ext cx="5257800" cy="1524000"/>
          </a:xfrm>
          <a:prstGeom prst="roundRect">
            <a:avLst>
              <a:gd name="adj" fmla="val 5000"/>
            </a:avLst>
          </a:prstGeom>
          <a:solidFill>
            <a:srgbClr val="E8F5F3"/>
          </a:solidFill>
          <a:ln w="19050">
            <a:solidFill>
              <a:srgbClr val="2A9D8F"/>
            </a:solidFill>
            <a:prstDash val="solid"/>
          </a:ln>
        </p:spPr>
      </p:sp>
      <p:sp>
        <p:nvSpPr>
          <p:cNvPr id="257701016" name=""/>
          <p:cNvSpPr>
            <a:spLocks noGrp="1"/>
          </p:cNvSpPr>
          <p:nvPr/>
        </p:nvSpPr>
        <p:spPr bwMode="auto">
          <a:xfrm>
            <a:off x="6362700" y="4162425"/>
            <a:ext cx="4953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750" b="1" i="0">
                <a:solidFill>
                  <a:srgbClr val="2A9D8F"/>
                </a:solidFill>
              </a:defRPr>
            </a:pPr>
            <a:r>
              <a:rPr sz="1750" b="1" i="0">
                <a:solidFill>
                  <a:srgbClr val="2A9D8F"/>
                </a:solidFill>
              </a:rPr>
              <a:t>Geometric right endpoint of P₂: 3</a:t>
            </a:r>
            <a:endParaRPr/>
          </a:p>
        </p:txBody>
      </p:sp>
      <p:sp>
        <p:nvSpPr>
          <p:cNvPr id="1706043511" name=""/>
          <p:cNvSpPr>
            <a:spLocks noGrp="1"/>
          </p:cNvSpPr>
          <p:nvPr/>
        </p:nvSpPr>
        <p:spPr bwMode="auto">
          <a:xfrm>
            <a:off x="6362700" y="4610100"/>
            <a:ext cx="4953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6618"/>
          </a:bodyPr>
          <a:lstStyle/>
          <a:p>
            <a:pPr algn="l">
              <a:lnSpc>
                <a:spcPct val="105000"/>
              </a:lnSpc>
              <a:buNone/>
              <a:defRPr sz="1750" b="0" i="0">
                <a:solidFill>
                  <a:srgbClr val="243B53"/>
                </a:solidFill>
              </a:defRPr>
            </a:pPr>
            <a:r>
              <a:rPr sz="1750" b="0" i="0">
                <a:solidFill>
                  <a:srgbClr val="243B53"/>
                </a:solidFill>
              </a:rPr>
              <a:t>Insert 4 immediately after 3</a:t>
            </a:r>
            <a:endParaRPr/>
          </a:p>
        </p:txBody>
      </p:sp>
      <p:sp>
        <p:nvSpPr>
          <p:cNvPr id="75206350" name=""/>
          <p:cNvSpPr>
            <a:spLocks noGrp="1"/>
          </p:cNvSpPr>
          <p:nvPr/>
        </p:nvSpPr>
        <p:spPr bwMode="auto">
          <a:xfrm>
            <a:off x="6362700" y="5095875"/>
            <a:ext cx="4953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800" b="1" i="0">
                <a:solidFill>
                  <a:srgbClr val="2A9D8F"/>
                </a:solidFill>
              </a:defRPr>
            </a:pPr>
            <a:r>
              <a:rPr sz="1800" b="1" i="0">
                <a:solidFill>
                  <a:srgbClr val="2A9D8F"/>
                </a:solidFill>
              </a:rPr>
              <a:t>[1, 2, 3, 4]  Correct</a:t>
            </a:r>
            <a:endParaRPr/>
          </a:p>
        </p:txBody>
      </p:sp>
      <p:sp>
        <p:nvSpPr>
          <p:cNvPr id="845774352" name=""/>
          <p:cNvSpPr>
            <a:spLocks noGrp="1"/>
          </p:cNvSpPr>
          <p:nvPr/>
        </p:nvSpPr>
        <p:spPr bwMode="auto">
          <a:xfrm>
            <a:off x="723900" y="5762625"/>
            <a:ext cx="107442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3795"/>
          </a:bodyPr>
          <a:lstStyle/>
          <a:p>
            <a:pPr algn="ctr">
              <a:lnSpc>
                <a:spcPct val="105000"/>
              </a:lnSpc>
              <a:buNone/>
              <a:defRPr sz="1650" b="0" i="0">
                <a:solidFill>
                  <a:srgbClr val="102A43"/>
                </a:solidFill>
              </a:defRPr>
            </a:pPr>
            <a:r>
              <a:rPr sz="1650" b="0" i="0">
                <a:solidFill>
                  <a:srgbClr val="102A43"/>
                </a:solidFill>
              </a:rPr>
              <a:t>Here, the anchor is the existing point immediately after which we insert 4.</a:t>
            </a:r>
            <a:endParaRPr/>
          </a:p>
        </p:txBody>
      </p:sp>
      <p:sp>
        <p:nvSpPr>
          <p:cNvPr id="1640932707" name=""/>
          <p:cNvSpPr>
            <a:spLocks noGrp="1"/>
          </p:cNvSpPr>
          <p:nvPr/>
        </p:nvSpPr>
        <p:spPr bwMode="auto">
          <a:xfrm>
            <a:off x="723900" y="6134100"/>
            <a:ext cx="107442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5238"/>
          </a:bodyPr>
          <a:lstStyle/>
          <a:p>
            <a:pPr algn="ctr">
              <a:lnSpc>
                <a:spcPct val="105000"/>
              </a:lnSpc>
              <a:buNone/>
              <a:defRPr sz="1500" b="0" i="0">
                <a:solidFill>
                  <a:srgbClr val="52606D"/>
                </a:solidFill>
              </a:defRPr>
            </a:pPr>
            <a:r>
              <a:rPr sz="1500" b="0" i="0">
                <a:solidFill>
                  <a:srgbClr val="52606D"/>
                </a:solidFill>
              </a:rPr>
              <a:t>Executable clarification, not a verbatim 1990-paper rule. Stored curve order ≠ geometric order.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7FAFC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7471881" name=""/>
          <p:cNvSpPr>
            <a:spLocks noGrp="1"/>
          </p:cNvSpPr>
          <p:nvPr/>
        </p:nvSpPr>
        <p:spPr bwMode="auto">
          <a:xfrm>
            <a:off x="628650" y="247650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900" b="1" i="0">
                <a:solidFill>
                  <a:srgbClr val="2A9D8F"/>
                </a:solidFill>
              </a:defRPr>
            </a:pPr>
            <a:r>
              <a:rPr sz="900" b="1" i="0">
                <a:solidFill>
                  <a:srgbClr val="2A9D8F"/>
                </a:solidFill>
              </a:rPr>
              <a:t>RECONSTRUCTION ISSUE II</a:t>
            </a:r>
            <a:endParaRPr/>
          </a:p>
        </p:txBody>
      </p:sp>
      <p:sp>
        <p:nvSpPr>
          <p:cNvPr id="1154605398" name=""/>
          <p:cNvSpPr>
            <a:spLocks noGrp="1"/>
          </p:cNvSpPr>
          <p:nvPr/>
        </p:nvSpPr>
        <p:spPr bwMode="auto">
          <a:xfrm>
            <a:off x="609600" y="514350"/>
            <a:ext cx="109728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Why z₁ needs a separate output-anchor check</a:t>
            </a:r>
            <a:endParaRPr/>
          </a:p>
        </p:txBody>
      </p:sp>
      <p:sp>
        <p:nvSpPr>
          <p:cNvPr id="1662670880" name=""/>
          <p:cNvSpPr>
            <a:spLocks noGrp="1"/>
          </p:cNvSpPr>
          <p:nvPr/>
        </p:nvSpPr>
        <p:spPr bwMode="auto">
          <a:xfrm>
            <a:off x="609600" y="1085850"/>
            <a:ext cx="10972800" cy="9525"/>
          </a:xfrm>
          <a:prstGeom prst="line">
            <a:avLst/>
          </a:prstGeom>
          <a:noFill/>
          <a:ln w="28575">
            <a:solidFill>
              <a:srgbClr val="2A9D8F"/>
            </a:solidFill>
            <a:prstDash val="solid"/>
          </a:ln>
        </p:spPr>
      </p:sp>
      <p:sp>
        <p:nvSpPr>
          <p:cNvPr id="853271708" name=""/>
          <p:cNvSpPr>
            <a:spLocks noGrp="1"/>
          </p:cNvSpPr>
          <p:nvPr/>
        </p:nvSpPr>
        <p:spPr bwMode="auto">
          <a:xfrm>
            <a:off x="609600" y="6477000"/>
            <a:ext cx="10972800" cy="9525"/>
          </a:xfrm>
          <a:prstGeom prst="line">
            <a:avLst/>
          </a:prstGeom>
          <a:noFill/>
          <a:ln w="9525">
            <a:solidFill>
              <a:srgbClr val="D9E2EC"/>
            </a:solidFill>
            <a:prstDash val="solid"/>
          </a:ln>
        </p:spPr>
      </p:sp>
      <p:sp>
        <p:nvSpPr>
          <p:cNvPr id="1491218488" name=""/>
          <p:cNvSpPr>
            <a:spLocks noGrp="1"/>
          </p:cNvSpPr>
          <p:nvPr/>
        </p:nvSpPr>
        <p:spPr bwMode="auto">
          <a:xfrm>
            <a:off x="647700" y="6534150"/>
            <a:ext cx="3619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850" b="1" i="0">
                <a:solidFill>
                  <a:srgbClr val="7B8794"/>
                </a:solidFill>
              </a:defRPr>
            </a:pPr>
            <a:r>
              <a:rPr sz="850" b="1" i="0">
                <a:solidFill>
                  <a:srgbClr val="7B8794"/>
                </a:solidFill>
              </a:rPr>
              <a:t>MASTER'S THESIS PROGRESS REPORT</a:t>
            </a:r>
            <a:endParaRPr/>
          </a:p>
        </p:txBody>
      </p:sp>
      <p:sp>
        <p:nvSpPr>
          <p:cNvPr id="612737299" name=""/>
          <p:cNvSpPr>
            <a:spLocks noGrp="1"/>
          </p:cNvSpPr>
          <p:nvPr/>
        </p:nvSpPr>
        <p:spPr bwMode="auto">
          <a:xfrm>
            <a:off x="10668000" y="6534150"/>
            <a:ext cx="876299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100000"/>
          </a:bodyPr>
          <a:lstStyle/>
          <a:p>
            <a:pPr algn="r">
              <a:lnSpc>
                <a:spcPct val="105000"/>
              </a:lnSpc>
              <a:buNone/>
              <a:defRPr sz="850" b="1" i="0">
                <a:solidFill>
                  <a:srgbClr val="7B8794"/>
                </a:solidFill>
              </a:defRPr>
            </a:pPr>
            <a:r>
              <a:rPr sz="850" b="1" i="0">
                <a:solidFill>
                  <a:srgbClr val="7B8794"/>
                </a:solidFill>
              </a:rPr>
              <a:t>9 / 16</a:t>
            </a:r>
            <a:endParaRPr/>
          </a:p>
        </p:txBody>
      </p:sp>
      <p:sp>
        <p:nvSpPr>
          <p:cNvPr id="2088769700" name=""/>
          <p:cNvSpPr>
            <a:spLocks noGrp="1"/>
          </p:cNvSpPr>
          <p:nvPr/>
        </p:nvSpPr>
        <p:spPr bwMode="auto">
          <a:xfrm>
            <a:off x="723900" y="1295400"/>
            <a:ext cx="666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</a:defRPr>
            </a:pPr>
            <a:r>
              <a:rPr sz="1650" b="1" i="0">
                <a:solidFill>
                  <a:srgbClr val="102A43"/>
                </a:solidFill>
              </a:rPr>
              <a:t>Input (z₁, …, z₇) = (1, 2, 3, 4, 6, 7, 0)</a:t>
            </a:r>
            <a:endParaRPr/>
          </a:p>
        </p:txBody>
      </p:sp>
      <p:sp>
        <p:nvSpPr>
          <p:cNvPr id="267615098" name=""/>
          <p:cNvSpPr>
            <a:spLocks noGrp="1"/>
          </p:cNvSpPr>
          <p:nvPr/>
        </p:nvSpPr>
        <p:spPr bwMode="auto">
          <a:xfrm>
            <a:off x="7639050" y="1314450"/>
            <a:ext cx="38290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8261"/>
          </a:bodyPr>
          <a:lstStyle/>
          <a:p>
            <a:pPr algn="l">
              <a:lnSpc>
                <a:spcPct val="105000"/>
              </a:lnSpc>
              <a:buNone/>
              <a:defRPr sz="1600" b="0" i="0">
                <a:solidFill>
                  <a:srgbClr val="52606D"/>
                </a:solidFill>
              </a:defRPr>
            </a:pPr>
            <a:r>
              <a:rPr sz="1600" b="0" i="0">
                <a:solidFill>
                  <a:srgbClr val="52606D"/>
                </a:solidFill>
              </a:rPr>
              <a:t>S₆ = [1, 2, 3, 4, 6, 7]</a:t>
            </a:r>
            <a:endParaRPr/>
          </a:p>
        </p:txBody>
      </p:sp>
      <p:sp>
        <p:nvSpPr>
          <p:cNvPr id="1419453966" name=""/>
          <p:cNvSpPr>
            <a:spLocks noGrp="1"/>
          </p:cNvSpPr>
          <p:nvPr/>
        </p:nvSpPr>
        <p:spPr bwMode="auto">
          <a:xfrm>
            <a:off x="723900" y="1733550"/>
            <a:ext cx="5048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3795"/>
          </a:bodyPr>
          <a:lstStyle/>
          <a:p>
            <a:pPr algn="l">
              <a:lnSpc>
                <a:spcPct val="105000"/>
              </a:lnSpc>
              <a:buNone/>
              <a:defRPr sz="1650" b="1" i="0">
                <a:solidFill>
                  <a:srgbClr val="2A9D8F"/>
                </a:solidFill>
              </a:defRPr>
            </a:pPr>
            <a:r>
              <a:rPr sz="1650" b="1" i="0">
                <a:solidFill>
                  <a:srgbClr val="2A9D8F"/>
                </a:solidFill>
              </a:rPr>
              <a:t>i = 7 (odd) → lower family</a:t>
            </a:r>
            <a:endParaRPr/>
          </a:p>
        </p:txBody>
      </p:sp>
      <p:sp>
        <p:nvSpPr>
          <p:cNvPr id="1723178602" name=""/>
          <p:cNvSpPr>
            <a:spLocks noGrp="1"/>
          </p:cNvSpPr>
          <p:nvPr/>
        </p:nvSpPr>
        <p:spPr bwMode="auto">
          <a:xfrm>
            <a:off x="6362700" y="1733550"/>
            <a:ext cx="51054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3795"/>
          </a:bodyPr>
          <a:lstStyle/>
          <a:p>
            <a:pPr algn="l">
              <a:lnSpc>
                <a:spcPct val="105000"/>
              </a:lnSpc>
              <a:buNone/>
              <a:defRPr sz="1650" b="1" i="0">
                <a:solidFill>
                  <a:srgbClr val="2A9D8F"/>
                </a:solidFill>
              </a:defRPr>
            </a:pPr>
            <a:r>
              <a:rPr sz="1650" b="1" i="0">
                <a:solidFill>
                  <a:srgbClr val="2A9D8F"/>
                </a:solidFill>
              </a:rPr>
              <a:t>z₇ = 0 &lt; z₆ = 7 → decreasing</a:t>
            </a:r>
            <a:endParaRPr/>
          </a:p>
        </p:txBody>
      </p:sp>
      <p:sp>
        <p:nvSpPr>
          <p:cNvPr id="683089049" name=""/>
          <p:cNvSpPr>
            <a:spLocks noGrp="1"/>
          </p:cNvSpPr>
          <p:nvPr/>
        </p:nvSpPr>
        <p:spPr bwMode="auto">
          <a:xfrm>
            <a:off x="723900" y="2228850"/>
            <a:ext cx="5257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</a:defRPr>
            </a:pPr>
            <a:r>
              <a:rPr sz="1650" b="1" i="0">
                <a:solidFill>
                  <a:srgbClr val="102A43"/>
                </a:solidFill>
              </a:rPr>
              <a:t>Decreasing: leftmost child → left endpoint</a:t>
            </a:r>
            <a:endParaRPr/>
          </a:p>
        </p:txBody>
      </p:sp>
      <p:sp>
        <p:nvSpPr>
          <p:cNvPr id="2104881390" name=""/>
          <p:cNvSpPr>
            <a:spLocks noGrp="1"/>
          </p:cNvSpPr>
          <p:nvPr/>
        </p:nvSpPr>
        <p:spPr bwMode="auto">
          <a:xfrm>
            <a:off x="2190750" y="2933699"/>
            <a:ext cx="2286000" cy="457200"/>
          </a:xfrm>
          <a:prstGeom prst="roundRect">
            <a:avLst>
              <a:gd name="adj" fmla="val 12500"/>
            </a:avLst>
          </a:prstGeom>
          <a:solidFill>
            <a:srgbClr val="EAF1F8"/>
          </a:solidFill>
          <a:ln w="11430">
            <a:solidFill>
              <a:srgbClr val="102A43"/>
            </a:solidFill>
            <a:prstDash val="solid"/>
          </a:ln>
        </p:spPr>
      </p:sp>
      <p:sp>
        <p:nvSpPr>
          <p:cNvPr id="1883111255" name=""/>
          <p:cNvSpPr>
            <a:spLocks noGrp="1"/>
          </p:cNvSpPr>
          <p:nvPr/>
        </p:nvSpPr>
        <p:spPr bwMode="auto">
          <a:xfrm>
            <a:off x="2266950" y="2990850"/>
            <a:ext cx="21336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1900" b="1" i="0">
                <a:solidFill>
                  <a:srgbClr val="102A43"/>
                </a:solidFill>
              </a:defRPr>
            </a:pPr>
            <a:r>
              <a:rPr sz="1900" b="1" i="0">
                <a:solidFill>
                  <a:srgbClr val="102A43"/>
                </a:solidFill>
              </a:rPr>
              <a:t>P₇ = (7, 0)</a:t>
            </a:r>
            <a:endParaRPr/>
          </a:p>
        </p:txBody>
      </p:sp>
      <p:sp>
        <p:nvSpPr>
          <p:cNvPr id="859105043" name=""/>
          <p:cNvSpPr>
            <a:spLocks noGrp="1"/>
          </p:cNvSpPr>
          <p:nvPr/>
        </p:nvSpPr>
        <p:spPr bwMode="auto">
          <a:xfrm>
            <a:off x="1200150" y="2609850"/>
            <a:ext cx="4324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1350" b="0" i="0">
                <a:solidFill>
                  <a:srgbClr val="52606D"/>
                </a:solidFill>
              </a:defRPr>
            </a:pPr>
            <a:r>
              <a:rPr sz="1350" b="0" i="0">
                <a:solidFill>
                  <a:srgbClr val="52606D"/>
                </a:solidFill>
              </a:rPr>
              <a:t>curve order (7, 0); interval [0, 7]</a:t>
            </a:r>
            <a:endParaRPr/>
          </a:p>
        </p:txBody>
      </p:sp>
      <p:sp>
        <p:nvSpPr>
          <p:cNvPr id="619915911" name=""/>
          <p:cNvSpPr>
            <a:spLocks noGrp="1"/>
          </p:cNvSpPr>
          <p:nvPr/>
        </p:nvSpPr>
        <p:spPr bwMode="auto">
          <a:xfrm>
            <a:off x="895350" y="3657600"/>
            <a:ext cx="2095500" cy="457200"/>
          </a:xfrm>
          <a:prstGeom prst="roundRect">
            <a:avLst>
              <a:gd name="adj" fmla="val 12500"/>
            </a:avLst>
          </a:prstGeom>
          <a:solidFill>
            <a:srgbClr val="E8F5F3"/>
          </a:solidFill>
          <a:ln w="19050">
            <a:solidFill>
              <a:srgbClr val="2A9D8F"/>
            </a:solidFill>
            <a:prstDash val="solid"/>
          </a:ln>
        </p:spPr>
      </p:sp>
      <p:sp>
        <p:nvSpPr>
          <p:cNvPr id="535432129" name=""/>
          <p:cNvSpPr>
            <a:spLocks noGrp="1"/>
          </p:cNvSpPr>
          <p:nvPr/>
        </p:nvSpPr>
        <p:spPr bwMode="auto">
          <a:xfrm>
            <a:off x="3562350" y="3657600"/>
            <a:ext cx="2095500" cy="4572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1430">
            <a:solidFill>
              <a:srgbClr val="52606D"/>
            </a:solidFill>
            <a:prstDash val="solid"/>
          </a:ln>
        </p:spPr>
      </p:sp>
      <p:cxnSp>
        <p:nvCxnSpPr>
          <p:cNvPr id="1873650098" name=""/>
          <p:cNvCxnSpPr>
            <a:stCxn id="2104881390" idx="1"/>
            <a:endCxn id="619915911" idx="0"/>
          </p:cNvCxnSpPr>
          <p:nvPr/>
        </p:nvCxnSpPr>
        <p:spPr bwMode="auto">
          <a:xfrm flipH="1">
            <a:off x="1943100" y="3162300"/>
            <a:ext cx="247650" cy="495300"/>
          </a:xfrm>
          <a:prstGeom prst="bentConnector2">
            <a:avLst/>
          </a:prstGeom>
          <a:ln w="19050">
            <a:solidFill>
              <a:srgbClr val="2A9D8F"/>
            </a:solidFill>
            <a:prstDash val="solid"/>
            <a:tailEnd type="arrow" w="sm" len="sm"/>
          </a:ln>
        </p:spPr>
      </p:cxnSp>
      <p:cxnSp>
        <p:nvCxnSpPr>
          <p:cNvPr id="813408924" name=""/>
          <p:cNvCxnSpPr>
            <a:stCxn id="2104881390" idx="3"/>
            <a:endCxn id="535432129" idx="0"/>
          </p:cNvCxnSpPr>
          <p:nvPr/>
        </p:nvCxnSpPr>
        <p:spPr bwMode="auto">
          <a:xfrm>
            <a:off x="4476750" y="3162300"/>
            <a:ext cx="228600" cy="495300"/>
          </a:xfrm>
          <a:prstGeom prst="bentConnector4">
            <a:avLst>
              <a:gd name="adj1" fmla="val 50000"/>
              <a:gd name="adj2" fmla="val 50000"/>
            </a:avLst>
          </a:prstGeom>
          <a:ln w="19050">
            <a:solidFill>
              <a:srgbClr val="52606D"/>
            </a:solidFill>
            <a:prstDash val="solid"/>
            <a:tailEnd type="arrow" w="sm" len="sm"/>
          </a:ln>
        </p:spPr>
      </p:cxnSp>
      <p:sp>
        <p:nvSpPr>
          <p:cNvPr id="830795399" name=""/>
          <p:cNvSpPr>
            <a:spLocks noGrp="1"/>
          </p:cNvSpPr>
          <p:nvPr/>
        </p:nvSpPr>
        <p:spPr bwMode="auto">
          <a:xfrm>
            <a:off x="971550" y="3705225"/>
            <a:ext cx="19431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1800" b="1" i="0">
                <a:solidFill>
                  <a:srgbClr val="2A9D8F"/>
                </a:solidFill>
              </a:defRPr>
            </a:pPr>
            <a:r>
              <a:rPr sz="1800" b="1" i="0">
                <a:solidFill>
                  <a:srgbClr val="2A9D8F"/>
                </a:solidFill>
              </a:rPr>
              <a:t>P₃ = (2, 3)</a:t>
            </a:r>
            <a:endParaRPr/>
          </a:p>
        </p:txBody>
      </p:sp>
      <p:sp>
        <p:nvSpPr>
          <p:cNvPr id="1570965447" name=""/>
          <p:cNvSpPr>
            <a:spLocks noGrp="1"/>
          </p:cNvSpPr>
          <p:nvPr/>
        </p:nvSpPr>
        <p:spPr bwMode="auto">
          <a:xfrm>
            <a:off x="3638550" y="3705225"/>
            <a:ext cx="19431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1800" b="1" i="0">
                <a:solidFill>
                  <a:srgbClr val="102A43"/>
                </a:solidFill>
              </a:defRPr>
            </a:pPr>
            <a:r>
              <a:rPr sz="1800" b="1" i="0">
                <a:solidFill>
                  <a:srgbClr val="102A43"/>
                </a:solidFill>
              </a:rPr>
              <a:t>P₅ = (4, 6)</a:t>
            </a:r>
            <a:endParaRPr/>
          </a:p>
        </p:txBody>
      </p:sp>
      <p:sp>
        <p:nvSpPr>
          <p:cNvPr id="1535423387" name=""/>
          <p:cNvSpPr>
            <a:spLocks noGrp="1"/>
          </p:cNvSpPr>
          <p:nvPr/>
        </p:nvSpPr>
        <p:spPr bwMode="auto">
          <a:xfrm>
            <a:off x="933450" y="4133850"/>
            <a:ext cx="2000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7002"/>
          </a:bodyPr>
          <a:lstStyle/>
          <a:p>
            <a:pPr algn="ctr">
              <a:lnSpc>
                <a:spcPct val="105000"/>
              </a:lnSpc>
              <a:buNone/>
              <a:defRPr sz="1350" b="1" i="0">
                <a:solidFill>
                  <a:srgbClr val="2A9D8F"/>
                </a:solidFill>
              </a:defRPr>
            </a:pPr>
            <a:r>
              <a:rPr sz="1350" b="1" i="0">
                <a:solidFill>
                  <a:srgbClr val="2A9D8F"/>
                </a:solidFill>
              </a:rPr>
              <a:t>leftmost child</a:t>
            </a:r>
            <a:endParaRPr/>
          </a:p>
        </p:txBody>
      </p:sp>
      <p:sp>
        <p:nvSpPr>
          <p:cNvPr id="248317450" name=""/>
          <p:cNvSpPr>
            <a:spLocks noGrp="1"/>
          </p:cNvSpPr>
          <p:nvPr/>
        </p:nvSpPr>
        <p:spPr bwMode="auto">
          <a:xfrm>
            <a:off x="723900" y="4457700"/>
            <a:ext cx="5257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1600" b="1" i="0">
                <a:solidFill>
                  <a:srgbClr val="2A9D8F"/>
                </a:solidFill>
              </a:defRPr>
            </a:pPr>
            <a:r>
              <a:rPr sz="1600" b="1" i="0">
                <a:solidFill>
                  <a:srgbClr val="2A9D8F"/>
                </a:solidFill>
              </a:rPr>
              <a:t>P₃ → left endpoint 2 → base anchor z₂</a:t>
            </a:r>
            <a:endParaRPr/>
          </a:p>
        </p:txBody>
      </p:sp>
      <p:sp>
        <p:nvSpPr>
          <p:cNvPr id="662676532" name=""/>
          <p:cNvSpPr>
            <a:spLocks noGrp="1"/>
          </p:cNvSpPr>
          <p:nvPr/>
        </p:nvSpPr>
        <p:spPr bwMode="auto">
          <a:xfrm>
            <a:off x="6362700" y="2228850"/>
            <a:ext cx="51054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2593"/>
          </a:bodyPr>
          <a:lstStyle/>
          <a:p>
            <a:pPr algn="l">
              <a:lnSpc>
                <a:spcPct val="105000"/>
              </a:lnSpc>
              <a:buNone/>
              <a:defRPr sz="1800" b="1" i="0">
                <a:solidFill>
                  <a:srgbClr val="102A43"/>
                </a:solidFill>
              </a:defRPr>
            </a:pPr>
            <a:r>
              <a:rPr sz="1800" b="1" i="0">
                <a:solidFill>
                  <a:srgbClr val="102A43"/>
                </a:solidFill>
              </a:rPr>
              <a:t>Why check z₁?</a:t>
            </a:r>
            <a:endParaRPr/>
          </a:p>
        </p:txBody>
      </p:sp>
      <p:sp>
        <p:nvSpPr>
          <p:cNvPr id="1040976030" name=""/>
          <p:cNvSpPr>
            <a:spLocks noGrp="1"/>
          </p:cNvSpPr>
          <p:nvPr/>
        </p:nvSpPr>
        <p:spPr bwMode="auto">
          <a:xfrm>
            <a:off x="6362700" y="2686050"/>
            <a:ext cx="51054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650" b="0" i="0">
                <a:solidFill>
                  <a:srgbClr val="243B53"/>
                </a:solidFill>
              </a:defRPr>
            </a:pPr>
            <a:r>
              <a:rPr sz="1650" b="0" i="0">
                <a:solidFill>
                  <a:srgbClr val="243B53"/>
                </a:solidFill>
              </a:rPr>
              <a:t>z₁ = 1 belongs to upper pair P₂ = (1, 2).</a:t>
            </a:r>
            <a:endParaRPr/>
          </a:p>
        </p:txBody>
      </p:sp>
      <p:sp>
        <p:nvSpPr>
          <p:cNvPr id="974141181" name=""/>
          <p:cNvSpPr>
            <a:spLocks noGrp="1"/>
          </p:cNvSpPr>
          <p:nvPr/>
        </p:nvSpPr>
        <p:spPr bwMode="auto">
          <a:xfrm>
            <a:off x="6362700" y="3067050"/>
            <a:ext cx="51054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</a:defRPr>
            </a:pPr>
            <a:r>
              <a:rPr sz="1650" b="1" i="0">
                <a:solidFill>
                  <a:srgbClr val="102A43"/>
                </a:solidFill>
              </a:rPr>
              <a:t>It is not an endpoint of any lower pair.</a:t>
            </a:r>
            <a:endParaRPr/>
          </a:p>
        </p:txBody>
      </p:sp>
      <p:sp>
        <p:nvSpPr>
          <p:cNvPr id="847277894" name=""/>
          <p:cNvSpPr>
            <a:spLocks noGrp="1"/>
          </p:cNvSpPr>
          <p:nvPr/>
        </p:nvSpPr>
        <p:spPr bwMode="auto">
          <a:xfrm>
            <a:off x="6362700" y="3448050"/>
            <a:ext cx="51054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650" b="0" i="0">
                <a:solidFill>
                  <a:srgbClr val="243B53"/>
                </a:solidFill>
              </a:defRPr>
            </a:pPr>
            <a:r>
              <a:rPr sz="1650" b="0" i="0">
                <a:solidFill>
                  <a:srgbClr val="243B53"/>
                </a:solidFill>
              </a:rPr>
              <a:t>It is still in the sorted list S₆.</a:t>
            </a:r>
            <a:endParaRPr/>
          </a:p>
        </p:txBody>
      </p:sp>
      <p:sp>
        <p:nvSpPr>
          <p:cNvPr id="1502499991" name=""/>
          <p:cNvSpPr>
            <a:spLocks noGrp="1"/>
          </p:cNvSpPr>
          <p:nvPr/>
        </p:nvSpPr>
        <p:spPr bwMode="auto">
          <a:xfrm>
            <a:off x="6362700" y="3962400"/>
            <a:ext cx="51054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800" b="1" i="0">
                <a:solidFill>
                  <a:srgbClr val="E76F51"/>
                </a:solidFill>
              </a:defRPr>
            </a:pPr>
            <a:r>
              <a:rPr sz="1800" b="1" i="0">
                <a:solidFill>
                  <a:srgbClr val="E76F51"/>
                </a:solidFill>
              </a:rPr>
              <a:t>Odd i and 0 &lt; z₁ = 1 &lt; base anchor = 2</a:t>
            </a:r>
            <a:endParaRPr/>
          </a:p>
        </p:txBody>
      </p:sp>
      <p:sp>
        <p:nvSpPr>
          <p:cNvPr id="1324525188" name=""/>
          <p:cNvSpPr>
            <a:spLocks noGrp="1"/>
          </p:cNvSpPr>
          <p:nvPr/>
        </p:nvSpPr>
        <p:spPr bwMode="auto">
          <a:xfrm>
            <a:off x="6362700" y="4410075"/>
            <a:ext cx="51054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750" b="1" i="0">
                <a:solidFill>
                  <a:srgbClr val="2A9D8F"/>
                </a:solidFill>
              </a:defRPr>
            </a:pPr>
            <a:r>
              <a:rPr sz="1750" b="1" i="0">
                <a:solidFill>
                  <a:srgbClr val="2A9D8F"/>
                </a:solidFill>
              </a:rPr>
              <a:t>Final output anchor: z₁</a:t>
            </a:r>
            <a:endParaRPr/>
          </a:p>
        </p:txBody>
      </p:sp>
      <p:sp>
        <p:nvSpPr>
          <p:cNvPr id="1109856739" name=""/>
          <p:cNvSpPr>
            <a:spLocks noGrp="1"/>
          </p:cNvSpPr>
          <p:nvPr/>
        </p:nvSpPr>
        <p:spPr bwMode="auto">
          <a:xfrm>
            <a:off x="723900" y="4972050"/>
            <a:ext cx="5257800" cy="990600"/>
          </a:xfrm>
          <a:prstGeom prst="roundRect">
            <a:avLst>
              <a:gd name="adj" fmla="val 5769"/>
            </a:avLst>
          </a:prstGeom>
          <a:solidFill>
            <a:srgbClr val="FCEEEA"/>
          </a:solidFill>
          <a:ln w="11430">
            <a:solidFill>
              <a:srgbClr val="E76F51"/>
            </a:solidFill>
            <a:prstDash val="solid"/>
          </a:ln>
        </p:spPr>
      </p:sp>
      <p:sp>
        <p:nvSpPr>
          <p:cNvPr id="500607650" name=""/>
          <p:cNvSpPr>
            <a:spLocks noGrp="1"/>
          </p:cNvSpPr>
          <p:nvPr/>
        </p:nvSpPr>
        <p:spPr bwMode="auto">
          <a:xfrm>
            <a:off x="876299" y="5048250"/>
            <a:ext cx="4953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8261"/>
          </a:bodyPr>
          <a:lstStyle/>
          <a:p>
            <a:pPr algn="l">
              <a:lnSpc>
                <a:spcPct val="105000"/>
              </a:lnSpc>
              <a:buNone/>
              <a:defRPr sz="1600" b="1" i="0">
                <a:solidFill>
                  <a:srgbClr val="E76F51"/>
                </a:solidFill>
              </a:defRPr>
            </a:pPr>
            <a:r>
              <a:rPr sz="1600" b="1" i="0">
                <a:solidFill>
                  <a:srgbClr val="E76F51"/>
                </a:solidFill>
              </a:rPr>
              <a:t>Without correction (illustration)</a:t>
            </a:r>
            <a:endParaRPr/>
          </a:p>
        </p:txBody>
      </p:sp>
      <p:sp>
        <p:nvSpPr>
          <p:cNvPr id="514013877" name=""/>
          <p:cNvSpPr>
            <a:spLocks noGrp="1"/>
          </p:cNvSpPr>
          <p:nvPr/>
        </p:nvSpPr>
        <p:spPr bwMode="auto">
          <a:xfrm>
            <a:off x="876299" y="5467350"/>
            <a:ext cx="4953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650" b="0" i="0">
                <a:solidFill>
                  <a:srgbClr val="243B53"/>
                </a:solidFill>
              </a:defRPr>
            </a:pPr>
            <a:r>
              <a:rPr sz="1650" b="0" i="0">
                <a:solidFill>
                  <a:srgbClr val="243B53"/>
                </a:solidFill>
              </a:rPr>
              <a:t>insert 0 before 2 → [1, 0, 2, 3, 4, 6, 7]</a:t>
            </a:r>
            <a:endParaRPr/>
          </a:p>
        </p:txBody>
      </p:sp>
      <p:sp>
        <p:nvSpPr>
          <p:cNvPr id="553328069" name=""/>
          <p:cNvSpPr>
            <a:spLocks noGrp="1"/>
          </p:cNvSpPr>
          <p:nvPr/>
        </p:nvSpPr>
        <p:spPr bwMode="auto">
          <a:xfrm>
            <a:off x="6210300" y="4972050"/>
            <a:ext cx="5257800" cy="990600"/>
          </a:xfrm>
          <a:prstGeom prst="roundRect">
            <a:avLst>
              <a:gd name="adj" fmla="val 5769"/>
            </a:avLst>
          </a:prstGeom>
          <a:solidFill>
            <a:srgbClr val="E8F5F3"/>
          </a:solidFill>
          <a:ln w="11430">
            <a:solidFill>
              <a:srgbClr val="2A9D8F"/>
            </a:solidFill>
            <a:prstDash val="solid"/>
          </a:ln>
        </p:spPr>
      </p:sp>
      <p:sp>
        <p:nvSpPr>
          <p:cNvPr id="1537143779" name=""/>
          <p:cNvSpPr>
            <a:spLocks noGrp="1"/>
          </p:cNvSpPr>
          <p:nvPr/>
        </p:nvSpPr>
        <p:spPr bwMode="auto">
          <a:xfrm>
            <a:off x="6362700" y="5048250"/>
            <a:ext cx="4953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8261"/>
          </a:bodyPr>
          <a:lstStyle/>
          <a:p>
            <a:pPr algn="l">
              <a:lnSpc>
                <a:spcPct val="105000"/>
              </a:lnSpc>
              <a:buNone/>
              <a:defRPr sz="1600" b="1" i="0">
                <a:solidFill>
                  <a:srgbClr val="2A9D8F"/>
                </a:solidFill>
              </a:defRPr>
            </a:pPr>
            <a:r>
              <a:rPr sz="1600" b="1" i="0">
                <a:solidFill>
                  <a:srgbClr val="2A9D8F"/>
                </a:solidFill>
              </a:rPr>
              <a:t>With correction</a:t>
            </a:r>
            <a:endParaRPr/>
          </a:p>
        </p:txBody>
      </p:sp>
      <p:sp>
        <p:nvSpPr>
          <p:cNvPr id="2133120118" name=""/>
          <p:cNvSpPr>
            <a:spLocks noGrp="1"/>
          </p:cNvSpPr>
          <p:nvPr/>
        </p:nvSpPr>
        <p:spPr bwMode="auto">
          <a:xfrm>
            <a:off x="6362700" y="5467350"/>
            <a:ext cx="4953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650" b="0" i="0">
                <a:solidFill>
                  <a:srgbClr val="243B53"/>
                </a:solidFill>
              </a:defRPr>
            </a:pPr>
            <a:r>
              <a:rPr sz="1650" b="0" i="0">
                <a:solidFill>
                  <a:srgbClr val="243B53"/>
                </a:solidFill>
              </a:rPr>
              <a:t>insert 0 before z₁ → [0, 1, 2, 3, 4, 6, 7]</a:t>
            </a:r>
            <a:endParaRPr/>
          </a:p>
        </p:txBody>
      </p:sp>
      <p:sp>
        <p:nvSpPr>
          <p:cNvPr id="651795421" name=""/>
          <p:cNvSpPr>
            <a:spLocks noGrp="1"/>
          </p:cNvSpPr>
          <p:nvPr/>
        </p:nvSpPr>
        <p:spPr bwMode="auto">
          <a:xfrm>
            <a:off x="723900" y="6115050"/>
            <a:ext cx="107442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8261"/>
          </a:bodyPr>
          <a:lstStyle/>
          <a:p>
            <a:pPr algn="ctr">
              <a:lnSpc>
                <a:spcPct val="105000"/>
              </a:lnSpc>
              <a:buNone/>
              <a:defRPr sz="1600" b="1" i="0">
                <a:solidFill>
                  <a:srgbClr val="102A43"/>
                </a:solidFill>
              </a:defRPr>
            </a:pPr>
            <a:r>
              <a:rPr sz="1600" b="1" i="0">
                <a:solidFill>
                  <a:srgbClr val="102A43"/>
                </a:solidFill>
              </a:rPr>
              <a:t>This changes the output anchor, not the earlier boundary-pair selection.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7FAFC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9323322" name=""/>
          <p:cNvSpPr>
            <a:spLocks noGrp="1"/>
          </p:cNvSpPr>
          <p:nvPr/>
        </p:nvSpPr>
        <p:spPr bwMode="auto">
          <a:xfrm>
            <a:off x="628650" y="247650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900" b="1" i="0">
                <a:solidFill>
                  <a:srgbClr val="2A9D8F"/>
                </a:solidFill>
              </a:defRPr>
            </a:pPr>
            <a:r>
              <a:rPr sz="900" b="1" i="0">
                <a:solidFill>
                  <a:srgbClr val="2A9D8F"/>
                </a:solidFill>
              </a:rPr>
              <a:t>MAINTAINED STATE</a:t>
            </a:r>
            <a:endParaRPr/>
          </a:p>
        </p:txBody>
      </p:sp>
      <p:sp>
        <p:nvSpPr>
          <p:cNvPr id="532157338" name=""/>
          <p:cNvSpPr>
            <a:spLocks noGrp="1"/>
          </p:cNvSpPr>
          <p:nvPr/>
        </p:nvSpPr>
        <p:spPr bwMode="auto">
          <a:xfrm>
            <a:off x="609600" y="514350"/>
            <a:ext cx="109728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Ownership-safe split and transfer</a:t>
            </a:r>
            <a:endParaRPr/>
          </a:p>
        </p:txBody>
      </p:sp>
      <p:sp>
        <p:nvSpPr>
          <p:cNvPr id="2059747567" name=""/>
          <p:cNvSpPr>
            <a:spLocks noGrp="1"/>
          </p:cNvSpPr>
          <p:nvPr/>
        </p:nvSpPr>
        <p:spPr bwMode="auto">
          <a:xfrm>
            <a:off x="609600" y="1085850"/>
            <a:ext cx="10972800" cy="9525"/>
          </a:xfrm>
          <a:prstGeom prst="line">
            <a:avLst/>
          </a:prstGeom>
          <a:noFill/>
          <a:ln w="28575">
            <a:solidFill>
              <a:srgbClr val="2A9D8F"/>
            </a:solidFill>
            <a:prstDash val="solid"/>
          </a:ln>
        </p:spPr>
      </p:sp>
      <p:sp>
        <p:nvSpPr>
          <p:cNvPr id="445098075" name=""/>
          <p:cNvSpPr>
            <a:spLocks noGrp="1"/>
          </p:cNvSpPr>
          <p:nvPr/>
        </p:nvSpPr>
        <p:spPr bwMode="auto">
          <a:xfrm>
            <a:off x="609600" y="6477000"/>
            <a:ext cx="10972800" cy="9525"/>
          </a:xfrm>
          <a:prstGeom prst="line">
            <a:avLst/>
          </a:prstGeom>
          <a:noFill/>
          <a:ln w="9525">
            <a:solidFill>
              <a:srgbClr val="D9E2EC"/>
            </a:solidFill>
            <a:prstDash val="solid"/>
          </a:ln>
        </p:spPr>
      </p:sp>
      <p:sp>
        <p:nvSpPr>
          <p:cNvPr id="1346243325" name=""/>
          <p:cNvSpPr>
            <a:spLocks noGrp="1"/>
          </p:cNvSpPr>
          <p:nvPr/>
        </p:nvSpPr>
        <p:spPr bwMode="auto">
          <a:xfrm>
            <a:off x="647700" y="6534150"/>
            <a:ext cx="3619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850" b="1" i="0">
                <a:solidFill>
                  <a:srgbClr val="7B8794"/>
                </a:solidFill>
              </a:defRPr>
            </a:pPr>
            <a:r>
              <a:rPr sz="850" b="1" i="0">
                <a:solidFill>
                  <a:srgbClr val="7B8794"/>
                </a:solidFill>
              </a:rPr>
              <a:t>MASTER'S THESIS PROGRESS REPORT</a:t>
            </a:r>
            <a:endParaRPr/>
          </a:p>
        </p:txBody>
      </p:sp>
      <p:sp>
        <p:nvSpPr>
          <p:cNvPr id="1696511984" name=""/>
          <p:cNvSpPr>
            <a:spLocks noGrp="1"/>
          </p:cNvSpPr>
          <p:nvPr/>
        </p:nvSpPr>
        <p:spPr bwMode="auto">
          <a:xfrm>
            <a:off x="10668000" y="6534150"/>
            <a:ext cx="876299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100000"/>
          </a:bodyPr>
          <a:lstStyle/>
          <a:p>
            <a:pPr algn="r">
              <a:lnSpc>
                <a:spcPct val="105000"/>
              </a:lnSpc>
              <a:buNone/>
              <a:defRPr sz="850" b="1" i="0">
                <a:solidFill>
                  <a:srgbClr val="7B8794"/>
                </a:solidFill>
              </a:defRPr>
            </a:pPr>
            <a:r>
              <a:rPr sz="850" b="1" i="0">
                <a:solidFill>
                  <a:srgbClr val="7B8794"/>
                </a:solidFill>
              </a:rPr>
              <a:t>10 / 16</a:t>
            </a:r>
            <a:endParaRPr/>
          </a:p>
        </p:txBody>
      </p:sp>
      <p:sp>
        <p:nvSpPr>
          <p:cNvPr id="2133466531" name=""/>
          <p:cNvSpPr>
            <a:spLocks noGrp="1"/>
          </p:cNvSpPr>
          <p:nvPr/>
        </p:nvSpPr>
        <p:spPr bwMode="auto">
          <a:xfrm>
            <a:off x="647700" y="1428750"/>
            <a:ext cx="6248400" cy="4000500"/>
          </a:xfrm>
          <a:prstGeom prst="roundRect">
            <a:avLst>
              <a:gd name="adj" fmla="val 1905"/>
            </a:avLst>
          </a:prstGeom>
          <a:solidFill>
            <a:srgbClr val="FFFFFF"/>
          </a:solidFill>
          <a:ln w="11430">
            <a:solidFill>
              <a:srgbClr val="D9E2EC"/>
            </a:solidFill>
            <a:prstDash val="solid"/>
          </a:ln>
        </p:spPr>
      </p:sp>
      <p:sp>
        <p:nvSpPr>
          <p:cNvPr id="472424926" name=""/>
          <p:cNvSpPr>
            <a:spLocks noGrp="1"/>
          </p:cNvSpPr>
          <p:nvPr/>
        </p:nvSpPr>
        <p:spPr bwMode="auto">
          <a:xfrm>
            <a:off x="895350" y="1619250"/>
            <a:ext cx="57721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1600" b="1" i="0">
                <a:solidFill>
                  <a:srgbClr val="102A43"/>
                </a:solidFill>
              </a:defRPr>
            </a:pPr>
            <a:r>
              <a:rPr sz="1600" b="1" i="0">
                <a:solidFill>
                  <a:srgbClr val="102A43"/>
                </a:solidFill>
              </a:rPr>
              <a:t>Owner: the parent pair that owns this child list</a:t>
            </a:r>
            <a:endParaRPr/>
          </a:p>
        </p:txBody>
      </p:sp>
      <p:sp>
        <p:nvSpPr>
          <p:cNvPr id="429744526" name=""/>
          <p:cNvSpPr>
            <a:spLocks noGrp="1"/>
          </p:cNvSpPr>
          <p:nvPr/>
        </p:nvSpPr>
        <p:spPr bwMode="auto">
          <a:xfrm>
            <a:off x="895350" y="2152650"/>
            <a:ext cx="876299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350" b="1" i="0">
                <a:solidFill>
                  <a:srgbClr val="7B8794"/>
                </a:solidFill>
              </a:defRPr>
            </a:pPr>
            <a:r>
              <a:rPr sz="1350" b="1" i="0">
                <a:solidFill>
                  <a:srgbClr val="7B8794"/>
                </a:solidFill>
              </a:rPr>
              <a:t>Before</a:t>
            </a:r>
            <a:endParaRPr/>
          </a:p>
        </p:txBody>
      </p:sp>
      <p:sp>
        <p:nvSpPr>
          <p:cNvPr id="854429835" name=""/>
          <p:cNvSpPr>
            <a:spLocks noGrp="1"/>
          </p:cNvSpPr>
          <p:nvPr/>
        </p:nvSpPr>
        <p:spPr bwMode="auto">
          <a:xfrm>
            <a:off x="1847850" y="2076450"/>
            <a:ext cx="1562100" cy="495300"/>
          </a:xfrm>
          <a:prstGeom prst="roundRect">
            <a:avLst>
              <a:gd name="adj" fmla="val 11538"/>
            </a:avLst>
          </a:prstGeom>
          <a:solidFill>
            <a:srgbClr val="EAF1F8"/>
          </a:solidFill>
          <a:ln w="14288">
            <a:solidFill>
              <a:srgbClr val="102A43"/>
            </a:solidFill>
            <a:prstDash val="solid"/>
          </a:ln>
        </p:spPr>
      </p:sp>
      <p:sp>
        <p:nvSpPr>
          <p:cNvPr id="629547966" name=""/>
          <p:cNvSpPr>
            <a:spLocks noGrp="1"/>
          </p:cNvSpPr>
          <p:nvPr/>
        </p:nvSpPr>
        <p:spPr bwMode="auto">
          <a:xfrm>
            <a:off x="1943100" y="2152650"/>
            <a:ext cx="13716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1450" b="1" i="0">
                <a:solidFill>
                  <a:srgbClr val="102A43"/>
                </a:solidFill>
              </a:defRPr>
            </a:pPr>
            <a:r>
              <a:rPr sz="1450" b="1" i="0">
                <a:solidFill>
                  <a:srgbClr val="102A43"/>
                </a:solidFill>
              </a:rPr>
              <a:t>existing owner</a:t>
            </a:r>
            <a:endParaRPr/>
          </a:p>
        </p:txBody>
      </p:sp>
      <p:sp>
        <p:nvSpPr>
          <p:cNvPr id="565819569" name=""/>
          <p:cNvSpPr>
            <a:spLocks noGrp="1"/>
          </p:cNvSpPr>
          <p:nvPr/>
        </p:nvSpPr>
        <p:spPr bwMode="auto">
          <a:xfrm>
            <a:off x="3505199" y="2152650"/>
            <a:ext cx="666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1350" b="0" i="0">
                <a:solidFill>
                  <a:srgbClr val="52606D"/>
                </a:solidFill>
              </a:defRPr>
            </a:pPr>
            <a:r>
              <a:rPr sz="1350" b="0" i="0">
                <a:solidFill>
                  <a:srgbClr val="52606D"/>
                </a:solidFill>
              </a:rPr>
              <a:t>owns</a:t>
            </a:r>
            <a:endParaRPr/>
          </a:p>
        </p:txBody>
      </p:sp>
      <p:sp>
        <p:nvSpPr>
          <p:cNvPr id="1655192430" name=""/>
          <p:cNvSpPr>
            <a:spLocks noGrp="1"/>
          </p:cNvSpPr>
          <p:nvPr/>
        </p:nvSpPr>
        <p:spPr bwMode="auto">
          <a:xfrm>
            <a:off x="4248150" y="2019300"/>
            <a:ext cx="2095500" cy="609600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1430">
            <a:solidFill>
              <a:srgbClr val="52606D"/>
            </a:solidFill>
            <a:prstDash val="solid"/>
          </a:ln>
        </p:spPr>
      </p:sp>
      <p:sp>
        <p:nvSpPr>
          <p:cNvPr id="111688611" name=""/>
          <p:cNvSpPr>
            <a:spLocks noGrp="1"/>
          </p:cNvSpPr>
          <p:nvPr/>
        </p:nvSpPr>
        <p:spPr bwMode="auto">
          <a:xfrm>
            <a:off x="4362450" y="2114550"/>
            <a:ext cx="18669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1350" b="1" i="0">
                <a:solidFill>
                  <a:srgbClr val="243B53"/>
                </a:solidFill>
              </a:defRPr>
            </a:pPr>
            <a:r>
              <a:rPr sz="1350" b="1" i="0">
                <a:solidFill>
                  <a:srgbClr val="243B53"/>
                </a:solidFill>
              </a:rPr>
              <a:t>retained  |  acquired</a:t>
            </a:r>
            <a:endParaRPr/>
          </a:p>
        </p:txBody>
      </p:sp>
      <p:sp>
        <p:nvSpPr>
          <p:cNvPr id="1929429970" name=""/>
          <p:cNvSpPr>
            <a:spLocks noGrp="1"/>
          </p:cNvSpPr>
          <p:nvPr/>
        </p:nvSpPr>
        <p:spPr bwMode="auto">
          <a:xfrm>
            <a:off x="2514600" y="2876550"/>
            <a:ext cx="23812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1500" b="1" i="0">
                <a:solidFill>
                  <a:srgbClr val="E76F51"/>
                </a:solidFill>
              </a:defRPr>
            </a:pPr>
            <a:r>
              <a:rPr sz="1500" b="1" i="0">
                <a:solidFill>
                  <a:srgbClr val="E76F51"/>
                </a:solidFill>
              </a:rPr>
              <a:t>split + transfer</a:t>
            </a:r>
            <a:endParaRPr/>
          </a:p>
        </p:txBody>
      </p:sp>
      <p:sp>
        <p:nvSpPr>
          <p:cNvPr id="1304221466" name=""/>
          <p:cNvSpPr>
            <a:spLocks noGrp="1"/>
          </p:cNvSpPr>
          <p:nvPr/>
        </p:nvSpPr>
        <p:spPr bwMode="auto">
          <a:xfrm>
            <a:off x="3371850" y="3200400"/>
            <a:ext cx="685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3371"/>
          </a:bodyPr>
          <a:lstStyle/>
          <a:p>
            <a:pPr algn="ctr">
              <a:lnSpc>
                <a:spcPct val="105000"/>
              </a:lnSpc>
              <a:buNone/>
              <a:defRPr sz="2550" b="1" i="0">
                <a:solidFill>
                  <a:srgbClr val="E76F51"/>
                </a:solidFill>
              </a:defRPr>
            </a:pPr>
            <a:r>
              <a:rPr sz="2550" b="1" i="0">
                <a:solidFill>
                  <a:srgbClr val="E76F51"/>
                </a:solidFill>
              </a:rPr>
              <a:t>↓</a:t>
            </a:r>
            <a:endParaRPr/>
          </a:p>
        </p:txBody>
      </p:sp>
      <p:sp>
        <p:nvSpPr>
          <p:cNvPr id="369553051" name=""/>
          <p:cNvSpPr>
            <a:spLocks noGrp="1"/>
          </p:cNvSpPr>
          <p:nvPr/>
        </p:nvSpPr>
        <p:spPr bwMode="auto">
          <a:xfrm>
            <a:off x="895350" y="3714750"/>
            <a:ext cx="876299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350" b="1" i="0">
                <a:solidFill>
                  <a:srgbClr val="7B8794"/>
                </a:solidFill>
              </a:defRPr>
            </a:pPr>
            <a:r>
              <a:rPr sz="1350" b="1" i="0">
                <a:solidFill>
                  <a:srgbClr val="7B8794"/>
                </a:solidFill>
              </a:rPr>
              <a:t>After</a:t>
            </a:r>
            <a:endParaRPr/>
          </a:p>
        </p:txBody>
      </p:sp>
      <p:sp>
        <p:nvSpPr>
          <p:cNvPr id="133983529" name=""/>
          <p:cNvSpPr>
            <a:spLocks noGrp="1"/>
          </p:cNvSpPr>
          <p:nvPr/>
        </p:nvSpPr>
        <p:spPr bwMode="auto">
          <a:xfrm>
            <a:off x="1847850" y="3638550"/>
            <a:ext cx="1562100" cy="495300"/>
          </a:xfrm>
          <a:prstGeom prst="roundRect">
            <a:avLst>
              <a:gd name="adj" fmla="val 11538"/>
            </a:avLst>
          </a:prstGeom>
          <a:solidFill>
            <a:srgbClr val="EAF1F8"/>
          </a:solidFill>
          <a:ln w="14288">
            <a:solidFill>
              <a:srgbClr val="102A43"/>
            </a:solidFill>
            <a:prstDash val="solid"/>
          </a:ln>
        </p:spPr>
      </p:sp>
      <p:sp>
        <p:nvSpPr>
          <p:cNvPr id="695105418" name=""/>
          <p:cNvSpPr>
            <a:spLocks noGrp="1"/>
          </p:cNvSpPr>
          <p:nvPr/>
        </p:nvSpPr>
        <p:spPr bwMode="auto">
          <a:xfrm>
            <a:off x="1943100" y="3714750"/>
            <a:ext cx="13716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1450" b="1" i="0">
                <a:solidFill>
                  <a:srgbClr val="102A43"/>
                </a:solidFill>
              </a:defRPr>
            </a:pPr>
            <a:r>
              <a:rPr sz="1450" b="1" i="0">
                <a:solidFill>
                  <a:srgbClr val="102A43"/>
                </a:solidFill>
              </a:rPr>
              <a:t>existing owner</a:t>
            </a:r>
            <a:endParaRPr/>
          </a:p>
        </p:txBody>
      </p:sp>
      <p:sp>
        <p:nvSpPr>
          <p:cNvPr id="328429270" name=""/>
          <p:cNvSpPr>
            <a:spLocks noGrp="1"/>
          </p:cNvSpPr>
          <p:nvPr/>
        </p:nvSpPr>
        <p:spPr bwMode="auto">
          <a:xfrm>
            <a:off x="3476625" y="3714750"/>
            <a:ext cx="5143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1800" b="1" i="0">
                <a:solidFill>
                  <a:srgbClr val="52606D"/>
                </a:solidFill>
              </a:defRPr>
            </a:pPr>
            <a:r>
              <a:rPr sz="1800" b="1" i="0">
                <a:solidFill>
                  <a:srgbClr val="52606D"/>
                </a:solidFill>
              </a:rPr>
              <a:t>→</a:t>
            </a:r>
            <a:endParaRPr/>
          </a:p>
        </p:txBody>
      </p:sp>
      <p:sp>
        <p:nvSpPr>
          <p:cNvPr id="487621608" name=""/>
          <p:cNvSpPr>
            <a:spLocks noGrp="1"/>
          </p:cNvSpPr>
          <p:nvPr/>
        </p:nvSpPr>
        <p:spPr bwMode="auto">
          <a:xfrm>
            <a:off x="4038600" y="3638550"/>
            <a:ext cx="1390650" cy="49530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1430">
            <a:solidFill>
              <a:srgbClr val="102A43"/>
            </a:solidFill>
            <a:prstDash val="solid"/>
          </a:ln>
        </p:spPr>
      </p:sp>
      <p:sp>
        <p:nvSpPr>
          <p:cNvPr id="1203576792" name=""/>
          <p:cNvSpPr>
            <a:spLocks noGrp="1"/>
          </p:cNvSpPr>
          <p:nvPr/>
        </p:nvSpPr>
        <p:spPr bwMode="auto">
          <a:xfrm>
            <a:off x="4133850" y="3714750"/>
            <a:ext cx="12001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1350" b="1" i="0">
                <a:solidFill>
                  <a:srgbClr val="102A43"/>
                </a:solidFill>
              </a:defRPr>
            </a:pPr>
            <a:r>
              <a:rPr sz="1350" b="1" i="0">
                <a:solidFill>
                  <a:srgbClr val="102A43"/>
                </a:solidFill>
              </a:rPr>
              <a:t>retained</a:t>
            </a:r>
            <a:endParaRPr/>
          </a:p>
        </p:txBody>
      </p:sp>
      <p:sp>
        <p:nvSpPr>
          <p:cNvPr id="1171848344" name=""/>
          <p:cNvSpPr>
            <a:spLocks noGrp="1"/>
          </p:cNvSpPr>
          <p:nvPr/>
        </p:nvSpPr>
        <p:spPr bwMode="auto">
          <a:xfrm>
            <a:off x="1847850" y="4381500"/>
            <a:ext cx="1562100" cy="495300"/>
          </a:xfrm>
          <a:prstGeom prst="roundRect">
            <a:avLst>
              <a:gd name="adj" fmla="val 11538"/>
            </a:avLst>
          </a:prstGeom>
          <a:solidFill>
            <a:srgbClr val="E8F5F3"/>
          </a:solidFill>
          <a:ln w="14288">
            <a:solidFill>
              <a:srgbClr val="2A9D8F"/>
            </a:solidFill>
            <a:prstDash val="solid"/>
          </a:ln>
        </p:spPr>
      </p:sp>
      <p:sp>
        <p:nvSpPr>
          <p:cNvPr id="1401550424" name=""/>
          <p:cNvSpPr>
            <a:spLocks noGrp="1"/>
          </p:cNvSpPr>
          <p:nvPr/>
        </p:nvSpPr>
        <p:spPr bwMode="auto">
          <a:xfrm>
            <a:off x="1943100" y="4457700"/>
            <a:ext cx="13716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1450" b="1" i="0">
                <a:solidFill>
                  <a:srgbClr val="2A9D8F"/>
                </a:solidFill>
              </a:defRPr>
            </a:pPr>
            <a:r>
              <a:rPr sz="1450" b="1" i="0">
                <a:solidFill>
                  <a:srgbClr val="2A9D8F"/>
                </a:solidFill>
              </a:rPr>
              <a:t>new owner</a:t>
            </a:r>
            <a:endParaRPr/>
          </a:p>
        </p:txBody>
      </p:sp>
      <p:sp>
        <p:nvSpPr>
          <p:cNvPr id="1002743018" name=""/>
          <p:cNvSpPr>
            <a:spLocks noGrp="1"/>
          </p:cNvSpPr>
          <p:nvPr/>
        </p:nvSpPr>
        <p:spPr bwMode="auto">
          <a:xfrm>
            <a:off x="3476625" y="4457700"/>
            <a:ext cx="5143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1800" b="1" i="0">
                <a:solidFill>
                  <a:srgbClr val="2A9D8F"/>
                </a:solidFill>
              </a:defRPr>
            </a:pPr>
            <a:r>
              <a:rPr sz="1800" b="1" i="0">
                <a:solidFill>
                  <a:srgbClr val="2A9D8F"/>
                </a:solidFill>
              </a:rPr>
              <a:t>→</a:t>
            </a:r>
            <a:endParaRPr/>
          </a:p>
        </p:txBody>
      </p:sp>
      <p:sp>
        <p:nvSpPr>
          <p:cNvPr id="11224709" name=""/>
          <p:cNvSpPr>
            <a:spLocks noGrp="1"/>
          </p:cNvSpPr>
          <p:nvPr/>
        </p:nvSpPr>
        <p:spPr bwMode="auto">
          <a:xfrm>
            <a:off x="4038600" y="4381500"/>
            <a:ext cx="1390650" cy="495300"/>
          </a:xfrm>
          <a:prstGeom prst="roundRect">
            <a:avLst>
              <a:gd name="adj" fmla="val 11538"/>
            </a:avLst>
          </a:prstGeom>
          <a:solidFill>
            <a:srgbClr val="E8F5F3"/>
          </a:solidFill>
          <a:ln w="11430">
            <a:solidFill>
              <a:srgbClr val="2A9D8F"/>
            </a:solidFill>
            <a:prstDash val="solid"/>
          </a:ln>
        </p:spPr>
      </p:sp>
      <p:sp>
        <p:nvSpPr>
          <p:cNvPr id="195298615" name=""/>
          <p:cNvSpPr>
            <a:spLocks noGrp="1"/>
          </p:cNvSpPr>
          <p:nvPr/>
        </p:nvSpPr>
        <p:spPr bwMode="auto">
          <a:xfrm>
            <a:off x="4133850" y="4457700"/>
            <a:ext cx="12001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1350" b="1" i="0">
                <a:solidFill>
                  <a:srgbClr val="2A9D8F"/>
                </a:solidFill>
              </a:defRPr>
            </a:pPr>
            <a:r>
              <a:rPr sz="1350" b="1" i="0">
                <a:solidFill>
                  <a:srgbClr val="2A9D8F"/>
                </a:solidFill>
              </a:rPr>
              <a:t>acquired</a:t>
            </a:r>
            <a:endParaRPr/>
          </a:p>
        </p:txBody>
      </p:sp>
      <p:sp>
        <p:nvSpPr>
          <p:cNvPr id="531735250" name=""/>
          <p:cNvSpPr>
            <a:spLocks noGrp="1"/>
          </p:cNvSpPr>
          <p:nvPr/>
        </p:nvSpPr>
        <p:spPr bwMode="auto">
          <a:xfrm>
            <a:off x="1047750" y="5010149"/>
            <a:ext cx="5448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1300" b="0" i="0">
                <a:solidFill>
                  <a:srgbClr val="52606D"/>
                </a:solidFill>
              </a:defRPr>
            </a:pPr>
            <a:r>
              <a:rPr sz="1300" b="0" i="0">
                <a:solidFill>
                  <a:srgbClr val="52606D"/>
                </a:solidFill>
              </a:rPr>
              <a:t>Only the acquired nonempty segment changes parent ownership.</a:t>
            </a:r>
            <a:endParaRPr/>
          </a:p>
        </p:txBody>
      </p:sp>
      <p:sp>
        <p:nvSpPr>
          <p:cNvPr id="2126609480" name=""/>
          <p:cNvSpPr>
            <a:spLocks noGrp="1"/>
          </p:cNvSpPr>
          <p:nvPr/>
        </p:nvSpPr>
        <p:spPr bwMode="auto">
          <a:xfrm>
            <a:off x="7286625" y="1447800"/>
            <a:ext cx="3714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900" b="1" i="0">
                <a:solidFill>
                  <a:srgbClr val="102A43"/>
                </a:solidFill>
              </a:defRPr>
            </a:pPr>
            <a:r>
              <a:rPr sz="1900" b="1" i="0">
                <a:solidFill>
                  <a:srgbClr val="102A43"/>
                </a:solidFill>
              </a:rPr>
              <a:t>Maintained state</a:t>
            </a:r>
            <a:endParaRPr/>
          </a:p>
        </p:txBody>
      </p:sp>
      <p:sp>
        <p:nvSpPr>
          <p:cNvPr id="2102764099" name=""/>
          <p:cNvSpPr>
            <a:spLocks noGrp="1"/>
          </p:cNvSpPr>
          <p:nvPr/>
        </p:nvSpPr>
        <p:spPr bwMode="auto">
          <a:xfrm>
            <a:off x="7334250" y="2028825"/>
            <a:ext cx="95250" cy="95250"/>
          </a:xfrm>
          <a:prstGeom prst="ellipse">
            <a:avLst/>
          </a:prstGeom>
          <a:solidFill>
            <a:srgbClr val="2A9D8F"/>
          </a:solidFill>
          <a:ln w="0">
            <a:solidFill>
              <a:srgbClr val="2A9D8F"/>
            </a:solidFill>
            <a:prstDash val="solid"/>
          </a:ln>
        </p:spPr>
      </p:sp>
      <p:sp>
        <p:nvSpPr>
          <p:cNvPr id="1786124126" name=""/>
          <p:cNvSpPr>
            <a:spLocks noGrp="1"/>
          </p:cNvSpPr>
          <p:nvPr/>
        </p:nvSpPr>
        <p:spPr bwMode="auto">
          <a:xfrm>
            <a:off x="7543800" y="1952625"/>
            <a:ext cx="3695700" cy="4095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450" b="0" i="0">
                <a:solidFill>
                  <a:srgbClr val="243B53"/>
                </a:solidFill>
              </a:defRPr>
            </a:pPr>
            <a:r>
              <a:rPr sz="1450" b="0" i="0">
                <a:solidFill>
                  <a:srgbClr val="243B53"/>
                </a:solidFill>
              </a:rPr>
              <a:t>sorted processed prefix</a:t>
            </a:r>
            <a:endParaRPr/>
          </a:p>
        </p:txBody>
      </p:sp>
      <p:sp>
        <p:nvSpPr>
          <p:cNvPr id="1835661687" name=""/>
          <p:cNvSpPr>
            <a:spLocks noGrp="1"/>
          </p:cNvSpPr>
          <p:nvPr/>
        </p:nvSpPr>
        <p:spPr bwMode="auto">
          <a:xfrm>
            <a:off x="7334250" y="2457450"/>
            <a:ext cx="95250" cy="95250"/>
          </a:xfrm>
          <a:prstGeom prst="ellipse">
            <a:avLst/>
          </a:prstGeom>
          <a:solidFill>
            <a:srgbClr val="2A9D8F"/>
          </a:solidFill>
          <a:ln w="0">
            <a:solidFill>
              <a:srgbClr val="2A9D8F"/>
            </a:solidFill>
            <a:prstDash val="solid"/>
          </a:ln>
        </p:spPr>
      </p:sp>
      <p:sp>
        <p:nvSpPr>
          <p:cNvPr id="2015196353" name=""/>
          <p:cNvSpPr>
            <a:spLocks noGrp="1"/>
          </p:cNvSpPr>
          <p:nvPr/>
        </p:nvSpPr>
        <p:spPr bwMode="auto">
          <a:xfrm>
            <a:off x="7543800" y="2381250"/>
            <a:ext cx="3695700" cy="4095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450" b="0" i="0">
                <a:solidFill>
                  <a:srgbClr val="243B53"/>
                </a:solidFill>
              </a:defRPr>
            </a:pPr>
            <a:r>
              <a:rPr sz="1450" b="0" i="0">
                <a:solidFill>
                  <a:srgbClr val="243B53"/>
                </a:solidFill>
              </a:rPr>
              <a:t>upper and lower pair families</a:t>
            </a:r>
            <a:endParaRPr/>
          </a:p>
        </p:txBody>
      </p:sp>
      <p:sp>
        <p:nvSpPr>
          <p:cNvPr id="143362922" name=""/>
          <p:cNvSpPr>
            <a:spLocks noGrp="1"/>
          </p:cNvSpPr>
          <p:nvPr/>
        </p:nvSpPr>
        <p:spPr bwMode="auto">
          <a:xfrm>
            <a:off x="7334250" y="2886075"/>
            <a:ext cx="95250" cy="95250"/>
          </a:xfrm>
          <a:prstGeom prst="ellipse">
            <a:avLst/>
          </a:prstGeom>
          <a:solidFill>
            <a:srgbClr val="2A9D8F"/>
          </a:solidFill>
          <a:ln w="0">
            <a:solidFill>
              <a:srgbClr val="2A9D8F"/>
            </a:solidFill>
            <a:prstDash val="solid"/>
          </a:ln>
        </p:spPr>
      </p:sp>
      <p:sp>
        <p:nvSpPr>
          <p:cNvPr id="413051234" name=""/>
          <p:cNvSpPr>
            <a:spLocks noGrp="1"/>
          </p:cNvSpPr>
          <p:nvPr/>
        </p:nvSpPr>
        <p:spPr bwMode="auto">
          <a:xfrm>
            <a:off x="7543800" y="2809875"/>
            <a:ext cx="3695700" cy="4095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450" b="0" i="0">
                <a:solidFill>
                  <a:srgbClr val="243B53"/>
                </a:solidFill>
              </a:defRPr>
            </a:pPr>
            <a:r>
              <a:rPr sz="1450" b="0" i="0">
                <a:solidFill>
                  <a:srgbClr val="243B53"/>
                </a:solidFill>
              </a:rPr>
              <a:t>one parent per finite pair</a:t>
            </a:r>
            <a:endParaRPr/>
          </a:p>
        </p:txBody>
      </p:sp>
      <p:sp>
        <p:nvSpPr>
          <p:cNvPr id="2025106496" name=""/>
          <p:cNvSpPr>
            <a:spLocks noGrp="1"/>
          </p:cNvSpPr>
          <p:nvPr/>
        </p:nvSpPr>
        <p:spPr bwMode="auto">
          <a:xfrm>
            <a:off x="7334250" y="3314700"/>
            <a:ext cx="95250" cy="95250"/>
          </a:xfrm>
          <a:prstGeom prst="ellipse">
            <a:avLst/>
          </a:prstGeom>
          <a:solidFill>
            <a:srgbClr val="2A9D8F"/>
          </a:solidFill>
          <a:ln w="0">
            <a:solidFill>
              <a:srgbClr val="2A9D8F"/>
            </a:solidFill>
            <a:prstDash val="solid"/>
          </a:ln>
        </p:spPr>
      </p:sp>
      <p:sp>
        <p:nvSpPr>
          <p:cNvPr id="775712050" name=""/>
          <p:cNvSpPr>
            <a:spLocks noGrp="1"/>
          </p:cNvSpPr>
          <p:nvPr/>
        </p:nvSpPr>
        <p:spPr bwMode="auto">
          <a:xfrm>
            <a:off x="7543800" y="3238500"/>
            <a:ext cx="3695700" cy="4095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450" b="0" i="0">
                <a:solidFill>
                  <a:srgbClr val="243B53"/>
                </a:solidFill>
              </a:defRPr>
            </a:pPr>
            <a:r>
              <a:rPr sz="1450" b="0" i="0">
                <a:solidFill>
                  <a:srgbClr val="243B53"/>
                </a:solidFill>
              </a:rPr>
              <a:t>one sibling-list membership per finite pair</a:t>
            </a:r>
            <a:endParaRPr/>
          </a:p>
        </p:txBody>
      </p:sp>
      <p:sp>
        <p:nvSpPr>
          <p:cNvPr id="527007402" name=""/>
          <p:cNvSpPr>
            <a:spLocks noGrp="1"/>
          </p:cNvSpPr>
          <p:nvPr/>
        </p:nvSpPr>
        <p:spPr bwMode="auto">
          <a:xfrm>
            <a:off x="7286625" y="3886200"/>
            <a:ext cx="3714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900" b="1" i="0">
                <a:solidFill>
                  <a:srgbClr val="2A9D8F"/>
                </a:solidFill>
              </a:defRPr>
            </a:pPr>
            <a:r>
              <a:rPr sz="1900" b="1" i="0">
                <a:solidFill>
                  <a:srgbClr val="2A9D8F"/>
                </a:solidFill>
              </a:rPr>
              <a:t>Transactional update</a:t>
            </a:r>
            <a:endParaRPr/>
          </a:p>
        </p:txBody>
      </p:sp>
      <p:sp>
        <p:nvSpPr>
          <p:cNvPr id="16294836" name=""/>
          <p:cNvSpPr>
            <a:spLocks noGrp="1"/>
          </p:cNvSpPr>
          <p:nvPr/>
        </p:nvSpPr>
        <p:spPr bwMode="auto">
          <a:xfrm>
            <a:off x="7334250" y="4324350"/>
            <a:ext cx="3905250" cy="87629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save state  →  split  →  transfer  →</a:t>
            </a:r>
            <a:endParaRPr/>
          </a:p>
          <a:p>
            <a:pPr algn="ctr">
              <a:lnSpc>
                <a:spcPct val="105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check postconditions  →  roll back on failure</a:t>
            </a:r>
            <a:endParaRPr/>
          </a:p>
        </p:txBody>
      </p:sp>
      <p:sp>
        <p:nvSpPr>
          <p:cNvPr id="1637266239" name=""/>
          <p:cNvSpPr>
            <a:spLocks noGrp="1"/>
          </p:cNvSpPr>
          <p:nvPr/>
        </p:nvSpPr>
        <p:spPr bwMode="auto">
          <a:xfrm>
            <a:off x="1066800" y="5715000"/>
            <a:ext cx="10058400" cy="476250"/>
          </a:xfrm>
          <a:prstGeom prst="roundRect">
            <a:avLst>
              <a:gd name="adj" fmla="val 12000"/>
            </a:avLst>
          </a:prstGeom>
          <a:solidFill>
            <a:srgbClr val="FCEEEA"/>
          </a:solidFill>
          <a:ln w="11430">
            <a:solidFill>
              <a:srgbClr val="E76F51"/>
            </a:solidFill>
            <a:prstDash val="solid"/>
          </a:ln>
        </p:spPr>
      </p:sp>
      <p:sp>
        <p:nvSpPr>
          <p:cNvPr id="1869224449" name=""/>
          <p:cNvSpPr>
            <a:spLocks noGrp="1"/>
          </p:cNvSpPr>
          <p:nvPr/>
        </p:nvSpPr>
        <p:spPr bwMode="auto">
          <a:xfrm>
            <a:off x="1219200" y="5762625"/>
            <a:ext cx="97536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1500" b="1" i="0">
                <a:solidFill>
                  <a:srgbClr val="E76F51"/>
                </a:solidFill>
              </a:defRPr>
            </a:pPr>
            <a:r>
              <a:rPr sz="1500" b="1" i="0">
                <a:solidFill>
                  <a:srgbClr val="E76F51"/>
                </a:solidFill>
              </a:rPr>
              <a:t>Ordinary lists expose scanning, copying, slicing, and ownership rebinding as concrete costs.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7FAFC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9354793" name=""/>
          <p:cNvSpPr>
            <a:spLocks noGrp="1"/>
          </p:cNvSpPr>
          <p:nvPr/>
        </p:nvSpPr>
        <p:spPr bwMode="auto">
          <a:xfrm>
            <a:off x="628650" y="247650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900" b="1" i="0">
                <a:solidFill>
                  <a:srgbClr val="2A9D8F"/>
                </a:solidFill>
              </a:defRPr>
            </a:pPr>
            <a:r>
              <a:rPr sz="900" b="1" i="0">
                <a:solidFill>
                  <a:srgbClr val="2A9D8F"/>
                </a:solidFill>
              </a:rPr>
              <a:t>VALIDATION</a:t>
            </a:r>
            <a:endParaRPr/>
          </a:p>
        </p:txBody>
      </p:sp>
      <p:sp>
        <p:nvSpPr>
          <p:cNvPr id="2068504000" name=""/>
          <p:cNvSpPr>
            <a:spLocks noGrp="1"/>
          </p:cNvSpPr>
          <p:nvPr/>
        </p:nvSpPr>
        <p:spPr bwMode="auto">
          <a:xfrm>
            <a:off x="609600" y="514350"/>
            <a:ext cx="109728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Implementation checks and experiment consistency</a:t>
            </a:r>
            <a:endParaRPr/>
          </a:p>
        </p:txBody>
      </p:sp>
      <p:sp>
        <p:nvSpPr>
          <p:cNvPr id="257808382" name=""/>
          <p:cNvSpPr>
            <a:spLocks noGrp="1"/>
          </p:cNvSpPr>
          <p:nvPr/>
        </p:nvSpPr>
        <p:spPr bwMode="auto">
          <a:xfrm>
            <a:off x="609600" y="1085850"/>
            <a:ext cx="10972800" cy="9525"/>
          </a:xfrm>
          <a:prstGeom prst="line">
            <a:avLst/>
          </a:prstGeom>
          <a:noFill/>
          <a:ln w="28575">
            <a:solidFill>
              <a:srgbClr val="2A9D8F"/>
            </a:solidFill>
            <a:prstDash val="solid"/>
          </a:ln>
        </p:spPr>
      </p:sp>
      <p:sp>
        <p:nvSpPr>
          <p:cNvPr id="2110601963" name=""/>
          <p:cNvSpPr>
            <a:spLocks noGrp="1"/>
          </p:cNvSpPr>
          <p:nvPr/>
        </p:nvSpPr>
        <p:spPr bwMode="auto">
          <a:xfrm>
            <a:off x="609600" y="6477000"/>
            <a:ext cx="10972800" cy="9525"/>
          </a:xfrm>
          <a:prstGeom prst="line">
            <a:avLst/>
          </a:prstGeom>
          <a:noFill/>
          <a:ln w="9525">
            <a:solidFill>
              <a:srgbClr val="D9E2EC"/>
            </a:solidFill>
            <a:prstDash val="solid"/>
          </a:ln>
        </p:spPr>
      </p:sp>
      <p:sp>
        <p:nvSpPr>
          <p:cNvPr id="1369246483" name=""/>
          <p:cNvSpPr>
            <a:spLocks noGrp="1"/>
          </p:cNvSpPr>
          <p:nvPr/>
        </p:nvSpPr>
        <p:spPr bwMode="auto">
          <a:xfrm>
            <a:off x="647700" y="6534150"/>
            <a:ext cx="3619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850" b="1" i="0">
                <a:solidFill>
                  <a:srgbClr val="7B8794"/>
                </a:solidFill>
              </a:defRPr>
            </a:pPr>
            <a:r>
              <a:rPr sz="850" b="1" i="0">
                <a:solidFill>
                  <a:srgbClr val="7B8794"/>
                </a:solidFill>
              </a:rPr>
              <a:t>MASTER'S THESIS PROGRESS REPORT</a:t>
            </a:r>
            <a:endParaRPr/>
          </a:p>
        </p:txBody>
      </p:sp>
      <p:sp>
        <p:nvSpPr>
          <p:cNvPr id="597608890" name=""/>
          <p:cNvSpPr>
            <a:spLocks noGrp="1"/>
          </p:cNvSpPr>
          <p:nvPr/>
        </p:nvSpPr>
        <p:spPr bwMode="auto">
          <a:xfrm>
            <a:off x="10668000" y="6534150"/>
            <a:ext cx="876299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100000"/>
          </a:bodyPr>
          <a:lstStyle/>
          <a:p>
            <a:pPr algn="r">
              <a:lnSpc>
                <a:spcPct val="105000"/>
              </a:lnSpc>
              <a:buNone/>
              <a:defRPr sz="850" b="1" i="0">
                <a:solidFill>
                  <a:srgbClr val="7B8794"/>
                </a:solidFill>
              </a:defRPr>
            </a:pPr>
            <a:r>
              <a:rPr sz="850" b="1" i="0">
                <a:solidFill>
                  <a:srgbClr val="7B8794"/>
                </a:solidFill>
              </a:rPr>
              <a:t>11 / 16</a:t>
            </a:r>
            <a:endParaRPr/>
          </a:p>
        </p:txBody>
      </p:sp>
      <p:sp>
        <p:nvSpPr>
          <p:cNvPr id="1489632526" name=""/>
          <p:cNvSpPr>
            <a:spLocks noGrp="1"/>
          </p:cNvSpPr>
          <p:nvPr/>
        </p:nvSpPr>
        <p:spPr bwMode="auto">
          <a:xfrm>
            <a:off x="838200" y="1390650"/>
            <a:ext cx="44767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600" b="1" i="0">
                <a:solidFill>
                  <a:srgbClr val="2A9D8F"/>
                </a:solidFill>
              </a:defRPr>
            </a:pPr>
            <a:r>
              <a:rPr sz="1600" b="1" i="0">
                <a:solidFill>
                  <a:srgbClr val="2A9D8F"/>
                </a:solidFill>
              </a:rPr>
              <a:t>Is the output and maintained state correct?</a:t>
            </a:r>
            <a:endParaRPr/>
          </a:p>
        </p:txBody>
      </p:sp>
      <p:sp>
        <p:nvSpPr>
          <p:cNvPr id="1735645312" name=""/>
          <p:cNvSpPr>
            <a:spLocks noGrp="1"/>
          </p:cNvSpPr>
          <p:nvPr/>
        </p:nvSpPr>
        <p:spPr bwMode="auto">
          <a:xfrm>
            <a:off x="6877050" y="1390650"/>
            <a:ext cx="447675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600" b="1" i="0">
                <a:solidFill>
                  <a:srgbClr val="E76F51"/>
                </a:solidFill>
              </a:defRPr>
            </a:pPr>
            <a:r>
              <a:rPr sz="1600" b="1" i="0">
                <a:solidFill>
                  <a:srgbClr val="E76F51"/>
                </a:solidFill>
              </a:rPr>
              <a:t>Are the experiment records and summaries consistent?</a:t>
            </a:r>
            <a:endParaRPr/>
          </a:p>
        </p:txBody>
      </p:sp>
      <p:sp>
        <p:nvSpPr>
          <p:cNvPr id="1433330039" name=""/>
          <p:cNvSpPr>
            <a:spLocks noGrp="1"/>
          </p:cNvSpPr>
          <p:nvPr/>
        </p:nvSpPr>
        <p:spPr bwMode="auto">
          <a:xfrm>
            <a:off x="838200" y="1924050"/>
            <a:ext cx="4476750" cy="609600"/>
          </a:xfrm>
          <a:prstGeom prst="roundRect">
            <a:avLst>
              <a:gd name="adj" fmla="val 10938"/>
            </a:avLst>
          </a:prstGeom>
          <a:solidFill>
            <a:srgbClr val="E8F5F3"/>
          </a:solidFill>
          <a:ln w="11430">
            <a:solidFill>
              <a:srgbClr val="2A9D8F"/>
            </a:solidFill>
            <a:prstDash val="solid"/>
          </a:ln>
        </p:spPr>
      </p:sp>
      <p:sp>
        <p:nvSpPr>
          <p:cNvPr id="100855139" name=""/>
          <p:cNvSpPr>
            <a:spLocks noGrp="1"/>
          </p:cNvSpPr>
          <p:nvPr/>
        </p:nvSpPr>
        <p:spPr bwMode="auto">
          <a:xfrm>
            <a:off x="990600" y="2000250"/>
            <a:ext cx="41719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Focused regression cases</a:t>
            </a:r>
            <a:endParaRPr/>
          </a:p>
        </p:txBody>
      </p:sp>
      <p:sp>
        <p:nvSpPr>
          <p:cNvPr id="2077341682" name=""/>
          <p:cNvSpPr>
            <a:spLocks noGrp="1"/>
          </p:cNvSpPr>
          <p:nvPr/>
        </p:nvSpPr>
        <p:spPr bwMode="auto">
          <a:xfrm>
            <a:off x="838200" y="2800350"/>
            <a:ext cx="4476750" cy="781050"/>
          </a:xfrm>
          <a:prstGeom prst="roundRect">
            <a:avLst>
              <a:gd name="adj" fmla="val 8537"/>
            </a:avLst>
          </a:prstGeom>
          <a:solidFill>
            <a:srgbClr val="E8F5F3"/>
          </a:solidFill>
          <a:ln w="11430">
            <a:solidFill>
              <a:srgbClr val="2A9D8F"/>
            </a:solidFill>
            <a:prstDash val="solid"/>
          </a:ln>
        </p:spPr>
      </p:sp>
      <p:sp>
        <p:nvSpPr>
          <p:cNvPr id="1138436293" name=""/>
          <p:cNvSpPr>
            <a:spLocks noGrp="1"/>
          </p:cNvSpPr>
          <p:nvPr/>
        </p:nvSpPr>
        <p:spPr bwMode="auto">
          <a:xfrm>
            <a:off x="990600" y="2876550"/>
            <a:ext cx="417195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1350" b="1" i="0">
                <a:solidFill>
                  <a:srgbClr val="243B53"/>
                </a:solidFill>
              </a:defRPr>
            </a:pPr>
            <a:r>
              <a:rPr sz="1350" b="1" i="0">
                <a:solidFill>
                  <a:srgbClr val="243B53"/>
                </a:solidFill>
              </a:rPr>
              <a:t>Bounded exhaustive validation</a:t>
            </a:r>
            <a:endParaRPr/>
          </a:p>
          <a:p>
            <a:pPr algn="ctr">
              <a:lnSpc>
                <a:spcPct val="105000"/>
              </a:lnSpc>
              <a:buNone/>
              <a:defRPr sz="1350" b="1" i="0">
                <a:solidFill>
                  <a:srgbClr val="243B53"/>
                </a:solidFill>
              </a:defRPr>
            </a:pPr>
            <a:r>
              <a:rPr sz="1350" b="1" i="0">
                <a:solidFill>
                  <a:srgbClr val="243B53"/>
                </a:solidFill>
              </a:rPr>
              <a:t>2,074 oracle-valid permutations, n ≤ 8</a:t>
            </a:r>
            <a:endParaRPr/>
          </a:p>
        </p:txBody>
      </p:sp>
      <p:sp>
        <p:nvSpPr>
          <p:cNvPr id="1587130933" name=""/>
          <p:cNvSpPr>
            <a:spLocks noGrp="1"/>
          </p:cNvSpPr>
          <p:nvPr/>
        </p:nvSpPr>
        <p:spPr bwMode="auto">
          <a:xfrm>
            <a:off x="838200" y="3829050"/>
            <a:ext cx="4476750" cy="609600"/>
          </a:xfrm>
          <a:prstGeom prst="roundRect">
            <a:avLst>
              <a:gd name="adj" fmla="val 10938"/>
            </a:avLst>
          </a:prstGeom>
          <a:solidFill>
            <a:srgbClr val="E8F5F3"/>
          </a:solidFill>
          <a:ln w="11430">
            <a:solidFill>
              <a:srgbClr val="2A9D8F"/>
            </a:solidFill>
            <a:prstDash val="solid"/>
          </a:ln>
        </p:spPr>
      </p:sp>
      <p:sp>
        <p:nvSpPr>
          <p:cNvPr id="1845343013" name=""/>
          <p:cNvSpPr>
            <a:spLocks noGrp="1"/>
          </p:cNvSpPr>
          <p:nvPr/>
        </p:nvSpPr>
        <p:spPr bwMode="auto">
          <a:xfrm>
            <a:off x="990600" y="3905250"/>
            <a:ext cx="41719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Checked-state audits</a:t>
            </a:r>
            <a:endParaRPr/>
          </a:p>
        </p:txBody>
      </p:sp>
      <p:sp>
        <p:nvSpPr>
          <p:cNvPr id="1517770393" name=""/>
          <p:cNvSpPr>
            <a:spLocks noGrp="1"/>
          </p:cNvSpPr>
          <p:nvPr/>
        </p:nvSpPr>
        <p:spPr bwMode="auto">
          <a:xfrm>
            <a:off x="838200" y="4705350"/>
            <a:ext cx="4476750" cy="609600"/>
          </a:xfrm>
          <a:prstGeom prst="roundRect">
            <a:avLst>
              <a:gd name="adj" fmla="val 10938"/>
            </a:avLst>
          </a:prstGeom>
          <a:solidFill>
            <a:srgbClr val="E8F5F3"/>
          </a:solidFill>
          <a:ln w="11430">
            <a:solidFill>
              <a:srgbClr val="2A9D8F"/>
            </a:solidFill>
            <a:prstDash val="solid"/>
          </a:ln>
        </p:spPr>
      </p:sp>
      <p:sp>
        <p:nvSpPr>
          <p:cNvPr id="397158375" name=""/>
          <p:cNvSpPr>
            <a:spLocks noGrp="1"/>
          </p:cNvSpPr>
          <p:nvPr/>
        </p:nvSpPr>
        <p:spPr bwMode="auto">
          <a:xfrm>
            <a:off x="990600" y="4781550"/>
            <a:ext cx="41719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Same-core deterministic replay</a:t>
            </a:r>
            <a:endParaRPr/>
          </a:p>
        </p:txBody>
      </p:sp>
      <p:sp>
        <p:nvSpPr>
          <p:cNvPr id="1971102670" name=""/>
          <p:cNvSpPr>
            <a:spLocks noGrp="1"/>
          </p:cNvSpPr>
          <p:nvPr/>
        </p:nvSpPr>
        <p:spPr bwMode="auto">
          <a:xfrm>
            <a:off x="6877050" y="2209800"/>
            <a:ext cx="4476750" cy="2381250"/>
          </a:xfrm>
          <a:prstGeom prst="roundRect">
            <a:avLst>
              <a:gd name="adj" fmla="val 3200"/>
            </a:avLst>
          </a:prstGeom>
          <a:solidFill>
            <a:srgbClr val="FCEEEA"/>
          </a:solidFill>
          <a:ln w="14288">
            <a:solidFill>
              <a:srgbClr val="E76F51"/>
            </a:solidFill>
            <a:prstDash val="solid"/>
          </a:ln>
        </p:spPr>
      </p:sp>
      <p:sp>
        <p:nvSpPr>
          <p:cNvPr id="1137822089" name=""/>
          <p:cNvSpPr>
            <a:spLocks noGrp="1"/>
          </p:cNvSpPr>
          <p:nvPr/>
        </p:nvSpPr>
        <p:spPr bwMode="auto">
          <a:xfrm>
            <a:off x="7219950" y="2686050"/>
            <a:ext cx="3790949" cy="1352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1750" b="1" i="0">
                <a:solidFill>
                  <a:srgbClr val="243B53"/>
                </a:solidFill>
              </a:defRPr>
            </a:pPr>
            <a:r>
              <a:rPr sz="1750" b="1" i="0">
                <a:solidFill>
                  <a:srgbClr val="243B53"/>
                </a:solidFill>
              </a:rPr>
              <a:t>Check saved experiment records against the fixed setup and recompute their summaries.</a:t>
            </a:r>
            <a:endParaRPr/>
          </a:p>
        </p:txBody>
      </p:sp>
      <p:sp>
        <p:nvSpPr>
          <p:cNvPr id="1262032130" name=""/>
          <p:cNvSpPr>
            <a:spLocks noGrp="1"/>
          </p:cNvSpPr>
          <p:nvPr/>
        </p:nvSpPr>
        <p:spPr bwMode="auto">
          <a:xfrm>
            <a:off x="7239000" y="4819650"/>
            <a:ext cx="37528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1300" b="0" i="0">
                <a:solidFill>
                  <a:srgbClr val="52606D"/>
                </a:solidFill>
              </a:defRPr>
            </a:pPr>
            <a:r>
              <a:rPr sz="1300" b="0" i="0">
                <a:solidFill>
                  <a:srgbClr val="52606D"/>
                </a:solidFill>
              </a:rPr>
              <a:t>Experiment records and summary consistency</a:t>
            </a:r>
            <a:endParaRPr/>
          </a:p>
        </p:txBody>
      </p:sp>
      <p:sp>
        <p:nvSpPr>
          <p:cNvPr id="767960643" name=""/>
          <p:cNvSpPr>
            <a:spLocks noGrp="1"/>
          </p:cNvSpPr>
          <p:nvPr/>
        </p:nvSpPr>
        <p:spPr bwMode="auto">
          <a:xfrm>
            <a:off x="1333500" y="5810250"/>
            <a:ext cx="95250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96917"/>
          </a:bodyPr>
          <a:lstStyle/>
          <a:p>
            <a:pPr algn="ctr">
              <a:lnSpc>
                <a:spcPct val="105000"/>
              </a:lnSpc>
              <a:buNone/>
              <a:defRPr sz="1600" b="1" i="0">
                <a:solidFill>
                  <a:srgbClr val="102A43"/>
                </a:solidFill>
              </a:defRPr>
            </a:pPr>
            <a:r>
              <a:rPr sz="1600" b="1" i="0">
                <a:solidFill>
                  <a:srgbClr val="102A43"/>
                </a:solidFill>
              </a:rPr>
              <a:t>These checks support the evaluated cases. They do not prove correctness for every Jordan sequence.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7FAFC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4153087" name=""/>
          <p:cNvSpPr>
            <a:spLocks noGrp="1"/>
          </p:cNvSpPr>
          <p:nvPr/>
        </p:nvSpPr>
        <p:spPr bwMode="auto">
          <a:xfrm>
            <a:off x="628650" y="247650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900" b="1" i="0">
                <a:solidFill>
                  <a:srgbClr val="2A9D8F"/>
                </a:solidFill>
              </a:defRPr>
            </a:pPr>
            <a:r>
              <a:rPr sz="900" b="1" i="0">
                <a:solidFill>
                  <a:srgbClr val="2A9D8F"/>
                </a:solidFill>
              </a:rPr>
              <a:t>EXPERIMENTAL METHOD</a:t>
            </a:r>
            <a:endParaRPr/>
          </a:p>
        </p:txBody>
      </p:sp>
      <p:sp>
        <p:nvSpPr>
          <p:cNvPr id="1200443247" name=""/>
          <p:cNvSpPr>
            <a:spLocks noGrp="1"/>
          </p:cNvSpPr>
          <p:nvPr/>
        </p:nvSpPr>
        <p:spPr bwMode="auto">
          <a:xfrm>
            <a:off x="609600" y="514350"/>
            <a:ext cx="109728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Runtime experiment: inputs and measurement</a:t>
            </a:r>
            <a:endParaRPr/>
          </a:p>
        </p:txBody>
      </p:sp>
      <p:sp>
        <p:nvSpPr>
          <p:cNvPr id="2024258663" name=""/>
          <p:cNvSpPr>
            <a:spLocks noGrp="1"/>
          </p:cNvSpPr>
          <p:nvPr/>
        </p:nvSpPr>
        <p:spPr bwMode="auto">
          <a:xfrm>
            <a:off x="609600" y="1085850"/>
            <a:ext cx="10972800" cy="9525"/>
          </a:xfrm>
          <a:prstGeom prst="line">
            <a:avLst/>
          </a:prstGeom>
          <a:noFill/>
          <a:ln w="28575">
            <a:solidFill>
              <a:srgbClr val="2A9D8F"/>
            </a:solidFill>
            <a:prstDash val="solid"/>
          </a:ln>
        </p:spPr>
      </p:sp>
      <p:sp>
        <p:nvSpPr>
          <p:cNvPr id="334474104" name=""/>
          <p:cNvSpPr>
            <a:spLocks noGrp="1"/>
          </p:cNvSpPr>
          <p:nvPr/>
        </p:nvSpPr>
        <p:spPr bwMode="auto">
          <a:xfrm>
            <a:off x="609600" y="6477000"/>
            <a:ext cx="10972800" cy="9525"/>
          </a:xfrm>
          <a:prstGeom prst="line">
            <a:avLst/>
          </a:prstGeom>
          <a:noFill/>
          <a:ln w="9525">
            <a:solidFill>
              <a:srgbClr val="D9E2EC"/>
            </a:solidFill>
            <a:prstDash val="solid"/>
          </a:ln>
        </p:spPr>
      </p:sp>
      <p:sp>
        <p:nvSpPr>
          <p:cNvPr id="1510608850" name=""/>
          <p:cNvSpPr>
            <a:spLocks noGrp="1"/>
          </p:cNvSpPr>
          <p:nvPr/>
        </p:nvSpPr>
        <p:spPr bwMode="auto">
          <a:xfrm>
            <a:off x="647700" y="6534150"/>
            <a:ext cx="3619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850" b="1" i="0">
                <a:solidFill>
                  <a:srgbClr val="7B8794"/>
                </a:solidFill>
              </a:defRPr>
            </a:pPr>
            <a:r>
              <a:rPr sz="850" b="1" i="0">
                <a:solidFill>
                  <a:srgbClr val="7B8794"/>
                </a:solidFill>
              </a:rPr>
              <a:t>MASTER'S THESIS PROGRESS REPORT</a:t>
            </a:r>
            <a:endParaRPr/>
          </a:p>
        </p:txBody>
      </p:sp>
      <p:sp>
        <p:nvSpPr>
          <p:cNvPr id="390196522" name=""/>
          <p:cNvSpPr>
            <a:spLocks noGrp="1"/>
          </p:cNvSpPr>
          <p:nvPr/>
        </p:nvSpPr>
        <p:spPr bwMode="auto">
          <a:xfrm>
            <a:off x="10668000" y="6534150"/>
            <a:ext cx="876299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100000"/>
          </a:bodyPr>
          <a:lstStyle/>
          <a:p>
            <a:pPr algn="r">
              <a:lnSpc>
                <a:spcPct val="105000"/>
              </a:lnSpc>
              <a:buNone/>
              <a:defRPr sz="850" b="1" i="0">
                <a:solidFill>
                  <a:srgbClr val="7B8794"/>
                </a:solidFill>
              </a:defRPr>
            </a:pPr>
            <a:r>
              <a:rPr sz="850" b="1" i="0">
                <a:solidFill>
                  <a:srgbClr val="7B8794"/>
                </a:solidFill>
              </a:rPr>
              <a:t>12 / 16</a:t>
            </a:r>
            <a:endParaRPr/>
          </a:p>
        </p:txBody>
      </p:sp>
      <p:sp>
        <p:nvSpPr>
          <p:cNvPr id="700446419" name=""/>
          <p:cNvSpPr>
            <a:spLocks noGrp="1"/>
          </p:cNvSpPr>
          <p:nvPr/>
        </p:nvSpPr>
        <p:spPr bwMode="auto">
          <a:xfrm>
            <a:off x="781050" y="1352550"/>
            <a:ext cx="61912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950" b="1" i="0">
                <a:solidFill>
                  <a:srgbClr val="102A43"/>
                </a:solidFill>
              </a:defRPr>
            </a:pPr>
            <a:r>
              <a:rPr sz="1950" b="1" i="0">
                <a:solidFill>
                  <a:srgbClr val="102A43"/>
                </a:solidFill>
              </a:rPr>
              <a:t>n = 32, 64, 128, 256, 512</a:t>
            </a:r>
            <a:endParaRPr/>
          </a:p>
        </p:txBody>
      </p:sp>
      <p:sp>
        <p:nvSpPr>
          <p:cNvPr id="1992161964" name=""/>
          <p:cNvSpPr>
            <a:spLocks noGrp="1"/>
          </p:cNvSpPr>
          <p:nvPr/>
        </p:nvSpPr>
        <p:spPr bwMode="auto">
          <a:xfrm>
            <a:off x="7239000" y="1352550"/>
            <a:ext cx="41338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100000"/>
          </a:bodyPr>
          <a:lstStyle/>
          <a:p>
            <a:pPr algn="r">
              <a:lnSpc>
                <a:spcPct val="105000"/>
              </a:lnSpc>
              <a:buNone/>
              <a:defRPr sz="1800" b="1" i="0">
                <a:solidFill>
                  <a:srgbClr val="2A9D8F"/>
                </a:solidFill>
              </a:defRPr>
            </a:pPr>
            <a:r>
              <a:rPr sz="1800" b="1" i="0">
                <a:solidFill>
                  <a:srgbClr val="2A9D8F"/>
                </a:solidFill>
              </a:rPr>
              <a:t>12 inputs per size · 60 total</a:t>
            </a:r>
            <a:endParaRPr/>
          </a:p>
        </p:txBody>
      </p:sp>
      <p:sp>
        <p:nvSpPr>
          <p:cNvPr id="682248038" name=""/>
          <p:cNvSpPr>
            <a:spLocks noGrp="1"/>
          </p:cNvSpPr>
          <p:nvPr/>
        </p:nvSpPr>
        <p:spPr bwMode="auto">
          <a:xfrm>
            <a:off x="857250" y="1876425"/>
            <a:ext cx="2190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450" b="1" i="0">
                <a:solidFill>
                  <a:srgbClr val="52606D"/>
                </a:solidFill>
              </a:defRPr>
            </a:pPr>
            <a:r>
              <a:rPr sz="1450" b="1" i="0">
                <a:solidFill>
                  <a:srgbClr val="52606D"/>
                </a:solidFill>
              </a:rPr>
              <a:t>Input type</a:t>
            </a:r>
            <a:endParaRPr/>
          </a:p>
        </p:txBody>
      </p:sp>
      <p:sp>
        <p:nvSpPr>
          <p:cNvPr id="943248852" name=""/>
          <p:cNvSpPr>
            <a:spLocks noGrp="1"/>
          </p:cNvSpPr>
          <p:nvPr/>
        </p:nvSpPr>
        <p:spPr bwMode="auto">
          <a:xfrm>
            <a:off x="3257550" y="1876425"/>
            <a:ext cx="1143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450" b="1" i="0">
                <a:solidFill>
                  <a:srgbClr val="52606D"/>
                </a:solidFill>
              </a:defRPr>
            </a:pPr>
            <a:r>
              <a:rPr sz="1450" b="1" i="0">
                <a:solidFill>
                  <a:srgbClr val="52606D"/>
                </a:solidFill>
              </a:rPr>
              <a:t>Per size</a:t>
            </a:r>
            <a:endParaRPr/>
          </a:p>
        </p:txBody>
      </p:sp>
      <p:sp>
        <p:nvSpPr>
          <p:cNvPr id="263958718" name=""/>
          <p:cNvSpPr>
            <a:spLocks noGrp="1"/>
          </p:cNvSpPr>
          <p:nvPr/>
        </p:nvSpPr>
        <p:spPr bwMode="auto">
          <a:xfrm>
            <a:off x="4933950" y="1876425"/>
            <a:ext cx="63055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450" b="1" i="0">
                <a:solidFill>
                  <a:srgbClr val="52606D"/>
                </a:solidFill>
              </a:defRPr>
            </a:pPr>
            <a:r>
              <a:rPr sz="1450" b="1" i="0">
                <a:solidFill>
                  <a:srgbClr val="52606D"/>
                </a:solidFill>
              </a:rPr>
              <a:t>Construction</a:t>
            </a:r>
            <a:endParaRPr/>
          </a:p>
        </p:txBody>
      </p:sp>
      <p:sp>
        <p:nvSpPr>
          <p:cNvPr id="520692696" name=""/>
          <p:cNvSpPr>
            <a:spLocks noGrp="1"/>
          </p:cNvSpPr>
          <p:nvPr/>
        </p:nvSpPr>
        <p:spPr bwMode="auto">
          <a:xfrm>
            <a:off x="857250" y="2238375"/>
            <a:ext cx="2190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750" b="1" i="0">
                <a:solidFill>
                  <a:srgbClr val="102A43"/>
                </a:solidFill>
              </a:defRPr>
            </a:pPr>
            <a:r>
              <a:rPr sz="1750" b="1" i="0">
                <a:solidFill>
                  <a:srgbClr val="102A43"/>
                </a:solidFill>
              </a:rPr>
              <a:t>Flat</a:t>
            </a:r>
            <a:endParaRPr/>
          </a:p>
        </p:txBody>
      </p:sp>
      <p:sp>
        <p:nvSpPr>
          <p:cNvPr id="1730586337" name=""/>
          <p:cNvSpPr>
            <a:spLocks noGrp="1"/>
          </p:cNvSpPr>
          <p:nvPr/>
        </p:nvSpPr>
        <p:spPr bwMode="auto">
          <a:xfrm>
            <a:off x="3448050" y="2238375"/>
            <a:ext cx="952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750" b="0" i="0">
                <a:solidFill>
                  <a:srgbClr val="2A9D8F"/>
                </a:solidFill>
              </a:defRPr>
            </a:pPr>
            <a:r>
              <a:rPr sz="1750" b="0" i="0">
                <a:solidFill>
                  <a:srgbClr val="2A9D8F"/>
                </a:solidFill>
              </a:rPr>
              <a:t>1</a:t>
            </a:r>
            <a:endParaRPr/>
          </a:p>
        </p:txBody>
      </p:sp>
      <p:sp>
        <p:nvSpPr>
          <p:cNvPr id="1259554251" name=""/>
          <p:cNvSpPr>
            <a:spLocks noGrp="1"/>
          </p:cNvSpPr>
          <p:nvPr/>
        </p:nvSpPr>
        <p:spPr bwMode="auto">
          <a:xfrm>
            <a:off x="4933950" y="2238375"/>
            <a:ext cx="63055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650" b="0" i="0">
                <a:solidFill>
                  <a:srgbClr val="243B53"/>
                </a:solidFill>
              </a:defRPr>
            </a:pPr>
            <a:r>
              <a:rPr sz="1650" b="0" i="0">
                <a:solidFill>
                  <a:srgbClr val="243B53"/>
                </a:solidFill>
              </a:rPr>
              <a:t>[1, 2, 3, …, n]</a:t>
            </a:r>
            <a:endParaRPr/>
          </a:p>
        </p:txBody>
      </p:sp>
      <p:sp>
        <p:nvSpPr>
          <p:cNvPr id="2097518474" name=""/>
          <p:cNvSpPr>
            <a:spLocks noGrp="1"/>
          </p:cNvSpPr>
          <p:nvPr/>
        </p:nvSpPr>
        <p:spPr bwMode="auto">
          <a:xfrm>
            <a:off x="857250" y="2676525"/>
            <a:ext cx="2190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750" b="1" i="0">
                <a:solidFill>
                  <a:srgbClr val="102A43"/>
                </a:solidFill>
              </a:defRPr>
            </a:pPr>
            <a:r>
              <a:rPr sz="1750" b="1" i="0">
                <a:solidFill>
                  <a:srgbClr val="102A43"/>
                </a:solidFill>
              </a:rPr>
              <a:t>Nested</a:t>
            </a:r>
            <a:endParaRPr/>
          </a:p>
        </p:txBody>
      </p:sp>
      <p:sp>
        <p:nvSpPr>
          <p:cNvPr id="1667612015" name=""/>
          <p:cNvSpPr>
            <a:spLocks noGrp="1"/>
          </p:cNvSpPr>
          <p:nvPr/>
        </p:nvSpPr>
        <p:spPr bwMode="auto">
          <a:xfrm>
            <a:off x="3448050" y="2676525"/>
            <a:ext cx="952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750" b="0" i="0">
                <a:solidFill>
                  <a:srgbClr val="2A9D8F"/>
                </a:solidFill>
              </a:defRPr>
            </a:pPr>
            <a:r>
              <a:rPr sz="1750" b="0" i="0">
                <a:solidFill>
                  <a:srgbClr val="2A9D8F"/>
                </a:solidFill>
              </a:rPr>
              <a:t>1</a:t>
            </a:r>
            <a:endParaRPr/>
          </a:p>
        </p:txBody>
      </p:sp>
      <p:sp>
        <p:nvSpPr>
          <p:cNvPr id="1322180853" name=""/>
          <p:cNvSpPr>
            <a:spLocks noGrp="1"/>
          </p:cNvSpPr>
          <p:nvPr/>
        </p:nvSpPr>
        <p:spPr bwMode="auto">
          <a:xfrm>
            <a:off x="4933950" y="2676525"/>
            <a:ext cx="63055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650" b="0" i="0">
                <a:solidFill>
                  <a:srgbClr val="243B53"/>
                </a:solidFill>
              </a:defRPr>
            </a:pPr>
            <a:r>
              <a:rPr sz="1650" b="0" i="0">
                <a:solidFill>
                  <a:srgbClr val="243B53"/>
                </a:solidFill>
              </a:rPr>
              <a:t>[1, n, 2, n−1, …]</a:t>
            </a:r>
            <a:endParaRPr/>
          </a:p>
        </p:txBody>
      </p:sp>
      <p:sp>
        <p:nvSpPr>
          <p:cNvPr id="238118677" name=""/>
          <p:cNvSpPr>
            <a:spLocks noGrp="1"/>
          </p:cNvSpPr>
          <p:nvPr/>
        </p:nvSpPr>
        <p:spPr bwMode="auto">
          <a:xfrm>
            <a:off x="857250" y="3114675"/>
            <a:ext cx="2190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750" b="1" i="0">
                <a:solidFill>
                  <a:srgbClr val="102A43"/>
                </a:solidFill>
              </a:defRPr>
            </a:pPr>
            <a:r>
              <a:rPr sz="1750" b="1" i="0">
                <a:solidFill>
                  <a:srgbClr val="102A43"/>
                </a:solidFill>
              </a:rPr>
              <a:t>Incremental</a:t>
            </a:r>
            <a:endParaRPr/>
          </a:p>
        </p:txBody>
      </p:sp>
      <p:sp>
        <p:nvSpPr>
          <p:cNvPr id="840782157" name=""/>
          <p:cNvSpPr>
            <a:spLocks noGrp="1"/>
          </p:cNvSpPr>
          <p:nvPr/>
        </p:nvSpPr>
        <p:spPr bwMode="auto">
          <a:xfrm>
            <a:off x="3448050" y="3114675"/>
            <a:ext cx="952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750" b="0" i="0">
                <a:solidFill>
                  <a:srgbClr val="2A9D8F"/>
                </a:solidFill>
              </a:defRPr>
            </a:pPr>
            <a:r>
              <a:rPr sz="1750" b="0" i="0">
                <a:solidFill>
                  <a:srgbClr val="2A9D8F"/>
                </a:solidFill>
              </a:rPr>
              <a:t>10</a:t>
            </a:r>
            <a:endParaRPr/>
          </a:p>
        </p:txBody>
      </p:sp>
      <p:sp>
        <p:nvSpPr>
          <p:cNvPr id="869865887" name=""/>
          <p:cNvSpPr>
            <a:spLocks noGrp="1"/>
          </p:cNvSpPr>
          <p:nvPr/>
        </p:nvSpPr>
        <p:spPr bwMode="auto">
          <a:xfrm>
            <a:off x="4933950" y="3114675"/>
            <a:ext cx="63055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650" b="0" i="0">
                <a:solidFill>
                  <a:srgbClr val="243B53"/>
                </a:solidFill>
              </a:defRPr>
            </a:pPr>
            <a:r>
              <a:rPr sz="1650" b="0" i="0">
                <a:solidFill>
                  <a:srgbClr val="243B53"/>
                </a:solidFill>
              </a:rPr>
              <a:t>Fixed seeds; validity checked during construction</a:t>
            </a:r>
            <a:endParaRPr/>
          </a:p>
        </p:txBody>
      </p:sp>
      <p:sp>
        <p:nvSpPr>
          <p:cNvPr id="1288554811" name=""/>
          <p:cNvSpPr>
            <a:spLocks noGrp="1"/>
          </p:cNvSpPr>
          <p:nvPr/>
        </p:nvSpPr>
        <p:spPr bwMode="auto">
          <a:xfrm>
            <a:off x="800100" y="3667125"/>
            <a:ext cx="10591799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750" b="1" i="0">
                <a:solidFill>
                  <a:srgbClr val="102A43"/>
                </a:solidFill>
              </a:defRPr>
            </a:pPr>
            <a:r>
              <a:rPr sz="1750" b="1" i="0">
                <a:solidFill>
                  <a:srgbClr val="102A43"/>
                </a:solidFill>
              </a:rPr>
              <a:t>5 warm-ups, then 20 measured calls per input and algorithm</a:t>
            </a:r>
            <a:endParaRPr/>
          </a:p>
        </p:txBody>
      </p:sp>
      <p:sp>
        <p:nvSpPr>
          <p:cNvPr id="1087403106" name=""/>
          <p:cNvSpPr>
            <a:spLocks noGrp="1"/>
          </p:cNvSpPr>
          <p:nvPr/>
        </p:nvSpPr>
        <p:spPr bwMode="auto">
          <a:xfrm>
            <a:off x="800100" y="4029075"/>
            <a:ext cx="10591799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750" b="1" i="0">
                <a:solidFill>
                  <a:srgbClr val="2A9D8F"/>
                </a:solidFill>
              </a:defRPr>
            </a:pPr>
            <a:r>
              <a:rPr sz="1750" b="1" i="0">
                <a:solidFill>
                  <a:srgbClr val="2A9D8F"/>
                </a:solidFill>
              </a:rPr>
              <a:t>60 inputs × 3 algorithms × 20 calls = 3,600 measured rows</a:t>
            </a:r>
            <a:endParaRPr/>
          </a:p>
        </p:txBody>
      </p:sp>
      <p:sp>
        <p:nvSpPr>
          <p:cNvPr id="216464319" name=""/>
          <p:cNvSpPr>
            <a:spLocks noGrp="1"/>
          </p:cNvSpPr>
          <p:nvPr/>
        </p:nvSpPr>
        <p:spPr bwMode="auto">
          <a:xfrm>
            <a:off x="800100" y="4514850"/>
            <a:ext cx="10591799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Before paper timing: certification and one checked-state audit per case</a:t>
            </a:r>
            <a:endParaRPr/>
          </a:p>
        </p:txBody>
      </p:sp>
      <p:sp>
        <p:nvSpPr>
          <p:cNvPr id="297597354" name=""/>
          <p:cNvSpPr>
            <a:spLocks noGrp="1"/>
          </p:cNvSpPr>
          <p:nvPr/>
        </p:nvSpPr>
        <p:spPr bwMode="auto">
          <a:xfrm>
            <a:off x="800100" y="4857750"/>
            <a:ext cx="10591799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Paper minimal: same core, all points; no detailed trace, fewer diagnostic checks</a:t>
            </a:r>
            <a:endParaRPr/>
          </a:p>
        </p:txBody>
      </p:sp>
      <p:sp>
        <p:nvSpPr>
          <p:cNvPr id="954417580" name=""/>
          <p:cNvSpPr>
            <a:spLocks noGrp="1"/>
          </p:cNvSpPr>
          <p:nvPr/>
        </p:nvSpPr>
        <p:spPr bwMode="auto">
          <a:xfrm>
            <a:off x="800100" y="5200650"/>
            <a:ext cx="10591799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500" b="1" i="0">
                <a:solidFill>
                  <a:srgbClr val="E76F51"/>
                </a:solidFill>
              </a:defRPr>
            </a:pPr>
            <a:r>
              <a:rPr sz="1500" b="1" i="0">
                <a:solidFill>
                  <a:srgbClr val="E76F51"/>
                </a:solidFill>
              </a:rPr>
              <a:t>Timed paper call: initialization, Steps 1–3, and output recovery</a:t>
            </a:r>
            <a:endParaRPr/>
          </a:p>
        </p:txBody>
      </p:sp>
      <p:sp>
        <p:nvSpPr>
          <p:cNvPr id="415542189" name=""/>
          <p:cNvSpPr>
            <a:spLocks noGrp="1"/>
          </p:cNvSpPr>
          <p:nvPr/>
        </p:nvSpPr>
        <p:spPr bwMode="auto">
          <a:xfrm>
            <a:off x="800100" y="5619750"/>
            <a:ext cx="10591799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500" b="0" i="0">
                <a:solidFill>
                  <a:srgbClr val="52606D"/>
                </a:solidFill>
              </a:defRPr>
            </a:pPr>
            <a:r>
              <a:rPr sz="1500" b="0" i="0">
                <a:solidFill>
                  <a:srgbClr val="52606D"/>
                </a:solidFill>
              </a:rPr>
              <a:t>Python: sorting call. Reference: complete oracle-backed pipeline.</a:t>
            </a:r>
            <a:endParaRPr/>
          </a:p>
        </p:txBody>
      </p:sp>
      <p:sp>
        <p:nvSpPr>
          <p:cNvPr id="2123368361" name=""/>
          <p:cNvSpPr>
            <a:spLocks noGrp="1"/>
          </p:cNvSpPr>
          <p:nvPr/>
        </p:nvSpPr>
        <p:spPr bwMode="auto">
          <a:xfrm>
            <a:off x="800100" y="5962650"/>
            <a:ext cx="10591799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450" b="0" i="0">
                <a:solidFill>
                  <a:srgbClr val="52606D"/>
                </a:solidFill>
              </a:defRPr>
            </a:pPr>
            <a:r>
              <a:rPr sz="1450" b="0" i="0">
                <a:solidFill>
                  <a:srgbClr val="52606D"/>
                </a:solidFill>
              </a:rPr>
              <a:t>Output comparison follows timing. Runtime focus: paper core and Python sort.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7FAFC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6812186" name=""/>
          <p:cNvSpPr>
            <a:spLocks noGrp="1"/>
          </p:cNvSpPr>
          <p:nvPr/>
        </p:nvSpPr>
        <p:spPr bwMode="auto">
          <a:xfrm>
            <a:off x="628650" y="247650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900" b="1" i="0">
                <a:solidFill>
                  <a:srgbClr val="2A9D8F"/>
                </a:solidFill>
              </a:defRPr>
            </a:pPr>
            <a:r>
              <a:rPr sz="900" b="1" i="0">
                <a:solidFill>
                  <a:srgbClr val="2A9D8F"/>
                </a:solidFill>
              </a:rPr>
              <a:t>RESULTS</a:t>
            </a:r>
            <a:endParaRPr/>
          </a:p>
        </p:txBody>
      </p:sp>
      <p:sp>
        <p:nvSpPr>
          <p:cNvPr id="400161442" name=""/>
          <p:cNvSpPr>
            <a:spLocks noGrp="1"/>
          </p:cNvSpPr>
          <p:nvPr/>
        </p:nvSpPr>
        <p:spPr bwMode="auto">
          <a:xfrm>
            <a:off x="609600" y="514350"/>
            <a:ext cx="109728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All 60 cases in the runtime experiment returned the correct output</a:t>
            </a:r>
            <a:endParaRPr/>
          </a:p>
        </p:txBody>
      </p:sp>
      <p:sp>
        <p:nvSpPr>
          <p:cNvPr id="1426136864" name=""/>
          <p:cNvSpPr>
            <a:spLocks noGrp="1"/>
          </p:cNvSpPr>
          <p:nvPr/>
        </p:nvSpPr>
        <p:spPr bwMode="auto">
          <a:xfrm>
            <a:off x="609600" y="1085850"/>
            <a:ext cx="10972800" cy="9525"/>
          </a:xfrm>
          <a:prstGeom prst="line">
            <a:avLst/>
          </a:prstGeom>
          <a:noFill/>
          <a:ln w="28575">
            <a:solidFill>
              <a:srgbClr val="2A9D8F"/>
            </a:solidFill>
            <a:prstDash val="solid"/>
          </a:ln>
        </p:spPr>
      </p:sp>
      <p:sp>
        <p:nvSpPr>
          <p:cNvPr id="731710777" name=""/>
          <p:cNvSpPr>
            <a:spLocks noGrp="1"/>
          </p:cNvSpPr>
          <p:nvPr/>
        </p:nvSpPr>
        <p:spPr bwMode="auto">
          <a:xfrm>
            <a:off x="609600" y="6477000"/>
            <a:ext cx="10972800" cy="9525"/>
          </a:xfrm>
          <a:prstGeom prst="line">
            <a:avLst/>
          </a:prstGeom>
          <a:noFill/>
          <a:ln w="9525">
            <a:solidFill>
              <a:srgbClr val="D9E2EC"/>
            </a:solidFill>
            <a:prstDash val="solid"/>
          </a:ln>
        </p:spPr>
      </p:sp>
      <p:sp>
        <p:nvSpPr>
          <p:cNvPr id="1037324664" name=""/>
          <p:cNvSpPr>
            <a:spLocks noGrp="1"/>
          </p:cNvSpPr>
          <p:nvPr/>
        </p:nvSpPr>
        <p:spPr bwMode="auto">
          <a:xfrm>
            <a:off x="647700" y="6534150"/>
            <a:ext cx="3619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850" b="1" i="0">
                <a:solidFill>
                  <a:srgbClr val="7B8794"/>
                </a:solidFill>
              </a:defRPr>
            </a:pPr>
            <a:r>
              <a:rPr sz="850" b="1" i="0">
                <a:solidFill>
                  <a:srgbClr val="7B8794"/>
                </a:solidFill>
              </a:rPr>
              <a:t>MASTER'S THESIS PROGRESS REPORT</a:t>
            </a:r>
            <a:endParaRPr/>
          </a:p>
        </p:txBody>
      </p:sp>
      <p:sp>
        <p:nvSpPr>
          <p:cNvPr id="868883166" name=""/>
          <p:cNvSpPr>
            <a:spLocks noGrp="1"/>
          </p:cNvSpPr>
          <p:nvPr/>
        </p:nvSpPr>
        <p:spPr bwMode="auto">
          <a:xfrm>
            <a:off x="10668000" y="6534150"/>
            <a:ext cx="876299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100000"/>
          </a:bodyPr>
          <a:lstStyle/>
          <a:p>
            <a:pPr algn="r">
              <a:lnSpc>
                <a:spcPct val="105000"/>
              </a:lnSpc>
              <a:buNone/>
              <a:defRPr sz="850" b="1" i="0">
                <a:solidFill>
                  <a:srgbClr val="7B8794"/>
                </a:solidFill>
              </a:defRPr>
            </a:pPr>
            <a:r>
              <a:rPr sz="850" b="1" i="0">
                <a:solidFill>
                  <a:srgbClr val="7B8794"/>
                </a:solidFill>
              </a:rPr>
              <a:t>13 / 16</a:t>
            </a:r>
            <a:endParaRPr/>
          </a:p>
        </p:txBody>
      </p:sp>
      <p:sp>
        <p:nvSpPr>
          <p:cNvPr id="1942641922" name=""/>
          <p:cNvSpPr>
            <a:spLocks noGrp="1"/>
          </p:cNvSpPr>
          <p:nvPr/>
        </p:nvSpPr>
        <p:spPr bwMode="auto">
          <a:xfrm>
            <a:off x="1238250" y="1676400"/>
            <a:ext cx="3905250" cy="952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5400" b="1" i="0">
                <a:solidFill>
                  <a:srgbClr val="2A9D8F"/>
                </a:solidFill>
              </a:defRPr>
            </a:pPr>
            <a:r>
              <a:rPr sz="5400" b="1" i="0">
                <a:solidFill>
                  <a:srgbClr val="2A9D8F"/>
                </a:solidFill>
              </a:rPr>
              <a:t>60</a:t>
            </a:r>
            <a:endParaRPr/>
          </a:p>
        </p:txBody>
      </p:sp>
      <p:sp>
        <p:nvSpPr>
          <p:cNvPr id="464215551" name=""/>
          <p:cNvSpPr>
            <a:spLocks noGrp="1"/>
          </p:cNvSpPr>
          <p:nvPr/>
        </p:nvSpPr>
        <p:spPr bwMode="auto">
          <a:xfrm>
            <a:off x="1238250" y="2647949"/>
            <a:ext cx="3905250" cy="43814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1950" b="1" i="0">
                <a:solidFill>
                  <a:srgbClr val="102A43"/>
                </a:solidFill>
              </a:defRPr>
            </a:pPr>
            <a:r>
              <a:rPr sz="1950" b="1" i="0">
                <a:solidFill>
                  <a:srgbClr val="102A43"/>
                </a:solidFill>
              </a:rPr>
              <a:t>exact cases</a:t>
            </a:r>
            <a:endParaRPr/>
          </a:p>
        </p:txBody>
      </p:sp>
      <p:sp>
        <p:nvSpPr>
          <p:cNvPr id="983105074" name=""/>
          <p:cNvSpPr>
            <a:spLocks noGrp="1"/>
          </p:cNvSpPr>
          <p:nvPr/>
        </p:nvSpPr>
        <p:spPr bwMode="auto">
          <a:xfrm>
            <a:off x="7048500" y="1676400"/>
            <a:ext cx="3905250" cy="952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5400" b="1" i="0">
                <a:solidFill>
                  <a:srgbClr val="1F8A70"/>
                </a:solidFill>
              </a:defRPr>
            </a:pPr>
            <a:r>
              <a:rPr sz="5400" b="1" i="0">
                <a:solidFill>
                  <a:srgbClr val="1F8A70"/>
                </a:solidFill>
              </a:rPr>
              <a:t>0</a:t>
            </a:r>
            <a:endParaRPr/>
          </a:p>
        </p:txBody>
      </p:sp>
      <p:sp>
        <p:nvSpPr>
          <p:cNvPr id="1254029013" name=""/>
          <p:cNvSpPr>
            <a:spLocks noGrp="1"/>
          </p:cNvSpPr>
          <p:nvPr/>
        </p:nvSpPr>
        <p:spPr bwMode="auto">
          <a:xfrm>
            <a:off x="7048500" y="2647949"/>
            <a:ext cx="3905250" cy="43814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1950" b="1" i="0">
                <a:solidFill>
                  <a:srgbClr val="102A43"/>
                </a:solidFill>
              </a:defRPr>
            </a:pPr>
            <a:r>
              <a:rPr sz="1950" b="1" i="0">
                <a:solidFill>
                  <a:srgbClr val="102A43"/>
                </a:solidFill>
              </a:rPr>
              <a:t>recorded correctness errors</a:t>
            </a:r>
            <a:endParaRPr/>
          </a:p>
        </p:txBody>
      </p:sp>
      <p:sp>
        <p:nvSpPr>
          <p:cNvPr id="1524879878" name=""/>
          <p:cNvSpPr>
            <a:spLocks noGrp="1"/>
          </p:cNvSpPr>
          <p:nvPr/>
        </p:nvSpPr>
        <p:spPr bwMode="auto">
          <a:xfrm>
            <a:off x="723900" y="3371850"/>
            <a:ext cx="10744200" cy="9525"/>
          </a:xfrm>
          <a:prstGeom prst="line">
            <a:avLst/>
          </a:prstGeom>
          <a:noFill/>
          <a:ln w="19050">
            <a:solidFill>
              <a:srgbClr val="D9E2EC"/>
            </a:solidFill>
            <a:prstDash val="solid"/>
          </a:ln>
        </p:spPr>
      </p:sp>
      <p:sp>
        <p:nvSpPr>
          <p:cNvPr id="1048940644" name=""/>
          <p:cNvSpPr>
            <a:spLocks noGrp="1"/>
          </p:cNvSpPr>
          <p:nvPr/>
        </p:nvSpPr>
        <p:spPr bwMode="auto">
          <a:xfrm>
            <a:off x="1524000" y="3638550"/>
            <a:ext cx="91440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2200" b="1" i="0">
                <a:solidFill>
                  <a:srgbClr val="102A43"/>
                </a:solidFill>
              </a:defRPr>
            </a:pPr>
            <a:r>
              <a:rPr sz="2200" b="1" i="0">
                <a:solidFill>
                  <a:srgbClr val="102A43"/>
                </a:solidFill>
              </a:rPr>
              <a:t>Each case was oracle-certified and checked once before timing.</a:t>
            </a:r>
            <a:endParaRPr/>
          </a:p>
        </p:txBody>
      </p:sp>
      <p:sp>
        <p:nvSpPr>
          <p:cNvPr id="488702641" name=""/>
          <p:cNvSpPr>
            <a:spLocks noGrp="1"/>
          </p:cNvSpPr>
          <p:nvPr/>
        </p:nvSpPr>
        <p:spPr bwMode="auto">
          <a:xfrm>
            <a:off x="1581150" y="4514850"/>
            <a:ext cx="9029700" cy="876299"/>
          </a:xfrm>
          <a:prstGeom prst="roundRect">
            <a:avLst>
              <a:gd name="adj" fmla="val 8696"/>
            </a:avLst>
          </a:prstGeom>
          <a:solidFill>
            <a:srgbClr val="EAF1F8"/>
          </a:solidFill>
          <a:ln w="14288">
            <a:solidFill>
              <a:srgbClr val="102A43"/>
            </a:solidFill>
            <a:prstDash val="solid"/>
          </a:ln>
        </p:spPr>
      </p:sp>
      <p:sp>
        <p:nvSpPr>
          <p:cNvPr id="253923650" name=""/>
          <p:cNvSpPr>
            <a:spLocks noGrp="1"/>
          </p:cNvSpPr>
          <p:nvPr/>
        </p:nvSpPr>
        <p:spPr bwMode="auto">
          <a:xfrm>
            <a:off x="1847850" y="4686300"/>
            <a:ext cx="84963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1650" b="0" i="0">
                <a:solidFill>
                  <a:srgbClr val="243B53"/>
                </a:solidFill>
              </a:defRPr>
            </a:pPr>
            <a:r>
              <a:rPr sz="1650" b="0" i="0">
                <a:solidFill>
                  <a:srgbClr val="243B53"/>
                </a:solidFill>
              </a:rPr>
              <a:t>The 3,600 timing rows carry the corresponding case-level audit result.</a:t>
            </a:r>
            <a:endParaRPr/>
          </a:p>
        </p:txBody>
      </p:sp>
      <p:sp>
        <p:nvSpPr>
          <p:cNvPr id="785554623" name=""/>
          <p:cNvSpPr>
            <a:spLocks noGrp="1"/>
          </p:cNvSpPr>
          <p:nvPr/>
        </p:nvSpPr>
        <p:spPr bwMode="auto">
          <a:xfrm>
            <a:off x="1485900" y="5772150"/>
            <a:ext cx="92202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1500" b="1" i="0">
                <a:solidFill>
                  <a:srgbClr val="E76F51"/>
                </a:solidFill>
              </a:defRPr>
            </a:pPr>
            <a:r>
              <a:rPr sz="1500" b="1" i="0">
                <a:solidFill>
                  <a:srgbClr val="E76F51"/>
                </a:solidFill>
              </a:rPr>
              <a:t>These results cover the tested valid cases only.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7FAFC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30557205" name=""/>
          <p:cNvSpPr>
            <a:spLocks noGrp="1"/>
          </p:cNvSpPr>
          <p:nvPr/>
        </p:nvSpPr>
        <p:spPr bwMode="auto">
          <a:xfrm>
            <a:off x="628650" y="247650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900" b="1" i="0">
                <a:solidFill>
                  <a:srgbClr val="2A9D8F"/>
                </a:solidFill>
              </a:defRPr>
            </a:pPr>
            <a:r>
              <a:rPr sz="900" b="1" i="0">
                <a:solidFill>
                  <a:srgbClr val="2A9D8F"/>
                </a:solidFill>
              </a:rPr>
              <a:t>RESULTS</a:t>
            </a:r>
            <a:endParaRPr/>
          </a:p>
        </p:txBody>
      </p:sp>
      <p:sp>
        <p:nvSpPr>
          <p:cNvPr id="1395784993" name=""/>
          <p:cNvSpPr>
            <a:spLocks noGrp="1"/>
          </p:cNvSpPr>
          <p:nvPr/>
        </p:nvSpPr>
        <p:spPr bwMode="auto">
          <a:xfrm>
            <a:off x="609600" y="514350"/>
            <a:ext cx="109728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Runtime baseline for the ordinary-list implementation</a:t>
            </a:r>
            <a:endParaRPr/>
          </a:p>
        </p:txBody>
      </p:sp>
      <p:sp>
        <p:nvSpPr>
          <p:cNvPr id="450023760" name=""/>
          <p:cNvSpPr>
            <a:spLocks noGrp="1"/>
          </p:cNvSpPr>
          <p:nvPr/>
        </p:nvSpPr>
        <p:spPr bwMode="auto">
          <a:xfrm>
            <a:off x="609600" y="1085850"/>
            <a:ext cx="10972800" cy="9525"/>
          </a:xfrm>
          <a:prstGeom prst="line">
            <a:avLst/>
          </a:prstGeom>
          <a:noFill/>
          <a:ln w="28575">
            <a:solidFill>
              <a:srgbClr val="2A9D8F"/>
            </a:solidFill>
            <a:prstDash val="solid"/>
          </a:ln>
        </p:spPr>
      </p:sp>
      <p:sp>
        <p:nvSpPr>
          <p:cNvPr id="202398494" name=""/>
          <p:cNvSpPr>
            <a:spLocks noGrp="1"/>
          </p:cNvSpPr>
          <p:nvPr/>
        </p:nvSpPr>
        <p:spPr bwMode="auto">
          <a:xfrm>
            <a:off x="609600" y="6477000"/>
            <a:ext cx="10972800" cy="9525"/>
          </a:xfrm>
          <a:prstGeom prst="line">
            <a:avLst/>
          </a:prstGeom>
          <a:noFill/>
          <a:ln w="9525">
            <a:solidFill>
              <a:srgbClr val="D9E2EC"/>
            </a:solidFill>
            <a:prstDash val="solid"/>
          </a:ln>
        </p:spPr>
      </p:sp>
      <p:sp>
        <p:nvSpPr>
          <p:cNvPr id="1922786136" name=""/>
          <p:cNvSpPr>
            <a:spLocks noGrp="1"/>
          </p:cNvSpPr>
          <p:nvPr/>
        </p:nvSpPr>
        <p:spPr bwMode="auto">
          <a:xfrm>
            <a:off x="647700" y="6534150"/>
            <a:ext cx="3619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850" b="1" i="0">
                <a:solidFill>
                  <a:srgbClr val="7B8794"/>
                </a:solidFill>
              </a:defRPr>
            </a:pPr>
            <a:r>
              <a:rPr sz="850" b="1" i="0">
                <a:solidFill>
                  <a:srgbClr val="7B8794"/>
                </a:solidFill>
              </a:rPr>
              <a:t>MASTER'S THESIS PROGRESS REPORT</a:t>
            </a:r>
            <a:endParaRPr/>
          </a:p>
        </p:txBody>
      </p:sp>
      <p:sp>
        <p:nvSpPr>
          <p:cNvPr id="546203169" name=""/>
          <p:cNvSpPr>
            <a:spLocks noGrp="1"/>
          </p:cNvSpPr>
          <p:nvPr/>
        </p:nvSpPr>
        <p:spPr bwMode="auto">
          <a:xfrm>
            <a:off x="10668000" y="6534150"/>
            <a:ext cx="876299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100000"/>
          </a:bodyPr>
          <a:lstStyle/>
          <a:p>
            <a:pPr algn="r">
              <a:lnSpc>
                <a:spcPct val="105000"/>
              </a:lnSpc>
              <a:buNone/>
              <a:defRPr sz="850" b="1" i="0">
                <a:solidFill>
                  <a:srgbClr val="7B8794"/>
                </a:solidFill>
              </a:defRPr>
            </a:pPr>
            <a:r>
              <a:rPr sz="850" b="1" i="0">
                <a:solidFill>
                  <a:srgbClr val="7B8794"/>
                </a:solidFill>
              </a:rPr>
              <a:t>14 / 16</a:t>
            </a:r>
            <a:endParaRPr/>
          </a:p>
        </p:txBody>
      </p:sp>
      <p:graphicFrame>
        <p:nvGraphicFramePr>
          <p:cNvPr id="1515423856" name="Chart"/>
          <p:cNvGraphicFramePr>
            <a:graphicFrameLocks xmlns:a="http://schemas.openxmlformats.org/drawingml/2006/main"/>
          </p:cNvGraphicFramePr>
          <p:nvPr/>
        </p:nvGraphicFramePr>
        <p:xfrm rot="0">
          <a:off x="647700" y="1409700"/>
          <a:ext cx="7143750" cy="42862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499598519" name=""/>
          <p:cNvSpPr>
            <a:spLocks noGrp="1"/>
          </p:cNvSpPr>
          <p:nvPr/>
        </p:nvSpPr>
        <p:spPr bwMode="auto">
          <a:xfrm>
            <a:off x="8096250" y="1619250"/>
            <a:ext cx="3238500" cy="1571625"/>
          </a:xfrm>
          <a:prstGeom prst="roundRect">
            <a:avLst>
              <a:gd name="adj" fmla="val 4848"/>
            </a:avLst>
          </a:prstGeom>
          <a:solidFill>
            <a:srgbClr val="E8F5F3"/>
          </a:solidFill>
          <a:ln w="11430">
            <a:solidFill>
              <a:srgbClr val="2A9D8F"/>
            </a:solidFill>
            <a:prstDash val="solid"/>
          </a:ln>
        </p:spPr>
      </p:sp>
      <p:sp>
        <p:nvSpPr>
          <p:cNvPr id="559547139" name=""/>
          <p:cNvSpPr>
            <a:spLocks noGrp="1"/>
          </p:cNvSpPr>
          <p:nvPr/>
        </p:nvSpPr>
        <p:spPr bwMode="auto">
          <a:xfrm>
            <a:off x="8305800" y="1790700"/>
            <a:ext cx="28194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800" b="1" i="0">
                <a:solidFill>
                  <a:srgbClr val="2A9D8F"/>
                </a:solidFill>
              </a:defRPr>
            </a:pPr>
            <a:r>
              <a:rPr sz="1800" b="1" i="0">
                <a:solidFill>
                  <a:srgbClr val="2A9D8F"/>
                </a:solidFill>
              </a:rPr>
              <a:t>Observed result</a:t>
            </a:r>
            <a:endParaRPr/>
          </a:p>
        </p:txBody>
      </p:sp>
      <p:sp>
        <p:nvSpPr>
          <p:cNvPr id="1267677785" name=""/>
          <p:cNvSpPr>
            <a:spLocks noGrp="1"/>
          </p:cNvSpPr>
          <p:nvPr/>
        </p:nvSpPr>
        <p:spPr bwMode="auto">
          <a:xfrm>
            <a:off x="8305800" y="2276475"/>
            <a:ext cx="28194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85116"/>
          </a:bodyPr>
          <a:lstStyle/>
          <a:p>
            <a:pPr algn="l">
              <a:lnSpc>
                <a:spcPct val="105000"/>
              </a:lnSpc>
              <a:buNone/>
              <a:defRPr sz="1750" b="0" i="0">
                <a:solidFill>
                  <a:srgbClr val="243B53"/>
                </a:solidFill>
              </a:defRPr>
            </a:pPr>
            <a:r>
              <a:rPr sz="1750" b="0" i="0">
                <a:solidFill>
                  <a:srgbClr val="243B53"/>
                </a:solidFill>
              </a:rPr>
              <a:t>Python sort has a much lower median call time at every tested size.</a:t>
            </a:r>
            <a:endParaRPr/>
          </a:p>
        </p:txBody>
      </p:sp>
      <p:sp>
        <p:nvSpPr>
          <p:cNvPr id="1083527979" name=""/>
          <p:cNvSpPr>
            <a:spLocks noGrp="1"/>
          </p:cNvSpPr>
          <p:nvPr/>
        </p:nvSpPr>
        <p:spPr bwMode="auto">
          <a:xfrm>
            <a:off x="8096250" y="3524250"/>
            <a:ext cx="3238500" cy="1571625"/>
          </a:xfrm>
          <a:prstGeom prst="roundRect">
            <a:avLst>
              <a:gd name="adj" fmla="val 4848"/>
            </a:avLst>
          </a:prstGeom>
          <a:solidFill>
            <a:srgbClr val="EAF1F8"/>
          </a:solidFill>
          <a:ln w="11430">
            <a:solidFill>
              <a:srgbClr val="102A43"/>
            </a:solidFill>
            <a:prstDash val="solid"/>
          </a:ln>
        </p:spPr>
      </p:sp>
      <p:sp>
        <p:nvSpPr>
          <p:cNvPr id="521937969" name=""/>
          <p:cNvSpPr>
            <a:spLocks noGrp="1"/>
          </p:cNvSpPr>
          <p:nvPr/>
        </p:nvSpPr>
        <p:spPr bwMode="auto">
          <a:xfrm>
            <a:off x="8305800" y="3695700"/>
            <a:ext cx="28194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800" b="1" i="0">
                <a:solidFill>
                  <a:srgbClr val="102A43"/>
                </a:solidFill>
              </a:defRPr>
            </a:pPr>
            <a:r>
              <a:rPr sz="1800" b="1" i="0">
                <a:solidFill>
                  <a:srgbClr val="102A43"/>
                </a:solidFill>
              </a:rPr>
              <a:t>Use of this baseline</a:t>
            </a:r>
            <a:endParaRPr/>
          </a:p>
        </p:txBody>
      </p:sp>
      <p:sp>
        <p:nvSpPr>
          <p:cNvPr id="728257589" name=""/>
          <p:cNvSpPr>
            <a:spLocks noGrp="1"/>
          </p:cNvSpPr>
          <p:nvPr/>
        </p:nvSpPr>
        <p:spPr bwMode="auto">
          <a:xfrm>
            <a:off x="8305800" y="4181475"/>
            <a:ext cx="28194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85116"/>
          </a:bodyPr>
          <a:lstStyle/>
          <a:p>
            <a:pPr algn="l">
              <a:lnSpc>
                <a:spcPct val="105000"/>
              </a:lnSpc>
              <a:buNone/>
              <a:defRPr sz="1750" b="0" i="0">
                <a:solidFill>
                  <a:srgbClr val="243B53"/>
                </a:solidFill>
              </a:defRPr>
            </a:pPr>
            <a:r>
              <a:rPr sz="1750" b="0" i="0">
                <a:solidFill>
                  <a:srgbClr val="243B53"/>
                </a:solidFill>
              </a:rPr>
              <a:t>A reference point for future optimization and backend comparisons.</a:t>
            </a:r>
            <a:endParaRPr/>
          </a:p>
        </p:txBody>
      </p:sp>
      <p:sp>
        <p:nvSpPr>
          <p:cNvPr id="1961549862" name=""/>
          <p:cNvSpPr>
            <a:spLocks noGrp="1"/>
          </p:cNvSpPr>
          <p:nvPr/>
        </p:nvSpPr>
        <p:spPr bwMode="auto">
          <a:xfrm>
            <a:off x="800100" y="5924550"/>
            <a:ext cx="10591799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1450" b="0" i="0">
                <a:solidFill>
                  <a:srgbClr val="52606D"/>
                </a:solidFill>
              </a:defRPr>
            </a:pPr>
            <a:r>
              <a:rPr sz="1450" b="0" i="0">
                <a:solidFill>
                  <a:srgbClr val="52606D"/>
                </a:solidFill>
              </a:rPr>
              <a:t>60 valid cases · Apple M4 / CPython 3.12.4 · no asymptotic conclusion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7FAFC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028472" name=""/>
          <p:cNvSpPr>
            <a:spLocks noGrp="1"/>
          </p:cNvSpPr>
          <p:nvPr/>
        </p:nvSpPr>
        <p:spPr bwMode="auto">
          <a:xfrm>
            <a:off x="628650" y="247650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900" b="1" i="0">
                <a:solidFill>
                  <a:srgbClr val="2A9D8F"/>
                </a:solidFill>
              </a:defRPr>
            </a:pPr>
            <a:r>
              <a:rPr sz="900" b="1" i="0">
                <a:solidFill>
                  <a:srgbClr val="2A9D8F"/>
                </a:solidFill>
              </a:rPr>
              <a:t>INTERPRETATION</a:t>
            </a:r>
            <a:endParaRPr/>
          </a:p>
        </p:txBody>
      </p:sp>
      <p:sp>
        <p:nvSpPr>
          <p:cNvPr id="487497160" name=""/>
          <p:cNvSpPr>
            <a:spLocks noGrp="1"/>
          </p:cNvSpPr>
          <p:nvPr/>
        </p:nvSpPr>
        <p:spPr bwMode="auto">
          <a:xfrm>
            <a:off x="609600" y="514350"/>
            <a:ext cx="109728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What the current evidence shows</a:t>
            </a:r>
            <a:endParaRPr/>
          </a:p>
        </p:txBody>
      </p:sp>
      <p:sp>
        <p:nvSpPr>
          <p:cNvPr id="129067891" name=""/>
          <p:cNvSpPr>
            <a:spLocks noGrp="1"/>
          </p:cNvSpPr>
          <p:nvPr/>
        </p:nvSpPr>
        <p:spPr bwMode="auto">
          <a:xfrm>
            <a:off x="609600" y="1085850"/>
            <a:ext cx="10972800" cy="9525"/>
          </a:xfrm>
          <a:prstGeom prst="line">
            <a:avLst/>
          </a:prstGeom>
          <a:noFill/>
          <a:ln w="28575">
            <a:solidFill>
              <a:srgbClr val="2A9D8F"/>
            </a:solidFill>
            <a:prstDash val="solid"/>
          </a:ln>
        </p:spPr>
      </p:sp>
      <p:sp>
        <p:nvSpPr>
          <p:cNvPr id="2074991240" name=""/>
          <p:cNvSpPr>
            <a:spLocks noGrp="1"/>
          </p:cNvSpPr>
          <p:nvPr/>
        </p:nvSpPr>
        <p:spPr bwMode="auto">
          <a:xfrm>
            <a:off x="609600" y="6477000"/>
            <a:ext cx="10972800" cy="9525"/>
          </a:xfrm>
          <a:prstGeom prst="line">
            <a:avLst/>
          </a:prstGeom>
          <a:noFill/>
          <a:ln w="9525">
            <a:solidFill>
              <a:srgbClr val="D9E2EC"/>
            </a:solidFill>
            <a:prstDash val="solid"/>
          </a:ln>
        </p:spPr>
      </p:sp>
      <p:sp>
        <p:nvSpPr>
          <p:cNvPr id="536402220" name=""/>
          <p:cNvSpPr>
            <a:spLocks noGrp="1"/>
          </p:cNvSpPr>
          <p:nvPr/>
        </p:nvSpPr>
        <p:spPr bwMode="auto">
          <a:xfrm>
            <a:off x="647700" y="6534150"/>
            <a:ext cx="3619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850" b="1" i="0">
                <a:solidFill>
                  <a:srgbClr val="7B8794"/>
                </a:solidFill>
              </a:defRPr>
            </a:pPr>
            <a:r>
              <a:rPr sz="850" b="1" i="0">
                <a:solidFill>
                  <a:srgbClr val="7B8794"/>
                </a:solidFill>
              </a:rPr>
              <a:t>MASTER'S THESIS PROGRESS REPORT</a:t>
            </a:r>
            <a:endParaRPr/>
          </a:p>
        </p:txBody>
      </p:sp>
      <p:sp>
        <p:nvSpPr>
          <p:cNvPr id="1818785146" name=""/>
          <p:cNvSpPr>
            <a:spLocks noGrp="1"/>
          </p:cNvSpPr>
          <p:nvPr/>
        </p:nvSpPr>
        <p:spPr bwMode="auto">
          <a:xfrm>
            <a:off x="10668000" y="6534150"/>
            <a:ext cx="876299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100000"/>
          </a:bodyPr>
          <a:lstStyle/>
          <a:p>
            <a:pPr algn="r">
              <a:lnSpc>
                <a:spcPct val="105000"/>
              </a:lnSpc>
              <a:buNone/>
              <a:defRPr sz="850" b="1" i="0">
                <a:solidFill>
                  <a:srgbClr val="7B8794"/>
                </a:solidFill>
              </a:defRPr>
            </a:pPr>
            <a:r>
              <a:rPr sz="850" b="1" i="0">
                <a:solidFill>
                  <a:srgbClr val="7B8794"/>
                </a:solidFill>
              </a:rPr>
              <a:t>15 / 16</a:t>
            </a:r>
            <a:endParaRPr/>
          </a:p>
        </p:txBody>
      </p:sp>
      <p:sp>
        <p:nvSpPr>
          <p:cNvPr id="545539296" name=""/>
          <p:cNvSpPr>
            <a:spLocks noGrp="1"/>
          </p:cNvSpPr>
          <p:nvPr/>
        </p:nvSpPr>
        <p:spPr bwMode="auto">
          <a:xfrm>
            <a:off x="742950" y="1447800"/>
            <a:ext cx="5105400" cy="3848100"/>
          </a:xfrm>
          <a:prstGeom prst="roundRect">
            <a:avLst>
              <a:gd name="adj" fmla="val 1980"/>
            </a:avLst>
          </a:prstGeom>
          <a:solidFill>
            <a:srgbClr val="E8F5F3"/>
          </a:solidFill>
          <a:ln w="19050">
            <a:solidFill>
              <a:srgbClr val="2A9D8F"/>
            </a:solidFill>
            <a:prstDash val="solid"/>
          </a:ln>
        </p:spPr>
      </p:sp>
      <p:sp>
        <p:nvSpPr>
          <p:cNvPr id="1405971931" name=""/>
          <p:cNvSpPr>
            <a:spLocks noGrp="1"/>
          </p:cNvSpPr>
          <p:nvPr/>
        </p:nvSpPr>
        <p:spPr bwMode="auto">
          <a:xfrm>
            <a:off x="6343650" y="1447800"/>
            <a:ext cx="5105400" cy="3848100"/>
          </a:xfrm>
          <a:prstGeom prst="roundRect">
            <a:avLst>
              <a:gd name="adj" fmla="val 1980"/>
            </a:avLst>
          </a:prstGeom>
          <a:solidFill>
            <a:srgbClr val="FCEEEA"/>
          </a:solidFill>
          <a:ln w="19050">
            <a:solidFill>
              <a:srgbClr val="E76F51"/>
            </a:solidFill>
            <a:prstDash val="solid"/>
          </a:ln>
        </p:spPr>
      </p:sp>
      <p:sp>
        <p:nvSpPr>
          <p:cNvPr id="529681853" name=""/>
          <p:cNvSpPr>
            <a:spLocks noGrp="1"/>
          </p:cNvSpPr>
          <p:nvPr/>
        </p:nvSpPr>
        <p:spPr bwMode="auto">
          <a:xfrm>
            <a:off x="1009650" y="1695450"/>
            <a:ext cx="45720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1950" b="1" i="0">
                <a:solidFill>
                  <a:srgbClr val="2A9D8F"/>
                </a:solidFill>
              </a:defRPr>
            </a:pPr>
            <a:r>
              <a:rPr sz="1950" b="1" i="0">
                <a:solidFill>
                  <a:srgbClr val="2A9D8F"/>
                </a:solidFill>
              </a:rPr>
              <a:t>Current results</a:t>
            </a:r>
            <a:endParaRPr/>
          </a:p>
        </p:txBody>
      </p:sp>
      <p:sp>
        <p:nvSpPr>
          <p:cNvPr id="1980929374" name=""/>
          <p:cNvSpPr>
            <a:spLocks noGrp="1"/>
          </p:cNvSpPr>
          <p:nvPr/>
        </p:nvSpPr>
        <p:spPr bwMode="auto">
          <a:xfrm>
            <a:off x="6610350" y="1695450"/>
            <a:ext cx="45720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1950" b="1" i="0">
                <a:solidFill>
                  <a:srgbClr val="E76F51"/>
                </a:solidFill>
              </a:defRPr>
            </a:pPr>
            <a:r>
              <a:rPr sz="1950" b="1" i="0">
                <a:solidFill>
                  <a:srgbClr val="E76F51"/>
                </a:solidFill>
              </a:rPr>
              <a:t>Main limits</a:t>
            </a:r>
            <a:endParaRPr/>
          </a:p>
        </p:txBody>
      </p:sp>
      <p:sp>
        <p:nvSpPr>
          <p:cNvPr id="1371438561" name=""/>
          <p:cNvSpPr>
            <a:spLocks noGrp="1"/>
          </p:cNvSpPr>
          <p:nvPr/>
        </p:nvSpPr>
        <p:spPr bwMode="auto">
          <a:xfrm>
            <a:off x="1066800" y="2647949"/>
            <a:ext cx="95250" cy="95250"/>
          </a:xfrm>
          <a:prstGeom prst="ellipse">
            <a:avLst/>
          </a:prstGeom>
          <a:solidFill>
            <a:srgbClr val="2A9D8F"/>
          </a:solidFill>
          <a:ln w="0">
            <a:solidFill>
              <a:srgbClr val="2A9D8F"/>
            </a:solidFill>
            <a:prstDash val="solid"/>
          </a:ln>
        </p:spPr>
      </p:sp>
      <p:sp>
        <p:nvSpPr>
          <p:cNvPr id="1150870678" name=""/>
          <p:cNvSpPr>
            <a:spLocks noGrp="1"/>
          </p:cNvSpPr>
          <p:nvPr/>
        </p:nvSpPr>
        <p:spPr bwMode="auto">
          <a:xfrm>
            <a:off x="1276350" y="2571750"/>
            <a:ext cx="4133850" cy="1238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650" b="0" i="0">
                <a:solidFill>
                  <a:srgbClr val="243B53"/>
                </a:solidFill>
              </a:defRPr>
            </a:pPr>
            <a:r>
              <a:rPr sz="1650" b="0" i="0">
                <a:solidFill>
                  <a:srgbClr val="243B53"/>
                </a:solidFill>
              </a:rPr>
              <a:t>Executable reconstruction with output recovered from maintained state</a:t>
            </a:r>
            <a:endParaRPr/>
          </a:p>
        </p:txBody>
      </p:sp>
      <p:sp>
        <p:nvSpPr>
          <p:cNvPr id="705988485" name=""/>
          <p:cNvSpPr>
            <a:spLocks noGrp="1"/>
          </p:cNvSpPr>
          <p:nvPr/>
        </p:nvSpPr>
        <p:spPr bwMode="auto">
          <a:xfrm>
            <a:off x="1066800" y="3905250"/>
            <a:ext cx="95250" cy="95250"/>
          </a:xfrm>
          <a:prstGeom prst="ellipse">
            <a:avLst/>
          </a:prstGeom>
          <a:solidFill>
            <a:srgbClr val="2A9D8F"/>
          </a:solidFill>
          <a:ln w="0">
            <a:solidFill>
              <a:srgbClr val="2A9D8F"/>
            </a:solidFill>
            <a:prstDash val="solid"/>
          </a:ln>
        </p:spPr>
      </p:sp>
      <p:sp>
        <p:nvSpPr>
          <p:cNvPr id="1535002844" name=""/>
          <p:cNvSpPr>
            <a:spLocks noGrp="1"/>
          </p:cNvSpPr>
          <p:nvPr/>
        </p:nvSpPr>
        <p:spPr bwMode="auto">
          <a:xfrm>
            <a:off x="1276350" y="3829050"/>
            <a:ext cx="4133850" cy="1238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650" b="0" i="0">
                <a:solidFill>
                  <a:srgbClr val="243B53"/>
                </a:solidFill>
              </a:defRPr>
            </a:pPr>
            <a:r>
              <a:rPr sz="1650" b="0" i="0">
                <a:solidFill>
                  <a:srgbClr val="243B53"/>
                </a:solidFill>
              </a:rPr>
              <a:t>Correct outputs and runtime results for the 60 cases in this experiment</a:t>
            </a:r>
            <a:endParaRPr/>
          </a:p>
        </p:txBody>
      </p:sp>
      <p:sp>
        <p:nvSpPr>
          <p:cNvPr id="558396112" name=""/>
          <p:cNvSpPr>
            <a:spLocks noGrp="1"/>
          </p:cNvSpPr>
          <p:nvPr/>
        </p:nvSpPr>
        <p:spPr bwMode="auto">
          <a:xfrm>
            <a:off x="6667500" y="2647949"/>
            <a:ext cx="95250" cy="95250"/>
          </a:xfrm>
          <a:prstGeom prst="ellipse">
            <a:avLst/>
          </a:prstGeom>
          <a:solidFill>
            <a:srgbClr val="E76F51"/>
          </a:solidFill>
          <a:ln w="0">
            <a:solidFill>
              <a:srgbClr val="E76F51"/>
            </a:solidFill>
            <a:prstDash val="solid"/>
          </a:ln>
        </p:spPr>
      </p:sp>
      <p:sp>
        <p:nvSpPr>
          <p:cNvPr id="1281553385" name=""/>
          <p:cNvSpPr>
            <a:spLocks noGrp="1"/>
          </p:cNvSpPr>
          <p:nvPr/>
        </p:nvSpPr>
        <p:spPr bwMode="auto">
          <a:xfrm>
            <a:off x="6877050" y="2571750"/>
            <a:ext cx="4133850" cy="1238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650" b="0" i="0">
                <a:solidFill>
                  <a:srgbClr val="243B53"/>
                </a:solidFill>
              </a:defRPr>
            </a:pPr>
            <a:r>
              <a:rPr sz="1650" b="0" i="0">
                <a:solidFill>
                  <a:srgbClr val="243B53"/>
                </a:solidFill>
              </a:rPr>
              <a:t>Ordinary lists do not establish a linear-time implementation</a:t>
            </a:r>
            <a:endParaRPr/>
          </a:p>
        </p:txBody>
      </p:sp>
      <p:sp>
        <p:nvSpPr>
          <p:cNvPr id="1978884854" name=""/>
          <p:cNvSpPr>
            <a:spLocks noGrp="1"/>
          </p:cNvSpPr>
          <p:nvPr/>
        </p:nvSpPr>
        <p:spPr bwMode="auto">
          <a:xfrm>
            <a:off x="6667500" y="3905250"/>
            <a:ext cx="95250" cy="95250"/>
          </a:xfrm>
          <a:prstGeom prst="ellipse">
            <a:avLst/>
          </a:prstGeom>
          <a:solidFill>
            <a:srgbClr val="E76F51"/>
          </a:solidFill>
          <a:ln w="0">
            <a:solidFill>
              <a:srgbClr val="E76F51"/>
            </a:solidFill>
            <a:prstDash val="solid"/>
          </a:ln>
        </p:spPr>
      </p:sp>
      <p:sp>
        <p:nvSpPr>
          <p:cNvPr id="1006197252" name=""/>
          <p:cNvSpPr>
            <a:spLocks noGrp="1"/>
          </p:cNvSpPr>
          <p:nvPr/>
        </p:nvSpPr>
        <p:spPr bwMode="auto">
          <a:xfrm>
            <a:off x="6877050" y="3829050"/>
            <a:ext cx="4133850" cy="1238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650" b="0" i="0">
                <a:solidFill>
                  <a:srgbClr val="243B53"/>
                </a:solidFill>
              </a:defRPr>
            </a:pPr>
            <a:r>
              <a:rPr sz="1650" b="0" i="0">
                <a:solidFill>
                  <a:srgbClr val="243B53"/>
                </a:solidFill>
              </a:rPr>
              <a:t>Five tested sizes do not establish asymptotic complexity</a:t>
            </a:r>
            <a:endParaRPr/>
          </a:p>
        </p:txBody>
      </p:sp>
      <p:sp>
        <p:nvSpPr>
          <p:cNvPr id="1564441451" name=""/>
          <p:cNvSpPr>
            <a:spLocks noGrp="1"/>
          </p:cNvSpPr>
          <p:nvPr/>
        </p:nvSpPr>
        <p:spPr bwMode="auto">
          <a:xfrm>
            <a:off x="1428750" y="5715000"/>
            <a:ext cx="9334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1500" b="1" i="0">
                <a:solidFill>
                  <a:srgbClr val="102A43"/>
                </a:solidFill>
              </a:defRPr>
            </a:pPr>
            <a:r>
              <a:rPr sz="1500" b="1" i="0">
                <a:solidFill>
                  <a:srgbClr val="102A43"/>
                </a:solidFill>
              </a:rPr>
              <a:t>Recognition was not evaluated. Paper and reference use different timing scopes.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7FAFC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7418910" name=""/>
          <p:cNvSpPr>
            <a:spLocks noGrp="1"/>
          </p:cNvSpPr>
          <p:nvPr/>
        </p:nvSpPr>
        <p:spPr bwMode="auto">
          <a:xfrm>
            <a:off x="628650" y="247650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900" b="1" i="0">
                <a:solidFill>
                  <a:srgbClr val="2A9D8F"/>
                </a:solidFill>
              </a:defRPr>
            </a:pPr>
            <a:r>
              <a:rPr sz="900" b="1" i="0">
                <a:solidFill>
                  <a:srgbClr val="2A9D8F"/>
                </a:solidFill>
              </a:rPr>
              <a:t>NEXT STEP</a:t>
            </a:r>
            <a:endParaRPr/>
          </a:p>
        </p:txBody>
      </p:sp>
      <p:sp>
        <p:nvSpPr>
          <p:cNvPr id="1299124798" name=""/>
          <p:cNvSpPr>
            <a:spLocks noGrp="1"/>
          </p:cNvSpPr>
          <p:nvPr/>
        </p:nvSpPr>
        <p:spPr bwMode="auto">
          <a:xfrm>
            <a:off x="609600" y="514350"/>
            <a:ext cx="109728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Possible next step: a finger-tree backend</a:t>
            </a:r>
            <a:endParaRPr/>
          </a:p>
        </p:txBody>
      </p:sp>
      <p:sp>
        <p:nvSpPr>
          <p:cNvPr id="1506714026" name=""/>
          <p:cNvSpPr>
            <a:spLocks noGrp="1"/>
          </p:cNvSpPr>
          <p:nvPr/>
        </p:nvSpPr>
        <p:spPr bwMode="auto">
          <a:xfrm>
            <a:off x="609600" y="1085850"/>
            <a:ext cx="10972800" cy="9525"/>
          </a:xfrm>
          <a:prstGeom prst="line">
            <a:avLst/>
          </a:prstGeom>
          <a:noFill/>
          <a:ln w="28575">
            <a:solidFill>
              <a:srgbClr val="2A9D8F"/>
            </a:solidFill>
            <a:prstDash val="solid"/>
          </a:ln>
        </p:spPr>
      </p:sp>
      <p:sp>
        <p:nvSpPr>
          <p:cNvPr id="1333186246" name=""/>
          <p:cNvSpPr>
            <a:spLocks noGrp="1"/>
          </p:cNvSpPr>
          <p:nvPr/>
        </p:nvSpPr>
        <p:spPr bwMode="auto">
          <a:xfrm>
            <a:off x="609600" y="6477000"/>
            <a:ext cx="10972800" cy="9525"/>
          </a:xfrm>
          <a:prstGeom prst="line">
            <a:avLst/>
          </a:prstGeom>
          <a:noFill/>
          <a:ln w="9525">
            <a:solidFill>
              <a:srgbClr val="D9E2EC"/>
            </a:solidFill>
            <a:prstDash val="solid"/>
          </a:ln>
        </p:spPr>
      </p:sp>
      <p:sp>
        <p:nvSpPr>
          <p:cNvPr id="711596655" name=""/>
          <p:cNvSpPr>
            <a:spLocks noGrp="1"/>
          </p:cNvSpPr>
          <p:nvPr/>
        </p:nvSpPr>
        <p:spPr bwMode="auto">
          <a:xfrm>
            <a:off x="647700" y="6534150"/>
            <a:ext cx="3619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850" b="1" i="0">
                <a:solidFill>
                  <a:srgbClr val="7B8794"/>
                </a:solidFill>
              </a:defRPr>
            </a:pPr>
            <a:r>
              <a:rPr sz="850" b="1" i="0">
                <a:solidFill>
                  <a:srgbClr val="7B8794"/>
                </a:solidFill>
              </a:rPr>
              <a:t>MASTER'S THESIS PROGRESS REPORT</a:t>
            </a:r>
            <a:endParaRPr/>
          </a:p>
        </p:txBody>
      </p:sp>
      <p:sp>
        <p:nvSpPr>
          <p:cNvPr id="942598566" name=""/>
          <p:cNvSpPr>
            <a:spLocks noGrp="1"/>
          </p:cNvSpPr>
          <p:nvPr/>
        </p:nvSpPr>
        <p:spPr bwMode="auto">
          <a:xfrm>
            <a:off x="10668000" y="6534150"/>
            <a:ext cx="876299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100000"/>
          </a:bodyPr>
          <a:lstStyle/>
          <a:p>
            <a:pPr algn="r">
              <a:lnSpc>
                <a:spcPct val="105000"/>
              </a:lnSpc>
              <a:buNone/>
              <a:defRPr sz="850" b="1" i="0">
                <a:solidFill>
                  <a:srgbClr val="7B8794"/>
                </a:solidFill>
              </a:defRPr>
            </a:pPr>
            <a:r>
              <a:rPr sz="850" b="1" i="0">
                <a:solidFill>
                  <a:srgbClr val="7B8794"/>
                </a:solidFill>
              </a:rPr>
              <a:t>16 / 16</a:t>
            </a:r>
            <a:endParaRPr/>
          </a:p>
        </p:txBody>
      </p:sp>
      <p:sp>
        <p:nvSpPr>
          <p:cNvPr id="1533493398" name=""/>
          <p:cNvSpPr>
            <a:spLocks noGrp="1"/>
          </p:cNvSpPr>
          <p:nvPr/>
        </p:nvSpPr>
        <p:spPr bwMode="auto">
          <a:xfrm>
            <a:off x="1066800" y="1485900"/>
            <a:ext cx="100584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2100" b="1" i="0">
                <a:solidFill>
                  <a:srgbClr val="102A43"/>
                </a:solidFill>
              </a:defRPr>
            </a:pPr>
            <a:r>
              <a:rPr sz="2100" b="1" i="0">
                <a:solidFill>
                  <a:srgbClr val="102A43"/>
                </a:solidFill>
              </a:rPr>
              <a:t>The ordinary-list implementation provides a tested reference point.</a:t>
            </a:r>
            <a:endParaRPr/>
          </a:p>
        </p:txBody>
      </p:sp>
      <p:sp>
        <p:nvSpPr>
          <p:cNvPr id="335672744" name=""/>
          <p:cNvSpPr>
            <a:spLocks noGrp="1"/>
          </p:cNvSpPr>
          <p:nvPr/>
        </p:nvSpPr>
        <p:spPr bwMode="auto">
          <a:xfrm>
            <a:off x="1638300" y="2324100"/>
            <a:ext cx="8915400" cy="952500"/>
          </a:xfrm>
          <a:prstGeom prst="roundRect">
            <a:avLst>
              <a:gd name="adj" fmla="val 8000"/>
            </a:avLst>
          </a:prstGeom>
          <a:solidFill>
            <a:srgbClr val="E8F5F3"/>
          </a:solidFill>
          <a:ln w="14288">
            <a:solidFill>
              <a:srgbClr val="2A9D8F"/>
            </a:solidFill>
            <a:prstDash val="solid"/>
          </a:ln>
        </p:spPr>
      </p:sp>
      <p:sp>
        <p:nvSpPr>
          <p:cNvPr id="797209891" name=""/>
          <p:cNvSpPr>
            <a:spLocks noGrp="1"/>
          </p:cNvSpPr>
          <p:nvPr/>
        </p:nvSpPr>
        <p:spPr bwMode="auto">
          <a:xfrm>
            <a:off x="1943100" y="2552700"/>
            <a:ext cx="83058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82672"/>
          </a:bodyPr>
          <a:lstStyle/>
          <a:p>
            <a:pPr algn="ctr">
              <a:lnSpc>
                <a:spcPct val="105000"/>
              </a:lnSpc>
              <a:buNone/>
              <a:defRPr sz="1800" b="0" i="0">
                <a:solidFill>
                  <a:srgbClr val="243B53"/>
                </a:solidFill>
              </a:defRPr>
            </a:pPr>
            <a:r>
              <a:rPr sz="1800" b="0" i="0">
                <a:solidFill>
                  <a:srgbClr val="243B53"/>
                </a:solidFill>
              </a:rPr>
              <a:t>A new backend would keep the same Step 1/2/3 behavior while changing the sibling-list operations.</a:t>
            </a:r>
            <a:endParaRPr/>
          </a:p>
        </p:txBody>
      </p:sp>
      <p:sp>
        <p:nvSpPr>
          <p:cNvPr id="1909767490" name=""/>
          <p:cNvSpPr>
            <a:spLocks noGrp="1"/>
          </p:cNvSpPr>
          <p:nvPr/>
        </p:nvSpPr>
        <p:spPr bwMode="auto">
          <a:xfrm>
            <a:off x="1066800" y="3829050"/>
            <a:ext cx="100584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1900" b="1" i="0">
                <a:solidFill>
                  <a:srgbClr val="2A9D8F"/>
                </a:solidFill>
              </a:defRPr>
            </a:pPr>
            <a:r>
              <a:rPr sz="1900" b="1" i="0">
                <a:solidFill>
                  <a:srgbClr val="2A9D8F"/>
                </a:solidFill>
              </a:rPr>
              <a:t>Discussion</a:t>
            </a:r>
            <a:endParaRPr/>
          </a:p>
        </p:txBody>
      </p:sp>
      <p:sp>
        <p:nvSpPr>
          <p:cNvPr id="42012093" name=""/>
          <p:cNvSpPr>
            <a:spLocks noGrp="1"/>
          </p:cNvSpPr>
          <p:nvPr/>
        </p:nvSpPr>
        <p:spPr bwMode="auto">
          <a:xfrm>
            <a:off x="1066800" y="4343400"/>
            <a:ext cx="10058400" cy="1543050"/>
          </a:xfrm>
          <a:prstGeom prst="roundRect">
            <a:avLst>
              <a:gd name="adj" fmla="val 4938"/>
            </a:avLst>
          </a:prstGeom>
          <a:solidFill>
            <a:srgbClr val="102A43"/>
          </a:solidFill>
          <a:ln w="11430">
            <a:solidFill>
              <a:srgbClr val="102A43"/>
            </a:solidFill>
            <a:prstDash val="solid"/>
          </a:ln>
        </p:spPr>
      </p:sp>
      <p:sp>
        <p:nvSpPr>
          <p:cNvPr id="1061797398" name=""/>
          <p:cNvSpPr>
            <a:spLocks noGrp="1"/>
          </p:cNvSpPr>
          <p:nvPr/>
        </p:nvSpPr>
        <p:spPr bwMode="auto">
          <a:xfrm>
            <a:off x="1466849" y="4533900"/>
            <a:ext cx="9258300" cy="1162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800" b="0" i="0">
                <a:solidFill>
                  <a:srgbClr val="FFFFFF"/>
                </a:solidFill>
              </a:defRPr>
            </a:pPr>
            <a:r>
              <a:rPr sz="1800" b="0" i="0">
                <a:solidFill>
                  <a:srgbClr val="FFFFFF"/>
                </a:solidFill>
              </a:rPr>
              <a:t>1. Should I target the historical heterogeneous finger tree or an equivalent backend?</a:t>
            </a:r>
            <a:endParaRPr/>
          </a:p>
          <a:p>
            <a:pPr algn="l">
              <a:lnSpc>
                <a:spcPct val="105000"/>
              </a:lnSpc>
              <a:buNone/>
              <a:defRPr sz="1800" b="0" i="0">
                <a:solidFill>
                  <a:srgbClr val="FFFFFF"/>
                </a:solidFill>
              </a:defRPr>
            </a:pPr>
            <a:r>
              <a:rPr sz="1800" b="0" i="0">
                <a:solidFill>
                  <a:srgbClr val="FFFFFF"/>
                </a:solidFill>
              </a:rPr>
              <a:t>2. Is a tested, semantically equivalent prototype enough, or should I also prove the required amortized operation bounds?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ONLYOFFICE/9.4.0.129</Application>
  <PresentationFormat>On-screen Show (4:3)</PresentationFormat>
  <Paragraphs>0</Paragraphs>
  <Slides>16</Slides>
  <Notes>16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7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/>
  <cp:revision>4</cp:revision>
  <dcterms:modified xsi:type="dcterms:W3CDTF">2026-09-17T09:59:30Z</dcterms:modified>
</cp:coreProperties>
</file>