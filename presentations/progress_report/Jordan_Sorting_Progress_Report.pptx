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d228a30bcba44b8" /><Relationship Type="http://schemas.openxmlformats.org/officeDocument/2006/relationships/extended-properties" Target="/docProps/app.xml" Id="R6289aa68f1664ed6" /><Relationship Type="http://schemas.openxmlformats.org/officeDocument/2006/relationships/officeDocument" Target="/ppt/presentation.xml" Id="R381fff2b98e9451a" /></Relationships>
</file>

<file path=ppt/presentation.xml><?xml version="1.0" encoding="utf-8"?>
<p:presentation xmlns:p="http://schemas.openxmlformats.org/presentationml/2006/main">
  <p:sldMasterIdLst>
    <p:sldMasterId xmlns:r="http://schemas.openxmlformats.org/officeDocument/2006/relationships" id="2147483648" r:id="R71a0ef3326244e42"/>
  </p:sldMasterIdLst>
  <p:notesMasterIdLst>
    <p:notesMasterId xmlns:r="http://schemas.openxmlformats.org/officeDocument/2006/relationships" r:id="Rd8d58d5578a1485c"/>
  </p:notesMasterIdLst>
  <p:sldIdLst>
    <p:sldId xmlns:r="http://schemas.openxmlformats.org/officeDocument/2006/relationships" id="256" r:id="R2a18df2b246941f2"/>
    <p:sldId xmlns:r="http://schemas.openxmlformats.org/officeDocument/2006/relationships" id="257" r:id="R357404093fe9417b"/>
    <p:sldId xmlns:r="http://schemas.openxmlformats.org/officeDocument/2006/relationships" id="258" r:id="Rdac5a7ef01ff4024"/>
    <p:sldId xmlns:r="http://schemas.openxmlformats.org/officeDocument/2006/relationships" id="259" r:id="Rbb71f77b36614663"/>
    <p:sldId xmlns:r="http://schemas.openxmlformats.org/officeDocument/2006/relationships" id="260" r:id="R3df7735f103e4d77"/>
    <p:sldId xmlns:r="http://schemas.openxmlformats.org/officeDocument/2006/relationships" id="261" r:id="Rc5f951f0166f4319"/>
    <p:sldId xmlns:r="http://schemas.openxmlformats.org/officeDocument/2006/relationships" id="262" r:id="R80d01b4ad56c425d"/>
    <p:sldId xmlns:r="http://schemas.openxmlformats.org/officeDocument/2006/relationships" id="263" r:id="R58604098872e463d"/>
    <p:sldId xmlns:r="http://schemas.openxmlformats.org/officeDocument/2006/relationships" id="264" r:id="R75ac0e9a062245a3"/>
    <p:sldId xmlns:r="http://schemas.openxmlformats.org/officeDocument/2006/relationships" id="265" r:id="Re1e3ba541fa3468f"/>
    <p:sldId xmlns:r="http://schemas.openxmlformats.org/officeDocument/2006/relationships" id="266" r:id="R9592e10a4d4945ac"/>
    <p:sldId xmlns:r="http://schemas.openxmlformats.org/officeDocument/2006/relationships" id="267" r:id="R425b166ebd8c4560"/>
    <p:sldId xmlns:r="http://schemas.openxmlformats.org/officeDocument/2006/relationships" id="268" r:id="Rd58776f4bacc4f60"/>
    <p:sldId xmlns:r="http://schemas.openxmlformats.org/officeDocument/2006/relationships" id="269" r:id="R8c5e777211ae4a08"/>
    <p:sldId xmlns:r="http://schemas.openxmlformats.org/officeDocument/2006/relationships" id="270" r:id="R80ca57960b7b43d3"/>
    <p:sldId xmlns:r="http://schemas.openxmlformats.org/officeDocument/2006/relationships" id="271" r:id="R20c631358faf4a00"/>
    <p:sldId xmlns:r="http://schemas.openxmlformats.org/officeDocument/2006/relationships" id="272" r:id="R518c551557844f95"/>
    <p:sldId xmlns:r="http://schemas.openxmlformats.org/officeDocument/2006/relationships" id="273" r:id="Rff06b9fad7d54491"/>
    <p:sldId xmlns:r="http://schemas.openxmlformats.org/officeDocument/2006/relationships" id="274" r:id="Refbe0fedeed34245"/>
    <p:sldId xmlns:r="http://schemas.openxmlformats.org/officeDocument/2006/relationships" id="275" r:id="R25e507d6dd9641a9"/>
    <p:sldId xmlns:r="http://schemas.openxmlformats.org/officeDocument/2006/relationships" id="276" r:id="Rd08cce9fb3d84bc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30dbcadde274663" /><Relationship Type="http://schemas.openxmlformats.org/officeDocument/2006/relationships/slideMaster" Target="/ppt/slideMasters/slideMaster1.xml" Id="R71a0ef3326244e42" /><Relationship Type="http://schemas.openxmlformats.org/officeDocument/2006/relationships/notesMaster" Target="/ppt/notesMasters/notesMaster1.xml" Id="Rd8d58d5578a1485c" /><Relationship Type="http://schemas.openxmlformats.org/officeDocument/2006/relationships/presProps" Target="/ppt/presProps.xml" Id="R721fb90dae684232" /><Relationship Type="http://schemas.openxmlformats.org/officeDocument/2006/relationships/tableStyles" Target="/ppt/tableStyles.xml" Id="R2f15a9fbfe3940a8" /><Relationship Type="http://schemas.openxmlformats.org/officeDocument/2006/relationships/slide" Target="/ppt/slides/slide1.xml" Id="R2a18df2b246941f2" /><Relationship Type="http://schemas.openxmlformats.org/officeDocument/2006/relationships/slide" Target="/ppt/slides/slide2.xml" Id="R357404093fe9417b" /><Relationship Type="http://schemas.openxmlformats.org/officeDocument/2006/relationships/slide" Target="/ppt/slides/slide3.xml" Id="Rdac5a7ef01ff4024" /><Relationship Type="http://schemas.openxmlformats.org/officeDocument/2006/relationships/slide" Target="/ppt/slides/slide4.xml" Id="Rbb71f77b36614663" /><Relationship Type="http://schemas.openxmlformats.org/officeDocument/2006/relationships/slide" Target="/ppt/slides/slide5.xml" Id="R3df7735f103e4d77" /><Relationship Type="http://schemas.openxmlformats.org/officeDocument/2006/relationships/slide" Target="/ppt/slides/slide6.xml" Id="Rc5f951f0166f4319" /><Relationship Type="http://schemas.openxmlformats.org/officeDocument/2006/relationships/slide" Target="/ppt/slides/slide7.xml" Id="R80d01b4ad56c425d" /><Relationship Type="http://schemas.openxmlformats.org/officeDocument/2006/relationships/slide" Target="/ppt/slides/slide8.xml" Id="R58604098872e463d" /><Relationship Type="http://schemas.openxmlformats.org/officeDocument/2006/relationships/slide" Target="/ppt/slides/slide9.xml" Id="R75ac0e9a062245a3" /><Relationship Type="http://schemas.openxmlformats.org/officeDocument/2006/relationships/slide" Target="/ppt/slides/slide10.xml" Id="Re1e3ba541fa3468f" /><Relationship Type="http://schemas.openxmlformats.org/officeDocument/2006/relationships/slide" Target="/ppt/slides/slide11.xml" Id="R9592e10a4d4945ac" /><Relationship Type="http://schemas.openxmlformats.org/officeDocument/2006/relationships/slide" Target="/ppt/slides/slide12.xml" Id="R425b166ebd8c4560" /><Relationship Type="http://schemas.openxmlformats.org/officeDocument/2006/relationships/slide" Target="/ppt/slides/slide13.xml" Id="Rd58776f4bacc4f60" /><Relationship Type="http://schemas.openxmlformats.org/officeDocument/2006/relationships/slide" Target="/ppt/slides/slide14.xml" Id="R8c5e777211ae4a08" /><Relationship Type="http://schemas.openxmlformats.org/officeDocument/2006/relationships/slide" Target="/ppt/slides/slide15.xml" Id="R80ca57960b7b43d3" /><Relationship Type="http://schemas.openxmlformats.org/officeDocument/2006/relationships/slide" Target="/ppt/slides/slide16.xml" Id="R20c631358faf4a00" /><Relationship Type="http://schemas.openxmlformats.org/officeDocument/2006/relationships/slide" Target="/ppt/slides/slide17.xml" Id="R518c551557844f95" /><Relationship Type="http://schemas.openxmlformats.org/officeDocument/2006/relationships/slide" Target="/ppt/slides/slide18.xml" Id="Rff06b9fad7d54491" /><Relationship Type="http://schemas.openxmlformats.org/officeDocument/2006/relationships/slide" Target="/ppt/slides/slide19.xml" Id="Refbe0fedeed34245" /><Relationship Type="http://schemas.openxmlformats.org/officeDocument/2006/relationships/slide" Target="/ppt/slides/slide20.xml" Id="R25e507d6dd9641a9" /><Relationship Type="http://schemas.openxmlformats.org/officeDocument/2006/relationships/slide" Target="/ppt/slides/slide21.xml" Id="Rd08cce9fb3d84b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c36f7672b240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2a1874050ea46da" /><Relationship Type="http://schemas.openxmlformats.org/officeDocument/2006/relationships/notesMaster" Target="/ppt/notesMasters/notesMaster1.xml" Id="Rff1ea7d94a6d44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975e67720b4d1a" /><Relationship Type="http://schemas.openxmlformats.org/officeDocument/2006/relationships/notesMaster" Target="/ppt/notesMasters/notesMaster1.xml" Id="R05a26f5dade14b8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dbf7bce65e4b07" /><Relationship Type="http://schemas.openxmlformats.org/officeDocument/2006/relationships/notesMaster" Target="/ppt/notesMasters/notesMaster1.xml" Id="Rd0575630f0af47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0f5515667b44ee" /><Relationship Type="http://schemas.openxmlformats.org/officeDocument/2006/relationships/notesMaster" Target="/ppt/notesMasters/notesMaster1.xml" Id="R043edec8bc7c4d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dd363f30cbc9485a" /><Relationship Type="http://schemas.openxmlformats.org/officeDocument/2006/relationships/notesMaster" Target="/ppt/notesMasters/notesMaster1.xml" Id="R7f17646d4dae4d66" /></Relationships>
</file>

<file path=ppt/notesSlides/_rels/notesSlide6.xml.rels>&#65279;<?xml version="1.0" encoding="utf-8"?><Relationships xmlns="http://schemas.openxmlformats.org/package/2006/relationships"><Relationship Type="http://schemas.openxmlformats.org/officeDocument/2006/relationships/slide" Target="/ppt/slides/slide6.xml" Id="R7633ed28b4dc49e2" /><Relationship Type="http://schemas.openxmlformats.org/officeDocument/2006/relationships/notesMaster" Target="/ppt/notesMasters/notesMaster1.xml" Id="R65eb1689c335428d" /></Relationships>
</file>

<file path=ppt/notesSlides/_rels/notesSlide7.xml.rels>&#65279;<?xml version="1.0" encoding="utf-8"?><Relationships xmlns="http://schemas.openxmlformats.org/package/2006/relationships"><Relationship Type="http://schemas.openxmlformats.org/officeDocument/2006/relationships/slide" Target="/ppt/slides/slide7.xml" Id="R14afd2e2e0b847ab" /><Relationship Type="http://schemas.openxmlformats.org/officeDocument/2006/relationships/notesMaster" Target="/ppt/notesMasters/notesMaster1.xml" Id="R2e74dce570f149f1" /></Relationships>
</file>

<file path=ppt/notesSlides/_rels/notesSlide8.xml.rels>&#65279;<?xml version="1.0" encoding="utf-8"?><Relationships xmlns="http://schemas.openxmlformats.org/package/2006/relationships"><Relationship Type="http://schemas.openxmlformats.org/officeDocument/2006/relationships/slide" Target="/ppt/slides/slide8.xml" Id="Rb50f75446d1040d3" /><Relationship Type="http://schemas.openxmlformats.org/officeDocument/2006/relationships/notesMaster" Target="/ppt/notesMasters/notesMaster1.xml" Id="Rf786e5d2e4af4f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353e1ee86bc4562" /><Relationship Type="http://schemas.openxmlformats.org/officeDocument/2006/relationships/notesMaster" Target="/ppt/notesMasters/notesMaster1.xml" Id="R2380717221b2406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2c9a570ba824dd6" /><Relationship Type="http://schemas.openxmlformats.org/officeDocument/2006/relationships/notesMaster" Target="/ppt/notesMasters/notesMaster1.xml" Id="R9153f4ccd89b40f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dafb750ede40b6" /><Relationship Type="http://schemas.openxmlformats.org/officeDocument/2006/relationships/notesMaster" Target="/ppt/notesMasters/notesMaster1.xml" Id="R1be99ddf091e42b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2e42b1ad2741a0" /><Relationship Type="http://schemas.openxmlformats.org/officeDocument/2006/relationships/notesMaster" Target="/ppt/notesMasters/notesMaster1.xml" Id="Rd60304f31c07481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4b164d94a744424" /><Relationship Type="http://schemas.openxmlformats.org/officeDocument/2006/relationships/notesMaster" Target="/ppt/notesMasters/notesMaster1.xml" Id="R8d29e0528197400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d620ba9fa654a9d" /><Relationship Type="http://schemas.openxmlformats.org/officeDocument/2006/relationships/notesMaster" Target="/ppt/notesMasters/notesMaster1.xml" Id="Rdb6d8241443b4c0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fb12ce3b5174471" /><Relationship Type="http://schemas.openxmlformats.org/officeDocument/2006/relationships/notesMaster" Target="/ppt/notesMasters/notesMaster1.xml" Id="R117051d6c7f5427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8024070ad2b421f" /><Relationship Type="http://schemas.openxmlformats.org/officeDocument/2006/relationships/notesMaster" Target="/ppt/notesMasters/notesMaster1.xml" Id="R10abe15c43fd4f0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d4e8957c9fb45fb" /><Relationship Type="http://schemas.openxmlformats.org/officeDocument/2006/relationships/notesMaster" Target="/ppt/notesMasters/notesMaster1.xml" Id="R96e12630977646d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ac4fa19c703498f" /><Relationship Type="http://schemas.openxmlformats.org/officeDocument/2006/relationships/notesMaster" Target="/ppt/notesMasters/notesMaster1.xml" Id="Rd423490b09634b0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4bd5a54daa94f55" /><Relationship Type="http://schemas.openxmlformats.org/officeDocument/2006/relationships/notesMaster" Target="/ppt/notesMasters/notesMaster1.xml" Id="R92d844761d66422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e83cd97833c46c0" /><Relationship Type="http://schemas.openxmlformats.org/officeDocument/2006/relationships/notesMaster" Target="/ppt/notesMasters/notesMaster1.xml" Id="R51aaefaab320489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c53ddb68bf545b1" /><Relationship Type="http://schemas.openxmlformats.org/officeDocument/2006/relationships/notesMaster" Target="/ppt/notesMasters/notesMaster1.xml" Id="R8c2cdf57aaa14b8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afternoon. This presentation updates my master's thesis on an executable reconstruction of Simplified Jordan Sorting. My previous report focused on static structure: rank intervals, upper and lower pair families, family trees, and an oracle-backed reference. Since then, I have focused on one question. Can the paper's dynamic procedure run with ordinary Python lists while preserving its own state and recovering its own output? I will explain the reconstruction issues, the checks I used, and the runtime pattern observed in the formal experiment. I will spend most of the time on the two places where the paper description needed an explicit executable decision.</a:t>
            </a:r>
          </a:p>
          <a:p xmlns:a="http://schemas.openxmlformats.org/drawingml/2006/main">
            <a:r>
              <a:t/>
            </a:r>
          </a:p>
          <a:p xmlns:a="http://schemas.openxmlformats.org/drawingml/2006/main">
            <a:r>
              <a:t>[Sources]</a:t>
            </a:r>
          </a:p>
          <a:p xmlns:a="http://schemas.openxmlformats.org/drawingml/2006/main">
            <a:r>
              <a:t>- thesis/frontmatter/abstract.tex</a:t>
            </a:r>
          </a:p>
          <a:p xmlns:a="http://schemas.openxmlformats.org/drawingml/2006/main">
            <a:r>
              <a:t>- thesis/chapters/introduction.tex</a:t>
            </a:r>
          </a:p>
          <a:p xmlns:a="http://schemas.openxmlformats.org/drawingml/2006/main">
            <a:r>
              <a:t>- thesis/figures/jordan_sorting_problem.pdf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earlier implementation made the static structure explicit. It represented rank intervals, separated the upper and lower families, rebuilt their laminar family trees, and computed structural metrics. The oracle checked whether an input was valid and supplied a reference answer. However, the code did not yet execute the dynamic procedure. It did not update the processed prefix as new points arrived. It also did not split sibling lists, transfer ownership, or recover the final order from the algorithm's own state. These operations matter because an error in one update can corrupt both the partial order and the family structure. The main gap was therefore the move from a structural description to safe dynamic updates.</a:t>
            </a:r>
          </a:p>
          <a:p xmlns:a="http://schemas.openxmlformats.org/drawingml/2006/main">
            <a:r>
              <a:t/>
            </a:r>
          </a:p>
          <a:p xmlns:a="http://schemas.openxmlformats.org/drawingml/2006/main">
            <a:r>
              <a:t>[Sources]</a:t>
            </a:r>
          </a:p>
          <a:p xmlns:a="http://schemas.openxmlformats.org/drawingml/2006/main">
            <a:r>
              <a:t>- thesis/chapters/background.tex</a:t>
            </a:r>
          </a:p>
          <a:p xmlns:a="http://schemas.openxmlformats.org/drawingml/2006/main">
            <a:r>
              <a:t>- thesis/chapters/implementation.tex</a:t>
            </a:r>
          </a:p>
          <a:p xmlns:a="http://schemas.openxmlformats.org/drawingml/2006/main">
            <a:r>
              <a:t>- Hoffmann et al. (1986), doi:10.1016/S0019-9958(86)80033-X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Since the previous report, I have worked on four areas. I first narrowed the scope to sorting inputs that an external oracle has already certified. I then implemented the Step 1, Step 2, and Step 3 control flow. Next, I added ownership checks, transactional updates, replay, and bounded validation. Finally, after the implementation was working and checked, I ran a formal experiment with a fixed protocol. The result is an executable ordinary-list implementation. The specialized backend used in the historical linear-time analysis remains future work.</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thesis/chapters/implementation.tex</a:t>
            </a:r>
          </a:p>
          <a:p xmlns:a="http://schemas.openxmlformats.org/drawingml/2006/main">
            <a:r>
              <a:t>- thesis/chapters/methodology.tex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 the implementation became clearer, I narrowed the scope. The thesis now studies the 1990 sorting procedure on inputs that an oracle has already certified as valid. The experiment compares Python sort, the complete oracle-backed reference pipeline, and the reconstructed paper core. Recognition remains a separate question. I do not use the experiment to classify invalid inputs. The paper core also uses ordinary Python lists rather than the specialized historical backend. This scope lets the thesis study one concrete issue: whether the dynamic procedure can run correctly and recover output from its own maintained state. A finger-tree backend remains a possible extension.</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thesis/chapters/limitations.tex</a:t>
            </a:r>
          </a:p>
          <a:p xmlns:a="http://schemas.openxmlformats.org/drawingml/2006/main">
            <a:r>
              <a:t>- thesis/chapters/methodology.tex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 has three research questions. RQ1 asks whether the ordinary-list reconstruction can recover the correct sorted order from its maintained state on certified valid inputs. RQ2 asks how the paper call behaves relative to Python sort and the complete reference pipeline under their stated timing scopes. RQ3 looks for descriptive relationships between input structure, checked operation counters, and runtime. These questions keep reconstruction, measurement, and interpretation separate. RQ1 is the main technical question. RQ2 reports measured behavior. RQ3 remains exploratory and does not claim a causal explanation.</a:t>
            </a:r>
          </a:p>
          <a:p xmlns:a="http://schemas.openxmlformats.org/drawingml/2006/main">
            <a:r>
              <a:t/>
            </a:r>
          </a:p>
          <a:p xmlns:a="http://schemas.openxmlformats.org/drawingml/2006/main">
            <a:r>
              <a:t>[Sources]</a:t>
            </a:r>
          </a:p>
          <a:p xmlns:a="http://schemas.openxmlformats.org/drawingml/2006/main">
            <a:r>
              <a:t>- thesis/chapters/introduction.tex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oracle, reference pipeline, and paper core play different roles. Before the paper call, the oracle checks the valid-input condition. After the call, the runner uses the oracle's sorted result as the expected answer. The reference pipeline intentionally consumes the complete oracle result, including that sorted output. The paper core receives only the original sequence under the certified precondition. It runs Step 1, Step 2, and Step 3, updates its partial order and sibling-list state, and returns the order recovered from that state. The dashed comparison box sits outside the paper core. Both methods are checked against the same expected answer, but they produce their outputs differently. This distinction lets me test the paper core without supplying the answer as input. The oracle-sorted list never enters the paper core and never determines its return value.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reconstruction follows one control-flow skeleton. It first orders z one, z two, and z three, then initializes the partial order and the first upper and lower pairs. After that, each new point passes through Step 1, Step 2, and Step 3. Step 1 finds the predecessor boundary, which I call A sub i. Step 2 finds the successor boundary, B sub i. Step 3(a) inserts the new pair. Step 3(b) performs any required sibling-list split and ownership transfer. Step 3(c) inserts the new point into the maintained order. The increasing and decreasing cases share these stages. Their local roles are reflected. In an increasing iteration, Step 3(a) uses A sub i and Step 3(b) uses B sub i. A decreasing iteration swaps those uses. The 1990 paper states the increasing case, while the decreasing case follows by symmetry. Two operational details still need explicit rules in code: the geometric endpoint and the odd-index z one output anchor. The next two slides explain why those choices matter.</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issue concerns the endpoint used in Step 3(c). Consider the valid prefix three, two, one, four. The acquired pair P two is stored in curve order as three, two. A mechanical reading might choose the second stored element, two, as the insertion anchor. That produces one, two, four, three, which is wrong on the axis. Curve order and axis order describe different things. The pair records traversal along the curve, while Step 3(c) needs the geometric extreme on the axis. Here the correct endpoint is three. Inserting four after three gives one, two, three, four. This is a representation issue, not a special case for these four numbers. The stored pair order follows the curve, so its second item does not always represent the required side of the current axis order. The increasing orientation uses the right geometric endpoint, and the decreasing orientation uses the left endpoint. I describe this as an executable clarification because the 1990 paper does not state it in this form. Without the clarification, valid examples fail.</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issue is the odd-index z one case. The valid prefix here is one, two, three, four, six, seven, zero. During this decreasing iteration, the ordinary geometric base anchor is z two, with value two. Inserting zero directly before z two gives one, zero, two, three, four, six, seven. Z one remains on the wrong side of the new point. Zero is smaller than z one. Z one is also smaller than the original anchor. Therefore, the output anchor changes from z two to z one. Inserting zero before z one gives the correct order. The important point is that this change affects the output insertion only. It does not replace the earlier predecessor or successor boundary calculation. Those two decisions solve different problems. One selects the pair used by the family update. The other selects the point used to update the output order. The implementation records both decisions separately, which also makes the diagnostic trace easier to check.</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thesis/figures/step3c_anchor_z1_anomaly.pdf</a:t>
            </a:r>
          </a:p>
          <a:p xmlns:a="http://schemas.openxmlformats.org/drawingml/2006/main">
            <a:r>
              <a:t>- Hoffmann et al. (1986), p. 175, doi:10.1016/S0019-9958(86)80033-X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Correct insertion also requires consistent ownership. Every finite pair has one parent and one sibling-list owner. Before a split, the existing owner controls both the retained and acquired segments. After the split, the existing owner keeps the retained segment, and the new owner receives the acquired segment. The split may create new lists for both nonempty sides, but only the acquired segment changes parent. The code treats the split and transfer as one transaction. It saves the affected state, performs the update, and checks the split boundary, ownership, and local postconditions. If a check fails, it restores the old registry, ownership links, and list identifiers. The maintained state also contains the sorted processed prefix and both pair families. Ordinary lists make scanning, copying, slicing, and ownership rebinding visible costs. These checks protect correctness, but they do not provide the update bounds used in the historical linear-time analysis.</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thesis/figures/family_sibling_structure.pdf</a:t>
            </a:r>
          </a:p>
          <a:p xmlns:a="http://schemas.openxmlformats.org/drawingml/2006/main">
            <a:r>
              <a:t>- src/paper_jordan.py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use four main checks for the implementation. Focused regression cases cover known edge conditions. Bounded exhaustive validation covers all 2,074 oracle-valid permutations up to size eight. Checked-state audits inspect parent links, ownership, sibling lists, and recovered output. Deterministic replay runs the same core again and compares the resulting state. Replay checks consistency. It does not provide a second Jordan-sorting implementation. Separately, an experiment validation path checks that the saved outputs match the fixed setup and recomputed summaries. I keep the detailed archive checks in Backup C because the main research point here is the algorithm state. These checks support the evaluated cases, but they do not prove correctness for every Jordan sequence.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docs/thesis/latex_final_audit.md</a:t>
            </a:r>
          </a:p>
          <a:p xmlns:a="http://schemas.openxmlformats.org/drawingml/2006/main">
            <a:r>
              <a:t>- experiments/validate_week12_formal_sorting_outputs.py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formal experiment covers five sizes and twelve exact cases per size. It compares three algorithms. Each case-algorithm cell has five warm-up calls and twenty measured calls, producing 3,600 rows. These are repeated calls on the same exact case, not twenty independent inputs. Each call receives a fresh list containing the same values. The schedule rotates algorithm positions so that one method does not always run first. For the paper algorithm, oracle certification and the checked-state audit happen before timing. The minimal paper call runs inside the timer, including output recovery from the maintained order. The runner compares the returned output after timing. Python timing covers its sorting call. Reference timing covers the complete oracle-backed reference pipeline. Paper and reference therefore use different timing scopes, so their ratio is not an end-to-end speedup.</a:t>
            </a:r>
          </a:p>
          <a:p xmlns:a="http://schemas.openxmlformats.org/drawingml/2006/main">
            <a:r>
              <a:t/>
            </a:r>
          </a:p>
          <a:p xmlns:a="http://schemas.openxmlformats.org/drawingml/2006/main">
            <a:r>
              <a:t>[Sources]</a:t>
            </a:r>
          </a:p>
          <a:p xmlns:a="http://schemas.openxmlformats.org/drawingml/2006/main">
            <a:r>
              <a:t>- thesis/chapters/methodology.tex</a:t>
            </a:r>
          </a:p>
          <a:p xmlns:a="http://schemas.openxmlformats.org/drawingml/2006/main">
            <a:r>
              <a:t>- thesis/figures/formal_experiment_pipeline.pdf</a:t>
            </a:r>
          </a:p>
          <a:p xmlns:a="http://schemas.openxmlformats.org/drawingml/2006/main">
            <a:r>
              <a:t>- results/runs/week12_formal_sorting_v1__run001/config.json</a:t>
            </a:r>
          </a:p>
          <a:p xmlns:a="http://schemas.openxmlformats.org/drawingml/2006/main">
            <a:r>
              <a:t>- results/runs/week12_formal_sorting_v1__run001/manifest.json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60 evaluated cases passed certification and one case-level checked-state audit each. Every measured call returned the expected output, and the run recorded no correctness errors. The experiment used one audit per exact case. Its 3,600 timing rows carry the corresponding case-level audit result, so the row count does not mean 3,600 independent audits. These results support the tested valid cases only. They do not evaluate recognition of arbitrary inputs or prove correctness for every Jordan sequence.</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results/runs/week12_formal_sorting_v1__run001/raw.csv</a:t>
            </a:r>
          </a:p>
          <a:p xmlns:a="http://schemas.openxmlformats.org/drawingml/2006/main">
            <a:r>
              <a:t>- results/runs/week12_formal_sorting_v1__run001/case_audit.csv</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runtime pattern is the decrease in the paper/reference ratio across the five tested sizes. I first compute the ratio for each exact case. Each case then has equal weight in the size-level median. The ratio is 3.226 at n equals 32, 2.202 at 64, and 1.351 at 128. It falls below one at 256, where it is 0.851, and reaches 0.567 at 512. The ratio is above one at n = 128 and below one at n = 256. Under these timing scopes, the recorded paper call is smaller than the reference-pipeline call at the two larger sizes. The scopes differ, so this pattern does not establish a general speedup. Five sizes also do not establish asymptotic behavior. Python sort, shown in Backup A, has the lowest median call time at every tested size.</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a:p xmlns:a="http://schemas.openxmlformats.org/drawingml/2006/main">
            <a:r>
              <a:t>- docs/analysis/week12_runtime_ratios.csv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evidence supports an executable ordinary-list reconstruction whose output comes from maintained state. It also supports correct output on the evaluated valid cases and a recorded runtime trend under the stated timing scopes. The main limits are equally important. Ordinary Python lists do not establish a linear-time implementation, and five tested sizes do not establish asymptotic complexity. Recognition was not evaluated. The paper/reference comparison still uses different timing scopes. I therefore present the runtime values as observations for this implementation and experiment, not as a general algorithmic bound.</a:t>
            </a:r>
          </a:p>
          <a:p xmlns:a="http://schemas.openxmlformats.org/drawingml/2006/main">
            <a:r>
              <a:t/>
            </a:r>
          </a:p>
          <a:p xmlns:a="http://schemas.openxmlformats.org/drawingml/2006/main">
            <a:r>
              <a:t>[Sources]</a:t>
            </a:r>
          </a:p>
          <a:p xmlns:a="http://schemas.openxmlformats.org/drawingml/2006/main">
            <a:r>
              <a:t>- thesis/chapters/limitations.tex</a:t>
            </a:r>
          </a:p>
          <a:p xmlns:a="http://schemas.openxmlformats.org/drawingml/2006/main">
            <a:r>
              <a:t>- thesis/chapters/conclusion.tex</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possible next step is to investigate a finger-tree backend while keeping the same Step 1, Step 2, and Step 3 behavior. The ordinary-list implementation gives a tested reference point for that work. The detailed backend boundary appears in Backup E, including the ownership-transfer difficulty. I would like guidance on two questions. First, should the extension target the historical heterogeneous finger tree, or an equivalent backend with the required list operations? Second, is a tested, semantically equivalent prototype enough, or should I also prove the required amortized operation bounds? The answer determines whether this stays an implementation experiment or also needs a complexity proof.</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thesis/README.md</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exact runtimes are requested, this backup slide reports the median call times for all three algorithms. The values belong to one recorded Apple M4 and CPython 3.12.4 execution. The logarithmic scale makes the Python values visible beside the reference and paper values. These absolute times should not be generalized to other environments.</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results/runs/week12_formal_sorting_v1__run001/case_summary.csv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answers the output-provenance question directly. The reference pipeline returns oracle_result sorted. The paper core returns state.partial_order.to_list. Certification precedes the paper call and comparison follows it, so neither operation supplies the paper core's return value.</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src/paper_jordan.py</a:t>
            </a:r>
          </a:p>
          <a:p xmlns:a="http://schemas.openxmlformats.org/drawingml/2006/main">
            <a:r>
              <a:t>- src/simplified_jordan.py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inventory summarizes the bounded validation evidence: repository tests, exhaustive valid permutations through size eight, fixed generated cases, formal case-level checked-state audits, and a formal evidence archive that passed evidence-contract validation. These checks are complementary; none is a universal proof.</a:t>
            </a:r>
          </a:p>
          <a:p xmlns:a="http://schemas.openxmlformats.org/drawingml/2006/main">
            <a:r>
              <a:t/>
            </a:r>
          </a:p>
          <a:p xmlns:a="http://schemas.openxmlformats.org/drawingml/2006/main">
            <a:r>
              <a:t>[Sources]</a:t>
            </a:r>
          </a:p>
          <a:p xmlns:a="http://schemas.openxmlformats.org/drawingml/2006/main">
            <a:r>
              <a:t>- docs/thesis/latex_final_audit.md</a:t>
            </a:r>
          </a:p>
          <a:p xmlns:a="http://schemas.openxmlformats.org/drawingml/2006/main">
            <a:r>
              <a:t>- experiments/validate_paper_algorithm.py</a:t>
            </a:r>
          </a:p>
          <a:p xmlns:a="http://schemas.openxmlformats.org/drawingml/2006/main">
            <a:r>
              <a:t>- results/runs/week12_formal_sorting_v1__run001/validation_report.json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summarizes the reflected local choices. Step 1 always selects the predecessor-side boundary A-i, and Step 2 always selects the successor-side boundary B-i. Step 3 reflects how those boundaries are used. Increasing iterations acquire the left split side and use the rightmost child and right endpoint; decreasing iterations mirror those choices.</a:t>
            </a:r>
          </a:p>
          <a:p xmlns:a="http://schemas.openxmlformats.org/drawingml/2006/main">
            <a:r>
              <a:t/>
            </a:r>
          </a:p>
          <a:p xmlns:a="http://schemas.openxmlformats.org/drawingml/2006/main">
            <a:r>
              <a:t>[Sources]</a:t>
            </a:r>
          </a:p>
          <a:p xmlns:a="http://schemas.openxmlformats.org/drawingml/2006/main">
            <a:r>
              <a:t>- thesis/chapters/algorithm.tex</a:t>
            </a:r>
          </a:p>
          <a:p xmlns:a="http://schemas.openxmlformats.org/drawingml/2006/main">
            <a:r>
              <a:t>- thesis/chapters/implementation.tex</a:t>
            </a:r>
          </a:p>
          <a:p xmlns:a="http://schemas.openxmlformats.org/drawingml/2006/main">
            <a:r>
              <a:t>- Fung et al. (1990), doi:10.1016/0020-0190(90)90111-A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boundary keeps the paper-facing Step 1, Step 2, and Step 3 control flow above a small sibling-list interface. The current ordinary-list backend remains the validated baseline. A finger-tree backend would be a separate implementation of the same semantic operations: singleton creation, boundary insertion, split, extreme-child access, ownership preservation, and stable handles. The exact data-structure target—either the historical heterogeneous finger tree or an equivalently efficient backend—remains to be agreed with the supervisor. The main risk is that efficient tree splitting is not enough by itself. If ownership transfer still scans the acquired segment and rebinds every item, the backend may not satisfy the operation bounds needed by the historical analysis. The first milestone is therefore semantic equivalence and differential correctness; any complexity claim requires a separate proof-level argument.</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Fung et al. (1990), doi:10.1016/0020-0190(90)90111-A</a:t>
            </a:r>
          </a:p>
          <a:p xmlns:a="http://schemas.openxmlformats.org/drawingml/2006/main">
            <a:r>
              <a:t>- Supervisor feedback,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e673f708f44c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cd1a7a0b7644745" /><Relationship Type="http://schemas.openxmlformats.org/officeDocument/2006/relationships/slideLayout" Target="/ppt/slideLayouts/slideLayout1.xml" Id="R8ca098f6044e477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a098f6044e477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098156e63834ba6" /><Relationship Type="http://schemas.openxmlformats.org/officeDocument/2006/relationships/image" Target="/ppt/media/image.png" Id="Rfa1d7a5c3009486c" /><Relationship Type="http://schemas.openxmlformats.org/officeDocument/2006/relationships/notesSlide" Target="/ppt/notesSlides/notesSlide1.xml" Id="R783ae956692b44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e8a9a653fa24396" /><Relationship Type="http://schemas.openxmlformats.org/officeDocument/2006/relationships/notesSlide" Target="/ppt/notesSlides/notesSlide2.xml" Id="Rbabdde42735f45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4f7842241074361" /><Relationship Type="http://schemas.openxmlformats.org/officeDocument/2006/relationships/notesSlide" Target="/ppt/notesSlides/notesSlide3.xml" Id="R1af6193adaed46b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a2d0f989de34043" /><Relationship Type="http://schemas.openxmlformats.org/officeDocument/2006/relationships/notesSlide" Target="/ppt/notesSlides/notesSlide4.xml" Id="R34a3bddfe05d49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d9d617ac25c437e" /><Relationship Type="http://schemas.openxmlformats.org/officeDocument/2006/relationships/notesSlide" Target="/ppt/notesSlides/notesSlide5.xml" Id="Rf4968c68a05342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bef0c0ace2e4fa2" /><Relationship Type="http://schemas.openxmlformats.org/officeDocument/2006/relationships/notesSlide" Target="/ppt/notesSlides/notesSlide6.xml" Id="R4d47ef67e0d9429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2ea4faf8dfc4cfe" /><Relationship Type="http://schemas.openxmlformats.org/officeDocument/2006/relationships/notesSlide" Target="/ppt/notesSlides/notesSlide7.xml" Id="R484075710423439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4d0acd6f1854770" /><Relationship Type="http://schemas.openxmlformats.org/officeDocument/2006/relationships/notesSlide" Target="/ppt/notesSlides/notesSlide8.xml" Id="R02fb51eabc534e6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fb2205aebe7415a" /><Relationship Type="http://schemas.openxmlformats.org/officeDocument/2006/relationships/notesSlide" Target="/ppt/notesSlides/notesSlide9.xml" Id="R2cd76b010c9e4a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487f181b2004a58" /><Relationship Type="http://schemas.openxmlformats.org/officeDocument/2006/relationships/notesSlide" Target="/ppt/notesSlides/notesSlide10.xml" Id="R2c2e03b7ba56463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90c15ccfa2b4fb4" /><Relationship Type="http://schemas.openxmlformats.org/officeDocument/2006/relationships/notesSlide" Target="/ppt/notesSlides/notesSlide11.xml" Id="R35a5cd6eb54c491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57e2bdbbdd14f4e" /><Relationship Type="http://schemas.openxmlformats.org/officeDocument/2006/relationships/notesSlide" Target="/ppt/notesSlides/notesSlide12.xml" Id="R720196b71cf7465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3475fb836724720" /><Relationship Type="http://schemas.openxmlformats.org/officeDocument/2006/relationships/notesSlide" Target="/ppt/notesSlides/notesSlide13.xml" Id="R2afd7e7e7df5421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54904c9a49743b3" /><Relationship Type="http://schemas.openxmlformats.org/officeDocument/2006/relationships/chart" Target="/ppt/slides/charts/chart1.xml" Id="Ra03577e6470f40b8" /><Relationship Type="http://schemas.openxmlformats.org/officeDocument/2006/relationships/notesSlide" Target="/ppt/notesSlides/notesSlide14.xml" Id="R7583cce8e52744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b455b9344b64cde" /><Relationship Type="http://schemas.openxmlformats.org/officeDocument/2006/relationships/notesSlide" Target="/ppt/notesSlides/notesSlide15.xml" Id="Rbbdeb615cf444d7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1465606e4a14044" /><Relationship Type="http://schemas.openxmlformats.org/officeDocument/2006/relationships/notesSlide" Target="/ppt/notesSlides/notesSlide16.xml" Id="R45c2499035594d8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87647b890914277" /><Relationship Type="http://schemas.openxmlformats.org/officeDocument/2006/relationships/image" Target="/ppt/media/image2.png" Id="R41449a41ec4f4b18" /><Relationship Type="http://schemas.openxmlformats.org/officeDocument/2006/relationships/notesSlide" Target="/ppt/notesSlides/notesSlide17.xml" Id="R6cdbcc0149a347f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57107fec18a40b6" /><Relationship Type="http://schemas.openxmlformats.org/officeDocument/2006/relationships/notesSlide" Target="/ppt/notesSlides/notesSlide18.xml" Id="Raf6ebb5fd5c74db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47dcb7a42cb4c18" /><Relationship Type="http://schemas.openxmlformats.org/officeDocument/2006/relationships/notesSlide" Target="/ppt/notesSlides/notesSlide19.xml" Id="Rb35792c83801419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cc6de9e38d34b78" /><Relationship Type="http://schemas.openxmlformats.org/officeDocument/2006/relationships/notesSlide" Target="/ppt/notesSlides/notesSlide20.xml" Id="R4fa3a417e06649f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351c85696bb42ca" /><Relationship Type="http://schemas.openxmlformats.org/officeDocument/2006/relationships/notesSlide" Target="/ppt/notesSlides/notesSlide21.xml" Id="R4e976e3ec00745d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paper/reference</c:v>
          </c:tx>
          <c:spPr>
            <a:ln xmlns:a="http://schemas.openxmlformats.org/drawingml/2006/main" w="38100">
              <a:solidFill>
                <a:srgbClr val="2A9D8F"/>
              </a:solidFill>
              <a:prstDash val="solid"/>
            </a:ln>
          </c:spPr>
          <c:marker>
            <c:symbol val="circle"/>
            <c:size val="9"/>
            <c:spPr>
              <a:solidFill xmlns:a="http://schemas.openxmlformats.org/drawingml/2006/main">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0.0</c:formatCode>
                <c:ptCount val="5"/>
                <c:pt idx="0">
                  <c:v>3.22642</c:v>
                </c:pt>
                <c:pt idx="1">
                  <c:v>2.202394</c:v>
                </c:pt>
                <c:pt idx="2">
                  <c:v>1.351064</c:v>
                </c:pt>
                <c:pt idx="3">
                  <c:v>0.850597</c:v>
                </c:pt>
                <c:pt idx="4">
                  <c:v>0.567187</c:v>
                </c:pt>
              </c:numCache>
            </c:numRef>
          </c:val>
          <c:smooth val="0"/>
        </c:ser>
        <c:ser>
          <c:idx val="1"/>
          <c:order val="1"/>
          <c:tx>
            <c:v>ratio = 1</c:v>
          </c:tx>
          <c:spPr>
            <a:ln xmlns:a="http://schemas.openxmlformats.org/drawingml/2006/main" w="19050">
              <a:solidFill>
                <a:srgbClr val="E76F51"/>
              </a:solidFill>
              <a:prstDash val="dash"/>
            </a:ln>
          </c:spPr>
          <c:marker>
            <c:symbol val="none"/>
          </c:marker>
          <c:cat>
            <c:numRef>
              <c:f>'Chart Data'!$C$2:$C$6</c:f>
              <c:numCache>
                <c:formatCode>General</c:formatCode>
                <c:ptCount val="5"/>
                <c:pt idx="0">
                  <c:v>32</c:v>
                </c:pt>
                <c:pt idx="1">
                  <c:v>64</c:v>
                </c:pt>
                <c:pt idx="2">
                  <c:v>128</c:v>
                </c:pt>
                <c:pt idx="3">
                  <c:v>256</c:v>
                </c:pt>
                <c:pt idx="4">
                  <c:v>512</c:v>
                </c:pt>
              </c:numCache>
            </c:numRef>
          </c:cat>
          <c:val>
            <c:numRef>
              <c:f>'Chart Data'!$D$2:$D$6</c:f>
              <c:numCache>
                <c:formatCode>0.0</c:formatCode>
                <c:ptCount val="5"/>
                <c:pt idx="0">
                  <c:v>1</c:v>
                </c:pt>
                <c:pt idx="1">
                  <c:v>1</c:v>
                </c:pt>
                <c:pt idx="2">
                  <c:v>1</c:v>
                </c:pt>
                <c:pt idx="3">
                  <c:v>1</c:v>
                </c:pt>
                <c:pt idx="4">
                  <c:v>1</c:v>
                </c:pt>
              </c:numCache>
            </c:numRef>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125">
                    <a:solidFill>
                      <a:srgbClr val="52606D"/>
                    </a:solidFill>
                  </a:rPr>
                  <a:t>input size n</a:t>
                </a:r>
              </a:p>
            </c:rich>
          </c:tx>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title>
        <c:numFmt formatCode="General"/>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125">
                <a:solidFill>
                  <a:srgbClr val="52606D"/>
                </a:solidFill>
              </a:defRPr>
            </a:pPr>
          </a:p>
        </c:txPr>
        <c:crossAx val="48672768"/>
      </c:catAx>
      <c:valAx>
        <c:axId val="48672768"/>
        <c:scaling>
          <c:orientation val="minMax"/>
          <c:max val="3.5"/>
          <c:min val="0"/>
        </c:scaling>
        <c:delete val="0"/>
        <c:axPos val="l"/>
        <c:majorGridlines>
          <c:spPr>
            <a:ln xmlns:a="http://schemas.openxmlformats.org/drawingml/2006/main" w="9525">
              <a:solidFill>
                <a:srgbClr val="E6EDF3"/>
              </a:solidFill>
              <a:prstDash val="solid"/>
            </a:ln>
          </c:spPr>
        </c:majorGridlines>
        <c:title>
          <c:tx>
            <c:rich>
              <a:bodyPr xmlns:a="http://schemas.openxmlformats.org/drawingml/2006/main"/>
              <a:lstStyle xmlns:a="http://schemas.openxmlformats.org/drawingml/2006/main"/>
              <a:p xmlns:a="http://schemas.openxmlformats.org/drawingml/2006/main">
                <a:r>
                  <a:rPr sz="1125">
                    <a:solidFill>
                      <a:srgbClr val="52606D"/>
                    </a:solidFill>
                  </a:rPr>
                  <a:t>median exact-case ratio</a:t>
                </a:r>
              </a:p>
            </c:rich>
          </c:tx>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title>
        <c:numFmt formatCode="0.0"/>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050">
                <a:solidFill>
                  <a:srgbClr val="52606D"/>
                </a:solidFill>
              </a:defRPr>
            </a:pPr>
          </a:p>
        </c:txPr>
        <c:crossAx val="48650112"/>
        <c:crossBetween val="between"/>
        <c:majorUnit val="0.5"/>
      </c:valAx>
      <c:spPr>
        <a:solidFill xmlns:a="http://schemas.openxmlformats.org/drawingml/2006/main">
          <a:srgbClr val="FFFFFF"/>
        </a:solidFill>
        <a:ln xmlns:a="http://schemas.openxmlformats.org/drawingml/2006/main" w="9525">
          <a:solidFill>
            <a:srgbClr val="D9E2EC"/>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52606D"/>
              </a:solidFill>
            </a:defRPr>
          </a:pPr>
        </a:p>
      </c:txPr>
    </c:legend>
    <c:plotVisOnly val="1"/>
  </c:chart>
  <c:spPr>
    <a:solidFill xmlns:a="http://schemas.openxmlformats.org/drawingml/2006/main">
      <a:srgbClr val="FFFFFF"/>
    </a:solidFill>
    <a:ln xmlns:a="http://schemas.openxmlformats.org/drawingml/2006/main" w="9525">
      <a:solidFill>
        <a:srgbClr val="D9E2EC"/>
      </a:solid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80AA2C-E2D8-4815-AE5A-A5DBC929986F}"/>
              </a:ext>
            </a:extLst>
          </p:cNvPr>
          <p:cNvSpPr>
            <a:spLocks xmlns:a="http://schemas.openxmlformats.org/drawingml/2006/main" noGrp="1"/>
          </p:cNvSpPr>
          <p:nvPr/>
        </p:nvSpPr>
        <p:spPr>
          <a:xfrm xmlns:a="http://schemas.openxmlformats.org/drawingml/2006/main">
            <a:off x="7239000" y="0"/>
            <a:ext cx="4953000" cy="685800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a1d7a5c3009486c"/>
          <a:stretch xmlns:a="http://schemas.openxmlformats.org/drawingml/2006/main"/>
        </p:blipFill>
        <p:spPr>
          <a:xfrm xmlns:a="http://schemas.openxmlformats.org/drawingml/2006/main">
            <a:off x="7334250" y="1695818"/>
            <a:ext cx="4667250" cy="2666263"/>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F0D7E22-F95C-48F7-8140-F5DD3AE543A4}"/>
              </a:ext>
            </a:extLst>
          </p:cNvPr>
          <p:cNvSpPr>
            <a:spLocks xmlns:a="http://schemas.openxmlformats.org/drawingml/2006/main" noGrp="1"/>
          </p:cNvSpPr>
          <p:nvPr/>
        </p:nvSpPr>
        <p:spPr>
          <a:xfrm xmlns:a="http://schemas.openxmlformats.org/drawingml/2006/main">
            <a:off x="685800" y="6667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050" b="1" i="0">
                <a:solidFill>
                  <a:srgbClr val="2A9D8F"/>
                </a:solidFill>
              </a:defRPr>
            </a:pPr>
            <a:r>
              <a:rPr sz="1050" b="1" i="0">
                <a:solidFill>
                  <a:srgbClr val="2A9D8F"/>
                </a:solidFill>
              </a:rPr>
              <a:t>MASTER'S THESIS PROGRESS REPORT</a:t>
            </a:r>
          </a:p>
        </p:txBody>
      </p:sp>
      <p:sp>
        <p:nvSpPr>
          <p:cNvPr id="4" name="">
            <a:extLst xmlns:a="http://schemas.openxmlformats.org/drawingml/2006/main">
              <a:ext uri="{FF2B5EF4-FFF2-40B4-BE49-F238E27FC236}">
                <a16:creationId xmlns:a16="http://schemas.microsoft.com/office/drawing/2014/main" id="{FBA7378B-1A42-42D7-9420-D3C2FBF8AF67}"/>
              </a:ext>
            </a:extLst>
          </p:cNvPr>
          <p:cNvSpPr>
            <a:spLocks xmlns:a="http://schemas.openxmlformats.org/drawingml/2006/main" noGrp="1"/>
          </p:cNvSpPr>
          <p:nvPr/>
        </p:nvSpPr>
        <p:spPr>
          <a:xfrm xmlns:a="http://schemas.openxmlformats.org/drawingml/2006/main">
            <a:off x="685800" y="1219200"/>
            <a:ext cx="5905500" cy="2476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2000"/>
              </a:lnSpc>
              <a:buNone/>
              <a:defRPr sz="3750" b="1" i="0">
                <a:solidFill>
                  <a:srgbClr val="FFFFFF"/>
                </a:solidFill>
              </a:defRPr>
            </a:pPr>
            <a:r>
              <a:rPr sz="3750" b="1" i="0">
                <a:solidFill>
                  <a:srgbClr val="FFFFFF"/>
                </a:solidFill>
              </a:rPr>
              <a:t>Progress on the Executable Reconstruction of Simplified Jordan Sorting</a:t>
            </a:r>
          </a:p>
        </p:txBody>
      </p:sp>
      <p:sp>
        <p:nvSpPr>
          <p:cNvPr id="5" name="">
            <a:extLst xmlns:a="http://schemas.openxmlformats.org/drawingml/2006/main">
              <a:ext uri="{FF2B5EF4-FFF2-40B4-BE49-F238E27FC236}">
                <a16:creationId xmlns:a16="http://schemas.microsoft.com/office/drawing/2014/main" id="{2F74A685-8006-43B8-A223-06C121E6B4E3}"/>
              </a:ext>
            </a:extLst>
          </p:cNvPr>
          <p:cNvSpPr>
            <a:spLocks xmlns:a="http://schemas.openxmlformats.org/drawingml/2006/main" noGrp="1"/>
          </p:cNvSpPr>
          <p:nvPr/>
        </p:nvSpPr>
        <p:spPr>
          <a:xfrm xmlns:a="http://schemas.openxmlformats.org/drawingml/2006/main">
            <a:off x="723900" y="3857625"/>
            <a:ext cx="533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D9EAF2"/>
                </a:solidFill>
              </a:defRPr>
            </a:pPr>
            <a:r>
              <a:rPr sz="1800" b="0" i="0">
                <a:solidFill>
                  <a:srgbClr val="D9EAF2"/>
                </a:solidFill>
              </a:rPr>
              <a:t>Implementation progress, validation, and initial experimental results</a:t>
            </a:r>
          </a:p>
        </p:txBody>
      </p:sp>
      <p:sp>
        <p:nvSpPr>
          <p:cNvPr id="6" name="">
            <a:extLst xmlns:a="http://schemas.openxmlformats.org/drawingml/2006/main">
              <a:ext uri="{FF2B5EF4-FFF2-40B4-BE49-F238E27FC236}">
                <a16:creationId xmlns:a16="http://schemas.microsoft.com/office/drawing/2014/main" id="{FFCC32F0-6665-4966-A9A2-529D8D4759F1}"/>
              </a:ext>
            </a:extLst>
          </p:cNvPr>
          <p:cNvSpPr>
            <a:spLocks xmlns:a="http://schemas.openxmlformats.org/drawingml/2006/main" noGrp="1"/>
          </p:cNvSpPr>
          <p:nvPr/>
        </p:nvSpPr>
        <p:spPr>
          <a:xfrm xmlns:a="http://schemas.openxmlformats.org/drawingml/2006/main">
            <a:off x="723900" y="4838700"/>
            <a:ext cx="1428750" cy="9525"/>
          </a:xfrm>
          <a:prstGeom xmlns:a="http://schemas.openxmlformats.org/drawingml/2006/main" prst="line">
            <a:avLst/>
          </a:prstGeom>
          <a:noFill xmlns:a="http://schemas.openxmlformats.org/drawingml/2006/main"/>
          <a:ln xmlns:a="http://schemas.openxmlformats.org/drawingml/2006/main" w="47625">
            <a:solidFill>
              <a:srgbClr val="E76F51"/>
            </a:solidFill>
            <a:prstDash val="solid"/>
          </a:ln>
        </p:spPr>
      </p:sp>
      <p:sp>
        <p:nvSpPr>
          <p:cNvPr id="7" name="">
            <a:extLst xmlns:a="http://schemas.openxmlformats.org/drawingml/2006/main">
              <a:ext uri="{FF2B5EF4-FFF2-40B4-BE49-F238E27FC236}">
                <a16:creationId xmlns:a16="http://schemas.microsoft.com/office/drawing/2014/main" id="{E124ED05-08EF-4B11-8E5C-5B3C18FCCF7E}"/>
              </a:ext>
            </a:extLst>
          </p:cNvPr>
          <p:cNvSpPr>
            <a:spLocks xmlns:a="http://schemas.openxmlformats.org/drawingml/2006/main" noGrp="1"/>
          </p:cNvSpPr>
          <p:nvPr/>
        </p:nvSpPr>
        <p:spPr>
          <a:xfrm xmlns:a="http://schemas.openxmlformats.org/drawingml/2006/main">
            <a:off x="723900" y="5086350"/>
            <a:ext cx="590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275" b="0" i="0">
                <a:solidFill>
                  <a:srgbClr val="BCCCDC"/>
                </a:solidFill>
              </a:defRPr>
            </a:pPr>
            <a:r>
              <a:rPr sz="1275" b="0" i="0">
                <a:solidFill>
                  <a:srgbClr val="BCCCDC"/>
                </a:solidFill>
              </a:rPr>
              <a:t>Research Seminar  |  Freie Universität Berlin  |  September 2026</a:t>
            </a:r>
          </a:p>
        </p:txBody>
      </p:sp>
      <p:sp>
        <p:nvSpPr>
          <p:cNvPr id="8" name="">
            <a:extLst xmlns:a="http://schemas.openxmlformats.org/drawingml/2006/main">
              <a:ext uri="{FF2B5EF4-FFF2-40B4-BE49-F238E27FC236}">
                <a16:creationId xmlns:a16="http://schemas.microsoft.com/office/drawing/2014/main" id="{F31F48F4-F4F1-4ADE-B5F2-E706807175C5}"/>
              </a:ext>
            </a:extLst>
          </p:cNvPr>
          <p:cNvSpPr>
            <a:spLocks xmlns:a="http://schemas.openxmlformats.org/drawingml/2006/main" noGrp="1"/>
          </p:cNvSpPr>
          <p:nvPr/>
        </p:nvSpPr>
        <p:spPr>
          <a:xfrm xmlns:a="http://schemas.openxmlformats.org/drawingml/2006/main">
            <a:off x="11010900" y="6477000"/>
            <a:ext cx="7048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5000"/>
              </a:lnSpc>
              <a:buNone/>
              <a:defRPr sz="825" b="0" i="0">
                <a:solidFill>
                  <a:srgbClr val="7B8794"/>
                </a:solidFill>
              </a:defRPr>
            </a:pPr>
            <a:r>
              <a:rPr sz="825" b="0" i="0">
                <a:solidFill>
                  <a:srgbClr val="7B8794"/>
                </a:solidFill>
              </a:rPr>
              <a:t>1 / 16</a:t>
            </a:r>
          </a:p>
        </p:txBody>
      </p:sp>
    </p:spTree>
    <p:extLst>
      <p:ext uri="{BB962C8B-B14F-4D97-AF65-F5344CB8AC3E}">
        <p14:creationId xmlns:p14="http://schemas.microsoft.com/office/powerpoint/2010/main" val="682601810"/>
      </p:ext>
    </p:extLst>
  </p:cSld>
</p:sld>
</file>

<file path=ppt/slides/slide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92527C7-9AEF-454E-9A26-FAFA08BE9DD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CONTEXT</a:t>
            </a:r>
          </a:p>
        </p:txBody>
      </p:sp>
      <p:sp>
        <p:nvSpPr>
          <p:cNvPr id="2" name="">
            <a:extLst xmlns:a="http://schemas.openxmlformats.org/drawingml/2006/main">
              <a:ext uri="{FF2B5EF4-FFF2-40B4-BE49-F238E27FC236}">
                <a16:creationId xmlns:a16="http://schemas.microsoft.com/office/drawing/2014/main" id="{25B8403D-791A-4AEA-9B85-0328013A640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previous report established a static structural baseline</a:t>
            </a:r>
          </a:p>
        </p:txBody>
      </p:sp>
      <p:sp>
        <p:nvSpPr>
          <p:cNvPr id="3" name="">
            <a:extLst xmlns:a="http://schemas.openxmlformats.org/drawingml/2006/main">
              <a:ext uri="{FF2B5EF4-FFF2-40B4-BE49-F238E27FC236}">
                <a16:creationId xmlns:a16="http://schemas.microsoft.com/office/drawing/2014/main" id="{4AB23991-F903-4EB0-9C3B-610B80F1EBD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3109861-1373-4C79-9F6E-B667CDBFC0C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F86279E-CF39-48EF-84F7-5515EAF82C8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7ABB6548-335D-4E1A-A6BB-0EB4DF967DB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2 / 16</a:t>
            </a:r>
          </a:p>
        </p:txBody>
      </p:sp>
      <p:sp>
        <p:nvSpPr>
          <p:cNvPr id="7" name="">
            <a:extLst xmlns:a="http://schemas.openxmlformats.org/drawingml/2006/main">
              <a:ext uri="{FF2B5EF4-FFF2-40B4-BE49-F238E27FC236}">
                <a16:creationId xmlns:a16="http://schemas.microsoft.com/office/drawing/2014/main" id="{2449552F-C9DC-4C46-89AE-30A5839C37A9}"/>
              </a:ext>
            </a:extLst>
          </p:cNvPr>
          <p:cNvSpPr>
            <a:spLocks xmlns:a="http://schemas.openxmlformats.org/drawingml/2006/main" noGrp="1"/>
          </p:cNvSpPr>
          <p:nvPr/>
        </p:nvSpPr>
        <p:spPr>
          <a:xfrm xmlns:a="http://schemas.openxmlformats.org/drawingml/2006/main">
            <a:off x="895350" y="14287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PREVIOUS BASELINE</a:t>
            </a:r>
          </a:p>
        </p:txBody>
      </p:sp>
      <p:sp>
        <p:nvSpPr>
          <p:cNvPr id="8" name="">
            <a:extLst xmlns:a="http://schemas.openxmlformats.org/drawingml/2006/main">
              <a:ext uri="{FF2B5EF4-FFF2-40B4-BE49-F238E27FC236}">
                <a16:creationId xmlns:a16="http://schemas.microsoft.com/office/drawing/2014/main" id="{994F44D3-EA5E-4214-9116-0EB590C710DB}"/>
              </a:ext>
            </a:extLst>
          </p:cNvPr>
          <p:cNvSpPr>
            <a:spLocks xmlns:a="http://schemas.openxmlformats.org/drawingml/2006/main" noGrp="1"/>
          </p:cNvSpPr>
          <p:nvPr/>
        </p:nvSpPr>
        <p:spPr>
          <a:xfrm xmlns:a="http://schemas.openxmlformats.org/drawingml/2006/main">
            <a:off x="895350" y="1762125"/>
            <a:ext cx="3714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4383"/>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Structural reference framework</a:t>
            </a:r>
          </a:p>
        </p:txBody>
      </p:sp>
      <p:sp>
        <p:nvSpPr>
          <p:cNvPr id="9" name="">
            <a:extLst xmlns:a="http://schemas.openxmlformats.org/drawingml/2006/main">
              <a:ext uri="{FF2B5EF4-FFF2-40B4-BE49-F238E27FC236}">
                <a16:creationId xmlns:a16="http://schemas.microsoft.com/office/drawing/2014/main" id="{E9110F7B-AA45-4555-AAF6-857B4C7526BD}"/>
              </a:ext>
            </a:extLst>
          </p:cNvPr>
          <p:cNvSpPr>
            <a:spLocks xmlns:a="http://schemas.openxmlformats.org/drawingml/2006/main" noGrp="1"/>
          </p:cNvSpPr>
          <p:nvPr/>
        </p:nvSpPr>
        <p:spPr>
          <a:xfrm xmlns:a="http://schemas.openxmlformats.org/drawingml/2006/main">
            <a:off x="9715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0" name="">
            <a:extLst xmlns:a="http://schemas.openxmlformats.org/drawingml/2006/main">
              <a:ext uri="{FF2B5EF4-FFF2-40B4-BE49-F238E27FC236}">
                <a16:creationId xmlns:a16="http://schemas.microsoft.com/office/drawing/2014/main" id="{D818320C-0F05-4080-A1BB-31F169D118AD}"/>
              </a:ext>
            </a:extLst>
          </p:cNvPr>
          <p:cNvSpPr>
            <a:spLocks xmlns:a="http://schemas.openxmlformats.org/drawingml/2006/main" noGrp="1"/>
          </p:cNvSpPr>
          <p:nvPr/>
        </p:nvSpPr>
        <p:spPr>
          <a:xfrm xmlns:a="http://schemas.openxmlformats.org/drawingml/2006/main">
            <a:off x="1181100" y="23812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rank-interval abstraction</a:t>
            </a:r>
          </a:p>
        </p:txBody>
      </p:sp>
      <p:sp>
        <p:nvSpPr>
          <p:cNvPr id="11" name="">
            <a:extLst xmlns:a="http://schemas.openxmlformats.org/drawingml/2006/main">
              <a:ext uri="{FF2B5EF4-FFF2-40B4-BE49-F238E27FC236}">
                <a16:creationId xmlns:a16="http://schemas.microsoft.com/office/drawing/2014/main" id="{56829D05-C615-4F0F-BF9D-7459B091C89E}"/>
              </a:ext>
            </a:extLst>
          </p:cNvPr>
          <p:cNvSpPr>
            <a:spLocks xmlns:a="http://schemas.openxmlformats.org/drawingml/2006/main" noGrp="1"/>
          </p:cNvSpPr>
          <p:nvPr/>
        </p:nvSpPr>
        <p:spPr>
          <a:xfrm xmlns:a="http://schemas.openxmlformats.org/drawingml/2006/main">
            <a:off x="971550" y="29527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F69A176A-5671-494F-80A5-03DB398A5EDD}"/>
              </a:ext>
            </a:extLst>
          </p:cNvPr>
          <p:cNvSpPr>
            <a:spLocks xmlns:a="http://schemas.openxmlformats.org/drawingml/2006/main" noGrp="1"/>
          </p:cNvSpPr>
          <p:nvPr/>
        </p:nvSpPr>
        <p:spPr>
          <a:xfrm xmlns:a="http://schemas.openxmlformats.org/drawingml/2006/main">
            <a:off x="1181100" y="28765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upper and lower families</a:t>
            </a:r>
          </a:p>
        </p:txBody>
      </p:sp>
      <p:sp>
        <p:nvSpPr>
          <p:cNvPr id="13" name="">
            <a:extLst xmlns:a="http://schemas.openxmlformats.org/drawingml/2006/main">
              <a:ext uri="{FF2B5EF4-FFF2-40B4-BE49-F238E27FC236}">
                <a16:creationId xmlns:a16="http://schemas.microsoft.com/office/drawing/2014/main" id="{1E03F622-9F42-4140-8944-C44C22845740}"/>
              </a:ext>
            </a:extLst>
          </p:cNvPr>
          <p:cNvSpPr>
            <a:spLocks xmlns:a="http://schemas.openxmlformats.org/drawingml/2006/main" noGrp="1"/>
          </p:cNvSpPr>
          <p:nvPr/>
        </p:nvSpPr>
        <p:spPr>
          <a:xfrm xmlns:a="http://schemas.openxmlformats.org/drawingml/2006/main">
            <a:off x="971550" y="34480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853AA5E3-00BE-45DB-9C79-3B7C8C25B019}"/>
              </a:ext>
            </a:extLst>
          </p:cNvPr>
          <p:cNvSpPr>
            <a:spLocks xmlns:a="http://schemas.openxmlformats.org/drawingml/2006/main" noGrp="1"/>
          </p:cNvSpPr>
          <p:nvPr/>
        </p:nvSpPr>
        <p:spPr>
          <a:xfrm xmlns:a="http://schemas.openxmlformats.org/drawingml/2006/main">
            <a:off x="1181100" y="33718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family trees and structural metrics</a:t>
            </a:r>
          </a:p>
        </p:txBody>
      </p:sp>
      <p:sp>
        <p:nvSpPr>
          <p:cNvPr id="15" name="">
            <a:extLst xmlns:a="http://schemas.openxmlformats.org/drawingml/2006/main">
              <a:ext uri="{FF2B5EF4-FFF2-40B4-BE49-F238E27FC236}">
                <a16:creationId xmlns:a16="http://schemas.microsoft.com/office/drawing/2014/main" id="{90C0F484-6B8E-4F83-9ED7-EDCA385121AF}"/>
              </a:ext>
            </a:extLst>
          </p:cNvPr>
          <p:cNvSpPr>
            <a:spLocks xmlns:a="http://schemas.openxmlformats.org/drawingml/2006/main" noGrp="1"/>
          </p:cNvSpPr>
          <p:nvPr/>
        </p:nvSpPr>
        <p:spPr>
          <a:xfrm xmlns:a="http://schemas.openxmlformats.org/drawingml/2006/main">
            <a:off x="971550" y="39433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6" name="">
            <a:extLst xmlns:a="http://schemas.openxmlformats.org/drawingml/2006/main">
              <a:ext uri="{FF2B5EF4-FFF2-40B4-BE49-F238E27FC236}">
                <a16:creationId xmlns:a16="http://schemas.microsoft.com/office/drawing/2014/main" id="{312E9624-B5B4-4A5A-9C89-658AE3F2C5FB}"/>
              </a:ext>
            </a:extLst>
          </p:cNvPr>
          <p:cNvSpPr>
            <a:spLocks xmlns:a="http://schemas.openxmlformats.org/drawingml/2006/main" noGrp="1"/>
          </p:cNvSpPr>
          <p:nvPr/>
        </p:nvSpPr>
        <p:spPr>
          <a:xfrm xmlns:a="http://schemas.openxmlformats.org/drawingml/2006/main">
            <a:off x="1181100" y="3867150"/>
            <a:ext cx="3505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oracle-backed validation</a:t>
            </a:r>
          </a:p>
        </p:txBody>
      </p:sp>
      <p:sp>
        <p:nvSpPr>
          <p:cNvPr id="17" name="">
            <a:extLst xmlns:a="http://schemas.openxmlformats.org/drawingml/2006/main">
              <a:ext uri="{FF2B5EF4-FFF2-40B4-BE49-F238E27FC236}">
                <a16:creationId xmlns:a16="http://schemas.microsoft.com/office/drawing/2014/main" id="{1F01D763-67DA-4327-B6BB-09610F70E5C4}"/>
              </a:ext>
            </a:extLst>
          </p:cNvPr>
          <p:cNvSpPr>
            <a:spLocks xmlns:a="http://schemas.openxmlformats.org/drawingml/2006/main" noGrp="1"/>
          </p:cNvSpPr>
          <p:nvPr/>
        </p:nvSpPr>
        <p:spPr>
          <a:xfrm xmlns:a="http://schemas.openxmlformats.org/drawingml/2006/main">
            <a:off x="5219700" y="2971800"/>
            <a:ext cx="1143000" cy="552450"/>
          </a:xfrm>
          <a:prstGeom xmlns:a="http://schemas.openxmlformats.org/drawingml/2006/main" prst="roundRect">
            <a:avLst>
              <a:gd name="adj" fmla="val 50000"/>
            </a:avLst>
          </a:prstGeom>
          <a:solidFill xmlns:a="http://schemas.openxmlformats.org/drawingml/2006/main">
            <a:srgbClr val="EAF1F8"/>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ED986F72-7D89-40E8-9CE4-6D30F6F287B2}"/>
              </a:ext>
            </a:extLst>
          </p:cNvPr>
          <p:cNvSpPr>
            <a:spLocks xmlns:a="http://schemas.openxmlformats.org/drawingml/2006/main" noGrp="1"/>
          </p:cNvSpPr>
          <p:nvPr/>
        </p:nvSpPr>
        <p:spPr>
          <a:xfrm xmlns:a="http://schemas.openxmlformats.org/drawingml/2006/main">
            <a:off x="5238750" y="3028950"/>
            <a:ext cx="11049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static</a:t>
            </a:r>
          </a:p>
        </p:txBody>
      </p:sp>
      <p:sp>
        <p:nvSpPr>
          <p:cNvPr id="19" name="">
            <a:extLst xmlns:a="http://schemas.openxmlformats.org/drawingml/2006/main">
              <a:ext uri="{FF2B5EF4-FFF2-40B4-BE49-F238E27FC236}">
                <a16:creationId xmlns:a16="http://schemas.microsoft.com/office/drawing/2014/main" id="{A14D78AF-DB17-4677-BAD9-39105BD4A48C}"/>
              </a:ext>
            </a:extLst>
          </p:cNvPr>
          <p:cNvSpPr>
            <a:spLocks xmlns:a="http://schemas.openxmlformats.org/drawingml/2006/main" noGrp="1"/>
          </p:cNvSpPr>
          <p:nvPr/>
        </p:nvSpPr>
        <p:spPr>
          <a:xfrm xmlns:a="http://schemas.openxmlformats.org/drawingml/2006/main">
            <a:off x="6334125" y="2981325"/>
            <a:ext cx="666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a:t>
            </a:r>
          </a:p>
        </p:txBody>
      </p:sp>
      <p:sp>
        <p:nvSpPr>
          <p:cNvPr id="20" name="">
            <a:extLst xmlns:a="http://schemas.openxmlformats.org/drawingml/2006/main">
              <a:ext uri="{FF2B5EF4-FFF2-40B4-BE49-F238E27FC236}">
                <a16:creationId xmlns:a16="http://schemas.microsoft.com/office/drawing/2014/main" id="{C1262B43-00CF-4DA9-9456-507A68AEF4A9}"/>
              </a:ext>
            </a:extLst>
          </p:cNvPr>
          <p:cNvSpPr>
            <a:spLocks xmlns:a="http://schemas.openxmlformats.org/drawingml/2006/main" noGrp="1"/>
          </p:cNvSpPr>
          <p:nvPr/>
        </p:nvSpPr>
        <p:spPr>
          <a:xfrm xmlns:a="http://schemas.openxmlformats.org/drawingml/2006/main">
            <a:off x="6953250" y="2971800"/>
            <a:ext cx="1238250" cy="552450"/>
          </a:xfrm>
          <a:prstGeom xmlns:a="http://schemas.openxmlformats.org/drawingml/2006/main" prst="roundRect">
            <a:avLst>
              <a:gd name="adj" fmla="val 50000"/>
            </a:avLst>
          </a:prstGeom>
          <a:solidFill xmlns:a="http://schemas.openxmlformats.org/drawingml/2006/main">
            <a:srgbClr val="E8F5F3"/>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2B900C52-030E-4979-B1F2-5CDC3506AFAC}"/>
              </a:ext>
            </a:extLst>
          </p:cNvPr>
          <p:cNvSpPr>
            <a:spLocks xmlns:a="http://schemas.openxmlformats.org/drawingml/2006/main" noGrp="1"/>
          </p:cNvSpPr>
          <p:nvPr/>
        </p:nvSpPr>
        <p:spPr>
          <a:xfrm xmlns:a="http://schemas.openxmlformats.org/drawingml/2006/main">
            <a:off x="6991350" y="3028950"/>
            <a:ext cx="11620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dynamic</a:t>
            </a:r>
          </a:p>
        </p:txBody>
      </p:sp>
      <p:sp>
        <p:nvSpPr>
          <p:cNvPr id="22" name="">
            <a:extLst xmlns:a="http://schemas.openxmlformats.org/drawingml/2006/main">
              <a:ext uri="{FF2B5EF4-FFF2-40B4-BE49-F238E27FC236}">
                <a16:creationId xmlns:a16="http://schemas.microsoft.com/office/drawing/2014/main" id="{887FA0DE-EB01-4AA3-B09A-8869194F319D}"/>
              </a:ext>
            </a:extLst>
          </p:cNvPr>
          <p:cNvSpPr>
            <a:spLocks xmlns:a="http://schemas.openxmlformats.org/drawingml/2006/main" noGrp="1"/>
          </p:cNvSpPr>
          <p:nvPr/>
        </p:nvSpPr>
        <p:spPr>
          <a:xfrm xmlns:a="http://schemas.openxmlformats.org/drawingml/2006/main">
            <a:off x="8572500" y="14287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OPEN IMPLEMENTATION GAP</a:t>
            </a:r>
          </a:p>
        </p:txBody>
      </p:sp>
      <p:sp>
        <p:nvSpPr>
          <p:cNvPr id="23" name="">
            <a:extLst xmlns:a="http://schemas.openxmlformats.org/drawingml/2006/main">
              <a:ext uri="{FF2B5EF4-FFF2-40B4-BE49-F238E27FC236}">
                <a16:creationId xmlns:a16="http://schemas.microsoft.com/office/drawing/2014/main" id="{660B415B-CB4D-4A77-B11B-5B87283CEE1C}"/>
              </a:ext>
            </a:extLst>
          </p:cNvPr>
          <p:cNvSpPr>
            <a:spLocks xmlns:a="http://schemas.openxmlformats.org/drawingml/2006/main" noGrp="1"/>
          </p:cNvSpPr>
          <p:nvPr/>
        </p:nvSpPr>
        <p:spPr>
          <a:xfrm xmlns:a="http://schemas.openxmlformats.org/drawingml/2006/main">
            <a:off x="8572500" y="1762125"/>
            <a:ext cx="2857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l">
              <a:lnSpc>
                <a:spcPct val="105000"/>
              </a:lnSpc>
              <a:buNone/>
              <a:defRPr sz="2025" b="1" i="0">
                <a:solidFill>
                  <a:srgbClr val="102A43"/>
                </a:solidFill>
              </a:defRPr>
            </a:pPr>
            <a:r>
              <a:rPr sz="2025" b="1" i="0">
                <a:solidFill>
                  <a:srgbClr val="102A43"/>
                </a:solidFill>
              </a:rPr>
              <a:t>Executable dynamic reconstruction</a:t>
            </a:r>
          </a:p>
        </p:txBody>
      </p:sp>
      <p:sp>
        <p:nvSpPr>
          <p:cNvPr id="24" name="">
            <a:extLst xmlns:a="http://schemas.openxmlformats.org/drawingml/2006/main">
              <a:ext uri="{FF2B5EF4-FFF2-40B4-BE49-F238E27FC236}">
                <a16:creationId xmlns:a16="http://schemas.microsoft.com/office/drawing/2014/main" id="{8B0200A6-76A7-4955-B6C2-39D530AE6D61}"/>
              </a:ext>
            </a:extLst>
          </p:cNvPr>
          <p:cNvSpPr>
            <a:spLocks xmlns:a="http://schemas.openxmlformats.org/drawingml/2006/main" noGrp="1"/>
          </p:cNvSpPr>
          <p:nvPr/>
        </p:nvSpPr>
        <p:spPr>
          <a:xfrm xmlns:a="http://schemas.openxmlformats.org/drawingml/2006/main">
            <a:off x="86487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5" name="">
            <a:extLst xmlns:a="http://schemas.openxmlformats.org/drawingml/2006/main">
              <a:ext uri="{FF2B5EF4-FFF2-40B4-BE49-F238E27FC236}">
                <a16:creationId xmlns:a16="http://schemas.microsoft.com/office/drawing/2014/main" id="{28BD51AC-2B03-441A-A96C-E0F7F54F1DFA}"/>
              </a:ext>
            </a:extLst>
          </p:cNvPr>
          <p:cNvSpPr>
            <a:spLocks xmlns:a="http://schemas.openxmlformats.org/drawingml/2006/main" noGrp="1"/>
          </p:cNvSpPr>
          <p:nvPr/>
        </p:nvSpPr>
        <p:spPr>
          <a:xfrm xmlns:a="http://schemas.openxmlformats.org/drawingml/2006/main">
            <a:off x="8858250" y="25717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Step 1/2/3 control flow</a:t>
            </a:r>
          </a:p>
        </p:txBody>
      </p:sp>
      <p:sp>
        <p:nvSpPr>
          <p:cNvPr id="26" name="">
            <a:extLst xmlns:a="http://schemas.openxmlformats.org/drawingml/2006/main">
              <a:ext uri="{FF2B5EF4-FFF2-40B4-BE49-F238E27FC236}">
                <a16:creationId xmlns:a16="http://schemas.microsoft.com/office/drawing/2014/main" id="{1AB286DA-6BD9-4996-B061-6AFD27E096E2}"/>
              </a:ext>
            </a:extLst>
          </p:cNvPr>
          <p:cNvSpPr>
            <a:spLocks xmlns:a="http://schemas.openxmlformats.org/drawingml/2006/main" noGrp="1"/>
          </p:cNvSpPr>
          <p:nvPr/>
        </p:nvSpPr>
        <p:spPr>
          <a:xfrm xmlns:a="http://schemas.openxmlformats.org/drawingml/2006/main">
            <a:off x="8648700" y="3143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7" name="">
            <a:extLst xmlns:a="http://schemas.openxmlformats.org/drawingml/2006/main">
              <a:ext uri="{FF2B5EF4-FFF2-40B4-BE49-F238E27FC236}">
                <a16:creationId xmlns:a16="http://schemas.microsoft.com/office/drawing/2014/main" id="{38C4F998-DDFB-49BB-A49F-F6EB10BFA178}"/>
              </a:ext>
            </a:extLst>
          </p:cNvPr>
          <p:cNvSpPr>
            <a:spLocks xmlns:a="http://schemas.openxmlformats.org/drawingml/2006/main" noGrp="1"/>
          </p:cNvSpPr>
          <p:nvPr/>
        </p:nvSpPr>
        <p:spPr>
          <a:xfrm xmlns:a="http://schemas.openxmlformats.org/drawingml/2006/main">
            <a:off x="8858250" y="30670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833"/>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sibling-list insertion and splitting</a:t>
            </a:r>
          </a:p>
        </p:txBody>
      </p:sp>
      <p:sp>
        <p:nvSpPr>
          <p:cNvPr id="28" name="">
            <a:extLst xmlns:a="http://schemas.openxmlformats.org/drawingml/2006/main">
              <a:ext uri="{FF2B5EF4-FFF2-40B4-BE49-F238E27FC236}">
                <a16:creationId xmlns:a16="http://schemas.microsoft.com/office/drawing/2014/main" id="{C2015A69-E006-4AED-A47D-770EE587ABE9}"/>
              </a:ext>
            </a:extLst>
          </p:cNvPr>
          <p:cNvSpPr>
            <a:spLocks xmlns:a="http://schemas.openxmlformats.org/drawingml/2006/main" noGrp="1"/>
          </p:cNvSpPr>
          <p:nvPr/>
        </p:nvSpPr>
        <p:spPr>
          <a:xfrm xmlns:a="http://schemas.openxmlformats.org/drawingml/2006/main">
            <a:off x="8648700" y="36385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29" name="">
            <a:extLst xmlns:a="http://schemas.openxmlformats.org/drawingml/2006/main">
              <a:ext uri="{FF2B5EF4-FFF2-40B4-BE49-F238E27FC236}">
                <a16:creationId xmlns:a16="http://schemas.microsoft.com/office/drawing/2014/main" id="{F942FA6B-472F-4FDF-A8CB-D202DFBB68A1}"/>
              </a:ext>
            </a:extLst>
          </p:cNvPr>
          <p:cNvSpPr>
            <a:spLocks xmlns:a="http://schemas.openxmlformats.org/drawingml/2006/main" noGrp="1"/>
          </p:cNvSpPr>
          <p:nvPr/>
        </p:nvSpPr>
        <p:spPr>
          <a:xfrm xmlns:a="http://schemas.openxmlformats.org/drawingml/2006/main">
            <a:off x="8858250" y="35623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ownership transfer</a:t>
            </a:r>
          </a:p>
        </p:txBody>
      </p:sp>
      <p:sp>
        <p:nvSpPr>
          <p:cNvPr id="30" name="">
            <a:extLst xmlns:a="http://schemas.openxmlformats.org/drawingml/2006/main">
              <a:ext uri="{FF2B5EF4-FFF2-40B4-BE49-F238E27FC236}">
                <a16:creationId xmlns:a16="http://schemas.microsoft.com/office/drawing/2014/main" id="{2B7C7CFA-76B0-42E4-9213-97E7D1AF9F8F}"/>
              </a:ext>
            </a:extLst>
          </p:cNvPr>
          <p:cNvSpPr>
            <a:spLocks xmlns:a="http://schemas.openxmlformats.org/drawingml/2006/main" noGrp="1"/>
          </p:cNvSpPr>
          <p:nvPr/>
        </p:nvSpPr>
        <p:spPr>
          <a:xfrm xmlns:a="http://schemas.openxmlformats.org/drawingml/2006/main">
            <a:off x="8648700" y="41338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31" name="">
            <a:extLst xmlns:a="http://schemas.openxmlformats.org/drawingml/2006/main">
              <a:ext uri="{FF2B5EF4-FFF2-40B4-BE49-F238E27FC236}">
                <a16:creationId xmlns:a16="http://schemas.microsoft.com/office/drawing/2014/main" id="{55D1C499-47B3-4174-918C-4791FFCB71BB}"/>
              </a:ext>
            </a:extLst>
          </p:cNvPr>
          <p:cNvSpPr>
            <a:spLocks xmlns:a="http://schemas.openxmlformats.org/drawingml/2006/main" noGrp="1"/>
          </p:cNvSpPr>
          <p:nvPr/>
        </p:nvSpPr>
        <p:spPr>
          <a:xfrm xmlns:a="http://schemas.openxmlformats.org/drawingml/2006/main">
            <a:off x="8858250" y="4057650"/>
            <a:ext cx="2590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833"/>
          </a:bodyPr>
          <a:lstStyle xmlns:a="http://schemas.openxmlformats.org/drawingml/2006/main"/>
          <a:p xmlns:a="http://schemas.openxmlformats.org/drawingml/2006/main">
            <a:pPr algn="l">
              <a:lnSpc>
                <a:spcPct val="100000"/>
              </a:lnSpc>
              <a:buNone/>
              <a:defRPr sz="1500" b="0" i="0">
                <a:solidFill>
                  <a:srgbClr val="243B53"/>
                </a:solidFill>
              </a:defRPr>
            </a:pPr>
            <a:r>
              <a:rPr sz="1500" b="0" i="0">
                <a:solidFill>
                  <a:srgbClr val="243B53"/>
                </a:solidFill>
              </a:rPr>
              <a:t>output recovery from maintained state</a:t>
            </a:r>
          </a:p>
        </p:txBody>
      </p:sp>
      <p:sp>
        <p:nvSpPr>
          <p:cNvPr id="32" name="">
            <a:extLst xmlns:a="http://schemas.openxmlformats.org/drawingml/2006/main">
              <a:ext uri="{FF2B5EF4-FFF2-40B4-BE49-F238E27FC236}">
                <a16:creationId xmlns:a16="http://schemas.microsoft.com/office/drawing/2014/main" id="{CD68179F-E21E-4346-B88A-B5CBD99DB502}"/>
              </a:ext>
            </a:extLst>
          </p:cNvPr>
          <p:cNvSpPr>
            <a:spLocks xmlns:a="http://schemas.openxmlformats.org/drawingml/2006/main" noGrp="1"/>
          </p:cNvSpPr>
          <p:nvPr/>
        </p:nvSpPr>
        <p:spPr>
          <a:xfrm xmlns:a="http://schemas.openxmlformats.org/drawingml/2006/main">
            <a:off x="895350" y="5572125"/>
            <a:ext cx="1053465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33" name="">
            <a:extLst xmlns:a="http://schemas.openxmlformats.org/drawingml/2006/main">
              <a:ext uri="{FF2B5EF4-FFF2-40B4-BE49-F238E27FC236}">
                <a16:creationId xmlns:a16="http://schemas.microsoft.com/office/drawing/2014/main" id="{EECBB5B0-A976-4561-8728-F2D21E4A330A}"/>
              </a:ext>
            </a:extLst>
          </p:cNvPr>
          <p:cNvSpPr>
            <a:spLocks xmlns:a="http://schemas.openxmlformats.org/drawingml/2006/main" noGrp="1"/>
          </p:cNvSpPr>
          <p:nvPr/>
        </p:nvSpPr>
        <p:spPr>
          <a:xfrm xmlns:a="http://schemas.openxmlformats.org/drawingml/2006/main">
            <a:off x="1066800" y="5619750"/>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FFFFFF"/>
                </a:solidFill>
              </a:defRPr>
            </a:pPr>
            <a:r>
              <a:rPr sz="1575" b="1" i="0">
                <a:solidFill>
                  <a:srgbClr val="FFFFFF"/>
                </a:solidFill>
              </a:rPr>
              <a:t>Family trees explain nesting; executable Jordan sorting requires dynamic updates.</a:t>
            </a:r>
          </a:p>
        </p:txBody>
      </p:sp>
    </p:spTree>
    <p:extLst>
      <p:ext uri="{BB962C8B-B14F-4D97-AF65-F5344CB8AC3E}">
        <p14:creationId xmlns:p14="http://schemas.microsoft.com/office/powerpoint/2010/main" val="662590085"/>
      </p:ext>
    </p:extLst>
  </p:cSld>
</p:sld>
</file>

<file path=ppt/slides/slide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E976470-0F86-4CFC-8851-AC0FB6F06927}"/>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PROGRESS</a:t>
            </a:r>
          </a:p>
        </p:txBody>
      </p:sp>
      <p:sp>
        <p:nvSpPr>
          <p:cNvPr id="2" name="">
            <a:extLst xmlns:a="http://schemas.openxmlformats.org/drawingml/2006/main">
              <a:ext uri="{FF2B5EF4-FFF2-40B4-BE49-F238E27FC236}">
                <a16:creationId xmlns:a16="http://schemas.microsoft.com/office/drawing/2014/main" id="{77562C89-D2B7-47C5-8A21-E283FF9AB88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Progress since the previous report</a:t>
            </a:r>
          </a:p>
        </p:txBody>
      </p:sp>
      <p:sp>
        <p:nvSpPr>
          <p:cNvPr id="3" name="">
            <a:extLst xmlns:a="http://schemas.openxmlformats.org/drawingml/2006/main">
              <a:ext uri="{FF2B5EF4-FFF2-40B4-BE49-F238E27FC236}">
                <a16:creationId xmlns:a16="http://schemas.microsoft.com/office/drawing/2014/main" id="{78EA483D-E3EE-478B-B3B6-0311CF1CC3F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7322FCE-9A43-410E-ABD6-06AFEADDB77B}"/>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27FED0D5-912D-42DF-9AB7-185A1C2623E2}"/>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590998BA-2CE8-4CDD-9B57-4F40ABED9221}"/>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3 / 16</a:t>
            </a:r>
          </a:p>
        </p:txBody>
      </p:sp>
      <p:sp>
        <p:nvSpPr>
          <p:cNvPr id="7" name="">
            <a:extLst xmlns:a="http://schemas.openxmlformats.org/drawingml/2006/main">
              <a:ext uri="{FF2B5EF4-FFF2-40B4-BE49-F238E27FC236}">
                <a16:creationId xmlns:a16="http://schemas.microsoft.com/office/drawing/2014/main" id="{C32B2DA3-E432-48A5-972C-5D92375487B9}"/>
              </a:ext>
            </a:extLst>
          </p:cNvPr>
          <p:cNvSpPr>
            <a:spLocks xmlns:a="http://schemas.openxmlformats.org/drawingml/2006/main" noGrp="1"/>
          </p:cNvSpPr>
          <p:nvPr/>
        </p:nvSpPr>
        <p:spPr>
          <a:xfrm xmlns:a="http://schemas.openxmlformats.org/drawingml/2006/main">
            <a:off x="72390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102A43"/>
                </a:solidFill>
              </a:defRPr>
            </a:pPr>
            <a:r>
              <a:rPr sz="3000" b="1" i="0">
                <a:solidFill>
                  <a:srgbClr val="102A43"/>
                </a:solidFill>
              </a:rPr>
              <a:t>01</a:t>
            </a:r>
          </a:p>
        </p:txBody>
      </p:sp>
      <p:sp>
        <p:nvSpPr>
          <p:cNvPr id="8" name="">
            <a:extLst xmlns:a="http://schemas.openxmlformats.org/drawingml/2006/main">
              <a:ext uri="{FF2B5EF4-FFF2-40B4-BE49-F238E27FC236}">
                <a16:creationId xmlns:a16="http://schemas.microsoft.com/office/drawing/2014/main" id="{64C9F9E9-F8B5-4AC5-9DB5-875B3AA1ADDE}"/>
              </a:ext>
            </a:extLst>
          </p:cNvPr>
          <p:cNvSpPr>
            <a:spLocks xmlns:a="http://schemas.openxmlformats.org/drawingml/2006/main" noGrp="1"/>
          </p:cNvSpPr>
          <p:nvPr/>
        </p:nvSpPr>
        <p:spPr>
          <a:xfrm xmlns:a="http://schemas.openxmlformats.org/drawingml/2006/main">
            <a:off x="723900" y="2209800"/>
            <a:ext cx="1952625" cy="9525"/>
          </a:xfrm>
          <a:prstGeom xmlns:a="http://schemas.openxmlformats.org/drawingml/2006/main" prst="line">
            <a:avLst/>
          </a:prstGeom>
          <a:noFill xmlns:a="http://schemas.openxmlformats.org/drawingml/2006/main"/>
          <a:ln xmlns:a="http://schemas.openxmlformats.org/drawingml/2006/main" w="38100">
            <a:solidFill>
              <a:srgbClr val="102A43"/>
            </a:solidFill>
            <a:prstDash val="solid"/>
          </a:ln>
        </p:spPr>
      </p:sp>
      <p:sp>
        <p:nvSpPr>
          <p:cNvPr id="9" name="">
            <a:extLst xmlns:a="http://schemas.openxmlformats.org/drawingml/2006/main">
              <a:ext uri="{FF2B5EF4-FFF2-40B4-BE49-F238E27FC236}">
                <a16:creationId xmlns:a16="http://schemas.microsoft.com/office/drawing/2014/main" id="{3A3B1EE8-1D93-47C3-AB9F-0F60230CD2D4}"/>
              </a:ext>
            </a:extLst>
          </p:cNvPr>
          <p:cNvSpPr>
            <a:spLocks xmlns:a="http://schemas.openxmlformats.org/drawingml/2006/main" noGrp="1"/>
          </p:cNvSpPr>
          <p:nvPr/>
        </p:nvSpPr>
        <p:spPr>
          <a:xfrm xmlns:a="http://schemas.openxmlformats.org/drawingml/2006/main">
            <a:off x="72390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Scope stabilization</a:t>
            </a:r>
          </a:p>
        </p:txBody>
      </p:sp>
      <p:sp>
        <p:nvSpPr>
          <p:cNvPr id="10" name="">
            <a:extLst xmlns:a="http://schemas.openxmlformats.org/drawingml/2006/main">
              <a:ext uri="{FF2B5EF4-FFF2-40B4-BE49-F238E27FC236}">
                <a16:creationId xmlns:a16="http://schemas.microsoft.com/office/drawing/2014/main" id="{2F10AD51-52B4-4A8B-AE55-5E9D44717B34}"/>
              </a:ext>
            </a:extLst>
          </p:cNvPr>
          <p:cNvSpPr>
            <a:spLocks xmlns:a="http://schemas.openxmlformats.org/drawingml/2006/main" noGrp="1"/>
          </p:cNvSpPr>
          <p:nvPr/>
        </p:nvSpPr>
        <p:spPr>
          <a:xfrm xmlns:a="http://schemas.openxmlformats.org/drawingml/2006/main">
            <a:off x="723900" y="3333750"/>
            <a:ext cx="2152650" cy="1619250"/>
          </a:xfrm>
          <a:prstGeom xmlns:a="http://schemas.openxmlformats.org/drawingml/2006/main" prst="roundRect">
            <a:avLst>
              <a:gd name="adj" fmla="val 4706"/>
            </a:avLst>
          </a:prstGeom>
          <a:solidFill xmlns:a="http://schemas.openxmlformats.org/drawingml/2006/main">
            <a:srgbClr val="EAF1F8"/>
          </a:solidFill>
          <a:ln xmlns:a="http://schemas.openxmlformats.org/drawingml/2006/main" w="11430">
            <a:solidFill>
              <a:srgbClr val="EAF1F8"/>
            </a:solidFill>
            <a:prstDash val="solid"/>
          </a:ln>
        </p:spPr>
      </p:sp>
      <p:sp>
        <p:nvSpPr>
          <p:cNvPr id="11" name="">
            <a:extLst xmlns:a="http://schemas.openxmlformats.org/drawingml/2006/main">
              <a:ext uri="{FF2B5EF4-FFF2-40B4-BE49-F238E27FC236}">
                <a16:creationId xmlns:a16="http://schemas.microsoft.com/office/drawing/2014/main" id="{CC761DAC-4FE1-4EDD-82FA-09E0E129CCEA}"/>
              </a:ext>
            </a:extLst>
          </p:cNvPr>
          <p:cNvSpPr>
            <a:spLocks xmlns:a="http://schemas.openxmlformats.org/drawingml/2006/main" noGrp="1"/>
          </p:cNvSpPr>
          <p:nvPr/>
        </p:nvSpPr>
        <p:spPr>
          <a:xfrm xmlns:a="http://schemas.openxmlformats.org/drawingml/2006/main">
            <a:off x="85725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Separated valid-input sorting, recognition, and theoretical-backend claims</a:t>
            </a:r>
          </a:p>
        </p:txBody>
      </p:sp>
      <p:sp>
        <p:nvSpPr>
          <p:cNvPr id="12" name="">
            <a:extLst xmlns:a="http://schemas.openxmlformats.org/drawingml/2006/main">
              <a:ext uri="{FF2B5EF4-FFF2-40B4-BE49-F238E27FC236}">
                <a16:creationId xmlns:a16="http://schemas.microsoft.com/office/drawing/2014/main" id="{DFBEC670-B4FF-4D5D-9C16-682715DD874E}"/>
              </a:ext>
            </a:extLst>
          </p:cNvPr>
          <p:cNvSpPr>
            <a:spLocks xmlns:a="http://schemas.openxmlformats.org/drawingml/2006/main" noGrp="1"/>
          </p:cNvSpPr>
          <p:nvPr/>
        </p:nvSpPr>
        <p:spPr>
          <a:xfrm xmlns:a="http://schemas.openxmlformats.org/drawingml/2006/main">
            <a:off x="353377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2A9D8F"/>
                </a:solidFill>
              </a:defRPr>
            </a:pPr>
            <a:r>
              <a:rPr sz="3000" b="1" i="0">
                <a:solidFill>
                  <a:srgbClr val="2A9D8F"/>
                </a:solidFill>
              </a:rPr>
              <a:t>02</a:t>
            </a:r>
          </a:p>
        </p:txBody>
      </p:sp>
      <p:sp>
        <p:nvSpPr>
          <p:cNvPr id="13" name="">
            <a:extLst xmlns:a="http://schemas.openxmlformats.org/drawingml/2006/main">
              <a:ext uri="{FF2B5EF4-FFF2-40B4-BE49-F238E27FC236}">
                <a16:creationId xmlns:a16="http://schemas.microsoft.com/office/drawing/2014/main" id="{AE62D550-1D43-4017-80D8-500066C097F6}"/>
              </a:ext>
            </a:extLst>
          </p:cNvPr>
          <p:cNvSpPr>
            <a:spLocks xmlns:a="http://schemas.openxmlformats.org/drawingml/2006/main" noGrp="1"/>
          </p:cNvSpPr>
          <p:nvPr/>
        </p:nvSpPr>
        <p:spPr>
          <a:xfrm xmlns:a="http://schemas.openxmlformats.org/drawingml/2006/main">
            <a:off x="3533775" y="2209800"/>
            <a:ext cx="1952625" cy="9525"/>
          </a:xfrm>
          <a:prstGeom xmlns:a="http://schemas.openxmlformats.org/drawingml/2006/main" prst="line">
            <a:avLst/>
          </a:prstGeom>
          <a:noFill xmlns:a="http://schemas.openxmlformats.org/drawingml/2006/main"/>
          <a:ln xmlns:a="http://schemas.openxmlformats.org/drawingml/2006/main" w="38100">
            <a:solidFill>
              <a:srgbClr val="2A9D8F"/>
            </a:solidFill>
            <a:prstDash val="solid"/>
          </a:ln>
        </p:spPr>
      </p:sp>
      <p:sp>
        <p:nvSpPr>
          <p:cNvPr id="14" name="">
            <a:extLst xmlns:a="http://schemas.openxmlformats.org/drawingml/2006/main">
              <a:ext uri="{FF2B5EF4-FFF2-40B4-BE49-F238E27FC236}">
                <a16:creationId xmlns:a16="http://schemas.microsoft.com/office/drawing/2014/main" id="{66273AB2-59EA-4284-987D-185C5D70F56E}"/>
              </a:ext>
            </a:extLst>
          </p:cNvPr>
          <p:cNvSpPr>
            <a:spLocks xmlns:a="http://schemas.openxmlformats.org/drawingml/2006/main" noGrp="1"/>
          </p:cNvSpPr>
          <p:nvPr/>
        </p:nvSpPr>
        <p:spPr>
          <a:xfrm xmlns:a="http://schemas.openxmlformats.org/drawingml/2006/main">
            <a:off x="353377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Executable reconstruction</a:t>
            </a:r>
          </a:p>
        </p:txBody>
      </p:sp>
      <p:sp>
        <p:nvSpPr>
          <p:cNvPr id="15" name="">
            <a:extLst xmlns:a="http://schemas.openxmlformats.org/drawingml/2006/main">
              <a:ext uri="{FF2B5EF4-FFF2-40B4-BE49-F238E27FC236}">
                <a16:creationId xmlns:a16="http://schemas.microsoft.com/office/drawing/2014/main" id="{B23FFA7B-7450-40B8-8496-763F9D1F26EB}"/>
              </a:ext>
            </a:extLst>
          </p:cNvPr>
          <p:cNvSpPr>
            <a:spLocks xmlns:a="http://schemas.openxmlformats.org/drawingml/2006/main" noGrp="1"/>
          </p:cNvSpPr>
          <p:nvPr/>
        </p:nvSpPr>
        <p:spPr>
          <a:xfrm xmlns:a="http://schemas.openxmlformats.org/drawingml/2006/main">
            <a:off x="3533775" y="3333750"/>
            <a:ext cx="2152650" cy="1619250"/>
          </a:xfrm>
          <a:prstGeom xmlns:a="http://schemas.openxmlformats.org/drawingml/2006/main" prst="roundRect">
            <a:avLst>
              <a:gd name="adj" fmla="val 4706"/>
            </a:avLst>
          </a:prstGeom>
          <a:solidFill xmlns:a="http://schemas.openxmlformats.org/drawingml/2006/main">
            <a:srgbClr val="E8F5F3"/>
          </a:solidFill>
          <a:ln xmlns:a="http://schemas.openxmlformats.org/drawingml/2006/main" w="11430">
            <a:solidFill>
              <a:srgbClr val="E8F5F3"/>
            </a:solidFill>
            <a:prstDash val="solid"/>
          </a:ln>
        </p:spPr>
      </p:sp>
      <p:sp>
        <p:nvSpPr>
          <p:cNvPr id="16" name="">
            <a:extLst xmlns:a="http://schemas.openxmlformats.org/drawingml/2006/main">
              <a:ext uri="{FF2B5EF4-FFF2-40B4-BE49-F238E27FC236}">
                <a16:creationId xmlns:a16="http://schemas.microsoft.com/office/drawing/2014/main" id="{67287952-8101-43F8-BF82-D6029259899F}"/>
              </a:ext>
            </a:extLst>
          </p:cNvPr>
          <p:cNvSpPr>
            <a:spLocks xmlns:a="http://schemas.openxmlformats.org/drawingml/2006/main" noGrp="1"/>
          </p:cNvSpPr>
          <p:nvPr/>
        </p:nvSpPr>
        <p:spPr>
          <a:xfrm xmlns:a="http://schemas.openxmlformats.org/drawingml/2006/main">
            <a:off x="366712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Implemented the paper-facing Step 1/2/3 control flow</a:t>
            </a:r>
          </a:p>
        </p:txBody>
      </p:sp>
      <p:sp>
        <p:nvSpPr>
          <p:cNvPr id="17" name="">
            <a:extLst xmlns:a="http://schemas.openxmlformats.org/drawingml/2006/main">
              <a:ext uri="{FF2B5EF4-FFF2-40B4-BE49-F238E27FC236}">
                <a16:creationId xmlns:a16="http://schemas.microsoft.com/office/drawing/2014/main" id="{F1EEC8C0-6889-4BA8-BADD-73114E67B215}"/>
              </a:ext>
            </a:extLst>
          </p:cNvPr>
          <p:cNvSpPr>
            <a:spLocks xmlns:a="http://schemas.openxmlformats.org/drawingml/2006/main" noGrp="1"/>
          </p:cNvSpPr>
          <p:nvPr/>
        </p:nvSpPr>
        <p:spPr>
          <a:xfrm xmlns:a="http://schemas.openxmlformats.org/drawingml/2006/main">
            <a:off x="6343650"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E76F51"/>
                </a:solidFill>
              </a:defRPr>
            </a:pPr>
            <a:r>
              <a:rPr sz="3000" b="1" i="0">
                <a:solidFill>
                  <a:srgbClr val="E76F51"/>
                </a:solidFill>
              </a:rPr>
              <a:t>03</a:t>
            </a:r>
          </a:p>
        </p:txBody>
      </p:sp>
      <p:sp>
        <p:nvSpPr>
          <p:cNvPr id="18" name="">
            <a:extLst xmlns:a="http://schemas.openxmlformats.org/drawingml/2006/main">
              <a:ext uri="{FF2B5EF4-FFF2-40B4-BE49-F238E27FC236}">
                <a16:creationId xmlns:a16="http://schemas.microsoft.com/office/drawing/2014/main" id="{9FB57D98-BEFA-4646-A22A-00762B0E5FFB}"/>
              </a:ext>
            </a:extLst>
          </p:cNvPr>
          <p:cNvSpPr>
            <a:spLocks xmlns:a="http://schemas.openxmlformats.org/drawingml/2006/main" noGrp="1"/>
          </p:cNvSpPr>
          <p:nvPr/>
        </p:nvSpPr>
        <p:spPr>
          <a:xfrm xmlns:a="http://schemas.openxmlformats.org/drawingml/2006/main">
            <a:off x="6343650" y="2209800"/>
            <a:ext cx="1952625" cy="9525"/>
          </a:xfrm>
          <a:prstGeom xmlns:a="http://schemas.openxmlformats.org/drawingml/2006/main" prst="line">
            <a:avLst/>
          </a:prstGeom>
          <a:noFill xmlns:a="http://schemas.openxmlformats.org/drawingml/2006/main"/>
          <a:ln xmlns:a="http://schemas.openxmlformats.org/drawingml/2006/main" w="38100">
            <a:solidFill>
              <a:srgbClr val="E76F51"/>
            </a:solidFill>
            <a:prstDash val="solid"/>
          </a:ln>
        </p:spPr>
      </p:sp>
      <p:sp>
        <p:nvSpPr>
          <p:cNvPr id="19" name="">
            <a:extLst xmlns:a="http://schemas.openxmlformats.org/drawingml/2006/main">
              <a:ext uri="{FF2B5EF4-FFF2-40B4-BE49-F238E27FC236}">
                <a16:creationId xmlns:a16="http://schemas.microsoft.com/office/drawing/2014/main" id="{9983ACD9-778C-491C-A214-7777B6AFA8B8}"/>
              </a:ext>
            </a:extLst>
          </p:cNvPr>
          <p:cNvSpPr>
            <a:spLocks xmlns:a="http://schemas.openxmlformats.org/drawingml/2006/main" noGrp="1"/>
          </p:cNvSpPr>
          <p:nvPr/>
        </p:nvSpPr>
        <p:spPr>
          <a:xfrm xmlns:a="http://schemas.openxmlformats.org/drawingml/2006/main">
            <a:off x="6343650"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9573"/>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State and correctness controls</a:t>
            </a:r>
          </a:p>
        </p:txBody>
      </p:sp>
      <p:sp>
        <p:nvSpPr>
          <p:cNvPr id="20" name="">
            <a:extLst xmlns:a="http://schemas.openxmlformats.org/drawingml/2006/main">
              <a:ext uri="{FF2B5EF4-FFF2-40B4-BE49-F238E27FC236}">
                <a16:creationId xmlns:a16="http://schemas.microsoft.com/office/drawing/2014/main" id="{7ACA743E-83E0-44D5-8CF0-D3187D3E3D9F}"/>
              </a:ext>
            </a:extLst>
          </p:cNvPr>
          <p:cNvSpPr>
            <a:spLocks xmlns:a="http://schemas.openxmlformats.org/drawingml/2006/main" noGrp="1"/>
          </p:cNvSpPr>
          <p:nvPr/>
        </p:nvSpPr>
        <p:spPr>
          <a:xfrm xmlns:a="http://schemas.openxmlformats.org/drawingml/2006/main">
            <a:off x="6343650" y="3333750"/>
            <a:ext cx="2152650" cy="1619250"/>
          </a:xfrm>
          <a:prstGeom xmlns:a="http://schemas.openxmlformats.org/drawingml/2006/main" prst="roundRect">
            <a:avLst>
              <a:gd name="adj" fmla="val 4706"/>
            </a:avLst>
          </a:prstGeom>
          <a:solidFill xmlns:a="http://schemas.openxmlformats.org/drawingml/2006/main">
            <a:srgbClr val="FCEEEA"/>
          </a:solidFill>
          <a:ln xmlns:a="http://schemas.openxmlformats.org/drawingml/2006/main" w="11430">
            <a:solidFill>
              <a:srgbClr val="FCEEEA"/>
            </a:solidFill>
            <a:prstDash val="solid"/>
          </a:ln>
        </p:spPr>
      </p:sp>
      <p:sp>
        <p:nvSpPr>
          <p:cNvPr id="21" name="">
            <a:extLst xmlns:a="http://schemas.openxmlformats.org/drawingml/2006/main">
              <a:ext uri="{FF2B5EF4-FFF2-40B4-BE49-F238E27FC236}">
                <a16:creationId xmlns:a16="http://schemas.microsoft.com/office/drawing/2014/main" id="{FE901965-0A24-4A1D-936B-975315681293}"/>
              </a:ext>
            </a:extLst>
          </p:cNvPr>
          <p:cNvSpPr>
            <a:spLocks xmlns:a="http://schemas.openxmlformats.org/drawingml/2006/main" noGrp="1"/>
          </p:cNvSpPr>
          <p:nvPr/>
        </p:nvSpPr>
        <p:spPr>
          <a:xfrm xmlns:a="http://schemas.openxmlformats.org/drawingml/2006/main">
            <a:off x="6477000"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Added ownership invariants, transactional updates, and replay</a:t>
            </a:r>
          </a:p>
        </p:txBody>
      </p:sp>
      <p:sp>
        <p:nvSpPr>
          <p:cNvPr id="22" name="">
            <a:extLst xmlns:a="http://schemas.openxmlformats.org/drawingml/2006/main">
              <a:ext uri="{FF2B5EF4-FFF2-40B4-BE49-F238E27FC236}">
                <a16:creationId xmlns:a16="http://schemas.microsoft.com/office/drawing/2014/main" id="{34398B87-2F7A-4045-9933-5E81EA271D7A}"/>
              </a:ext>
            </a:extLst>
          </p:cNvPr>
          <p:cNvSpPr>
            <a:spLocks xmlns:a="http://schemas.openxmlformats.org/drawingml/2006/main" noGrp="1"/>
          </p:cNvSpPr>
          <p:nvPr/>
        </p:nvSpPr>
        <p:spPr>
          <a:xfrm xmlns:a="http://schemas.openxmlformats.org/drawingml/2006/main">
            <a:off x="9153525" y="1619250"/>
            <a:ext cx="68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l">
              <a:lnSpc>
                <a:spcPct val="105000"/>
              </a:lnSpc>
              <a:buNone/>
              <a:defRPr sz="3000" b="1" i="0">
                <a:solidFill>
                  <a:srgbClr val="52606D"/>
                </a:solidFill>
              </a:defRPr>
            </a:pPr>
            <a:r>
              <a:rPr sz="3000" b="1" i="0">
                <a:solidFill>
                  <a:srgbClr val="52606D"/>
                </a:solidFill>
              </a:rPr>
              <a:t>04</a:t>
            </a:r>
          </a:p>
        </p:txBody>
      </p:sp>
      <p:sp>
        <p:nvSpPr>
          <p:cNvPr id="23" name="">
            <a:extLst xmlns:a="http://schemas.openxmlformats.org/drawingml/2006/main">
              <a:ext uri="{FF2B5EF4-FFF2-40B4-BE49-F238E27FC236}">
                <a16:creationId xmlns:a16="http://schemas.microsoft.com/office/drawing/2014/main" id="{5E936B4D-4C7A-4A46-B4FF-4E84B8708FDF}"/>
              </a:ext>
            </a:extLst>
          </p:cNvPr>
          <p:cNvSpPr>
            <a:spLocks xmlns:a="http://schemas.openxmlformats.org/drawingml/2006/main" noGrp="1"/>
          </p:cNvSpPr>
          <p:nvPr/>
        </p:nvSpPr>
        <p:spPr>
          <a:xfrm xmlns:a="http://schemas.openxmlformats.org/drawingml/2006/main">
            <a:off x="9153525" y="2209800"/>
            <a:ext cx="1952625" cy="9525"/>
          </a:xfrm>
          <a:prstGeom xmlns:a="http://schemas.openxmlformats.org/drawingml/2006/main" prst="line">
            <a:avLst/>
          </a:prstGeom>
          <a:noFill xmlns:a="http://schemas.openxmlformats.org/drawingml/2006/main"/>
          <a:ln xmlns:a="http://schemas.openxmlformats.org/drawingml/2006/main" w="38100">
            <a:solidFill>
              <a:srgbClr val="52606D"/>
            </a:solidFill>
            <a:prstDash val="solid"/>
          </a:ln>
        </p:spPr>
      </p:sp>
      <p:sp>
        <p:nvSpPr>
          <p:cNvPr id="24" name="">
            <a:extLst xmlns:a="http://schemas.openxmlformats.org/drawingml/2006/main">
              <a:ext uri="{FF2B5EF4-FFF2-40B4-BE49-F238E27FC236}">
                <a16:creationId xmlns:a16="http://schemas.microsoft.com/office/drawing/2014/main" id="{3AF47FD8-9DA8-4CF0-9938-3BDD7E600F92}"/>
              </a:ext>
            </a:extLst>
          </p:cNvPr>
          <p:cNvSpPr>
            <a:spLocks xmlns:a="http://schemas.openxmlformats.org/drawingml/2006/main" noGrp="1"/>
          </p:cNvSpPr>
          <p:nvPr/>
        </p:nvSpPr>
        <p:spPr>
          <a:xfrm xmlns:a="http://schemas.openxmlformats.org/drawingml/2006/main">
            <a:off x="9153525" y="2457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Initial formal evaluation</a:t>
            </a:r>
          </a:p>
        </p:txBody>
      </p:sp>
      <p:sp>
        <p:nvSpPr>
          <p:cNvPr id="25" name="">
            <a:extLst xmlns:a="http://schemas.openxmlformats.org/drawingml/2006/main">
              <a:ext uri="{FF2B5EF4-FFF2-40B4-BE49-F238E27FC236}">
                <a16:creationId xmlns:a16="http://schemas.microsoft.com/office/drawing/2014/main" id="{5539FC18-BDCC-416C-983A-257D8614A4E6}"/>
              </a:ext>
            </a:extLst>
          </p:cNvPr>
          <p:cNvSpPr>
            <a:spLocks xmlns:a="http://schemas.openxmlformats.org/drawingml/2006/main" noGrp="1"/>
          </p:cNvSpPr>
          <p:nvPr/>
        </p:nvSpPr>
        <p:spPr>
          <a:xfrm xmlns:a="http://schemas.openxmlformats.org/drawingml/2006/main">
            <a:off x="9153525" y="3333750"/>
            <a:ext cx="2152650" cy="1619250"/>
          </a:xfrm>
          <a:prstGeom xmlns:a="http://schemas.openxmlformats.org/drawingml/2006/main" prst="roundRect">
            <a:avLst>
              <a:gd name="adj" fmla="val 4706"/>
            </a:avLst>
          </a:prstGeom>
          <a:solidFill xmlns:a="http://schemas.openxmlformats.org/drawingml/2006/main">
            <a:srgbClr val="EDF2F7"/>
          </a:solidFill>
          <a:ln xmlns:a="http://schemas.openxmlformats.org/drawingml/2006/main" w="11430">
            <a:solidFill>
              <a:srgbClr val="EDF2F7"/>
            </a:solidFill>
            <a:prstDash val="solid"/>
          </a:ln>
        </p:spPr>
      </p:sp>
      <p:sp>
        <p:nvSpPr>
          <p:cNvPr id="26" name="">
            <a:extLst xmlns:a="http://schemas.openxmlformats.org/drawingml/2006/main">
              <a:ext uri="{FF2B5EF4-FFF2-40B4-BE49-F238E27FC236}">
                <a16:creationId xmlns:a16="http://schemas.microsoft.com/office/drawing/2014/main" id="{CDA126AA-6919-40D8-91B9-D1813F4A6DD1}"/>
              </a:ext>
            </a:extLst>
          </p:cNvPr>
          <p:cNvSpPr>
            <a:spLocks xmlns:a="http://schemas.openxmlformats.org/drawingml/2006/main" noGrp="1"/>
          </p:cNvSpPr>
          <p:nvPr/>
        </p:nvSpPr>
        <p:spPr>
          <a:xfrm xmlns:a="http://schemas.openxmlformats.org/drawingml/2006/main">
            <a:off x="9286875" y="3486150"/>
            <a:ext cx="18859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8000"/>
              </a:lnSpc>
              <a:buNone/>
              <a:defRPr sz="1425" b="0" i="0">
                <a:solidFill>
                  <a:srgbClr val="243B53"/>
                </a:solidFill>
              </a:defRPr>
            </a:pPr>
            <a:r>
              <a:rPr sz="1425" b="0" i="0">
                <a:solidFill>
                  <a:srgbClr val="243B53"/>
                </a:solidFill>
              </a:rPr>
              <a:t>Executed a fixed valid-input sorting experiment</a:t>
            </a:r>
          </a:p>
        </p:txBody>
      </p:sp>
      <p:sp>
        <p:nvSpPr>
          <p:cNvPr id="27" name="">
            <a:extLst xmlns:a="http://schemas.openxmlformats.org/drawingml/2006/main">
              <a:ext uri="{FF2B5EF4-FFF2-40B4-BE49-F238E27FC236}">
                <a16:creationId xmlns:a16="http://schemas.microsoft.com/office/drawing/2014/main" id="{F3FA3693-4471-423B-A917-29B8C24AE930}"/>
              </a:ext>
            </a:extLst>
          </p:cNvPr>
          <p:cNvSpPr>
            <a:spLocks xmlns:a="http://schemas.openxmlformats.org/drawingml/2006/main" noGrp="1"/>
          </p:cNvSpPr>
          <p:nvPr/>
        </p:nvSpPr>
        <p:spPr>
          <a:xfrm xmlns:a="http://schemas.openxmlformats.org/drawingml/2006/main">
            <a:off x="1238250" y="5524500"/>
            <a:ext cx="9715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9776"/>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Current result: an executable ordinary-list implementation. The historical backend remains future work.</a:t>
            </a:r>
          </a:p>
        </p:txBody>
      </p:sp>
    </p:spTree>
    <p:extLst>
      <p:ext uri="{BB962C8B-B14F-4D97-AF65-F5344CB8AC3E}">
        <p14:creationId xmlns:p14="http://schemas.microsoft.com/office/powerpoint/2010/main" val="326222649"/>
      </p:ext>
    </p:extLst>
  </p:cSld>
</p:sld>
</file>

<file path=ppt/slides/slide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FDD8664-4A81-4AE5-99EE-56A0D369899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SCOPE</a:t>
            </a:r>
          </a:p>
        </p:txBody>
      </p:sp>
      <p:sp>
        <p:nvSpPr>
          <p:cNvPr id="2" name="">
            <a:extLst xmlns:a="http://schemas.openxmlformats.org/drawingml/2006/main">
              <a:ext uri="{FF2B5EF4-FFF2-40B4-BE49-F238E27FC236}">
                <a16:creationId xmlns:a16="http://schemas.microsoft.com/office/drawing/2014/main" id="{88F91CA0-C75B-4D20-B515-43B8F0E5AF4D}"/>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Current scope: valid-input sorting</a:t>
            </a:r>
          </a:p>
        </p:txBody>
      </p:sp>
      <p:sp>
        <p:nvSpPr>
          <p:cNvPr id="3" name="">
            <a:extLst xmlns:a="http://schemas.openxmlformats.org/drawingml/2006/main">
              <a:ext uri="{FF2B5EF4-FFF2-40B4-BE49-F238E27FC236}">
                <a16:creationId xmlns:a16="http://schemas.microsoft.com/office/drawing/2014/main" id="{1DF99E6E-EB0F-4213-92A2-308B61FB438A}"/>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88E762F-70F0-4B29-9ECB-253BC1E0268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99740EE-B48B-44B6-88A8-8DBE4371D2D4}"/>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4191E108-F899-42C0-81E9-7694AA485407}"/>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4 / 16</a:t>
            </a:r>
          </a:p>
        </p:txBody>
      </p:sp>
      <p:sp>
        <p:nvSpPr>
          <p:cNvPr id="7" name="">
            <a:extLst xmlns:a="http://schemas.openxmlformats.org/drawingml/2006/main">
              <a:ext uri="{FF2B5EF4-FFF2-40B4-BE49-F238E27FC236}">
                <a16:creationId xmlns:a16="http://schemas.microsoft.com/office/drawing/2014/main" id="{24702943-676C-4413-9F5A-B24DC75FC227}"/>
              </a:ext>
            </a:extLst>
          </p:cNvPr>
          <p:cNvSpPr>
            <a:spLocks xmlns:a="http://schemas.openxmlformats.org/drawingml/2006/main" noGrp="1"/>
          </p:cNvSpPr>
          <p:nvPr/>
        </p:nvSpPr>
        <p:spPr>
          <a:xfrm xmlns:a="http://schemas.openxmlformats.org/drawingml/2006/main">
            <a:off x="7239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CEF9D68C-518E-4999-9391-5E4F5EE534E1}"/>
              </a:ext>
            </a:extLst>
          </p:cNvPr>
          <p:cNvSpPr>
            <a:spLocks xmlns:a="http://schemas.openxmlformats.org/drawingml/2006/main" noGrp="1"/>
          </p:cNvSpPr>
          <p:nvPr/>
        </p:nvSpPr>
        <p:spPr>
          <a:xfrm xmlns:a="http://schemas.openxmlformats.org/drawingml/2006/main">
            <a:off x="6515100" y="1447800"/>
            <a:ext cx="4953000" cy="3905250"/>
          </a:xfrm>
          <a:prstGeom xmlns:a="http://schemas.openxmlformats.org/drawingml/2006/main" prst="roundRect">
            <a:avLst>
              <a:gd name="adj" fmla="val 1951"/>
            </a:avLst>
          </a:prstGeom>
          <a:solidFill xmlns:a="http://schemas.openxmlformats.org/drawingml/2006/main">
            <a:srgbClr val="FFFFFF"/>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AA288D46-3657-4680-AF2A-8EB79620E28E}"/>
              </a:ext>
            </a:extLst>
          </p:cNvPr>
          <p:cNvSpPr>
            <a:spLocks xmlns:a="http://schemas.openxmlformats.org/drawingml/2006/main" noGrp="1"/>
          </p:cNvSpPr>
          <p:nvPr/>
        </p:nvSpPr>
        <p:spPr>
          <a:xfrm xmlns:a="http://schemas.openxmlformats.org/drawingml/2006/main">
            <a:off x="9525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52606D"/>
                </a:solidFill>
              </a:defRPr>
            </a:pPr>
            <a:r>
              <a:rPr sz="1875" b="1" i="0">
                <a:solidFill>
                  <a:srgbClr val="52606D"/>
                </a:solidFill>
              </a:rPr>
              <a:t>Earlier planning emphasis</a:t>
            </a:r>
          </a:p>
        </p:txBody>
      </p:sp>
      <p:sp>
        <p:nvSpPr>
          <p:cNvPr id="10" name="">
            <a:extLst xmlns:a="http://schemas.openxmlformats.org/drawingml/2006/main">
              <a:ext uri="{FF2B5EF4-FFF2-40B4-BE49-F238E27FC236}">
                <a16:creationId xmlns:a16="http://schemas.microsoft.com/office/drawing/2014/main" id="{5945EB85-DDF5-4B0F-84D5-D0021EFEB96C}"/>
              </a:ext>
            </a:extLst>
          </p:cNvPr>
          <p:cNvSpPr>
            <a:spLocks xmlns:a="http://schemas.openxmlformats.org/drawingml/2006/main" noGrp="1"/>
          </p:cNvSpPr>
          <p:nvPr/>
        </p:nvSpPr>
        <p:spPr>
          <a:xfrm xmlns:a="http://schemas.openxmlformats.org/drawingml/2006/main">
            <a:off x="6743700" y="167640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Current research scope</a:t>
            </a:r>
          </a:p>
        </p:txBody>
      </p:sp>
      <p:sp>
        <p:nvSpPr>
          <p:cNvPr id="11" name="">
            <a:extLst xmlns:a="http://schemas.openxmlformats.org/drawingml/2006/main">
              <a:ext uri="{FF2B5EF4-FFF2-40B4-BE49-F238E27FC236}">
                <a16:creationId xmlns:a16="http://schemas.microsoft.com/office/drawing/2014/main" id="{D1BE454D-4AE3-4380-A5D1-BA8ED8901A82}"/>
              </a:ext>
            </a:extLst>
          </p:cNvPr>
          <p:cNvSpPr>
            <a:spLocks xmlns:a="http://schemas.openxmlformats.org/drawingml/2006/main" noGrp="1"/>
          </p:cNvSpPr>
          <p:nvPr/>
        </p:nvSpPr>
        <p:spPr>
          <a:xfrm xmlns:a="http://schemas.openxmlformats.org/drawingml/2006/main">
            <a:off x="9715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General structural framework</a:t>
            </a:r>
          </a:p>
        </p:txBody>
      </p:sp>
      <p:sp>
        <p:nvSpPr>
          <p:cNvPr id="12" name="">
            <a:extLst xmlns:a="http://schemas.openxmlformats.org/drawingml/2006/main">
              <a:ext uri="{FF2B5EF4-FFF2-40B4-BE49-F238E27FC236}">
                <a16:creationId xmlns:a16="http://schemas.microsoft.com/office/drawing/2014/main" id="{77E4CB35-68AA-439E-89B8-78D03CFF6D01}"/>
              </a:ext>
            </a:extLst>
          </p:cNvPr>
          <p:cNvSpPr>
            <a:spLocks xmlns:a="http://schemas.openxmlformats.org/drawingml/2006/main" noGrp="1"/>
          </p:cNvSpPr>
          <p:nvPr/>
        </p:nvSpPr>
        <p:spPr>
          <a:xfrm xmlns:a="http://schemas.openxmlformats.org/drawingml/2006/main">
            <a:off x="5810250" y="2266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3" name="">
            <a:extLst xmlns:a="http://schemas.openxmlformats.org/drawingml/2006/main">
              <a:ext uri="{FF2B5EF4-FFF2-40B4-BE49-F238E27FC236}">
                <a16:creationId xmlns:a16="http://schemas.microsoft.com/office/drawing/2014/main" id="{6D53554D-79AC-4692-BDEC-3D3A15D2414F}"/>
              </a:ext>
            </a:extLst>
          </p:cNvPr>
          <p:cNvSpPr>
            <a:spLocks xmlns:a="http://schemas.openxmlformats.org/drawingml/2006/main" noGrp="1"/>
          </p:cNvSpPr>
          <p:nvPr/>
        </p:nvSpPr>
        <p:spPr>
          <a:xfrm xmlns:a="http://schemas.openxmlformats.org/drawingml/2006/main">
            <a:off x="6762750" y="2266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Executable reconstruction of the 1990 procedure</a:t>
            </a:r>
          </a:p>
        </p:txBody>
      </p:sp>
      <p:sp>
        <p:nvSpPr>
          <p:cNvPr id="14" name="">
            <a:extLst xmlns:a="http://schemas.openxmlformats.org/drawingml/2006/main">
              <a:ext uri="{FF2B5EF4-FFF2-40B4-BE49-F238E27FC236}">
                <a16:creationId xmlns:a16="http://schemas.microsoft.com/office/drawing/2014/main" id="{084DEF7C-F652-440D-8D70-2AE496BC165B}"/>
              </a:ext>
            </a:extLst>
          </p:cNvPr>
          <p:cNvSpPr>
            <a:spLocks xmlns:a="http://schemas.openxmlformats.org/drawingml/2006/main" noGrp="1"/>
          </p:cNvSpPr>
          <p:nvPr/>
        </p:nvSpPr>
        <p:spPr>
          <a:xfrm xmlns:a="http://schemas.openxmlformats.org/drawingml/2006/main">
            <a:off x="9715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Valid and invalid generators</a:t>
            </a:r>
          </a:p>
        </p:txBody>
      </p:sp>
      <p:sp>
        <p:nvSpPr>
          <p:cNvPr id="15" name="">
            <a:extLst xmlns:a="http://schemas.openxmlformats.org/drawingml/2006/main">
              <a:ext uri="{FF2B5EF4-FFF2-40B4-BE49-F238E27FC236}">
                <a16:creationId xmlns:a16="http://schemas.microsoft.com/office/drawing/2014/main" id="{2CACC6F9-CB5A-4D92-BAA2-81C6082A6480}"/>
              </a:ext>
            </a:extLst>
          </p:cNvPr>
          <p:cNvSpPr>
            <a:spLocks xmlns:a="http://schemas.openxmlformats.org/drawingml/2006/main" noGrp="1"/>
          </p:cNvSpPr>
          <p:nvPr/>
        </p:nvSpPr>
        <p:spPr>
          <a:xfrm xmlns:a="http://schemas.openxmlformats.org/drawingml/2006/main">
            <a:off x="5810250" y="2743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6" name="">
            <a:extLst xmlns:a="http://schemas.openxmlformats.org/drawingml/2006/main">
              <a:ext uri="{FF2B5EF4-FFF2-40B4-BE49-F238E27FC236}">
                <a16:creationId xmlns:a16="http://schemas.microsoft.com/office/drawing/2014/main" id="{3816F943-5CBB-4C07-A421-B20CABFAE8F2}"/>
              </a:ext>
            </a:extLst>
          </p:cNvPr>
          <p:cNvSpPr>
            <a:spLocks xmlns:a="http://schemas.openxmlformats.org/drawingml/2006/main" noGrp="1"/>
          </p:cNvSpPr>
          <p:nvPr/>
        </p:nvSpPr>
        <p:spPr>
          <a:xfrm xmlns:a="http://schemas.openxmlformats.org/drawingml/2006/main">
            <a:off x="6762750" y="2743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Oracle-certified valid-input sorting</a:t>
            </a:r>
          </a:p>
        </p:txBody>
      </p:sp>
      <p:sp>
        <p:nvSpPr>
          <p:cNvPr id="17" name="">
            <a:extLst xmlns:a="http://schemas.openxmlformats.org/drawingml/2006/main">
              <a:ext uri="{FF2B5EF4-FFF2-40B4-BE49-F238E27FC236}">
                <a16:creationId xmlns:a16="http://schemas.microsoft.com/office/drawing/2014/main" id="{76DA9D41-D402-4C1D-B668-F459A58CE0D5}"/>
              </a:ext>
            </a:extLst>
          </p:cNvPr>
          <p:cNvSpPr>
            <a:spLocks xmlns:a="http://schemas.openxmlformats.org/drawingml/2006/main" noGrp="1"/>
          </p:cNvSpPr>
          <p:nvPr/>
        </p:nvSpPr>
        <p:spPr>
          <a:xfrm xmlns:a="http://schemas.openxmlformats.org/drawingml/2006/main">
            <a:off x="9715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Static family trees</a:t>
            </a:r>
          </a:p>
        </p:txBody>
      </p:sp>
      <p:sp>
        <p:nvSpPr>
          <p:cNvPr id="18" name="">
            <a:extLst xmlns:a="http://schemas.openxmlformats.org/drawingml/2006/main">
              <a:ext uri="{FF2B5EF4-FFF2-40B4-BE49-F238E27FC236}">
                <a16:creationId xmlns:a16="http://schemas.microsoft.com/office/drawing/2014/main" id="{B1DC8711-B163-4F83-ACCE-EDB2E22AF548}"/>
              </a:ext>
            </a:extLst>
          </p:cNvPr>
          <p:cNvSpPr>
            <a:spLocks xmlns:a="http://schemas.openxmlformats.org/drawingml/2006/main" noGrp="1"/>
          </p:cNvSpPr>
          <p:nvPr/>
        </p:nvSpPr>
        <p:spPr>
          <a:xfrm xmlns:a="http://schemas.openxmlformats.org/drawingml/2006/main">
            <a:off x="5810250" y="32194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19" name="">
            <a:extLst xmlns:a="http://schemas.openxmlformats.org/drawingml/2006/main">
              <a:ext uri="{FF2B5EF4-FFF2-40B4-BE49-F238E27FC236}">
                <a16:creationId xmlns:a16="http://schemas.microsoft.com/office/drawing/2014/main" id="{22F150DF-5A71-4E8F-B69D-0BE91471A342}"/>
              </a:ext>
            </a:extLst>
          </p:cNvPr>
          <p:cNvSpPr>
            <a:spLocks xmlns:a="http://schemas.openxmlformats.org/drawingml/2006/main" noGrp="1"/>
          </p:cNvSpPr>
          <p:nvPr/>
        </p:nvSpPr>
        <p:spPr>
          <a:xfrm xmlns:a="http://schemas.openxmlformats.org/drawingml/2006/main">
            <a:off x="6762750" y="32194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1" i="0">
                <a:solidFill>
                  <a:srgbClr val="243B53"/>
                </a:solidFill>
              </a:defRPr>
            </a:pPr>
            <a:r>
              <a:rPr sz="1350" b="1" i="0">
                <a:solidFill>
                  <a:srgbClr val="243B53"/>
                </a:solidFill>
              </a:rPr>
              <a:t>Dynamic sibling-list state</a:t>
            </a:r>
          </a:p>
        </p:txBody>
      </p:sp>
      <p:sp>
        <p:nvSpPr>
          <p:cNvPr id="20" name="">
            <a:extLst xmlns:a="http://schemas.openxmlformats.org/drawingml/2006/main">
              <a:ext uri="{FF2B5EF4-FFF2-40B4-BE49-F238E27FC236}">
                <a16:creationId xmlns:a16="http://schemas.microsoft.com/office/drawing/2014/main" id="{B801C161-044B-4D83-A970-43AB0E64A668}"/>
              </a:ext>
            </a:extLst>
          </p:cNvPr>
          <p:cNvSpPr>
            <a:spLocks xmlns:a="http://schemas.openxmlformats.org/drawingml/2006/main" noGrp="1"/>
          </p:cNvSpPr>
          <p:nvPr/>
        </p:nvSpPr>
        <p:spPr>
          <a:xfrm xmlns:a="http://schemas.openxmlformats.org/drawingml/2006/main">
            <a:off x="9715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Broad reference evaluation</a:t>
            </a:r>
          </a:p>
        </p:txBody>
      </p:sp>
      <p:sp>
        <p:nvSpPr>
          <p:cNvPr id="21" name="">
            <a:extLst xmlns:a="http://schemas.openxmlformats.org/drawingml/2006/main">
              <a:ext uri="{FF2B5EF4-FFF2-40B4-BE49-F238E27FC236}">
                <a16:creationId xmlns:a16="http://schemas.microsoft.com/office/drawing/2014/main" id="{7EA43E8E-721B-4AE7-A3C2-6AB342DEA573}"/>
              </a:ext>
            </a:extLst>
          </p:cNvPr>
          <p:cNvSpPr>
            <a:spLocks xmlns:a="http://schemas.openxmlformats.org/drawingml/2006/main" noGrp="1"/>
          </p:cNvSpPr>
          <p:nvPr/>
        </p:nvSpPr>
        <p:spPr>
          <a:xfrm xmlns:a="http://schemas.openxmlformats.org/drawingml/2006/main">
            <a:off x="5810250" y="36957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2" name="">
            <a:extLst xmlns:a="http://schemas.openxmlformats.org/drawingml/2006/main">
              <a:ext uri="{FF2B5EF4-FFF2-40B4-BE49-F238E27FC236}">
                <a16:creationId xmlns:a16="http://schemas.microsoft.com/office/drawing/2014/main" id="{59630446-5728-4B2D-9D12-C927A5E0BF24}"/>
              </a:ext>
            </a:extLst>
          </p:cNvPr>
          <p:cNvSpPr>
            <a:spLocks xmlns:a="http://schemas.openxmlformats.org/drawingml/2006/main" noGrp="1"/>
          </p:cNvSpPr>
          <p:nvPr/>
        </p:nvSpPr>
        <p:spPr>
          <a:xfrm xmlns:a="http://schemas.openxmlformats.org/drawingml/2006/main">
            <a:off x="6762750" y="36957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Paper core, reference pipeline, Python sort</a:t>
            </a:r>
          </a:p>
        </p:txBody>
      </p:sp>
      <p:sp>
        <p:nvSpPr>
          <p:cNvPr id="23" name="">
            <a:extLst xmlns:a="http://schemas.openxmlformats.org/drawingml/2006/main">
              <a:ext uri="{FF2B5EF4-FFF2-40B4-BE49-F238E27FC236}">
                <a16:creationId xmlns:a16="http://schemas.microsoft.com/office/drawing/2014/main" id="{31FD1875-18E0-43F9-9010-E6E0C40327AE}"/>
              </a:ext>
            </a:extLst>
          </p:cNvPr>
          <p:cNvSpPr>
            <a:spLocks xmlns:a="http://schemas.openxmlformats.org/drawingml/2006/main" noGrp="1"/>
          </p:cNvSpPr>
          <p:nvPr/>
        </p:nvSpPr>
        <p:spPr>
          <a:xfrm xmlns:a="http://schemas.openxmlformats.org/drawingml/2006/main">
            <a:off x="9715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Recognition as a possible experiment</a:t>
            </a:r>
          </a:p>
        </p:txBody>
      </p:sp>
      <p:sp>
        <p:nvSpPr>
          <p:cNvPr id="24" name="">
            <a:extLst xmlns:a="http://schemas.openxmlformats.org/drawingml/2006/main">
              <a:ext uri="{FF2B5EF4-FFF2-40B4-BE49-F238E27FC236}">
                <a16:creationId xmlns:a16="http://schemas.microsoft.com/office/drawing/2014/main" id="{DAA51320-C502-4AFF-BF48-73456EC8F540}"/>
              </a:ext>
            </a:extLst>
          </p:cNvPr>
          <p:cNvSpPr>
            <a:spLocks xmlns:a="http://schemas.openxmlformats.org/drawingml/2006/main" noGrp="1"/>
          </p:cNvSpPr>
          <p:nvPr/>
        </p:nvSpPr>
        <p:spPr>
          <a:xfrm xmlns:a="http://schemas.openxmlformats.org/drawingml/2006/main">
            <a:off x="5810250" y="417195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5" name="">
            <a:extLst xmlns:a="http://schemas.openxmlformats.org/drawingml/2006/main">
              <a:ext uri="{FF2B5EF4-FFF2-40B4-BE49-F238E27FC236}">
                <a16:creationId xmlns:a16="http://schemas.microsoft.com/office/drawing/2014/main" id="{EB064539-46B7-482C-80B0-7FDE42F93A9D}"/>
              </a:ext>
            </a:extLst>
          </p:cNvPr>
          <p:cNvSpPr>
            <a:spLocks xmlns:a="http://schemas.openxmlformats.org/drawingml/2006/main" noGrp="1"/>
          </p:cNvSpPr>
          <p:nvPr/>
        </p:nvSpPr>
        <p:spPr>
          <a:xfrm xmlns:a="http://schemas.openxmlformats.org/drawingml/2006/main">
            <a:off x="6762750" y="417195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Recognition remains separate</a:t>
            </a:r>
          </a:p>
        </p:txBody>
      </p:sp>
      <p:sp>
        <p:nvSpPr>
          <p:cNvPr id="26" name="">
            <a:extLst xmlns:a="http://schemas.openxmlformats.org/drawingml/2006/main">
              <a:ext uri="{FF2B5EF4-FFF2-40B4-BE49-F238E27FC236}">
                <a16:creationId xmlns:a16="http://schemas.microsoft.com/office/drawing/2014/main" id="{E95707BD-03AB-4534-B8ED-D32FAC935437}"/>
              </a:ext>
            </a:extLst>
          </p:cNvPr>
          <p:cNvSpPr>
            <a:spLocks xmlns:a="http://schemas.openxmlformats.org/drawingml/2006/main" noGrp="1"/>
          </p:cNvSpPr>
          <p:nvPr/>
        </p:nvSpPr>
        <p:spPr>
          <a:xfrm xmlns:a="http://schemas.openxmlformats.org/drawingml/2006/main">
            <a:off x="9715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52606D"/>
                </a:solidFill>
              </a:defRPr>
            </a:pPr>
            <a:r>
              <a:rPr sz="1350" b="0" i="0">
                <a:solidFill>
                  <a:srgbClr val="52606D"/>
                </a:solidFill>
              </a:rPr>
              <a:t>Theoretical backend implementation</a:t>
            </a:r>
          </a:p>
        </p:txBody>
      </p:sp>
      <p:sp>
        <p:nvSpPr>
          <p:cNvPr id="27" name="">
            <a:extLst xmlns:a="http://schemas.openxmlformats.org/drawingml/2006/main">
              <a:ext uri="{FF2B5EF4-FFF2-40B4-BE49-F238E27FC236}">
                <a16:creationId xmlns:a16="http://schemas.microsoft.com/office/drawing/2014/main" id="{551FDA94-7A06-4F60-9E33-1EDBDF4FD38C}"/>
              </a:ext>
            </a:extLst>
          </p:cNvPr>
          <p:cNvSpPr>
            <a:spLocks xmlns:a="http://schemas.openxmlformats.org/drawingml/2006/main" noGrp="1"/>
          </p:cNvSpPr>
          <p:nvPr/>
        </p:nvSpPr>
        <p:spPr>
          <a:xfrm xmlns:a="http://schemas.openxmlformats.org/drawingml/2006/main">
            <a:off x="5810250" y="4648200"/>
            <a:ext cx="5524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a:t>
            </a:r>
          </a:p>
        </p:txBody>
      </p:sp>
      <p:sp>
        <p:nvSpPr>
          <p:cNvPr id="28" name="">
            <a:extLst xmlns:a="http://schemas.openxmlformats.org/drawingml/2006/main">
              <a:ext uri="{FF2B5EF4-FFF2-40B4-BE49-F238E27FC236}">
                <a16:creationId xmlns:a16="http://schemas.microsoft.com/office/drawing/2014/main" id="{EEA9B9C7-02D6-4A89-9CDF-F17B111BCC2D}"/>
              </a:ext>
            </a:extLst>
          </p:cNvPr>
          <p:cNvSpPr>
            <a:spLocks xmlns:a="http://schemas.openxmlformats.org/drawingml/2006/main" noGrp="1"/>
          </p:cNvSpPr>
          <p:nvPr/>
        </p:nvSpPr>
        <p:spPr>
          <a:xfrm xmlns:a="http://schemas.openxmlformats.org/drawingml/2006/main">
            <a:off x="6762750" y="4648200"/>
            <a:ext cx="4333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Ordinary lists in the current implementation</a:t>
            </a:r>
          </a:p>
        </p:txBody>
      </p:sp>
      <p:sp>
        <p:nvSpPr>
          <p:cNvPr id="29" name="">
            <a:extLst xmlns:a="http://schemas.openxmlformats.org/drawingml/2006/main">
              <a:ext uri="{FF2B5EF4-FFF2-40B4-BE49-F238E27FC236}">
                <a16:creationId xmlns:a16="http://schemas.microsoft.com/office/drawing/2014/main" id="{1C72D62C-98B1-496B-B509-6BABFB790D93}"/>
              </a:ext>
            </a:extLst>
          </p:cNvPr>
          <p:cNvSpPr>
            <a:spLocks xmlns:a="http://schemas.openxmlformats.org/drawingml/2006/main" noGrp="1"/>
          </p:cNvSpPr>
          <p:nvPr/>
        </p:nvSpPr>
        <p:spPr>
          <a:xfrm xmlns:a="http://schemas.openxmlformats.org/drawingml/2006/main">
            <a:off x="1143000" y="5505450"/>
            <a:ext cx="990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The experiment evaluates the ordinary-list implementation. A finger-tree backend remains a possible extension.</a:t>
            </a:r>
          </a:p>
        </p:txBody>
      </p:sp>
    </p:spTree>
    <p:extLst>
      <p:ext uri="{BB962C8B-B14F-4D97-AF65-F5344CB8AC3E}">
        <p14:creationId xmlns:p14="http://schemas.microsoft.com/office/powerpoint/2010/main" val="1075357415"/>
      </p:ext>
    </p:extLst>
  </p:cSld>
</p:sld>
</file>

<file path=ppt/slides/slide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E48B733-B68B-48E3-B76C-814D5767808A}"/>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RESEARCH QUESTIONS</a:t>
            </a:r>
          </a:p>
        </p:txBody>
      </p:sp>
      <p:sp>
        <p:nvSpPr>
          <p:cNvPr id="2" name="">
            <a:extLst xmlns:a="http://schemas.openxmlformats.org/drawingml/2006/main">
              <a:ext uri="{FF2B5EF4-FFF2-40B4-BE49-F238E27FC236}">
                <a16:creationId xmlns:a16="http://schemas.microsoft.com/office/drawing/2014/main" id="{08277AA5-5570-40B0-A4D8-C8EEAF396AC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009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Three questions connect reconstruction, measurement, and interpretation</a:t>
            </a:r>
          </a:p>
        </p:txBody>
      </p:sp>
      <p:sp>
        <p:nvSpPr>
          <p:cNvPr id="3" name="">
            <a:extLst xmlns:a="http://schemas.openxmlformats.org/drawingml/2006/main">
              <a:ext uri="{FF2B5EF4-FFF2-40B4-BE49-F238E27FC236}">
                <a16:creationId xmlns:a16="http://schemas.microsoft.com/office/drawing/2014/main" id="{C03DDE34-55F9-4F0D-ADFD-8EF5B3F1437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FC5DE1E-A69D-45C3-8A1D-F145A3AC5E4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BE2F9802-9712-41F9-8FEE-FAC32837515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9057FAA-3111-42DD-9B70-19E83DF07055}"/>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5 / 16</a:t>
            </a:r>
          </a:p>
        </p:txBody>
      </p:sp>
      <p:sp>
        <p:nvSpPr>
          <p:cNvPr id="7" name="">
            <a:extLst xmlns:a="http://schemas.openxmlformats.org/drawingml/2006/main">
              <a:ext uri="{FF2B5EF4-FFF2-40B4-BE49-F238E27FC236}">
                <a16:creationId xmlns:a16="http://schemas.microsoft.com/office/drawing/2014/main" id="{46E266F8-AEED-4782-8B0C-8DA4F2BDA781}"/>
              </a:ext>
            </a:extLst>
          </p:cNvPr>
          <p:cNvSpPr>
            <a:spLocks xmlns:a="http://schemas.openxmlformats.org/drawingml/2006/main" noGrp="1"/>
          </p:cNvSpPr>
          <p:nvPr/>
        </p:nvSpPr>
        <p:spPr>
          <a:xfrm xmlns:a="http://schemas.openxmlformats.org/drawingml/2006/main">
            <a:off x="723900" y="1485900"/>
            <a:ext cx="10744200" cy="1200150"/>
          </a:xfrm>
          <a:prstGeom xmlns:a="http://schemas.openxmlformats.org/drawingml/2006/main" prst="roundRect">
            <a:avLst>
              <a:gd name="adj" fmla="val 6349"/>
            </a:avLst>
          </a:prstGeom>
          <a:solidFill xmlns:a="http://schemas.openxmlformats.org/drawingml/2006/main">
            <a:srgbClr val="E8F5F3"/>
          </a:solidFill>
          <a:ln xmlns:a="http://schemas.openxmlformats.org/drawingml/2006/main" w="11430">
            <a:solidFill>
              <a:srgbClr val="E8F5F3"/>
            </a:solidFill>
            <a:prstDash val="solid"/>
          </a:ln>
        </p:spPr>
      </p:sp>
      <p:sp>
        <p:nvSpPr>
          <p:cNvPr id="8" name="">
            <a:extLst xmlns:a="http://schemas.openxmlformats.org/drawingml/2006/main">
              <a:ext uri="{FF2B5EF4-FFF2-40B4-BE49-F238E27FC236}">
                <a16:creationId xmlns:a16="http://schemas.microsoft.com/office/drawing/2014/main" id="{FAB5174E-0A31-4FAB-81C2-C7DFA2D2C426}"/>
              </a:ext>
            </a:extLst>
          </p:cNvPr>
          <p:cNvSpPr>
            <a:spLocks xmlns:a="http://schemas.openxmlformats.org/drawingml/2006/main" noGrp="1"/>
          </p:cNvSpPr>
          <p:nvPr/>
        </p:nvSpPr>
        <p:spPr>
          <a:xfrm xmlns:a="http://schemas.openxmlformats.org/drawingml/2006/main">
            <a:off x="914400" y="16573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2A9D8F"/>
                </a:solidFill>
              </a:defRPr>
            </a:pPr>
            <a:r>
              <a:rPr sz="2100" b="1" i="0">
                <a:solidFill>
                  <a:srgbClr val="2A9D8F"/>
                </a:solidFill>
              </a:rPr>
              <a:t>RQ1</a:t>
            </a:r>
          </a:p>
        </p:txBody>
      </p:sp>
      <p:sp>
        <p:nvSpPr>
          <p:cNvPr id="9" name="">
            <a:extLst xmlns:a="http://schemas.openxmlformats.org/drawingml/2006/main">
              <a:ext uri="{FF2B5EF4-FFF2-40B4-BE49-F238E27FC236}">
                <a16:creationId xmlns:a16="http://schemas.microsoft.com/office/drawing/2014/main" id="{D3DCDDAD-7A0D-4FEA-B1D8-30716EF808B2}"/>
              </a:ext>
            </a:extLst>
          </p:cNvPr>
          <p:cNvSpPr>
            <a:spLocks xmlns:a="http://schemas.openxmlformats.org/drawingml/2006/main" noGrp="1"/>
          </p:cNvSpPr>
          <p:nvPr/>
        </p:nvSpPr>
        <p:spPr>
          <a:xfrm xmlns:a="http://schemas.openxmlformats.org/drawingml/2006/main">
            <a:off x="2152650" y="16192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Executable reconstruction and correctness</a:t>
            </a:r>
          </a:p>
        </p:txBody>
      </p:sp>
      <p:sp>
        <p:nvSpPr>
          <p:cNvPr id="10" name="">
            <a:extLst xmlns:a="http://schemas.openxmlformats.org/drawingml/2006/main">
              <a:ext uri="{FF2B5EF4-FFF2-40B4-BE49-F238E27FC236}">
                <a16:creationId xmlns:a16="http://schemas.microsoft.com/office/drawing/2014/main" id="{84470029-080A-4415-B328-E42E7E3A55EA}"/>
              </a:ext>
            </a:extLst>
          </p:cNvPr>
          <p:cNvSpPr>
            <a:spLocks xmlns:a="http://schemas.openxmlformats.org/drawingml/2006/main" noGrp="1"/>
          </p:cNvSpPr>
          <p:nvPr/>
        </p:nvSpPr>
        <p:spPr>
          <a:xfrm xmlns:a="http://schemas.openxmlformats.org/drawingml/2006/main">
            <a:off x="2152650" y="20574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p>
        </p:txBody>
      </p:sp>
      <p:sp>
        <p:nvSpPr>
          <p:cNvPr id="11" name="">
            <a:extLst xmlns:a="http://schemas.openxmlformats.org/drawingml/2006/main">
              <a:ext uri="{FF2B5EF4-FFF2-40B4-BE49-F238E27FC236}">
                <a16:creationId xmlns:a16="http://schemas.microsoft.com/office/drawing/2014/main" id="{0ABA143B-1C15-44AF-9EF7-AA92736159A4}"/>
              </a:ext>
            </a:extLst>
          </p:cNvPr>
          <p:cNvSpPr>
            <a:spLocks xmlns:a="http://schemas.openxmlformats.org/drawingml/2006/main" noGrp="1"/>
          </p:cNvSpPr>
          <p:nvPr/>
        </p:nvSpPr>
        <p:spPr>
          <a:xfrm xmlns:a="http://schemas.openxmlformats.org/drawingml/2006/main">
            <a:off x="8477250" y="1647825"/>
            <a:ext cx="2571750" cy="285750"/>
          </a:xfrm>
          <a:prstGeom xmlns:a="http://schemas.openxmlformats.org/drawingml/2006/main" prst="roundRect">
            <a:avLst>
              <a:gd name="adj" fmla="val 20000"/>
            </a:avLst>
          </a:prstGeom>
          <a:solidFill xmlns:a="http://schemas.openxmlformats.org/drawingml/2006/main">
            <a:srgbClr val="2A9D8F"/>
          </a:solidFill>
          <a:ln xmlns:a="http://schemas.openxmlformats.org/drawingml/2006/main" w="11430">
            <a:solidFill>
              <a:srgbClr val="2A9D8F"/>
            </a:solidFill>
            <a:prstDash val="solid"/>
          </a:ln>
        </p:spPr>
      </p:sp>
      <p:sp>
        <p:nvSpPr>
          <p:cNvPr id="12" name="">
            <a:extLst xmlns:a="http://schemas.openxmlformats.org/drawingml/2006/main">
              <a:ext uri="{FF2B5EF4-FFF2-40B4-BE49-F238E27FC236}">
                <a16:creationId xmlns:a16="http://schemas.microsoft.com/office/drawing/2014/main" id="{855F9B95-70E4-4C66-8B89-126BA07E65BA}"/>
              </a:ext>
            </a:extLst>
          </p:cNvPr>
          <p:cNvSpPr>
            <a:spLocks xmlns:a="http://schemas.openxmlformats.org/drawingml/2006/main" noGrp="1"/>
          </p:cNvSpPr>
          <p:nvPr/>
        </p:nvSpPr>
        <p:spPr>
          <a:xfrm xmlns:a="http://schemas.openxmlformats.org/drawingml/2006/main">
            <a:off x="8477250" y="1657350"/>
            <a:ext cx="2571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975" b="1" i="0">
                <a:solidFill>
                  <a:srgbClr val="FFFFFF"/>
                </a:solidFill>
              </a:defRPr>
            </a:pPr>
            <a:r>
              <a:rPr sz="975" b="1" i="0">
                <a:solidFill>
                  <a:srgbClr val="FFFFFF"/>
                </a:solidFill>
              </a:rPr>
              <a:t>PRIMARY TECHNICAL QUESTION</a:t>
            </a:r>
          </a:p>
        </p:txBody>
      </p:sp>
      <p:sp>
        <p:nvSpPr>
          <p:cNvPr id="13" name="">
            <a:extLst xmlns:a="http://schemas.openxmlformats.org/drawingml/2006/main">
              <a:ext uri="{FF2B5EF4-FFF2-40B4-BE49-F238E27FC236}">
                <a16:creationId xmlns:a16="http://schemas.microsoft.com/office/drawing/2014/main" id="{36B0AFB9-66D8-4828-9236-5E747F0FA505}"/>
              </a:ext>
            </a:extLst>
          </p:cNvPr>
          <p:cNvSpPr>
            <a:spLocks xmlns:a="http://schemas.openxmlformats.org/drawingml/2006/main" noGrp="1"/>
          </p:cNvSpPr>
          <p:nvPr/>
        </p:nvSpPr>
        <p:spPr>
          <a:xfrm xmlns:a="http://schemas.openxmlformats.org/drawingml/2006/main">
            <a:off x="723900" y="2990850"/>
            <a:ext cx="10744200" cy="1200150"/>
          </a:xfrm>
          <a:prstGeom xmlns:a="http://schemas.openxmlformats.org/drawingml/2006/main" prst="roundRect">
            <a:avLst>
              <a:gd name="adj" fmla="val 6349"/>
            </a:avLst>
          </a:prstGeom>
          <a:solidFill xmlns:a="http://schemas.openxmlformats.org/drawingml/2006/main">
            <a:srgbClr val="FCEEEA"/>
          </a:solidFill>
          <a:ln xmlns:a="http://schemas.openxmlformats.org/drawingml/2006/main" w="11430">
            <a:solidFill>
              <a:srgbClr val="FCEEEA"/>
            </a:solidFill>
            <a:prstDash val="solid"/>
          </a:ln>
        </p:spPr>
      </p:sp>
      <p:sp>
        <p:nvSpPr>
          <p:cNvPr id="14" name="">
            <a:extLst xmlns:a="http://schemas.openxmlformats.org/drawingml/2006/main">
              <a:ext uri="{FF2B5EF4-FFF2-40B4-BE49-F238E27FC236}">
                <a16:creationId xmlns:a16="http://schemas.microsoft.com/office/drawing/2014/main" id="{E33A5852-5A62-4505-8369-8F2D8DA0EB58}"/>
              </a:ext>
            </a:extLst>
          </p:cNvPr>
          <p:cNvSpPr>
            <a:spLocks xmlns:a="http://schemas.openxmlformats.org/drawingml/2006/main" noGrp="1"/>
          </p:cNvSpPr>
          <p:nvPr/>
        </p:nvSpPr>
        <p:spPr>
          <a:xfrm xmlns:a="http://schemas.openxmlformats.org/drawingml/2006/main">
            <a:off x="914400" y="316230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E76F51"/>
                </a:solidFill>
              </a:defRPr>
            </a:pPr>
            <a:r>
              <a:rPr sz="2100" b="1" i="0">
                <a:solidFill>
                  <a:srgbClr val="E76F51"/>
                </a:solidFill>
              </a:rPr>
              <a:t>RQ2</a:t>
            </a:r>
          </a:p>
        </p:txBody>
      </p:sp>
      <p:sp>
        <p:nvSpPr>
          <p:cNvPr id="15" name="">
            <a:extLst xmlns:a="http://schemas.openxmlformats.org/drawingml/2006/main">
              <a:ext uri="{FF2B5EF4-FFF2-40B4-BE49-F238E27FC236}">
                <a16:creationId xmlns:a16="http://schemas.microsoft.com/office/drawing/2014/main" id="{2BDEA94F-A8FE-48CE-BB9D-A7662F2149BA}"/>
              </a:ext>
            </a:extLst>
          </p:cNvPr>
          <p:cNvSpPr>
            <a:spLocks xmlns:a="http://schemas.openxmlformats.org/drawingml/2006/main" noGrp="1"/>
          </p:cNvSpPr>
          <p:nvPr/>
        </p:nvSpPr>
        <p:spPr>
          <a:xfrm xmlns:a="http://schemas.openxmlformats.org/drawingml/2006/main">
            <a:off x="2152650" y="312420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Observed runtime behavior</a:t>
            </a:r>
          </a:p>
        </p:txBody>
      </p:sp>
      <p:sp>
        <p:nvSpPr>
          <p:cNvPr id="16" name="">
            <a:extLst xmlns:a="http://schemas.openxmlformats.org/drawingml/2006/main">
              <a:ext uri="{FF2B5EF4-FFF2-40B4-BE49-F238E27FC236}">
                <a16:creationId xmlns:a16="http://schemas.microsoft.com/office/drawing/2014/main" id="{49344DE8-5D84-439D-A9ED-4941D6AF6C82}"/>
              </a:ext>
            </a:extLst>
          </p:cNvPr>
          <p:cNvSpPr>
            <a:spLocks xmlns:a="http://schemas.openxmlformats.org/drawingml/2006/main" noGrp="1"/>
          </p:cNvSpPr>
          <p:nvPr/>
        </p:nvSpPr>
        <p:spPr>
          <a:xfrm xmlns:a="http://schemas.openxmlformats.org/drawingml/2006/main">
            <a:off x="2152650" y="356235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p>
        </p:txBody>
      </p:sp>
      <p:sp>
        <p:nvSpPr>
          <p:cNvPr id="17" name="">
            <a:extLst xmlns:a="http://schemas.openxmlformats.org/drawingml/2006/main">
              <a:ext uri="{FF2B5EF4-FFF2-40B4-BE49-F238E27FC236}">
                <a16:creationId xmlns:a16="http://schemas.microsoft.com/office/drawing/2014/main" id="{69E5B361-FFA6-4708-AEB9-7D459F786587}"/>
              </a:ext>
            </a:extLst>
          </p:cNvPr>
          <p:cNvSpPr>
            <a:spLocks xmlns:a="http://schemas.openxmlformats.org/drawingml/2006/main" noGrp="1"/>
          </p:cNvSpPr>
          <p:nvPr/>
        </p:nvSpPr>
        <p:spPr>
          <a:xfrm xmlns:a="http://schemas.openxmlformats.org/drawingml/2006/main">
            <a:off x="723900" y="4495800"/>
            <a:ext cx="10744200" cy="1200150"/>
          </a:xfrm>
          <a:prstGeom xmlns:a="http://schemas.openxmlformats.org/drawingml/2006/main" prst="roundRect">
            <a:avLst>
              <a:gd name="adj" fmla="val 6349"/>
            </a:avLst>
          </a:prstGeom>
          <a:solidFill xmlns:a="http://schemas.openxmlformats.org/drawingml/2006/main">
            <a:srgbClr val="EDF2F7"/>
          </a:solidFill>
          <a:ln xmlns:a="http://schemas.openxmlformats.org/drawingml/2006/main" w="11430">
            <a:solidFill>
              <a:srgbClr val="EDF2F7"/>
            </a:solidFill>
            <a:prstDash val="solid"/>
          </a:ln>
        </p:spPr>
      </p:sp>
      <p:sp>
        <p:nvSpPr>
          <p:cNvPr id="18" name="">
            <a:extLst xmlns:a="http://schemas.openxmlformats.org/drawingml/2006/main">
              <a:ext uri="{FF2B5EF4-FFF2-40B4-BE49-F238E27FC236}">
                <a16:creationId xmlns:a16="http://schemas.microsoft.com/office/drawing/2014/main" id="{210CAEB6-FA74-485B-9C8C-D76C568FA34F}"/>
              </a:ext>
            </a:extLst>
          </p:cNvPr>
          <p:cNvSpPr>
            <a:spLocks xmlns:a="http://schemas.openxmlformats.org/drawingml/2006/main" noGrp="1"/>
          </p:cNvSpPr>
          <p:nvPr/>
        </p:nvSpPr>
        <p:spPr>
          <a:xfrm xmlns:a="http://schemas.openxmlformats.org/drawingml/2006/main">
            <a:off x="914400" y="4667250"/>
            <a:ext cx="114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2100" b="1" i="0">
                <a:solidFill>
                  <a:srgbClr val="52606D"/>
                </a:solidFill>
              </a:defRPr>
            </a:pPr>
            <a:r>
              <a:rPr sz="2100" b="1" i="0">
                <a:solidFill>
                  <a:srgbClr val="52606D"/>
                </a:solidFill>
              </a:rPr>
              <a:t>RQ3</a:t>
            </a:r>
          </a:p>
        </p:txBody>
      </p:sp>
      <p:sp>
        <p:nvSpPr>
          <p:cNvPr id="19" name="">
            <a:extLst xmlns:a="http://schemas.openxmlformats.org/drawingml/2006/main">
              <a:ext uri="{FF2B5EF4-FFF2-40B4-BE49-F238E27FC236}">
                <a16:creationId xmlns:a16="http://schemas.microsoft.com/office/drawing/2014/main" id="{43475A2F-CB2B-41E1-B74C-858CF7D9E209}"/>
              </a:ext>
            </a:extLst>
          </p:cNvPr>
          <p:cNvSpPr>
            <a:spLocks xmlns:a="http://schemas.openxmlformats.org/drawingml/2006/main" noGrp="1"/>
          </p:cNvSpPr>
          <p:nvPr/>
        </p:nvSpPr>
        <p:spPr>
          <a:xfrm xmlns:a="http://schemas.openxmlformats.org/drawingml/2006/main">
            <a:off x="2152650" y="4629150"/>
            <a:ext cx="4953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Structure and implementation cost</a:t>
            </a:r>
          </a:p>
        </p:txBody>
      </p:sp>
      <p:sp>
        <p:nvSpPr>
          <p:cNvPr id="20" name="">
            <a:extLst xmlns:a="http://schemas.openxmlformats.org/drawingml/2006/main">
              <a:ext uri="{FF2B5EF4-FFF2-40B4-BE49-F238E27FC236}">
                <a16:creationId xmlns:a16="http://schemas.microsoft.com/office/drawing/2014/main" id="{B3A18B6F-FAE7-423D-8B25-650C13D8B311}"/>
              </a:ext>
            </a:extLst>
          </p:cNvPr>
          <p:cNvSpPr>
            <a:spLocks xmlns:a="http://schemas.openxmlformats.org/drawingml/2006/main" noGrp="1"/>
          </p:cNvSpPr>
          <p:nvPr/>
        </p:nvSpPr>
        <p:spPr>
          <a:xfrm xmlns:a="http://schemas.openxmlformats.org/drawingml/2006/main">
            <a:off x="2152650" y="5067300"/>
            <a:ext cx="8858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p>
        </p:txBody>
      </p:sp>
    </p:spTree>
    <p:extLst>
      <p:ext uri="{BB962C8B-B14F-4D97-AF65-F5344CB8AC3E}">
        <p14:creationId xmlns:p14="http://schemas.microsoft.com/office/powerpoint/2010/main" val="314430339"/>
      </p:ext>
    </p:extLst>
  </p:cSld>
</p:sld>
</file>

<file path=ppt/slides/slide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FE00917F-7E02-4A06-80F4-33B05ABACB2B}"/>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ARCHITECTURE</a:t>
            </a:r>
          </a:p>
        </p:txBody>
      </p:sp>
      <p:sp>
        <p:nvSpPr>
          <p:cNvPr id="2" name="">
            <a:extLst xmlns:a="http://schemas.openxmlformats.org/drawingml/2006/main">
              <a:ext uri="{FF2B5EF4-FFF2-40B4-BE49-F238E27FC236}">
                <a16:creationId xmlns:a16="http://schemas.microsoft.com/office/drawing/2014/main" id="{3693D8C2-8D88-45D8-B0A5-D234A61176D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oracle, reference pipeline, and paper core have distinct roles</a:t>
            </a:r>
          </a:p>
        </p:txBody>
      </p:sp>
      <p:sp>
        <p:nvSpPr>
          <p:cNvPr id="3" name="">
            <a:extLst xmlns:a="http://schemas.openxmlformats.org/drawingml/2006/main">
              <a:ext uri="{FF2B5EF4-FFF2-40B4-BE49-F238E27FC236}">
                <a16:creationId xmlns:a16="http://schemas.microsoft.com/office/drawing/2014/main" id="{794D21A2-D40F-4796-BFF7-6EA1A1DFAC2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788A2D76-91F3-4B4C-A777-F3F7376F40C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FE8BBBA8-7F5E-421A-B565-D2124A556021}"/>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1B6B8E42-2CEB-49BC-958E-8EF901F8300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6 / 16</a:t>
            </a:r>
          </a:p>
        </p:txBody>
      </p:sp>
      <p:sp>
        <p:nvSpPr>
          <p:cNvPr id="7" name="">
            <a:extLst xmlns:a="http://schemas.openxmlformats.org/drawingml/2006/main">
              <a:ext uri="{FF2B5EF4-FFF2-40B4-BE49-F238E27FC236}">
                <a16:creationId xmlns:a16="http://schemas.microsoft.com/office/drawing/2014/main" id="{45FFCD13-0E74-47C4-9C14-E2B5659F772C}"/>
              </a:ext>
            </a:extLst>
          </p:cNvPr>
          <p:cNvSpPr>
            <a:spLocks xmlns:a="http://schemas.openxmlformats.org/drawingml/2006/main" noGrp="1"/>
          </p:cNvSpPr>
          <p:nvPr/>
        </p:nvSpPr>
        <p:spPr>
          <a:xfrm xmlns:a="http://schemas.openxmlformats.org/drawingml/2006/main">
            <a:off x="4238625" y="1352550"/>
            <a:ext cx="371475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B4F1447F-5AE7-479E-A94C-CB782B363C13}"/>
              </a:ext>
            </a:extLst>
          </p:cNvPr>
          <p:cNvSpPr>
            <a:spLocks xmlns:a="http://schemas.openxmlformats.org/drawingml/2006/main" noGrp="1"/>
          </p:cNvSpPr>
          <p:nvPr/>
        </p:nvSpPr>
        <p:spPr>
          <a:xfrm xmlns:a="http://schemas.openxmlformats.org/drawingml/2006/main">
            <a:off x="4429125" y="14859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Certification oracle</a:t>
            </a:r>
          </a:p>
        </p:txBody>
      </p:sp>
      <p:sp>
        <p:nvSpPr>
          <p:cNvPr id="9" name="">
            <a:extLst xmlns:a="http://schemas.openxmlformats.org/drawingml/2006/main">
              <a:ext uri="{FF2B5EF4-FFF2-40B4-BE49-F238E27FC236}">
                <a16:creationId xmlns:a16="http://schemas.microsoft.com/office/drawing/2014/main" id="{51F32FF4-D3DE-4099-AE60-A68EBAC9B5BA}"/>
              </a:ext>
            </a:extLst>
          </p:cNvPr>
          <p:cNvSpPr>
            <a:spLocks xmlns:a="http://schemas.openxmlformats.org/drawingml/2006/main" noGrp="1"/>
          </p:cNvSpPr>
          <p:nvPr/>
        </p:nvSpPr>
        <p:spPr>
          <a:xfrm xmlns:a="http://schemas.openxmlformats.org/drawingml/2006/main">
            <a:off x="4429125" y="1847850"/>
            <a:ext cx="3333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validity + expected sorted order</a:t>
            </a:r>
          </a:p>
        </p:txBody>
      </p:sp>
      <p:sp>
        <p:nvSpPr>
          <p:cNvPr id="10" name="">
            <a:extLst xmlns:a="http://schemas.openxmlformats.org/drawingml/2006/main">
              <a:ext uri="{FF2B5EF4-FFF2-40B4-BE49-F238E27FC236}">
                <a16:creationId xmlns:a16="http://schemas.microsoft.com/office/drawing/2014/main" id="{18E322A4-41C2-441A-956E-7641D1470521}"/>
              </a:ext>
            </a:extLst>
          </p:cNvPr>
          <p:cNvSpPr>
            <a:spLocks xmlns:a="http://schemas.openxmlformats.org/drawingml/2006/main" noGrp="1"/>
          </p:cNvSpPr>
          <p:nvPr/>
        </p:nvSpPr>
        <p:spPr>
          <a:xfrm xmlns:a="http://schemas.openxmlformats.org/drawingml/2006/main">
            <a:off x="876300" y="3105150"/>
            <a:ext cx="4333875" cy="1809750"/>
          </a:xfrm>
          <a:prstGeom xmlns:a="http://schemas.openxmlformats.org/drawingml/2006/main" prst="roundRect">
            <a:avLst>
              <a:gd name="adj" fmla="val 4211"/>
            </a:avLst>
          </a:prstGeom>
          <a:solidFill xmlns:a="http://schemas.openxmlformats.org/drawingml/2006/main">
            <a:srgbClr val="FCEEEA"/>
          </a:solidFill>
          <a:ln xmlns:a="http://schemas.openxmlformats.org/drawingml/2006/main" w="19050">
            <a:solidFill>
              <a:srgbClr val="E76F51"/>
            </a:solidFill>
            <a:prstDash val="solid"/>
          </a:ln>
        </p:spPr>
      </p:sp>
      <p:sp>
        <p:nvSpPr>
          <p:cNvPr id="11" name="">
            <a:extLst xmlns:a="http://schemas.openxmlformats.org/drawingml/2006/main">
              <a:ext uri="{FF2B5EF4-FFF2-40B4-BE49-F238E27FC236}">
                <a16:creationId xmlns:a16="http://schemas.microsoft.com/office/drawing/2014/main" id="{A9DD47C9-9F76-4E47-9D53-730893993EA9}"/>
              </a:ext>
            </a:extLst>
          </p:cNvPr>
          <p:cNvSpPr>
            <a:spLocks xmlns:a="http://schemas.openxmlformats.org/drawingml/2006/main" noGrp="1"/>
          </p:cNvSpPr>
          <p:nvPr/>
        </p:nvSpPr>
        <p:spPr>
          <a:xfrm xmlns:a="http://schemas.openxmlformats.org/drawingml/2006/main">
            <a:off x="6981825" y="3105150"/>
            <a:ext cx="4333875" cy="1809750"/>
          </a:xfrm>
          <a:prstGeom xmlns:a="http://schemas.openxmlformats.org/drawingml/2006/main" prst="roundRect">
            <a:avLst>
              <a:gd name="adj" fmla="val 4211"/>
            </a:avLst>
          </a:prstGeom>
          <a:solidFill xmlns:a="http://schemas.openxmlformats.org/drawingml/2006/main">
            <a:srgbClr val="E8F5F3"/>
          </a:solidFill>
          <a:ln xmlns:a="http://schemas.openxmlformats.org/drawingml/2006/main" w="19050">
            <a:solidFill>
              <a:srgbClr val="2A9D8F"/>
            </a:solidFill>
            <a:prstDash val="solid"/>
          </a:ln>
        </p:spPr>
      </p:sp>
      <p:cxnSp>
        <p:nvCxnSpPr>
          <p:cNvPr id="38" name=""/>
          <p:cNvCxnSpPr>
            <a:stCxn xmlns:a="http://schemas.openxmlformats.org/drawingml/2006/main" id="7" idx="2"/>
            <a:endCxn xmlns:a="http://schemas.openxmlformats.org/drawingml/2006/main" id="10" idx="0"/>
          </p:cNvCxnSpPr>
          <p:nvPr/>
        </p:nvCxnSpPr>
        <p:spPr>
          <a:xfrm xmlns:a="http://schemas.openxmlformats.org/drawingml/2006/main" flipH="1">
            <a:off x="3043238"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cxnSp>
        <p:nvCxnSpPr>
          <p:cNvPr id="39" name=""/>
          <p:cNvCxnSpPr>
            <a:stCxn xmlns:a="http://schemas.openxmlformats.org/drawingml/2006/main" id="7" idx="2"/>
            <a:endCxn xmlns:a="http://schemas.openxmlformats.org/drawingml/2006/main" id="11" idx="0"/>
          </p:cNvCxnSpPr>
          <p:nvPr/>
        </p:nvCxnSpPr>
        <p:spPr>
          <a:xfrm xmlns:a="http://schemas.openxmlformats.org/drawingml/2006/main">
            <a:off x="6096000" y="2228850"/>
            <a:ext cx="3052763" cy="87630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14" name="">
            <a:extLst xmlns:a="http://schemas.openxmlformats.org/drawingml/2006/main">
              <a:ext uri="{FF2B5EF4-FFF2-40B4-BE49-F238E27FC236}">
                <a16:creationId xmlns:a16="http://schemas.microsoft.com/office/drawing/2014/main" id="{A7D1EC7D-FCC0-40E0-8268-8B3A08209C36}"/>
              </a:ext>
            </a:extLst>
          </p:cNvPr>
          <p:cNvSpPr>
            <a:spLocks xmlns:a="http://schemas.openxmlformats.org/drawingml/2006/main" noGrp="1"/>
          </p:cNvSpPr>
          <p:nvPr/>
        </p:nvSpPr>
        <p:spPr>
          <a:xfrm xmlns:a="http://schemas.openxmlformats.org/drawingml/2006/main">
            <a:off x="1352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E76F51"/>
            </a:solidFill>
            <a:prstDash val="solid"/>
          </a:ln>
        </p:spPr>
      </p:sp>
      <p:sp>
        <p:nvSpPr>
          <p:cNvPr id="15" name="">
            <a:extLst xmlns:a="http://schemas.openxmlformats.org/drawingml/2006/main">
              <a:ext uri="{FF2B5EF4-FFF2-40B4-BE49-F238E27FC236}">
                <a16:creationId xmlns:a16="http://schemas.microsoft.com/office/drawing/2014/main" id="{F94F0154-C1F7-4862-9F3C-0D3F1823C3FA}"/>
              </a:ext>
            </a:extLst>
          </p:cNvPr>
          <p:cNvSpPr>
            <a:spLocks xmlns:a="http://schemas.openxmlformats.org/drawingml/2006/main" noGrp="1"/>
          </p:cNvSpPr>
          <p:nvPr/>
        </p:nvSpPr>
        <p:spPr>
          <a:xfrm xmlns:a="http://schemas.openxmlformats.org/drawingml/2006/main">
            <a:off x="1485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E76F51"/>
                </a:solidFill>
              </a:defRPr>
            </a:pPr>
            <a:r>
              <a:rPr sz="1275" b="1" i="0">
                <a:solidFill>
                  <a:srgbClr val="E76F51"/>
                </a:solidFill>
              </a:rPr>
              <a:t>oracle result, including sorted output</a:t>
            </a:r>
          </a:p>
        </p:txBody>
      </p:sp>
      <p:sp>
        <p:nvSpPr>
          <p:cNvPr id="16" name="">
            <a:extLst xmlns:a="http://schemas.openxmlformats.org/drawingml/2006/main">
              <a:ext uri="{FF2B5EF4-FFF2-40B4-BE49-F238E27FC236}">
                <a16:creationId xmlns:a16="http://schemas.microsoft.com/office/drawing/2014/main" id="{E7D30B6C-14DE-4F11-A8E9-E4F7AF5B6DCE}"/>
              </a:ext>
            </a:extLst>
          </p:cNvPr>
          <p:cNvSpPr>
            <a:spLocks xmlns:a="http://schemas.openxmlformats.org/drawingml/2006/main" noGrp="1"/>
          </p:cNvSpPr>
          <p:nvPr/>
        </p:nvSpPr>
        <p:spPr>
          <a:xfrm xmlns:a="http://schemas.openxmlformats.org/drawingml/2006/main">
            <a:off x="7448550" y="2419350"/>
            <a:ext cx="33909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2A9D8F"/>
            </a:solidFill>
            <a:prstDash val="solid"/>
          </a:ln>
        </p:spPr>
      </p:sp>
      <p:sp>
        <p:nvSpPr>
          <p:cNvPr id="17" name="">
            <a:extLst xmlns:a="http://schemas.openxmlformats.org/drawingml/2006/main">
              <a:ext uri="{FF2B5EF4-FFF2-40B4-BE49-F238E27FC236}">
                <a16:creationId xmlns:a16="http://schemas.microsoft.com/office/drawing/2014/main" id="{7C6F4F46-C3B1-4DB6-B13C-93D2DB0A8CF5}"/>
              </a:ext>
            </a:extLst>
          </p:cNvPr>
          <p:cNvSpPr>
            <a:spLocks xmlns:a="http://schemas.openxmlformats.org/drawingml/2006/main" noGrp="1"/>
          </p:cNvSpPr>
          <p:nvPr/>
        </p:nvSpPr>
        <p:spPr>
          <a:xfrm xmlns:a="http://schemas.openxmlformats.org/drawingml/2006/main">
            <a:off x="7581900" y="2476500"/>
            <a:ext cx="3124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A9D8F"/>
                </a:solidFill>
              </a:defRPr>
            </a:pPr>
            <a:r>
              <a:rPr sz="1275" b="1" i="0">
                <a:solidFill>
                  <a:srgbClr val="2A9D8F"/>
                </a:solidFill>
              </a:rPr>
              <a:t>valid-input certification only</a:t>
            </a:r>
          </a:p>
        </p:txBody>
      </p:sp>
      <p:sp>
        <p:nvSpPr>
          <p:cNvPr id="18" name="">
            <a:extLst xmlns:a="http://schemas.openxmlformats.org/drawingml/2006/main">
              <a:ext uri="{FF2B5EF4-FFF2-40B4-BE49-F238E27FC236}">
                <a16:creationId xmlns:a16="http://schemas.microsoft.com/office/drawing/2014/main" id="{DA62581A-ACA7-4883-B773-3C889A4C366C}"/>
              </a:ext>
            </a:extLst>
          </p:cNvPr>
          <p:cNvSpPr>
            <a:spLocks xmlns:a="http://schemas.openxmlformats.org/drawingml/2006/main" noGrp="1"/>
          </p:cNvSpPr>
          <p:nvPr/>
        </p:nvSpPr>
        <p:spPr>
          <a:xfrm xmlns:a="http://schemas.openxmlformats.org/drawingml/2006/main">
            <a:off x="1104900"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746"/>
          </a:bodyPr>
          <a:lstStyle xmlns:a="http://schemas.openxmlformats.org/drawingml/2006/main"/>
          <a:p xmlns:a="http://schemas.openxmlformats.org/drawingml/2006/main">
            <a:pPr algn="ctr">
              <a:lnSpc>
                <a:spcPct val="105000"/>
              </a:lnSpc>
              <a:buNone/>
              <a:defRPr sz="1875" b="1" i="0">
                <a:solidFill>
                  <a:srgbClr val="E76F51"/>
                </a:solidFill>
              </a:defRPr>
            </a:pPr>
            <a:r>
              <a:rPr sz="1875" b="1" i="0">
                <a:solidFill>
                  <a:srgbClr val="E76F51"/>
                </a:solidFill>
              </a:rPr>
              <a:t>Oracle-backed reference pipeline</a:t>
            </a:r>
          </a:p>
        </p:txBody>
      </p:sp>
      <p:sp>
        <p:nvSpPr>
          <p:cNvPr id="19" name="">
            <a:extLst xmlns:a="http://schemas.openxmlformats.org/drawingml/2006/main">
              <a:ext uri="{FF2B5EF4-FFF2-40B4-BE49-F238E27FC236}">
                <a16:creationId xmlns:a16="http://schemas.microsoft.com/office/drawing/2014/main" id="{B6CDC7A0-8A6D-4DDB-BE10-3C1388273DE5}"/>
              </a:ext>
            </a:extLst>
          </p:cNvPr>
          <p:cNvSpPr>
            <a:spLocks xmlns:a="http://schemas.openxmlformats.org/drawingml/2006/main" noGrp="1"/>
          </p:cNvSpPr>
          <p:nvPr/>
        </p:nvSpPr>
        <p:spPr>
          <a:xfrm xmlns:a="http://schemas.openxmlformats.org/drawingml/2006/main">
            <a:off x="1200150" y="3848100"/>
            <a:ext cx="366712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family trees</a:t>
            </a:r>
          </a:p>
          <a:p xmlns:a="http://schemas.openxmlformats.org/drawingml/2006/main">
            <a:pPr algn="ctr">
              <a:lnSpc>
                <a:spcPct val="105000"/>
              </a:lnSpc>
              <a:buNone/>
              <a:defRPr sz="1500" b="0" i="0">
                <a:solidFill>
                  <a:srgbClr val="243B53"/>
                </a:solidFill>
              </a:defRPr>
            </a:pPr>
            <a:r>
              <a:rPr sz="1500" b="0" i="0">
                <a:solidFill>
                  <a:srgbClr val="243B53"/>
                </a:solidFill>
              </a:rPr>
              <a:t>structural information</a:t>
            </a:r>
          </a:p>
          <a:p xmlns:a="http://schemas.openxmlformats.org/drawingml/2006/main">
            <a:pPr algn="ctr">
              <a:lnSpc>
                <a:spcPct val="105000"/>
              </a:lnSpc>
              <a:buNone/>
              <a:defRPr sz="1500" b="0" i="0">
                <a:solidFill>
                  <a:srgbClr val="243B53"/>
                </a:solidFill>
              </a:defRPr>
            </a:pPr>
            <a:r>
              <a:rPr sz="1500" b="0" i="0">
                <a:solidFill>
                  <a:srgbClr val="243B53"/>
                </a:solidFill>
              </a:rPr>
              <a:t>oracle-derived output</a:t>
            </a:r>
          </a:p>
        </p:txBody>
      </p:sp>
      <p:sp>
        <p:nvSpPr>
          <p:cNvPr id="20" name="">
            <a:extLst xmlns:a="http://schemas.openxmlformats.org/drawingml/2006/main">
              <a:ext uri="{FF2B5EF4-FFF2-40B4-BE49-F238E27FC236}">
                <a16:creationId xmlns:a16="http://schemas.microsoft.com/office/drawing/2014/main" id="{ADD2DA64-3722-42B4-B8A7-9CA073E871E9}"/>
              </a:ext>
            </a:extLst>
          </p:cNvPr>
          <p:cNvSpPr>
            <a:spLocks xmlns:a="http://schemas.openxmlformats.org/drawingml/2006/main" noGrp="1"/>
          </p:cNvSpPr>
          <p:nvPr/>
        </p:nvSpPr>
        <p:spPr>
          <a:xfrm xmlns:a="http://schemas.openxmlformats.org/drawingml/2006/main">
            <a:off x="7210425" y="3276600"/>
            <a:ext cx="38576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Paper ordinary-list core</a:t>
            </a:r>
          </a:p>
        </p:txBody>
      </p:sp>
      <p:sp>
        <p:nvSpPr>
          <p:cNvPr id="21" name="">
            <a:extLst xmlns:a="http://schemas.openxmlformats.org/drawingml/2006/main">
              <a:ext uri="{FF2B5EF4-FFF2-40B4-BE49-F238E27FC236}">
                <a16:creationId xmlns:a16="http://schemas.microsoft.com/office/drawing/2014/main" id="{CEEDDA1C-CC25-44F1-A9A5-3099D29EA72E}"/>
              </a:ext>
            </a:extLst>
          </p:cNvPr>
          <p:cNvSpPr>
            <a:spLocks xmlns:a="http://schemas.openxmlformats.org/drawingml/2006/main" noGrp="1"/>
          </p:cNvSpPr>
          <p:nvPr/>
        </p:nvSpPr>
        <p:spPr>
          <a:xfrm xmlns:a="http://schemas.openxmlformats.org/drawingml/2006/main">
            <a:off x="7334250" y="3810000"/>
            <a:ext cx="361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243B53"/>
                </a:solidFill>
              </a:defRPr>
            </a:pPr>
            <a:r>
              <a:rPr sz="1350" b="0" i="0">
                <a:solidFill>
                  <a:srgbClr val="243B53"/>
                </a:solidFill>
              </a:rPr>
              <a:t>input sequence + certified precondition</a:t>
            </a:r>
          </a:p>
          <a:p xmlns:a="http://schemas.openxmlformats.org/drawingml/2006/main">
            <a:pPr algn="ctr">
              <a:lnSpc>
                <a:spcPct val="105000"/>
              </a:lnSpc>
              <a:buNone/>
              <a:defRPr sz="1350" b="0" i="0">
                <a:solidFill>
                  <a:srgbClr val="243B53"/>
                </a:solidFill>
              </a:defRPr>
            </a:pPr>
            <a:r>
              <a:rPr sz="1350" b="0" i="0">
                <a:solidFill>
                  <a:srgbClr val="243B53"/>
                </a:solidFill>
              </a:rPr>
              <a:t>Step 1/2/3 and maintained state</a:t>
            </a:r>
          </a:p>
          <a:p xmlns:a="http://schemas.openxmlformats.org/drawingml/2006/main">
            <a:pPr algn="ctr">
              <a:lnSpc>
                <a:spcPct val="105000"/>
              </a:lnSpc>
              <a:buNone/>
              <a:defRPr sz="1350" b="0" i="0">
                <a:solidFill>
                  <a:srgbClr val="243B53"/>
                </a:solidFill>
              </a:defRPr>
            </a:pPr>
            <a:r>
              <a:rPr sz="1350" b="0" i="0">
                <a:solidFill>
                  <a:srgbClr val="243B53"/>
                </a:solidFill>
              </a:rPr>
              <a:t>output recovered from state</a:t>
            </a:r>
          </a:p>
        </p:txBody>
      </p:sp>
      <p:sp>
        <p:nvSpPr>
          <p:cNvPr id="22" name="">
            <a:extLst xmlns:a="http://schemas.openxmlformats.org/drawingml/2006/main">
              <a:ext uri="{FF2B5EF4-FFF2-40B4-BE49-F238E27FC236}">
                <a16:creationId xmlns:a16="http://schemas.microsoft.com/office/drawing/2014/main" id="{25E8E927-3872-40B3-9129-CE8DEC547C67}"/>
              </a:ext>
            </a:extLst>
          </p:cNvPr>
          <p:cNvSpPr>
            <a:spLocks xmlns:a="http://schemas.openxmlformats.org/drawingml/2006/main" noGrp="1"/>
          </p:cNvSpPr>
          <p:nvPr/>
        </p:nvSpPr>
        <p:spPr>
          <a:xfrm xmlns:a="http://schemas.openxmlformats.org/drawingml/2006/main">
            <a:off x="8172450" y="5010150"/>
            <a:ext cx="2724150" cy="342900"/>
          </a:xfrm>
          <a:prstGeom xmlns:a="http://schemas.openxmlformats.org/drawingml/2006/main" prst="roundRect">
            <a:avLst>
              <a:gd name="adj" fmla="val 13889"/>
            </a:avLst>
          </a:prstGeom>
          <a:solidFill xmlns:a="http://schemas.openxmlformats.org/drawingml/2006/main">
            <a:srgbClr val="FFFFFF"/>
          </a:solidFill>
          <a:ln xmlns:a="http://schemas.openxmlformats.org/drawingml/2006/main" w="11430">
            <a:solidFill>
              <a:srgbClr val="52606D"/>
            </a:solidFill>
            <a:prstDash val="dash"/>
          </a:ln>
        </p:spPr>
      </p:sp>
      <p:sp>
        <p:nvSpPr>
          <p:cNvPr id="23" name="">
            <a:extLst xmlns:a="http://schemas.openxmlformats.org/drawingml/2006/main">
              <a:ext uri="{FF2B5EF4-FFF2-40B4-BE49-F238E27FC236}">
                <a16:creationId xmlns:a16="http://schemas.microsoft.com/office/drawing/2014/main" id="{0601265E-1099-4F17-B68A-D8AD8A96EF90}"/>
              </a:ext>
            </a:extLst>
          </p:cNvPr>
          <p:cNvSpPr>
            <a:spLocks xmlns:a="http://schemas.openxmlformats.org/drawingml/2006/main" noGrp="1"/>
          </p:cNvSpPr>
          <p:nvPr/>
        </p:nvSpPr>
        <p:spPr>
          <a:xfrm xmlns:a="http://schemas.openxmlformats.org/drawingml/2006/main">
            <a:off x="8267700" y="5057775"/>
            <a:ext cx="2533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1" i="0">
                <a:solidFill>
                  <a:srgbClr val="52606D"/>
                </a:solidFill>
              </a:defRPr>
            </a:pPr>
            <a:r>
              <a:rPr sz="1200" b="1" i="0">
                <a:solidFill>
                  <a:srgbClr val="52606D"/>
                </a:solidFill>
              </a:rPr>
              <a:t>post-call output comparison</a:t>
            </a:r>
          </a:p>
        </p:txBody>
      </p:sp>
      <p:cxnSp>
        <p:nvCxnSpPr>
          <p:cNvPr id="50" name=""/>
          <p:cNvCxnSpPr>
            <a:stCxn xmlns:a="http://schemas.openxmlformats.org/drawingml/2006/main" id="11" idx="2"/>
            <a:endCxn xmlns:a="http://schemas.openxmlformats.org/drawingml/2006/main" id="22" idx="0"/>
          </p:cNvCxnSpPr>
          <p:nvPr/>
        </p:nvCxnSpPr>
        <p:spPr>
          <a:xfrm xmlns:a="http://schemas.openxmlformats.org/drawingml/2006/main">
            <a:off x="9148763" y="4914900"/>
            <a:ext cx="385763" cy="95250"/>
          </a:xfrm>
          <a:prstGeom xmlns:a="http://schemas.openxmlformats.org/drawingml/2006/main" prst="straightConnector1">
            <a:avLst/>
          </a:prstGeom>
          <a:ln xmlns:a="http://schemas.openxmlformats.org/drawingml/2006/main" w="14288">
            <a:solidFill>
              <a:srgbClr val="52606D"/>
            </a:solidFill>
            <a:prstDash val="dash"/>
            <a:tailEnd type="arrow" w="sm" len="sm"/>
          </a:ln>
        </p:spPr>
      </p:cxnSp>
      <p:sp>
        <p:nvSpPr>
          <p:cNvPr id="25" name="">
            <a:extLst xmlns:a="http://schemas.openxmlformats.org/drawingml/2006/main">
              <a:ext uri="{FF2B5EF4-FFF2-40B4-BE49-F238E27FC236}">
                <a16:creationId xmlns:a16="http://schemas.microsoft.com/office/drawing/2014/main" id="{E1295BD3-762F-461D-850E-EBBB827300B7}"/>
              </a:ext>
            </a:extLst>
          </p:cNvPr>
          <p:cNvSpPr>
            <a:spLocks xmlns:a="http://schemas.openxmlformats.org/drawingml/2006/main" noGrp="1"/>
          </p:cNvSpPr>
          <p:nvPr/>
        </p:nvSpPr>
        <p:spPr>
          <a:xfrm xmlns:a="http://schemas.openxmlformats.org/drawingml/2006/main">
            <a:off x="1257300" y="5543550"/>
            <a:ext cx="9677400" cy="514350"/>
          </a:xfrm>
          <a:prstGeom xmlns:a="http://schemas.openxmlformats.org/drawingml/2006/main" prst="roundRect">
            <a:avLst>
              <a:gd name="adj" fmla="val 11111"/>
            </a:avLst>
          </a:prstGeom>
          <a:solidFill xmlns:a="http://schemas.openxmlformats.org/drawingml/2006/main">
            <a:srgbClr val="102A43"/>
          </a:solidFill>
          <a:ln xmlns:a="http://schemas.openxmlformats.org/drawingml/2006/main" w="11430">
            <a:solidFill>
              <a:srgbClr val="102A43"/>
            </a:solidFill>
            <a:prstDash val="solid"/>
          </a:ln>
        </p:spPr>
      </p:sp>
      <p:sp>
        <p:nvSpPr>
          <p:cNvPr id="26" name="">
            <a:extLst xmlns:a="http://schemas.openxmlformats.org/drawingml/2006/main">
              <a:ext uri="{FF2B5EF4-FFF2-40B4-BE49-F238E27FC236}">
                <a16:creationId xmlns:a16="http://schemas.microsoft.com/office/drawing/2014/main" id="{2941A575-029F-44E6-BB0D-2E7EE95F6D98}"/>
              </a:ext>
            </a:extLst>
          </p:cNvPr>
          <p:cNvSpPr>
            <a:spLocks xmlns:a="http://schemas.openxmlformats.org/drawingml/2006/main" noGrp="1"/>
          </p:cNvSpPr>
          <p:nvPr/>
        </p:nvSpPr>
        <p:spPr>
          <a:xfrm xmlns:a="http://schemas.openxmlformats.org/drawingml/2006/main">
            <a:off x="1428750" y="5610225"/>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p>
        </p:txBody>
      </p:sp>
    </p:spTree>
    <p:extLst>
      <p:ext uri="{BB962C8B-B14F-4D97-AF65-F5344CB8AC3E}">
        <p14:creationId xmlns:p14="http://schemas.microsoft.com/office/powerpoint/2010/main" val="343137165"/>
      </p:ext>
    </p:extLst>
  </p:cSld>
</p:sld>
</file>

<file path=ppt/slides/slide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C2412C13-D138-4366-BCAE-28057FF26DB6}"/>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a:t>
            </a:r>
          </a:p>
        </p:txBody>
      </p:sp>
      <p:sp>
        <p:nvSpPr>
          <p:cNvPr id="2" name="">
            <a:extLst xmlns:a="http://schemas.openxmlformats.org/drawingml/2006/main">
              <a:ext uri="{FF2B5EF4-FFF2-40B4-BE49-F238E27FC236}">
                <a16:creationId xmlns:a16="http://schemas.microsoft.com/office/drawing/2014/main" id="{FE0A8256-2EFB-4E61-A531-F1A350E2549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1/2/3 control flow and reflected orientation</a:t>
            </a:r>
          </a:p>
        </p:txBody>
      </p:sp>
      <p:sp>
        <p:nvSpPr>
          <p:cNvPr id="3" name="">
            <a:extLst xmlns:a="http://schemas.openxmlformats.org/drawingml/2006/main">
              <a:ext uri="{FF2B5EF4-FFF2-40B4-BE49-F238E27FC236}">
                <a16:creationId xmlns:a16="http://schemas.microsoft.com/office/drawing/2014/main" id="{F61CD364-8AB0-4F7A-96B1-8FEBC2988710}"/>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F8BB2C5-D515-4323-A41C-C42862C25792}"/>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ADC07D3-183B-4F92-A022-C6537A78115A}"/>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0850466-EE69-44A8-AB36-6A6817440C3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7 / 16</a:t>
            </a:r>
          </a:p>
        </p:txBody>
      </p:sp>
      <p:sp>
        <p:nvSpPr>
          <p:cNvPr id="7" name="">
            <a:extLst xmlns:a="http://schemas.openxmlformats.org/drawingml/2006/main">
              <a:ext uri="{FF2B5EF4-FFF2-40B4-BE49-F238E27FC236}">
                <a16:creationId xmlns:a16="http://schemas.microsoft.com/office/drawing/2014/main" id="{17253AA9-5234-4198-A953-49F395F37998}"/>
              </a:ext>
            </a:extLst>
          </p:cNvPr>
          <p:cNvSpPr>
            <a:spLocks xmlns:a="http://schemas.openxmlformats.org/drawingml/2006/main" noGrp="1"/>
          </p:cNvSpPr>
          <p:nvPr/>
        </p:nvSpPr>
        <p:spPr>
          <a:xfrm xmlns:a="http://schemas.openxmlformats.org/drawingml/2006/main">
            <a:off x="8191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8" name="">
            <a:extLst xmlns:a="http://schemas.openxmlformats.org/drawingml/2006/main">
              <a:ext uri="{FF2B5EF4-FFF2-40B4-BE49-F238E27FC236}">
                <a16:creationId xmlns:a16="http://schemas.microsoft.com/office/drawing/2014/main" id="{D34DC77E-5B0E-481E-83FC-B975EC4F1156}"/>
              </a:ext>
            </a:extLst>
          </p:cNvPr>
          <p:cNvSpPr>
            <a:spLocks xmlns:a="http://schemas.openxmlformats.org/drawingml/2006/main" noGrp="1"/>
          </p:cNvSpPr>
          <p:nvPr/>
        </p:nvSpPr>
        <p:spPr>
          <a:xfrm xmlns:a="http://schemas.openxmlformats.org/drawingml/2006/main">
            <a:off x="8953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Initialize</a:t>
            </a:r>
          </a:p>
        </p:txBody>
      </p:sp>
      <p:sp>
        <p:nvSpPr>
          <p:cNvPr id="9" name="">
            <a:extLst xmlns:a="http://schemas.openxmlformats.org/drawingml/2006/main">
              <a:ext uri="{FF2B5EF4-FFF2-40B4-BE49-F238E27FC236}">
                <a16:creationId xmlns:a16="http://schemas.microsoft.com/office/drawing/2014/main" id="{20B6D780-5287-4A2A-9E4C-7EA477C0F82F}"/>
              </a:ext>
            </a:extLst>
          </p:cNvPr>
          <p:cNvSpPr>
            <a:spLocks xmlns:a="http://schemas.openxmlformats.org/drawingml/2006/main" noGrp="1"/>
          </p:cNvSpPr>
          <p:nvPr/>
        </p:nvSpPr>
        <p:spPr>
          <a:xfrm xmlns:a="http://schemas.openxmlformats.org/drawingml/2006/main">
            <a:off x="9144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order z₁, z₂, z₃</a:t>
            </a:r>
          </a:p>
        </p:txBody>
      </p:sp>
      <p:sp>
        <p:nvSpPr>
          <p:cNvPr id="10" name="">
            <a:extLst xmlns:a="http://schemas.openxmlformats.org/drawingml/2006/main">
              <a:ext uri="{FF2B5EF4-FFF2-40B4-BE49-F238E27FC236}">
                <a16:creationId xmlns:a16="http://schemas.microsoft.com/office/drawing/2014/main" id="{13BB1AD6-DCB8-4811-A92E-4AACF36F4087}"/>
              </a:ext>
            </a:extLst>
          </p:cNvPr>
          <p:cNvSpPr>
            <a:spLocks xmlns:a="http://schemas.openxmlformats.org/drawingml/2006/main" noGrp="1"/>
          </p:cNvSpPr>
          <p:nvPr/>
        </p:nvSpPr>
        <p:spPr>
          <a:xfrm xmlns:a="http://schemas.openxmlformats.org/drawingml/2006/main">
            <a:off x="29527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1" name="">
            <a:extLst xmlns:a="http://schemas.openxmlformats.org/drawingml/2006/main">
              <a:ext uri="{FF2B5EF4-FFF2-40B4-BE49-F238E27FC236}">
                <a16:creationId xmlns:a16="http://schemas.microsoft.com/office/drawing/2014/main" id="{8777D564-F3DD-4C00-8BAE-D19A9DAA205F}"/>
              </a:ext>
            </a:extLst>
          </p:cNvPr>
          <p:cNvSpPr>
            <a:spLocks xmlns:a="http://schemas.openxmlformats.org/drawingml/2006/main" noGrp="1"/>
          </p:cNvSpPr>
          <p:nvPr/>
        </p:nvSpPr>
        <p:spPr>
          <a:xfrm xmlns:a="http://schemas.openxmlformats.org/drawingml/2006/main">
            <a:off x="30289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1</a:t>
            </a:r>
          </a:p>
        </p:txBody>
      </p:sp>
      <p:sp>
        <p:nvSpPr>
          <p:cNvPr id="12" name="">
            <a:extLst xmlns:a="http://schemas.openxmlformats.org/drawingml/2006/main">
              <a:ext uri="{FF2B5EF4-FFF2-40B4-BE49-F238E27FC236}">
                <a16:creationId xmlns:a16="http://schemas.microsoft.com/office/drawing/2014/main" id="{55531557-4C14-4867-94EE-C990E69F5A11}"/>
              </a:ext>
            </a:extLst>
          </p:cNvPr>
          <p:cNvSpPr>
            <a:spLocks xmlns:a="http://schemas.openxmlformats.org/drawingml/2006/main" noGrp="1"/>
          </p:cNvSpPr>
          <p:nvPr/>
        </p:nvSpPr>
        <p:spPr>
          <a:xfrm xmlns:a="http://schemas.openxmlformats.org/drawingml/2006/main">
            <a:off x="30480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79722"/>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predecessor-side boundary</a:t>
            </a:r>
          </a:p>
        </p:txBody>
      </p:sp>
      <p:sp>
        <p:nvSpPr>
          <p:cNvPr id="13" name="">
            <a:extLst xmlns:a="http://schemas.openxmlformats.org/drawingml/2006/main">
              <a:ext uri="{FF2B5EF4-FFF2-40B4-BE49-F238E27FC236}">
                <a16:creationId xmlns:a16="http://schemas.microsoft.com/office/drawing/2014/main" id="{687ADF1A-427B-42C1-BCB3-FFA52D0A7FD1}"/>
              </a:ext>
            </a:extLst>
          </p:cNvPr>
          <p:cNvSpPr>
            <a:spLocks xmlns:a="http://schemas.openxmlformats.org/drawingml/2006/main" noGrp="1"/>
          </p:cNvSpPr>
          <p:nvPr/>
        </p:nvSpPr>
        <p:spPr>
          <a:xfrm xmlns:a="http://schemas.openxmlformats.org/drawingml/2006/main">
            <a:off x="50863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4" name="">
            <a:extLst xmlns:a="http://schemas.openxmlformats.org/drawingml/2006/main">
              <a:ext uri="{FF2B5EF4-FFF2-40B4-BE49-F238E27FC236}">
                <a16:creationId xmlns:a16="http://schemas.microsoft.com/office/drawing/2014/main" id="{D6740C00-CF00-40C0-A707-6EEF698BA207}"/>
              </a:ext>
            </a:extLst>
          </p:cNvPr>
          <p:cNvSpPr>
            <a:spLocks xmlns:a="http://schemas.openxmlformats.org/drawingml/2006/main" noGrp="1"/>
          </p:cNvSpPr>
          <p:nvPr/>
        </p:nvSpPr>
        <p:spPr>
          <a:xfrm xmlns:a="http://schemas.openxmlformats.org/drawingml/2006/main">
            <a:off x="51625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2</a:t>
            </a:r>
          </a:p>
        </p:txBody>
      </p:sp>
      <p:sp>
        <p:nvSpPr>
          <p:cNvPr id="15" name="">
            <a:extLst xmlns:a="http://schemas.openxmlformats.org/drawingml/2006/main">
              <a:ext uri="{FF2B5EF4-FFF2-40B4-BE49-F238E27FC236}">
                <a16:creationId xmlns:a16="http://schemas.microsoft.com/office/drawing/2014/main" id="{4A5F5B7D-DED1-4507-854B-7270204B7FBF}"/>
              </a:ext>
            </a:extLst>
          </p:cNvPr>
          <p:cNvSpPr>
            <a:spLocks xmlns:a="http://schemas.openxmlformats.org/drawingml/2006/main" noGrp="1"/>
          </p:cNvSpPr>
          <p:nvPr/>
        </p:nvSpPr>
        <p:spPr>
          <a:xfrm xmlns:a="http://schemas.openxmlformats.org/drawingml/2006/main">
            <a:off x="51816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6391"/>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successor-side boundary</a:t>
            </a:r>
          </a:p>
        </p:txBody>
      </p:sp>
      <p:sp>
        <p:nvSpPr>
          <p:cNvPr id="16" name="">
            <a:extLst xmlns:a="http://schemas.openxmlformats.org/drawingml/2006/main">
              <a:ext uri="{FF2B5EF4-FFF2-40B4-BE49-F238E27FC236}">
                <a16:creationId xmlns:a16="http://schemas.microsoft.com/office/drawing/2014/main" id="{63236A10-1D0D-4A0E-A3AF-7C4F29802BD6}"/>
              </a:ext>
            </a:extLst>
          </p:cNvPr>
          <p:cNvSpPr>
            <a:spLocks xmlns:a="http://schemas.openxmlformats.org/drawingml/2006/main" noGrp="1"/>
          </p:cNvSpPr>
          <p:nvPr/>
        </p:nvSpPr>
        <p:spPr>
          <a:xfrm xmlns:a="http://schemas.openxmlformats.org/drawingml/2006/main">
            <a:off x="72199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17" name="">
            <a:extLst xmlns:a="http://schemas.openxmlformats.org/drawingml/2006/main">
              <a:ext uri="{FF2B5EF4-FFF2-40B4-BE49-F238E27FC236}">
                <a16:creationId xmlns:a16="http://schemas.microsoft.com/office/drawing/2014/main" id="{B39A619C-3FFB-4372-AC16-7B542A6F470D}"/>
              </a:ext>
            </a:extLst>
          </p:cNvPr>
          <p:cNvSpPr>
            <a:spLocks xmlns:a="http://schemas.openxmlformats.org/drawingml/2006/main" noGrp="1"/>
          </p:cNvSpPr>
          <p:nvPr/>
        </p:nvSpPr>
        <p:spPr>
          <a:xfrm xmlns:a="http://schemas.openxmlformats.org/drawingml/2006/main">
            <a:off x="72961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3(a)</a:t>
            </a:r>
          </a:p>
        </p:txBody>
      </p:sp>
      <p:sp>
        <p:nvSpPr>
          <p:cNvPr id="18" name="">
            <a:extLst xmlns:a="http://schemas.openxmlformats.org/drawingml/2006/main">
              <a:ext uri="{FF2B5EF4-FFF2-40B4-BE49-F238E27FC236}">
                <a16:creationId xmlns:a16="http://schemas.microsoft.com/office/drawing/2014/main" id="{159E49E5-E206-476E-9FE6-C0D0E9D3C888}"/>
              </a:ext>
            </a:extLst>
          </p:cNvPr>
          <p:cNvSpPr>
            <a:spLocks xmlns:a="http://schemas.openxmlformats.org/drawingml/2006/main" noGrp="1"/>
          </p:cNvSpPr>
          <p:nvPr/>
        </p:nvSpPr>
        <p:spPr>
          <a:xfrm xmlns:a="http://schemas.openxmlformats.org/drawingml/2006/main">
            <a:off x="73152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insert new pair</a:t>
            </a:r>
          </a:p>
        </p:txBody>
      </p:sp>
      <p:sp>
        <p:nvSpPr>
          <p:cNvPr id="19" name="">
            <a:extLst xmlns:a="http://schemas.openxmlformats.org/drawingml/2006/main">
              <a:ext uri="{FF2B5EF4-FFF2-40B4-BE49-F238E27FC236}">
                <a16:creationId xmlns:a16="http://schemas.microsoft.com/office/drawing/2014/main" id="{DD3ED06B-F3E8-4578-9B66-EF53B8E7C6CC}"/>
              </a:ext>
            </a:extLst>
          </p:cNvPr>
          <p:cNvSpPr>
            <a:spLocks xmlns:a="http://schemas.openxmlformats.org/drawingml/2006/main" noGrp="1"/>
          </p:cNvSpPr>
          <p:nvPr/>
        </p:nvSpPr>
        <p:spPr>
          <a:xfrm xmlns:a="http://schemas.openxmlformats.org/drawingml/2006/main">
            <a:off x="9353550" y="1619250"/>
            <a:ext cx="1752600" cy="800100"/>
          </a:xfrm>
          <a:prstGeom xmlns:a="http://schemas.openxmlformats.org/drawingml/2006/main" prst="roundRect">
            <a:avLst>
              <a:gd name="adj" fmla="val 9524"/>
            </a:avLst>
          </a:prstGeom>
          <a:solidFill xmlns:a="http://schemas.openxmlformats.org/drawingml/2006/main">
            <a:srgbClr val="EAF1F8"/>
          </a:solidFill>
          <a:ln xmlns:a="http://schemas.openxmlformats.org/drawingml/2006/main" w="19050">
            <a:solidFill>
              <a:srgbClr val="52606D"/>
            </a:solidFill>
            <a:prstDash val="solid"/>
          </a:ln>
        </p:spPr>
      </p:sp>
      <p:sp>
        <p:nvSpPr>
          <p:cNvPr id="20" name="">
            <a:extLst xmlns:a="http://schemas.openxmlformats.org/drawingml/2006/main">
              <a:ext uri="{FF2B5EF4-FFF2-40B4-BE49-F238E27FC236}">
                <a16:creationId xmlns:a16="http://schemas.microsoft.com/office/drawing/2014/main" id="{3C88C250-3D14-4DC3-98CF-36DC983A24A7}"/>
              </a:ext>
            </a:extLst>
          </p:cNvPr>
          <p:cNvSpPr>
            <a:spLocks xmlns:a="http://schemas.openxmlformats.org/drawingml/2006/main" noGrp="1"/>
          </p:cNvSpPr>
          <p:nvPr/>
        </p:nvSpPr>
        <p:spPr>
          <a:xfrm xmlns:a="http://schemas.openxmlformats.org/drawingml/2006/main">
            <a:off x="9429750" y="1714500"/>
            <a:ext cx="1600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3(b)</a:t>
            </a:r>
          </a:p>
        </p:txBody>
      </p:sp>
      <p:sp>
        <p:nvSpPr>
          <p:cNvPr id="21" name="">
            <a:extLst xmlns:a="http://schemas.openxmlformats.org/drawingml/2006/main">
              <a:ext uri="{FF2B5EF4-FFF2-40B4-BE49-F238E27FC236}">
                <a16:creationId xmlns:a16="http://schemas.microsoft.com/office/drawing/2014/main" id="{DF5A1BD5-3BD5-454C-9977-7F39F1EA0647}"/>
              </a:ext>
            </a:extLst>
          </p:cNvPr>
          <p:cNvSpPr>
            <a:spLocks xmlns:a="http://schemas.openxmlformats.org/drawingml/2006/main" noGrp="1"/>
          </p:cNvSpPr>
          <p:nvPr/>
        </p:nvSpPr>
        <p:spPr>
          <a:xfrm xmlns:a="http://schemas.openxmlformats.org/drawingml/2006/main">
            <a:off x="9448800" y="2019300"/>
            <a:ext cx="1562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split + transfer</a:t>
            </a:r>
          </a:p>
        </p:txBody>
      </p:sp>
      <p:sp>
        <p:nvSpPr>
          <p:cNvPr id="22" name="">
            <a:extLst xmlns:a="http://schemas.openxmlformats.org/drawingml/2006/main">
              <a:ext uri="{FF2B5EF4-FFF2-40B4-BE49-F238E27FC236}">
                <a16:creationId xmlns:a16="http://schemas.microsoft.com/office/drawing/2014/main" id="{69ABFCC9-FD52-4A94-A5D6-D74AA43A56C6}"/>
              </a:ext>
            </a:extLst>
          </p:cNvPr>
          <p:cNvSpPr>
            <a:spLocks xmlns:a="http://schemas.openxmlformats.org/drawingml/2006/main" noGrp="1"/>
          </p:cNvSpPr>
          <p:nvPr/>
        </p:nvSpPr>
        <p:spPr>
          <a:xfrm xmlns:a="http://schemas.openxmlformats.org/drawingml/2006/main">
            <a:off x="4762500" y="3009900"/>
            <a:ext cx="2667000" cy="838200"/>
          </a:xfrm>
          <a:prstGeom xmlns:a="http://schemas.openxmlformats.org/drawingml/2006/main" prst="roundRect">
            <a:avLst>
              <a:gd name="adj" fmla="val 9091"/>
            </a:avLst>
          </a:prstGeom>
          <a:solidFill xmlns:a="http://schemas.openxmlformats.org/drawingml/2006/main">
            <a:srgbClr val="EAF1F8"/>
          </a:solidFill>
          <a:ln xmlns:a="http://schemas.openxmlformats.org/drawingml/2006/main" w="19050">
            <a:solidFill>
              <a:srgbClr val="52606D"/>
            </a:solidFill>
            <a:prstDash val="solid"/>
          </a:ln>
        </p:spPr>
      </p:sp>
      <p:sp>
        <p:nvSpPr>
          <p:cNvPr id="23" name="">
            <a:extLst xmlns:a="http://schemas.openxmlformats.org/drawingml/2006/main">
              <a:ext uri="{FF2B5EF4-FFF2-40B4-BE49-F238E27FC236}">
                <a16:creationId xmlns:a16="http://schemas.microsoft.com/office/drawing/2014/main" id="{F27DD430-E767-42A4-9BE4-2B9302F97304}"/>
              </a:ext>
            </a:extLst>
          </p:cNvPr>
          <p:cNvSpPr>
            <a:spLocks xmlns:a="http://schemas.openxmlformats.org/drawingml/2006/main" noGrp="1"/>
          </p:cNvSpPr>
          <p:nvPr/>
        </p:nvSpPr>
        <p:spPr>
          <a:xfrm xmlns:a="http://schemas.openxmlformats.org/drawingml/2006/main">
            <a:off x="4838700" y="3105150"/>
            <a:ext cx="2514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3(c)</a:t>
            </a:r>
          </a:p>
        </p:txBody>
      </p:sp>
      <p:sp>
        <p:nvSpPr>
          <p:cNvPr id="24" name="">
            <a:extLst xmlns:a="http://schemas.openxmlformats.org/drawingml/2006/main">
              <a:ext uri="{FF2B5EF4-FFF2-40B4-BE49-F238E27FC236}">
                <a16:creationId xmlns:a16="http://schemas.microsoft.com/office/drawing/2014/main" id="{4786817E-2D08-4C5C-ABD4-87BDA8CDA85C}"/>
              </a:ext>
            </a:extLst>
          </p:cNvPr>
          <p:cNvSpPr>
            <a:spLocks xmlns:a="http://schemas.openxmlformats.org/drawingml/2006/main" noGrp="1"/>
          </p:cNvSpPr>
          <p:nvPr/>
        </p:nvSpPr>
        <p:spPr>
          <a:xfrm xmlns:a="http://schemas.openxmlformats.org/drawingml/2006/main">
            <a:off x="4857750" y="3409950"/>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722"/>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insert new point into maintained order</a:t>
            </a:r>
          </a:p>
        </p:txBody>
      </p:sp>
      <p:cxnSp>
        <p:nvCxnSpPr>
          <p:cNvPr id="63" name=""/>
          <p:cNvCxnSpPr>
            <a:stCxn xmlns:a="http://schemas.openxmlformats.org/drawingml/2006/main" id="7" idx="3"/>
            <a:endCxn xmlns:a="http://schemas.openxmlformats.org/drawingml/2006/main" id="10" idx="1"/>
          </p:cNvCxnSpPr>
          <p:nvPr/>
        </p:nvCxnSpPr>
        <p:spPr>
          <a:xfrm xmlns:a="http://schemas.openxmlformats.org/drawingml/2006/main">
            <a:off x="25717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4" name=""/>
          <p:cNvCxnSpPr>
            <a:stCxn xmlns:a="http://schemas.openxmlformats.org/drawingml/2006/main" id="10" idx="3"/>
            <a:endCxn xmlns:a="http://schemas.openxmlformats.org/drawingml/2006/main" id="13" idx="1"/>
          </p:cNvCxnSpPr>
          <p:nvPr/>
        </p:nvCxnSpPr>
        <p:spPr>
          <a:xfrm xmlns:a="http://schemas.openxmlformats.org/drawingml/2006/main">
            <a:off x="47053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5" name=""/>
          <p:cNvCxnSpPr>
            <a:stCxn xmlns:a="http://schemas.openxmlformats.org/drawingml/2006/main" id="13" idx="3"/>
            <a:endCxn xmlns:a="http://schemas.openxmlformats.org/drawingml/2006/main" id="16" idx="1"/>
          </p:cNvCxnSpPr>
          <p:nvPr/>
        </p:nvCxnSpPr>
        <p:spPr>
          <a:xfrm xmlns:a="http://schemas.openxmlformats.org/drawingml/2006/main">
            <a:off x="68389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6" name=""/>
          <p:cNvCxnSpPr>
            <a:stCxn xmlns:a="http://schemas.openxmlformats.org/drawingml/2006/main" id="16" idx="3"/>
            <a:endCxn xmlns:a="http://schemas.openxmlformats.org/drawingml/2006/main" id="19" idx="1"/>
          </p:cNvCxnSpPr>
          <p:nvPr/>
        </p:nvCxnSpPr>
        <p:spPr>
          <a:xfrm xmlns:a="http://schemas.openxmlformats.org/drawingml/2006/main">
            <a:off x="8972550" y="2019300"/>
            <a:ext cx="381000" cy="0"/>
          </a:xfrm>
          <a:prstGeom xmlns:a="http://schemas.openxmlformats.org/drawingml/2006/main" prst="straightConnector1">
            <a:avLst/>
          </a:prstGeom>
          <a:ln xmlns:a="http://schemas.openxmlformats.org/drawingml/2006/main" w="19050">
            <a:solidFill>
              <a:srgbClr val="52606D"/>
            </a:solidFill>
            <a:prstDash val="solid"/>
            <a:tailEnd type="arrow" w="med" len="med"/>
          </a:ln>
        </p:spPr>
      </p:cxnSp>
      <p:cxnSp>
        <p:nvCxnSpPr>
          <p:cNvPr id="67" name=""/>
          <p:cNvCxnSpPr>
            <a:stCxn xmlns:a="http://schemas.openxmlformats.org/drawingml/2006/main" id="19" idx="2"/>
            <a:endCxn xmlns:a="http://schemas.openxmlformats.org/drawingml/2006/main" id="22" idx="0"/>
          </p:cNvCxnSpPr>
          <p:nvPr/>
        </p:nvCxnSpPr>
        <p:spPr>
          <a:xfrm xmlns:a="http://schemas.openxmlformats.org/drawingml/2006/main" flipH="1">
            <a:off x="6096000" y="2419350"/>
            <a:ext cx="4133850" cy="590550"/>
          </a:xfrm>
          <a:prstGeom xmlns:a="http://schemas.openxmlformats.org/drawingml/2006/main" prst="bentConnector4">
            <a:avLst>
              <a:gd name="adj1" fmla="val 0"/>
              <a:gd name="adj2" fmla="val 50000"/>
            </a:avLst>
          </a:prstGeom>
          <a:ln xmlns:a="http://schemas.openxmlformats.org/drawingml/2006/main" w="19050">
            <a:solidFill>
              <a:srgbClr val="52606D"/>
            </a:solidFill>
            <a:prstDash val="solid"/>
            <a:tailEnd type="arrow" w="med" len="med"/>
          </a:ln>
        </p:spPr>
      </p:cxnSp>
      <p:sp>
        <p:nvSpPr>
          <p:cNvPr id="30" name="">
            <a:extLst xmlns:a="http://schemas.openxmlformats.org/drawingml/2006/main">
              <a:ext uri="{FF2B5EF4-FFF2-40B4-BE49-F238E27FC236}">
                <a16:creationId xmlns:a16="http://schemas.microsoft.com/office/drawing/2014/main" id="{F06BA3CF-F607-4A0B-B6DA-CB027852A35E}"/>
              </a:ext>
            </a:extLst>
          </p:cNvPr>
          <p:cNvSpPr>
            <a:spLocks xmlns:a="http://schemas.openxmlformats.org/drawingml/2006/main" noGrp="1"/>
          </p:cNvSpPr>
          <p:nvPr/>
        </p:nvSpPr>
        <p:spPr>
          <a:xfrm xmlns:a="http://schemas.openxmlformats.org/drawingml/2006/main">
            <a:off x="781050" y="4476750"/>
            <a:ext cx="3105150" cy="1066800"/>
          </a:xfrm>
          <a:prstGeom xmlns:a="http://schemas.openxmlformats.org/drawingml/2006/main" prst="roundRect">
            <a:avLst>
              <a:gd name="adj" fmla="val 7143"/>
            </a:avLst>
          </a:prstGeom>
          <a:solidFill xmlns:a="http://schemas.openxmlformats.org/drawingml/2006/main">
            <a:srgbClr val="EAF1F8"/>
          </a:solidFill>
          <a:ln xmlns:a="http://schemas.openxmlformats.org/drawingml/2006/main" w="14288">
            <a:solidFill>
              <a:srgbClr val="102A43"/>
            </a:solidFill>
            <a:prstDash val="solid"/>
          </a:ln>
        </p:spPr>
      </p:sp>
      <p:sp>
        <p:nvSpPr>
          <p:cNvPr id="31" name="">
            <a:extLst xmlns:a="http://schemas.openxmlformats.org/drawingml/2006/main">
              <a:ext uri="{FF2B5EF4-FFF2-40B4-BE49-F238E27FC236}">
                <a16:creationId xmlns:a16="http://schemas.microsoft.com/office/drawing/2014/main" id="{FA24A531-E165-4A5E-ACC2-FF1070A8DC3A}"/>
              </a:ext>
            </a:extLst>
          </p:cNvPr>
          <p:cNvSpPr>
            <a:spLocks xmlns:a="http://schemas.openxmlformats.org/drawingml/2006/main" noGrp="1"/>
          </p:cNvSpPr>
          <p:nvPr/>
        </p:nvSpPr>
        <p:spPr>
          <a:xfrm xmlns:a="http://schemas.openxmlformats.org/drawingml/2006/main">
            <a:off x="91440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Explicit source rule</a:t>
            </a:r>
          </a:p>
        </p:txBody>
      </p:sp>
      <p:sp>
        <p:nvSpPr>
          <p:cNvPr id="32" name="">
            <a:extLst xmlns:a="http://schemas.openxmlformats.org/drawingml/2006/main">
              <a:ext uri="{FF2B5EF4-FFF2-40B4-BE49-F238E27FC236}">
                <a16:creationId xmlns:a16="http://schemas.microsoft.com/office/drawing/2014/main" id="{B170ED51-4B21-4D0E-9690-4E05435FA1B8}"/>
              </a:ext>
            </a:extLst>
          </p:cNvPr>
          <p:cNvSpPr>
            <a:spLocks xmlns:a="http://schemas.openxmlformats.org/drawingml/2006/main" noGrp="1"/>
          </p:cNvSpPr>
          <p:nvPr/>
        </p:nvSpPr>
        <p:spPr>
          <a:xfrm xmlns:a="http://schemas.openxmlformats.org/drawingml/2006/main">
            <a:off x="95250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Increasing Step 1/2/3 structure</a:t>
            </a:r>
          </a:p>
        </p:txBody>
      </p:sp>
      <p:sp>
        <p:nvSpPr>
          <p:cNvPr id="33" name="">
            <a:extLst xmlns:a="http://schemas.openxmlformats.org/drawingml/2006/main">
              <a:ext uri="{FF2B5EF4-FFF2-40B4-BE49-F238E27FC236}">
                <a16:creationId xmlns:a16="http://schemas.microsoft.com/office/drawing/2014/main" id="{4CCD361C-C50F-4D6C-AC74-F194F01ED0BD}"/>
              </a:ext>
            </a:extLst>
          </p:cNvPr>
          <p:cNvSpPr>
            <a:spLocks xmlns:a="http://schemas.openxmlformats.org/drawingml/2006/main" noGrp="1"/>
          </p:cNvSpPr>
          <p:nvPr/>
        </p:nvSpPr>
        <p:spPr>
          <a:xfrm xmlns:a="http://schemas.openxmlformats.org/drawingml/2006/main">
            <a:off x="4257675" y="4476750"/>
            <a:ext cx="3105150" cy="1066800"/>
          </a:xfrm>
          <a:prstGeom xmlns:a="http://schemas.openxmlformats.org/drawingml/2006/main" prst="roundRect">
            <a:avLst>
              <a:gd name="adj" fmla="val 7143"/>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77B9DF26-4948-4CDC-A892-9333C07DE774}"/>
              </a:ext>
            </a:extLst>
          </p:cNvPr>
          <p:cNvSpPr>
            <a:spLocks xmlns:a="http://schemas.openxmlformats.org/drawingml/2006/main" noGrp="1"/>
          </p:cNvSpPr>
          <p:nvPr/>
        </p:nvSpPr>
        <p:spPr>
          <a:xfrm xmlns:a="http://schemas.openxmlformats.org/drawingml/2006/main">
            <a:off x="4391025"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Symmetric reconstruction</a:t>
            </a:r>
          </a:p>
        </p:txBody>
      </p:sp>
      <p:sp>
        <p:nvSpPr>
          <p:cNvPr id="35" name="">
            <a:extLst xmlns:a="http://schemas.openxmlformats.org/drawingml/2006/main">
              <a:ext uri="{FF2B5EF4-FFF2-40B4-BE49-F238E27FC236}">
                <a16:creationId xmlns:a16="http://schemas.microsoft.com/office/drawing/2014/main" id="{EB71DF38-3734-483B-A0BE-D7897D1CEFEF}"/>
              </a:ext>
            </a:extLst>
          </p:cNvPr>
          <p:cNvSpPr>
            <a:spLocks xmlns:a="http://schemas.openxmlformats.org/drawingml/2006/main" noGrp="1"/>
          </p:cNvSpPr>
          <p:nvPr/>
        </p:nvSpPr>
        <p:spPr>
          <a:xfrm xmlns:a="http://schemas.openxmlformats.org/drawingml/2006/main">
            <a:off x="4429125"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Reflected decreasing orientation</a:t>
            </a:r>
          </a:p>
        </p:txBody>
      </p:sp>
      <p:sp>
        <p:nvSpPr>
          <p:cNvPr id="36" name="">
            <a:extLst xmlns:a="http://schemas.openxmlformats.org/drawingml/2006/main">
              <a:ext uri="{FF2B5EF4-FFF2-40B4-BE49-F238E27FC236}">
                <a16:creationId xmlns:a16="http://schemas.microsoft.com/office/drawing/2014/main" id="{17BDA841-FBF6-470B-A02A-5D04638FFC93}"/>
              </a:ext>
            </a:extLst>
          </p:cNvPr>
          <p:cNvSpPr>
            <a:spLocks xmlns:a="http://schemas.openxmlformats.org/drawingml/2006/main" noGrp="1"/>
          </p:cNvSpPr>
          <p:nvPr/>
        </p:nvSpPr>
        <p:spPr>
          <a:xfrm xmlns:a="http://schemas.openxmlformats.org/drawingml/2006/main">
            <a:off x="7734300" y="4476750"/>
            <a:ext cx="3105150" cy="1066800"/>
          </a:xfrm>
          <a:prstGeom xmlns:a="http://schemas.openxmlformats.org/drawingml/2006/main" prst="roundRect">
            <a:avLst>
              <a:gd name="adj" fmla="val 7143"/>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AF8E8744-DDA7-4AED-ADEC-E4524151F365}"/>
              </a:ext>
            </a:extLst>
          </p:cNvPr>
          <p:cNvSpPr>
            <a:spLocks xmlns:a="http://schemas.openxmlformats.org/drawingml/2006/main" noGrp="1"/>
          </p:cNvSpPr>
          <p:nvPr/>
        </p:nvSpPr>
        <p:spPr>
          <a:xfrm xmlns:a="http://schemas.openxmlformats.org/drawingml/2006/main">
            <a:off x="7867650" y="4610100"/>
            <a:ext cx="2838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Executable clarifications</a:t>
            </a:r>
          </a:p>
        </p:txBody>
      </p:sp>
      <p:sp>
        <p:nvSpPr>
          <p:cNvPr id="38" name="">
            <a:extLst xmlns:a="http://schemas.openxmlformats.org/drawingml/2006/main">
              <a:ext uri="{FF2B5EF4-FFF2-40B4-BE49-F238E27FC236}">
                <a16:creationId xmlns:a16="http://schemas.microsoft.com/office/drawing/2014/main" id="{872FB400-5206-4FE9-916A-41161B9E4CF8}"/>
              </a:ext>
            </a:extLst>
          </p:cNvPr>
          <p:cNvSpPr>
            <a:spLocks xmlns:a="http://schemas.openxmlformats.org/drawingml/2006/main" noGrp="1"/>
          </p:cNvSpPr>
          <p:nvPr/>
        </p:nvSpPr>
        <p:spPr>
          <a:xfrm xmlns:a="http://schemas.openxmlformats.org/drawingml/2006/main">
            <a:off x="7905750" y="50101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8702"/>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Geometric endpoint and odd-index z₁ anchor</a:t>
            </a:r>
          </a:p>
        </p:txBody>
      </p:sp>
    </p:spTree>
    <p:extLst>
      <p:ext uri="{BB962C8B-B14F-4D97-AF65-F5344CB8AC3E}">
        <p14:creationId xmlns:p14="http://schemas.microsoft.com/office/powerpoint/2010/main" val="680686428"/>
      </p:ext>
    </p:extLst>
  </p:cSld>
</p:sld>
</file>

<file path=ppt/slides/slide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DFF3B44-2D4C-4FA8-A131-23017F1501A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a:t>
            </a:r>
          </a:p>
        </p:txBody>
      </p:sp>
      <p:sp>
        <p:nvSpPr>
          <p:cNvPr id="2" name="">
            <a:extLst xmlns:a="http://schemas.openxmlformats.org/drawingml/2006/main">
              <a:ext uri="{FF2B5EF4-FFF2-40B4-BE49-F238E27FC236}">
                <a16:creationId xmlns:a16="http://schemas.microsoft.com/office/drawing/2014/main" id="{CD48931C-18DB-4BC2-A99E-15A3E2C391AC}"/>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546"/>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Step 3(c) uses the geometric extreme, not the second stored endpoint</a:t>
            </a:r>
          </a:p>
        </p:txBody>
      </p:sp>
      <p:sp>
        <p:nvSpPr>
          <p:cNvPr id="3" name="">
            <a:extLst xmlns:a="http://schemas.openxmlformats.org/drawingml/2006/main">
              <a:ext uri="{FF2B5EF4-FFF2-40B4-BE49-F238E27FC236}">
                <a16:creationId xmlns:a16="http://schemas.microsoft.com/office/drawing/2014/main" id="{F419E47B-48ED-4711-ADA0-2C021B89FB8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24E6DC67-6361-4B97-AB8C-D78AA8FDF73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6184973-AF41-4A64-BEDB-D02EBB853D1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FC66B9FD-C1FA-42E5-BADA-DB90560B0E1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8 / 16</a:t>
            </a:r>
          </a:p>
        </p:txBody>
      </p:sp>
      <p:sp>
        <p:nvSpPr>
          <p:cNvPr id="7" name="">
            <a:extLst xmlns:a="http://schemas.openxmlformats.org/drawingml/2006/main">
              <a:ext uri="{FF2B5EF4-FFF2-40B4-BE49-F238E27FC236}">
                <a16:creationId xmlns:a16="http://schemas.microsoft.com/office/drawing/2014/main" id="{6A2A90DC-320C-4888-9121-FCA32F31E2F4}"/>
              </a:ext>
            </a:extLst>
          </p:cNvPr>
          <p:cNvSpPr>
            <a:spLocks xmlns:a="http://schemas.openxmlformats.org/drawingml/2006/main" noGrp="1"/>
          </p:cNvSpPr>
          <p:nvPr/>
        </p:nvSpPr>
        <p:spPr>
          <a:xfrm xmlns:a="http://schemas.openxmlformats.org/drawingml/2006/main">
            <a:off x="800100" y="14859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Input prefix</a:t>
            </a:r>
          </a:p>
        </p:txBody>
      </p:sp>
      <p:sp>
        <p:nvSpPr>
          <p:cNvPr id="8" name="">
            <a:extLst xmlns:a="http://schemas.openxmlformats.org/drawingml/2006/main">
              <a:ext uri="{FF2B5EF4-FFF2-40B4-BE49-F238E27FC236}">
                <a16:creationId xmlns:a16="http://schemas.microsoft.com/office/drawing/2014/main" id="{4F6893B1-2A7E-4DBF-AA1E-63A716F9B86F}"/>
              </a:ext>
            </a:extLst>
          </p:cNvPr>
          <p:cNvSpPr>
            <a:spLocks xmlns:a="http://schemas.openxmlformats.org/drawingml/2006/main" noGrp="1"/>
          </p:cNvSpPr>
          <p:nvPr/>
        </p:nvSpPr>
        <p:spPr>
          <a:xfrm xmlns:a="http://schemas.openxmlformats.org/drawingml/2006/main">
            <a:off x="800100" y="17907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400" b="1" i="0">
                <a:solidFill>
                  <a:srgbClr val="102A43"/>
                </a:solidFill>
              </a:defRPr>
            </a:pPr>
            <a:r>
              <a:rPr sz="2400" b="1" i="0">
                <a:solidFill>
                  <a:srgbClr val="102A43"/>
                </a:solidFill>
              </a:rPr>
              <a:t>(3, 2, 1, 4)</a:t>
            </a:r>
          </a:p>
        </p:txBody>
      </p:sp>
      <p:sp>
        <p:nvSpPr>
          <p:cNvPr id="9" name="">
            <a:extLst xmlns:a="http://schemas.openxmlformats.org/drawingml/2006/main">
              <a:ext uri="{FF2B5EF4-FFF2-40B4-BE49-F238E27FC236}">
                <a16:creationId xmlns:a16="http://schemas.microsoft.com/office/drawing/2014/main" id="{F0590AAD-B774-481E-A256-A798AEB8F06B}"/>
              </a:ext>
            </a:extLst>
          </p:cNvPr>
          <p:cNvSpPr>
            <a:spLocks xmlns:a="http://schemas.openxmlformats.org/drawingml/2006/main" noGrp="1"/>
          </p:cNvSpPr>
          <p:nvPr/>
        </p:nvSpPr>
        <p:spPr>
          <a:xfrm xmlns:a="http://schemas.openxmlformats.org/drawingml/2006/main">
            <a:off x="800100" y="24193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Acquired pair</a:t>
            </a:r>
          </a:p>
        </p:txBody>
      </p:sp>
      <p:sp>
        <p:nvSpPr>
          <p:cNvPr id="10" name="">
            <a:extLst xmlns:a="http://schemas.openxmlformats.org/drawingml/2006/main">
              <a:ext uri="{FF2B5EF4-FFF2-40B4-BE49-F238E27FC236}">
                <a16:creationId xmlns:a16="http://schemas.microsoft.com/office/drawing/2014/main" id="{285D6303-2CDC-4E48-968D-61E61CF57A20}"/>
              </a:ext>
            </a:extLst>
          </p:cNvPr>
          <p:cNvSpPr>
            <a:spLocks xmlns:a="http://schemas.openxmlformats.org/drawingml/2006/main" noGrp="1"/>
          </p:cNvSpPr>
          <p:nvPr/>
        </p:nvSpPr>
        <p:spPr>
          <a:xfrm xmlns:a="http://schemas.openxmlformats.org/drawingml/2006/main">
            <a:off x="800100" y="272415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2250" b="1" i="0">
                <a:solidFill>
                  <a:srgbClr val="E76F51"/>
                </a:solidFill>
              </a:defRPr>
            </a:pPr>
            <a:r>
              <a:rPr sz="2250" b="1" i="0">
                <a:solidFill>
                  <a:srgbClr val="E76F51"/>
                </a:solidFill>
              </a:rPr>
              <a:t>P₂ = (3, 2)</a:t>
            </a:r>
          </a:p>
        </p:txBody>
      </p:sp>
      <p:sp>
        <p:nvSpPr>
          <p:cNvPr id="11" name="">
            <a:extLst xmlns:a="http://schemas.openxmlformats.org/drawingml/2006/main">
              <a:ext uri="{FF2B5EF4-FFF2-40B4-BE49-F238E27FC236}">
                <a16:creationId xmlns:a16="http://schemas.microsoft.com/office/drawing/2014/main" id="{4FB1025A-AD69-4FCF-BA13-1224256206B9}"/>
              </a:ext>
            </a:extLst>
          </p:cNvPr>
          <p:cNvSpPr>
            <a:spLocks xmlns:a="http://schemas.openxmlformats.org/drawingml/2006/main" noGrp="1"/>
          </p:cNvSpPr>
          <p:nvPr/>
        </p:nvSpPr>
        <p:spPr>
          <a:xfrm xmlns:a="http://schemas.openxmlformats.org/drawingml/2006/main">
            <a:off x="3905250" y="2400300"/>
            <a:ext cx="6477000" cy="9525"/>
          </a:xfrm>
          <a:prstGeom xmlns:a="http://schemas.openxmlformats.org/drawingml/2006/main" prst="line">
            <a:avLst/>
          </a:prstGeom>
          <a:noFill xmlns:a="http://schemas.openxmlformats.org/drawingml/2006/main"/>
          <a:ln xmlns:a="http://schemas.openxmlformats.org/drawingml/2006/main" w="28575">
            <a:solidFill>
              <a:srgbClr val="52606D"/>
            </a:solidFill>
            <a:prstDash val="solid"/>
          </a:ln>
        </p:spPr>
      </p:sp>
      <p:sp>
        <p:nvSpPr>
          <p:cNvPr id="12" name="">
            <a:extLst xmlns:a="http://schemas.openxmlformats.org/drawingml/2006/main">
              <a:ext uri="{FF2B5EF4-FFF2-40B4-BE49-F238E27FC236}">
                <a16:creationId xmlns:a16="http://schemas.microsoft.com/office/drawing/2014/main" id="{C0AED91A-5AE0-4F60-9BF1-AAFEEA33B3F6}"/>
              </a:ext>
            </a:extLst>
          </p:cNvPr>
          <p:cNvSpPr>
            <a:spLocks xmlns:a="http://schemas.openxmlformats.org/drawingml/2006/main" noGrp="1"/>
          </p:cNvSpPr>
          <p:nvPr/>
        </p:nvSpPr>
        <p:spPr>
          <a:xfrm xmlns:a="http://schemas.openxmlformats.org/drawingml/2006/main">
            <a:off x="4095750"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3" name="">
            <a:extLst xmlns:a="http://schemas.openxmlformats.org/drawingml/2006/main">
              <a:ext uri="{FF2B5EF4-FFF2-40B4-BE49-F238E27FC236}">
                <a16:creationId xmlns:a16="http://schemas.microsoft.com/office/drawing/2014/main" id="{0BC3307D-200F-4376-A1CE-1F4E3379FB41}"/>
              </a:ext>
            </a:extLst>
          </p:cNvPr>
          <p:cNvSpPr>
            <a:spLocks xmlns:a="http://schemas.openxmlformats.org/drawingml/2006/main" noGrp="1"/>
          </p:cNvSpPr>
          <p:nvPr/>
        </p:nvSpPr>
        <p:spPr>
          <a:xfrm xmlns:a="http://schemas.openxmlformats.org/drawingml/2006/main">
            <a:off x="409575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1</a:t>
            </a:r>
          </a:p>
        </p:txBody>
      </p:sp>
      <p:sp>
        <p:nvSpPr>
          <p:cNvPr id="14" name="">
            <a:extLst xmlns:a="http://schemas.openxmlformats.org/drawingml/2006/main">
              <a:ext uri="{FF2B5EF4-FFF2-40B4-BE49-F238E27FC236}">
                <a16:creationId xmlns:a16="http://schemas.microsoft.com/office/drawing/2014/main" id="{1F4CD8B4-00F7-41BF-979A-42450A2C1663}"/>
              </a:ext>
            </a:extLst>
          </p:cNvPr>
          <p:cNvSpPr>
            <a:spLocks xmlns:a="http://schemas.openxmlformats.org/drawingml/2006/main" noGrp="1"/>
          </p:cNvSpPr>
          <p:nvPr/>
        </p:nvSpPr>
        <p:spPr>
          <a:xfrm xmlns:a="http://schemas.openxmlformats.org/drawingml/2006/main">
            <a:off x="6048375" y="2209800"/>
            <a:ext cx="381000" cy="381000"/>
          </a:xfrm>
          <a:prstGeom xmlns:a="http://schemas.openxmlformats.org/drawingml/2006/main" prst="ellipse">
            <a:avLst/>
          </a:prstGeom>
          <a:solidFill xmlns:a="http://schemas.openxmlformats.org/drawingml/2006/main">
            <a:srgbClr val="FCEEEA"/>
          </a:solidFill>
          <a:ln xmlns:a="http://schemas.openxmlformats.org/drawingml/2006/main" w="19050">
            <a:solidFill>
              <a:srgbClr val="E76F51"/>
            </a:solidFill>
            <a:prstDash val="solid"/>
          </a:ln>
        </p:spPr>
      </p:sp>
      <p:sp>
        <p:nvSpPr>
          <p:cNvPr id="15" name="">
            <a:extLst xmlns:a="http://schemas.openxmlformats.org/drawingml/2006/main">
              <a:ext uri="{FF2B5EF4-FFF2-40B4-BE49-F238E27FC236}">
                <a16:creationId xmlns:a16="http://schemas.microsoft.com/office/drawing/2014/main" id="{B5F06001-2DE3-4FEF-8029-0EDFAE69D81F}"/>
              </a:ext>
            </a:extLst>
          </p:cNvPr>
          <p:cNvSpPr>
            <a:spLocks xmlns:a="http://schemas.openxmlformats.org/drawingml/2006/main" noGrp="1"/>
          </p:cNvSpPr>
          <p:nvPr/>
        </p:nvSpPr>
        <p:spPr>
          <a:xfrm xmlns:a="http://schemas.openxmlformats.org/drawingml/2006/main">
            <a:off x="604837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2</a:t>
            </a:r>
          </a:p>
        </p:txBody>
      </p:sp>
      <p:sp>
        <p:nvSpPr>
          <p:cNvPr id="16" name="">
            <a:extLst xmlns:a="http://schemas.openxmlformats.org/drawingml/2006/main">
              <a:ext uri="{FF2B5EF4-FFF2-40B4-BE49-F238E27FC236}">
                <a16:creationId xmlns:a16="http://schemas.microsoft.com/office/drawing/2014/main" id="{658EC519-6518-4C06-BD7D-8CE7F3EA9283}"/>
              </a:ext>
            </a:extLst>
          </p:cNvPr>
          <p:cNvSpPr>
            <a:spLocks xmlns:a="http://schemas.openxmlformats.org/drawingml/2006/main" noGrp="1"/>
          </p:cNvSpPr>
          <p:nvPr/>
        </p:nvSpPr>
        <p:spPr>
          <a:xfrm xmlns:a="http://schemas.openxmlformats.org/drawingml/2006/main">
            <a:off x="8001000" y="2209800"/>
            <a:ext cx="381000" cy="381000"/>
          </a:xfrm>
          <a:prstGeom xmlns:a="http://schemas.openxmlformats.org/drawingml/2006/main" prst="ellipse">
            <a:avLst/>
          </a:prstGeom>
          <a:solidFill xmlns:a="http://schemas.openxmlformats.org/drawingml/2006/main">
            <a:srgbClr val="E8F5F3"/>
          </a:solidFill>
          <a:ln xmlns:a="http://schemas.openxmlformats.org/drawingml/2006/main" w="19050">
            <a:solidFill>
              <a:srgbClr val="2A9D8F"/>
            </a:solidFill>
            <a:prstDash val="solid"/>
          </a:ln>
        </p:spPr>
      </p:sp>
      <p:sp>
        <p:nvSpPr>
          <p:cNvPr id="17" name="">
            <a:extLst xmlns:a="http://schemas.openxmlformats.org/drawingml/2006/main">
              <a:ext uri="{FF2B5EF4-FFF2-40B4-BE49-F238E27FC236}">
                <a16:creationId xmlns:a16="http://schemas.microsoft.com/office/drawing/2014/main" id="{D2D70831-D955-497F-9A92-70C9295D439E}"/>
              </a:ext>
            </a:extLst>
          </p:cNvPr>
          <p:cNvSpPr>
            <a:spLocks xmlns:a="http://schemas.openxmlformats.org/drawingml/2006/main" noGrp="1"/>
          </p:cNvSpPr>
          <p:nvPr/>
        </p:nvSpPr>
        <p:spPr>
          <a:xfrm xmlns:a="http://schemas.openxmlformats.org/drawingml/2006/main">
            <a:off x="8001000"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3</a:t>
            </a:r>
          </a:p>
        </p:txBody>
      </p:sp>
      <p:sp>
        <p:nvSpPr>
          <p:cNvPr id="18" name="">
            <a:extLst xmlns:a="http://schemas.openxmlformats.org/drawingml/2006/main">
              <a:ext uri="{FF2B5EF4-FFF2-40B4-BE49-F238E27FC236}">
                <a16:creationId xmlns:a16="http://schemas.microsoft.com/office/drawing/2014/main" id="{9AE9C38F-25F3-45CD-AEF9-F2D3E9866880}"/>
              </a:ext>
            </a:extLst>
          </p:cNvPr>
          <p:cNvSpPr>
            <a:spLocks xmlns:a="http://schemas.openxmlformats.org/drawingml/2006/main" noGrp="1"/>
          </p:cNvSpPr>
          <p:nvPr/>
        </p:nvSpPr>
        <p:spPr>
          <a:xfrm xmlns:a="http://schemas.openxmlformats.org/drawingml/2006/main">
            <a:off x="9953625" y="2209800"/>
            <a:ext cx="381000" cy="381000"/>
          </a:xfrm>
          <a:prstGeom xmlns:a="http://schemas.openxmlformats.org/drawingml/2006/main" prst="ellipse">
            <a:avLst/>
          </a:prstGeom>
          <a:solidFill xmlns:a="http://schemas.openxmlformats.org/drawingml/2006/main">
            <a:srgbClr val="FFFFFF"/>
          </a:solidFill>
          <a:ln xmlns:a="http://schemas.openxmlformats.org/drawingml/2006/main" w="19050">
            <a:solidFill>
              <a:srgbClr val="52606D"/>
            </a:solidFill>
            <a:prstDash val="solid"/>
          </a:ln>
        </p:spPr>
      </p:sp>
      <p:sp>
        <p:nvSpPr>
          <p:cNvPr id="19" name="">
            <a:extLst xmlns:a="http://schemas.openxmlformats.org/drawingml/2006/main">
              <a:ext uri="{FF2B5EF4-FFF2-40B4-BE49-F238E27FC236}">
                <a16:creationId xmlns:a16="http://schemas.microsoft.com/office/drawing/2014/main" id="{C463F82C-89EF-42B5-A761-05B4C940D2B3}"/>
              </a:ext>
            </a:extLst>
          </p:cNvPr>
          <p:cNvSpPr>
            <a:spLocks xmlns:a="http://schemas.openxmlformats.org/drawingml/2006/main" noGrp="1"/>
          </p:cNvSpPr>
          <p:nvPr/>
        </p:nvSpPr>
        <p:spPr>
          <a:xfrm xmlns:a="http://schemas.openxmlformats.org/drawingml/2006/main">
            <a:off x="9953625" y="22288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4</a:t>
            </a:r>
          </a:p>
        </p:txBody>
      </p:sp>
      <p:sp>
        <p:nvSpPr>
          <p:cNvPr id="20" name="">
            <a:extLst xmlns:a="http://schemas.openxmlformats.org/drawingml/2006/main">
              <a:ext uri="{FF2B5EF4-FFF2-40B4-BE49-F238E27FC236}">
                <a16:creationId xmlns:a16="http://schemas.microsoft.com/office/drawing/2014/main" id="{EAAE72FB-3EFA-438F-9152-DFCE9A8BEBC3}"/>
              </a:ext>
            </a:extLst>
          </p:cNvPr>
          <p:cNvSpPr>
            <a:spLocks xmlns:a="http://schemas.openxmlformats.org/drawingml/2006/main" noGrp="1"/>
          </p:cNvSpPr>
          <p:nvPr/>
        </p:nvSpPr>
        <p:spPr>
          <a:xfrm xmlns:a="http://schemas.openxmlformats.org/drawingml/2006/main">
            <a:off x="6858000" y="1581150"/>
            <a:ext cx="238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stored direction 3 → 2</a:t>
            </a:r>
          </a:p>
        </p:txBody>
      </p:sp>
      <p:sp>
        <p:nvSpPr>
          <p:cNvPr id="21" name="">
            <a:extLst xmlns:a="http://schemas.openxmlformats.org/drawingml/2006/main">
              <a:ext uri="{FF2B5EF4-FFF2-40B4-BE49-F238E27FC236}">
                <a16:creationId xmlns:a16="http://schemas.microsoft.com/office/drawing/2014/main" id="{AF06E509-04CD-4FB0-B8B8-6C4898958FC7}"/>
              </a:ext>
            </a:extLst>
          </p:cNvPr>
          <p:cNvSpPr>
            <a:spLocks xmlns:a="http://schemas.openxmlformats.org/drawingml/2006/main" noGrp="1"/>
          </p:cNvSpPr>
          <p:nvPr/>
        </p:nvSpPr>
        <p:spPr>
          <a:xfrm xmlns:a="http://schemas.openxmlformats.org/drawingml/2006/main">
            <a:off x="6153150" y="27241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00" b="0" i="0">
                <a:solidFill>
                  <a:srgbClr val="7B8794"/>
                </a:solidFill>
              </a:defRPr>
            </a:pPr>
            <a:r>
              <a:rPr sz="1200" b="0" i="0">
                <a:solidFill>
                  <a:srgbClr val="7B8794"/>
                </a:solidFill>
              </a:rPr>
              <a:t>geometric axis</a:t>
            </a:r>
          </a:p>
        </p:txBody>
      </p:sp>
      <p:sp>
        <p:nvSpPr>
          <p:cNvPr id="22" name="">
            <a:extLst xmlns:a="http://schemas.openxmlformats.org/drawingml/2006/main">
              <a:ext uri="{FF2B5EF4-FFF2-40B4-BE49-F238E27FC236}">
                <a16:creationId xmlns:a16="http://schemas.microsoft.com/office/drawing/2014/main" id="{0150611D-A03A-4F10-ABB7-53A52F060AEF}"/>
              </a:ext>
            </a:extLst>
          </p:cNvPr>
          <p:cNvSpPr>
            <a:spLocks xmlns:a="http://schemas.openxmlformats.org/drawingml/2006/main" noGrp="1"/>
          </p:cNvSpPr>
          <p:nvPr/>
        </p:nvSpPr>
        <p:spPr>
          <a:xfrm xmlns:a="http://schemas.openxmlformats.org/drawingml/2006/main">
            <a:off x="3943350" y="3409950"/>
            <a:ext cx="3143250" cy="1466850"/>
          </a:xfrm>
          <a:prstGeom xmlns:a="http://schemas.openxmlformats.org/drawingml/2006/main" prst="roundRect">
            <a:avLst>
              <a:gd name="adj" fmla="val 5195"/>
            </a:avLst>
          </a:prstGeom>
          <a:solidFill xmlns:a="http://schemas.openxmlformats.org/drawingml/2006/main">
            <a:srgbClr val="FCEEEA"/>
          </a:solidFill>
          <a:ln xmlns:a="http://schemas.openxmlformats.org/drawingml/2006/main" w="19050">
            <a:solidFill>
              <a:srgbClr val="E76F51"/>
            </a:solidFill>
            <a:prstDash val="solid"/>
          </a:ln>
        </p:spPr>
      </p:sp>
      <p:sp>
        <p:nvSpPr>
          <p:cNvPr id="23" name="">
            <a:extLst xmlns:a="http://schemas.openxmlformats.org/drawingml/2006/main">
              <a:ext uri="{FF2B5EF4-FFF2-40B4-BE49-F238E27FC236}">
                <a16:creationId xmlns:a16="http://schemas.microsoft.com/office/drawing/2014/main" id="{18A34A0B-7CD5-4297-8F12-E844C3D193DA}"/>
              </a:ext>
            </a:extLst>
          </p:cNvPr>
          <p:cNvSpPr>
            <a:spLocks xmlns:a="http://schemas.openxmlformats.org/drawingml/2006/main" noGrp="1"/>
          </p:cNvSpPr>
          <p:nvPr/>
        </p:nvSpPr>
        <p:spPr>
          <a:xfrm xmlns:a="http://schemas.openxmlformats.org/drawingml/2006/main">
            <a:off x="41529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E76F51"/>
                </a:solidFill>
              </a:defRPr>
            </a:pPr>
            <a:r>
              <a:rPr sz="1725" b="1" i="0">
                <a:solidFill>
                  <a:srgbClr val="E76F51"/>
                </a:solidFill>
              </a:rPr>
              <a:t>Curve-order endpoint</a:t>
            </a:r>
          </a:p>
        </p:txBody>
      </p:sp>
      <p:sp>
        <p:nvSpPr>
          <p:cNvPr id="24" name="">
            <a:extLst xmlns:a="http://schemas.openxmlformats.org/drawingml/2006/main">
              <a:ext uri="{FF2B5EF4-FFF2-40B4-BE49-F238E27FC236}">
                <a16:creationId xmlns:a16="http://schemas.microsoft.com/office/drawing/2014/main" id="{911C2938-DBE6-4532-A47C-84CBA7D2DE0B}"/>
              </a:ext>
            </a:extLst>
          </p:cNvPr>
          <p:cNvSpPr>
            <a:spLocks xmlns:a="http://schemas.openxmlformats.org/drawingml/2006/main" noGrp="1"/>
          </p:cNvSpPr>
          <p:nvPr/>
        </p:nvSpPr>
        <p:spPr>
          <a:xfrm xmlns:a="http://schemas.openxmlformats.org/drawingml/2006/main">
            <a:off x="41719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2</a:t>
            </a:r>
          </a:p>
          <a:p xmlns:a="http://schemas.openxmlformats.org/drawingml/2006/main">
            <a:pPr algn="ctr">
              <a:lnSpc>
                <a:spcPct val="105000"/>
              </a:lnSpc>
              <a:buNone/>
              <a:defRPr sz="1500" b="0" i="0">
                <a:solidFill>
                  <a:srgbClr val="243B53"/>
                </a:solidFill>
              </a:defRPr>
            </a:pPr>
            <a:r>
              <a:rPr sz="1500" b="0" i="0">
                <a:solidFill>
                  <a:srgbClr val="243B53"/>
                </a:solidFill>
              </a:rPr>
              <a:t>result: [1, 2, 4, 3]</a:t>
            </a:r>
          </a:p>
        </p:txBody>
      </p:sp>
      <p:sp>
        <p:nvSpPr>
          <p:cNvPr id="25" name="">
            <a:extLst xmlns:a="http://schemas.openxmlformats.org/drawingml/2006/main">
              <a:ext uri="{FF2B5EF4-FFF2-40B4-BE49-F238E27FC236}">
                <a16:creationId xmlns:a16="http://schemas.microsoft.com/office/drawing/2014/main" id="{8D7966AF-B661-4B7E-B454-B4457804F67C}"/>
              </a:ext>
            </a:extLst>
          </p:cNvPr>
          <p:cNvSpPr>
            <a:spLocks xmlns:a="http://schemas.openxmlformats.org/drawingml/2006/main" noGrp="1"/>
          </p:cNvSpPr>
          <p:nvPr/>
        </p:nvSpPr>
        <p:spPr>
          <a:xfrm xmlns:a="http://schemas.openxmlformats.org/drawingml/2006/main">
            <a:off x="7524750" y="3409950"/>
            <a:ext cx="3143250" cy="1466850"/>
          </a:xfrm>
          <a:prstGeom xmlns:a="http://schemas.openxmlformats.org/drawingml/2006/main" prst="roundRect">
            <a:avLst>
              <a:gd name="adj" fmla="val 5195"/>
            </a:avLst>
          </a:prstGeom>
          <a:solidFill xmlns:a="http://schemas.openxmlformats.org/drawingml/2006/main">
            <a:srgbClr val="E8F5F3"/>
          </a:solidFill>
          <a:ln xmlns:a="http://schemas.openxmlformats.org/drawingml/2006/main" w="19050">
            <a:solidFill>
              <a:srgbClr val="2A9D8F"/>
            </a:solidFill>
            <a:prstDash val="solid"/>
          </a:ln>
        </p:spPr>
      </p:sp>
      <p:sp>
        <p:nvSpPr>
          <p:cNvPr id="26" name="">
            <a:extLst xmlns:a="http://schemas.openxmlformats.org/drawingml/2006/main">
              <a:ext uri="{FF2B5EF4-FFF2-40B4-BE49-F238E27FC236}">
                <a16:creationId xmlns:a16="http://schemas.microsoft.com/office/drawing/2014/main" id="{330307E2-66CA-4BA2-82BC-D12B605F8E86}"/>
              </a:ext>
            </a:extLst>
          </p:cNvPr>
          <p:cNvSpPr>
            <a:spLocks xmlns:a="http://schemas.openxmlformats.org/drawingml/2006/main" noGrp="1"/>
          </p:cNvSpPr>
          <p:nvPr/>
        </p:nvSpPr>
        <p:spPr>
          <a:xfrm xmlns:a="http://schemas.openxmlformats.org/drawingml/2006/main">
            <a:off x="7734300" y="35623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1" i="0">
                <a:solidFill>
                  <a:srgbClr val="2A9D8F"/>
                </a:solidFill>
              </a:defRPr>
            </a:pPr>
            <a:r>
              <a:rPr sz="1725" b="1" i="0">
                <a:solidFill>
                  <a:srgbClr val="2A9D8F"/>
                </a:solidFill>
              </a:rPr>
              <a:t>Geometric endpoint</a:t>
            </a:r>
          </a:p>
        </p:txBody>
      </p:sp>
      <p:sp>
        <p:nvSpPr>
          <p:cNvPr id="27" name="">
            <a:extLst xmlns:a="http://schemas.openxmlformats.org/drawingml/2006/main">
              <a:ext uri="{FF2B5EF4-FFF2-40B4-BE49-F238E27FC236}">
                <a16:creationId xmlns:a16="http://schemas.microsoft.com/office/drawing/2014/main" id="{8A9B6353-A173-47B4-A73A-78F24469519E}"/>
              </a:ext>
            </a:extLst>
          </p:cNvPr>
          <p:cNvSpPr>
            <a:spLocks xmlns:a="http://schemas.openxmlformats.org/drawingml/2006/main" noGrp="1"/>
          </p:cNvSpPr>
          <p:nvPr/>
        </p:nvSpPr>
        <p:spPr>
          <a:xfrm xmlns:a="http://schemas.openxmlformats.org/drawingml/2006/main">
            <a:off x="7753350" y="3981450"/>
            <a:ext cx="2686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anchor = 3</a:t>
            </a:r>
          </a:p>
          <a:p xmlns:a="http://schemas.openxmlformats.org/drawingml/2006/main">
            <a:pPr algn="ctr">
              <a:lnSpc>
                <a:spcPct val="105000"/>
              </a:lnSpc>
              <a:buNone/>
              <a:defRPr sz="1500" b="0" i="0">
                <a:solidFill>
                  <a:srgbClr val="243B53"/>
                </a:solidFill>
              </a:defRPr>
            </a:pPr>
            <a:r>
              <a:rPr sz="1500" b="0" i="0">
                <a:solidFill>
                  <a:srgbClr val="243B53"/>
                </a:solidFill>
              </a:rPr>
              <a:t>result: [1, 2, 3, 4]</a:t>
            </a:r>
          </a:p>
        </p:txBody>
      </p:sp>
      <p:sp>
        <p:nvSpPr>
          <p:cNvPr id="28" name="">
            <a:extLst xmlns:a="http://schemas.openxmlformats.org/drawingml/2006/main">
              <a:ext uri="{FF2B5EF4-FFF2-40B4-BE49-F238E27FC236}">
                <a16:creationId xmlns:a16="http://schemas.microsoft.com/office/drawing/2014/main" id="{E335B674-1918-4C90-841C-9BBAE7B5C347}"/>
              </a:ext>
            </a:extLst>
          </p:cNvPr>
          <p:cNvSpPr>
            <a:spLocks xmlns:a="http://schemas.openxmlformats.org/drawingml/2006/main" noGrp="1"/>
          </p:cNvSpPr>
          <p:nvPr/>
        </p:nvSpPr>
        <p:spPr>
          <a:xfrm xmlns:a="http://schemas.openxmlformats.org/drawingml/2006/main">
            <a:off x="3714750" y="531495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Executable rule: choose the geometric extreme.</a:t>
            </a:r>
          </a:p>
        </p:txBody>
      </p:sp>
      <p:sp>
        <p:nvSpPr>
          <p:cNvPr id="29" name="">
            <a:extLst xmlns:a="http://schemas.openxmlformats.org/drawingml/2006/main">
              <a:ext uri="{FF2B5EF4-FFF2-40B4-BE49-F238E27FC236}">
                <a16:creationId xmlns:a16="http://schemas.microsoft.com/office/drawing/2014/main" id="{490C7D3C-9160-4BE3-BC57-72AB7D4AD760}"/>
              </a:ext>
            </a:extLst>
          </p:cNvPr>
          <p:cNvSpPr>
            <a:spLocks xmlns:a="http://schemas.openxmlformats.org/drawingml/2006/main" noGrp="1"/>
          </p:cNvSpPr>
          <p:nvPr/>
        </p:nvSpPr>
        <p:spPr>
          <a:xfrm xmlns:a="http://schemas.openxmlformats.org/drawingml/2006/main">
            <a:off x="3714750" y="581025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Recorded as a reconstruction clarification, not as a verbatim 1990-paper rule.</a:t>
            </a:r>
          </a:p>
        </p:txBody>
      </p:sp>
    </p:spTree>
    <p:extLst>
      <p:ext uri="{BB962C8B-B14F-4D97-AF65-F5344CB8AC3E}">
        <p14:creationId xmlns:p14="http://schemas.microsoft.com/office/powerpoint/2010/main" val="1641983417"/>
      </p:ext>
    </p:extLst>
  </p:cSld>
</p:sld>
</file>

<file path=ppt/slides/slide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C4EF2641-7651-4F6D-AA66-506D4AA9DBC1}"/>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II</a:t>
            </a:r>
          </a:p>
        </p:txBody>
      </p:sp>
      <p:sp>
        <p:nvSpPr>
          <p:cNvPr id="2" name="">
            <a:extLst xmlns:a="http://schemas.openxmlformats.org/drawingml/2006/main">
              <a:ext uri="{FF2B5EF4-FFF2-40B4-BE49-F238E27FC236}">
                <a16:creationId xmlns:a16="http://schemas.microsoft.com/office/drawing/2014/main" id="{6BD32007-2845-4A0E-9911-A698D4854C67}"/>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Odd iterations require a separate z₁ output-anchor correction</a:t>
            </a:r>
          </a:p>
        </p:txBody>
      </p:sp>
      <p:sp>
        <p:nvSpPr>
          <p:cNvPr id="3" name="">
            <a:extLst xmlns:a="http://schemas.openxmlformats.org/drawingml/2006/main">
              <a:ext uri="{FF2B5EF4-FFF2-40B4-BE49-F238E27FC236}">
                <a16:creationId xmlns:a16="http://schemas.microsoft.com/office/drawing/2014/main" id="{0A3296CA-B015-4589-9E62-AC9D70C2D2B1}"/>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7235E4E-C7A5-4A76-AE81-587232E10EB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1A5B7F5-AF32-48EB-9222-FEB468861B3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79D89DCE-4BD6-4924-9A4D-190F3BBD8868}"/>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9 / 16</a:t>
            </a:r>
          </a:p>
        </p:txBody>
      </p:sp>
      <p:sp>
        <p:nvSpPr>
          <p:cNvPr id="7" name="">
            <a:extLst xmlns:a="http://schemas.openxmlformats.org/drawingml/2006/main">
              <a:ext uri="{FF2B5EF4-FFF2-40B4-BE49-F238E27FC236}">
                <a16:creationId xmlns:a16="http://schemas.microsoft.com/office/drawing/2014/main" id="{854B8CE0-68E1-4FFE-8B22-E50538816CEC}"/>
              </a:ext>
            </a:extLst>
          </p:cNvPr>
          <p:cNvSpPr>
            <a:spLocks xmlns:a="http://schemas.openxmlformats.org/drawingml/2006/main" noGrp="1"/>
          </p:cNvSpPr>
          <p:nvPr/>
        </p:nvSpPr>
        <p:spPr>
          <a:xfrm xmlns:a="http://schemas.openxmlformats.org/drawingml/2006/main">
            <a:off x="685800" y="1428750"/>
            <a:ext cx="7239000" cy="18669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14288">
            <a:solidFill>
              <a:srgbClr val="E76F51"/>
            </a:solidFill>
            <a:prstDash val="solid"/>
          </a:ln>
        </p:spPr>
      </p:sp>
      <p:sp>
        <p:nvSpPr>
          <p:cNvPr id="8" name="">
            <a:extLst xmlns:a="http://schemas.openxmlformats.org/drawingml/2006/main">
              <a:ext uri="{FF2B5EF4-FFF2-40B4-BE49-F238E27FC236}">
                <a16:creationId xmlns:a16="http://schemas.microsoft.com/office/drawing/2014/main" id="{4FB12657-16DA-459C-85E9-EC5035DE26FF}"/>
              </a:ext>
            </a:extLst>
          </p:cNvPr>
          <p:cNvSpPr>
            <a:spLocks xmlns:a="http://schemas.openxmlformats.org/drawingml/2006/main" noGrp="1"/>
          </p:cNvSpPr>
          <p:nvPr/>
        </p:nvSpPr>
        <p:spPr>
          <a:xfrm xmlns:a="http://schemas.openxmlformats.org/drawingml/2006/main">
            <a:off x="914400" y="160020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E76F51"/>
                </a:solidFill>
              </a:defRPr>
            </a:pPr>
            <a:r>
              <a:rPr sz="1725" b="1" i="0">
                <a:solidFill>
                  <a:srgbClr val="E76F51"/>
                </a:solidFill>
              </a:rPr>
              <a:t>Ordinary geometric base anchor = z₂ = 2</a:t>
            </a:r>
          </a:p>
        </p:txBody>
      </p:sp>
      <p:sp>
        <p:nvSpPr>
          <p:cNvPr id="9" name="">
            <a:extLst xmlns:a="http://schemas.openxmlformats.org/drawingml/2006/main">
              <a:ext uri="{FF2B5EF4-FFF2-40B4-BE49-F238E27FC236}">
                <a16:creationId xmlns:a16="http://schemas.microsoft.com/office/drawing/2014/main" id="{DC07B830-45D9-4785-ACB0-73178A92228B}"/>
              </a:ext>
            </a:extLst>
          </p:cNvPr>
          <p:cNvSpPr>
            <a:spLocks xmlns:a="http://schemas.openxmlformats.org/drawingml/2006/main" noGrp="1"/>
          </p:cNvSpPr>
          <p:nvPr/>
        </p:nvSpPr>
        <p:spPr>
          <a:xfrm xmlns:a="http://schemas.openxmlformats.org/drawingml/2006/main">
            <a:off x="1009650" y="219075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new point 0</a:t>
            </a:r>
          </a:p>
        </p:txBody>
      </p:sp>
      <p:sp>
        <p:nvSpPr>
          <p:cNvPr id="10" name="">
            <a:extLst xmlns:a="http://schemas.openxmlformats.org/drawingml/2006/main">
              <a:ext uri="{FF2B5EF4-FFF2-40B4-BE49-F238E27FC236}">
                <a16:creationId xmlns:a16="http://schemas.microsoft.com/office/drawing/2014/main" id="{D6183F62-C257-499B-BA0B-A2343780626B}"/>
              </a:ext>
            </a:extLst>
          </p:cNvPr>
          <p:cNvSpPr>
            <a:spLocks xmlns:a="http://schemas.openxmlformats.org/drawingml/2006/main" noGrp="1"/>
          </p:cNvSpPr>
          <p:nvPr/>
        </p:nvSpPr>
        <p:spPr>
          <a:xfrm xmlns:a="http://schemas.openxmlformats.org/drawingml/2006/main">
            <a:off x="236220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1" name="">
            <a:extLst xmlns:a="http://schemas.openxmlformats.org/drawingml/2006/main">
              <a:ext uri="{FF2B5EF4-FFF2-40B4-BE49-F238E27FC236}">
                <a16:creationId xmlns:a16="http://schemas.microsoft.com/office/drawing/2014/main" id="{795296A3-AD91-47D9-8FD7-3575506D5D44}"/>
              </a:ext>
            </a:extLst>
          </p:cNvPr>
          <p:cNvSpPr>
            <a:spLocks xmlns:a="http://schemas.openxmlformats.org/drawingml/2006/main" noGrp="1"/>
          </p:cNvSpPr>
          <p:nvPr/>
        </p:nvSpPr>
        <p:spPr>
          <a:xfrm xmlns:a="http://schemas.openxmlformats.org/drawingml/2006/main">
            <a:off x="2971800" y="219075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insert before 2</a:t>
            </a:r>
          </a:p>
        </p:txBody>
      </p:sp>
      <p:sp>
        <p:nvSpPr>
          <p:cNvPr id="12" name="">
            <a:extLst xmlns:a="http://schemas.openxmlformats.org/drawingml/2006/main">
              <a:ext uri="{FF2B5EF4-FFF2-40B4-BE49-F238E27FC236}">
                <a16:creationId xmlns:a16="http://schemas.microsoft.com/office/drawing/2014/main" id="{4CE48695-C98D-4386-A7A2-AE89C487AF8B}"/>
              </a:ext>
            </a:extLst>
          </p:cNvPr>
          <p:cNvSpPr>
            <a:spLocks xmlns:a="http://schemas.openxmlformats.org/drawingml/2006/main" noGrp="1"/>
          </p:cNvSpPr>
          <p:nvPr/>
        </p:nvSpPr>
        <p:spPr>
          <a:xfrm xmlns:a="http://schemas.openxmlformats.org/drawingml/2006/main">
            <a:off x="4591050" y="215265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a:t>
            </a:r>
          </a:p>
        </p:txBody>
      </p:sp>
      <p:sp>
        <p:nvSpPr>
          <p:cNvPr id="13" name="">
            <a:extLst xmlns:a="http://schemas.openxmlformats.org/drawingml/2006/main">
              <a:ext uri="{FF2B5EF4-FFF2-40B4-BE49-F238E27FC236}">
                <a16:creationId xmlns:a16="http://schemas.microsoft.com/office/drawing/2014/main" id="{D6DD01FE-F50A-4FA8-BABC-F29F5F29CF8C}"/>
              </a:ext>
            </a:extLst>
          </p:cNvPr>
          <p:cNvSpPr>
            <a:spLocks xmlns:a="http://schemas.openxmlformats.org/drawingml/2006/main" noGrp="1"/>
          </p:cNvSpPr>
          <p:nvPr/>
        </p:nvSpPr>
        <p:spPr>
          <a:xfrm xmlns:a="http://schemas.openxmlformats.org/drawingml/2006/main">
            <a:off x="5219700" y="219075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1, 0, 2, 3, 4, 6, 7</a:t>
            </a:r>
          </a:p>
        </p:txBody>
      </p:sp>
      <p:sp>
        <p:nvSpPr>
          <p:cNvPr id="14" name="">
            <a:extLst xmlns:a="http://schemas.openxmlformats.org/drawingml/2006/main">
              <a:ext uri="{FF2B5EF4-FFF2-40B4-BE49-F238E27FC236}">
                <a16:creationId xmlns:a16="http://schemas.microsoft.com/office/drawing/2014/main" id="{A42FC381-2369-420E-B012-0E6EE1763431}"/>
              </a:ext>
            </a:extLst>
          </p:cNvPr>
          <p:cNvSpPr>
            <a:spLocks xmlns:a="http://schemas.openxmlformats.org/drawingml/2006/main" noGrp="1"/>
          </p:cNvSpPr>
          <p:nvPr/>
        </p:nvSpPr>
        <p:spPr>
          <a:xfrm xmlns:a="http://schemas.openxmlformats.org/drawingml/2006/main">
            <a:off x="1104900" y="276225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z₁ = 1 remains on the wrong side of the new point.</a:t>
            </a:r>
          </a:p>
        </p:txBody>
      </p:sp>
      <p:sp>
        <p:nvSpPr>
          <p:cNvPr id="15" name="">
            <a:extLst xmlns:a="http://schemas.openxmlformats.org/drawingml/2006/main">
              <a:ext uri="{FF2B5EF4-FFF2-40B4-BE49-F238E27FC236}">
                <a16:creationId xmlns:a16="http://schemas.microsoft.com/office/drawing/2014/main" id="{8243A0F3-4515-4E5D-A8B4-04E90B55DFFD}"/>
              </a:ext>
            </a:extLst>
          </p:cNvPr>
          <p:cNvSpPr>
            <a:spLocks xmlns:a="http://schemas.openxmlformats.org/drawingml/2006/main" noGrp="1"/>
          </p:cNvSpPr>
          <p:nvPr/>
        </p:nvSpPr>
        <p:spPr>
          <a:xfrm xmlns:a="http://schemas.openxmlformats.org/drawingml/2006/main">
            <a:off x="685800" y="3543300"/>
            <a:ext cx="7239000" cy="1866900"/>
          </a:xfrm>
          <a:prstGeom xmlns:a="http://schemas.openxmlformats.org/drawingml/2006/main" prst="roundRect">
            <a:avLst>
              <a:gd name="adj" fmla="val 4082"/>
            </a:avLst>
          </a:prstGeom>
          <a:solidFill xmlns:a="http://schemas.openxmlformats.org/drawingml/2006/main">
            <a:srgbClr val="E8F5F3"/>
          </a:solidFill>
          <a:ln xmlns:a="http://schemas.openxmlformats.org/drawingml/2006/main" w="19050">
            <a:solidFill>
              <a:srgbClr val="2A9D8F"/>
            </a:solidFill>
            <a:prstDash val="solid"/>
          </a:ln>
        </p:spPr>
      </p:sp>
      <p:sp>
        <p:nvSpPr>
          <p:cNvPr id="16" name="">
            <a:extLst xmlns:a="http://schemas.openxmlformats.org/drawingml/2006/main">
              <a:ext uri="{FF2B5EF4-FFF2-40B4-BE49-F238E27FC236}">
                <a16:creationId xmlns:a16="http://schemas.microsoft.com/office/drawing/2014/main" id="{41C3A71F-16C6-4C3F-A356-F866B425D444}"/>
              </a:ext>
            </a:extLst>
          </p:cNvPr>
          <p:cNvSpPr>
            <a:spLocks xmlns:a="http://schemas.openxmlformats.org/drawingml/2006/main" noGrp="1"/>
          </p:cNvSpPr>
          <p:nvPr/>
        </p:nvSpPr>
        <p:spPr>
          <a:xfrm xmlns:a="http://schemas.openxmlformats.org/drawingml/2006/main">
            <a:off x="914400" y="3714750"/>
            <a:ext cx="678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Corrected output anchor = z₁ = 1</a:t>
            </a:r>
          </a:p>
        </p:txBody>
      </p:sp>
      <p:sp>
        <p:nvSpPr>
          <p:cNvPr id="17" name="">
            <a:extLst xmlns:a="http://schemas.openxmlformats.org/drawingml/2006/main">
              <a:ext uri="{FF2B5EF4-FFF2-40B4-BE49-F238E27FC236}">
                <a16:creationId xmlns:a16="http://schemas.microsoft.com/office/drawing/2014/main" id="{30580AE7-B354-420F-B49D-14555BC9582B}"/>
              </a:ext>
            </a:extLst>
          </p:cNvPr>
          <p:cNvSpPr>
            <a:spLocks xmlns:a="http://schemas.openxmlformats.org/drawingml/2006/main" noGrp="1"/>
          </p:cNvSpPr>
          <p:nvPr/>
        </p:nvSpPr>
        <p:spPr>
          <a:xfrm xmlns:a="http://schemas.openxmlformats.org/drawingml/2006/main">
            <a:off x="1009650" y="4305300"/>
            <a:ext cx="13525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new point 0</a:t>
            </a:r>
          </a:p>
        </p:txBody>
      </p:sp>
      <p:sp>
        <p:nvSpPr>
          <p:cNvPr id="18" name="">
            <a:extLst xmlns:a="http://schemas.openxmlformats.org/drawingml/2006/main">
              <a:ext uri="{FF2B5EF4-FFF2-40B4-BE49-F238E27FC236}">
                <a16:creationId xmlns:a16="http://schemas.microsoft.com/office/drawing/2014/main" id="{554CD6DE-D37C-4C03-8624-F350D80AC809}"/>
              </a:ext>
            </a:extLst>
          </p:cNvPr>
          <p:cNvSpPr>
            <a:spLocks xmlns:a="http://schemas.openxmlformats.org/drawingml/2006/main" noGrp="1"/>
          </p:cNvSpPr>
          <p:nvPr/>
        </p:nvSpPr>
        <p:spPr>
          <a:xfrm xmlns:a="http://schemas.openxmlformats.org/drawingml/2006/main">
            <a:off x="236220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19" name="">
            <a:extLst xmlns:a="http://schemas.openxmlformats.org/drawingml/2006/main">
              <a:ext uri="{FF2B5EF4-FFF2-40B4-BE49-F238E27FC236}">
                <a16:creationId xmlns:a16="http://schemas.microsoft.com/office/drawing/2014/main" id="{FDAD2B8F-6BCD-4AA2-9F2F-D71332B7CA94}"/>
              </a:ext>
            </a:extLst>
          </p:cNvPr>
          <p:cNvSpPr>
            <a:spLocks xmlns:a="http://schemas.openxmlformats.org/drawingml/2006/main" noGrp="1"/>
          </p:cNvSpPr>
          <p:nvPr/>
        </p:nvSpPr>
        <p:spPr>
          <a:xfrm xmlns:a="http://schemas.openxmlformats.org/drawingml/2006/main">
            <a:off x="2971800" y="4305300"/>
            <a:ext cx="161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2A9D8F"/>
                </a:solidFill>
              </a:defRPr>
            </a:pPr>
            <a:r>
              <a:rPr sz="1500" b="1" i="0">
                <a:solidFill>
                  <a:srgbClr val="2A9D8F"/>
                </a:solidFill>
              </a:rPr>
              <a:t>insert before z₁</a:t>
            </a:r>
          </a:p>
        </p:txBody>
      </p:sp>
      <p:sp>
        <p:nvSpPr>
          <p:cNvPr id="20" name="">
            <a:extLst xmlns:a="http://schemas.openxmlformats.org/drawingml/2006/main">
              <a:ext uri="{FF2B5EF4-FFF2-40B4-BE49-F238E27FC236}">
                <a16:creationId xmlns:a16="http://schemas.microsoft.com/office/drawing/2014/main" id="{23C6E3B1-2FFC-4881-9C4B-88DC7FFA5599}"/>
              </a:ext>
            </a:extLst>
          </p:cNvPr>
          <p:cNvSpPr>
            <a:spLocks xmlns:a="http://schemas.openxmlformats.org/drawingml/2006/main" noGrp="1"/>
          </p:cNvSpPr>
          <p:nvPr/>
        </p:nvSpPr>
        <p:spPr>
          <a:xfrm xmlns:a="http://schemas.openxmlformats.org/drawingml/2006/main">
            <a:off x="4591050" y="4267200"/>
            <a:ext cx="59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372"/>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a:t>
            </a:r>
          </a:p>
        </p:txBody>
      </p:sp>
      <p:sp>
        <p:nvSpPr>
          <p:cNvPr id="21" name="">
            <a:extLst xmlns:a="http://schemas.openxmlformats.org/drawingml/2006/main">
              <a:ext uri="{FF2B5EF4-FFF2-40B4-BE49-F238E27FC236}">
                <a16:creationId xmlns:a16="http://schemas.microsoft.com/office/drawing/2014/main" id="{B33E9C2B-E781-46D5-BD7B-18D5C2823FF2}"/>
              </a:ext>
            </a:extLst>
          </p:cNvPr>
          <p:cNvSpPr>
            <a:spLocks xmlns:a="http://schemas.openxmlformats.org/drawingml/2006/main" noGrp="1"/>
          </p:cNvSpPr>
          <p:nvPr/>
        </p:nvSpPr>
        <p:spPr>
          <a:xfrm xmlns:a="http://schemas.openxmlformats.org/drawingml/2006/main">
            <a:off x="5219700" y="4305300"/>
            <a:ext cx="2343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43B53"/>
                </a:solidFill>
              </a:defRPr>
            </a:pPr>
            <a:r>
              <a:rPr sz="1575" b="1" i="0">
                <a:solidFill>
                  <a:srgbClr val="243B53"/>
                </a:solidFill>
              </a:rPr>
              <a:t>0, 1, 2, 3, 4, 6, 7</a:t>
            </a:r>
          </a:p>
        </p:txBody>
      </p:sp>
      <p:sp>
        <p:nvSpPr>
          <p:cNvPr id="22" name="">
            <a:extLst xmlns:a="http://schemas.openxmlformats.org/drawingml/2006/main">
              <a:ext uri="{FF2B5EF4-FFF2-40B4-BE49-F238E27FC236}">
                <a16:creationId xmlns:a16="http://schemas.microsoft.com/office/drawing/2014/main" id="{858C3A68-77A4-4B19-99A4-899E0C9FFF2E}"/>
              </a:ext>
            </a:extLst>
          </p:cNvPr>
          <p:cNvSpPr>
            <a:spLocks xmlns:a="http://schemas.openxmlformats.org/drawingml/2006/main" noGrp="1"/>
          </p:cNvSpPr>
          <p:nvPr/>
        </p:nvSpPr>
        <p:spPr>
          <a:xfrm xmlns:a="http://schemas.openxmlformats.org/drawingml/2006/main">
            <a:off x="1104900" y="4876800"/>
            <a:ext cx="638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The maintained partial order now matches the geometric axis order.</a:t>
            </a:r>
          </a:p>
        </p:txBody>
      </p:sp>
      <p:sp>
        <p:nvSpPr>
          <p:cNvPr id="23" name="">
            <a:extLst xmlns:a="http://schemas.openxmlformats.org/drawingml/2006/main">
              <a:ext uri="{FF2B5EF4-FFF2-40B4-BE49-F238E27FC236}">
                <a16:creationId xmlns:a16="http://schemas.microsoft.com/office/drawing/2014/main" id="{6192BCFF-9554-4B2E-997A-BC9CAFF1B1A1}"/>
              </a:ext>
            </a:extLst>
          </p:cNvPr>
          <p:cNvSpPr>
            <a:spLocks xmlns:a="http://schemas.openxmlformats.org/drawingml/2006/main" noGrp="1"/>
          </p:cNvSpPr>
          <p:nvPr/>
        </p:nvSpPr>
        <p:spPr>
          <a:xfrm xmlns:a="http://schemas.openxmlformats.org/drawingml/2006/main">
            <a:off x="8286750" y="1524000"/>
            <a:ext cx="3143250" cy="1562100"/>
          </a:xfrm>
          <a:prstGeom xmlns:a="http://schemas.openxmlformats.org/drawingml/2006/main" prst="roundRect">
            <a:avLst>
              <a:gd name="adj" fmla="val 4878"/>
            </a:avLst>
          </a:prstGeom>
          <a:solidFill xmlns:a="http://schemas.openxmlformats.org/drawingml/2006/main">
            <a:srgbClr val="FFFFFF"/>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2B012FAB-A1ED-4F84-AA62-775052E16200}"/>
              </a:ext>
            </a:extLst>
          </p:cNvPr>
          <p:cNvSpPr>
            <a:spLocks xmlns:a="http://schemas.openxmlformats.org/drawingml/2006/main" noGrp="1"/>
          </p:cNvSpPr>
          <p:nvPr/>
        </p:nvSpPr>
        <p:spPr>
          <a:xfrm xmlns:a="http://schemas.openxmlformats.org/drawingml/2006/main">
            <a:off x="8496300" y="1695450"/>
            <a:ext cx="2724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200" b="1" i="0">
                <a:solidFill>
                  <a:srgbClr val="7B8794"/>
                </a:solidFill>
              </a:defRPr>
            </a:pPr>
            <a:r>
              <a:rPr sz="1200" b="1" i="0">
                <a:solidFill>
                  <a:srgbClr val="7B8794"/>
                </a:solidFill>
              </a:rPr>
              <a:t>Valid prefix</a:t>
            </a:r>
          </a:p>
        </p:txBody>
      </p:sp>
      <p:sp>
        <p:nvSpPr>
          <p:cNvPr id="25" name="">
            <a:extLst xmlns:a="http://schemas.openxmlformats.org/drawingml/2006/main">
              <a:ext uri="{FF2B5EF4-FFF2-40B4-BE49-F238E27FC236}">
                <a16:creationId xmlns:a16="http://schemas.microsoft.com/office/drawing/2014/main" id="{18797353-99E7-4CAA-8AD3-46FACAC0D60E}"/>
              </a:ext>
            </a:extLst>
          </p:cNvPr>
          <p:cNvSpPr>
            <a:spLocks xmlns:a="http://schemas.openxmlformats.org/drawingml/2006/main" noGrp="1"/>
          </p:cNvSpPr>
          <p:nvPr/>
        </p:nvSpPr>
        <p:spPr>
          <a:xfrm xmlns:a="http://schemas.openxmlformats.org/drawingml/2006/main">
            <a:off x="8496300" y="2000250"/>
            <a:ext cx="27241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(1, 2, 3, 4, 6, 7, 0)</a:t>
            </a:r>
          </a:p>
        </p:txBody>
      </p:sp>
      <p:sp>
        <p:nvSpPr>
          <p:cNvPr id="26" name="">
            <a:extLst xmlns:a="http://schemas.openxmlformats.org/drawingml/2006/main">
              <a:ext uri="{FF2B5EF4-FFF2-40B4-BE49-F238E27FC236}">
                <a16:creationId xmlns:a16="http://schemas.microsoft.com/office/drawing/2014/main" id="{783CD77E-CFF2-4B9D-8BF0-EA5A885B40EB}"/>
              </a:ext>
            </a:extLst>
          </p:cNvPr>
          <p:cNvSpPr>
            <a:spLocks xmlns:a="http://schemas.openxmlformats.org/drawingml/2006/main" noGrp="1"/>
          </p:cNvSpPr>
          <p:nvPr/>
        </p:nvSpPr>
        <p:spPr>
          <a:xfrm xmlns:a="http://schemas.openxmlformats.org/drawingml/2006/main">
            <a:off x="8496300" y="2552700"/>
            <a:ext cx="2724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9941"/>
          </a:bodyPr>
          <a:lstStyle xmlns:a="http://schemas.openxmlformats.org/drawingml/2006/main"/>
          <a:p xmlns:a="http://schemas.openxmlformats.org/drawingml/2006/main">
            <a:pPr algn="ctr">
              <a:lnSpc>
                <a:spcPct val="105000"/>
              </a:lnSpc>
              <a:buNone/>
              <a:defRPr sz="2025" b="1" i="0">
                <a:solidFill>
                  <a:srgbClr val="E76F51"/>
                </a:solidFill>
              </a:defRPr>
            </a:pPr>
            <a:r>
              <a:rPr sz="2025" b="1" i="0">
                <a:solidFill>
                  <a:srgbClr val="E76F51"/>
                </a:solidFill>
              </a:rPr>
              <a:t>0 &lt; z₁ &lt; 2</a:t>
            </a:r>
          </a:p>
        </p:txBody>
      </p:sp>
      <p:sp>
        <p:nvSpPr>
          <p:cNvPr id="27" name="">
            <a:extLst xmlns:a="http://schemas.openxmlformats.org/drawingml/2006/main">
              <a:ext uri="{FF2B5EF4-FFF2-40B4-BE49-F238E27FC236}">
                <a16:creationId xmlns:a16="http://schemas.microsoft.com/office/drawing/2014/main" id="{FFC32EA3-4E21-405D-B37F-E3F04841BEE3}"/>
              </a:ext>
            </a:extLst>
          </p:cNvPr>
          <p:cNvSpPr>
            <a:spLocks xmlns:a="http://schemas.openxmlformats.org/drawingml/2006/main" noGrp="1"/>
          </p:cNvSpPr>
          <p:nvPr/>
        </p:nvSpPr>
        <p:spPr>
          <a:xfrm xmlns:a="http://schemas.openxmlformats.org/drawingml/2006/main">
            <a:off x="8286750" y="3543300"/>
            <a:ext cx="3143250" cy="1657350"/>
          </a:xfrm>
          <a:prstGeom xmlns:a="http://schemas.openxmlformats.org/drawingml/2006/main" prst="roundRect">
            <a:avLst>
              <a:gd name="adj" fmla="val 4598"/>
            </a:avLst>
          </a:prstGeom>
          <a:solidFill xmlns:a="http://schemas.openxmlformats.org/drawingml/2006/main">
            <a:srgbClr val="FFFFFF"/>
          </a:solidFill>
          <a:ln xmlns:a="http://schemas.openxmlformats.org/drawingml/2006/main" w="14288">
            <a:solidFill>
              <a:srgbClr val="2A9D8F"/>
            </a:solidFill>
            <a:prstDash val="solid"/>
          </a:ln>
        </p:spPr>
      </p:sp>
      <p:sp>
        <p:nvSpPr>
          <p:cNvPr id="28" name="">
            <a:extLst xmlns:a="http://schemas.openxmlformats.org/drawingml/2006/main">
              <a:ext uri="{FF2B5EF4-FFF2-40B4-BE49-F238E27FC236}">
                <a16:creationId xmlns:a16="http://schemas.microsoft.com/office/drawing/2014/main" id="{6E43DF9D-2F19-4ECA-B280-FA70C2ED555A}"/>
              </a:ext>
            </a:extLst>
          </p:cNvPr>
          <p:cNvSpPr>
            <a:spLocks xmlns:a="http://schemas.openxmlformats.org/drawingml/2006/main" noGrp="1"/>
          </p:cNvSpPr>
          <p:nvPr/>
        </p:nvSpPr>
        <p:spPr>
          <a:xfrm xmlns:a="http://schemas.openxmlformats.org/drawingml/2006/main">
            <a:off x="8496300" y="3714750"/>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650" b="1" i="0">
                <a:solidFill>
                  <a:srgbClr val="2A9D8F"/>
                </a:solidFill>
              </a:defRPr>
            </a:pPr>
            <a:r>
              <a:rPr sz="1650" b="1" i="0">
                <a:solidFill>
                  <a:srgbClr val="2A9D8F"/>
                </a:solidFill>
              </a:rPr>
              <a:t>Two separate decisions</a:t>
            </a:r>
          </a:p>
        </p:txBody>
      </p:sp>
      <p:sp>
        <p:nvSpPr>
          <p:cNvPr id="29" name="">
            <a:extLst xmlns:a="http://schemas.openxmlformats.org/drawingml/2006/main">
              <a:ext uri="{FF2B5EF4-FFF2-40B4-BE49-F238E27FC236}">
                <a16:creationId xmlns:a16="http://schemas.microsoft.com/office/drawing/2014/main" id="{8D69AA4C-CC7D-42D1-BB3B-1DF237B0218C}"/>
              </a:ext>
            </a:extLst>
          </p:cNvPr>
          <p:cNvSpPr>
            <a:spLocks xmlns:a="http://schemas.openxmlformats.org/drawingml/2006/main" noGrp="1"/>
          </p:cNvSpPr>
          <p:nvPr/>
        </p:nvSpPr>
        <p:spPr>
          <a:xfrm xmlns:a="http://schemas.openxmlformats.org/drawingml/2006/main">
            <a:off x="8572500" y="4114800"/>
            <a:ext cx="257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boundary-pair selection</a:t>
            </a:r>
          </a:p>
          <a:p xmlns:a="http://schemas.openxmlformats.org/drawingml/2006/main">
            <a:pPr algn="ctr">
              <a:lnSpc>
                <a:spcPct val="105000"/>
              </a:lnSpc>
              <a:buNone/>
              <a:defRPr sz="1425" b="0" i="0">
                <a:solidFill>
                  <a:srgbClr val="243B53"/>
                </a:solidFill>
              </a:defRPr>
            </a:pPr>
            <a:r>
              <a:rPr sz="1425" b="0" i="0">
                <a:solidFill>
                  <a:srgbClr val="243B53"/>
                </a:solidFill>
              </a:rPr>
              <a:t>≠</a:t>
            </a:r>
          </a:p>
          <a:p xmlns:a="http://schemas.openxmlformats.org/drawingml/2006/main">
            <a:pPr algn="ctr">
              <a:lnSpc>
                <a:spcPct val="105000"/>
              </a:lnSpc>
              <a:buNone/>
              <a:defRPr sz="1425" b="0" i="0">
                <a:solidFill>
                  <a:srgbClr val="243B53"/>
                </a:solidFill>
              </a:defRPr>
            </a:pPr>
            <a:r>
              <a:rPr sz="1425" b="0" i="0">
                <a:solidFill>
                  <a:srgbClr val="243B53"/>
                </a:solidFill>
              </a:rPr>
              <a:t>output-anchor selection</a:t>
            </a:r>
          </a:p>
        </p:txBody>
      </p:sp>
      <p:sp>
        <p:nvSpPr>
          <p:cNvPr id="30" name="">
            <a:extLst xmlns:a="http://schemas.openxmlformats.org/drawingml/2006/main">
              <a:ext uri="{FF2B5EF4-FFF2-40B4-BE49-F238E27FC236}">
                <a16:creationId xmlns:a16="http://schemas.microsoft.com/office/drawing/2014/main" id="{D60F4464-1112-415E-990E-0202EB64DA79}"/>
              </a:ext>
            </a:extLst>
          </p:cNvPr>
          <p:cNvSpPr>
            <a:spLocks xmlns:a="http://schemas.openxmlformats.org/drawingml/2006/main" noGrp="1"/>
          </p:cNvSpPr>
          <p:nvPr/>
        </p:nvSpPr>
        <p:spPr>
          <a:xfrm xmlns:a="http://schemas.openxmlformats.org/drawingml/2006/main">
            <a:off x="8229600" y="5524500"/>
            <a:ext cx="3257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8631"/>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This correction is separate from predecessor/successor boundary selection.</a:t>
            </a:r>
          </a:p>
        </p:txBody>
      </p:sp>
    </p:spTree>
    <p:extLst>
      <p:ext uri="{BB962C8B-B14F-4D97-AF65-F5344CB8AC3E}">
        <p14:creationId xmlns:p14="http://schemas.microsoft.com/office/powerpoint/2010/main" val="933092093"/>
      </p:ext>
    </p:extLst>
  </p:cSld>
</p:sld>
</file>

<file path=ppt/slides/slide1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FB401E2D-C5E0-4C73-B40D-9E567026E7FE}"/>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MAINTAINED STATE</a:t>
            </a:r>
          </a:p>
        </p:txBody>
      </p:sp>
      <p:sp>
        <p:nvSpPr>
          <p:cNvPr id="2" name="">
            <a:extLst xmlns:a="http://schemas.openxmlformats.org/drawingml/2006/main">
              <a:ext uri="{FF2B5EF4-FFF2-40B4-BE49-F238E27FC236}">
                <a16:creationId xmlns:a16="http://schemas.microsoft.com/office/drawing/2014/main" id="{70B431C0-7F4A-4646-8B4F-B1655611E54E}"/>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Ownership-safe split and transfer</a:t>
            </a:r>
          </a:p>
        </p:txBody>
      </p:sp>
      <p:sp>
        <p:nvSpPr>
          <p:cNvPr id="3" name="">
            <a:extLst xmlns:a="http://schemas.openxmlformats.org/drawingml/2006/main">
              <a:ext uri="{FF2B5EF4-FFF2-40B4-BE49-F238E27FC236}">
                <a16:creationId xmlns:a16="http://schemas.microsoft.com/office/drawing/2014/main" id="{3C9C8D93-5C2F-4DF1-A110-7AF547E9B57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F6353A3E-207D-42DE-9EFA-38FDFA0D3BA8}"/>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6B003E8-D079-4E52-AD72-A6E41DC7F8A9}"/>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DE295B48-550A-4C9D-BAB1-41288E2DA42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10 / 16</a:t>
            </a:r>
          </a:p>
        </p:txBody>
      </p:sp>
      <p:sp>
        <p:nvSpPr>
          <p:cNvPr id="7" name="">
            <a:extLst xmlns:a="http://schemas.openxmlformats.org/drawingml/2006/main">
              <a:ext uri="{FF2B5EF4-FFF2-40B4-BE49-F238E27FC236}">
                <a16:creationId xmlns:a16="http://schemas.microsoft.com/office/drawing/2014/main" id="{49C7CE1C-D66E-44EB-B697-7D68D4C0EF4C}"/>
              </a:ext>
            </a:extLst>
          </p:cNvPr>
          <p:cNvSpPr>
            <a:spLocks xmlns:a="http://schemas.openxmlformats.org/drawingml/2006/main" noGrp="1"/>
          </p:cNvSpPr>
          <p:nvPr/>
        </p:nvSpPr>
        <p:spPr>
          <a:xfrm xmlns:a="http://schemas.openxmlformats.org/drawingml/2006/main">
            <a:off x="647700" y="1428750"/>
            <a:ext cx="6248400" cy="4000500"/>
          </a:xfrm>
          <a:prstGeom xmlns:a="http://schemas.openxmlformats.org/drawingml/2006/main" prst="roundRect">
            <a:avLst>
              <a:gd name="adj" fmla="val 1905"/>
            </a:avLst>
          </a:prstGeom>
          <a:solidFill xmlns:a="http://schemas.openxmlformats.org/drawingml/2006/main">
            <a:srgbClr val="FFFFFF"/>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8221BD8A-8447-44BE-BDDF-80AF3F983466}"/>
              </a:ext>
            </a:extLst>
          </p:cNvPr>
          <p:cNvSpPr>
            <a:spLocks xmlns:a="http://schemas.openxmlformats.org/drawingml/2006/main" noGrp="1"/>
          </p:cNvSpPr>
          <p:nvPr/>
        </p:nvSpPr>
        <p:spPr>
          <a:xfrm xmlns:a="http://schemas.openxmlformats.org/drawingml/2006/main">
            <a:off x="895350" y="1619250"/>
            <a:ext cx="5772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Local split and ownership transfer</a:t>
            </a:r>
          </a:p>
        </p:txBody>
      </p:sp>
      <p:sp>
        <p:nvSpPr>
          <p:cNvPr id="9" name="">
            <a:extLst xmlns:a="http://schemas.openxmlformats.org/drawingml/2006/main">
              <a:ext uri="{FF2B5EF4-FFF2-40B4-BE49-F238E27FC236}">
                <a16:creationId xmlns:a16="http://schemas.microsoft.com/office/drawing/2014/main" id="{1ACD43D2-60AB-4D82-9BA0-44852F5EC3F8}"/>
              </a:ext>
            </a:extLst>
          </p:cNvPr>
          <p:cNvSpPr>
            <a:spLocks xmlns:a="http://schemas.openxmlformats.org/drawingml/2006/main" noGrp="1"/>
          </p:cNvSpPr>
          <p:nvPr/>
        </p:nvSpPr>
        <p:spPr>
          <a:xfrm xmlns:a="http://schemas.openxmlformats.org/drawingml/2006/main">
            <a:off x="895350" y="21526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Before</a:t>
            </a:r>
          </a:p>
        </p:txBody>
      </p:sp>
      <p:sp>
        <p:nvSpPr>
          <p:cNvPr id="10" name="">
            <a:extLst xmlns:a="http://schemas.openxmlformats.org/drawingml/2006/main">
              <a:ext uri="{FF2B5EF4-FFF2-40B4-BE49-F238E27FC236}">
                <a16:creationId xmlns:a16="http://schemas.microsoft.com/office/drawing/2014/main" id="{65C6159B-AB42-4617-AEBD-78497AF367F6}"/>
              </a:ext>
            </a:extLst>
          </p:cNvPr>
          <p:cNvSpPr>
            <a:spLocks xmlns:a="http://schemas.openxmlformats.org/drawingml/2006/main" noGrp="1"/>
          </p:cNvSpPr>
          <p:nvPr/>
        </p:nvSpPr>
        <p:spPr>
          <a:xfrm xmlns:a="http://schemas.openxmlformats.org/drawingml/2006/main">
            <a:off x="1847850" y="20764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1" name="">
            <a:extLst xmlns:a="http://schemas.openxmlformats.org/drawingml/2006/main">
              <a:ext uri="{FF2B5EF4-FFF2-40B4-BE49-F238E27FC236}">
                <a16:creationId xmlns:a16="http://schemas.microsoft.com/office/drawing/2014/main" id="{ABC47E52-2542-4439-8E61-1A86AA0A930F}"/>
              </a:ext>
            </a:extLst>
          </p:cNvPr>
          <p:cNvSpPr>
            <a:spLocks xmlns:a="http://schemas.openxmlformats.org/drawingml/2006/main" noGrp="1"/>
          </p:cNvSpPr>
          <p:nvPr/>
        </p:nvSpPr>
        <p:spPr>
          <a:xfrm xmlns:a="http://schemas.openxmlformats.org/drawingml/2006/main">
            <a:off x="1943100" y="21526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12" name="">
            <a:extLst xmlns:a="http://schemas.openxmlformats.org/drawingml/2006/main">
              <a:ext uri="{FF2B5EF4-FFF2-40B4-BE49-F238E27FC236}">
                <a16:creationId xmlns:a16="http://schemas.microsoft.com/office/drawing/2014/main" id="{C1BF3505-D9E6-4DCD-954D-C06744EB94F7}"/>
              </a:ext>
            </a:extLst>
          </p:cNvPr>
          <p:cNvSpPr>
            <a:spLocks xmlns:a="http://schemas.openxmlformats.org/drawingml/2006/main" noGrp="1"/>
          </p:cNvSpPr>
          <p:nvPr/>
        </p:nvSpPr>
        <p:spPr>
          <a:xfrm xmlns:a="http://schemas.openxmlformats.org/drawingml/2006/main">
            <a:off x="3505200" y="2152650"/>
            <a:ext cx="66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owns</a:t>
            </a:r>
          </a:p>
        </p:txBody>
      </p:sp>
      <p:sp>
        <p:nvSpPr>
          <p:cNvPr id="13" name="">
            <a:extLst xmlns:a="http://schemas.openxmlformats.org/drawingml/2006/main">
              <a:ext uri="{FF2B5EF4-FFF2-40B4-BE49-F238E27FC236}">
                <a16:creationId xmlns:a16="http://schemas.microsoft.com/office/drawing/2014/main" id="{8C7F0633-17C9-4752-9509-AEDF0ED2216D}"/>
              </a:ext>
            </a:extLst>
          </p:cNvPr>
          <p:cNvSpPr>
            <a:spLocks xmlns:a="http://schemas.openxmlformats.org/drawingml/2006/main" noGrp="1"/>
          </p:cNvSpPr>
          <p:nvPr/>
        </p:nvSpPr>
        <p:spPr>
          <a:xfrm xmlns:a="http://schemas.openxmlformats.org/drawingml/2006/main">
            <a:off x="4248150" y="2019300"/>
            <a:ext cx="2095500" cy="6096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11430">
            <a:solidFill>
              <a:srgbClr val="52606D"/>
            </a:solidFill>
            <a:prstDash val="solid"/>
          </a:ln>
        </p:spPr>
      </p:sp>
      <p:sp>
        <p:nvSpPr>
          <p:cNvPr id="14" name="">
            <a:extLst xmlns:a="http://schemas.openxmlformats.org/drawingml/2006/main">
              <a:ext uri="{FF2B5EF4-FFF2-40B4-BE49-F238E27FC236}">
                <a16:creationId xmlns:a16="http://schemas.microsoft.com/office/drawing/2014/main" id="{C2B0C6AC-0C23-48E4-B054-EADCBBDC65DA}"/>
              </a:ext>
            </a:extLst>
          </p:cNvPr>
          <p:cNvSpPr>
            <a:spLocks xmlns:a="http://schemas.openxmlformats.org/drawingml/2006/main" noGrp="1"/>
          </p:cNvSpPr>
          <p:nvPr/>
        </p:nvSpPr>
        <p:spPr>
          <a:xfrm xmlns:a="http://schemas.openxmlformats.org/drawingml/2006/main">
            <a:off x="4362450" y="2114550"/>
            <a:ext cx="186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retained  |  acquired</a:t>
            </a:r>
          </a:p>
        </p:txBody>
      </p:sp>
      <p:sp>
        <p:nvSpPr>
          <p:cNvPr id="15" name="">
            <a:extLst xmlns:a="http://schemas.openxmlformats.org/drawingml/2006/main">
              <a:ext uri="{FF2B5EF4-FFF2-40B4-BE49-F238E27FC236}">
                <a16:creationId xmlns:a16="http://schemas.microsoft.com/office/drawing/2014/main" id="{A0C73410-7B0C-40AB-89EA-F1E5D5A315CA}"/>
              </a:ext>
            </a:extLst>
          </p:cNvPr>
          <p:cNvSpPr>
            <a:spLocks xmlns:a="http://schemas.openxmlformats.org/drawingml/2006/main" noGrp="1"/>
          </p:cNvSpPr>
          <p:nvPr/>
        </p:nvSpPr>
        <p:spPr>
          <a:xfrm xmlns:a="http://schemas.openxmlformats.org/drawingml/2006/main">
            <a:off x="2514600" y="2876550"/>
            <a:ext cx="2381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split + transfer</a:t>
            </a:r>
          </a:p>
        </p:txBody>
      </p:sp>
      <p:sp>
        <p:nvSpPr>
          <p:cNvPr id="16" name="">
            <a:extLst xmlns:a="http://schemas.openxmlformats.org/drawingml/2006/main">
              <a:ext uri="{FF2B5EF4-FFF2-40B4-BE49-F238E27FC236}">
                <a16:creationId xmlns:a16="http://schemas.microsoft.com/office/drawing/2014/main" id="{C1F08A1E-CA01-40BC-927C-3A002E2F1DD0}"/>
              </a:ext>
            </a:extLst>
          </p:cNvPr>
          <p:cNvSpPr>
            <a:spLocks xmlns:a="http://schemas.openxmlformats.org/drawingml/2006/main" noGrp="1"/>
          </p:cNvSpPr>
          <p:nvPr/>
        </p:nvSpPr>
        <p:spPr>
          <a:xfrm xmlns:a="http://schemas.openxmlformats.org/drawingml/2006/main">
            <a:off x="3371850" y="3200400"/>
            <a:ext cx="685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371"/>
          </a:bodyPr>
          <a:lstStyle xmlns:a="http://schemas.openxmlformats.org/drawingml/2006/main"/>
          <a:p xmlns:a="http://schemas.openxmlformats.org/drawingml/2006/main">
            <a:pPr algn="ctr">
              <a:lnSpc>
                <a:spcPct val="105000"/>
              </a:lnSpc>
              <a:buNone/>
              <a:defRPr sz="2550" b="1" i="0">
                <a:solidFill>
                  <a:srgbClr val="E76F51"/>
                </a:solidFill>
              </a:defRPr>
            </a:pPr>
            <a:r>
              <a:rPr sz="2550" b="1" i="0">
                <a:solidFill>
                  <a:srgbClr val="E76F51"/>
                </a:solidFill>
              </a:rPr>
              <a:t>↓</a:t>
            </a:r>
          </a:p>
        </p:txBody>
      </p:sp>
      <p:sp>
        <p:nvSpPr>
          <p:cNvPr id="17" name="">
            <a:extLst xmlns:a="http://schemas.openxmlformats.org/drawingml/2006/main">
              <a:ext uri="{FF2B5EF4-FFF2-40B4-BE49-F238E27FC236}">
                <a16:creationId xmlns:a16="http://schemas.microsoft.com/office/drawing/2014/main" id="{4D97030A-4CCD-4AF9-A689-EC6E6EC00EA8}"/>
              </a:ext>
            </a:extLst>
          </p:cNvPr>
          <p:cNvSpPr>
            <a:spLocks xmlns:a="http://schemas.openxmlformats.org/drawingml/2006/main" noGrp="1"/>
          </p:cNvSpPr>
          <p:nvPr/>
        </p:nvSpPr>
        <p:spPr>
          <a:xfrm xmlns:a="http://schemas.openxmlformats.org/drawingml/2006/main">
            <a:off x="895350" y="3714750"/>
            <a:ext cx="876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350" b="1" i="0">
                <a:solidFill>
                  <a:srgbClr val="7B8794"/>
                </a:solidFill>
              </a:defRPr>
            </a:pPr>
            <a:r>
              <a:rPr sz="1350" b="1" i="0">
                <a:solidFill>
                  <a:srgbClr val="7B8794"/>
                </a:solidFill>
              </a:rPr>
              <a:t>After</a:t>
            </a:r>
          </a:p>
        </p:txBody>
      </p:sp>
      <p:sp>
        <p:nvSpPr>
          <p:cNvPr id="18" name="">
            <a:extLst xmlns:a="http://schemas.openxmlformats.org/drawingml/2006/main">
              <a:ext uri="{FF2B5EF4-FFF2-40B4-BE49-F238E27FC236}">
                <a16:creationId xmlns:a16="http://schemas.microsoft.com/office/drawing/2014/main" id="{A379EC3D-2B1C-498F-935D-1DDC241FA223}"/>
              </a:ext>
            </a:extLst>
          </p:cNvPr>
          <p:cNvSpPr>
            <a:spLocks xmlns:a="http://schemas.openxmlformats.org/drawingml/2006/main" noGrp="1"/>
          </p:cNvSpPr>
          <p:nvPr/>
        </p:nvSpPr>
        <p:spPr>
          <a:xfrm xmlns:a="http://schemas.openxmlformats.org/drawingml/2006/main">
            <a:off x="1847850" y="3638550"/>
            <a:ext cx="1562100" cy="495300"/>
          </a:xfrm>
          <a:prstGeom xmlns:a="http://schemas.openxmlformats.org/drawingml/2006/main" prst="roundRect">
            <a:avLst>
              <a:gd name="adj" fmla="val 11538"/>
            </a:avLst>
          </a:prstGeom>
          <a:solidFill xmlns:a="http://schemas.openxmlformats.org/drawingml/2006/main">
            <a:srgbClr val="EAF1F8"/>
          </a:solidFill>
          <a:ln xmlns:a="http://schemas.openxmlformats.org/drawingml/2006/main" w="14288">
            <a:solidFill>
              <a:srgbClr val="102A43"/>
            </a:solidFill>
            <a:prstDash val="solid"/>
          </a:ln>
        </p:spPr>
      </p:sp>
      <p:sp>
        <p:nvSpPr>
          <p:cNvPr id="19" name="">
            <a:extLst xmlns:a="http://schemas.openxmlformats.org/drawingml/2006/main">
              <a:ext uri="{FF2B5EF4-FFF2-40B4-BE49-F238E27FC236}">
                <a16:creationId xmlns:a16="http://schemas.microsoft.com/office/drawing/2014/main" id="{86DFECA7-9B4E-465C-B416-7A6B7C3C270B}"/>
              </a:ext>
            </a:extLst>
          </p:cNvPr>
          <p:cNvSpPr>
            <a:spLocks xmlns:a="http://schemas.openxmlformats.org/drawingml/2006/main" noGrp="1"/>
          </p:cNvSpPr>
          <p:nvPr/>
        </p:nvSpPr>
        <p:spPr>
          <a:xfrm xmlns:a="http://schemas.openxmlformats.org/drawingml/2006/main">
            <a:off x="1943100" y="371475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102A43"/>
                </a:solidFill>
              </a:defRPr>
            </a:pPr>
            <a:r>
              <a:rPr sz="1425" b="1" i="0">
                <a:solidFill>
                  <a:srgbClr val="102A43"/>
                </a:solidFill>
              </a:rPr>
              <a:t>existing owner</a:t>
            </a:r>
          </a:p>
        </p:txBody>
      </p:sp>
      <p:sp>
        <p:nvSpPr>
          <p:cNvPr id="20" name="">
            <a:extLst xmlns:a="http://schemas.openxmlformats.org/drawingml/2006/main">
              <a:ext uri="{FF2B5EF4-FFF2-40B4-BE49-F238E27FC236}">
                <a16:creationId xmlns:a16="http://schemas.microsoft.com/office/drawing/2014/main" id="{106A51DD-DABE-4309-967D-ABF5E2884DD6}"/>
              </a:ext>
            </a:extLst>
          </p:cNvPr>
          <p:cNvSpPr>
            <a:spLocks xmlns:a="http://schemas.openxmlformats.org/drawingml/2006/main" noGrp="1"/>
          </p:cNvSpPr>
          <p:nvPr/>
        </p:nvSpPr>
        <p:spPr>
          <a:xfrm xmlns:a="http://schemas.openxmlformats.org/drawingml/2006/main">
            <a:off x="3476625" y="371475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52606D"/>
                </a:solidFill>
              </a:defRPr>
            </a:pPr>
            <a:r>
              <a:rPr sz="1800" b="1" i="0">
                <a:solidFill>
                  <a:srgbClr val="52606D"/>
                </a:solidFill>
              </a:rPr>
              <a:t>→</a:t>
            </a:r>
          </a:p>
        </p:txBody>
      </p:sp>
      <p:sp>
        <p:nvSpPr>
          <p:cNvPr id="21" name="">
            <a:extLst xmlns:a="http://schemas.openxmlformats.org/drawingml/2006/main">
              <a:ext uri="{FF2B5EF4-FFF2-40B4-BE49-F238E27FC236}">
                <a16:creationId xmlns:a16="http://schemas.microsoft.com/office/drawing/2014/main" id="{68FBB827-7954-4251-815A-AF1B558965A5}"/>
              </a:ext>
            </a:extLst>
          </p:cNvPr>
          <p:cNvSpPr>
            <a:spLocks xmlns:a="http://schemas.openxmlformats.org/drawingml/2006/main" noGrp="1"/>
          </p:cNvSpPr>
          <p:nvPr/>
        </p:nvSpPr>
        <p:spPr>
          <a:xfrm xmlns:a="http://schemas.openxmlformats.org/drawingml/2006/main">
            <a:off x="4038600" y="3638550"/>
            <a:ext cx="1390650" cy="495300"/>
          </a:xfrm>
          <a:prstGeom xmlns:a="http://schemas.openxmlformats.org/drawingml/2006/main" prst="roundRect">
            <a:avLst>
              <a:gd name="adj" fmla="val 11538"/>
            </a:avLst>
          </a:prstGeom>
          <a:solidFill xmlns:a="http://schemas.openxmlformats.org/drawingml/2006/main">
            <a:srgbClr val="FFFFFF"/>
          </a:solidFill>
          <a:ln xmlns:a="http://schemas.openxmlformats.org/drawingml/2006/main" w="11430">
            <a:solidFill>
              <a:srgbClr val="102A43"/>
            </a:solidFill>
            <a:prstDash val="solid"/>
          </a:ln>
        </p:spPr>
      </p:sp>
      <p:sp>
        <p:nvSpPr>
          <p:cNvPr id="22" name="">
            <a:extLst xmlns:a="http://schemas.openxmlformats.org/drawingml/2006/main">
              <a:ext uri="{FF2B5EF4-FFF2-40B4-BE49-F238E27FC236}">
                <a16:creationId xmlns:a16="http://schemas.microsoft.com/office/drawing/2014/main" id="{309F81E1-0A9F-4E2C-B98B-199C97337A20}"/>
              </a:ext>
            </a:extLst>
          </p:cNvPr>
          <p:cNvSpPr>
            <a:spLocks xmlns:a="http://schemas.openxmlformats.org/drawingml/2006/main" noGrp="1"/>
          </p:cNvSpPr>
          <p:nvPr/>
        </p:nvSpPr>
        <p:spPr>
          <a:xfrm xmlns:a="http://schemas.openxmlformats.org/drawingml/2006/main">
            <a:off x="4133850" y="371475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retained</a:t>
            </a:r>
          </a:p>
        </p:txBody>
      </p:sp>
      <p:sp>
        <p:nvSpPr>
          <p:cNvPr id="23" name="">
            <a:extLst xmlns:a="http://schemas.openxmlformats.org/drawingml/2006/main">
              <a:ext uri="{FF2B5EF4-FFF2-40B4-BE49-F238E27FC236}">
                <a16:creationId xmlns:a16="http://schemas.microsoft.com/office/drawing/2014/main" id="{E3B38425-E4AA-491E-9AEE-3D44D379AB71}"/>
              </a:ext>
            </a:extLst>
          </p:cNvPr>
          <p:cNvSpPr>
            <a:spLocks xmlns:a="http://schemas.openxmlformats.org/drawingml/2006/main" noGrp="1"/>
          </p:cNvSpPr>
          <p:nvPr/>
        </p:nvSpPr>
        <p:spPr>
          <a:xfrm xmlns:a="http://schemas.openxmlformats.org/drawingml/2006/main">
            <a:off x="1847850" y="4381500"/>
            <a:ext cx="156210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4288">
            <a:solidFill>
              <a:srgbClr val="2A9D8F"/>
            </a:solidFill>
            <a:prstDash val="solid"/>
          </a:ln>
        </p:spPr>
      </p:sp>
      <p:sp>
        <p:nvSpPr>
          <p:cNvPr id="24" name="">
            <a:extLst xmlns:a="http://schemas.openxmlformats.org/drawingml/2006/main">
              <a:ext uri="{FF2B5EF4-FFF2-40B4-BE49-F238E27FC236}">
                <a16:creationId xmlns:a16="http://schemas.microsoft.com/office/drawing/2014/main" id="{DDFACD43-0D24-44EA-8768-C730F26AC129}"/>
              </a:ext>
            </a:extLst>
          </p:cNvPr>
          <p:cNvSpPr>
            <a:spLocks xmlns:a="http://schemas.openxmlformats.org/drawingml/2006/main" noGrp="1"/>
          </p:cNvSpPr>
          <p:nvPr/>
        </p:nvSpPr>
        <p:spPr>
          <a:xfrm xmlns:a="http://schemas.openxmlformats.org/drawingml/2006/main">
            <a:off x="1943100" y="4457700"/>
            <a:ext cx="1371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new owner</a:t>
            </a:r>
          </a:p>
        </p:txBody>
      </p:sp>
      <p:sp>
        <p:nvSpPr>
          <p:cNvPr id="25" name="">
            <a:extLst xmlns:a="http://schemas.openxmlformats.org/drawingml/2006/main">
              <a:ext uri="{FF2B5EF4-FFF2-40B4-BE49-F238E27FC236}">
                <a16:creationId xmlns:a16="http://schemas.microsoft.com/office/drawing/2014/main" id="{F1D922A2-36BC-4C65-AF5C-4A0A483A90C7}"/>
              </a:ext>
            </a:extLst>
          </p:cNvPr>
          <p:cNvSpPr>
            <a:spLocks xmlns:a="http://schemas.openxmlformats.org/drawingml/2006/main" noGrp="1"/>
          </p:cNvSpPr>
          <p:nvPr/>
        </p:nvSpPr>
        <p:spPr>
          <a:xfrm xmlns:a="http://schemas.openxmlformats.org/drawingml/2006/main">
            <a:off x="3476625" y="4457700"/>
            <a:ext cx="5143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a:t>
            </a:r>
          </a:p>
        </p:txBody>
      </p:sp>
      <p:sp>
        <p:nvSpPr>
          <p:cNvPr id="26" name="">
            <a:extLst xmlns:a="http://schemas.openxmlformats.org/drawingml/2006/main">
              <a:ext uri="{FF2B5EF4-FFF2-40B4-BE49-F238E27FC236}">
                <a16:creationId xmlns:a16="http://schemas.microsoft.com/office/drawing/2014/main" id="{E3472FFF-0617-4984-98E8-5FB647F28D6B}"/>
              </a:ext>
            </a:extLst>
          </p:cNvPr>
          <p:cNvSpPr>
            <a:spLocks xmlns:a="http://schemas.openxmlformats.org/drawingml/2006/main" noGrp="1"/>
          </p:cNvSpPr>
          <p:nvPr/>
        </p:nvSpPr>
        <p:spPr>
          <a:xfrm xmlns:a="http://schemas.openxmlformats.org/drawingml/2006/main">
            <a:off x="4038600" y="4381500"/>
            <a:ext cx="1390650" cy="495300"/>
          </a:xfrm>
          <a:prstGeom xmlns:a="http://schemas.openxmlformats.org/drawingml/2006/main" prst="roundRect">
            <a:avLst>
              <a:gd name="adj" fmla="val 11538"/>
            </a:avLst>
          </a:prstGeom>
          <a:solidFill xmlns:a="http://schemas.openxmlformats.org/drawingml/2006/main">
            <a:srgbClr val="E8F5F3"/>
          </a:solidFill>
          <a:ln xmlns:a="http://schemas.openxmlformats.org/drawingml/2006/main" w="11430">
            <a:solidFill>
              <a:srgbClr val="2A9D8F"/>
            </a:solidFill>
            <a:prstDash val="solid"/>
          </a:ln>
        </p:spPr>
      </p:sp>
      <p:sp>
        <p:nvSpPr>
          <p:cNvPr id="27" name="">
            <a:extLst xmlns:a="http://schemas.openxmlformats.org/drawingml/2006/main">
              <a:ext uri="{FF2B5EF4-FFF2-40B4-BE49-F238E27FC236}">
                <a16:creationId xmlns:a16="http://schemas.microsoft.com/office/drawing/2014/main" id="{6CDE1766-206E-476D-8788-D4BFCF217BF7}"/>
              </a:ext>
            </a:extLst>
          </p:cNvPr>
          <p:cNvSpPr>
            <a:spLocks xmlns:a="http://schemas.openxmlformats.org/drawingml/2006/main" noGrp="1"/>
          </p:cNvSpPr>
          <p:nvPr/>
        </p:nvSpPr>
        <p:spPr>
          <a:xfrm xmlns:a="http://schemas.openxmlformats.org/drawingml/2006/main">
            <a:off x="4133850" y="4457700"/>
            <a:ext cx="1200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acquired</a:t>
            </a:r>
          </a:p>
        </p:txBody>
      </p:sp>
      <p:sp>
        <p:nvSpPr>
          <p:cNvPr id="28" name="">
            <a:extLst xmlns:a="http://schemas.openxmlformats.org/drawingml/2006/main">
              <a:ext uri="{FF2B5EF4-FFF2-40B4-BE49-F238E27FC236}">
                <a16:creationId xmlns:a16="http://schemas.microsoft.com/office/drawing/2014/main" id="{3A7F7763-2F85-462B-BC8E-BB4ADD06136A}"/>
              </a:ext>
            </a:extLst>
          </p:cNvPr>
          <p:cNvSpPr>
            <a:spLocks xmlns:a="http://schemas.openxmlformats.org/drawingml/2006/main" noGrp="1"/>
          </p:cNvSpPr>
          <p:nvPr/>
        </p:nvSpPr>
        <p:spPr>
          <a:xfrm xmlns:a="http://schemas.openxmlformats.org/drawingml/2006/main">
            <a:off x="1047750" y="5010150"/>
            <a:ext cx="5448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Only the acquired nonempty segment changes parent ownership.</a:t>
            </a:r>
          </a:p>
        </p:txBody>
      </p:sp>
      <p:sp>
        <p:nvSpPr>
          <p:cNvPr id="29" name="">
            <a:extLst xmlns:a="http://schemas.openxmlformats.org/drawingml/2006/main">
              <a:ext uri="{FF2B5EF4-FFF2-40B4-BE49-F238E27FC236}">
                <a16:creationId xmlns:a16="http://schemas.microsoft.com/office/drawing/2014/main" id="{7FE88211-7E33-4CE3-894A-8E147185122E}"/>
              </a:ext>
            </a:extLst>
          </p:cNvPr>
          <p:cNvSpPr>
            <a:spLocks xmlns:a="http://schemas.openxmlformats.org/drawingml/2006/main" noGrp="1"/>
          </p:cNvSpPr>
          <p:nvPr/>
        </p:nvSpPr>
        <p:spPr>
          <a:xfrm xmlns:a="http://schemas.openxmlformats.org/drawingml/2006/main">
            <a:off x="7286625" y="14478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Maintained state</a:t>
            </a:r>
          </a:p>
        </p:txBody>
      </p:sp>
      <p:sp>
        <p:nvSpPr>
          <p:cNvPr id="30" name="">
            <a:extLst xmlns:a="http://schemas.openxmlformats.org/drawingml/2006/main">
              <a:ext uri="{FF2B5EF4-FFF2-40B4-BE49-F238E27FC236}">
                <a16:creationId xmlns:a16="http://schemas.microsoft.com/office/drawing/2014/main" id="{2F08D3A0-38C7-45A8-BFF5-0BBD95B107A2}"/>
              </a:ext>
            </a:extLst>
          </p:cNvPr>
          <p:cNvSpPr>
            <a:spLocks xmlns:a="http://schemas.openxmlformats.org/drawingml/2006/main" noGrp="1"/>
          </p:cNvSpPr>
          <p:nvPr/>
        </p:nvSpPr>
        <p:spPr>
          <a:xfrm xmlns:a="http://schemas.openxmlformats.org/drawingml/2006/main">
            <a:off x="7334250" y="202882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1" name="">
            <a:extLst xmlns:a="http://schemas.openxmlformats.org/drawingml/2006/main">
              <a:ext uri="{FF2B5EF4-FFF2-40B4-BE49-F238E27FC236}">
                <a16:creationId xmlns:a16="http://schemas.microsoft.com/office/drawing/2014/main" id="{C681B3CC-A1CD-40F8-94C6-035C2AB57D8C}"/>
              </a:ext>
            </a:extLst>
          </p:cNvPr>
          <p:cNvSpPr>
            <a:spLocks xmlns:a="http://schemas.openxmlformats.org/drawingml/2006/main" noGrp="1"/>
          </p:cNvSpPr>
          <p:nvPr/>
        </p:nvSpPr>
        <p:spPr>
          <a:xfrm xmlns:a="http://schemas.openxmlformats.org/drawingml/2006/main">
            <a:off x="7543800" y="195262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sorted processed prefix</a:t>
            </a:r>
          </a:p>
        </p:txBody>
      </p:sp>
      <p:sp>
        <p:nvSpPr>
          <p:cNvPr id="32" name="">
            <a:extLst xmlns:a="http://schemas.openxmlformats.org/drawingml/2006/main">
              <a:ext uri="{FF2B5EF4-FFF2-40B4-BE49-F238E27FC236}">
                <a16:creationId xmlns:a16="http://schemas.microsoft.com/office/drawing/2014/main" id="{133B55E1-5FC1-46BF-9DBC-1B33B52F0ACA}"/>
              </a:ext>
            </a:extLst>
          </p:cNvPr>
          <p:cNvSpPr>
            <a:spLocks xmlns:a="http://schemas.openxmlformats.org/drawingml/2006/main" noGrp="1"/>
          </p:cNvSpPr>
          <p:nvPr/>
        </p:nvSpPr>
        <p:spPr>
          <a:xfrm xmlns:a="http://schemas.openxmlformats.org/drawingml/2006/main">
            <a:off x="7334250" y="24574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3" name="">
            <a:extLst xmlns:a="http://schemas.openxmlformats.org/drawingml/2006/main">
              <a:ext uri="{FF2B5EF4-FFF2-40B4-BE49-F238E27FC236}">
                <a16:creationId xmlns:a16="http://schemas.microsoft.com/office/drawing/2014/main" id="{9BAF103E-8122-41F9-B9BF-F247AF801CB8}"/>
              </a:ext>
            </a:extLst>
          </p:cNvPr>
          <p:cNvSpPr>
            <a:spLocks xmlns:a="http://schemas.openxmlformats.org/drawingml/2006/main" noGrp="1"/>
          </p:cNvSpPr>
          <p:nvPr/>
        </p:nvSpPr>
        <p:spPr>
          <a:xfrm xmlns:a="http://schemas.openxmlformats.org/drawingml/2006/main">
            <a:off x="7543800" y="238125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upper and lower pair families</a:t>
            </a:r>
          </a:p>
        </p:txBody>
      </p:sp>
      <p:sp>
        <p:nvSpPr>
          <p:cNvPr id="34" name="">
            <a:extLst xmlns:a="http://schemas.openxmlformats.org/drawingml/2006/main">
              <a:ext uri="{FF2B5EF4-FFF2-40B4-BE49-F238E27FC236}">
                <a16:creationId xmlns:a16="http://schemas.microsoft.com/office/drawing/2014/main" id="{DCF80717-3BB5-4962-B009-95E1CA234081}"/>
              </a:ext>
            </a:extLst>
          </p:cNvPr>
          <p:cNvSpPr>
            <a:spLocks xmlns:a="http://schemas.openxmlformats.org/drawingml/2006/main" noGrp="1"/>
          </p:cNvSpPr>
          <p:nvPr/>
        </p:nvSpPr>
        <p:spPr>
          <a:xfrm xmlns:a="http://schemas.openxmlformats.org/drawingml/2006/main">
            <a:off x="7334250" y="2886075"/>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5" name="">
            <a:extLst xmlns:a="http://schemas.openxmlformats.org/drawingml/2006/main">
              <a:ext uri="{FF2B5EF4-FFF2-40B4-BE49-F238E27FC236}">
                <a16:creationId xmlns:a16="http://schemas.microsoft.com/office/drawing/2014/main" id="{09F32759-E185-4E27-AFBD-668F56A7D3D9}"/>
              </a:ext>
            </a:extLst>
          </p:cNvPr>
          <p:cNvSpPr>
            <a:spLocks xmlns:a="http://schemas.openxmlformats.org/drawingml/2006/main" noGrp="1"/>
          </p:cNvSpPr>
          <p:nvPr/>
        </p:nvSpPr>
        <p:spPr>
          <a:xfrm xmlns:a="http://schemas.openxmlformats.org/drawingml/2006/main">
            <a:off x="7543800" y="2809875"/>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parent per finite pair</a:t>
            </a:r>
          </a:p>
        </p:txBody>
      </p:sp>
      <p:sp>
        <p:nvSpPr>
          <p:cNvPr id="36" name="">
            <a:extLst xmlns:a="http://schemas.openxmlformats.org/drawingml/2006/main">
              <a:ext uri="{FF2B5EF4-FFF2-40B4-BE49-F238E27FC236}">
                <a16:creationId xmlns:a16="http://schemas.microsoft.com/office/drawing/2014/main" id="{4968E028-8288-46D5-9A1F-5A8123E743C2}"/>
              </a:ext>
            </a:extLst>
          </p:cNvPr>
          <p:cNvSpPr>
            <a:spLocks xmlns:a="http://schemas.openxmlformats.org/drawingml/2006/main" noGrp="1"/>
          </p:cNvSpPr>
          <p:nvPr/>
        </p:nvSpPr>
        <p:spPr>
          <a:xfrm xmlns:a="http://schemas.openxmlformats.org/drawingml/2006/main">
            <a:off x="7334250" y="331470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37" name="">
            <a:extLst xmlns:a="http://schemas.openxmlformats.org/drawingml/2006/main">
              <a:ext uri="{FF2B5EF4-FFF2-40B4-BE49-F238E27FC236}">
                <a16:creationId xmlns:a16="http://schemas.microsoft.com/office/drawing/2014/main" id="{24BFCC10-F758-4F36-A896-7A717F29763E}"/>
              </a:ext>
            </a:extLst>
          </p:cNvPr>
          <p:cNvSpPr>
            <a:spLocks xmlns:a="http://schemas.openxmlformats.org/drawingml/2006/main" noGrp="1"/>
          </p:cNvSpPr>
          <p:nvPr/>
        </p:nvSpPr>
        <p:spPr>
          <a:xfrm xmlns:a="http://schemas.openxmlformats.org/drawingml/2006/main">
            <a:off x="7543800" y="3238500"/>
            <a:ext cx="36957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425" b="0" i="0">
                <a:solidFill>
                  <a:srgbClr val="243B53"/>
                </a:solidFill>
              </a:defRPr>
            </a:pPr>
            <a:r>
              <a:rPr sz="1425" b="0" i="0">
                <a:solidFill>
                  <a:srgbClr val="243B53"/>
                </a:solidFill>
              </a:rPr>
              <a:t>one sibling-list owner per finite pair</a:t>
            </a:r>
          </a:p>
        </p:txBody>
      </p:sp>
      <p:sp>
        <p:nvSpPr>
          <p:cNvPr id="38" name="">
            <a:extLst xmlns:a="http://schemas.openxmlformats.org/drawingml/2006/main">
              <a:ext uri="{FF2B5EF4-FFF2-40B4-BE49-F238E27FC236}">
                <a16:creationId xmlns:a16="http://schemas.microsoft.com/office/drawing/2014/main" id="{E68ABE82-7AA0-4E02-A58A-AA08AEDAA477}"/>
              </a:ext>
            </a:extLst>
          </p:cNvPr>
          <p:cNvSpPr>
            <a:spLocks xmlns:a="http://schemas.openxmlformats.org/drawingml/2006/main" noGrp="1"/>
          </p:cNvSpPr>
          <p:nvPr/>
        </p:nvSpPr>
        <p:spPr>
          <a:xfrm xmlns:a="http://schemas.openxmlformats.org/drawingml/2006/main">
            <a:off x="7286625" y="3886200"/>
            <a:ext cx="3714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Transactional update</a:t>
            </a:r>
          </a:p>
        </p:txBody>
      </p:sp>
      <p:sp>
        <p:nvSpPr>
          <p:cNvPr id="39" name="">
            <a:extLst xmlns:a="http://schemas.openxmlformats.org/drawingml/2006/main">
              <a:ext uri="{FF2B5EF4-FFF2-40B4-BE49-F238E27FC236}">
                <a16:creationId xmlns:a16="http://schemas.microsoft.com/office/drawing/2014/main" id="{360303FE-8473-450A-84CE-306340A21F39}"/>
              </a:ext>
            </a:extLst>
          </p:cNvPr>
          <p:cNvSpPr>
            <a:spLocks xmlns:a="http://schemas.openxmlformats.org/drawingml/2006/main" noGrp="1"/>
          </p:cNvSpPr>
          <p:nvPr/>
        </p:nvSpPr>
        <p:spPr>
          <a:xfrm xmlns:a="http://schemas.openxmlformats.org/drawingml/2006/main">
            <a:off x="7334250" y="4324350"/>
            <a:ext cx="3905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save state  →  split  →  transfer  →</a:t>
            </a:r>
          </a:p>
          <a:p xmlns:a="http://schemas.openxmlformats.org/drawingml/2006/main">
            <a:pPr algn="ctr">
              <a:lnSpc>
                <a:spcPct val="105000"/>
              </a:lnSpc>
              <a:buNone/>
              <a:defRPr sz="1500" b="0" i="0">
                <a:solidFill>
                  <a:srgbClr val="243B53"/>
                </a:solidFill>
              </a:defRPr>
            </a:pPr>
            <a:r>
              <a:rPr sz="1500" b="0" i="0">
                <a:solidFill>
                  <a:srgbClr val="243B53"/>
                </a:solidFill>
              </a:rPr>
              <a:t>check postconditions  →  roll back on failure</a:t>
            </a:r>
          </a:p>
        </p:txBody>
      </p:sp>
      <p:sp>
        <p:nvSpPr>
          <p:cNvPr id="40" name="">
            <a:extLst xmlns:a="http://schemas.openxmlformats.org/drawingml/2006/main">
              <a:ext uri="{FF2B5EF4-FFF2-40B4-BE49-F238E27FC236}">
                <a16:creationId xmlns:a16="http://schemas.microsoft.com/office/drawing/2014/main" id="{C2E354DC-9A42-4ED3-A124-43505450DDF4}"/>
              </a:ext>
            </a:extLst>
          </p:cNvPr>
          <p:cNvSpPr>
            <a:spLocks xmlns:a="http://schemas.openxmlformats.org/drawingml/2006/main" noGrp="1"/>
          </p:cNvSpPr>
          <p:nvPr/>
        </p:nvSpPr>
        <p:spPr>
          <a:xfrm xmlns:a="http://schemas.openxmlformats.org/drawingml/2006/main">
            <a:off x="1066800" y="5715000"/>
            <a:ext cx="10058400" cy="476250"/>
          </a:xfrm>
          <a:prstGeom xmlns:a="http://schemas.openxmlformats.org/drawingml/2006/main" prst="roundRect">
            <a:avLst>
              <a:gd name="adj" fmla="val 12000"/>
            </a:avLst>
          </a:prstGeom>
          <a:solidFill xmlns:a="http://schemas.openxmlformats.org/drawingml/2006/main">
            <a:srgbClr val="FCEEEA"/>
          </a:solidFill>
          <a:ln xmlns:a="http://schemas.openxmlformats.org/drawingml/2006/main" w="11430">
            <a:solidFill>
              <a:srgbClr val="E76F51"/>
            </a:solidFill>
            <a:prstDash val="solid"/>
          </a:ln>
        </p:spPr>
      </p:sp>
      <p:sp>
        <p:nvSpPr>
          <p:cNvPr id="41" name="">
            <a:extLst xmlns:a="http://schemas.openxmlformats.org/drawingml/2006/main">
              <a:ext uri="{FF2B5EF4-FFF2-40B4-BE49-F238E27FC236}">
                <a16:creationId xmlns:a16="http://schemas.microsoft.com/office/drawing/2014/main" id="{A84D4D58-562A-438F-A9F2-571C116F8A13}"/>
              </a:ext>
            </a:extLst>
          </p:cNvPr>
          <p:cNvSpPr>
            <a:spLocks xmlns:a="http://schemas.openxmlformats.org/drawingml/2006/main" noGrp="1"/>
          </p:cNvSpPr>
          <p:nvPr/>
        </p:nvSpPr>
        <p:spPr>
          <a:xfrm xmlns:a="http://schemas.openxmlformats.org/drawingml/2006/main">
            <a:off x="1219200" y="5762625"/>
            <a:ext cx="9753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p>
        </p:txBody>
      </p:sp>
    </p:spTree>
    <p:extLst>
      <p:ext uri="{BB962C8B-B14F-4D97-AF65-F5344CB8AC3E}">
        <p14:creationId xmlns:p14="http://schemas.microsoft.com/office/powerpoint/2010/main" val="1686660708"/>
      </p:ext>
    </p:extLst>
  </p:cSld>
</p:sld>
</file>

<file path=ppt/slides/slide1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3F094BB-CE19-4AD3-B87F-14D6E851B38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VALIDATION</a:t>
            </a:r>
          </a:p>
        </p:txBody>
      </p:sp>
      <p:sp>
        <p:nvSpPr>
          <p:cNvPr id="2" name="">
            <a:extLst xmlns:a="http://schemas.openxmlformats.org/drawingml/2006/main">
              <a:ext uri="{FF2B5EF4-FFF2-40B4-BE49-F238E27FC236}">
                <a16:creationId xmlns:a16="http://schemas.microsoft.com/office/drawing/2014/main" id="{19A1ECD9-9E3E-45C6-BA9C-59D26445B51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Implementation checks and experiment consistency</a:t>
            </a:r>
          </a:p>
        </p:txBody>
      </p:sp>
      <p:sp>
        <p:nvSpPr>
          <p:cNvPr id="3" name="">
            <a:extLst xmlns:a="http://schemas.openxmlformats.org/drawingml/2006/main">
              <a:ext uri="{FF2B5EF4-FFF2-40B4-BE49-F238E27FC236}">
                <a16:creationId xmlns:a16="http://schemas.microsoft.com/office/drawing/2014/main" id="{C3082634-D6F3-4026-B5CF-40196227B1A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18289D5D-C882-4408-8106-5919D9B832B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C41C4E17-B88B-45B7-A6B1-796C7C0B9A37}"/>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AFA14789-31E6-4EF8-ACCB-183BE4AFC1E9}"/>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11 / 16</a:t>
            </a:r>
          </a:p>
        </p:txBody>
      </p:sp>
      <p:sp>
        <p:nvSpPr>
          <p:cNvPr id="7" name="">
            <a:extLst xmlns:a="http://schemas.openxmlformats.org/drawingml/2006/main">
              <a:ext uri="{FF2B5EF4-FFF2-40B4-BE49-F238E27FC236}">
                <a16:creationId xmlns:a16="http://schemas.microsoft.com/office/drawing/2014/main" id="{20DE47C2-D6E2-4723-AF19-C24F87BB9DAA}"/>
              </a:ext>
            </a:extLst>
          </p:cNvPr>
          <p:cNvSpPr>
            <a:spLocks xmlns:a="http://schemas.openxmlformats.org/drawingml/2006/main" noGrp="1"/>
          </p:cNvSpPr>
          <p:nvPr/>
        </p:nvSpPr>
        <p:spPr>
          <a:xfrm xmlns:a="http://schemas.openxmlformats.org/drawingml/2006/main">
            <a:off x="8763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2A9D8F"/>
                </a:solidFill>
              </a:defRPr>
            </a:pPr>
            <a:r>
              <a:rPr sz="1125" b="1" i="0">
                <a:solidFill>
                  <a:srgbClr val="2A9D8F"/>
                </a:solidFill>
              </a:rPr>
              <a:t>IMPLEMENTATION AND STATE VALIDATION</a:t>
            </a:r>
          </a:p>
        </p:txBody>
      </p:sp>
      <p:sp>
        <p:nvSpPr>
          <p:cNvPr id="8" name="">
            <a:extLst xmlns:a="http://schemas.openxmlformats.org/drawingml/2006/main">
              <a:ext uri="{FF2B5EF4-FFF2-40B4-BE49-F238E27FC236}">
                <a16:creationId xmlns:a16="http://schemas.microsoft.com/office/drawing/2014/main" id="{C0726BF0-D68C-405B-BC73-20D27CDA56DA}"/>
              </a:ext>
            </a:extLst>
          </p:cNvPr>
          <p:cNvSpPr>
            <a:spLocks xmlns:a="http://schemas.openxmlformats.org/drawingml/2006/main" noGrp="1"/>
          </p:cNvSpPr>
          <p:nvPr/>
        </p:nvSpPr>
        <p:spPr>
          <a:xfrm xmlns:a="http://schemas.openxmlformats.org/drawingml/2006/main">
            <a:off x="6934200" y="1504950"/>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125" b="1" i="0">
                <a:solidFill>
                  <a:srgbClr val="E76F51"/>
                </a:solidFill>
              </a:defRPr>
            </a:pPr>
            <a:r>
              <a:rPr sz="1125" b="1" i="0">
                <a:solidFill>
                  <a:srgbClr val="E76F51"/>
                </a:solidFill>
              </a:rPr>
              <a:t>EXPERIMENT OUTPUT CHECK</a:t>
            </a:r>
          </a:p>
        </p:txBody>
      </p:sp>
      <p:sp>
        <p:nvSpPr>
          <p:cNvPr id="9" name="">
            <a:extLst xmlns:a="http://schemas.openxmlformats.org/drawingml/2006/main">
              <a:ext uri="{FF2B5EF4-FFF2-40B4-BE49-F238E27FC236}">
                <a16:creationId xmlns:a16="http://schemas.microsoft.com/office/drawing/2014/main" id="{822ABF15-0A71-47DE-B5F2-EFCBDF8D7D67}"/>
              </a:ext>
            </a:extLst>
          </p:cNvPr>
          <p:cNvSpPr>
            <a:spLocks xmlns:a="http://schemas.openxmlformats.org/drawingml/2006/main" noGrp="1"/>
          </p:cNvSpPr>
          <p:nvPr/>
        </p:nvSpPr>
        <p:spPr>
          <a:xfrm xmlns:a="http://schemas.openxmlformats.org/drawingml/2006/main">
            <a:off x="838200" y="1924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0" name="">
            <a:extLst xmlns:a="http://schemas.openxmlformats.org/drawingml/2006/main">
              <a:ext uri="{FF2B5EF4-FFF2-40B4-BE49-F238E27FC236}">
                <a16:creationId xmlns:a16="http://schemas.microsoft.com/office/drawing/2014/main" id="{DF2ED6A0-FF25-4F01-8EC5-3A4FEBF9785B}"/>
              </a:ext>
            </a:extLst>
          </p:cNvPr>
          <p:cNvSpPr>
            <a:spLocks xmlns:a="http://schemas.openxmlformats.org/drawingml/2006/main" noGrp="1"/>
          </p:cNvSpPr>
          <p:nvPr/>
        </p:nvSpPr>
        <p:spPr>
          <a:xfrm xmlns:a="http://schemas.openxmlformats.org/drawingml/2006/main">
            <a:off x="990600" y="2000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Focused regression cases</a:t>
            </a:r>
          </a:p>
        </p:txBody>
      </p:sp>
      <p:sp>
        <p:nvSpPr>
          <p:cNvPr id="11" name="">
            <a:extLst xmlns:a="http://schemas.openxmlformats.org/drawingml/2006/main">
              <a:ext uri="{FF2B5EF4-FFF2-40B4-BE49-F238E27FC236}">
                <a16:creationId xmlns:a16="http://schemas.microsoft.com/office/drawing/2014/main" id="{EA5D4B5A-1906-4C08-8399-D881B68EDBCE}"/>
              </a:ext>
            </a:extLst>
          </p:cNvPr>
          <p:cNvSpPr>
            <a:spLocks xmlns:a="http://schemas.openxmlformats.org/drawingml/2006/main" noGrp="1"/>
          </p:cNvSpPr>
          <p:nvPr/>
        </p:nvSpPr>
        <p:spPr>
          <a:xfrm xmlns:a="http://schemas.openxmlformats.org/drawingml/2006/main">
            <a:off x="2724150" y="2505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2" name="">
            <a:extLst xmlns:a="http://schemas.openxmlformats.org/drawingml/2006/main">
              <a:ext uri="{FF2B5EF4-FFF2-40B4-BE49-F238E27FC236}">
                <a16:creationId xmlns:a16="http://schemas.microsoft.com/office/drawing/2014/main" id="{9587A61D-6027-4FA2-BAC4-C6C585F6ED4E}"/>
              </a:ext>
            </a:extLst>
          </p:cNvPr>
          <p:cNvSpPr>
            <a:spLocks xmlns:a="http://schemas.openxmlformats.org/drawingml/2006/main" noGrp="1"/>
          </p:cNvSpPr>
          <p:nvPr/>
        </p:nvSpPr>
        <p:spPr>
          <a:xfrm xmlns:a="http://schemas.openxmlformats.org/drawingml/2006/main">
            <a:off x="838200" y="2800350"/>
            <a:ext cx="4476750" cy="781050"/>
          </a:xfrm>
          <a:prstGeom xmlns:a="http://schemas.openxmlformats.org/drawingml/2006/main" prst="roundRect">
            <a:avLst>
              <a:gd name="adj" fmla="val 8537"/>
            </a:avLst>
          </a:prstGeom>
          <a:solidFill xmlns:a="http://schemas.openxmlformats.org/drawingml/2006/main">
            <a:srgbClr val="E8F5F3"/>
          </a:solidFill>
          <a:ln xmlns:a="http://schemas.openxmlformats.org/drawingml/2006/main" w="11430">
            <a:solidFill>
              <a:srgbClr val="2A9D8F"/>
            </a:solidFill>
            <a:prstDash val="solid"/>
          </a:ln>
        </p:spPr>
      </p:sp>
      <p:sp>
        <p:nvSpPr>
          <p:cNvPr id="13" name="">
            <a:extLst xmlns:a="http://schemas.openxmlformats.org/drawingml/2006/main">
              <a:ext uri="{FF2B5EF4-FFF2-40B4-BE49-F238E27FC236}">
                <a16:creationId xmlns:a16="http://schemas.microsoft.com/office/drawing/2014/main" id="{4D8C6C7E-3621-41BA-9A02-EA3CD417B021}"/>
              </a:ext>
            </a:extLst>
          </p:cNvPr>
          <p:cNvSpPr>
            <a:spLocks xmlns:a="http://schemas.openxmlformats.org/drawingml/2006/main" noGrp="1"/>
          </p:cNvSpPr>
          <p:nvPr/>
        </p:nvSpPr>
        <p:spPr>
          <a:xfrm xmlns:a="http://schemas.openxmlformats.org/drawingml/2006/main">
            <a:off x="990600" y="2876550"/>
            <a:ext cx="41719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43B53"/>
                </a:solidFill>
              </a:defRPr>
            </a:pPr>
            <a:r>
              <a:rPr sz="1350" b="1" i="0">
                <a:solidFill>
                  <a:srgbClr val="243B53"/>
                </a:solidFill>
              </a:rPr>
              <a:t>Bounded exhaustive validation</a:t>
            </a:r>
          </a:p>
          <a:p xmlns:a="http://schemas.openxmlformats.org/drawingml/2006/main">
            <a:pPr algn="ctr">
              <a:lnSpc>
                <a:spcPct val="105000"/>
              </a:lnSpc>
              <a:buNone/>
              <a:defRPr sz="1350" b="1" i="0">
                <a:solidFill>
                  <a:srgbClr val="243B53"/>
                </a:solidFill>
              </a:defRPr>
            </a:pPr>
            <a:r>
              <a:rPr sz="1350" b="1" i="0">
                <a:solidFill>
                  <a:srgbClr val="243B53"/>
                </a:solidFill>
              </a:rPr>
              <a:t>2,074 oracle-valid permutations, n ≤ 8</a:t>
            </a:r>
          </a:p>
        </p:txBody>
      </p:sp>
      <p:sp>
        <p:nvSpPr>
          <p:cNvPr id="14" name="">
            <a:extLst xmlns:a="http://schemas.openxmlformats.org/drawingml/2006/main">
              <a:ext uri="{FF2B5EF4-FFF2-40B4-BE49-F238E27FC236}">
                <a16:creationId xmlns:a16="http://schemas.microsoft.com/office/drawing/2014/main" id="{627A32BA-B682-41BE-8C06-824005C7F8DF}"/>
              </a:ext>
            </a:extLst>
          </p:cNvPr>
          <p:cNvSpPr>
            <a:spLocks xmlns:a="http://schemas.openxmlformats.org/drawingml/2006/main" noGrp="1"/>
          </p:cNvSpPr>
          <p:nvPr/>
        </p:nvSpPr>
        <p:spPr>
          <a:xfrm xmlns:a="http://schemas.openxmlformats.org/drawingml/2006/main">
            <a:off x="2724150" y="355282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5" name="">
            <a:extLst xmlns:a="http://schemas.openxmlformats.org/drawingml/2006/main">
              <a:ext uri="{FF2B5EF4-FFF2-40B4-BE49-F238E27FC236}">
                <a16:creationId xmlns:a16="http://schemas.microsoft.com/office/drawing/2014/main" id="{7AFF28C6-23D1-4FD0-B74F-807AF90D237C}"/>
              </a:ext>
            </a:extLst>
          </p:cNvPr>
          <p:cNvSpPr>
            <a:spLocks xmlns:a="http://schemas.openxmlformats.org/drawingml/2006/main" noGrp="1"/>
          </p:cNvSpPr>
          <p:nvPr/>
        </p:nvSpPr>
        <p:spPr>
          <a:xfrm xmlns:a="http://schemas.openxmlformats.org/drawingml/2006/main">
            <a:off x="838200" y="38290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6" name="">
            <a:extLst xmlns:a="http://schemas.openxmlformats.org/drawingml/2006/main">
              <a:ext uri="{FF2B5EF4-FFF2-40B4-BE49-F238E27FC236}">
                <a16:creationId xmlns:a16="http://schemas.microsoft.com/office/drawing/2014/main" id="{3CCC33E9-DA35-4132-8EB6-2F31A9DB7BCF}"/>
              </a:ext>
            </a:extLst>
          </p:cNvPr>
          <p:cNvSpPr>
            <a:spLocks xmlns:a="http://schemas.openxmlformats.org/drawingml/2006/main" noGrp="1"/>
          </p:cNvSpPr>
          <p:nvPr/>
        </p:nvSpPr>
        <p:spPr>
          <a:xfrm xmlns:a="http://schemas.openxmlformats.org/drawingml/2006/main">
            <a:off x="990600" y="39052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Checked-state audits</a:t>
            </a:r>
          </a:p>
        </p:txBody>
      </p:sp>
      <p:sp>
        <p:nvSpPr>
          <p:cNvPr id="17" name="">
            <a:extLst xmlns:a="http://schemas.openxmlformats.org/drawingml/2006/main">
              <a:ext uri="{FF2B5EF4-FFF2-40B4-BE49-F238E27FC236}">
                <a16:creationId xmlns:a16="http://schemas.microsoft.com/office/drawing/2014/main" id="{2304C8FF-45F3-4961-8893-7BA78956EFD5}"/>
              </a:ext>
            </a:extLst>
          </p:cNvPr>
          <p:cNvSpPr>
            <a:spLocks xmlns:a="http://schemas.openxmlformats.org/drawingml/2006/main" noGrp="1"/>
          </p:cNvSpPr>
          <p:nvPr/>
        </p:nvSpPr>
        <p:spPr>
          <a:xfrm xmlns:a="http://schemas.openxmlformats.org/drawingml/2006/main">
            <a:off x="2724150" y="4410075"/>
            <a:ext cx="685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7326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a:t>
            </a:r>
          </a:p>
        </p:txBody>
      </p:sp>
      <p:sp>
        <p:nvSpPr>
          <p:cNvPr id="18" name="">
            <a:extLst xmlns:a="http://schemas.openxmlformats.org/drawingml/2006/main">
              <a:ext uri="{FF2B5EF4-FFF2-40B4-BE49-F238E27FC236}">
                <a16:creationId xmlns:a16="http://schemas.microsoft.com/office/drawing/2014/main" id="{242FA285-BF04-4229-A280-67430829F650}"/>
              </a:ext>
            </a:extLst>
          </p:cNvPr>
          <p:cNvSpPr>
            <a:spLocks xmlns:a="http://schemas.openxmlformats.org/drawingml/2006/main" noGrp="1"/>
          </p:cNvSpPr>
          <p:nvPr/>
        </p:nvSpPr>
        <p:spPr>
          <a:xfrm xmlns:a="http://schemas.openxmlformats.org/drawingml/2006/main">
            <a:off x="838200" y="4705350"/>
            <a:ext cx="4476750" cy="609600"/>
          </a:xfrm>
          <a:prstGeom xmlns:a="http://schemas.openxmlformats.org/drawingml/2006/main" prst="roundRect">
            <a:avLst>
              <a:gd name="adj" fmla="val 10938"/>
            </a:avLst>
          </a:prstGeom>
          <a:solidFill xmlns:a="http://schemas.openxmlformats.org/drawingml/2006/main">
            <a:srgbClr val="E8F5F3"/>
          </a:solidFill>
          <a:ln xmlns:a="http://schemas.openxmlformats.org/drawingml/2006/main" w="11430">
            <a:solidFill>
              <a:srgbClr val="2A9D8F"/>
            </a:solidFill>
            <a:prstDash val="solid"/>
          </a:ln>
        </p:spPr>
      </p:sp>
      <p:sp>
        <p:nvSpPr>
          <p:cNvPr id="19" name="">
            <a:extLst xmlns:a="http://schemas.openxmlformats.org/drawingml/2006/main">
              <a:ext uri="{FF2B5EF4-FFF2-40B4-BE49-F238E27FC236}">
                <a16:creationId xmlns:a16="http://schemas.microsoft.com/office/drawing/2014/main" id="{C85EF987-1FC2-4B46-B451-C84F2FE0DCCF}"/>
              </a:ext>
            </a:extLst>
          </p:cNvPr>
          <p:cNvSpPr>
            <a:spLocks xmlns:a="http://schemas.openxmlformats.org/drawingml/2006/main" noGrp="1"/>
          </p:cNvSpPr>
          <p:nvPr/>
        </p:nvSpPr>
        <p:spPr>
          <a:xfrm xmlns:a="http://schemas.openxmlformats.org/drawingml/2006/main">
            <a:off x="990600" y="4781550"/>
            <a:ext cx="4171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0" i="0">
                <a:solidFill>
                  <a:srgbClr val="243B53"/>
                </a:solidFill>
              </a:defRPr>
            </a:pPr>
            <a:r>
              <a:rPr sz="1500" b="0" i="0">
                <a:solidFill>
                  <a:srgbClr val="243B53"/>
                </a:solidFill>
              </a:rPr>
              <a:t>Same-core deterministic replay</a:t>
            </a:r>
          </a:p>
        </p:txBody>
      </p:sp>
      <p:sp>
        <p:nvSpPr>
          <p:cNvPr id="20" name="">
            <a:extLst xmlns:a="http://schemas.openxmlformats.org/drawingml/2006/main">
              <a:ext uri="{FF2B5EF4-FFF2-40B4-BE49-F238E27FC236}">
                <a16:creationId xmlns:a16="http://schemas.microsoft.com/office/drawing/2014/main" id="{61B3455F-E932-48ED-AF0B-5EF8B53A5601}"/>
              </a:ext>
            </a:extLst>
          </p:cNvPr>
          <p:cNvSpPr>
            <a:spLocks xmlns:a="http://schemas.openxmlformats.org/drawingml/2006/main" noGrp="1"/>
          </p:cNvSpPr>
          <p:nvPr/>
        </p:nvSpPr>
        <p:spPr>
          <a:xfrm xmlns:a="http://schemas.openxmlformats.org/drawingml/2006/main">
            <a:off x="6877050" y="2209800"/>
            <a:ext cx="4476750" cy="2381250"/>
          </a:xfrm>
          <a:prstGeom xmlns:a="http://schemas.openxmlformats.org/drawingml/2006/main" prst="roundRect">
            <a:avLst>
              <a:gd name="adj" fmla="val 3200"/>
            </a:avLst>
          </a:prstGeom>
          <a:solidFill xmlns:a="http://schemas.openxmlformats.org/drawingml/2006/main">
            <a:srgbClr val="FCEEEA"/>
          </a:solidFill>
          <a:ln xmlns:a="http://schemas.openxmlformats.org/drawingml/2006/main" w="14288">
            <a:solidFill>
              <a:srgbClr val="E76F51"/>
            </a:solidFill>
            <a:prstDash val="solid"/>
          </a:ln>
        </p:spPr>
      </p:sp>
      <p:sp>
        <p:nvSpPr>
          <p:cNvPr id="21" name="">
            <a:extLst xmlns:a="http://schemas.openxmlformats.org/drawingml/2006/main">
              <a:ext uri="{FF2B5EF4-FFF2-40B4-BE49-F238E27FC236}">
                <a16:creationId xmlns:a16="http://schemas.microsoft.com/office/drawing/2014/main" id="{FB0356B3-8256-4C8E-B6EA-E965A5544ABF}"/>
              </a:ext>
            </a:extLst>
          </p:cNvPr>
          <p:cNvSpPr>
            <a:spLocks xmlns:a="http://schemas.openxmlformats.org/drawingml/2006/main" noGrp="1"/>
          </p:cNvSpPr>
          <p:nvPr/>
        </p:nvSpPr>
        <p:spPr>
          <a:xfrm xmlns:a="http://schemas.openxmlformats.org/drawingml/2006/main">
            <a:off x="7219950" y="2686050"/>
            <a:ext cx="37909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243B53"/>
                </a:solidFill>
              </a:defRPr>
            </a:pPr>
            <a:r>
              <a:rPr sz="1725" b="1" i="0">
                <a:solidFill>
                  <a:srgbClr val="243B53"/>
                </a:solidFill>
              </a:rPr>
              <a:t>A separate validation path checked that the saved outputs match the fixed experiment setup and recomputed summaries.</a:t>
            </a:r>
          </a:p>
        </p:txBody>
      </p:sp>
      <p:sp>
        <p:nvSpPr>
          <p:cNvPr id="22" name="">
            <a:extLst xmlns:a="http://schemas.openxmlformats.org/drawingml/2006/main">
              <a:ext uri="{FF2B5EF4-FFF2-40B4-BE49-F238E27FC236}">
                <a16:creationId xmlns:a16="http://schemas.microsoft.com/office/drawing/2014/main" id="{429CE395-EA45-4B5E-B91F-6BE479A987D8}"/>
              </a:ext>
            </a:extLst>
          </p:cNvPr>
          <p:cNvSpPr>
            <a:spLocks xmlns:a="http://schemas.openxmlformats.org/drawingml/2006/main" noGrp="1"/>
          </p:cNvSpPr>
          <p:nvPr/>
        </p:nvSpPr>
        <p:spPr>
          <a:xfrm xmlns:a="http://schemas.openxmlformats.org/drawingml/2006/main">
            <a:off x="7239000" y="4819650"/>
            <a:ext cx="3752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Full consistency checks: Backup C</a:t>
            </a:r>
          </a:p>
        </p:txBody>
      </p:sp>
      <p:sp>
        <p:nvSpPr>
          <p:cNvPr id="23" name="">
            <a:extLst xmlns:a="http://schemas.openxmlformats.org/drawingml/2006/main">
              <a:ext uri="{FF2B5EF4-FFF2-40B4-BE49-F238E27FC236}">
                <a16:creationId xmlns:a16="http://schemas.microsoft.com/office/drawing/2014/main" id="{C29301BE-C6CD-4270-AEB1-C259A03F7CF2}"/>
              </a:ext>
            </a:extLst>
          </p:cNvPr>
          <p:cNvSpPr>
            <a:spLocks xmlns:a="http://schemas.openxmlformats.org/drawingml/2006/main" noGrp="1"/>
          </p:cNvSpPr>
          <p:nvPr/>
        </p:nvSpPr>
        <p:spPr>
          <a:xfrm xmlns:a="http://schemas.openxmlformats.org/drawingml/2006/main">
            <a:off x="1333500" y="5810250"/>
            <a:ext cx="952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6917"/>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These checks support the evaluated cases. They do not prove correctness for every Jordan sequence.</a:t>
            </a:r>
          </a:p>
        </p:txBody>
      </p:sp>
    </p:spTree>
    <p:extLst>
      <p:ext uri="{BB962C8B-B14F-4D97-AF65-F5344CB8AC3E}">
        <p14:creationId xmlns:p14="http://schemas.microsoft.com/office/powerpoint/2010/main" val="511779226"/>
      </p:ext>
    </p:extLst>
  </p:cSld>
</p:sld>
</file>

<file path=ppt/slides/slide12.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2132C4AF-4920-4492-B41A-2D62156D71C9}"/>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EXPERIMENTAL METHOD</a:t>
            </a:r>
          </a:p>
        </p:txBody>
      </p:sp>
      <p:sp>
        <p:nvSpPr>
          <p:cNvPr id="2" name="">
            <a:extLst xmlns:a="http://schemas.openxmlformats.org/drawingml/2006/main">
              <a:ext uri="{FF2B5EF4-FFF2-40B4-BE49-F238E27FC236}">
                <a16:creationId xmlns:a16="http://schemas.microsoft.com/office/drawing/2014/main" id="{3124DBDF-FB83-4478-8F36-9E57029AE5F9}"/>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1421"/>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formal experiment keeps certification and audit outside paper timing</a:t>
            </a:r>
          </a:p>
        </p:txBody>
      </p:sp>
      <p:sp>
        <p:nvSpPr>
          <p:cNvPr id="3" name="">
            <a:extLst xmlns:a="http://schemas.openxmlformats.org/drawingml/2006/main">
              <a:ext uri="{FF2B5EF4-FFF2-40B4-BE49-F238E27FC236}">
                <a16:creationId xmlns:a16="http://schemas.microsoft.com/office/drawing/2014/main" id="{19E68C4D-7D2E-46D6-8769-EE6F78671F3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6DD76055-1638-4ED2-986E-2FC3E7A7BDD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5D2745E-1A26-49E0-AF8D-E8A8670D3374}"/>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6B54EC2-3794-446D-A313-E9117737BC6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12 / 16</a:t>
            </a:r>
          </a:p>
        </p:txBody>
      </p:sp>
      <p:sp>
        <p:nvSpPr>
          <p:cNvPr id="7" name="">
            <a:extLst xmlns:a="http://schemas.openxmlformats.org/drawingml/2006/main">
              <a:ext uri="{FF2B5EF4-FFF2-40B4-BE49-F238E27FC236}">
                <a16:creationId xmlns:a16="http://schemas.microsoft.com/office/drawing/2014/main" id="{3FF72416-7A54-453B-A455-1BE4939CA2B0}"/>
              </a:ext>
            </a:extLst>
          </p:cNvPr>
          <p:cNvSpPr>
            <a:spLocks xmlns:a="http://schemas.openxmlformats.org/drawingml/2006/main" noGrp="1"/>
          </p:cNvSpPr>
          <p:nvPr/>
        </p:nvSpPr>
        <p:spPr>
          <a:xfrm xmlns:a="http://schemas.openxmlformats.org/drawingml/2006/main">
            <a:off x="723900" y="1409700"/>
            <a:ext cx="10744200" cy="781050"/>
          </a:xfrm>
          <a:prstGeom xmlns:a="http://schemas.openxmlformats.org/drawingml/2006/main" prst="roundRect">
            <a:avLst>
              <a:gd name="adj" fmla="val 9756"/>
            </a:avLst>
          </a:prstGeom>
          <a:solidFill xmlns:a="http://schemas.openxmlformats.org/drawingml/2006/main">
            <a:srgbClr val="102A43"/>
          </a:solidFill>
          <a:ln xmlns:a="http://schemas.openxmlformats.org/drawingml/2006/main" w="11430">
            <a:solidFill>
              <a:srgbClr val="102A43"/>
            </a:solidFill>
            <a:prstDash val="solid"/>
          </a:ln>
        </p:spPr>
      </p:sp>
      <p:sp>
        <p:nvSpPr>
          <p:cNvPr id="8" name="">
            <a:extLst xmlns:a="http://schemas.openxmlformats.org/drawingml/2006/main">
              <a:ext uri="{FF2B5EF4-FFF2-40B4-BE49-F238E27FC236}">
                <a16:creationId xmlns:a16="http://schemas.microsoft.com/office/drawing/2014/main" id="{B0706F22-55DC-4BFC-9E76-BC8627A91C70}"/>
              </a:ext>
            </a:extLst>
          </p:cNvPr>
          <p:cNvSpPr>
            <a:spLocks xmlns:a="http://schemas.openxmlformats.org/drawingml/2006/main" noGrp="1"/>
          </p:cNvSpPr>
          <p:nvPr/>
        </p:nvSpPr>
        <p:spPr>
          <a:xfrm xmlns:a="http://schemas.openxmlformats.org/drawingml/2006/main">
            <a:off x="933450" y="1504950"/>
            <a:ext cx="69342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defRPr>
            </a:pPr>
            <a:r>
              <a:rPr sz="1725" b="1" i="0">
                <a:solidFill>
                  <a:srgbClr val="FFFFFF"/>
                </a:solidFill>
              </a:rPr>
              <a:t>5 sizes  ×  12 cases  ×  3 algorithms  ×  20 calls</a:t>
            </a:r>
          </a:p>
        </p:txBody>
      </p:sp>
      <p:sp>
        <p:nvSpPr>
          <p:cNvPr id="9" name="">
            <a:extLst xmlns:a="http://schemas.openxmlformats.org/drawingml/2006/main">
              <a:ext uri="{FF2B5EF4-FFF2-40B4-BE49-F238E27FC236}">
                <a16:creationId xmlns:a16="http://schemas.microsoft.com/office/drawing/2014/main" id="{E4EBC13E-170E-4481-9DA0-4ABF7EA20C36}"/>
              </a:ext>
            </a:extLst>
          </p:cNvPr>
          <p:cNvSpPr>
            <a:spLocks xmlns:a="http://schemas.openxmlformats.org/drawingml/2006/main" noGrp="1"/>
          </p:cNvSpPr>
          <p:nvPr/>
        </p:nvSpPr>
        <p:spPr>
          <a:xfrm xmlns:a="http://schemas.openxmlformats.org/drawingml/2006/main">
            <a:off x="8096250" y="1504950"/>
            <a:ext cx="3105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3,600 measured rows</a:t>
            </a:r>
          </a:p>
        </p:txBody>
      </p:sp>
      <p:sp>
        <p:nvSpPr>
          <p:cNvPr id="10" name="">
            <a:extLst xmlns:a="http://schemas.openxmlformats.org/drawingml/2006/main">
              <a:ext uri="{FF2B5EF4-FFF2-40B4-BE49-F238E27FC236}">
                <a16:creationId xmlns:a16="http://schemas.microsoft.com/office/drawing/2014/main" id="{67B9993F-C446-43BE-984E-3FEFEE6506D3}"/>
              </a:ext>
            </a:extLst>
          </p:cNvPr>
          <p:cNvSpPr>
            <a:spLocks xmlns:a="http://schemas.openxmlformats.org/drawingml/2006/main" noGrp="1"/>
          </p:cNvSpPr>
          <p:nvPr/>
        </p:nvSpPr>
        <p:spPr>
          <a:xfrm xmlns:a="http://schemas.openxmlformats.org/drawingml/2006/main">
            <a:off x="7048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1" name="">
            <a:extLst xmlns:a="http://schemas.openxmlformats.org/drawingml/2006/main">
              <a:ext uri="{FF2B5EF4-FFF2-40B4-BE49-F238E27FC236}">
                <a16:creationId xmlns:a16="http://schemas.microsoft.com/office/drawing/2014/main" id="{42DCB787-35AB-43E3-8D74-F849F9E9156B}"/>
              </a:ext>
            </a:extLst>
          </p:cNvPr>
          <p:cNvSpPr>
            <a:spLocks xmlns:a="http://schemas.openxmlformats.org/drawingml/2006/main" noGrp="1"/>
          </p:cNvSpPr>
          <p:nvPr/>
        </p:nvSpPr>
        <p:spPr>
          <a:xfrm xmlns:a="http://schemas.openxmlformats.org/drawingml/2006/main">
            <a:off x="7810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Generate</a:t>
            </a:r>
          </a:p>
        </p:txBody>
      </p:sp>
      <p:sp>
        <p:nvSpPr>
          <p:cNvPr id="12" name="">
            <a:extLst xmlns:a="http://schemas.openxmlformats.org/drawingml/2006/main">
              <a:ext uri="{FF2B5EF4-FFF2-40B4-BE49-F238E27FC236}">
                <a16:creationId xmlns:a16="http://schemas.microsoft.com/office/drawing/2014/main" id="{828CE6B7-BCA0-4567-881B-201ECF7137B9}"/>
              </a:ext>
            </a:extLst>
          </p:cNvPr>
          <p:cNvSpPr>
            <a:spLocks xmlns:a="http://schemas.openxmlformats.org/drawingml/2006/main" noGrp="1"/>
          </p:cNvSpPr>
          <p:nvPr/>
        </p:nvSpPr>
        <p:spPr>
          <a:xfrm xmlns:a="http://schemas.openxmlformats.org/drawingml/2006/main">
            <a:off x="22669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3" name="">
            <a:extLst xmlns:a="http://schemas.openxmlformats.org/drawingml/2006/main">
              <a:ext uri="{FF2B5EF4-FFF2-40B4-BE49-F238E27FC236}">
                <a16:creationId xmlns:a16="http://schemas.microsoft.com/office/drawing/2014/main" id="{A308DFFD-5CFE-4102-8540-E466DE5F48CE}"/>
              </a:ext>
            </a:extLst>
          </p:cNvPr>
          <p:cNvSpPr>
            <a:spLocks xmlns:a="http://schemas.openxmlformats.org/drawingml/2006/main" noGrp="1"/>
          </p:cNvSpPr>
          <p:nvPr/>
        </p:nvSpPr>
        <p:spPr>
          <a:xfrm xmlns:a="http://schemas.openxmlformats.org/drawingml/2006/main">
            <a:off x="23431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Certify</a:t>
            </a:r>
          </a:p>
        </p:txBody>
      </p:sp>
      <p:sp>
        <p:nvSpPr>
          <p:cNvPr id="14" name="">
            <a:extLst xmlns:a="http://schemas.openxmlformats.org/drawingml/2006/main">
              <a:ext uri="{FF2B5EF4-FFF2-40B4-BE49-F238E27FC236}">
                <a16:creationId xmlns:a16="http://schemas.microsoft.com/office/drawing/2014/main" id="{6DDE7832-4362-43D0-A593-CC8EEC2F29B4}"/>
              </a:ext>
            </a:extLst>
          </p:cNvPr>
          <p:cNvSpPr>
            <a:spLocks xmlns:a="http://schemas.openxmlformats.org/drawingml/2006/main" noGrp="1"/>
          </p:cNvSpPr>
          <p:nvPr/>
        </p:nvSpPr>
        <p:spPr>
          <a:xfrm xmlns:a="http://schemas.openxmlformats.org/drawingml/2006/main">
            <a:off x="38290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5" name="">
            <a:extLst xmlns:a="http://schemas.openxmlformats.org/drawingml/2006/main">
              <a:ext uri="{FF2B5EF4-FFF2-40B4-BE49-F238E27FC236}">
                <a16:creationId xmlns:a16="http://schemas.microsoft.com/office/drawing/2014/main" id="{D3FE9FC8-5403-4A74-A352-EAB1FA22C309}"/>
              </a:ext>
            </a:extLst>
          </p:cNvPr>
          <p:cNvSpPr>
            <a:spLocks xmlns:a="http://schemas.openxmlformats.org/drawingml/2006/main" noGrp="1"/>
          </p:cNvSpPr>
          <p:nvPr/>
        </p:nvSpPr>
        <p:spPr>
          <a:xfrm xmlns:a="http://schemas.openxmlformats.org/drawingml/2006/main">
            <a:off x="39052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125" b="1" i="0">
                <a:solidFill>
                  <a:srgbClr val="102A43"/>
                </a:solidFill>
              </a:defRPr>
            </a:pPr>
            <a:r>
              <a:rPr sz="1125" b="1" i="0">
                <a:solidFill>
                  <a:srgbClr val="102A43"/>
                </a:solidFill>
              </a:rPr>
              <a:t>Checked-state</a:t>
            </a:r>
          </a:p>
          <a:p xmlns:a="http://schemas.openxmlformats.org/drawingml/2006/main">
            <a:pPr algn="ctr">
              <a:lnSpc>
                <a:spcPct val="105000"/>
              </a:lnSpc>
              <a:buNone/>
              <a:defRPr sz="1125" b="1" i="0">
                <a:solidFill>
                  <a:srgbClr val="102A43"/>
                </a:solidFill>
              </a:defRPr>
            </a:pPr>
            <a:r>
              <a:rPr sz="1125" b="1" i="0">
                <a:solidFill>
                  <a:srgbClr val="102A43"/>
                </a:solidFill>
              </a:rPr>
              <a:t>audit</a:t>
            </a:r>
          </a:p>
        </p:txBody>
      </p:sp>
      <p:sp>
        <p:nvSpPr>
          <p:cNvPr id="16" name="">
            <a:extLst xmlns:a="http://schemas.openxmlformats.org/drawingml/2006/main">
              <a:ext uri="{FF2B5EF4-FFF2-40B4-BE49-F238E27FC236}">
                <a16:creationId xmlns:a16="http://schemas.microsoft.com/office/drawing/2014/main" id="{A4F4883B-5F3E-4C21-8DAB-A31F5605A6B5}"/>
              </a:ext>
            </a:extLst>
          </p:cNvPr>
          <p:cNvSpPr>
            <a:spLocks xmlns:a="http://schemas.openxmlformats.org/drawingml/2006/main" noGrp="1"/>
          </p:cNvSpPr>
          <p:nvPr/>
        </p:nvSpPr>
        <p:spPr>
          <a:xfrm xmlns:a="http://schemas.openxmlformats.org/drawingml/2006/main">
            <a:off x="53911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17" name="">
            <a:extLst xmlns:a="http://schemas.openxmlformats.org/drawingml/2006/main">
              <a:ext uri="{FF2B5EF4-FFF2-40B4-BE49-F238E27FC236}">
                <a16:creationId xmlns:a16="http://schemas.microsoft.com/office/drawing/2014/main" id="{825CD1BD-32D7-433D-8E3C-F6D781AF0E76}"/>
              </a:ext>
            </a:extLst>
          </p:cNvPr>
          <p:cNvSpPr>
            <a:spLocks xmlns:a="http://schemas.openxmlformats.org/drawingml/2006/main" noGrp="1"/>
          </p:cNvSpPr>
          <p:nvPr/>
        </p:nvSpPr>
        <p:spPr>
          <a:xfrm xmlns:a="http://schemas.openxmlformats.org/drawingml/2006/main">
            <a:off x="54673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Warm-up</a:t>
            </a:r>
          </a:p>
        </p:txBody>
      </p:sp>
      <p:sp>
        <p:nvSpPr>
          <p:cNvPr id="18" name="">
            <a:extLst xmlns:a="http://schemas.openxmlformats.org/drawingml/2006/main">
              <a:ext uri="{FF2B5EF4-FFF2-40B4-BE49-F238E27FC236}">
                <a16:creationId xmlns:a16="http://schemas.microsoft.com/office/drawing/2014/main" id="{FAEDC86E-5C9E-44D6-9A6A-177CFF79C045}"/>
              </a:ext>
            </a:extLst>
          </p:cNvPr>
          <p:cNvSpPr>
            <a:spLocks xmlns:a="http://schemas.openxmlformats.org/drawingml/2006/main" noGrp="1"/>
          </p:cNvSpPr>
          <p:nvPr/>
        </p:nvSpPr>
        <p:spPr>
          <a:xfrm xmlns:a="http://schemas.openxmlformats.org/drawingml/2006/main">
            <a:off x="6953250" y="2647950"/>
            <a:ext cx="1295400" cy="781050"/>
          </a:xfrm>
          <a:prstGeom xmlns:a="http://schemas.openxmlformats.org/drawingml/2006/main" prst="roundRect">
            <a:avLst>
              <a:gd name="adj" fmla="val 8537"/>
            </a:avLst>
          </a:prstGeom>
          <a:solidFill xmlns:a="http://schemas.openxmlformats.org/drawingml/2006/main">
            <a:srgbClr val="FCEEEA"/>
          </a:solidFill>
          <a:ln xmlns:a="http://schemas.openxmlformats.org/drawingml/2006/main" w="19050">
            <a:solidFill>
              <a:srgbClr val="E76F51"/>
            </a:solidFill>
            <a:prstDash val="solid"/>
          </a:ln>
        </p:spPr>
      </p:sp>
      <p:sp>
        <p:nvSpPr>
          <p:cNvPr id="19" name="">
            <a:extLst xmlns:a="http://schemas.openxmlformats.org/drawingml/2006/main">
              <a:ext uri="{FF2B5EF4-FFF2-40B4-BE49-F238E27FC236}">
                <a16:creationId xmlns:a16="http://schemas.microsoft.com/office/drawing/2014/main" id="{AAF7E717-4DBA-40E9-A5F0-14B289AD46C6}"/>
              </a:ext>
            </a:extLst>
          </p:cNvPr>
          <p:cNvSpPr>
            <a:spLocks xmlns:a="http://schemas.openxmlformats.org/drawingml/2006/main" noGrp="1"/>
          </p:cNvSpPr>
          <p:nvPr/>
        </p:nvSpPr>
        <p:spPr>
          <a:xfrm xmlns:a="http://schemas.openxmlformats.org/drawingml/2006/main">
            <a:off x="70294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Measure</a:t>
            </a:r>
          </a:p>
        </p:txBody>
      </p:sp>
      <p:sp>
        <p:nvSpPr>
          <p:cNvPr id="20" name="">
            <a:extLst xmlns:a="http://schemas.openxmlformats.org/drawingml/2006/main">
              <a:ext uri="{FF2B5EF4-FFF2-40B4-BE49-F238E27FC236}">
                <a16:creationId xmlns:a16="http://schemas.microsoft.com/office/drawing/2014/main" id="{ADABDF03-47B7-4BA4-9B79-83F0AAE6783C}"/>
              </a:ext>
            </a:extLst>
          </p:cNvPr>
          <p:cNvSpPr>
            <a:spLocks xmlns:a="http://schemas.openxmlformats.org/drawingml/2006/main" noGrp="1"/>
          </p:cNvSpPr>
          <p:nvPr/>
        </p:nvSpPr>
        <p:spPr>
          <a:xfrm xmlns:a="http://schemas.openxmlformats.org/drawingml/2006/main">
            <a:off x="85153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1" name="">
            <a:extLst xmlns:a="http://schemas.openxmlformats.org/drawingml/2006/main">
              <a:ext uri="{FF2B5EF4-FFF2-40B4-BE49-F238E27FC236}">
                <a16:creationId xmlns:a16="http://schemas.microsoft.com/office/drawing/2014/main" id="{1092CEB5-E7AE-472F-8918-13456F8891A0}"/>
              </a:ext>
            </a:extLst>
          </p:cNvPr>
          <p:cNvSpPr>
            <a:spLocks xmlns:a="http://schemas.openxmlformats.org/drawingml/2006/main" noGrp="1"/>
          </p:cNvSpPr>
          <p:nvPr/>
        </p:nvSpPr>
        <p:spPr>
          <a:xfrm xmlns:a="http://schemas.openxmlformats.org/drawingml/2006/main">
            <a:off x="85915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Aggregate</a:t>
            </a:r>
          </a:p>
        </p:txBody>
      </p:sp>
      <p:sp>
        <p:nvSpPr>
          <p:cNvPr id="22" name="">
            <a:extLst xmlns:a="http://schemas.openxmlformats.org/drawingml/2006/main">
              <a:ext uri="{FF2B5EF4-FFF2-40B4-BE49-F238E27FC236}">
                <a16:creationId xmlns:a16="http://schemas.microsoft.com/office/drawing/2014/main" id="{FFEAEBE7-35DF-4C71-B3F9-C1EEAF9B33C4}"/>
              </a:ext>
            </a:extLst>
          </p:cNvPr>
          <p:cNvSpPr>
            <a:spLocks xmlns:a="http://schemas.openxmlformats.org/drawingml/2006/main" noGrp="1"/>
          </p:cNvSpPr>
          <p:nvPr/>
        </p:nvSpPr>
        <p:spPr>
          <a:xfrm xmlns:a="http://schemas.openxmlformats.org/drawingml/2006/main">
            <a:off x="10077450" y="2647950"/>
            <a:ext cx="1295400" cy="781050"/>
          </a:xfrm>
          <a:prstGeom xmlns:a="http://schemas.openxmlformats.org/drawingml/2006/main" prst="roundRect">
            <a:avLst>
              <a:gd name="adj" fmla="val 8537"/>
            </a:avLst>
          </a:prstGeom>
          <a:solidFill xmlns:a="http://schemas.openxmlformats.org/drawingml/2006/main">
            <a:srgbClr val="FFFFFF"/>
          </a:solidFill>
          <a:ln xmlns:a="http://schemas.openxmlformats.org/drawingml/2006/main" w="14288">
            <a:solidFill>
              <a:srgbClr val="52606D"/>
            </a:solidFill>
            <a:prstDash val="solid"/>
          </a:ln>
        </p:spPr>
      </p:sp>
      <p:sp>
        <p:nvSpPr>
          <p:cNvPr id="23" name="">
            <a:extLst xmlns:a="http://schemas.openxmlformats.org/drawingml/2006/main">
              <a:ext uri="{FF2B5EF4-FFF2-40B4-BE49-F238E27FC236}">
                <a16:creationId xmlns:a16="http://schemas.microsoft.com/office/drawing/2014/main" id="{9A4414E3-5702-4E34-968F-FDC8C6E8A726}"/>
              </a:ext>
            </a:extLst>
          </p:cNvPr>
          <p:cNvSpPr>
            <a:spLocks xmlns:a="http://schemas.openxmlformats.org/drawingml/2006/main" noGrp="1"/>
          </p:cNvSpPr>
          <p:nvPr/>
        </p:nvSpPr>
        <p:spPr>
          <a:xfrm xmlns:a="http://schemas.openxmlformats.org/drawingml/2006/main">
            <a:off x="10153650" y="2762250"/>
            <a:ext cx="114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Validate</a:t>
            </a:r>
          </a:p>
          <a:p xmlns:a="http://schemas.openxmlformats.org/drawingml/2006/main">
            <a:pPr algn="ctr">
              <a:lnSpc>
                <a:spcPct val="105000"/>
              </a:lnSpc>
              <a:buNone/>
              <a:defRPr sz="1350" b="1" i="0">
                <a:solidFill>
                  <a:srgbClr val="102A43"/>
                </a:solidFill>
              </a:defRPr>
            </a:pPr>
            <a:r>
              <a:rPr sz="1350" b="1" i="0">
                <a:solidFill>
                  <a:srgbClr val="102A43"/>
                </a:solidFill>
              </a:rPr>
              <a:t>and archive</a:t>
            </a:r>
          </a:p>
        </p:txBody>
      </p:sp>
      <p:cxnSp>
        <p:nvCxnSpPr>
          <p:cNvPr id="65" name=""/>
          <p:cNvCxnSpPr>
            <a:stCxn xmlns:a="http://schemas.openxmlformats.org/drawingml/2006/main" id="10" idx="3"/>
            <a:endCxn xmlns:a="http://schemas.openxmlformats.org/drawingml/2006/main" id="12" idx="1"/>
          </p:cNvCxnSpPr>
          <p:nvPr/>
        </p:nvCxnSpPr>
        <p:spPr>
          <a:xfrm xmlns:a="http://schemas.openxmlformats.org/drawingml/2006/main">
            <a:off x="20002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6" name=""/>
          <p:cNvCxnSpPr>
            <a:stCxn xmlns:a="http://schemas.openxmlformats.org/drawingml/2006/main" id="12" idx="3"/>
            <a:endCxn xmlns:a="http://schemas.openxmlformats.org/drawingml/2006/main" id="14" idx="1"/>
          </p:cNvCxnSpPr>
          <p:nvPr/>
        </p:nvCxnSpPr>
        <p:spPr>
          <a:xfrm xmlns:a="http://schemas.openxmlformats.org/drawingml/2006/main">
            <a:off x="35623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7" name=""/>
          <p:cNvCxnSpPr>
            <a:stCxn xmlns:a="http://schemas.openxmlformats.org/drawingml/2006/main" id="14" idx="3"/>
            <a:endCxn xmlns:a="http://schemas.openxmlformats.org/drawingml/2006/main" id="16" idx="1"/>
          </p:cNvCxnSpPr>
          <p:nvPr/>
        </p:nvCxnSpPr>
        <p:spPr>
          <a:xfrm xmlns:a="http://schemas.openxmlformats.org/drawingml/2006/main">
            <a:off x="51244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8" name=""/>
          <p:cNvCxnSpPr>
            <a:stCxn xmlns:a="http://schemas.openxmlformats.org/drawingml/2006/main" id="16" idx="3"/>
            <a:endCxn xmlns:a="http://schemas.openxmlformats.org/drawingml/2006/main" id="18" idx="1"/>
          </p:cNvCxnSpPr>
          <p:nvPr/>
        </p:nvCxnSpPr>
        <p:spPr>
          <a:xfrm xmlns:a="http://schemas.openxmlformats.org/drawingml/2006/main">
            <a:off x="66865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69" name=""/>
          <p:cNvCxnSpPr>
            <a:stCxn xmlns:a="http://schemas.openxmlformats.org/drawingml/2006/main" id="18" idx="3"/>
            <a:endCxn xmlns:a="http://schemas.openxmlformats.org/drawingml/2006/main" id="20" idx="1"/>
          </p:cNvCxnSpPr>
          <p:nvPr/>
        </p:nvCxnSpPr>
        <p:spPr>
          <a:xfrm xmlns:a="http://schemas.openxmlformats.org/drawingml/2006/main">
            <a:off x="82486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cxnSp>
        <p:nvCxnSpPr>
          <p:cNvPr id="70" name=""/>
          <p:cNvCxnSpPr>
            <a:stCxn xmlns:a="http://schemas.openxmlformats.org/drawingml/2006/main" id="20" idx="3"/>
            <a:endCxn xmlns:a="http://schemas.openxmlformats.org/drawingml/2006/main" id="22" idx="1"/>
          </p:cNvCxnSpPr>
          <p:nvPr/>
        </p:nvCxnSpPr>
        <p:spPr>
          <a:xfrm xmlns:a="http://schemas.openxmlformats.org/drawingml/2006/main">
            <a:off x="9810750" y="3038475"/>
            <a:ext cx="266700" cy="0"/>
          </a:xfrm>
          <a:prstGeom xmlns:a="http://schemas.openxmlformats.org/drawingml/2006/main" prst="straightConnector1">
            <a:avLst/>
          </a:prstGeom>
          <a:ln xmlns:a="http://schemas.openxmlformats.org/drawingml/2006/main" w="15240">
            <a:solidFill>
              <a:srgbClr val="52606D"/>
            </a:solidFill>
            <a:prstDash val="solid"/>
            <a:tailEnd type="arrow" w="sm" len="sm"/>
          </a:ln>
        </p:spPr>
      </p:cxnSp>
      <p:sp>
        <p:nvSpPr>
          <p:cNvPr id="30" name="">
            <a:extLst xmlns:a="http://schemas.openxmlformats.org/drawingml/2006/main">
              <a:ext uri="{FF2B5EF4-FFF2-40B4-BE49-F238E27FC236}">
                <a16:creationId xmlns:a16="http://schemas.microsoft.com/office/drawing/2014/main" id="{E1E99362-759C-49B9-9033-6892EBF2A93B}"/>
              </a:ext>
            </a:extLst>
          </p:cNvPr>
          <p:cNvSpPr>
            <a:spLocks xmlns:a="http://schemas.openxmlformats.org/drawingml/2006/main" noGrp="1"/>
          </p:cNvSpPr>
          <p:nvPr/>
        </p:nvSpPr>
        <p:spPr>
          <a:xfrm xmlns:a="http://schemas.openxmlformats.org/drawingml/2006/main">
            <a:off x="72390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1" name="">
            <a:extLst xmlns:a="http://schemas.openxmlformats.org/drawingml/2006/main">
              <a:ext uri="{FF2B5EF4-FFF2-40B4-BE49-F238E27FC236}">
                <a16:creationId xmlns:a16="http://schemas.microsoft.com/office/drawing/2014/main" id="{08934BD8-30A9-4463-BB7F-CF25191B50A6}"/>
              </a:ext>
            </a:extLst>
          </p:cNvPr>
          <p:cNvSpPr>
            <a:spLocks xmlns:a="http://schemas.openxmlformats.org/drawingml/2006/main" noGrp="1"/>
          </p:cNvSpPr>
          <p:nvPr/>
        </p:nvSpPr>
        <p:spPr>
          <a:xfrm xmlns:a="http://schemas.openxmlformats.org/drawingml/2006/main">
            <a:off x="8763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Certification outside paper timing</a:t>
            </a:r>
          </a:p>
        </p:txBody>
      </p:sp>
      <p:sp>
        <p:nvSpPr>
          <p:cNvPr id="32" name="">
            <a:extLst xmlns:a="http://schemas.openxmlformats.org/drawingml/2006/main">
              <a:ext uri="{FF2B5EF4-FFF2-40B4-BE49-F238E27FC236}">
                <a16:creationId xmlns:a16="http://schemas.microsoft.com/office/drawing/2014/main" id="{1BA67164-2681-4314-8A78-D9DD35735DC9}"/>
              </a:ext>
            </a:extLst>
          </p:cNvPr>
          <p:cNvSpPr>
            <a:spLocks xmlns:a="http://schemas.openxmlformats.org/drawingml/2006/main" noGrp="1"/>
          </p:cNvSpPr>
          <p:nvPr/>
        </p:nvSpPr>
        <p:spPr>
          <a:xfrm xmlns:a="http://schemas.openxmlformats.org/drawingml/2006/main">
            <a:off x="8953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valid-input precondition</a:t>
            </a:r>
          </a:p>
        </p:txBody>
      </p:sp>
      <p:sp>
        <p:nvSpPr>
          <p:cNvPr id="33" name="">
            <a:extLst xmlns:a="http://schemas.openxmlformats.org/drawingml/2006/main">
              <a:ext uri="{FF2B5EF4-FFF2-40B4-BE49-F238E27FC236}">
                <a16:creationId xmlns:a16="http://schemas.microsoft.com/office/drawing/2014/main" id="{0EA711B9-BC78-4B2A-8D3F-34BAA65CB4C3}"/>
              </a:ext>
            </a:extLst>
          </p:cNvPr>
          <p:cNvSpPr>
            <a:spLocks xmlns:a="http://schemas.openxmlformats.org/drawingml/2006/main" noGrp="1"/>
          </p:cNvSpPr>
          <p:nvPr/>
        </p:nvSpPr>
        <p:spPr>
          <a:xfrm xmlns:a="http://schemas.openxmlformats.org/drawingml/2006/main">
            <a:off x="4248150" y="3905250"/>
            <a:ext cx="32194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4288">
            <a:solidFill>
              <a:srgbClr val="2A9D8F"/>
            </a:solidFill>
            <a:prstDash val="solid"/>
          </a:ln>
        </p:spPr>
      </p:sp>
      <p:sp>
        <p:nvSpPr>
          <p:cNvPr id="34" name="">
            <a:extLst xmlns:a="http://schemas.openxmlformats.org/drawingml/2006/main">
              <a:ext uri="{FF2B5EF4-FFF2-40B4-BE49-F238E27FC236}">
                <a16:creationId xmlns:a16="http://schemas.microsoft.com/office/drawing/2014/main" id="{C43E5F16-5EA3-47C2-AB39-E98180A0F409}"/>
              </a:ext>
            </a:extLst>
          </p:cNvPr>
          <p:cNvSpPr>
            <a:spLocks xmlns:a="http://schemas.openxmlformats.org/drawingml/2006/main" noGrp="1"/>
          </p:cNvSpPr>
          <p:nvPr/>
        </p:nvSpPr>
        <p:spPr>
          <a:xfrm xmlns:a="http://schemas.openxmlformats.org/drawingml/2006/main">
            <a:off x="440055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774"/>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Checked-state audit outside paper timing</a:t>
            </a:r>
          </a:p>
        </p:txBody>
      </p:sp>
      <p:sp>
        <p:nvSpPr>
          <p:cNvPr id="35" name="">
            <a:extLst xmlns:a="http://schemas.openxmlformats.org/drawingml/2006/main">
              <a:ext uri="{FF2B5EF4-FFF2-40B4-BE49-F238E27FC236}">
                <a16:creationId xmlns:a16="http://schemas.microsoft.com/office/drawing/2014/main" id="{E2264E6A-1413-488E-A9FE-D37E0B221652}"/>
              </a:ext>
            </a:extLst>
          </p:cNvPr>
          <p:cNvSpPr>
            <a:spLocks xmlns:a="http://schemas.openxmlformats.org/drawingml/2006/main" noGrp="1"/>
          </p:cNvSpPr>
          <p:nvPr/>
        </p:nvSpPr>
        <p:spPr>
          <a:xfrm xmlns:a="http://schemas.openxmlformats.org/drawingml/2006/main">
            <a:off x="441960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one audit per exact case</a:t>
            </a:r>
          </a:p>
        </p:txBody>
      </p:sp>
      <p:sp>
        <p:nvSpPr>
          <p:cNvPr id="36" name="">
            <a:extLst xmlns:a="http://schemas.openxmlformats.org/drawingml/2006/main">
              <a:ext uri="{FF2B5EF4-FFF2-40B4-BE49-F238E27FC236}">
                <a16:creationId xmlns:a16="http://schemas.microsoft.com/office/drawing/2014/main" id="{75B0C86F-3309-443F-8E59-21DC01E84529}"/>
              </a:ext>
            </a:extLst>
          </p:cNvPr>
          <p:cNvSpPr>
            <a:spLocks xmlns:a="http://schemas.openxmlformats.org/drawingml/2006/main" noGrp="1"/>
          </p:cNvSpPr>
          <p:nvPr/>
        </p:nvSpPr>
        <p:spPr>
          <a:xfrm xmlns:a="http://schemas.openxmlformats.org/drawingml/2006/main">
            <a:off x="7772400" y="3905250"/>
            <a:ext cx="32194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4288">
            <a:solidFill>
              <a:srgbClr val="E76F51"/>
            </a:solidFill>
            <a:prstDash val="solid"/>
          </a:ln>
        </p:spPr>
      </p:sp>
      <p:sp>
        <p:nvSpPr>
          <p:cNvPr id="37" name="">
            <a:extLst xmlns:a="http://schemas.openxmlformats.org/drawingml/2006/main">
              <a:ext uri="{FF2B5EF4-FFF2-40B4-BE49-F238E27FC236}">
                <a16:creationId xmlns:a16="http://schemas.microsoft.com/office/drawing/2014/main" id="{6D7891F7-5560-4666-AE3A-6C237F5877BD}"/>
              </a:ext>
            </a:extLst>
          </p:cNvPr>
          <p:cNvSpPr>
            <a:spLocks xmlns:a="http://schemas.openxmlformats.org/drawingml/2006/main" noGrp="1"/>
          </p:cNvSpPr>
          <p:nvPr/>
        </p:nvSpPr>
        <p:spPr>
          <a:xfrm xmlns:a="http://schemas.openxmlformats.org/drawingml/2006/main">
            <a:off x="7924800" y="403860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Minimal paper call inside timing</a:t>
            </a:r>
          </a:p>
        </p:txBody>
      </p:sp>
      <p:sp>
        <p:nvSpPr>
          <p:cNvPr id="38" name="">
            <a:extLst xmlns:a="http://schemas.openxmlformats.org/drawingml/2006/main">
              <a:ext uri="{FF2B5EF4-FFF2-40B4-BE49-F238E27FC236}">
                <a16:creationId xmlns:a16="http://schemas.microsoft.com/office/drawing/2014/main" id="{DA2F0CE0-C291-4726-A402-E0C2FB8B7F1E}"/>
              </a:ext>
            </a:extLst>
          </p:cNvPr>
          <p:cNvSpPr>
            <a:spLocks xmlns:a="http://schemas.openxmlformats.org/drawingml/2006/main" noGrp="1"/>
          </p:cNvSpPr>
          <p:nvPr/>
        </p:nvSpPr>
        <p:spPr>
          <a:xfrm xmlns:a="http://schemas.openxmlformats.org/drawingml/2006/main">
            <a:off x="7943850" y="4495800"/>
            <a:ext cx="2876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output recovery remains timed</a:t>
            </a:r>
          </a:p>
        </p:txBody>
      </p:sp>
      <p:sp>
        <p:nvSpPr>
          <p:cNvPr id="39" name="">
            <a:extLst xmlns:a="http://schemas.openxmlformats.org/drawingml/2006/main">
              <a:ext uri="{FF2B5EF4-FFF2-40B4-BE49-F238E27FC236}">
                <a16:creationId xmlns:a16="http://schemas.microsoft.com/office/drawing/2014/main" id="{5B521CB6-7B3C-47D4-89E2-1B67DC7A7E17}"/>
              </a:ext>
            </a:extLst>
          </p:cNvPr>
          <p:cNvSpPr>
            <a:spLocks xmlns:a="http://schemas.openxmlformats.org/drawingml/2006/main" noGrp="1"/>
          </p:cNvSpPr>
          <p:nvPr/>
        </p:nvSpPr>
        <p:spPr>
          <a:xfrm xmlns:a="http://schemas.openxmlformats.org/drawingml/2006/main">
            <a:off x="1143000" y="51244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Reference timing includes its complete oracle-backed pipeline. Python timing covers its complete sorting call.</a:t>
            </a:r>
          </a:p>
        </p:txBody>
      </p:sp>
      <p:sp>
        <p:nvSpPr>
          <p:cNvPr id="40" name="">
            <a:extLst xmlns:a="http://schemas.openxmlformats.org/drawingml/2006/main">
              <a:ext uri="{FF2B5EF4-FFF2-40B4-BE49-F238E27FC236}">
                <a16:creationId xmlns:a16="http://schemas.microsoft.com/office/drawing/2014/main" id="{F83C73DB-0854-474C-B90A-3EB35FD4DE3B}"/>
              </a:ext>
            </a:extLst>
          </p:cNvPr>
          <p:cNvSpPr>
            <a:spLocks xmlns:a="http://schemas.openxmlformats.org/drawingml/2006/main" noGrp="1"/>
          </p:cNvSpPr>
          <p:nvPr/>
        </p:nvSpPr>
        <p:spPr>
          <a:xfrm xmlns:a="http://schemas.openxmlformats.org/drawingml/2006/main">
            <a:off x="2019300" y="5581650"/>
            <a:ext cx="8153400" cy="495300"/>
          </a:xfrm>
          <a:prstGeom xmlns:a="http://schemas.openxmlformats.org/drawingml/2006/main" prst="roundRect">
            <a:avLst>
              <a:gd name="adj" fmla="val 11538"/>
            </a:avLst>
          </a:prstGeom>
          <a:solidFill xmlns:a="http://schemas.openxmlformats.org/drawingml/2006/main">
            <a:srgbClr val="FCEEEA"/>
          </a:solidFill>
          <a:ln xmlns:a="http://schemas.openxmlformats.org/drawingml/2006/main" w="14288">
            <a:solidFill>
              <a:srgbClr val="E76F51"/>
            </a:solidFill>
            <a:prstDash val="solid"/>
          </a:ln>
        </p:spPr>
      </p:sp>
      <p:sp>
        <p:nvSpPr>
          <p:cNvPr id="41" name="">
            <a:extLst xmlns:a="http://schemas.openxmlformats.org/drawingml/2006/main">
              <a:ext uri="{FF2B5EF4-FFF2-40B4-BE49-F238E27FC236}">
                <a16:creationId xmlns:a16="http://schemas.microsoft.com/office/drawing/2014/main" id="{447EFD12-684B-4D6D-82B1-51A229D4DEE3}"/>
              </a:ext>
            </a:extLst>
          </p:cNvPr>
          <p:cNvSpPr>
            <a:spLocks xmlns:a="http://schemas.openxmlformats.org/drawingml/2006/main" noGrp="1"/>
          </p:cNvSpPr>
          <p:nvPr/>
        </p:nvSpPr>
        <p:spPr>
          <a:xfrm xmlns:a="http://schemas.openxmlformats.org/drawingml/2006/main">
            <a:off x="2190750" y="5638800"/>
            <a:ext cx="781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E76F51"/>
                </a:solidFill>
              </a:defRPr>
            </a:pPr>
            <a:r>
              <a:rPr sz="1350" b="1" i="0">
                <a:solidFill>
                  <a:srgbClr val="E76F51"/>
                </a:solidFill>
              </a:rPr>
              <a:t>Paper and reference use different timing scopes, so this ratio is not an end-to-end speedup.</a:t>
            </a:r>
          </a:p>
        </p:txBody>
      </p:sp>
    </p:spTree>
    <p:extLst>
      <p:ext uri="{BB962C8B-B14F-4D97-AF65-F5344CB8AC3E}">
        <p14:creationId xmlns:p14="http://schemas.microsoft.com/office/powerpoint/2010/main" val="1716834103"/>
      </p:ext>
    </p:extLst>
  </p:cSld>
</p:sld>
</file>

<file path=ppt/slides/slide13.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8C2E0E2-7D30-4239-9730-043A649F058D}"/>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274879BC-0762-4661-A997-19B83007BD93}"/>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All 60 evaluated cases returned the correct output</a:t>
            </a:r>
          </a:p>
        </p:txBody>
      </p:sp>
      <p:sp>
        <p:nvSpPr>
          <p:cNvPr id="3" name="">
            <a:extLst xmlns:a="http://schemas.openxmlformats.org/drawingml/2006/main">
              <a:ext uri="{FF2B5EF4-FFF2-40B4-BE49-F238E27FC236}">
                <a16:creationId xmlns:a16="http://schemas.microsoft.com/office/drawing/2014/main" id="{54BB8D10-52A7-4351-8136-2B08A0F0888D}"/>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E38891AC-4ABA-4AC9-AB58-DCE6ECFF32E5}"/>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86D19904-3D9A-42D4-933E-4BFF2BAF87A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01549C78-4A15-46F5-9094-523085885390}"/>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13 / 16</a:t>
            </a:r>
          </a:p>
        </p:txBody>
      </p:sp>
      <p:sp>
        <p:nvSpPr>
          <p:cNvPr id="7" name="">
            <a:extLst xmlns:a="http://schemas.openxmlformats.org/drawingml/2006/main">
              <a:ext uri="{FF2B5EF4-FFF2-40B4-BE49-F238E27FC236}">
                <a16:creationId xmlns:a16="http://schemas.microsoft.com/office/drawing/2014/main" id="{13BA1E2B-B978-4583-97EE-8BCD196E7998}"/>
              </a:ext>
            </a:extLst>
          </p:cNvPr>
          <p:cNvSpPr>
            <a:spLocks xmlns:a="http://schemas.openxmlformats.org/drawingml/2006/main" noGrp="1"/>
          </p:cNvSpPr>
          <p:nvPr/>
        </p:nvSpPr>
        <p:spPr>
          <a:xfrm xmlns:a="http://schemas.openxmlformats.org/drawingml/2006/main">
            <a:off x="123825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i="0">
                <a:solidFill>
                  <a:srgbClr val="2A9D8F"/>
                </a:solidFill>
              </a:defRPr>
            </a:pPr>
            <a:r>
              <a:rPr sz="5400" b="1" i="0">
                <a:solidFill>
                  <a:srgbClr val="2A9D8F"/>
                </a:solidFill>
              </a:rPr>
              <a:t>60</a:t>
            </a:r>
          </a:p>
        </p:txBody>
      </p:sp>
      <p:sp>
        <p:nvSpPr>
          <p:cNvPr id="8" name="">
            <a:extLst xmlns:a="http://schemas.openxmlformats.org/drawingml/2006/main">
              <a:ext uri="{FF2B5EF4-FFF2-40B4-BE49-F238E27FC236}">
                <a16:creationId xmlns:a16="http://schemas.microsoft.com/office/drawing/2014/main" id="{BF8AE45C-575B-4D3A-BEE7-8A9C41E24A9A}"/>
              </a:ext>
            </a:extLst>
          </p:cNvPr>
          <p:cNvSpPr>
            <a:spLocks xmlns:a="http://schemas.openxmlformats.org/drawingml/2006/main" noGrp="1"/>
          </p:cNvSpPr>
          <p:nvPr/>
        </p:nvSpPr>
        <p:spPr>
          <a:xfrm xmlns:a="http://schemas.openxmlformats.org/drawingml/2006/main">
            <a:off x="123825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102A43"/>
                </a:solidFill>
              </a:defRPr>
            </a:pPr>
            <a:r>
              <a:rPr sz="1950" b="1" i="0">
                <a:solidFill>
                  <a:srgbClr val="102A43"/>
                </a:solidFill>
              </a:rPr>
              <a:t>exact cases</a:t>
            </a:r>
          </a:p>
        </p:txBody>
      </p:sp>
      <p:sp>
        <p:nvSpPr>
          <p:cNvPr id="9" name="">
            <a:extLst xmlns:a="http://schemas.openxmlformats.org/drawingml/2006/main">
              <a:ext uri="{FF2B5EF4-FFF2-40B4-BE49-F238E27FC236}">
                <a16:creationId xmlns:a16="http://schemas.microsoft.com/office/drawing/2014/main" id="{FA4E967F-3E03-4E76-ACA9-FBDAE5DE1B47}"/>
              </a:ext>
            </a:extLst>
          </p:cNvPr>
          <p:cNvSpPr>
            <a:spLocks xmlns:a="http://schemas.openxmlformats.org/drawingml/2006/main" noGrp="1"/>
          </p:cNvSpPr>
          <p:nvPr/>
        </p:nvSpPr>
        <p:spPr>
          <a:xfrm xmlns:a="http://schemas.openxmlformats.org/drawingml/2006/main">
            <a:off x="7048500" y="16764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5400" b="1" i="0">
                <a:solidFill>
                  <a:srgbClr val="1F8A70"/>
                </a:solidFill>
              </a:defRPr>
            </a:pPr>
            <a:r>
              <a:rPr sz="5400" b="1" i="0">
                <a:solidFill>
                  <a:srgbClr val="1F8A70"/>
                </a:solidFill>
              </a:rPr>
              <a:t>0</a:t>
            </a:r>
          </a:p>
        </p:txBody>
      </p:sp>
      <p:sp>
        <p:nvSpPr>
          <p:cNvPr id="10" name="">
            <a:extLst xmlns:a="http://schemas.openxmlformats.org/drawingml/2006/main">
              <a:ext uri="{FF2B5EF4-FFF2-40B4-BE49-F238E27FC236}">
                <a16:creationId xmlns:a16="http://schemas.microsoft.com/office/drawing/2014/main" id="{0E7322BD-C137-4BFA-AFFB-AA801CF3CC84}"/>
              </a:ext>
            </a:extLst>
          </p:cNvPr>
          <p:cNvSpPr>
            <a:spLocks xmlns:a="http://schemas.openxmlformats.org/drawingml/2006/main" noGrp="1"/>
          </p:cNvSpPr>
          <p:nvPr/>
        </p:nvSpPr>
        <p:spPr>
          <a:xfrm xmlns:a="http://schemas.openxmlformats.org/drawingml/2006/main">
            <a:off x="7048500" y="2647950"/>
            <a:ext cx="3905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102A43"/>
                </a:solidFill>
              </a:defRPr>
            </a:pPr>
            <a:r>
              <a:rPr sz="1950" b="1" i="0">
                <a:solidFill>
                  <a:srgbClr val="102A43"/>
                </a:solidFill>
              </a:rPr>
              <a:t>recorded correctness errors</a:t>
            </a:r>
          </a:p>
        </p:txBody>
      </p:sp>
      <p:sp>
        <p:nvSpPr>
          <p:cNvPr id="11" name="">
            <a:extLst xmlns:a="http://schemas.openxmlformats.org/drawingml/2006/main">
              <a:ext uri="{FF2B5EF4-FFF2-40B4-BE49-F238E27FC236}">
                <a16:creationId xmlns:a16="http://schemas.microsoft.com/office/drawing/2014/main" id="{F2BE177E-D7E2-4DA4-9AF4-CDB775E225F7}"/>
              </a:ext>
            </a:extLst>
          </p:cNvPr>
          <p:cNvSpPr>
            <a:spLocks xmlns:a="http://schemas.openxmlformats.org/drawingml/2006/main" noGrp="1"/>
          </p:cNvSpPr>
          <p:nvPr/>
        </p:nvSpPr>
        <p:spPr>
          <a:xfrm xmlns:a="http://schemas.openxmlformats.org/drawingml/2006/main">
            <a:off x="723900" y="3371850"/>
            <a:ext cx="10744200" cy="9525"/>
          </a:xfrm>
          <a:prstGeom xmlns:a="http://schemas.openxmlformats.org/drawingml/2006/main" prst="line">
            <a:avLst/>
          </a:prstGeom>
          <a:noFill xmlns:a="http://schemas.openxmlformats.org/drawingml/2006/main"/>
          <a:ln xmlns:a="http://schemas.openxmlformats.org/drawingml/2006/main" w="19050">
            <a:solidFill>
              <a:srgbClr val="D9E2EC"/>
            </a:solidFill>
            <a:prstDash val="solid"/>
          </a:ln>
        </p:spPr>
      </p:sp>
      <p:sp>
        <p:nvSpPr>
          <p:cNvPr id="12" name="">
            <a:extLst xmlns:a="http://schemas.openxmlformats.org/drawingml/2006/main">
              <a:ext uri="{FF2B5EF4-FFF2-40B4-BE49-F238E27FC236}">
                <a16:creationId xmlns:a16="http://schemas.microsoft.com/office/drawing/2014/main" id="{B4E85005-C4C4-4F12-A29D-A2A1F2524111}"/>
              </a:ext>
            </a:extLst>
          </p:cNvPr>
          <p:cNvSpPr>
            <a:spLocks xmlns:a="http://schemas.openxmlformats.org/drawingml/2006/main" noGrp="1"/>
          </p:cNvSpPr>
          <p:nvPr/>
        </p:nvSpPr>
        <p:spPr>
          <a:xfrm xmlns:a="http://schemas.openxmlformats.org/drawingml/2006/main">
            <a:off x="1524000" y="3638550"/>
            <a:ext cx="914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75" b="1" i="0">
                <a:solidFill>
                  <a:srgbClr val="102A43"/>
                </a:solidFill>
              </a:defRPr>
            </a:pPr>
            <a:r>
              <a:rPr sz="2175" b="1" i="0">
                <a:solidFill>
                  <a:srgbClr val="102A43"/>
                </a:solidFill>
              </a:rPr>
              <a:t>Each case was oracle-certified and checked once before timing.</a:t>
            </a:r>
          </a:p>
        </p:txBody>
      </p:sp>
      <p:sp>
        <p:nvSpPr>
          <p:cNvPr id="13" name="">
            <a:extLst xmlns:a="http://schemas.openxmlformats.org/drawingml/2006/main">
              <a:ext uri="{FF2B5EF4-FFF2-40B4-BE49-F238E27FC236}">
                <a16:creationId xmlns:a16="http://schemas.microsoft.com/office/drawing/2014/main" id="{C7801FEE-A445-431F-9DF1-B10350D2E5A7}"/>
              </a:ext>
            </a:extLst>
          </p:cNvPr>
          <p:cNvSpPr>
            <a:spLocks xmlns:a="http://schemas.openxmlformats.org/drawingml/2006/main" noGrp="1"/>
          </p:cNvSpPr>
          <p:nvPr/>
        </p:nvSpPr>
        <p:spPr>
          <a:xfrm xmlns:a="http://schemas.openxmlformats.org/drawingml/2006/main">
            <a:off x="1581150" y="4514850"/>
            <a:ext cx="9029700" cy="876300"/>
          </a:xfrm>
          <a:prstGeom xmlns:a="http://schemas.openxmlformats.org/drawingml/2006/main" prst="roundRect">
            <a:avLst>
              <a:gd name="adj" fmla="val 8696"/>
            </a:avLst>
          </a:prstGeom>
          <a:solidFill xmlns:a="http://schemas.openxmlformats.org/drawingml/2006/main">
            <a:srgbClr val="EAF1F8"/>
          </a:solidFill>
          <a:ln xmlns:a="http://schemas.openxmlformats.org/drawingml/2006/main" w="14288">
            <a:solidFill>
              <a:srgbClr val="102A43"/>
            </a:solidFill>
            <a:prstDash val="solid"/>
          </a:ln>
        </p:spPr>
      </p:sp>
      <p:sp>
        <p:nvSpPr>
          <p:cNvPr id="14" name="">
            <a:extLst xmlns:a="http://schemas.openxmlformats.org/drawingml/2006/main">
              <a:ext uri="{FF2B5EF4-FFF2-40B4-BE49-F238E27FC236}">
                <a16:creationId xmlns:a16="http://schemas.microsoft.com/office/drawing/2014/main" id="{A7AD7B16-0A45-45C5-8BF1-3B1F8B6D83D6}"/>
              </a:ext>
            </a:extLst>
          </p:cNvPr>
          <p:cNvSpPr>
            <a:spLocks xmlns:a="http://schemas.openxmlformats.org/drawingml/2006/main" noGrp="1"/>
          </p:cNvSpPr>
          <p:nvPr/>
        </p:nvSpPr>
        <p:spPr>
          <a:xfrm xmlns:a="http://schemas.openxmlformats.org/drawingml/2006/main">
            <a:off x="1847850" y="4686300"/>
            <a:ext cx="8496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0" i="0">
                <a:solidFill>
                  <a:srgbClr val="243B53"/>
                </a:solidFill>
              </a:defRPr>
            </a:pPr>
            <a:r>
              <a:rPr sz="1650" b="0" i="0">
                <a:solidFill>
                  <a:srgbClr val="243B53"/>
                </a:solidFill>
              </a:rPr>
              <a:t>The 3,600 timing rows carry the corresponding case-level audit result.</a:t>
            </a:r>
          </a:p>
        </p:txBody>
      </p:sp>
      <p:sp>
        <p:nvSpPr>
          <p:cNvPr id="15" name="">
            <a:extLst xmlns:a="http://schemas.openxmlformats.org/drawingml/2006/main">
              <a:ext uri="{FF2B5EF4-FFF2-40B4-BE49-F238E27FC236}">
                <a16:creationId xmlns:a16="http://schemas.microsoft.com/office/drawing/2014/main" id="{E98E9E80-ECE6-47E5-8BE5-6ABFDCB77F1D}"/>
              </a:ext>
            </a:extLst>
          </p:cNvPr>
          <p:cNvSpPr>
            <a:spLocks xmlns:a="http://schemas.openxmlformats.org/drawingml/2006/main" noGrp="1"/>
          </p:cNvSpPr>
          <p:nvPr/>
        </p:nvSpPr>
        <p:spPr>
          <a:xfrm xmlns:a="http://schemas.openxmlformats.org/drawingml/2006/main">
            <a:off x="1485900" y="5772150"/>
            <a:ext cx="9220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These results cover the tested valid cases only.</a:t>
            </a:r>
          </a:p>
        </p:txBody>
      </p:sp>
    </p:spTree>
    <p:extLst>
      <p:ext uri="{BB962C8B-B14F-4D97-AF65-F5344CB8AC3E}">
        <p14:creationId xmlns:p14="http://schemas.microsoft.com/office/powerpoint/2010/main" val="1410612824"/>
      </p:ext>
    </p:extLst>
  </p:cSld>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925E849-E3A6-47B4-B00C-33AE89159FC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E703B348-69F3-4565-A620-A274E193202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The paper/reference ratio decreases across the five tested sizes</a:t>
            </a:r>
          </a:p>
        </p:txBody>
      </p:sp>
      <p:sp>
        <p:nvSpPr>
          <p:cNvPr id="3" name="">
            <a:extLst xmlns:a="http://schemas.openxmlformats.org/drawingml/2006/main">
              <a:ext uri="{FF2B5EF4-FFF2-40B4-BE49-F238E27FC236}">
                <a16:creationId xmlns:a16="http://schemas.microsoft.com/office/drawing/2014/main" id="{BBA1E6EC-8859-4A24-A741-4EC4489DFCF3}"/>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33ED974-9581-4084-9AE4-A264EBAAD37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04FB2DF8-8A86-4EB2-9707-2239FA165118}"/>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94E86C29-3F32-4524-AD47-64CB3491C1E3}"/>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14 / 16</a:t>
            </a:r>
          </a:p>
        </p:txBody>
      </p:sp>
      <p:graphicFrame>
        <p:nvGraphicFramePr>
          <p:cNvPr id="25" name="Chart"/>
          <p:cNvGraphicFramePr/>
          <p:nvPr/>
        </p:nvGraphicFramePr>
        <p:xfrm>
          <a:off xmlns:a="http://schemas.openxmlformats.org/drawingml/2006/main" x="647700" y="1409700"/>
          <a:ext xmlns:a="http://schemas.openxmlformats.org/drawingml/2006/main" cx="6858000" cy="4095750"/>
        </p:xfrm>
        <a:graphic xmlns:a="http://schemas.openxmlformats.org/drawingml/2006/main">
          <a:graphicData uri="http://schemas.openxmlformats.org/drawingml/2006/chart">
            <c:chart xmlns:r="http://schemas.openxmlformats.org/officeDocument/2006/relationships" xmlns:c="http://schemas.openxmlformats.org/drawingml/2006/chart" r:id="Ra03577e6470f40b8"/>
          </a:graphicData>
        </a:graphic>
      </p:graphicFrame>
      <p:sp>
        <p:nvSpPr>
          <p:cNvPr id="8" name="">
            <a:extLst xmlns:a="http://schemas.openxmlformats.org/drawingml/2006/main">
              <a:ext uri="{FF2B5EF4-FFF2-40B4-BE49-F238E27FC236}">
                <a16:creationId xmlns:a16="http://schemas.microsoft.com/office/drawing/2014/main" id="{946911AC-E250-42AF-ABB5-24E688E56EFE}"/>
              </a:ext>
            </a:extLst>
          </p:cNvPr>
          <p:cNvSpPr>
            <a:spLocks xmlns:a="http://schemas.openxmlformats.org/drawingml/2006/main" noGrp="1"/>
          </p:cNvSpPr>
          <p:nvPr/>
        </p:nvSpPr>
        <p:spPr>
          <a:xfrm xmlns:a="http://schemas.openxmlformats.org/drawingml/2006/main">
            <a:off x="7905750" y="1524000"/>
            <a:ext cx="3333750" cy="990600"/>
          </a:xfrm>
          <a:prstGeom xmlns:a="http://schemas.openxmlformats.org/drawingml/2006/main" prst="roundRect">
            <a:avLst>
              <a:gd name="adj" fmla="val 7692"/>
            </a:avLst>
          </a:prstGeom>
          <a:solidFill xmlns:a="http://schemas.openxmlformats.org/drawingml/2006/main">
            <a:srgbClr val="E8F5F3"/>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252063DC-A5B7-491E-9BA0-CA1ADF88C88B}"/>
              </a:ext>
            </a:extLst>
          </p:cNvPr>
          <p:cNvSpPr>
            <a:spLocks xmlns:a="http://schemas.openxmlformats.org/drawingml/2006/main" noGrp="1"/>
          </p:cNvSpPr>
          <p:nvPr/>
        </p:nvSpPr>
        <p:spPr>
          <a:xfrm xmlns:a="http://schemas.openxmlformats.org/drawingml/2006/main">
            <a:off x="8096250" y="163830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2A9D8F"/>
                </a:solidFill>
              </a:defRPr>
            </a:pPr>
            <a:r>
              <a:rPr sz="2850" b="1" i="0">
                <a:solidFill>
                  <a:srgbClr val="2A9D8F"/>
                </a:solidFill>
              </a:rPr>
              <a:t>3.226</a:t>
            </a:r>
          </a:p>
        </p:txBody>
      </p:sp>
      <p:sp>
        <p:nvSpPr>
          <p:cNvPr id="10" name="">
            <a:extLst xmlns:a="http://schemas.openxmlformats.org/drawingml/2006/main">
              <a:ext uri="{FF2B5EF4-FFF2-40B4-BE49-F238E27FC236}">
                <a16:creationId xmlns:a16="http://schemas.microsoft.com/office/drawing/2014/main" id="{94D78D45-A39E-4546-935C-B246A77460D5}"/>
              </a:ext>
            </a:extLst>
          </p:cNvPr>
          <p:cNvSpPr>
            <a:spLocks xmlns:a="http://schemas.openxmlformats.org/drawingml/2006/main" noGrp="1"/>
          </p:cNvSpPr>
          <p:nvPr/>
        </p:nvSpPr>
        <p:spPr>
          <a:xfrm xmlns:a="http://schemas.openxmlformats.org/drawingml/2006/main">
            <a:off x="9334500" y="175260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at n = 32</a:t>
            </a:r>
          </a:p>
        </p:txBody>
      </p:sp>
      <p:sp>
        <p:nvSpPr>
          <p:cNvPr id="11" name="">
            <a:extLst xmlns:a="http://schemas.openxmlformats.org/drawingml/2006/main">
              <a:ext uri="{FF2B5EF4-FFF2-40B4-BE49-F238E27FC236}">
                <a16:creationId xmlns:a16="http://schemas.microsoft.com/office/drawing/2014/main" id="{EC76C15F-EBCF-4A62-B8D4-37FFF06D1A83}"/>
              </a:ext>
            </a:extLst>
          </p:cNvPr>
          <p:cNvSpPr>
            <a:spLocks xmlns:a="http://schemas.openxmlformats.org/drawingml/2006/main" noGrp="1"/>
          </p:cNvSpPr>
          <p:nvPr/>
        </p:nvSpPr>
        <p:spPr>
          <a:xfrm xmlns:a="http://schemas.openxmlformats.org/drawingml/2006/main">
            <a:off x="7905750" y="2686050"/>
            <a:ext cx="3333750" cy="990600"/>
          </a:xfrm>
          <a:prstGeom xmlns:a="http://schemas.openxmlformats.org/drawingml/2006/main" prst="roundRect">
            <a:avLst>
              <a:gd name="adj" fmla="val 7692"/>
            </a:avLst>
          </a:prstGeom>
          <a:solidFill xmlns:a="http://schemas.openxmlformats.org/drawingml/2006/main">
            <a:srgbClr val="FCEEEA"/>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FB75DD24-25B4-494D-BBB1-2DD4DBC5FEE7}"/>
              </a:ext>
            </a:extLst>
          </p:cNvPr>
          <p:cNvSpPr>
            <a:spLocks xmlns:a="http://schemas.openxmlformats.org/drawingml/2006/main" noGrp="1"/>
          </p:cNvSpPr>
          <p:nvPr/>
        </p:nvSpPr>
        <p:spPr>
          <a:xfrm xmlns:a="http://schemas.openxmlformats.org/drawingml/2006/main">
            <a:off x="8096250" y="280035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850" b="1" i="0">
                <a:solidFill>
                  <a:srgbClr val="E76F51"/>
                </a:solidFill>
              </a:defRPr>
            </a:pPr>
            <a:r>
              <a:rPr sz="2850" b="1" i="0">
                <a:solidFill>
                  <a:srgbClr val="E76F51"/>
                </a:solidFill>
              </a:rPr>
              <a:t>0.567</a:t>
            </a:r>
          </a:p>
        </p:txBody>
      </p:sp>
      <p:sp>
        <p:nvSpPr>
          <p:cNvPr id="13" name="">
            <a:extLst xmlns:a="http://schemas.openxmlformats.org/drawingml/2006/main">
              <a:ext uri="{FF2B5EF4-FFF2-40B4-BE49-F238E27FC236}">
                <a16:creationId xmlns:a16="http://schemas.microsoft.com/office/drawing/2014/main" id="{306648A3-8990-4865-9FE8-BA25C6F6509B}"/>
              </a:ext>
            </a:extLst>
          </p:cNvPr>
          <p:cNvSpPr>
            <a:spLocks xmlns:a="http://schemas.openxmlformats.org/drawingml/2006/main" noGrp="1"/>
          </p:cNvSpPr>
          <p:nvPr/>
        </p:nvSpPr>
        <p:spPr>
          <a:xfrm xmlns:a="http://schemas.openxmlformats.org/drawingml/2006/main">
            <a:off x="9334500" y="29146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500" b="0" i="0">
                <a:solidFill>
                  <a:srgbClr val="243B53"/>
                </a:solidFill>
              </a:defRPr>
            </a:pPr>
            <a:r>
              <a:rPr sz="1500" b="0" i="0">
                <a:solidFill>
                  <a:srgbClr val="243B53"/>
                </a:solidFill>
              </a:rPr>
              <a:t>at n = 512</a:t>
            </a:r>
          </a:p>
        </p:txBody>
      </p:sp>
      <p:sp>
        <p:nvSpPr>
          <p:cNvPr id="14" name="">
            <a:extLst xmlns:a="http://schemas.openxmlformats.org/drawingml/2006/main">
              <a:ext uri="{FF2B5EF4-FFF2-40B4-BE49-F238E27FC236}">
                <a16:creationId xmlns:a16="http://schemas.microsoft.com/office/drawing/2014/main" id="{FE1D1C47-F8C8-4B42-8859-BA94F3A40049}"/>
              </a:ext>
            </a:extLst>
          </p:cNvPr>
          <p:cNvSpPr>
            <a:spLocks xmlns:a="http://schemas.openxmlformats.org/drawingml/2006/main" noGrp="1"/>
          </p:cNvSpPr>
          <p:nvPr/>
        </p:nvSpPr>
        <p:spPr>
          <a:xfrm xmlns:a="http://schemas.openxmlformats.org/drawingml/2006/main">
            <a:off x="7905750" y="3981450"/>
            <a:ext cx="3333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4288">
            <a:solidFill>
              <a:srgbClr val="102A43"/>
            </a:solidFill>
            <a:prstDash val="solid"/>
          </a:ln>
        </p:spPr>
      </p:sp>
      <p:sp>
        <p:nvSpPr>
          <p:cNvPr id="15" name="">
            <a:extLst xmlns:a="http://schemas.openxmlformats.org/drawingml/2006/main">
              <a:ext uri="{FF2B5EF4-FFF2-40B4-BE49-F238E27FC236}">
                <a16:creationId xmlns:a16="http://schemas.microsoft.com/office/drawing/2014/main" id="{D2FA35B6-450D-437B-914A-37AB54462C47}"/>
              </a:ext>
            </a:extLst>
          </p:cNvPr>
          <p:cNvSpPr>
            <a:spLocks xmlns:a="http://schemas.openxmlformats.org/drawingml/2006/main" noGrp="1"/>
          </p:cNvSpPr>
          <p:nvPr/>
        </p:nvSpPr>
        <p:spPr>
          <a:xfrm xmlns:a="http://schemas.openxmlformats.org/drawingml/2006/main">
            <a:off x="8096250" y="41148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9206"/>
          </a:bodyPr>
          <a:lstStyle xmlns:a="http://schemas.openxmlformats.org/drawingml/2006/main"/>
          <a:p xmlns:a="http://schemas.openxmlformats.org/drawingml/2006/main">
            <a:pPr algn="ctr">
              <a:lnSpc>
                <a:spcPct val="105000"/>
              </a:lnSpc>
              <a:buNone/>
              <a:defRPr sz="1800" b="1" i="0">
                <a:solidFill>
                  <a:srgbClr val="102A43"/>
                </a:solidFill>
              </a:defRPr>
            </a:pPr>
            <a:r>
              <a:rPr sz="1800" b="1" i="0">
                <a:solidFill>
                  <a:srgbClr val="102A43"/>
                </a:solidFill>
              </a:rPr>
              <a:t>Observed crossover</a:t>
            </a:r>
          </a:p>
        </p:txBody>
      </p:sp>
      <p:sp>
        <p:nvSpPr>
          <p:cNvPr id="16" name="">
            <a:extLst xmlns:a="http://schemas.openxmlformats.org/drawingml/2006/main">
              <a:ext uri="{FF2B5EF4-FFF2-40B4-BE49-F238E27FC236}">
                <a16:creationId xmlns:a16="http://schemas.microsoft.com/office/drawing/2014/main" id="{649B020C-7848-4F40-AE00-6EC6B470B4D5}"/>
              </a:ext>
            </a:extLst>
          </p:cNvPr>
          <p:cNvSpPr>
            <a:spLocks xmlns:a="http://schemas.openxmlformats.org/drawingml/2006/main" noGrp="1"/>
          </p:cNvSpPr>
          <p:nvPr/>
        </p:nvSpPr>
        <p:spPr>
          <a:xfrm xmlns:a="http://schemas.openxmlformats.org/drawingml/2006/main">
            <a:off x="8115300" y="453390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between tested sizes 128 and 256</a:t>
            </a:r>
          </a:p>
        </p:txBody>
      </p:sp>
      <p:sp>
        <p:nvSpPr>
          <p:cNvPr id="17" name="">
            <a:extLst xmlns:a="http://schemas.openxmlformats.org/drawingml/2006/main">
              <a:ext uri="{FF2B5EF4-FFF2-40B4-BE49-F238E27FC236}">
                <a16:creationId xmlns:a16="http://schemas.microsoft.com/office/drawing/2014/main" id="{297A9124-DAA7-4078-9ED1-BBEB108D8676}"/>
              </a:ext>
            </a:extLst>
          </p:cNvPr>
          <p:cNvSpPr>
            <a:spLocks xmlns:a="http://schemas.openxmlformats.org/drawingml/2006/main" noGrp="1"/>
          </p:cNvSpPr>
          <p:nvPr/>
        </p:nvSpPr>
        <p:spPr>
          <a:xfrm xmlns:a="http://schemas.openxmlformats.org/drawingml/2006/main">
            <a:off x="7810500" y="5391150"/>
            <a:ext cx="3543300" cy="647700"/>
          </a:xfrm>
          <a:prstGeom xmlns:a="http://schemas.openxmlformats.org/drawingml/2006/main" prst="roundRect">
            <a:avLst>
              <a:gd name="adj" fmla="val 8824"/>
            </a:avLst>
          </a:prstGeom>
          <a:solidFill xmlns:a="http://schemas.openxmlformats.org/drawingml/2006/main">
            <a:srgbClr val="102A43"/>
          </a:solidFill>
          <a:ln xmlns:a="http://schemas.openxmlformats.org/drawingml/2006/main" w="11430">
            <a:solidFill>
              <a:srgbClr val="102A43"/>
            </a:solidFill>
            <a:prstDash val="solid"/>
          </a:ln>
        </p:spPr>
      </p:sp>
      <p:sp>
        <p:nvSpPr>
          <p:cNvPr id="18" name="">
            <a:extLst xmlns:a="http://schemas.openxmlformats.org/drawingml/2006/main">
              <a:ext uri="{FF2B5EF4-FFF2-40B4-BE49-F238E27FC236}">
                <a16:creationId xmlns:a16="http://schemas.microsoft.com/office/drawing/2014/main" id="{D9BAE94A-A71B-408D-BDFA-573B28DA1CFC}"/>
              </a:ext>
            </a:extLst>
          </p:cNvPr>
          <p:cNvSpPr>
            <a:spLocks xmlns:a="http://schemas.openxmlformats.org/drawingml/2006/main" noGrp="1"/>
          </p:cNvSpPr>
          <p:nvPr/>
        </p:nvSpPr>
        <p:spPr>
          <a:xfrm xmlns:a="http://schemas.openxmlformats.org/drawingml/2006/main">
            <a:off x="7981950" y="5486400"/>
            <a:ext cx="3200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FFFFFF"/>
                </a:solidFill>
              </a:defRPr>
            </a:pPr>
            <a:r>
              <a:rPr sz="1275" b="1" i="0">
                <a:solidFill>
                  <a:srgbClr val="FFFFFF"/>
                </a:solidFill>
              </a:rPr>
              <a:t>five sizes  |  ordinary lists  |  different timed scopes</a:t>
            </a:r>
          </a:p>
        </p:txBody>
      </p:sp>
    </p:spTree>
    <p:extLst>
      <p:ext uri="{BB962C8B-B14F-4D97-AF65-F5344CB8AC3E}">
        <p14:creationId xmlns:p14="http://schemas.microsoft.com/office/powerpoint/2010/main" val="1391756224"/>
      </p:ext>
    </p:extLst>
  </p:cSld>
</p:sld>
</file>

<file path=ppt/slides/slide15.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949D3F5-7748-4EA7-86C8-F33A5F16790C}"/>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INTERPRETATION</a:t>
            </a:r>
          </a:p>
        </p:txBody>
      </p:sp>
      <p:sp>
        <p:nvSpPr>
          <p:cNvPr id="2" name="">
            <a:extLst xmlns:a="http://schemas.openxmlformats.org/drawingml/2006/main">
              <a:ext uri="{FF2B5EF4-FFF2-40B4-BE49-F238E27FC236}">
                <a16:creationId xmlns:a16="http://schemas.microsoft.com/office/drawing/2014/main" id="{A0CAD3D1-16AD-41B8-805D-EB53FA76780F}"/>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What the current evidence shows</a:t>
            </a:r>
          </a:p>
        </p:txBody>
      </p:sp>
      <p:sp>
        <p:nvSpPr>
          <p:cNvPr id="3" name="">
            <a:extLst xmlns:a="http://schemas.openxmlformats.org/drawingml/2006/main">
              <a:ext uri="{FF2B5EF4-FFF2-40B4-BE49-F238E27FC236}">
                <a16:creationId xmlns:a16="http://schemas.microsoft.com/office/drawing/2014/main" id="{E4064EC9-40E1-4255-8664-CD3726281508}"/>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350C5905-8768-4E09-9F5A-2C51139B31AE}"/>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A1E6FC90-EE01-406F-9507-197E0CB382A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57418FE0-E356-416E-BAF2-3E596ABAD76D}"/>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15 / 16</a:t>
            </a:r>
          </a:p>
        </p:txBody>
      </p:sp>
      <p:sp>
        <p:nvSpPr>
          <p:cNvPr id="7" name="">
            <a:extLst xmlns:a="http://schemas.openxmlformats.org/drawingml/2006/main">
              <a:ext uri="{FF2B5EF4-FFF2-40B4-BE49-F238E27FC236}">
                <a16:creationId xmlns:a16="http://schemas.microsoft.com/office/drawing/2014/main" id="{1960CDD4-3484-43B7-8F24-DBD70C4C2DC3}"/>
              </a:ext>
            </a:extLst>
          </p:cNvPr>
          <p:cNvSpPr>
            <a:spLocks xmlns:a="http://schemas.openxmlformats.org/drawingml/2006/main" noGrp="1"/>
          </p:cNvSpPr>
          <p:nvPr/>
        </p:nvSpPr>
        <p:spPr>
          <a:xfrm xmlns:a="http://schemas.openxmlformats.org/drawingml/2006/main">
            <a:off x="742950" y="1447800"/>
            <a:ext cx="5105400" cy="3848100"/>
          </a:xfrm>
          <a:prstGeom xmlns:a="http://schemas.openxmlformats.org/drawingml/2006/main" prst="roundRect">
            <a:avLst>
              <a:gd name="adj" fmla="val 1980"/>
            </a:avLst>
          </a:prstGeom>
          <a:solidFill xmlns:a="http://schemas.openxmlformats.org/drawingml/2006/main">
            <a:srgbClr val="E8F5F3"/>
          </a:solidFill>
          <a:ln xmlns:a="http://schemas.openxmlformats.org/drawingml/2006/main" w="19050">
            <a:solidFill>
              <a:srgbClr val="2A9D8F"/>
            </a:solidFill>
            <a:prstDash val="solid"/>
          </a:ln>
        </p:spPr>
      </p:sp>
      <p:sp>
        <p:nvSpPr>
          <p:cNvPr id="8" name="">
            <a:extLst xmlns:a="http://schemas.openxmlformats.org/drawingml/2006/main">
              <a:ext uri="{FF2B5EF4-FFF2-40B4-BE49-F238E27FC236}">
                <a16:creationId xmlns:a16="http://schemas.microsoft.com/office/drawing/2014/main" id="{2D9AD4BD-B015-493A-9742-08B86C76B6CD}"/>
              </a:ext>
            </a:extLst>
          </p:cNvPr>
          <p:cNvSpPr>
            <a:spLocks xmlns:a="http://schemas.openxmlformats.org/drawingml/2006/main" noGrp="1"/>
          </p:cNvSpPr>
          <p:nvPr/>
        </p:nvSpPr>
        <p:spPr>
          <a:xfrm xmlns:a="http://schemas.openxmlformats.org/drawingml/2006/main">
            <a:off x="6343650" y="1447800"/>
            <a:ext cx="5105400" cy="3848100"/>
          </a:xfrm>
          <a:prstGeom xmlns:a="http://schemas.openxmlformats.org/drawingml/2006/main" prst="roundRect">
            <a:avLst>
              <a:gd name="adj" fmla="val 1980"/>
            </a:avLst>
          </a:prstGeom>
          <a:solidFill xmlns:a="http://schemas.openxmlformats.org/drawingml/2006/main">
            <a:srgbClr val="FCEEEA"/>
          </a:solidFill>
          <a:ln xmlns:a="http://schemas.openxmlformats.org/drawingml/2006/main" w="19050">
            <a:solidFill>
              <a:srgbClr val="E76F51"/>
            </a:solidFill>
            <a:prstDash val="solid"/>
          </a:ln>
        </p:spPr>
      </p:sp>
      <p:sp>
        <p:nvSpPr>
          <p:cNvPr id="9" name="">
            <a:extLst xmlns:a="http://schemas.openxmlformats.org/drawingml/2006/main">
              <a:ext uri="{FF2B5EF4-FFF2-40B4-BE49-F238E27FC236}">
                <a16:creationId xmlns:a16="http://schemas.microsoft.com/office/drawing/2014/main" id="{D1803D99-742F-43D5-AAEC-0A2BF0BE8E09}"/>
              </a:ext>
            </a:extLst>
          </p:cNvPr>
          <p:cNvSpPr>
            <a:spLocks xmlns:a="http://schemas.openxmlformats.org/drawingml/2006/main" noGrp="1"/>
          </p:cNvSpPr>
          <p:nvPr/>
        </p:nvSpPr>
        <p:spPr>
          <a:xfrm xmlns:a="http://schemas.openxmlformats.org/drawingml/2006/main">
            <a:off x="10096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Current results</a:t>
            </a:r>
          </a:p>
        </p:txBody>
      </p:sp>
      <p:sp>
        <p:nvSpPr>
          <p:cNvPr id="10" name="">
            <a:extLst xmlns:a="http://schemas.openxmlformats.org/drawingml/2006/main">
              <a:ext uri="{FF2B5EF4-FFF2-40B4-BE49-F238E27FC236}">
                <a16:creationId xmlns:a16="http://schemas.microsoft.com/office/drawing/2014/main" id="{1D9FD332-FFCB-40D5-8230-65EF5D9E864A}"/>
              </a:ext>
            </a:extLst>
          </p:cNvPr>
          <p:cNvSpPr>
            <a:spLocks xmlns:a="http://schemas.openxmlformats.org/drawingml/2006/main" noGrp="1"/>
          </p:cNvSpPr>
          <p:nvPr/>
        </p:nvSpPr>
        <p:spPr>
          <a:xfrm xmlns:a="http://schemas.openxmlformats.org/drawingml/2006/main">
            <a:off x="6610350" y="1695450"/>
            <a:ext cx="4572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Main limits</a:t>
            </a:r>
          </a:p>
        </p:txBody>
      </p:sp>
      <p:sp>
        <p:nvSpPr>
          <p:cNvPr id="11" name="">
            <a:extLst xmlns:a="http://schemas.openxmlformats.org/drawingml/2006/main">
              <a:ext uri="{FF2B5EF4-FFF2-40B4-BE49-F238E27FC236}">
                <a16:creationId xmlns:a16="http://schemas.microsoft.com/office/drawing/2014/main" id="{5F9CF2F3-5AD7-45D7-A1A3-89F33B814D7A}"/>
              </a:ext>
            </a:extLst>
          </p:cNvPr>
          <p:cNvSpPr>
            <a:spLocks xmlns:a="http://schemas.openxmlformats.org/drawingml/2006/main" noGrp="1"/>
          </p:cNvSpPr>
          <p:nvPr/>
        </p:nvSpPr>
        <p:spPr>
          <a:xfrm xmlns:a="http://schemas.openxmlformats.org/drawingml/2006/main">
            <a:off x="1066800" y="26479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2" name="">
            <a:extLst xmlns:a="http://schemas.openxmlformats.org/drawingml/2006/main">
              <a:ext uri="{FF2B5EF4-FFF2-40B4-BE49-F238E27FC236}">
                <a16:creationId xmlns:a16="http://schemas.microsoft.com/office/drawing/2014/main" id="{92BD5FE8-B11B-450B-86CF-FB65E6DFC96E}"/>
              </a:ext>
            </a:extLst>
          </p:cNvPr>
          <p:cNvSpPr>
            <a:spLocks xmlns:a="http://schemas.openxmlformats.org/drawingml/2006/main" noGrp="1"/>
          </p:cNvSpPr>
          <p:nvPr/>
        </p:nvSpPr>
        <p:spPr>
          <a:xfrm xmlns:a="http://schemas.openxmlformats.org/drawingml/2006/main">
            <a:off x="12763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Executable reconstruction with output recovered from maintained state</a:t>
            </a:r>
          </a:p>
        </p:txBody>
      </p:sp>
      <p:sp>
        <p:nvSpPr>
          <p:cNvPr id="13" name="">
            <a:extLst xmlns:a="http://schemas.openxmlformats.org/drawingml/2006/main">
              <a:ext uri="{FF2B5EF4-FFF2-40B4-BE49-F238E27FC236}">
                <a16:creationId xmlns:a16="http://schemas.microsoft.com/office/drawing/2014/main" id="{3EC2EE22-2CE1-4675-9735-50813777BABA}"/>
              </a:ext>
            </a:extLst>
          </p:cNvPr>
          <p:cNvSpPr>
            <a:spLocks xmlns:a="http://schemas.openxmlformats.org/drawingml/2006/main" noGrp="1"/>
          </p:cNvSpPr>
          <p:nvPr/>
        </p:nvSpPr>
        <p:spPr>
          <a:xfrm xmlns:a="http://schemas.openxmlformats.org/drawingml/2006/main">
            <a:off x="1066800" y="3905250"/>
            <a:ext cx="95250" cy="95250"/>
          </a:xfrm>
          <a:prstGeom xmlns:a="http://schemas.openxmlformats.org/drawingml/2006/main" prst="ellipse">
            <a:avLst/>
          </a:prstGeom>
          <a:solidFill xmlns:a="http://schemas.openxmlformats.org/drawingml/2006/main">
            <a:srgbClr val="2A9D8F"/>
          </a:solidFill>
          <a:ln xmlns:a="http://schemas.openxmlformats.org/drawingml/2006/main" w="0">
            <a:solidFill>
              <a:srgbClr val="2A9D8F"/>
            </a:solidFill>
            <a:prstDash val="solid"/>
          </a:ln>
        </p:spPr>
      </p:sp>
      <p:sp>
        <p:nvSpPr>
          <p:cNvPr id="14" name="">
            <a:extLst xmlns:a="http://schemas.openxmlformats.org/drawingml/2006/main">
              <a:ext uri="{FF2B5EF4-FFF2-40B4-BE49-F238E27FC236}">
                <a16:creationId xmlns:a16="http://schemas.microsoft.com/office/drawing/2014/main" id="{798DB842-A019-49FB-96EC-BBF12B4DD1F5}"/>
              </a:ext>
            </a:extLst>
          </p:cNvPr>
          <p:cNvSpPr>
            <a:spLocks xmlns:a="http://schemas.openxmlformats.org/drawingml/2006/main" noGrp="1"/>
          </p:cNvSpPr>
          <p:nvPr/>
        </p:nvSpPr>
        <p:spPr>
          <a:xfrm xmlns:a="http://schemas.openxmlformats.org/drawingml/2006/main">
            <a:off x="12763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Correct outputs and a recorded runtime trend for the evaluated cases</a:t>
            </a:r>
          </a:p>
        </p:txBody>
      </p:sp>
      <p:sp>
        <p:nvSpPr>
          <p:cNvPr id="15" name="">
            <a:extLst xmlns:a="http://schemas.openxmlformats.org/drawingml/2006/main">
              <a:ext uri="{FF2B5EF4-FFF2-40B4-BE49-F238E27FC236}">
                <a16:creationId xmlns:a16="http://schemas.microsoft.com/office/drawing/2014/main" id="{6A61BA01-FEA2-4EBC-93B1-F23C0089ABC1}"/>
              </a:ext>
            </a:extLst>
          </p:cNvPr>
          <p:cNvSpPr>
            <a:spLocks xmlns:a="http://schemas.openxmlformats.org/drawingml/2006/main" noGrp="1"/>
          </p:cNvSpPr>
          <p:nvPr/>
        </p:nvSpPr>
        <p:spPr>
          <a:xfrm xmlns:a="http://schemas.openxmlformats.org/drawingml/2006/main">
            <a:off x="6667500" y="26479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6" name="">
            <a:extLst xmlns:a="http://schemas.openxmlformats.org/drawingml/2006/main">
              <a:ext uri="{FF2B5EF4-FFF2-40B4-BE49-F238E27FC236}">
                <a16:creationId xmlns:a16="http://schemas.microsoft.com/office/drawing/2014/main" id="{AAB1C6BE-B10A-4DF9-A3FB-E4E3FAB84844}"/>
              </a:ext>
            </a:extLst>
          </p:cNvPr>
          <p:cNvSpPr>
            <a:spLocks xmlns:a="http://schemas.openxmlformats.org/drawingml/2006/main" noGrp="1"/>
          </p:cNvSpPr>
          <p:nvPr/>
        </p:nvSpPr>
        <p:spPr>
          <a:xfrm xmlns:a="http://schemas.openxmlformats.org/drawingml/2006/main">
            <a:off x="6877050" y="25717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Ordinary lists do not establish a linear-time implementation</a:t>
            </a:r>
          </a:p>
        </p:txBody>
      </p:sp>
      <p:sp>
        <p:nvSpPr>
          <p:cNvPr id="17" name="">
            <a:extLst xmlns:a="http://schemas.openxmlformats.org/drawingml/2006/main">
              <a:ext uri="{FF2B5EF4-FFF2-40B4-BE49-F238E27FC236}">
                <a16:creationId xmlns:a16="http://schemas.microsoft.com/office/drawing/2014/main" id="{0EF8C973-3072-41DA-AD1C-A16A40652BA6}"/>
              </a:ext>
            </a:extLst>
          </p:cNvPr>
          <p:cNvSpPr>
            <a:spLocks xmlns:a="http://schemas.openxmlformats.org/drawingml/2006/main" noGrp="1"/>
          </p:cNvSpPr>
          <p:nvPr/>
        </p:nvSpPr>
        <p:spPr>
          <a:xfrm xmlns:a="http://schemas.openxmlformats.org/drawingml/2006/main">
            <a:off x="6667500" y="3905250"/>
            <a:ext cx="95250" cy="95250"/>
          </a:xfrm>
          <a:prstGeom xmlns:a="http://schemas.openxmlformats.org/drawingml/2006/main" prst="ellipse">
            <a:avLst/>
          </a:prstGeom>
          <a:solidFill xmlns:a="http://schemas.openxmlformats.org/drawingml/2006/main">
            <a:srgbClr val="E76F51"/>
          </a:solidFill>
          <a:ln xmlns:a="http://schemas.openxmlformats.org/drawingml/2006/main" w="0">
            <a:solidFill>
              <a:srgbClr val="E76F51"/>
            </a:solidFill>
            <a:prstDash val="solid"/>
          </a:ln>
        </p:spPr>
      </p:sp>
      <p:sp>
        <p:nvSpPr>
          <p:cNvPr id="18" name="">
            <a:extLst xmlns:a="http://schemas.openxmlformats.org/drawingml/2006/main">
              <a:ext uri="{FF2B5EF4-FFF2-40B4-BE49-F238E27FC236}">
                <a16:creationId xmlns:a16="http://schemas.microsoft.com/office/drawing/2014/main" id="{9CD2EDDF-D51D-4E9F-92CD-A6EA20E09FEC}"/>
              </a:ext>
            </a:extLst>
          </p:cNvPr>
          <p:cNvSpPr>
            <a:spLocks xmlns:a="http://schemas.openxmlformats.org/drawingml/2006/main" noGrp="1"/>
          </p:cNvSpPr>
          <p:nvPr/>
        </p:nvSpPr>
        <p:spPr>
          <a:xfrm xmlns:a="http://schemas.openxmlformats.org/drawingml/2006/main">
            <a:off x="6877050" y="3829050"/>
            <a:ext cx="41338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0000"/>
              </a:lnSpc>
              <a:buNone/>
              <a:defRPr sz="1650" b="0" i="0">
                <a:solidFill>
                  <a:srgbClr val="243B53"/>
                </a:solidFill>
              </a:defRPr>
            </a:pPr>
            <a:r>
              <a:rPr sz="1650" b="0" i="0">
                <a:solidFill>
                  <a:srgbClr val="243B53"/>
                </a:solidFill>
              </a:rPr>
              <a:t>Five tested sizes do not establish asymptotic complexity</a:t>
            </a:r>
          </a:p>
        </p:txBody>
      </p:sp>
      <p:sp>
        <p:nvSpPr>
          <p:cNvPr id="19" name="">
            <a:extLst xmlns:a="http://schemas.openxmlformats.org/drawingml/2006/main">
              <a:ext uri="{FF2B5EF4-FFF2-40B4-BE49-F238E27FC236}">
                <a16:creationId xmlns:a16="http://schemas.microsoft.com/office/drawing/2014/main" id="{C4531ED7-0B81-4B8B-9FCD-875637FC2E1B}"/>
              </a:ext>
            </a:extLst>
          </p:cNvPr>
          <p:cNvSpPr>
            <a:spLocks xmlns:a="http://schemas.openxmlformats.org/drawingml/2006/main" noGrp="1"/>
          </p:cNvSpPr>
          <p:nvPr/>
        </p:nvSpPr>
        <p:spPr>
          <a:xfrm xmlns:a="http://schemas.openxmlformats.org/drawingml/2006/main">
            <a:off x="1428750" y="5715000"/>
            <a:ext cx="933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defRPr>
            </a:pPr>
            <a:r>
              <a:rPr sz="1500" b="1" i="0">
                <a:solidFill>
                  <a:srgbClr val="102A43"/>
                </a:solidFill>
              </a:rPr>
              <a:t>Recognition was not evaluated. Paper and reference use different timing scopes.</a:t>
            </a:r>
          </a:p>
        </p:txBody>
      </p:sp>
    </p:spTree>
    <p:extLst>
      <p:ext uri="{BB962C8B-B14F-4D97-AF65-F5344CB8AC3E}">
        <p14:creationId xmlns:p14="http://schemas.microsoft.com/office/powerpoint/2010/main" val="1275000473"/>
      </p:ext>
    </p:extLst>
  </p:cSld>
</p:sld>
</file>

<file path=ppt/slides/slide16.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479511C-A080-4341-8FD6-00597062F672}"/>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NEXT STEP</a:t>
            </a:r>
          </a:p>
        </p:txBody>
      </p:sp>
      <p:sp>
        <p:nvSpPr>
          <p:cNvPr id="2" name="">
            <a:extLst xmlns:a="http://schemas.openxmlformats.org/drawingml/2006/main">
              <a:ext uri="{FF2B5EF4-FFF2-40B4-BE49-F238E27FC236}">
                <a16:creationId xmlns:a16="http://schemas.microsoft.com/office/drawing/2014/main" id="{CBF3D366-443B-4E84-850D-34D0935E0BC2}"/>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Possible next step: a finger-tree backend</a:t>
            </a:r>
          </a:p>
        </p:txBody>
      </p:sp>
      <p:sp>
        <p:nvSpPr>
          <p:cNvPr id="3" name="">
            <a:extLst xmlns:a="http://schemas.openxmlformats.org/drawingml/2006/main">
              <a:ext uri="{FF2B5EF4-FFF2-40B4-BE49-F238E27FC236}">
                <a16:creationId xmlns:a16="http://schemas.microsoft.com/office/drawing/2014/main" id="{46A58543-D5A2-4305-AD5D-EBE908986986}"/>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9A041079-AF76-4613-B1FB-B9F0168043E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EEDF9E8F-2EB8-4981-9344-0CD2EA93DD9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CCF62471-D770-42A2-A22C-6D1D0A37A4F2}"/>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16 / 16</a:t>
            </a:r>
          </a:p>
        </p:txBody>
      </p:sp>
      <p:sp>
        <p:nvSpPr>
          <p:cNvPr id="7" name="">
            <a:extLst xmlns:a="http://schemas.openxmlformats.org/drawingml/2006/main">
              <a:ext uri="{FF2B5EF4-FFF2-40B4-BE49-F238E27FC236}">
                <a16:creationId xmlns:a16="http://schemas.microsoft.com/office/drawing/2014/main" id="{ADA62E34-8AF8-4637-AB2E-E28BCB7397B1}"/>
              </a:ext>
            </a:extLst>
          </p:cNvPr>
          <p:cNvSpPr>
            <a:spLocks xmlns:a="http://schemas.openxmlformats.org/drawingml/2006/main" noGrp="1"/>
          </p:cNvSpPr>
          <p:nvPr/>
        </p:nvSpPr>
        <p:spPr>
          <a:xfrm xmlns:a="http://schemas.openxmlformats.org/drawingml/2006/main">
            <a:off x="1066800" y="1485900"/>
            <a:ext cx="10058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2100" b="1" i="0">
                <a:solidFill>
                  <a:srgbClr val="102A43"/>
                </a:solidFill>
              </a:defRPr>
            </a:pPr>
            <a:r>
              <a:rPr sz="2100" b="1" i="0">
                <a:solidFill>
                  <a:srgbClr val="102A43"/>
                </a:solidFill>
              </a:rPr>
              <a:t>The ordinary-list implementation provides a tested reference point.</a:t>
            </a:r>
          </a:p>
        </p:txBody>
      </p:sp>
      <p:sp>
        <p:nvSpPr>
          <p:cNvPr id="8" name="">
            <a:extLst xmlns:a="http://schemas.openxmlformats.org/drawingml/2006/main">
              <a:ext uri="{FF2B5EF4-FFF2-40B4-BE49-F238E27FC236}">
                <a16:creationId xmlns:a16="http://schemas.microsoft.com/office/drawing/2014/main" id="{51829D50-2489-4503-8FB7-EBD4A8F3EB38}"/>
              </a:ext>
            </a:extLst>
          </p:cNvPr>
          <p:cNvSpPr>
            <a:spLocks xmlns:a="http://schemas.openxmlformats.org/drawingml/2006/main" noGrp="1"/>
          </p:cNvSpPr>
          <p:nvPr/>
        </p:nvSpPr>
        <p:spPr>
          <a:xfrm xmlns:a="http://schemas.openxmlformats.org/drawingml/2006/main">
            <a:off x="1638300" y="2324100"/>
            <a:ext cx="8915400" cy="952500"/>
          </a:xfrm>
          <a:prstGeom xmlns:a="http://schemas.openxmlformats.org/drawingml/2006/main" prst="roundRect">
            <a:avLst>
              <a:gd name="adj" fmla="val 8000"/>
            </a:avLst>
          </a:prstGeom>
          <a:solidFill xmlns:a="http://schemas.openxmlformats.org/drawingml/2006/main">
            <a:srgbClr val="E8F5F3"/>
          </a:solidFill>
          <a:ln xmlns:a="http://schemas.openxmlformats.org/drawingml/2006/main" w="14288">
            <a:solidFill>
              <a:srgbClr val="2A9D8F"/>
            </a:solidFill>
            <a:prstDash val="solid"/>
          </a:ln>
        </p:spPr>
      </p:sp>
      <p:sp>
        <p:nvSpPr>
          <p:cNvPr id="9" name="">
            <a:extLst xmlns:a="http://schemas.openxmlformats.org/drawingml/2006/main">
              <a:ext uri="{FF2B5EF4-FFF2-40B4-BE49-F238E27FC236}">
                <a16:creationId xmlns:a16="http://schemas.microsoft.com/office/drawing/2014/main" id="{67D15C1E-34A0-4F9F-ADEE-B2F5A66D81EF}"/>
              </a:ext>
            </a:extLst>
          </p:cNvPr>
          <p:cNvSpPr>
            <a:spLocks xmlns:a="http://schemas.openxmlformats.org/drawingml/2006/main" noGrp="1"/>
          </p:cNvSpPr>
          <p:nvPr/>
        </p:nvSpPr>
        <p:spPr>
          <a:xfrm xmlns:a="http://schemas.openxmlformats.org/drawingml/2006/main">
            <a:off x="1943100" y="2552700"/>
            <a:ext cx="8305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2672"/>
          </a:bodyPr>
          <a:lstStyle xmlns:a="http://schemas.openxmlformats.org/drawingml/2006/main"/>
          <a:p xmlns:a="http://schemas.openxmlformats.org/drawingml/2006/main">
            <a:pPr algn="ctr">
              <a:lnSpc>
                <a:spcPct val="105000"/>
              </a:lnSpc>
              <a:buNone/>
              <a:defRPr sz="1800" b="0" i="0">
                <a:solidFill>
                  <a:srgbClr val="243B53"/>
                </a:solidFill>
              </a:defRPr>
            </a:pPr>
            <a:r>
              <a:rPr sz="1800" b="0" i="0">
                <a:solidFill>
                  <a:srgbClr val="243B53"/>
                </a:solidFill>
              </a:rPr>
              <a:t>A new backend would keep the same Step 1/2/3 behavior while changing the sibling-list operations.</a:t>
            </a:r>
          </a:p>
        </p:txBody>
      </p:sp>
      <p:sp>
        <p:nvSpPr>
          <p:cNvPr id="10" name="">
            <a:extLst xmlns:a="http://schemas.openxmlformats.org/drawingml/2006/main">
              <a:ext uri="{FF2B5EF4-FFF2-40B4-BE49-F238E27FC236}">
                <a16:creationId xmlns:a16="http://schemas.microsoft.com/office/drawing/2014/main" id="{C87785DE-9D5C-4654-88BC-F558A6A9C287}"/>
              </a:ext>
            </a:extLst>
          </p:cNvPr>
          <p:cNvSpPr>
            <a:spLocks xmlns:a="http://schemas.openxmlformats.org/drawingml/2006/main" noGrp="1"/>
          </p:cNvSpPr>
          <p:nvPr/>
        </p:nvSpPr>
        <p:spPr>
          <a:xfrm xmlns:a="http://schemas.openxmlformats.org/drawingml/2006/main">
            <a:off x="1066800" y="3829050"/>
            <a:ext cx="10058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2A9D8F"/>
                </a:solidFill>
              </a:defRPr>
            </a:pPr>
            <a:r>
              <a:rPr sz="1875" b="1" i="0">
                <a:solidFill>
                  <a:srgbClr val="2A9D8F"/>
                </a:solidFill>
              </a:rPr>
              <a:t>Discussion with the supervisor</a:t>
            </a:r>
          </a:p>
        </p:txBody>
      </p:sp>
      <p:sp>
        <p:nvSpPr>
          <p:cNvPr id="11" name="">
            <a:extLst xmlns:a="http://schemas.openxmlformats.org/drawingml/2006/main">
              <a:ext uri="{FF2B5EF4-FFF2-40B4-BE49-F238E27FC236}">
                <a16:creationId xmlns:a16="http://schemas.microsoft.com/office/drawing/2014/main" id="{C51E7204-7828-4B5C-812C-5BF14D1E4B3A}"/>
              </a:ext>
            </a:extLst>
          </p:cNvPr>
          <p:cNvSpPr>
            <a:spLocks xmlns:a="http://schemas.openxmlformats.org/drawingml/2006/main" noGrp="1"/>
          </p:cNvSpPr>
          <p:nvPr/>
        </p:nvSpPr>
        <p:spPr>
          <a:xfrm xmlns:a="http://schemas.openxmlformats.org/drawingml/2006/main">
            <a:off x="1066800" y="4343400"/>
            <a:ext cx="10058400" cy="1543050"/>
          </a:xfrm>
          <a:prstGeom xmlns:a="http://schemas.openxmlformats.org/drawingml/2006/main" prst="roundRect">
            <a:avLst>
              <a:gd name="adj" fmla="val 4938"/>
            </a:avLst>
          </a:prstGeom>
          <a:solidFill xmlns:a="http://schemas.openxmlformats.org/drawingml/2006/main">
            <a:srgbClr val="102A43"/>
          </a:solidFill>
          <a:ln xmlns:a="http://schemas.openxmlformats.org/drawingml/2006/main" w="11430">
            <a:solidFill>
              <a:srgbClr val="102A43"/>
            </a:solidFill>
            <a:prstDash val="solid"/>
          </a:ln>
        </p:spPr>
      </p:sp>
      <p:sp>
        <p:nvSpPr>
          <p:cNvPr id="12" name="">
            <a:extLst xmlns:a="http://schemas.openxmlformats.org/drawingml/2006/main">
              <a:ext uri="{FF2B5EF4-FFF2-40B4-BE49-F238E27FC236}">
                <a16:creationId xmlns:a16="http://schemas.microsoft.com/office/drawing/2014/main" id="{322268DB-FCF0-4E75-99E6-2A52ABA6D78E}"/>
              </a:ext>
            </a:extLst>
          </p:cNvPr>
          <p:cNvSpPr>
            <a:spLocks xmlns:a="http://schemas.openxmlformats.org/drawingml/2006/main" noGrp="1"/>
          </p:cNvSpPr>
          <p:nvPr/>
        </p:nvSpPr>
        <p:spPr>
          <a:xfrm xmlns:a="http://schemas.openxmlformats.org/drawingml/2006/main">
            <a:off x="1466850" y="4533900"/>
            <a:ext cx="92583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800" b="0" i="0">
                <a:solidFill>
                  <a:srgbClr val="FFFFFF"/>
                </a:solidFill>
              </a:defRPr>
            </a:pPr>
            <a:r>
              <a:rPr sz="1800" b="0" i="0">
                <a:solidFill>
                  <a:srgbClr val="FFFFFF"/>
                </a:solidFill>
              </a:rPr>
              <a:t>1. Should I target the historical heterogeneous finger tree or an equivalent backend?</a:t>
            </a:r>
          </a:p>
          <a:p xmlns:a="http://schemas.openxmlformats.org/drawingml/2006/main">
            <a:pPr algn="l">
              <a:lnSpc>
                <a:spcPct val="105000"/>
              </a:lnSpc>
              <a:buNone/>
              <a:defRPr sz="1800" b="0" i="0">
                <a:solidFill>
                  <a:srgbClr val="FFFFFF"/>
                </a:solidFill>
              </a:defRPr>
            </a:pPr>
            <a:r>
              <a:rPr sz="1800" b="0" i="0">
                <a:solidFill>
                  <a:srgbClr val="FFFFFF"/>
                </a:solidFill>
              </a:rPr>
              <a:t>2. Is a tested, semantically equivalent prototype enough, or should I also prove the required amortized operation bounds?</a:t>
            </a:r>
          </a:p>
        </p:txBody>
      </p:sp>
    </p:spTree>
    <p:extLst>
      <p:ext uri="{BB962C8B-B14F-4D97-AF65-F5344CB8AC3E}">
        <p14:creationId xmlns:p14="http://schemas.microsoft.com/office/powerpoint/2010/main" val="667786400"/>
      </p:ext>
    </p:extLst>
  </p:cSld>
</p:sld>
</file>

<file path=ppt/slides/slide17.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65" name="">
            <a:extLst xmlns:a="http://schemas.openxmlformats.org/drawingml/2006/main">
              <a:ext uri="{FF2B5EF4-FFF2-40B4-BE49-F238E27FC236}">
                <a16:creationId xmlns:a16="http://schemas.microsoft.com/office/drawing/2014/main" id="{1995CCAB-68D4-4B41-B270-820AEBB04080}"/>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A</a:t>
            </a:r>
          </a:p>
        </p:txBody>
      </p:sp>
      <p:sp>
        <p:nvSpPr>
          <p:cNvPr id="2" name="">
            <a:extLst xmlns:a="http://schemas.openxmlformats.org/drawingml/2006/main">
              <a:ext uri="{FF2B5EF4-FFF2-40B4-BE49-F238E27FC236}">
                <a16:creationId xmlns:a16="http://schemas.microsoft.com/office/drawing/2014/main" id="{14B50AF5-0824-45B7-84A9-F0920BE304E6}"/>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Median runtime by size under the recorded call scopes</a:t>
            </a:r>
          </a:p>
        </p:txBody>
      </p:sp>
      <p:sp>
        <p:nvSpPr>
          <p:cNvPr id="3" name="">
            <a:extLst xmlns:a="http://schemas.openxmlformats.org/drawingml/2006/main">
              <a:ext uri="{FF2B5EF4-FFF2-40B4-BE49-F238E27FC236}">
                <a16:creationId xmlns:a16="http://schemas.microsoft.com/office/drawing/2014/main" id="{76A0DCE7-4ED3-434D-A66E-5035A2D1437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7D0D0149-DD0A-4AFE-9477-F5141C0584F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D510B5BE-E112-4455-B439-776FA5BE0826}"/>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6F4E4FD6-D1B9-4668-B289-6ACFCFB2D990}"/>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A</a:t>
            </a:r>
          </a:p>
        </p:txBody>
      </p:sp>
      <p:pic>
        <p:nvPicPr>
          <p:cNvPr id="71" name=""/>
          <p:cNvPicPr>
            <a:picLocks xmlns:a="http://schemas.openxmlformats.org/drawingml/2006/main" noChangeAspect="1"/>
          </p:cNvPicPr>
          <p:nvPr/>
        </p:nvPicPr>
        <p:blipFill>
          <a:blip xmlns:r="http://schemas.openxmlformats.org/officeDocument/2006/relationships" xmlns:a="http://schemas.openxmlformats.org/drawingml/2006/main" r:embed="R41449a41ec4f4b18"/>
          <a:stretch xmlns:a="http://schemas.openxmlformats.org/drawingml/2006/main"/>
        </p:blipFill>
        <p:spPr>
          <a:xfrm xmlns:a="http://schemas.openxmlformats.org/drawingml/2006/main">
            <a:off x="628650" y="1749972"/>
            <a:ext cx="6858000" cy="351045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11249F4-275C-4D61-96C2-9B0DA9C1BF47}"/>
              </a:ext>
            </a:extLst>
          </p:cNvPr>
          <p:cNvSpPr>
            <a:spLocks xmlns:a="http://schemas.openxmlformats.org/drawingml/2006/main" noGrp="1"/>
          </p:cNvSpPr>
          <p:nvPr/>
        </p:nvSpPr>
        <p:spPr>
          <a:xfrm xmlns:a="http://schemas.openxmlformats.org/drawingml/2006/main">
            <a:off x="628650" y="1562100"/>
            <a:ext cx="6858000" cy="4762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9" name="">
            <a:extLst xmlns:a="http://schemas.openxmlformats.org/drawingml/2006/main">
              <a:ext uri="{FF2B5EF4-FFF2-40B4-BE49-F238E27FC236}">
                <a16:creationId xmlns:a16="http://schemas.microsoft.com/office/drawing/2014/main" id="{AD313A29-FA98-4CEB-AEDA-1EA2FB992FAE}"/>
              </a:ext>
            </a:extLst>
          </p:cNvPr>
          <p:cNvSpPr>
            <a:spLocks xmlns:a="http://schemas.openxmlformats.org/drawingml/2006/main" noGrp="1"/>
          </p:cNvSpPr>
          <p:nvPr/>
        </p:nvSpPr>
        <p:spPr>
          <a:xfrm xmlns:a="http://schemas.openxmlformats.org/drawingml/2006/main">
            <a:off x="6000750" y="2057400"/>
            <a:ext cx="1447800" cy="1123950"/>
          </a:xfrm>
          <a:prstGeom xmlns:a="http://schemas.openxmlformats.org/drawingml/2006/main" prst="rect">
            <a:avLst/>
          </a:prstGeom>
          <a:solidFill xmlns:a="http://schemas.openxmlformats.org/drawingml/2006/main">
            <a:srgbClr val="FFFFFF"/>
          </a:solidFill>
          <a:ln xmlns:a="http://schemas.openxmlformats.org/drawingml/2006/main" w="11430">
            <a:solidFill>
              <a:srgbClr val="FFFFFF"/>
            </a:solidFill>
            <a:prstDash val="solid"/>
          </a:ln>
        </p:spPr>
      </p:sp>
      <p:sp>
        <p:nvSpPr>
          <p:cNvPr id="10" name="">
            <a:extLst xmlns:a="http://schemas.openxmlformats.org/drawingml/2006/main">
              <a:ext uri="{FF2B5EF4-FFF2-40B4-BE49-F238E27FC236}">
                <a16:creationId xmlns:a16="http://schemas.microsoft.com/office/drawing/2014/main" id="{AA564752-E826-4B89-B5B1-40E7CB61CD2D}"/>
              </a:ext>
            </a:extLst>
          </p:cNvPr>
          <p:cNvSpPr>
            <a:spLocks xmlns:a="http://schemas.openxmlformats.org/drawingml/2006/main" noGrp="1"/>
          </p:cNvSpPr>
          <p:nvPr/>
        </p:nvSpPr>
        <p:spPr>
          <a:xfrm xmlns:a="http://schemas.openxmlformats.org/drawingml/2006/main">
            <a:off x="6153150" y="2266950"/>
            <a:ext cx="228600" cy="9525"/>
          </a:xfrm>
          <a:prstGeom xmlns:a="http://schemas.openxmlformats.org/drawingml/2006/main" prst="line">
            <a:avLst/>
          </a:prstGeom>
          <a:noFill xmlns:a="http://schemas.openxmlformats.org/drawingml/2006/main"/>
          <a:ln xmlns:a="http://schemas.openxmlformats.org/drawingml/2006/main" w="28575">
            <a:solidFill>
              <a:srgbClr val="1F8A70"/>
            </a:solidFill>
            <a:prstDash val="solid"/>
          </a:ln>
        </p:spPr>
      </p:sp>
      <p:sp>
        <p:nvSpPr>
          <p:cNvPr id="11" name="">
            <a:extLst xmlns:a="http://schemas.openxmlformats.org/drawingml/2006/main">
              <a:ext uri="{FF2B5EF4-FFF2-40B4-BE49-F238E27FC236}">
                <a16:creationId xmlns:a16="http://schemas.microsoft.com/office/drawing/2014/main" id="{B1851BA9-A1BB-4C1D-85FF-5B436E7A1972}"/>
              </a:ext>
            </a:extLst>
          </p:cNvPr>
          <p:cNvSpPr>
            <a:spLocks xmlns:a="http://schemas.openxmlformats.org/drawingml/2006/main" noGrp="1"/>
          </p:cNvSpPr>
          <p:nvPr/>
        </p:nvSpPr>
        <p:spPr>
          <a:xfrm xmlns:a="http://schemas.openxmlformats.org/drawingml/2006/main">
            <a:off x="6477000" y="2143125"/>
            <a:ext cx="895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Python sort</a:t>
            </a:r>
          </a:p>
        </p:txBody>
      </p:sp>
      <p:sp>
        <p:nvSpPr>
          <p:cNvPr id="12" name="">
            <a:extLst xmlns:a="http://schemas.openxmlformats.org/drawingml/2006/main">
              <a:ext uri="{FF2B5EF4-FFF2-40B4-BE49-F238E27FC236}">
                <a16:creationId xmlns:a16="http://schemas.microsoft.com/office/drawing/2014/main" id="{9D2C2005-E626-4DD2-93E3-4C518844A53D}"/>
              </a:ext>
            </a:extLst>
          </p:cNvPr>
          <p:cNvSpPr>
            <a:spLocks xmlns:a="http://schemas.openxmlformats.org/drawingml/2006/main" noGrp="1"/>
          </p:cNvSpPr>
          <p:nvPr/>
        </p:nvSpPr>
        <p:spPr>
          <a:xfrm xmlns:a="http://schemas.openxmlformats.org/drawingml/2006/main">
            <a:off x="6153150" y="2609850"/>
            <a:ext cx="228600" cy="9525"/>
          </a:xfrm>
          <a:prstGeom xmlns:a="http://schemas.openxmlformats.org/drawingml/2006/main" prst="line">
            <a:avLst/>
          </a:prstGeom>
          <a:noFill xmlns:a="http://schemas.openxmlformats.org/drawingml/2006/main"/>
          <a:ln xmlns:a="http://schemas.openxmlformats.org/drawingml/2006/main" w="28575">
            <a:solidFill>
              <a:srgbClr val="2E75B6"/>
            </a:solidFill>
            <a:prstDash val="solid"/>
          </a:ln>
        </p:spPr>
      </p:sp>
      <p:sp>
        <p:nvSpPr>
          <p:cNvPr id="13" name="">
            <a:extLst xmlns:a="http://schemas.openxmlformats.org/drawingml/2006/main">
              <a:ext uri="{FF2B5EF4-FFF2-40B4-BE49-F238E27FC236}">
                <a16:creationId xmlns:a16="http://schemas.microsoft.com/office/drawing/2014/main" id="{FF5D8C28-2F1C-413B-95AE-6DDAECBC4494}"/>
              </a:ext>
            </a:extLst>
          </p:cNvPr>
          <p:cNvSpPr>
            <a:spLocks xmlns:a="http://schemas.openxmlformats.org/drawingml/2006/main" noGrp="1"/>
          </p:cNvSpPr>
          <p:nvPr/>
        </p:nvSpPr>
        <p:spPr>
          <a:xfrm xmlns:a="http://schemas.openxmlformats.org/drawingml/2006/main">
            <a:off x="6477000" y="2486025"/>
            <a:ext cx="933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3681"/>
          </a:bodyPr>
          <a:lstStyle xmlns:a="http://schemas.openxmlformats.org/drawingml/2006/main"/>
          <a:p xmlns:a="http://schemas.openxmlformats.org/drawingml/2006/main">
            <a:pPr algn="l">
              <a:lnSpc>
                <a:spcPct val="105000"/>
              </a:lnSpc>
              <a:buNone/>
              <a:defRPr sz="975" b="0" i="0">
                <a:solidFill>
                  <a:srgbClr val="243B53"/>
                </a:solidFill>
              </a:defRPr>
            </a:pPr>
            <a:r>
              <a:rPr sz="975" b="0" i="0">
                <a:solidFill>
                  <a:srgbClr val="243B53"/>
                </a:solidFill>
              </a:rPr>
              <a:t>Reference pipeline</a:t>
            </a:r>
          </a:p>
        </p:txBody>
      </p:sp>
      <p:sp>
        <p:nvSpPr>
          <p:cNvPr id="14" name="">
            <a:extLst xmlns:a="http://schemas.openxmlformats.org/drawingml/2006/main">
              <a:ext uri="{FF2B5EF4-FFF2-40B4-BE49-F238E27FC236}">
                <a16:creationId xmlns:a16="http://schemas.microsoft.com/office/drawing/2014/main" id="{F2C3D5D4-6D8B-422A-B1E8-3F724FB89110}"/>
              </a:ext>
            </a:extLst>
          </p:cNvPr>
          <p:cNvSpPr>
            <a:spLocks xmlns:a="http://schemas.openxmlformats.org/drawingml/2006/main" noGrp="1"/>
          </p:cNvSpPr>
          <p:nvPr/>
        </p:nvSpPr>
        <p:spPr>
          <a:xfrm xmlns:a="http://schemas.openxmlformats.org/drawingml/2006/main">
            <a:off x="6153150" y="2952750"/>
            <a:ext cx="2286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15" name="">
            <a:extLst xmlns:a="http://schemas.openxmlformats.org/drawingml/2006/main">
              <a:ext uri="{FF2B5EF4-FFF2-40B4-BE49-F238E27FC236}">
                <a16:creationId xmlns:a16="http://schemas.microsoft.com/office/drawing/2014/main" id="{67B374AF-2C19-4BEF-9BA9-AC3E977F9778}"/>
              </a:ext>
            </a:extLst>
          </p:cNvPr>
          <p:cNvSpPr>
            <a:spLocks xmlns:a="http://schemas.openxmlformats.org/drawingml/2006/main" noGrp="1"/>
          </p:cNvSpPr>
          <p:nvPr/>
        </p:nvSpPr>
        <p:spPr>
          <a:xfrm xmlns:a="http://schemas.openxmlformats.org/drawingml/2006/main">
            <a:off x="6477000" y="2828925"/>
            <a:ext cx="933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2593"/>
          </a:bodyPr>
          <a:lstStyle xmlns:a="http://schemas.openxmlformats.org/drawingml/2006/main"/>
          <a:p xmlns:a="http://schemas.openxmlformats.org/drawingml/2006/main">
            <a:pPr algn="l">
              <a:lnSpc>
                <a:spcPct val="105000"/>
              </a:lnSpc>
              <a:buNone/>
              <a:defRPr sz="900" b="0" i="0">
                <a:solidFill>
                  <a:srgbClr val="243B53"/>
                </a:solidFill>
              </a:defRPr>
            </a:pPr>
            <a:r>
              <a:rPr sz="900" b="0" i="0">
                <a:solidFill>
                  <a:srgbClr val="243B53"/>
                </a:solidFill>
              </a:rPr>
              <a:t>Paper ordinary-list core</a:t>
            </a:r>
          </a:p>
        </p:txBody>
      </p:sp>
      <p:sp>
        <p:nvSpPr>
          <p:cNvPr id="16" name="">
            <a:extLst xmlns:a="http://schemas.openxmlformats.org/drawingml/2006/main">
              <a:ext uri="{FF2B5EF4-FFF2-40B4-BE49-F238E27FC236}">
                <a16:creationId xmlns:a16="http://schemas.microsoft.com/office/drawing/2014/main" id="{6E277C52-E325-4A27-9FDF-529EF226831E}"/>
              </a:ext>
            </a:extLst>
          </p:cNvPr>
          <p:cNvSpPr>
            <a:spLocks xmlns:a="http://schemas.openxmlformats.org/drawingml/2006/main" noGrp="1"/>
          </p:cNvSpPr>
          <p:nvPr/>
        </p:nvSpPr>
        <p:spPr>
          <a:xfrm xmlns:a="http://schemas.openxmlformats.org/drawingml/2006/main">
            <a:off x="7772400" y="1638300"/>
            <a:ext cx="66675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7" name="">
            <a:extLst xmlns:a="http://schemas.openxmlformats.org/drawingml/2006/main">
              <a:ext uri="{FF2B5EF4-FFF2-40B4-BE49-F238E27FC236}">
                <a16:creationId xmlns:a16="http://schemas.microsoft.com/office/drawing/2014/main" id="{E2F01695-0F70-4A99-920E-47C8CD09CCF2}"/>
              </a:ext>
            </a:extLst>
          </p:cNvPr>
          <p:cNvSpPr>
            <a:spLocks xmlns:a="http://schemas.openxmlformats.org/drawingml/2006/main" noGrp="1"/>
          </p:cNvSpPr>
          <p:nvPr/>
        </p:nvSpPr>
        <p:spPr>
          <a:xfrm xmlns:a="http://schemas.openxmlformats.org/drawingml/2006/main">
            <a:off x="7791450" y="16764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n</a:t>
            </a:r>
          </a:p>
        </p:txBody>
      </p:sp>
      <p:sp>
        <p:nvSpPr>
          <p:cNvPr id="18" name="">
            <a:extLst xmlns:a="http://schemas.openxmlformats.org/drawingml/2006/main">
              <a:ext uri="{FF2B5EF4-FFF2-40B4-BE49-F238E27FC236}">
                <a16:creationId xmlns:a16="http://schemas.microsoft.com/office/drawing/2014/main" id="{60B505FC-5BF0-4D8C-8FF1-659F0325386D}"/>
              </a:ext>
            </a:extLst>
          </p:cNvPr>
          <p:cNvSpPr>
            <a:spLocks xmlns:a="http://schemas.openxmlformats.org/drawingml/2006/main" noGrp="1"/>
          </p:cNvSpPr>
          <p:nvPr/>
        </p:nvSpPr>
        <p:spPr>
          <a:xfrm xmlns:a="http://schemas.openxmlformats.org/drawingml/2006/main">
            <a:off x="8439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19" name="">
            <a:extLst xmlns:a="http://schemas.openxmlformats.org/drawingml/2006/main">
              <a:ext uri="{FF2B5EF4-FFF2-40B4-BE49-F238E27FC236}">
                <a16:creationId xmlns:a16="http://schemas.microsoft.com/office/drawing/2014/main" id="{D687488C-A871-4F41-8B64-A7F1EEE110EA}"/>
              </a:ext>
            </a:extLst>
          </p:cNvPr>
          <p:cNvSpPr>
            <a:spLocks xmlns:a="http://schemas.openxmlformats.org/drawingml/2006/main" noGrp="1"/>
          </p:cNvSpPr>
          <p:nvPr/>
        </p:nvSpPr>
        <p:spPr>
          <a:xfrm xmlns:a="http://schemas.openxmlformats.org/drawingml/2006/main">
            <a:off x="8458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Python (ms)</a:t>
            </a:r>
          </a:p>
        </p:txBody>
      </p:sp>
      <p:sp>
        <p:nvSpPr>
          <p:cNvPr id="20" name="">
            <a:extLst xmlns:a="http://schemas.openxmlformats.org/drawingml/2006/main">
              <a:ext uri="{FF2B5EF4-FFF2-40B4-BE49-F238E27FC236}">
                <a16:creationId xmlns:a16="http://schemas.microsoft.com/office/drawing/2014/main" id="{E7238D34-C4D6-49FB-B0C9-14BFFCADE459}"/>
              </a:ext>
            </a:extLst>
          </p:cNvPr>
          <p:cNvSpPr>
            <a:spLocks xmlns:a="http://schemas.openxmlformats.org/drawingml/2006/main" noGrp="1"/>
          </p:cNvSpPr>
          <p:nvPr/>
        </p:nvSpPr>
        <p:spPr>
          <a:xfrm xmlns:a="http://schemas.openxmlformats.org/drawingml/2006/main">
            <a:off x="9505950" y="1638300"/>
            <a:ext cx="12192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1" name="">
            <a:extLst xmlns:a="http://schemas.openxmlformats.org/drawingml/2006/main">
              <a:ext uri="{FF2B5EF4-FFF2-40B4-BE49-F238E27FC236}">
                <a16:creationId xmlns:a16="http://schemas.microsoft.com/office/drawing/2014/main" id="{304BCA33-68DB-4F0E-81B9-453DB1779B00}"/>
              </a:ext>
            </a:extLst>
          </p:cNvPr>
          <p:cNvSpPr>
            <a:spLocks xmlns:a="http://schemas.openxmlformats.org/drawingml/2006/main" noGrp="1"/>
          </p:cNvSpPr>
          <p:nvPr/>
        </p:nvSpPr>
        <p:spPr>
          <a:xfrm xmlns:a="http://schemas.openxmlformats.org/drawingml/2006/main">
            <a:off x="9525000" y="16764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Reference (ms)</a:t>
            </a:r>
          </a:p>
        </p:txBody>
      </p:sp>
      <p:sp>
        <p:nvSpPr>
          <p:cNvPr id="22" name="">
            <a:extLst xmlns:a="http://schemas.openxmlformats.org/drawingml/2006/main">
              <a:ext uri="{FF2B5EF4-FFF2-40B4-BE49-F238E27FC236}">
                <a16:creationId xmlns:a16="http://schemas.microsoft.com/office/drawing/2014/main" id="{BBE24EC2-71D4-4999-A118-25B03B936536}"/>
              </a:ext>
            </a:extLst>
          </p:cNvPr>
          <p:cNvSpPr>
            <a:spLocks xmlns:a="http://schemas.openxmlformats.org/drawingml/2006/main" noGrp="1"/>
          </p:cNvSpPr>
          <p:nvPr/>
        </p:nvSpPr>
        <p:spPr>
          <a:xfrm xmlns:a="http://schemas.openxmlformats.org/drawingml/2006/main">
            <a:off x="10725150" y="1638300"/>
            <a:ext cx="1066800" cy="523875"/>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23" name="">
            <a:extLst xmlns:a="http://schemas.openxmlformats.org/drawingml/2006/main">
              <a:ext uri="{FF2B5EF4-FFF2-40B4-BE49-F238E27FC236}">
                <a16:creationId xmlns:a16="http://schemas.microsoft.com/office/drawing/2014/main" id="{B8607202-7325-4D52-BDE7-9B3AF69D46F0}"/>
              </a:ext>
            </a:extLst>
          </p:cNvPr>
          <p:cNvSpPr>
            <a:spLocks xmlns:a="http://schemas.openxmlformats.org/drawingml/2006/main" noGrp="1"/>
          </p:cNvSpPr>
          <p:nvPr/>
        </p:nvSpPr>
        <p:spPr>
          <a:xfrm xmlns:a="http://schemas.openxmlformats.org/drawingml/2006/main">
            <a:off x="10744200" y="16764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1" i="0">
                <a:solidFill>
                  <a:srgbClr val="FFFFFF"/>
                </a:solidFill>
              </a:defRPr>
            </a:pPr>
            <a:r>
              <a:rPr sz="1050" b="1" i="0">
                <a:solidFill>
                  <a:srgbClr val="FFFFFF"/>
                </a:solidFill>
              </a:rPr>
              <a:t>Paper (ms)</a:t>
            </a:r>
          </a:p>
        </p:txBody>
      </p:sp>
      <p:sp>
        <p:nvSpPr>
          <p:cNvPr id="24" name="">
            <a:extLst xmlns:a="http://schemas.openxmlformats.org/drawingml/2006/main">
              <a:ext uri="{FF2B5EF4-FFF2-40B4-BE49-F238E27FC236}">
                <a16:creationId xmlns:a16="http://schemas.microsoft.com/office/drawing/2014/main" id="{2D7036E5-C072-4190-8272-0FE4C9298F9B}"/>
              </a:ext>
            </a:extLst>
          </p:cNvPr>
          <p:cNvSpPr>
            <a:spLocks xmlns:a="http://schemas.openxmlformats.org/drawingml/2006/main" noGrp="1"/>
          </p:cNvSpPr>
          <p:nvPr/>
        </p:nvSpPr>
        <p:spPr>
          <a:xfrm xmlns:a="http://schemas.openxmlformats.org/drawingml/2006/main">
            <a:off x="7772400" y="21621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5" name="">
            <a:extLst xmlns:a="http://schemas.openxmlformats.org/drawingml/2006/main">
              <a:ext uri="{FF2B5EF4-FFF2-40B4-BE49-F238E27FC236}">
                <a16:creationId xmlns:a16="http://schemas.microsoft.com/office/drawing/2014/main" id="{6668D75D-0F01-4D4F-995F-5FBBE5070F2B}"/>
              </a:ext>
            </a:extLst>
          </p:cNvPr>
          <p:cNvSpPr>
            <a:spLocks xmlns:a="http://schemas.openxmlformats.org/drawingml/2006/main" noGrp="1"/>
          </p:cNvSpPr>
          <p:nvPr/>
        </p:nvSpPr>
        <p:spPr>
          <a:xfrm xmlns:a="http://schemas.openxmlformats.org/drawingml/2006/main">
            <a:off x="7791450" y="22002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32</a:t>
            </a:r>
          </a:p>
        </p:txBody>
      </p:sp>
      <p:sp>
        <p:nvSpPr>
          <p:cNvPr id="26" name="">
            <a:extLst xmlns:a="http://schemas.openxmlformats.org/drawingml/2006/main">
              <a:ext uri="{FF2B5EF4-FFF2-40B4-BE49-F238E27FC236}">
                <a16:creationId xmlns:a16="http://schemas.microsoft.com/office/drawing/2014/main" id="{C1D9CFCA-3CFC-4EF7-BF0F-5C3DE7E27006}"/>
              </a:ext>
            </a:extLst>
          </p:cNvPr>
          <p:cNvSpPr>
            <a:spLocks xmlns:a="http://schemas.openxmlformats.org/drawingml/2006/main" noGrp="1"/>
          </p:cNvSpPr>
          <p:nvPr/>
        </p:nvSpPr>
        <p:spPr>
          <a:xfrm xmlns:a="http://schemas.openxmlformats.org/drawingml/2006/main">
            <a:off x="8439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7" name="">
            <a:extLst xmlns:a="http://schemas.openxmlformats.org/drawingml/2006/main">
              <a:ext uri="{FF2B5EF4-FFF2-40B4-BE49-F238E27FC236}">
                <a16:creationId xmlns:a16="http://schemas.microsoft.com/office/drawing/2014/main" id="{E9FBDE9A-03DE-4257-B063-695B4E9BADDF}"/>
              </a:ext>
            </a:extLst>
          </p:cNvPr>
          <p:cNvSpPr>
            <a:spLocks xmlns:a="http://schemas.openxmlformats.org/drawingml/2006/main" noGrp="1"/>
          </p:cNvSpPr>
          <p:nvPr/>
        </p:nvSpPr>
        <p:spPr>
          <a:xfrm xmlns:a="http://schemas.openxmlformats.org/drawingml/2006/main">
            <a:off x="8458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0.000791</a:t>
            </a:r>
          </a:p>
        </p:txBody>
      </p:sp>
      <p:sp>
        <p:nvSpPr>
          <p:cNvPr id="28" name="">
            <a:extLst xmlns:a="http://schemas.openxmlformats.org/drawingml/2006/main">
              <a:ext uri="{FF2B5EF4-FFF2-40B4-BE49-F238E27FC236}">
                <a16:creationId xmlns:a16="http://schemas.microsoft.com/office/drawing/2014/main" id="{5951C860-8708-4F2F-8D42-96556262815E}"/>
              </a:ext>
            </a:extLst>
          </p:cNvPr>
          <p:cNvSpPr>
            <a:spLocks xmlns:a="http://schemas.openxmlformats.org/drawingml/2006/main" noGrp="1"/>
          </p:cNvSpPr>
          <p:nvPr/>
        </p:nvSpPr>
        <p:spPr>
          <a:xfrm xmlns:a="http://schemas.openxmlformats.org/drawingml/2006/main">
            <a:off x="9505950" y="21621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9" name="">
            <a:extLst xmlns:a="http://schemas.openxmlformats.org/drawingml/2006/main">
              <a:ext uri="{FF2B5EF4-FFF2-40B4-BE49-F238E27FC236}">
                <a16:creationId xmlns:a16="http://schemas.microsoft.com/office/drawing/2014/main" id="{445E4EEC-894C-4EE9-B836-875770D5F270}"/>
              </a:ext>
            </a:extLst>
          </p:cNvPr>
          <p:cNvSpPr>
            <a:spLocks xmlns:a="http://schemas.openxmlformats.org/drawingml/2006/main" noGrp="1"/>
          </p:cNvSpPr>
          <p:nvPr/>
        </p:nvSpPr>
        <p:spPr>
          <a:xfrm xmlns:a="http://schemas.openxmlformats.org/drawingml/2006/main">
            <a:off x="9525000" y="22002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0.181177</a:t>
            </a:r>
          </a:p>
        </p:txBody>
      </p:sp>
      <p:sp>
        <p:nvSpPr>
          <p:cNvPr id="30" name="">
            <a:extLst xmlns:a="http://schemas.openxmlformats.org/drawingml/2006/main">
              <a:ext uri="{FF2B5EF4-FFF2-40B4-BE49-F238E27FC236}">
                <a16:creationId xmlns:a16="http://schemas.microsoft.com/office/drawing/2014/main" id="{D9A6B4CB-0DA9-4E31-A36D-BAB77533B28D}"/>
              </a:ext>
            </a:extLst>
          </p:cNvPr>
          <p:cNvSpPr>
            <a:spLocks xmlns:a="http://schemas.openxmlformats.org/drawingml/2006/main" noGrp="1"/>
          </p:cNvSpPr>
          <p:nvPr/>
        </p:nvSpPr>
        <p:spPr>
          <a:xfrm xmlns:a="http://schemas.openxmlformats.org/drawingml/2006/main">
            <a:off x="10725150" y="21621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1" name="">
            <a:extLst xmlns:a="http://schemas.openxmlformats.org/drawingml/2006/main">
              <a:ext uri="{FF2B5EF4-FFF2-40B4-BE49-F238E27FC236}">
                <a16:creationId xmlns:a16="http://schemas.microsoft.com/office/drawing/2014/main" id="{4BB32664-C98D-4626-B46A-DAB28D8FC4AD}"/>
              </a:ext>
            </a:extLst>
          </p:cNvPr>
          <p:cNvSpPr>
            <a:spLocks xmlns:a="http://schemas.openxmlformats.org/drawingml/2006/main" noGrp="1"/>
          </p:cNvSpPr>
          <p:nvPr/>
        </p:nvSpPr>
        <p:spPr>
          <a:xfrm xmlns:a="http://schemas.openxmlformats.org/drawingml/2006/main">
            <a:off x="10744200" y="22002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0.586906</a:t>
            </a:r>
          </a:p>
        </p:txBody>
      </p:sp>
      <p:sp>
        <p:nvSpPr>
          <p:cNvPr id="32" name="">
            <a:extLst xmlns:a="http://schemas.openxmlformats.org/drawingml/2006/main">
              <a:ext uri="{FF2B5EF4-FFF2-40B4-BE49-F238E27FC236}">
                <a16:creationId xmlns:a16="http://schemas.microsoft.com/office/drawing/2014/main" id="{15D77E91-DAE1-4791-B671-22CDDF0E2925}"/>
              </a:ext>
            </a:extLst>
          </p:cNvPr>
          <p:cNvSpPr>
            <a:spLocks xmlns:a="http://schemas.openxmlformats.org/drawingml/2006/main" noGrp="1"/>
          </p:cNvSpPr>
          <p:nvPr/>
        </p:nvSpPr>
        <p:spPr>
          <a:xfrm xmlns:a="http://schemas.openxmlformats.org/drawingml/2006/main">
            <a:off x="7772400" y="268605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3" name="">
            <a:extLst xmlns:a="http://schemas.openxmlformats.org/drawingml/2006/main">
              <a:ext uri="{FF2B5EF4-FFF2-40B4-BE49-F238E27FC236}">
                <a16:creationId xmlns:a16="http://schemas.microsoft.com/office/drawing/2014/main" id="{415727ED-D9CE-4AC7-88C4-E5D6F6A9E56D}"/>
              </a:ext>
            </a:extLst>
          </p:cNvPr>
          <p:cNvSpPr>
            <a:spLocks xmlns:a="http://schemas.openxmlformats.org/drawingml/2006/main" noGrp="1"/>
          </p:cNvSpPr>
          <p:nvPr/>
        </p:nvSpPr>
        <p:spPr>
          <a:xfrm xmlns:a="http://schemas.openxmlformats.org/drawingml/2006/main">
            <a:off x="7791450" y="272415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64</a:t>
            </a:r>
          </a:p>
        </p:txBody>
      </p:sp>
      <p:sp>
        <p:nvSpPr>
          <p:cNvPr id="34" name="">
            <a:extLst xmlns:a="http://schemas.openxmlformats.org/drawingml/2006/main">
              <a:ext uri="{FF2B5EF4-FFF2-40B4-BE49-F238E27FC236}">
                <a16:creationId xmlns:a16="http://schemas.microsoft.com/office/drawing/2014/main" id="{29890758-8E20-445E-ADBB-1C6764CA5669}"/>
              </a:ext>
            </a:extLst>
          </p:cNvPr>
          <p:cNvSpPr>
            <a:spLocks xmlns:a="http://schemas.openxmlformats.org/drawingml/2006/main" noGrp="1"/>
          </p:cNvSpPr>
          <p:nvPr/>
        </p:nvSpPr>
        <p:spPr>
          <a:xfrm xmlns:a="http://schemas.openxmlformats.org/drawingml/2006/main">
            <a:off x="8439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5" name="">
            <a:extLst xmlns:a="http://schemas.openxmlformats.org/drawingml/2006/main">
              <a:ext uri="{FF2B5EF4-FFF2-40B4-BE49-F238E27FC236}">
                <a16:creationId xmlns:a16="http://schemas.microsoft.com/office/drawing/2014/main" id="{B48B9A1D-C467-4E63-8960-F2E75DE491EE}"/>
              </a:ext>
            </a:extLst>
          </p:cNvPr>
          <p:cNvSpPr>
            <a:spLocks xmlns:a="http://schemas.openxmlformats.org/drawingml/2006/main" noGrp="1"/>
          </p:cNvSpPr>
          <p:nvPr/>
        </p:nvSpPr>
        <p:spPr>
          <a:xfrm xmlns:a="http://schemas.openxmlformats.org/drawingml/2006/main">
            <a:off x="8458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0.001417</a:t>
            </a:r>
          </a:p>
        </p:txBody>
      </p:sp>
      <p:sp>
        <p:nvSpPr>
          <p:cNvPr id="36" name="">
            <a:extLst xmlns:a="http://schemas.openxmlformats.org/drawingml/2006/main">
              <a:ext uri="{FF2B5EF4-FFF2-40B4-BE49-F238E27FC236}">
                <a16:creationId xmlns:a16="http://schemas.microsoft.com/office/drawing/2014/main" id="{FBF454E7-DD5A-46C0-8106-CF58F64943FF}"/>
              </a:ext>
            </a:extLst>
          </p:cNvPr>
          <p:cNvSpPr>
            <a:spLocks xmlns:a="http://schemas.openxmlformats.org/drawingml/2006/main" noGrp="1"/>
          </p:cNvSpPr>
          <p:nvPr/>
        </p:nvSpPr>
        <p:spPr>
          <a:xfrm xmlns:a="http://schemas.openxmlformats.org/drawingml/2006/main">
            <a:off x="9505950" y="268605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7" name="">
            <a:extLst xmlns:a="http://schemas.openxmlformats.org/drawingml/2006/main">
              <a:ext uri="{FF2B5EF4-FFF2-40B4-BE49-F238E27FC236}">
                <a16:creationId xmlns:a16="http://schemas.microsoft.com/office/drawing/2014/main" id="{B16D868C-3B39-40C9-BBDF-B6D42CED4CDB}"/>
              </a:ext>
            </a:extLst>
          </p:cNvPr>
          <p:cNvSpPr>
            <a:spLocks xmlns:a="http://schemas.openxmlformats.org/drawingml/2006/main" noGrp="1"/>
          </p:cNvSpPr>
          <p:nvPr/>
        </p:nvSpPr>
        <p:spPr>
          <a:xfrm xmlns:a="http://schemas.openxmlformats.org/drawingml/2006/main">
            <a:off x="9525000" y="272415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0.585667</a:t>
            </a:r>
          </a:p>
        </p:txBody>
      </p:sp>
      <p:sp>
        <p:nvSpPr>
          <p:cNvPr id="38" name="">
            <a:extLst xmlns:a="http://schemas.openxmlformats.org/drawingml/2006/main">
              <a:ext uri="{FF2B5EF4-FFF2-40B4-BE49-F238E27FC236}">
                <a16:creationId xmlns:a16="http://schemas.microsoft.com/office/drawing/2014/main" id="{D5C7D552-4850-42F9-92FC-6DA92A17DC53}"/>
              </a:ext>
            </a:extLst>
          </p:cNvPr>
          <p:cNvSpPr>
            <a:spLocks xmlns:a="http://schemas.openxmlformats.org/drawingml/2006/main" noGrp="1"/>
          </p:cNvSpPr>
          <p:nvPr/>
        </p:nvSpPr>
        <p:spPr>
          <a:xfrm xmlns:a="http://schemas.openxmlformats.org/drawingml/2006/main">
            <a:off x="10725150" y="268605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39" name="">
            <a:extLst xmlns:a="http://schemas.openxmlformats.org/drawingml/2006/main">
              <a:ext uri="{FF2B5EF4-FFF2-40B4-BE49-F238E27FC236}">
                <a16:creationId xmlns:a16="http://schemas.microsoft.com/office/drawing/2014/main" id="{A3EDCDFD-008B-4505-9646-566942016A12}"/>
              </a:ext>
            </a:extLst>
          </p:cNvPr>
          <p:cNvSpPr>
            <a:spLocks xmlns:a="http://schemas.openxmlformats.org/drawingml/2006/main" noGrp="1"/>
          </p:cNvSpPr>
          <p:nvPr/>
        </p:nvSpPr>
        <p:spPr>
          <a:xfrm xmlns:a="http://schemas.openxmlformats.org/drawingml/2006/main">
            <a:off x="10744200" y="272415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1.282198</a:t>
            </a:r>
          </a:p>
        </p:txBody>
      </p:sp>
      <p:sp>
        <p:nvSpPr>
          <p:cNvPr id="40" name="">
            <a:extLst xmlns:a="http://schemas.openxmlformats.org/drawingml/2006/main">
              <a:ext uri="{FF2B5EF4-FFF2-40B4-BE49-F238E27FC236}">
                <a16:creationId xmlns:a16="http://schemas.microsoft.com/office/drawing/2014/main" id="{236AFD4E-20D7-4039-B19E-8EB3A35510AB}"/>
              </a:ext>
            </a:extLst>
          </p:cNvPr>
          <p:cNvSpPr>
            <a:spLocks xmlns:a="http://schemas.openxmlformats.org/drawingml/2006/main" noGrp="1"/>
          </p:cNvSpPr>
          <p:nvPr/>
        </p:nvSpPr>
        <p:spPr>
          <a:xfrm xmlns:a="http://schemas.openxmlformats.org/drawingml/2006/main">
            <a:off x="7772400" y="320992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1" name="">
            <a:extLst xmlns:a="http://schemas.openxmlformats.org/drawingml/2006/main">
              <a:ext uri="{FF2B5EF4-FFF2-40B4-BE49-F238E27FC236}">
                <a16:creationId xmlns:a16="http://schemas.microsoft.com/office/drawing/2014/main" id="{A68A8945-8171-4F58-A591-BE2DFC138F96}"/>
              </a:ext>
            </a:extLst>
          </p:cNvPr>
          <p:cNvSpPr>
            <a:spLocks xmlns:a="http://schemas.openxmlformats.org/drawingml/2006/main" noGrp="1"/>
          </p:cNvSpPr>
          <p:nvPr/>
        </p:nvSpPr>
        <p:spPr>
          <a:xfrm xmlns:a="http://schemas.openxmlformats.org/drawingml/2006/main">
            <a:off x="7791450" y="324802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128</a:t>
            </a:r>
          </a:p>
        </p:txBody>
      </p:sp>
      <p:sp>
        <p:nvSpPr>
          <p:cNvPr id="42" name="">
            <a:extLst xmlns:a="http://schemas.openxmlformats.org/drawingml/2006/main">
              <a:ext uri="{FF2B5EF4-FFF2-40B4-BE49-F238E27FC236}">
                <a16:creationId xmlns:a16="http://schemas.microsoft.com/office/drawing/2014/main" id="{231BC57B-58AA-4F3D-8624-8BAB2947E481}"/>
              </a:ext>
            </a:extLst>
          </p:cNvPr>
          <p:cNvSpPr>
            <a:spLocks xmlns:a="http://schemas.openxmlformats.org/drawingml/2006/main" noGrp="1"/>
          </p:cNvSpPr>
          <p:nvPr/>
        </p:nvSpPr>
        <p:spPr>
          <a:xfrm xmlns:a="http://schemas.openxmlformats.org/drawingml/2006/main">
            <a:off x="8439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3" name="">
            <a:extLst xmlns:a="http://schemas.openxmlformats.org/drawingml/2006/main">
              <a:ext uri="{FF2B5EF4-FFF2-40B4-BE49-F238E27FC236}">
                <a16:creationId xmlns:a16="http://schemas.microsoft.com/office/drawing/2014/main" id="{6EDB4090-A562-4482-99B7-8E3FCF898AD7}"/>
              </a:ext>
            </a:extLst>
          </p:cNvPr>
          <p:cNvSpPr>
            <a:spLocks xmlns:a="http://schemas.openxmlformats.org/drawingml/2006/main" noGrp="1"/>
          </p:cNvSpPr>
          <p:nvPr/>
        </p:nvSpPr>
        <p:spPr>
          <a:xfrm xmlns:a="http://schemas.openxmlformats.org/drawingml/2006/main">
            <a:off x="8458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0.002635</a:t>
            </a:r>
          </a:p>
        </p:txBody>
      </p:sp>
      <p:sp>
        <p:nvSpPr>
          <p:cNvPr id="44" name="">
            <a:extLst xmlns:a="http://schemas.openxmlformats.org/drawingml/2006/main">
              <a:ext uri="{FF2B5EF4-FFF2-40B4-BE49-F238E27FC236}">
                <a16:creationId xmlns:a16="http://schemas.microsoft.com/office/drawing/2014/main" id="{9D9A783C-D268-45E2-B4C3-2B1C0C4DE9B0}"/>
              </a:ext>
            </a:extLst>
          </p:cNvPr>
          <p:cNvSpPr>
            <a:spLocks xmlns:a="http://schemas.openxmlformats.org/drawingml/2006/main" noGrp="1"/>
          </p:cNvSpPr>
          <p:nvPr/>
        </p:nvSpPr>
        <p:spPr>
          <a:xfrm xmlns:a="http://schemas.openxmlformats.org/drawingml/2006/main">
            <a:off x="9505950" y="320992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5" name="">
            <a:extLst xmlns:a="http://schemas.openxmlformats.org/drawingml/2006/main">
              <a:ext uri="{FF2B5EF4-FFF2-40B4-BE49-F238E27FC236}">
                <a16:creationId xmlns:a16="http://schemas.microsoft.com/office/drawing/2014/main" id="{02E5C43C-44CC-45D4-AFBD-15B39F02A7B3}"/>
              </a:ext>
            </a:extLst>
          </p:cNvPr>
          <p:cNvSpPr>
            <a:spLocks xmlns:a="http://schemas.openxmlformats.org/drawingml/2006/main" noGrp="1"/>
          </p:cNvSpPr>
          <p:nvPr/>
        </p:nvSpPr>
        <p:spPr>
          <a:xfrm xmlns:a="http://schemas.openxmlformats.org/drawingml/2006/main">
            <a:off x="9525000" y="324802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2.077959</a:t>
            </a:r>
          </a:p>
        </p:txBody>
      </p:sp>
      <p:sp>
        <p:nvSpPr>
          <p:cNvPr id="46" name="">
            <a:extLst xmlns:a="http://schemas.openxmlformats.org/drawingml/2006/main">
              <a:ext uri="{FF2B5EF4-FFF2-40B4-BE49-F238E27FC236}">
                <a16:creationId xmlns:a16="http://schemas.microsoft.com/office/drawing/2014/main" id="{524DEE16-AAE8-4A49-8B01-156A9BC9BAF9}"/>
              </a:ext>
            </a:extLst>
          </p:cNvPr>
          <p:cNvSpPr>
            <a:spLocks xmlns:a="http://schemas.openxmlformats.org/drawingml/2006/main" noGrp="1"/>
          </p:cNvSpPr>
          <p:nvPr/>
        </p:nvSpPr>
        <p:spPr>
          <a:xfrm xmlns:a="http://schemas.openxmlformats.org/drawingml/2006/main">
            <a:off x="10725150" y="320992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7" name="">
            <a:extLst xmlns:a="http://schemas.openxmlformats.org/drawingml/2006/main">
              <a:ext uri="{FF2B5EF4-FFF2-40B4-BE49-F238E27FC236}">
                <a16:creationId xmlns:a16="http://schemas.microsoft.com/office/drawing/2014/main" id="{549C4D0B-C355-470F-A0F9-17D10C844D3E}"/>
              </a:ext>
            </a:extLst>
          </p:cNvPr>
          <p:cNvSpPr>
            <a:spLocks xmlns:a="http://schemas.openxmlformats.org/drawingml/2006/main" noGrp="1"/>
          </p:cNvSpPr>
          <p:nvPr/>
        </p:nvSpPr>
        <p:spPr>
          <a:xfrm xmlns:a="http://schemas.openxmlformats.org/drawingml/2006/main">
            <a:off x="10744200" y="324802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2.815083</a:t>
            </a:r>
          </a:p>
        </p:txBody>
      </p:sp>
      <p:sp>
        <p:nvSpPr>
          <p:cNvPr id="48" name="">
            <a:extLst xmlns:a="http://schemas.openxmlformats.org/drawingml/2006/main">
              <a:ext uri="{FF2B5EF4-FFF2-40B4-BE49-F238E27FC236}">
                <a16:creationId xmlns:a16="http://schemas.microsoft.com/office/drawing/2014/main" id="{27E9FAF6-8574-45A2-BFE7-0AD116B74A62}"/>
              </a:ext>
            </a:extLst>
          </p:cNvPr>
          <p:cNvSpPr>
            <a:spLocks xmlns:a="http://schemas.openxmlformats.org/drawingml/2006/main" noGrp="1"/>
          </p:cNvSpPr>
          <p:nvPr/>
        </p:nvSpPr>
        <p:spPr>
          <a:xfrm xmlns:a="http://schemas.openxmlformats.org/drawingml/2006/main">
            <a:off x="7772400" y="3733800"/>
            <a:ext cx="66675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49" name="">
            <a:extLst xmlns:a="http://schemas.openxmlformats.org/drawingml/2006/main">
              <a:ext uri="{FF2B5EF4-FFF2-40B4-BE49-F238E27FC236}">
                <a16:creationId xmlns:a16="http://schemas.microsoft.com/office/drawing/2014/main" id="{583B328D-B6B5-416B-9238-739C949FABC3}"/>
              </a:ext>
            </a:extLst>
          </p:cNvPr>
          <p:cNvSpPr>
            <a:spLocks xmlns:a="http://schemas.openxmlformats.org/drawingml/2006/main" noGrp="1"/>
          </p:cNvSpPr>
          <p:nvPr/>
        </p:nvSpPr>
        <p:spPr>
          <a:xfrm xmlns:a="http://schemas.openxmlformats.org/drawingml/2006/main">
            <a:off x="7791450" y="3771900"/>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256</a:t>
            </a:r>
          </a:p>
        </p:txBody>
      </p:sp>
      <p:sp>
        <p:nvSpPr>
          <p:cNvPr id="50" name="">
            <a:extLst xmlns:a="http://schemas.openxmlformats.org/drawingml/2006/main">
              <a:ext uri="{FF2B5EF4-FFF2-40B4-BE49-F238E27FC236}">
                <a16:creationId xmlns:a16="http://schemas.microsoft.com/office/drawing/2014/main" id="{7341A71D-5CF6-4395-81E5-C11B98A709E2}"/>
              </a:ext>
            </a:extLst>
          </p:cNvPr>
          <p:cNvSpPr>
            <a:spLocks xmlns:a="http://schemas.openxmlformats.org/drawingml/2006/main" noGrp="1"/>
          </p:cNvSpPr>
          <p:nvPr/>
        </p:nvSpPr>
        <p:spPr>
          <a:xfrm xmlns:a="http://schemas.openxmlformats.org/drawingml/2006/main">
            <a:off x="8439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1" name="">
            <a:extLst xmlns:a="http://schemas.openxmlformats.org/drawingml/2006/main">
              <a:ext uri="{FF2B5EF4-FFF2-40B4-BE49-F238E27FC236}">
                <a16:creationId xmlns:a16="http://schemas.microsoft.com/office/drawing/2014/main" id="{5788938B-65CD-4464-86A6-8D630719EF3C}"/>
              </a:ext>
            </a:extLst>
          </p:cNvPr>
          <p:cNvSpPr>
            <a:spLocks xmlns:a="http://schemas.openxmlformats.org/drawingml/2006/main" noGrp="1"/>
          </p:cNvSpPr>
          <p:nvPr/>
        </p:nvSpPr>
        <p:spPr>
          <a:xfrm xmlns:a="http://schemas.openxmlformats.org/drawingml/2006/main">
            <a:off x="8458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0.005208</a:t>
            </a:r>
          </a:p>
        </p:txBody>
      </p:sp>
      <p:sp>
        <p:nvSpPr>
          <p:cNvPr id="52" name="">
            <a:extLst xmlns:a="http://schemas.openxmlformats.org/drawingml/2006/main">
              <a:ext uri="{FF2B5EF4-FFF2-40B4-BE49-F238E27FC236}">
                <a16:creationId xmlns:a16="http://schemas.microsoft.com/office/drawing/2014/main" id="{67D6D650-7DF3-45C3-980E-A7EF31EB1042}"/>
              </a:ext>
            </a:extLst>
          </p:cNvPr>
          <p:cNvSpPr>
            <a:spLocks xmlns:a="http://schemas.openxmlformats.org/drawingml/2006/main" noGrp="1"/>
          </p:cNvSpPr>
          <p:nvPr/>
        </p:nvSpPr>
        <p:spPr>
          <a:xfrm xmlns:a="http://schemas.openxmlformats.org/drawingml/2006/main">
            <a:off x="9505950" y="3733800"/>
            <a:ext cx="12192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3" name="">
            <a:extLst xmlns:a="http://schemas.openxmlformats.org/drawingml/2006/main">
              <a:ext uri="{FF2B5EF4-FFF2-40B4-BE49-F238E27FC236}">
                <a16:creationId xmlns:a16="http://schemas.microsoft.com/office/drawing/2014/main" id="{7CE1C7AB-E44D-432A-9B0A-B602F6DD3CDC}"/>
              </a:ext>
            </a:extLst>
          </p:cNvPr>
          <p:cNvSpPr>
            <a:spLocks xmlns:a="http://schemas.openxmlformats.org/drawingml/2006/main" noGrp="1"/>
          </p:cNvSpPr>
          <p:nvPr/>
        </p:nvSpPr>
        <p:spPr>
          <a:xfrm xmlns:a="http://schemas.openxmlformats.org/drawingml/2006/main">
            <a:off x="9525000" y="3771900"/>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7.929646</a:t>
            </a:r>
          </a:p>
        </p:txBody>
      </p:sp>
      <p:sp>
        <p:nvSpPr>
          <p:cNvPr id="54" name="">
            <a:extLst xmlns:a="http://schemas.openxmlformats.org/drawingml/2006/main">
              <a:ext uri="{FF2B5EF4-FFF2-40B4-BE49-F238E27FC236}">
                <a16:creationId xmlns:a16="http://schemas.microsoft.com/office/drawing/2014/main" id="{2AC15408-D7A9-46BD-92AB-337FDFB19E21}"/>
              </a:ext>
            </a:extLst>
          </p:cNvPr>
          <p:cNvSpPr>
            <a:spLocks xmlns:a="http://schemas.openxmlformats.org/drawingml/2006/main" noGrp="1"/>
          </p:cNvSpPr>
          <p:nvPr/>
        </p:nvSpPr>
        <p:spPr>
          <a:xfrm xmlns:a="http://schemas.openxmlformats.org/drawingml/2006/main">
            <a:off x="10725150" y="3733800"/>
            <a:ext cx="1066800" cy="523875"/>
          </a:xfrm>
          <a:prstGeom xmlns:a="http://schemas.openxmlformats.org/drawingml/2006/main" prst="rect">
            <a:avLst/>
          </a:prstGeom>
          <a:solidFill xmlns:a="http://schemas.openxmlformats.org/drawingml/2006/main">
            <a:srgbClr val="EAF1F8"/>
          </a:solidFill>
          <a:ln xmlns:a="http://schemas.openxmlformats.org/drawingml/2006/main" w="11430">
            <a:solidFill>
              <a:srgbClr val="D9E2EC"/>
            </a:solidFill>
            <a:prstDash val="solid"/>
          </a:ln>
        </p:spPr>
      </p:sp>
      <p:sp>
        <p:nvSpPr>
          <p:cNvPr id="55" name="">
            <a:extLst xmlns:a="http://schemas.openxmlformats.org/drawingml/2006/main">
              <a:ext uri="{FF2B5EF4-FFF2-40B4-BE49-F238E27FC236}">
                <a16:creationId xmlns:a16="http://schemas.microsoft.com/office/drawing/2014/main" id="{FAF138B6-982F-4104-A981-7877F7493459}"/>
              </a:ext>
            </a:extLst>
          </p:cNvPr>
          <p:cNvSpPr>
            <a:spLocks xmlns:a="http://schemas.openxmlformats.org/drawingml/2006/main" noGrp="1"/>
          </p:cNvSpPr>
          <p:nvPr/>
        </p:nvSpPr>
        <p:spPr>
          <a:xfrm xmlns:a="http://schemas.openxmlformats.org/drawingml/2006/main">
            <a:off x="10744200" y="3771900"/>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6.721250</a:t>
            </a:r>
          </a:p>
        </p:txBody>
      </p:sp>
      <p:sp>
        <p:nvSpPr>
          <p:cNvPr id="56" name="">
            <a:extLst xmlns:a="http://schemas.openxmlformats.org/drawingml/2006/main">
              <a:ext uri="{FF2B5EF4-FFF2-40B4-BE49-F238E27FC236}">
                <a16:creationId xmlns:a16="http://schemas.microsoft.com/office/drawing/2014/main" id="{8ECE2548-4F19-4E72-A701-31FCF66E5443}"/>
              </a:ext>
            </a:extLst>
          </p:cNvPr>
          <p:cNvSpPr>
            <a:spLocks xmlns:a="http://schemas.openxmlformats.org/drawingml/2006/main" noGrp="1"/>
          </p:cNvSpPr>
          <p:nvPr/>
        </p:nvSpPr>
        <p:spPr>
          <a:xfrm xmlns:a="http://schemas.openxmlformats.org/drawingml/2006/main">
            <a:off x="7772400" y="4257675"/>
            <a:ext cx="66675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7" name="">
            <a:extLst xmlns:a="http://schemas.openxmlformats.org/drawingml/2006/main">
              <a:ext uri="{FF2B5EF4-FFF2-40B4-BE49-F238E27FC236}">
                <a16:creationId xmlns:a16="http://schemas.microsoft.com/office/drawing/2014/main" id="{074214A9-2839-4DB3-89D5-F207C716F028}"/>
              </a:ext>
            </a:extLst>
          </p:cNvPr>
          <p:cNvSpPr>
            <a:spLocks xmlns:a="http://schemas.openxmlformats.org/drawingml/2006/main" noGrp="1"/>
          </p:cNvSpPr>
          <p:nvPr/>
        </p:nvSpPr>
        <p:spPr>
          <a:xfrm xmlns:a="http://schemas.openxmlformats.org/drawingml/2006/main">
            <a:off x="7791450" y="4295775"/>
            <a:ext cx="628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512</a:t>
            </a:r>
          </a:p>
        </p:txBody>
      </p:sp>
      <p:sp>
        <p:nvSpPr>
          <p:cNvPr id="58" name="">
            <a:extLst xmlns:a="http://schemas.openxmlformats.org/drawingml/2006/main">
              <a:ext uri="{FF2B5EF4-FFF2-40B4-BE49-F238E27FC236}">
                <a16:creationId xmlns:a16="http://schemas.microsoft.com/office/drawing/2014/main" id="{216DF69D-BEE4-41AF-B9BC-E3B9D511F09D}"/>
              </a:ext>
            </a:extLst>
          </p:cNvPr>
          <p:cNvSpPr>
            <a:spLocks xmlns:a="http://schemas.openxmlformats.org/drawingml/2006/main" noGrp="1"/>
          </p:cNvSpPr>
          <p:nvPr/>
        </p:nvSpPr>
        <p:spPr>
          <a:xfrm xmlns:a="http://schemas.openxmlformats.org/drawingml/2006/main">
            <a:off x="8439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9" name="">
            <a:extLst xmlns:a="http://schemas.openxmlformats.org/drawingml/2006/main">
              <a:ext uri="{FF2B5EF4-FFF2-40B4-BE49-F238E27FC236}">
                <a16:creationId xmlns:a16="http://schemas.microsoft.com/office/drawing/2014/main" id="{25EE7473-E8D0-4777-9E4D-86AACBDB47C8}"/>
              </a:ext>
            </a:extLst>
          </p:cNvPr>
          <p:cNvSpPr>
            <a:spLocks xmlns:a="http://schemas.openxmlformats.org/drawingml/2006/main" noGrp="1"/>
          </p:cNvSpPr>
          <p:nvPr/>
        </p:nvSpPr>
        <p:spPr>
          <a:xfrm xmlns:a="http://schemas.openxmlformats.org/drawingml/2006/main">
            <a:off x="8458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0.010584</a:t>
            </a:r>
          </a:p>
        </p:txBody>
      </p:sp>
      <p:sp>
        <p:nvSpPr>
          <p:cNvPr id="60" name="">
            <a:extLst xmlns:a="http://schemas.openxmlformats.org/drawingml/2006/main">
              <a:ext uri="{FF2B5EF4-FFF2-40B4-BE49-F238E27FC236}">
                <a16:creationId xmlns:a16="http://schemas.microsoft.com/office/drawing/2014/main" id="{5C50A5FA-CB92-40E8-BF92-352AE2EDAB7B}"/>
              </a:ext>
            </a:extLst>
          </p:cNvPr>
          <p:cNvSpPr>
            <a:spLocks xmlns:a="http://schemas.openxmlformats.org/drawingml/2006/main" noGrp="1"/>
          </p:cNvSpPr>
          <p:nvPr/>
        </p:nvSpPr>
        <p:spPr>
          <a:xfrm xmlns:a="http://schemas.openxmlformats.org/drawingml/2006/main">
            <a:off x="9505950" y="4257675"/>
            <a:ext cx="12192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1" name="">
            <a:extLst xmlns:a="http://schemas.openxmlformats.org/drawingml/2006/main">
              <a:ext uri="{FF2B5EF4-FFF2-40B4-BE49-F238E27FC236}">
                <a16:creationId xmlns:a16="http://schemas.microsoft.com/office/drawing/2014/main" id="{A300F073-5A12-4C4D-81AF-851F04E0FE0E}"/>
              </a:ext>
            </a:extLst>
          </p:cNvPr>
          <p:cNvSpPr>
            <a:spLocks xmlns:a="http://schemas.openxmlformats.org/drawingml/2006/main" noGrp="1"/>
          </p:cNvSpPr>
          <p:nvPr/>
        </p:nvSpPr>
        <p:spPr>
          <a:xfrm xmlns:a="http://schemas.openxmlformats.org/drawingml/2006/main">
            <a:off x="9525000" y="4295775"/>
            <a:ext cx="11811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33.014458</a:t>
            </a:r>
          </a:p>
        </p:txBody>
      </p:sp>
      <p:sp>
        <p:nvSpPr>
          <p:cNvPr id="62" name="">
            <a:extLst xmlns:a="http://schemas.openxmlformats.org/drawingml/2006/main">
              <a:ext uri="{FF2B5EF4-FFF2-40B4-BE49-F238E27FC236}">
                <a16:creationId xmlns:a16="http://schemas.microsoft.com/office/drawing/2014/main" id="{483ACF50-B437-40C9-8F41-0BBE17811284}"/>
              </a:ext>
            </a:extLst>
          </p:cNvPr>
          <p:cNvSpPr>
            <a:spLocks xmlns:a="http://schemas.openxmlformats.org/drawingml/2006/main" noGrp="1"/>
          </p:cNvSpPr>
          <p:nvPr/>
        </p:nvSpPr>
        <p:spPr>
          <a:xfrm xmlns:a="http://schemas.openxmlformats.org/drawingml/2006/main">
            <a:off x="10725150" y="4257675"/>
            <a:ext cx="1066800" cy="523875"/>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63" name="">
            <a:extLst xmlns:a="http://schemas.openxmlformats.org/drawingml/2006/main">
              <a:ext uri="{FF2B5EF4-FFF2-40B4-BE49-F238E27FC236}">
                <a16:creationId xmlns:a16="http://schemas.microsoft.com/office/drawing/2014/main" id="{28C10C1E-1649-4AE9-953E-856484E64160}"/>
              </a:ext>
            </a:extLst>
          </p:cNvPr>
          <p:cNvSpPr>
            <a:spLocks xmlns:a="http://schemas.openxmlformats.org/drawingml/2006/main" noGrp="1"/>
          </p:cNvSpPr>
          <p:nvPr/>
        </p:nvSpPr>
        <p:spPr>
          <a:xfrm xmlns:a="http://schemas.openxmlformats.org/drawingml/2006/main">
            <a:off x="10744200" y="4295775"/>
            <a:ext cx="10287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00" b="0" i="0">
                <a:solidFill>
                  <a:srgbClr val="243B53"/>
                </a:solidFill>
              </a:defRPr>
            </a:pPr>
            <a:r>
              <a:rPr sz="1200" b="0" i="0">
                <a:solidFill>
                  <a:srgbClr val="243B53"/>
                </a:solidFill>
              </a:rPr>
              <a:t>18.716687</a:t>
            </a:r>
          </a:p>
        </p:txBody>
      </p:sp>
      <p:sp>
        <p:nvSpPr>
          <p:cNvPr id="64" name="">
            <a:extLst xmlns:a="http://schemas.openxmlformats.org/drawingml/2006/main">
              <a:ext uri="{FF2B5EF4-FFF2-40B4-BE49-F238E27FC236}">
                <a16:creationId xmlns:a16="http://schemas.microsoft.com/office/drawing/2014/main" id="{B06BA8BD-5701-4376-9E05-6BB747716668}"/>
              </a:ext>
            </a:extLst>
          </p:cNvPr>
          <p:cNvSpPr>
            <a:spLocks xmlns:a="http://schemas.openxmlformats.org/drawingml/2006/main" noGrp="1"/>
          </p:cNvSpPr>
          <p:nvPr/>
        </p:nvSpPr>
        <p:spPr>
          <a:xfrm xmlns:a="http://schemas.openxmlformats.org/drawingml/2006/main">
            <a:off x="7848600" y="508635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52606D"/>
                </a:solidFill>
              </a:defRPr>
            </a:pPr>
            <a:r>
              <a:rPr sz="1275" b="0" i="0">
                <a:solidFill>
                  <a:srgbClr val="52606D"/>
                </a:solidFill>
              </a:rPr>
              <a:t>Absolute times belong to one recorded Apple M4 / CPython 3.12.4 execution.</a:t>
            </a:r>
          </a:p>
        </p:txBody>
      </p:sp>
    </p:spTree>
    <p:extLst>
      <p:ext uri="{BB962C8B-B14F-4D97-AF65-F5344CB8AC3E}">
        <p14:creationId xmlns:p14="http://schemas.microsoft.com/office/powerpoint/2010/main" val="307043971"/>
      </p:ext>
    </p:extLst>
  </p:cSld>
</p:sld>
</file>

<file path=ppt/slides/slide18.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9BE80D2-207F-4C33-9C91-B99226E0BE5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B</a:t>
            </a:r>
          </a:p>
        </p:txBody>
      </p:sp>
      <p:sp>
        <p:nvSpPr>
          <p:cNvPr id="2" name="">
            <a:extLst xmlns:a="http://schemas.openxmlformats.org/drawingml/2006/main">
              <a:ext uri="{FF2B5EF4-FFF2-40B4-BE49-F238E27FC236}">
                <a16:creationId xmlns:a16="http://schemas.microsoft.com/office/drawing/2014/main" id="{CAF91263-5838-4DBC-BCD3-69BD1FD57EB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Paper output is recovered from state, not from the oracle result</a:t>
            </a:r>
          </a:p>
        </p:txBody>
      </p:sp>
      <p:sp>
        <p:nvSpPr>
          <p:cNvPr id="3" name="">
            <a:extLst xmlns:a="http://schemas.openxmlformats.org/drawingml/2006/main">
              <a:ext uri="{FF2B5EF4-FFF2-40B4-BE49-F238E27FC236}">
                <a16:creationId xmlns:a16="http://schemas.microsoft.com/office/drawing/2014/main" id="{4DEB3CC8-E781-4A0D-BC0C-C600AE6804B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FC79B237-0570-4845-B0C2-9FB274FBF92C}"/>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66CF26F-2F04-4A54-A6AC-4E418A4FF7A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CF9AB10B-7BE0-4346-9159-4B09ACE3BDC6}"/>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B</a:t>
            </a:r>
          </a:p>
        </p:txBody>
      </p:sp>
      <p:sp>
        <p:nvSpPr>
          <p:cNvPr id="7" name="">
            <a:extLst xmlns:a="http://schemas.openxmlformats.org/drawingml/2006/main">
              <a:ext uri="{FF2B5EF4-FFF2-40B4-BE49-F238E27FC236}">
                <a16:creationId xmlns:a16="http://schemas.microsoft.com/office/drawing/2014/main" id="{75CCC6D2-E9C9-4C53-AF63-E6997527B132}"/>
              </a:ext>
            </a:extLst>
          </p:cNvPr>
          <p:cNvSpPr>
            <a:spLocks xmlns:a="http://schemas.openxmlformats.org/drawingml/2006/main" noGrp="1"/>
          </p:cNvSpPr>
          <p:nvPr/>
        </p:nvSpPr>
        <p:spPr>
          <a:xfrm xmlns:a="http://schemas.openxmlformats.org/drawingml/2006/main">
            <a:off x="971550" y="1543050"/>
            <a:ext cx="4095750" cy="3562350"/>
          </a:xfrm>
          <a:prstGeom xmlns:a="http://schemas.openxmlformats.org/drawingml/2006/main" prst="roundRect">
            <a:avLst>
              <a:gd name="adj" fmla="val 2139"/>
            </a:avLst>
          </a:prstGeom>
          <a:solidFill xmlns:a="http://schemas.openxmlformats.org/drawingml/2006/main">
            <a:srgbClr val="FCEEEA"/>
          </a:solidFill>
          <a:ln xmlns:a="http://schemas.openxmlformats.org/drawingml/2006/main" w="19050">
            <a:solidFill>
              <a:srgbClr val="E76F51"/>
            </a:solidFill>
            <a:prstDash val="solid"/>
          </a:ln>
        </p:spPr>
      </p:sp>
      <p:sp>
        <p:nvSpPr>
          <p:cNvPr id="8" name="">
            <a:extLst xmlns:a="http://schemas.openxmlformats.org/drawingml/2006/main">
              <a:ext uri="{FF2B5EF4-FFF2-40B4-BE49-F238E27FC236}">
                <a16:creationId xmlns:a16="http://schemas.microsoft.com/office/drawing/2014/main" id="{6D14B8EF-628A-4DA4-8BFC-500F6C63199B}"/>
              </a:ext>
            </a:extLst>
          </p:cNvPr>
          <p:cNvSpPr>
            <a:spLocks xmlns:a="http://schemas.openxmlformats.org/drawingml/2006/main" noGrp="1"/>
          </p:cNvSpPr>
          <p:nvPr/>
        </p:nvSpPr>
        <p:spPr>
          <a:xfrm xmlns:a="http://schemas.openxmlformats.org/drawingml/2006/main">
            <a:off x="7124700" y="1543050"/>
            <a:ext cx="4095750" cy="3562350"/>
          </a:xfrm>
          <a:prstGeom xmlns:a="http://schemas.openxmlformats.org/drawingml/2006/main" prst="roundRect">
            <a:avLst>
              <a:gd name="adj" fmla="val 2139"/>
            </a:avLst>
          </a:prstGeom>
          <a:solidFill xmlns:a="http://schemas.openxmlformats.org/drawingml/2006/main">
            <a:srgbClr val="E8F5F3"/>
          </a:solidFill>
          <a:ln xmlns:a="http://schemas.openxmlformats.org/drawingml/2006/main" w="19050">
            <a:solidFill>
              <a:srgbClr val="2A9D8F"/>
            </a:solidFill>
            <a:prstDash val="solid"/>
          </a:ln>
        </p:spPr>
      </p:sp>
      <p:sp>
        <p:nvSpPr>
          <p:cNvPr id="9" name="">
            <a:extLst xmlns:a="http://schemas.openxmlformats.org/drawingml/2006/main">
              <a:ext uri="{FF2B5EF4-FFF2-40B4-BE49-F238E27FC236}">
                <a16:creationId xmlns:a16="http://schemas.microsoft.com/office/drawing/2014/main" id="{6472B8AC-CF45-4A76-93BF-4178CCB3FAED}"/>
              </a:ext>
            </a:extLst>
          </p:cNvPr>
          <p:cNvSpPr>
            <a:spLocks xmlns:a="http://schemas.openxmlformats.org/drawingml/2006/main" noGrp="1"/>
          </p:cNvSpPr>
          <p:nvPr/>
        </p:nvSpPr>
        <p:spPr>
          <a:xfrm xmlns:a="http://schemas.openxmlformats.org/drawingml/2006/main">
            <a:off x="123825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E76F51"/>
                </a:solidFill>
              </a:defRPr>
            </a:pPr>
            <a:r>
              <a:rPr sz="2100" b="1" i="0">
                <a:solidFill>
                  <a:srgbClr val="E76F51"/>
                </a:solidFill>
              </a:rPr>
              <a:t>Reference pipeline</a:t>
            </a:r>
          </a:p>
        </p:txBody>
      </p:sp>
      <p:sp>
        <p:nvSpPr>
          <p:cNvPr id="10" name="">
            <a:extLst xmlns:a="http://schemas.openxmlformats.org/drawingml/2006/main">
              <a:ext uri="{FF2B5EF4-FFF2-40B4-BE49-F238E27FC236}">
                <a16:creationId xmlns:a16="http://schemas.microsoft.com/office/drawing/2014/main" id="{93732A31-A6EF-47C2-AF24-078716197B79}"/>
              </a:ext>
            </a:extLst>
          </p:cNvPr>
          <p:cNvSpPr>
            <a:spLocks xmlns:a="http://schemas.openxmlformats.org/drawingml/2006/main" noGrp="1"/>
          </p:cNvSpPr>
          <p:nvPr/>
        </p:nvSpPr>
        <p:spPr>
          <a:xfrm xmlns:a="http://schemas.openxmlformats.org/drawingml/2006/main">
            <a:off x="123825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oracle_result["sorted"]</a:t>
            </a:r>
          </a:p>
        </p:txBody>
      </p:sp>
      <p:sp>
        <p:nvSpPr>
          <p:cNvPr id="11" name="">
            <a:extLst xmlns:a="http://schemas.openxmlformats.org/drawingml/2006/main">
              <a:ext uri="{FF2B5EF4-FFF2-40B4-BE49-F238E27FC236}">
                <a16:creationId xmlns:a16="http://schemas.microsoft.com/office/drawing/2014/main" id="{537A2ADE-9724-4A58-933B-0C02ABAC5D59}"/>
              </a:ext>
            </a:extLst>
          </p:cNvPr>
          <p:cNvSpPr>
            <a:spLocks xmlns:a="http://schemas.openxmlformats.org/drawingml/2006/main" noGrp="1"/>
          </p:cNvSpPr>
          <p:nvPr/>
        </p:nvSpPr>
        <p:spPr>
          <a:xfrm xmlns:a="http://schemas.openxmlformats.org/drawingml/2006/main">
            <a:off x="1428750" y="3429000"/>
            <a:ext cx="31813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Oracle validation, structure, trace, and serializable result assembly are part of the reference call.</a:t>
            </a:r>
          </a:p>
        </p:txBody>
      </p:sp>
      <p:sp>
        <p:nvSpPr>
          <p:cNvPr id="12" name="">
            <a:extLst xmlns:a="http://schemas.openxmlformats.org/drawingml/2006/main">
              <a:ext uri="{FF2B5EF4-FFF2-40B4-BE49-F238E27FC236}">
                <a16:creationId xmlns:a16="http://schemas.microsoft.com/office/drawing/2014/main" id="{BAF5B4B0-5CD0-483E-9885-04B917C40468}"/>
              </a:ext>
            </a:extLst>
          </p:cNvPr>
          <p:cNvSpPr>
            <a:spLocks xmlns:a="http://schemas.openxmlformats.org/drawingml/2006/main" noGrp="1"/>
          </p:cNvSpPr>
          <p:nvPr/>
        </p:nvSpPr>
        <p:spPr>
          <a:xfrm xmlns:a="http://schemas.openxmlformats.org/drawingml/2006/main">
            <a:off x="7391400" y="179070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2100" b="1" i="0">
                <a:solidFill>
                  <a:srgbClr val="2A9D8F"/>
                </a:solidFill>
              </a:defRPr>
            </a:pPr>
            <a:r>
              <a:rPr sz="2100" b="1" i="0">
                <a:solidFill>
                  <a:srgbClr val="2A9D8F"/>
                </a:solidFill>
              </a:rPr>
              <a:t>Paper core</a:t>
            </a:r>
          </a:p>
        </p:txBody>
      </p:sp>
      <p:sp>
        <p:nvSpPr>
          <p:cNvPr id="13" name="">
            <a:extLst xmlns:a="http://schemas.openxmlformats.org/drawingml/2006/main">
              <a:ext uri="{FF2B5EF4-FFF2-40B4-BE49-F238E27FC236}">
                <a16:creationId xmlns:a16="http://schemas.microsoft.com/office/drawing/2014/main" id="{51E7A247-A831-4FDA-B955-3D50C0AF3A0E}"/>
              </a:ext>
            </a:extLst>
          </p:cNvPr>
          <p:cNvSpPr>
            <a:spLocks xmlns:a="http://schemas.openxmlformats.org/drawingml/2006/main" noGrp="1"/>
          </p:cNvSpPr>
          <p:nvPr/>
        </p:nvSpPr>
        <p:spPr>
          <a:xfrm xmlns:a="http://schemas.openxmlformats.org/drawingml/2006/main">
            <a:off x="7391400" y="2571750"/>
            <a:ext cx="3562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state.partial_order.to_list()</a:t>
            </a:r>
          </a:p>
        </p:txBody>
      </p:sp>
      <p:sp>
        <p:nvSpPr>
          <p:cNvPr id="14" name="">
            <a:extLst xmlns:a="http://schemas.openxmlformats.org/drawingml/2006/main">
              <a:ext uri="{FF2B5EF4-FFF2-40B4-BE49-F238E27FC236}">
                <a16:creationId xmlns:a16="http://schemas.microsoft.com/office/drawing/2014/main" id="{3701EA68-7CE8-41E6-8734-6429C6C14739}"/>
              </a:ext>
            </a:extLst>
          </p:cNvPr>
          <p:cNvSpPr>
            <a:spLocks xmlns:a="http://schemas.openxmlformats.org/drawingml/2006/main" noGrp="1"/>
          </p:cNvSpPr>
          <p:nvPr/>
        </p:nvSpPr>
        <p:spPr>
          <a:xfrm xmlns:a="http://schemas.openxmlformats.org/drawingml/2006/main">
            <a:off x="7581900" y="3352800"/>
            <a:ext cx="318135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Certification precedes the call. Output comparison follows it. Neither provides the paper core's return value.</a:t>
            </a:r>
          </a:p>
        </p:txBody>
      </p:sp>
      <p:sp>
        <p:nvSpPr>
          <p:cNvPr id="15" name="">
            <a:extLst xmlns:a="http://schemas.openxmlformats.org/drawingml/2006/main">
              <a:ext uri="{FF2B5EF4-FFF2-40B4-BE49-F238E27FC236}">
                <a16:creationId xmlns:a16="http://schemas.microsoft.com/office/drawing/2014/main" id="{DEF64C1B-FC00-4BAB-BD5B-DDB6544EC5B0}"/>
              </a:ext>
            </a:extLst>
          </p:cNvPr>
          <p:cNvSpPr>
            <a:spLocks xmlns:a="http://schemas.openxmlformats.org/drawingml/2006/main" noGrp="1"/>
          </p:cNvSpPr>
          <p:nvPr/>
        </p:nvSpPr>
        <p:spPr>
          <a:xfrm xmlns:a="http://schemas.openxmlformats.org/drawingml/2006/main">
            <a:off x="2190750" y="56197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Same expected answer, different output provenance.</a:t>
            </a:r>
          </a:p>
        </p:txBody>
      </p:sp>
    </p:spTree>
    <p:extLst>
      <p:ext uri="{BB962C8B-B14F-4D97-AF65-F5344CB8AC3E}">
        <p14:creationId xmlns:p14="http://schemas.microsoft.com/office/powerpoint/2010/main" val="1707585439"/>
      </p:ext>
    </p:extLst>
  </p:cSld>
</p:sld>
</file>

<file path=ppt/slides/slide19.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16E0837-DE6B-4D19-90B5-BD26CE3AF96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C</a:t>
            </a:r>
          </a:p>
        </p:txBody>
      </p:sp>
      <p:sp>
        <p:nvSpPr>
          <p:cNvPr id="2" name="">
            <a:extLst xmlns:a="http://schemas.openxmlformats.org/drawingml/2006/main">
              <a:ext uri="{FF2B5EF4-FFF2-40B4-BE49-F238E27FC236}">
                <a16:creationId xmlns:a16="http://schemas.microsoft.com/office/drawing/2014/main" id="{CCE6BFC1-ABAC-44E1-A4F0-95E944628AB9}"/>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Validation summary for the current implementation baseline</a:t>
            </a:r>
          </a:p>
        </p:txBody>
      </p:sp>
      <p:sp>
        <p:nvSpPr>
          <p:cNvPr id="3" name="">
            <a:extLst xmlns:a="http://schemas.openxmlformats.org/drawingml/2006/main">
              <a:ext uri="{FF2B5EF4-FFF2-40B4-BE49-F238E27FC236}">
                <a16:creationId xmlns:a16="http://schemas.microsoft.com/office/drawing/2014/main" id="{7A6C4F3E-910D-4DB5-8DD4-8F0C8AE89F37}"/>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E1DF901E-4FF8-4D27-9353-B681CB73253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C2E7E065-18B0-4362-8682-6CE44F7F533F}"/>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C6F48280-2624-4D4D-9520-F06F671B7EEC}"/>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C</a:t>
            </a:r>
          </a:p>
        </p:txBody>
      </p:sp>
      <p:sp>
        <p:nvSpPr>
          <p:cNvPr id="7" name="">
            <a:extLst xmlns:a="http://schemas.openxmlformats.org/drawingml/2006/main">
              <a:ext uri="{FF2B5EF4-FFF2-40B4-BE49-F238E27FC236}">
                <a16:creationId xmlns:a16="http://schemas.microsoft.com/office/drawing/2014/main" id="{C030B61D-EBA3-40C6-AFA9-326116896162}"/>
              </a:ext>
            </a:extLst>
          </p:cNvPr>
          <p:cNvSpPr>
            <a:spLocks xmlns:a="http://schemas.openxmlformats.org/drawingml/2006/main" noGrp="1"/>
          </p:cNvSpPr>
          <p:nvPr/>
        </p:nvSpPr>
        <p:spPr>
          <a:xfrm xmlns:a="http://schemas.openxmlformats.org/drawingml/2006/main">
            <a:off x="990600" y="15049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537</a:t>
            </a:r>
          </a:p>
        </p:txBody>
      </p:sp>
      <p:sp>
        <p:nvSpPr>
          <p:cNvPr id="8" name="">
            <a:extLst xmlns:a="http://schemas.openxmlformats.org/drawingml/2006/main">
              <a:ext uri="{FF2B5EF4-FFF2-40B4-BE49-F238E27FC236}">
                <a16:creationId xmlns:a16="http://schemas.microsoft.com/office/drawing/2014/main" id="{586562F3-F812-4249-AB50-40270BE59506}"/>
              </a:ext>
            </a:extLst>
          </p:cNvPr>
          <p:cNvSpPr>
            <a:spLocks xmlns:a="http://schemas.openxmlformats.org/drawingml/2006/main" noGrp="1"/>
          </p:cNvSpPr>
          <p:nvPr/>
        </p:nvSpPr>
        <p:spPr>
          <a:xfrm xmlns:a="http://schemas.openxmlformats.org/drawingml/2006/main">
            <a:off x="3676650" y="16192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5FF72575-D692-4CB4-8B03-ECFEC2F076EC}"/>
              </a:ext>
            </a:extLst>
          </p:cNvPr>
          <p:cNvSpPr>
            <a:spLocks xmlns:a="http://schemas.openxmlformats.org/drawingml/2006/main" noGrp="1"/>
          </p:cNvSpPr>
          <p:nvPr/>
        </p:nvSpPr>
        <p:spPr>
          <a:xfrm xmlns:a="http://schemas.openxmlformats.org/drawingml/2006/main">
            <a:off x="4000500" y="15049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repository tests</a:t>
            </a:r>
          </a:p>
        </p:txBody>
      </p:sp>
      <p:sp>
        <p:nvSpPr>
          <p:cNvPr id="10" name="">
            <a:extLst xmlns:a="http://schemas.openxmlformats.org/drawingml/2006/main">
              <a:ext uri="{FF2B5EF4-FFF2-40B4-BE49-F238E27FC236}">
                <a16:creationId xmlns:a16="http://schemas.microsoft.com/office/drawing/2014/main" id="{D16A42BA-54A3-4C2F-989F-C15EF5E6E1EE}"/>
              </a:ext>
            </a:extLst>
          </p:cNvPr>
          <p:cNvSpPr>
            <a:spLocks xmlns:a="http://schemas.openxmlformats.org/drawingml/2006/main" noGrp="1"/>
          </p:cNvSpPr>
          <p:nvPr/>
        </p:nvSpPr>
        <p:spPr>
          <a:xfrm xmlns:a="http://schemas.openxmlformats.org/drawingml/2006/main">
            <a:off x="990600" y="23431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2,074</a:t>
            </a:r>
          </a:p>
        </p:txBody>
      </p:sp>
      <p:sp>
        <p:nvSpPr>
          <p:cNvPr id="11" name="">
            <a:extLst xmlns:a="http://schemas.openxmlformats.org/drawingml/2006/main">
              <a:ext uri="{FF2B5EF4-FFF2-40B4-BE49-F238E27FC236}">
                <a16:creationId xmlns:a16="http://schemas.microsoft.com/office/drawing/2014/main" id="{EA9C988F-05B2-414F-986B-20F9BE239654}"/>
              </a:ext>
            </a:extLst>
          </p:cNvPr>
          <p:cNvSpPr>
            <a:spLocks xmlns:a="http://schemas.openxmlformats.org/drawingml/2006/main" noGrp="1"/>
          </p:cNvSpPr>
          <p:nvPr/>
        </p:nvSpPr>
        <p:spPr>
          <a:xfrm xmlns:a="http://schemas.openxmlformats.org/drawingml/2006/main">
            <a:off x="3676650" y="24574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2" name="">
            <a:extLst xmlns:a="http://schemas.openxmlformats.org/drawingml/2006/main">
              <a:ext uri="{FF2B5EF4-FFF2-40B4-BE49-F238E27FC236}">
                <a16:creationId xmlns:a16="http://schemas.microsoft.com/office/drawing/2014/main" id="{22144C4B-1B29-43A2-B849-DC796790F0C2}"/>
              </a:ext>
            </a:extLst>
          </p:cNvPr>
          <p:cNvSpPr>
            <a:spLocks xmlns:a="http://schemas.openxmlformats.org/drawingml/2006/main" noGrp="1"/>
          </p:cNvSpPr>
          <p:nvPr/>
        </p:nvSpPr>
        <p:spPr>
          <a:xfrm xmlns:a="http://schemas.openxmlformats.org/drawingml/2006/main">
            <a:off x="4000500" y="23431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bounded exhaustive valid permutations, n ≤ 8</a:t>
            </a:r>
          </a:p>
        </p:txBody>
      </p:sp>
      <p:sp>
        <p:nvSpPr>
          <p:cNvPr id="13" name="">
            <a:extLst xmlns:a="http://schemas.openxmlformats.org/drawingml/2006/main">
              <a:ext uri="{FF2B5EF4-FFF2-40B4-BE49-F238E27FC236}">
                <a16:creationId xmlns:a16="http://schemas.microsoft.com/office/drawing/2014/main" id="{642C8389-DCE2-40BA-BBA7-C5A2FD626B27}"/>
              </a:ext>
            </a:extLst>
          </p:cNvPr>
          <p:cNvSpPr>
            <a:spLocks xmlns:a="http://schemas.openxmlformats.org/drawingml/2006/main" noGrp="1"/>
          </p:cNvSpPr>
          <p:nvPr/>
        </p:nvSpPr>
        <p:spPr>
          <a:xfrm xmlns:a="http://schemas.openxmlformats.org/drawingml/2006/main">
            <a:off x="990600" y="31813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2A9D8F"/>
                </a:solidFill>
              </a:defRPr>
            </a:pPr>
            <a:r>
              <a:rPr sz="3150" b="1" i="0">
                <a:solidFill>
                  <a:srgbClr val="2A9D8F"/>
                </a:solidFill>
              </a:rPr>
              <a:t>48</a:t>
            </a:r>
          </a:p>
        </p:txBody>
      </p:sp>
      <p:sp>
        <p:nvSpPr>
          <p:cNvPr id="14" name="">
            <a:extLst xmlns:a="http://schemas.openxmlformats.org/drawingml/2006/main">
              <a:ext uri="{FF2B5EF4-FFF2-40B4-BE49-F238E27FC236}">
                <a16:creationId xmlns:a16="http://schemas.microsoft.com/office/drawing/2014/main" id="{9643F81F-C258-441A-A3D6-37DA52F8A38C}"/>
              </a:ext>
            </a:extLst>
          </p:cNvPr>
          <p:cNvSpPr>
            <a:spLocks xmlns:a="http://schemas.openxmlformats.org/drawingml/2006/main" noGrp="1"/>
          </p:cNvSpPr>
          <p:nvPr/>
        </p:nvSpPr>
        <p:spPr>
          <a:xfrm xmlns:a="http://schemas.openxmlformats.org/drawingml/2006/main">
            <a:off x="3676650" y="32956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15" name="">
            <a:extLst xmlns:a="http://schemas.openxmlformats.org/drawingml/2006/main">
              <a:ext uri="{FF2B5EF4-FFF2-40B4-BE49-F238E27FC236}">
                <a16:creationId xmlns:a16="http://schemas.microsoft.com/office/drawing/2014/main" id="{B536E76F-7182-42F7-A07F-40821EA7FB67}"/>
              </a:ext>
            </a:extLst>
          </p:cNvPr>
          <p:cNvSpPr>
            <a:spLocks xmlns:a="http://schemas.openxmlformats.org/drawingml/2006/main" noGrp="1"/>
          </p:cNvSpPr>
          <p:nvPr/>
        </p:nvSpPr>
        <p:spPr>
          <a:xfrm xmlns:a="http://schemas.openxmlformats.org/drawingml/2006/main">
            <a:off x="4000500" y="31813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fixed generated cases</a:t>
            </a:r>
          </a:p>
        </p:txBody>
      </p:sp>
      <p:sp>
        <p:nvSpPr>
          <p:cNvPr id="16" name="">
            <a:extLst xmlns:a="http://schemas.openxmlformats.org/drawingml/2006/main">
              <a:ext uri="{FF2B5EF4-FFF2-40B4-BE49-F238E27FC236}">
                <a16:creationId xmlns:a16="http://schemas.microsoft.com/office/drawing/2014/main" id="{50CBE8E2-81DA-4B79-8CB7-69F4423BEEC5}"/>
              </a:ext>
            </a:extLst>
          </p:cNvPr>
          <p:cNvSpPr>
            <a:spLocks xmlns:a="http://schemas.openxmlformats.org/drawingml/2006/main" noGrp="1"/>
          </p:cNvSpPr>
          <p:nvPr/>
        </p:nvSpPr>
        <p:spPr>
          <a:xfrm xmlns:a="http://schemas.openxmlformats.org/drawingml/2006/main">
            <a:off x="990600" y="40195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3150" b="1" i="0">
                <a:solidFill>
                  <a:srgbClr val="E76F51"/>
                </a:solidFill>
              </a:defRPr>
            </a:pPr>
            <a:r>
              <a:rPr sz="3150" b="1" i="0">
                <a:solidFill>
                  <a:srgbClr val="E76F51"/>
                </a:solidFill>
              </a:rPr>
              <a:t>60</a:t>
            </a:r>
          </a:p>
        </p:txBody>
      </p:sp>
      <p:sp>
        <p:nvSpPr>
          <p:cNvPr id="17" name="">
            <a:extLst xmlns:a="http://schemas.openxmlformats.org/drawingml/2006/main">
              <a:ext uri="{FF2B5EF4-FFF2-40B4-BE49-F238E27FC236}">
                <a16:creationId xmlns:a16="http://schemas.microsoft.com/office/drawing/2014/main" id="{9B5F8790-2EDC-4BD9-952B-9DA1B44BECC0}"/>
              </a:ext>
            </a:extLst>
          </p:cNvPr>
          <p:cNvSpPr>
            <a:spLocks xmlns:a="http://schemas.openxmlformats.org/drawingml/2006/main" noGrp="1"/>
          </p:cNvSpPr>
          <p:nvPr/>
        </p:nvSpPr>
        <p:spPr>
          <a:xfrm xmlns:a="http://schemas.openxmlformats.org/drawingml/2006/main">
            <a:off x="3676650" y="4133850"/>
            <a:ext cx="38100" cy="342900"/>
          </a:xfrm>
          <a:prstGeom xmlns:a="http://schemas.openxmlformats.org/drawingml/2006/main" prst="rect">
            <a:avLst/>
          </a:prstGeom>
          <a:solidFill xmlns:a="http://schemas.openxmlformats.org/drawingml/2006/main">
            <a:srgbClr val="E76F51"/>
          </a:solidFill>
          <a:ln xmlns:a="http://schemas.openxmlformats.org/drawingml/2006/main" w="11430">
            <a:solidFill>
              <a:srgbClr val="E76F51"/>
            </a:solidFill>
            <a:prstDash val="solid"/>
          </a:ln>
        </p:spPr>
      </p:sp>
      <p:sp>
        <p:nvSpPr>
          <p:cNvPr id="18" name="">
            <a:extLst xmlns:a="http://schemas.openxmlformats.org/drawingml/2006/main">
              <a:ext uri="{FF2B5EF4-FFF2-40B4-BE49-F238E27FC236}">
                <a16:creationId xmlns:a16="http://schemas.microsoft.com/office/drawing/2014/main" id="{52A24F72-9C69-4539-BECB-72E9E631F735}"/>
              </a:ext>
            </a:extLst>
          </p:cNvPr>
          <p:cNvSpPr>
            <a:spLocks xmlns:a="http://schemas.openxmlformats.org/drawingml/2006/main" noGrp="1"/>
          </p:cNvSpPr>
          <p:nvPr/>
        </p:nvSpPr>
        <p:spPr>
          <a:xfrm xmlns:a="http://schemas.openxmlformats.org/drawingml/2006/main">
            <a:off x="4000500" y="40195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formal case-level checked-state audits</a:t>
            </a:r>
          </a:p>
        </p:txBody>
      </p:sp>
      <p:sp>
        <p:nvSpPr>
          <p:cNvPr id="19" name="">
            <a:extLst xmlns:a="http://schemas.openxmlformats.org/drawingml/2006/main">
              <a:ext uri="{FF2B5EF4-FFF2-40B4-BE49-F238E27FC236}">
                <a16:creationId xmlns:a16="http://schemas.microsoft.com/office/drawing/2014/main" id="{9B0D21D5-DD18-494C-A7A4-684DB03435BB}"/>
              </a:ext>
            </a:extLst>
          </p:cNvPr>
          <p:cNvSpPr>
            <a:spLocks xmlns:a="http://schemas.openxmlformats.org/drawingml/2006/main" noGrp="1"/>
          </p:cNvSpPr>
          <p:nvPr/>
        </p:nvSpPr>
        <p:spPr>
          <a:xfrm xmlns:a="http://schemas.openxmlformats.org/drawingml/2006/main">
            <a:off x="990600" y="4857750"/>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2550" b="1" i="0">
                <a:solidFill>
                  <a:srgbClr val="2A9D8F"/>
                </a:solidFill>
              </a:defRPr>
            </a:pPr>
            <a:r>
              <a:rPr sz="2550" b="1" i="0">
                <a:solidFill>
                  <a:srgbClr val="2A9D8F"/>
                </a:solidFill>
              </a:rPr>
              <a:t>passed</a:t>
            </a:r>
          </a:p>
        </p:txBody>
      </p:sp>
      <p:sp>
        <p:nvSpPr>
          <p:cNvPr id="20" name="">
            <a:extLst xmlns:a="http://schemas.openxmlformats.org/drawingml/2006/main">
              <a:ext uri="{FF2B5EF4-FFF2-40B4-BE49-F238E27FC236}">
                <a16:creationId xmlns:a16="http://schemas.microsoft.com/office/drawing/2014/main" id="{626D6474-6276-4EAD-8509-B24179A14993}"/>
              </a:ext>
            </a:extLst>
          </p:cNvPr>
          <p:cNvSpPr>
            <a:spLocks xmlns:a="http://schemas.openxmlformats.org/drawingml/2006/main" noGrp="1"/>
          </p:cNvSpPr>
          <p:nvPr/>
        </p:nvSpPr>
        <p:spPr>
          <a:xfrm xmlns:a="http://schemas.openxmlformats.org/drawingml/2006/main">
            <a:off x="3676650" y="4972050"/>
            <a:ext cx="38100" cy="342900"/>
          </a:xfrm>
          <a:prstGeom xmlns:a="http://schemas.openxmlformats.org/drawingml/2006/main" prst="rect">
            <a:avLst/>
          </a:prstGeom>
          <a:solidFill xmlns:a="http://schemas.openxmlformats.org/drawingml/2006/main">
            <a:srgbClr val="2A9D8F"/>
          </a:solidFill>
          <a:ln xmlns:a="http://schemas.openxmlformats.org/drawingml/2006/main" w="11430">
            <a:solidFill>
              <a:srgbClr val="2A9D8F"/>
            </a:solidFill>
            <a:prstDash val="solid"/>
          </a:ln>
        </p:spPr>
      </p:sp>
      <p:sp>
        <p:nvSpPr>
          <p:cNvPr id="21" name="">
            <a:extLst xmlns:a="http://schemas.openxmlformats.org/drawingml/2006/main">
              <a:ext uri="{FF2B5EF4-FFF2-40B4-BE49-F238E27FC236}">
                <a16:creationId xmlns:a16="http://schemas.microsoft.com/office/drawing/2014/main" id="{BBDFDD15-43E9-4D34-9444-48B257A21ADA}"/>
              </a:ext>
            </a:extLst>
          </p:cNvPr>
          <p:cNvSpPr>
            <a:spLocks xmlns:a="http://schemas.openxmlformats.org/drawingml/2006/main" noGrp="1"/>
          </p:cNvSpPr>
          <p:nvPr/>
        </p:nvSpPr>
        <p:spPr>
          <a:xfrm xmlns:a="http://schemas.openxmlformats.org/drawingml/2006/main">
            <a:off x="4000500" y="4857750"/>
            <a:ext cx="685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formal evidence-contract validation</a:t>
            </a:r>
          </a:p>
        </p:txBody>
      </p:sp>
      <p:sp>
        <p:nvSpPr>
          <p:cNvPr id="22" name="">
            <a:extLst xmlns:a="http://schemas.openxmlformats.org/drawingml/2006/main">
              <a:ext uri="{FF2B5EF4-FFF2-40B4-BE49-F238E27FC236}">
                <a16:creationId xmlns:a16="http://schemas.microsoft.com/office/drawing/2014/main" id="{7F5B4D60-D526-4DA1-90FF-2DAC92BC37CC}"/>
              </a:ext>
            </a:extLst>
          </p:cNvPr>
          <p:cNvSpPr>
            <a:spLocks xmlns:a="http://schemas.openxmlformats.org/drawingml/2006/main" noGrp="1"/>
          </p:cNvSpPr>
          <p:nvPr/>
        </p:nvSpPr>
        <p:spPr>
          <a:xfrm xmlns:a="http://schemas.openxmlformats.org/drawingml/2006/main">
            <a:off x="1866900" y="5810250"/>
            <a:ext cx="8458200" cy="457200"/>
          </a:xfrm>
          <a:prstGeom xmlns:a="http://schemas.openxmlformats.org/drawingml/2006/main" prst="roundRect">
            <a:avLst>
              <a:gd name="adj" fmla="val 12500"/>
            </a:avLst>
          </a:prstGeom>
          <a:solidFill xmlns:a="http://schemas.openxmlformats.org/drawingml/2006/main">
            <a:srgbClr val="FCEEEA"/>
          </a:solidFill>
          <a:ln xmlns:a="http://schemas.openxmlformats.org/drawingml/2006/main" w="11430">
            <a:solidFill>
              <a:srgbClr val="E76F51"/>
            </a:solidFill>
            <a:prstDash val="solid"/>
          </a:ln>
        </p:spPr>
      </p:sp>
      <p:sp>
        <p:nvSpPr>
          <p:cNvPr id="23" name="">
            <a:extLst xmlns:a="http://schemas.openxmlformats.org/drawingml/2006/main">
              <a:ext uri="{FF2B5EF4-FFF2-40B4-BE49-F238E27FC236}">
                <a16:creationId xmlns:a16="http://schemas.microsoft.com/office/drawing/2014/main" id="{F55F2EA2-FEAB-4D0C-A491-7F1B4C922228}"/>
              </a:ext>
            </a:extLst>
          </p:cNvPr>
          <p:cNvSpPr>
            <a:spLocks xmlns:a="http://schemas.openxmlformats.org/drawingml/2006/main" noGrp="1"/>
          </p:cNvSpPr>
          <p:nvPr/>
        </p:nvSpPr>
        <p:spPr>
          <a:xfrm xmlns:a="http://schemas.openxmlformats.org/drawingml/2006/main">
            <a:off x="2057400" y="5848350"/>
            <a:ext cx="8077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500" b="1" i="0">
                <a:solidFill>
                  <a:srgbClr val="E76F51"/>
                </a:solidFill>
              </a:defRPr>
            </a:pPr>
            <a:r>
              <a:rPr sz="1500" b="1" i="0">
                <a:solidFill>
                  <a:srgbClr val="E76F51"/>
                </a:solidFill>
              </a:rPr>
              <a:t>Finite validation evidence is not a proof for every Jordan sequence.</a:t>
            </a:r>
          </a:p>
        </p:txBody>
      </p:sp>
    </p:spTree>
    <p:extLst>
      <p:ext uri="{BB962C8B-B14F-4D97-AF65-F5344CB8AC3E}">
        <p14:creationId xmlns:p14="http://schemas.microsoft.com/office/powerpoint/2010/main" val="730224311"/>
      </p:ext>
    </p:extLst>
  </p:cSld>
</p:sld>
</file>

<file path=ppt/slides/slide20.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8222E2C4-D0C4-4C06-98C2-88CAF8F8BBAB}"/>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D</a:t>
            </a:r>
          </a:p>
        </p:txBody>
      </p:sp>
      <p:sp>
        <p:nvSpPr>
          <p:cNvPr id="2" name="">
            <a:extLst xmlns:a="http://schemas.openxmlformats.org/drawingml/2006/main">
              <a:ext uri="{FF2B5EF4-FFF2-40B4-BE49-F238E27FC236}">
                <a16:creationId xmlns:a16="http://schemas.microsoft.com/office/drawing/2014/main" id="{A1D4846E-70D8-423F-A006-AADE3E476EC0}"/>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Increasing and decreasing iterations use reflected local choices</a:t>
            </a:r>
          </a:p>
        </p:txBody>
      </p:sp>
      <p:sp>
        <p:nvSpPr>
          <p:cNvPr id="3" name="">
            <a:extLst xmlns:a="http://schemas.openxmlformats.org/drawingml/2006/main">
              <a:ext uri="{FF2B5EF4-FFF2-40B4-BE49-F238E27FC236}">
                <a16:creationId xmlns:a16="http://schemas.microsoft.com/office/drawing/2014/main" id="{B2767E35-EF24-42A7-8500-9B5F237DF4C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C732EE74-2D3C-4B19-935A-B66A0A9A72D3}"/>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9B06C93E-9343-4699-BCFF-BEE2A4D75F46}"/>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2D455AFB-EAB1-4FD2-B4A1-5B687A52DC9F}"/>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D</a:t>
            </a:r>
          </a:p>
        </p:txBody>
      </p:sp>
      <p:sp>
        <p:nvSpPr>
          <p:cNvPr id="7" name="">
            <a:extLst xmlns:a="http://schemas.openxmlformats.org/drawingml/2006/main">
              <a:ext uri="{FF2B5EF4-FFF2-40B4-BE49-F238E27FC236}">
                <a16:creationId xmlns:a16="http://schemas.microsoft.com/office/drawing/2014/main" id="{0C9B6746-AD66-4585-8715-34ABC7031E7C}"/>
              </a:ext>
            </a:extLst>
          </p:cNvPr>
          <p:cNvSpPr>
            <a:spLocks xmlns:a="http://schemas.openxmlformats.org/drawingml/2006/main" noGrp="1"/>
          </p:cNvSpPr>
          <p:nvPr/>
        </p:nvSpPr>
        <p:spPr>
          <a:xfrm xmlns:a="http://schemas.openxmlformats.org/drawingml/2006/main">
            <a:off x="876300" y="1466850"/>
            <a:ext cx="3314700" cy="495300"/>
          </a:xfrm>
          <a:prstGeom xmlns:a="http://schemas.openxmlformats.org/drawingml/2006/main" prst="rect">
            <a:avLst/>
          </a:prstGeom>
          <a:solidFill xmlns:a="http://schemas.openxmlformats.org/drawingml/2006/main">
            <a:srgbClr val="102A43"/>
          </a:solidFill>
          <a:ln xmlns:a="http://schemas.openxmlformats.org/drawingml/2006/main" w="11430">
            <a:solidFill>
              <a:srgbClr val="D9E2EC"/>
            </a:solidFill>
            <a:prstDash val="solid"/>
          </a:ln>
        </p:spPr>
      </p:sp>
      <p:sp>
        <p:nvSpPr>
          <p:cNvPr id="8" name="">
            <a:extLst xmlns:a="http://schemas.openxmlformats.org/drawingml/2006/main">
              <a:ext uri="{FF2B5EF4-FFF2-40B4-BE49-F238E27FC236}">
                <a16:creationId xmlns:a16="http://schemas.microsoft.com/office/drawing/2014/main" id="{452E8BCC-731E-4F02-B593-1A6297A64D99}"/>
              </a:ext>
            </a:extLst>
          </p:cNvPr>
          <p:cNvSpPr>
            <a:spLocks xmlns:a="http://schemas.openxmlformats.org/drawingml/2006/main" noGrp="1"/>
          </p:cNvSpPr>
          <p:nvPr/>
        </p:nvSpPr>
        <p:spPr>
          <a:xfrm xmlns:a="http://schemas.openxmlformats.org/drawingml/2006/main">
            <a:off x="952500" y="1524000"/>
            <a:ext cx="3162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FFFFFF"/>
                </a:solidFill>
              </a:defRPr>
            </a:pPr>
            <a:r>
              <a:rPr sz="1425" b="1" i="0">
                <a:solidFill>
                  <a:srgbClr val="FFFFFF"/>
                </a:solidFill>
              </a:rPr>
              <a:t>Control choice</a:t>
            </a:r>
          </a:p>
        </p:txBody>
      </p:sp>
      <p:sp>
        <p:nvSpPr>
          <p:cNvPr id="9" name="">
            <a:extLst xmlns:a="http://schemas.openxmlformats.org/drawingml/2006/main">
              <a:ext uri="{FF2B5EF4-FFF2-40B4-BE49-F238E27FC236}">
                <a16:creationId xmlns:a16="http://schemas.microsoft.com/office/drawing/2014/main" id="{6AF6299A-9145-4483-B4F7-6D3961714DF6}"/>
              </a:ext>
            </a:extLst>
          </p:cNvPr>
          <p:cNvSpPr>
            <a:spLocks xmlns:a="http://schemas.openxmlformats.org/drawingml/2006/main" noGrp="1"/>
          </p:cNvSpPr>
          <p:nvPr/>
        </p:nvSpPr>
        <p:spPr>
          <a:xfrm xmlns:a="http://schemas.openxmlformats.org/drawingml/2006/main">
            <a:off x="4191000" y="1466850"/>
            <a:ext cx="3295650" cy="495300"/>
          </a:xfrm>
          <a:prstGeom xmlns:a="http://schemas.openxmlformats.org/drawingml/2006/main" prst="rect">
            <a:avLst/>
          </a:prstGeom>
          <a:solidFill xmlns:a="http://schemas.openxmlformats.org/drawingml/2006/main">
            <a:srgbClr val="E8F5F3"/>
          </a:solidFill>
          <a:ln xmlns:a="http://schemas.openxmlformats.org/drawingml/2006/main" w="11430">
            <a:solidFill>
              <a:srgbClr val="D9E2EC"/>
            </a:solidFill>
            <a:prstDash val="solid"/>
          </a:ln>
        </p:spPr>
      </p:sp>
      <p:sp>
        <p:nvSpPr>
          <p:cNvPr id="10" name="">
            <a:extLst xmlns:a="http://schemas.openxmlformats.org/drawingml/2006/main">
              <a:ext uri="{FF2B5EF4-FFF2-40B4-BE49-F238E27FC236}">
                <a16:creationId xmlns:a16="http://schemas.microsoft.com/office/drawing/2014/main" id="{6E40FDD9-B094-43E7-8E9B-456064607098}"/>
              </a:ext>
            </a:extLst>
          </p:cNvPr>
          <p:cNvSpPr>
            <a:spLocks xmlns:a="http://schemas.openxmlformats.org/drawingml/2006/main" noGrp="1"/>
          </p:cNvSpPr>
          <p:nvPr/>
        </p:nvSpPr>
        <p:spPr>
          <a:xfrm xmlns:a="http://schemas.openxmlformats.org/drawingml/2006/main">
            <a:off x="4267200" y="152400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2A9D8F"/>
                </a:solidFill>
              </a:defRPr>
            </a:pPr>
            <a:r>
              <a:rPr sz="1425" b="1" i="0">
                <a:solidFill>
                  <a:srgbClr val="2A9D8F"/>
                </a:solidFill>
              </a:rPr>
              <a:t>Increasing orientation</a:t>
            </a:r>
          </a:p>
        </p:txBody>
      </p:sp>
      <p:sp>
        <p:nvSpPr>
          <p:cNvPr id="11" name="">
            <a:extLst xmlns:a="http://schemas.openxmlformats.org/drawingml/2006/main">
              <a:ext uri="{FF2B5EF4-FFF2-40B4-BE49-F238E27FC236}">
                <a16:creationId xmlns:a16="http://schemas.microsoft.com/office/drawing/2014/main" id="{50415B78-88D4-43E6-BD12-97177BF8DD5A}"/>
              </a:ext>
            </a:extLst>
          </p:cNvPr>
          <p:cNvSpPr>
            <a:spLocks xmlns:a="http://schemas.openxmlformats.org/drawingml/2006/main" noGrp="1"/>
          </p:cNvSpPr>
          <p:nvPr/>
        </p:nvSpPr>
        <p:spPr>
          <a:xfrm xmlns:a="http://schemas.openxmlformats.org/drawingml/2006/main">
            <a:off x="7486650" y="1466850"/>
            <a:ext cx="3752850" cy="495300"/>
          </a:xfrm>
          <a:prstGeom xmlns:a="http://schemas.openxmlformats.org/drawingml/2006/main" prst="rect">
            <a:avLst/>
          </a:prstGeom>
          <a:solidFill xmlns:a="http://schemas.openxmlformats.org/drawingml/2006/main">
            <a:srgbClr val="FCEEEA"/>
          </a:solidFill>
          <a:ln xmlns:a="http://schemas.openxmlformats.org/drawingml/2006/main" w="11430">
            <a:solidFill>
              <a:srgbClr val="D9E2EC"/>
            </a:solidFill>
            <a:prstDash val="solid"/>
          </a:ln>
        </p:spPr>
      </p:sp>
      <p:sp>
        <p:nvSpPr>
          <p:cNvPr id="12" name="">
            <a:extLst xmlns:a="http://schemas.openxmlformats.org/drawingml/2006/main">
              <a:ext uri="{FF2B5EF4-FFF2-40B4-BE49-F238E27FC236}">
                <a16:creationId xmlns:a16="http://schemas.microsoft.com/office/drawing/2014/main" id="{FBA5DCE2-EF00-4BFB-9F10-C3AAB7178ADC}"/>
              </a:ext>
            </a:extLst>
          </p:cNvPr>
          <p:cNvSpPr>
            <a:spLocks xmlns:a="http://schemas.openxmlformats.org/drawingml/2006/main" noGrp="1"/>
          </p:cNvSpPr>
          <p:nvPr/>
        </p:nvSpPr>
        <p:spPr>
          <a:xfrm xmlns:a="http://schemas.openxmlformats.org/drawingml/2006/main">
            <a:off x="7562850" y="1524000"/>
            <a:ext cx="3600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1" i="0">
                <a:solidFill>
                  <a:srgbClr val="E76F51"/>
                </a:solidFill>
              </a:defRPr>
            </a:pPr>
            <a:r>
              <a:rPr sz="1425" b="1" i="0">
                <a:solidFill>
                  <a:srgbClr val="E76F51"/>
                </a:solidFill>
              </a:rPr>
              <a:t>Decreasing orientation</a:t>
            </a:r>
          </a:p>
        </p:txBody>
      </p:sp>
      <p:sp>
        <p:nvSpPr>
          <p:cNvPr id="13" name="">
            <a:extLst xmlns:a="http://schemas.openxmlformats.org/drawingml/2006/main">
              <a:ext uri="{FF2B5EF4-FFF2-40B4-BE49-F238E27FC236}">
                <a16:creationId xmlns:a16="http://schemas.microsoft.com/office/drawing/2014/main" id="{602A7C0A-6825-43D9-9ECF-941DBD3053A7}"/>
              </a:ext>
            </a:extLst>
          </p:cNvPr>
          <p:cNvSpPr>
            <a:spLocks xmlns:a="http://schemas.openxmlformats.org/drawingml/2006/main" noGrp="1"/>
          </p:cNvSpPr>
          <p:nvPr/>
        </p:nvSpPr>
        <p:spPr>
          <a:xfrm xmlns:a="http://schemas.openxmlformats.org/drawingml/2006/main">
            <a:off x="876300" y="19621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4" name="">
            <a:extLst xmlns:a="http://schemas.openxmlformats.org/drawingml/2006/main">
              <a:ext uri="{FF2B5EF4-FFF2-40B4-BE49-F238E27FC236}">
                <a16:creationId xmlns:a16="http://schemas.microsoft.com/office/drawing/2014/main" id="{EA693442-9BFA-4267-8571-F5ED6BD2F33A}"/>
              </a:ext>
            </a:extLst>
          </p:cNvPr>
          <p:cNvSpPr>
            <a:spLocks xmlns:a="http://schemas.openxmlformats.org/drawingml/2006/main" noGrp="1"/>
          </p:cNvSpPr>
          <p:nvPr/>
        </p:nvSpPr>
        <p:spPr>
          <a:xfrm xmlns:a="http://schemas.openxmlformats.org/drawingml/2006/main">
            <a:off x="952500" y="20193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3(a) boundary</a:t>
            </a:r>
          </a:p>
        </p:txBody>
      </p:sp>
      <p:sp>
        <p:nvSpPr>
          <p:cNvPr id="15" name="">
            <a:extLst xmlns:a="http://schemas.openxmlformats.org/drawingml/2006/main">
              <a:ext uri="{FF2B5EF4-FFF2-40B4-BE49-F238E27FC236}">
                <a16:creationId xmlns:a16="http://schemas.microsoft.com/office/drawing/2014/main" id="{70901597-8D4B-4235-8AD7-1BC7DCBC5F7C}"/>
              </a:ext>
            </a:extLst>
          </p:cNvPr>
          <p:cNvSpPr>
            <a:spLocks xmlns:a="http://schemas.openxmlformats.org/drawingml/2006/main" noGrp="1"/>
          </p:cNvSpPr>
          <p:nvPr/>
        </p:nvSpPr>
        <p:spPr>
          <a:xfrm xmlns:a="http://schemas.openxmlformats.org/drawingml/2006/main">
            <a:off x="4191000" y="19621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6" name="">
            <a:extLst xmlns:a="http://schemas.openxmlformats.org/drawingml/2006/main">
              <a:ext uri="{FF2B5EF4-FFF2-40B4-BE49-F238E27FC236}">
                <a16:creationId xmlns:a16="http://schemas.microsoft.com/office/drawing/2014/main" id="{3AE64915-3081-4A11-A90E-9496BA7D742E}"/>
              </a:ext>
            </a:extLst>
          </p:cNvPr>
          <p:cNvSpPr>
            <a:spLocks xmlns:a="http://schemas.openxmlformats.org/drawingml/2006/main" noGrp="1"/>
          </p:cNvSpPr>
          <p:nvPr/>
        </p:nvSpPr>
        <p:spPr>
          <a:xfrm xmlns:a="http://schemas.openxmlformats.org/drawingml/2006/main">
            <a:off x="4267200" y="20193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predecessor-side (Aᵢ)</a:t>
            </a:r>
          </a:p>
        </p:txBody>
      </p:sp>
      <p:sp>
        <p:nvSpPr>
          <p:cNvPr id="17" name="">
            <a:extLst xmlns:a="http://schemas.openxmlformats.org/drawingml/2006/main">
              <a:ext uri="{FF2B5EF4-FFF2-40B4-BE49-F238E27FC236}">
                <a16:creationId xmlns:a16="http://schemas.microsoft.com/office/drawing/2014/main" id="{EFB18510-AE0D-413D-8CCB-A9558B1C87CB}"/>
              </a:ext>
            </a:extLst>
          </p:cNvPr>
          <p:cNvSpPr>
            <a:spLocks xmlns:a="http://schemas.openxmlformats.org/drawingml/2006/main" noGrp="1"/>
          </p:cNvSpPr>
          <p:nvPr/>
        </p:nvSpPr>
        <p:spPr>
          <a:xfrm xmlns:a="http://schemas.openxmlformats.org/drawingml/2006/main">
            <a:off x="7486650" y="19621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18" name="">
            <a:extLst xmlns:a="http://schemas.openxmlformats.org/drawingml/2006/main">
              <a:ext uri="{FF2B5EF4-FFF2-40B4-BE49-F238E27FC236}">
                <a16:creationId xmlns:a16="http://schemas.microsoft.com/office/drawing/2014/main" id="{B0E304E5-D4BF-47F4-B3FC-08E8A8D112EC}"/>
              </a:ext>
            </a:extLst>
          </p:cNvPr>
          <p:cNvSpPr>
            <a:spLocks xmlns:a="http://schemas.openxmlformats.org/drawingml/2006/main" noGrp="1"/>
          </p:cNvSpPr>
          <p:nvPr/>
        </p:nvSpPr>
        <p:spPr>
          <a:xfrm xmlns:a="http://schemas.openxmlformats.org/drawingml/2006/main">
            <a:off x="7562850" y="20193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successor-side (Bᵢ)</a:t>
            </a:r>
          </a:p>
        </p:txBody>
      </p:sp>
      <p:sp>
        <p:nvSpPr>
          <p:cNvPr id="19" name="">
            <a:extLst xmlns:a="http://schemas.openxmlformats.org/drawingml/2006/main">
              <a:ext uri="{FF2B5EF4-FFF2-40B4-BE49-F238E27FC236}">
                <a16:creationId xmlns:a16="http://schemas.microsoft.com/office/drawing/2014/main" id="{40D6F9A4-0B27-43BB-AD88-27FBBC6FE56F}"/>
              </a:ext>
            </a:extLst>
          </p:cNvPr>
          <p:cNvSpPr>
            <a:spLocks xmlns:a="http://schemas.openxmlformats.org/drawingml/2006/main" noGrp="1"/>
          </p:cNvSpPr>
          <p:nvPr/>
        </p:nvSpPr>
        <p:spPr>
          <a:xfrm xmlns:a="http://schemas.openxmlformats.org/drawingml/2006/main">
            <a:off x="876300" y="24765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0" name="">
            <a:extLst xmlns:a="http://schemas.openxmlformats.org/drawingml/2006/main">
              <a:ext uri="{FF2B5EF4-FFF2-40B4-BE49-F238E27FC236}">
                <a16:creationId xmlns:a16="http://schemas.microsoft.com/office/drawing/2014/main" id="{622ECB0C-5B48-4324-A4AA-9B26CB2C87B9}"/>
              </a:ext>
            </a:extLst>
          </p:cNvPr>
          <p:cNvSpPr>
            <a:spLocks xmlns:a="http://schemas.openxmlformats.org/drawingml/2006/main" noGrp="1"/>
          </p:cNvSpPr>
          <p:nvPr/>
        </p:nvSpPr>
        <p:spPr>
          <a:xfrm xmlns:a="http://schemas.openxmlformats.org/drawingml/2006/main">
            <a:off x="952500" y="25336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Boundary insertion</a:t>
            </a:r>
          </a:p>
        </p:txBody>
      </p:sp>
      <p:sp>
        <p:nvSpPr>
          <p:cNvPr id="21" name="">
            <a:extLst xmlns:a="http://schemas.openxmlformats.org/drawingml/2006/main">
              <a:ext uri="{FF2B5EF4-FFF2-40B4-BE49-F238E27FC236}">
                <a16:creationId xmlns:a16="http://schemas.microsoft.com/office/drawing/2014/main" id="{87317F62-B972-4F57-9310-6C4DF84D22D2}"/>
              </a:ext>
            </a:extLst>
          </p:cNvPr>
          <p:cNvSpPr>
            <a:spLocks xmlns:a="http://schemas.openxmlformats.org/drawingml/2006/main" noGrp="1"/>
          </p:cNvSpPr>
          <p:nvPr/>
        </p:nvSpPr>
        <p:spPr>
          <a:xfrm xmlns:a="http://schemas.openxmlformats.org/drawingml/2006/main">
            <a:off x="4191000" y="24765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2" name="">
            <a:extLst xmlns:a="http://schemas.openxmlformats.org/drawingml/2006/main">
              <a:ext uri="{FF2B5EF4-FFF2-40B4-BE49-F238E27FC236}">
                <a16:creationId xmlns:a16="http://schemas.microsoft.com/office/drawing/2014/main" id="{A66B1FAC-32A1-4B4A-AC22-A552D201C6E9}"/>
              </a:ext>
            </a:extLst>
          </p:cNvPr>
          <p:cNvSpPr>
            <a:spLocks xmlns:a="http://schemas.openxmlformats.org/drawingml/2006/main" noGrp="1"/>
          </p:cNvSpPr>
          <p:nvPr/>
        </p:nvSpPr>
        <p:spPr>
          <a:xfrm xmlns:a="http://schemas.openxmlformats.org/drawingml/2006/main">
            <a:off x="4267200" y="25336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after last sibling</a:t>
            </a:r>
          </a:p>
        </p:txBody>
      </p:sp>
      <p:sp>
        <p:nvSpPr>
          <p:cNvPr id="23" name="">
            <a:extLst xmlns:a="http://schemas.openxmlformats.org/drawingml/2006/main">
              <a:ext uri="{FF2B5EF4-FFF2-40B4-BE49-F238E27FC236}">
                <a16:creationId xmlns:a16="http://schemas.microsoft.com/office/drawing/2014/main" id="{9B703F15-FAA9-4220-BC7D-E2C585A4AC54}"/>
              </a:ext>
            </a:extLst>
          </p:cNvPr>
          <p:cNvSpPr>
            <a:spLocks xmlns:a="http://schemas.openxmlformats.org/drawingml/2006/main" noGrp="1"/>
          </p:cNvSpPr>
          <p:nvPr/>
        </p:nvSpPr>
        <p:spPr>
          <a:xfrm xmlns:a="http://schemas.openxmlformats.org/drawingml/2006/main">
            <a:off x="7486650" y="24765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24" name="">
            <a:extLst xmlns:a="http://schemas.openxmlformats.org/drawingml/2006/main">
              <a:ext uri="{FF2B5EF4-FFF2-40B4-BE49-F238E27FC236}">
                <a16:creationId xmlns:a16="http://schemas.microsoft.com/office/drawing/2014/main" id="{8E2A00D9-CB37-4775-8BE6-2986E4490EF1}"/>
              </a:ext>
            </a:extLst>
          </p:cNvPr>
          <p:cNvSpPr>
            <a:spLocks xmlns:a="http://schemas.openxmlformats.org/drawingml/2006/main" noGrp="1"/>
          </p:cNvSpPr>
          <p:nvPr/>
        </p:nvSpPr>
        <p:spPr>
          <a:xfrm xmlns:a="http://schemas.openxmlformats.org/drawingml/2006/main">
            <a:off x="7562850" y="25336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before first sibling</a:t>
            </a:r>
          </a:p>
        </p:txBody>
      </p:sp>
      <p:sp>
        <p:nvSpPr>
          <p:cNvPr id="25" name="">
            <a:extLst xmlns:a="http://schemas.openxmlformats.org/drawingml/2006/main">
              <a:ext uri="{FF2B5EF4-FFF2-40B4-BE49-F238E27FC236}">
                <a16:creationId xmlns:a16="http://schemas.microsoft.com/office/drawing/2014/main" id="{7871DBC8-D89D-49DE-80F2-CF6EE459E844}"/>
              </a:ext>
            </a:extLst>
          </p:cNvPr>
          <p:cNvSpPr>
            <a:spLocks xmlns:a="http://schemas.openxmlformats.org/drawingml/2006/main" noGrp="1"/>
          </p:cNvSpPr>
          <p:nvPr/>
        </p:nvSpPr>
        <p:spPr>
          <a:xfrm xmlns:a="http://schemas.openxmlformats.org/drawingml/2006/main">
            <a:off x="876300" y="29908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6" name="">
            <a:extLst xmlns:a="http://schemas.openxmlformats.org/drawingml/2006/main">
              <a:ext uri="{FF2B5EF4-FFF2-40B4-BE49-F238E27FC236}">
                <a16:creationId xmlns:a16="http://schemas.microsoft.com/office/drawing/2014/main" id="{80069BDC-A70D-4CF1-8468-AECE1A857D76}"/>
              </a:ext>
            </a:extLst>
          </p:cNvPr>
          <p:cNvSpPr>
            <a:spLocks xmlns:a="http://schemas.openxmlformats.org/drawingml/2006/main" noGrp="1"/>
          </p:cNvSpPr>
          <p:nvPr/>
        </p:nvSpPr>
        <p:spPr>
          <a:xfrm xmlns:a="http://schemas.openxmlformats.org/drawingml/2006/main">
            <a:off x="952500" y="30480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Step 3(b) boundary</a:t>
            </a:r>
          </a:p>
        </p:txBody>
      </p:sp>
      <p:sp>
        <p:nvSpPr>
          <p:cNvPr id="27" name="">
            <a:extLst xmlns:a="http://schemas.openxmlformats.org/drawingml/2006/main">
              <a:ext uri="{FF2B5EF4-FFF2-40B4-BE49-F238E27FC236}">
                <a16:creationId xmlns:a16="http://schemas.microsoft.com/office/drawing/2014/main" id="{A121321F-C975-4E8F-A240-B7EAE3641A07}"/>
              </a:ext>
            </a:extLst>
          </p:cNvPr>
          <p:cNvSpPr>
            <a:spLocks xmlns:a="http://schemas.openxmlformats.org/drawingml/2006/main" noGrp="1"/>
          </p:cNvSpPr>
          <p:nvPr/>
        </p:nvSpPr>
        <p:spPr>
          <a:xfrm xmlns:a="http://schemas.openxmlformats.org/drawingml/2006/main">
            <a:off x="4191000" y="29908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28" name="">
            <a:extLst xmlns:a="http://schemas.openxmlformats.org/drawingml/2006/main">
              <a:ext uri="{FF2B5EF4-FFF2-40B4-BE49-F238E27FC236}">
                <a16:creationId xmlns:a16="http://schemas.microsoft.com/office/drawing/2014/main" id="{595ED523-730B-425D-AF7A-86589D80074E}"/>
              </a:ext>
            </a:extLst>
          </p:cNvPr>
          <p:cNvSpPr>
            <a:spLocks xmlns:a="http://schemas.openxmlformats.org/drawingml/2006/main" noGrp="1"/>
          </p:cNvSpPr>
          <p:nvPr/>
        </p:nvSpPr>
        <p:spPr>
          <a:xfrm xmlns:a="http://schemas.openxmlformats.org/drawingml/2006/main">
            <a:off x="4267200" y="30480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successor-side (Bᵢ)</a:t>
            </a:r>
          </a:p>
        </p:txBody>
      </p:sp>
      <p:sp>
        <p:nvSpPr>
          <p:cNvPr id="29" name="">
            <a:extLst xmlns:a="http://schemas.openxmlformats.org/drawingml/2006/main">
              <a:ext uri="{FF2B5EF4-FFF2-40B4-BE49-F238E27FC236}">
                <a16:creationId xmlns:a16="http://schemas.microsoft.com/office/drawing/2014/main" id="{AC1305E1-3007-4126-8719-124308664364}"/>
              </a:ext>
            </a:extLst>
          </p:cNvPr>
          <p:cNvSpPr>
            <a:spLocks xmlns:a="http://schemas.openxmlformats.org/drawingml/2006/main" noGrp="1"/>
          </p:cNvSpPr>
          <p:nvPr/>
        </p:nvSpPr>
        <p:spPr>
          <a:xfrm xmlns:a="http://schemas.openxmlformats.org/drawingml/2006/main">
            <a:off x="7486650" y="29908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0" name="">
            <a:extLst xmlns:a="http://schemas.openxmlformats.org/drawingml/2006/main">
              <a:ext uri="{FF2B5EF4-FFF2-40B4-BE49-F238E27FC236}">
                <a16:creationId xmlns:a16="http://schemas.microsoft.com/office/drawing/2014/main" id="{53F90005-6A58-48D5-9C54-F2E983EC35A8}"/>
              </a:ext>
            </a:extLst>
          </p:cNvPr>
          <p:cNvSpPr>
            <a:spLocks xmlns:a="http://schemas.openxmlformats.org/drawingml/2006/main" noGrp="1"/>
          </p:cNvSpPr>
          <p:nvPr/>
        </p:nvSpPr>
        <p:spPr>
          <a:xfrm xmlns:a="http://schemas.openxmlformats.org/drawingml/2006/main">
            <a:off x="7562850" y="30480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predecessor-side (Aᵢ)</a:t>
            </a:r>
          </a:p>
        </p:txBody>
      </p:sp>
      <p:sp>
        <p:nvSpPr>
          <p:cNvPr id="31" name="">
            <a:extLst xmlns:a="http://schemas.openxmlformats.org/drawingml/2006/main">
              <a:ext uri="{FF2B5EF4-FFF2-40B4-BE49-F238E27FC236}">
                <a16:creationId xmlns:a16="http://schemas.microsoft.com/office/drawing/2014/main" id="{5878E33E-173D-4575-B6C5-A442958E909B}"/>
              </a:ext>
            </a:extLst>
          </p:cNvPr>
          <p:cNvSpPr>
            <a:spLocks xmlns:a="http://schemas.openxmlformats.org/drawingml/2006/main" noGrp="1"/>
          </p:cNvSpPr>
          <p:nvPr/>
        </p:nvSpPr>
        <p:spPr>
          <a:xfrm xmlns:a="http://schemas.openxmlformats.org/drawingml/2006/main">
            <a:off x="876300" y="35052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2" name="">
            <a:extLst xmlns:a="http://schemas.openxmlformats.org/drawingml/2006/main">
              <a:ext uri="{FF2B5EF4-FFF2-40B4-BE49-F238E27FC236}">
                <a16:creationId xmlns:a16="http://schemas.microsoft.com/office/drawing/2014/main" id="{30CC8726-A208-46C7-AB99-9310CBF3BE79}"/>
              </a:ext>
            </a:extLst>
          </p:cNvPr>
          <p:cNvSpPr>
            <a:spLocks xmlns:a="http://schemas.openxmlformats.org/drawingml/2006/main" noGrp="1"/>
          </p:cNvSpPr>
          <p:nvPr/>
        </p:nvSpPr>
        <p:spPr>
          <a:xfrm xmlns:a="http://schemas.openxmlformats.org/drawingml/2006/main">
            <a:off x="952500" y="35623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Acquired split side</a:t>
            </a:r>
          </a:p>
        </p:txBody>
      </p:sp>
      <p:sp>
        <p:nvSpPr>
          <p:cNvPr id="33" name="">
            <a:extLst xmlns:a="http://schemas.openxmlformats.org/drawingml/2006/main">
              <a:ext uri="{FF2B5EF4-FFF2-40B4-BE49-F238E27FC236}">
                <a16:creationId xmlns:a16="http://schemas.microsoft.com/office/drawing/2014/main" id="{E5B3525E-F389-4A9B-B7C9-A45582691F34}"/>
              </a:ext>
            </a:extLst>
          </p:cNvPr>
          <p:cNvSpPr>
            <a:spLocks xmlns:a="http://schemas.openxmlformats.org/drawingml/2006/main" noGrp="1"/>
          </p:cNvSpPr>
          <p:nvPr/>
        </p:nvSpPr>
        <p:spPr>
          <a:xfrm xmlns:a="http://schemas.openxmlformats.org/drawingml/2006/main">
            <a:off x="4191000" y="35052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4" name="">
            <a:extLst xmlns:a="http://schemas.openxmlformats.org/drawingml/2006/main">
              <a:ext uri="{FF2B5EF4-FFF2-40B4-BE49-F238E27FC236}">
                <a16:creationId xmlns:a16="http://schemas.microsoft.com/office/drawing/2014/main" id="{2A3E6956-9F44-4380-B64C-F8A36D430A33}"/>
              </a:ext>
            </a:extLst>
          </p:cNvPr>
          <p:cNvSpPr>
            <a:spLocks xmlns:a="http://schemas.openxmlformats.org/drawingml/2006/main" noGrp="1"/>
          </p:cNvSpPr>
          <p:nvPr/>
        </p:nvSpPr>
        <p:spPr>
          <a:xfrm xmlns:a="http://schemas.openxmlformats.org/drawingml/2006/main">
            <a:off x="4267200" y="35623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a:t>
            </a:r>
          </a:p>
        </p:txBody>
      </p:sp>
      <p:sp>
        <p:nvSpPr>
          <p:cNvPr id="35" name="">
            <a:extLst xmlns:a="http://schemas.openxmlformats.org/drawingml/2006/main">
              <a:ext uri="{FF2B5EF4-FFF2-40B4-BE49-F238E27FC236}">
                <a16:creationId xmlns:a16="http://schemas.microsoft.com/office/drawing/2014/main" id="{DCA3A797-CA0E-4106-9BDB-37E6C343FCA8}"/>
              </a:ext>
            </a:extLst>
          </p:cNvPr>
          <p:cNvSpPr>
            <a:spLocks xmlns:a="http://schemas.openxmlformats.org/drawingml/2006/main" noGrp="1"/>
          </p:cNvSpPr>
          <p:nvPr/>
        </p:nvSpPr>
        <p:spPr>
          <a:xfrm xmlns:a="http://schemas.openxmlformats.org/drawingml/2006/main">
            <a:off x="7486650" y="35052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36" name="">
            <a:extLst xmlns:a="http://schemas.openxmlformats.org/drawingml/2006/main">
              <a:ext uri="{FF2B5EF4-FFF2-40B4-BE49-F238E27FC236}">
                <a16:creationId xmlns:a16="http://schemas.microsoft.com/office/drawing/2014/main" id="{6E7DF21C-7910-4B19-8821-597E9535539D}"/>
              </a:ext>
            </a:extLst>
          </p:cNvPr>
          <p:cNvSpPr>
            <a:spLocks xmlns:a="http://schemas.openxmlformats.org/drawingml/2006/main" noGrp="1"/>
          </p:cNvSpPr>
          <p:nvPr/>
        </p:nvSpPr>
        <p:spPr>
          <a:xfrm xmlns:a="http://schemas.openxmlformats.org/drawingml/2006/main">
            <a:off x="7562850" y="35623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a:t>
            </a:r>
          </a:p>
        </p:txBody>
      </p:sp>
      <p:sp>
        <p:nvSpPr>
          <p:cNvPr id="37" name="">
            <a:extLst xmlns:a="http://schemas.openxmlformats.org/drawingml/2006/main">
              <a:ext uri="{FF2B5EF4-FFF2-40B4-BE49-F238E27FC236}">
                <a16:creationId xmlns:a16="http://schemas.microsoft.com/office/drawing/2014/main" id="{987084B1-BBD5-4975-B367-3267B87F95E3}"/>
              </a:ext>
            </a:extLst>
          </p:cNvPr>
          <p:cNvSpPr>
            <a:spLocks xmlns:a="http://schemas.openxmlformats.org/drawingml/2006/main" noGrp="1"/>
          </p:cNvSpPr>
          <p:nvPr/>
        </p:nvSpPr>
        <p:spPr>
          <a:xfrm xmlns:a="http://schemas.openxmlformats.org/drawingml/2006/main">
            <a:off x="876300" y="40195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38" name="">
            <a:extLst xmlns:a="http://schemas.openxmlformats.org/drawingml/2006/main">
              <a:ext uri="{FF2B5EF4-FFF2-40B4-BE49-F238E27FC236}">
                <a16:creationId xmlns:a16="http://schemas.microsoft.com/office/drawing/2014/main" id="{E571C058-03A2-4EB0-941A-9F1F592969F4}"/>
              </a:ext>
            </a:extLst>
          </p:cNvPr>
          <p:cNvSpPr>
            <a:spLocks xmlns:a="http://schemas.openxmlformats.org/drawingml/2006/main" noGrp="1"/>
          </p:cNvSpPr>
          <p:nvPr/>
        </p:nvSpPr>
        <p:spPr>
          <a:xfrm xmlns:a="http://schemas.openxmlformats.org/drawingml/2006/main">
            <a:off x="952500" y="40767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Child extreme</a:t>
            </a:r>
          </a:p>
        </p:txBody>
      </p:sp>
      <p:sp>
        <p:nvSpPr>
          <p:cNvPr id="39" name="">
            <a:extLst xmlns:a="http://schemas.openxmlformats.org/drawingml/2006/main">
              <a:ext uri="{FF2B5EF4-FFF2-40B4-BE49-F238E27FC236}">
                <a16:creationId xmlns:a16="http://schemas.microsoft.com/office/drawing/2014/main" id="{3E7B63C3-2DE0-460F-8EDA-6ED43D6AD2F7}"/>
              </a:ext>
            </a:extLst>
          </p:cNvPr>
          <p:cNvSpPr>
            <a:spLocks xmlns:a="http://schemas.openxmlformats.org/drawingml/2006/main" noGrp="1"/>
          </p:cNvSpPr>
          <p:nvPr/>
        </p:nvSpPr>
        <p:spPr>
          <a:xfrm xmlns:a="http://schemas.openxmlformats.org/drawingml/2006/main">
            <a:off x="4191000" y="40195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0" name="">
            <a:extLst xmlns:a="http://schemas.openxmlformats.org/drawingml/2006/main">
              <a:ext uri="{FF2B5EF4-FFF2-40B4-BE49-F238E27FC236}">
                <a16:creationId xmlns:a16="http://schemas.microsoft.com/office/drawing/2014/main" id="{030C4696-B30A-4B80-A04D-0018B7F999AD}"/>
              </a:ext>
            </a:extLst>
          </p:cNvPr>
          <p:cNvSpPr>
            <a:spLocks xmlns:a="http://schemas.openxmlformats.org/drawingml/2006/main" noGrp="1"/>
          </p:cNvSpPr>
          <p:nvPr/>
        </p:nvSpPr>
        <p:spPr>
          <a:xfrm xmlns:a="http://schemas.openxmlformats.org/drawingml/2006/main">
            <a:off x="4267200" y="40767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rightmost child</a:t>
            </a:r>
          </a:p>
        </p:txBody>
      </p:sp>
      <p:sp>
        <p:nvSpPr>
          <p:cNvPr id="41" name="">
            <a:extLst xmlns:a="http://schemas.openxmlformats.org/drawingml/2006/main">
              <a:ext uri="{FF2B5EF4-FFF2-40B4-BE49-F238E27FC236}">
                <a16:creationId xmlns:a16="http://schemas.microsoft.com/office/drawing/2014/main" id="{02202C7C-B7AC-40E7-8A28-E2A61E49D6CA}"/>
              </a:ext>
            </a:extLst>
          </p:cNvPr>
          <p:cNvSpPr>
            <a:spLocks xmlns:a="http://schemas.openxmlformats.org/drawingml/2006/main" noGrp="1"/>
          </p:cNvSpPr>
          <p:nvPr/>
        </p:nvSpPr>
        <p:spPr>
          <a:xfrm xmlns:a="http://schemas.openxmlformats.org/drawingml/2006/main">
            <a:off x="7486650" y="40195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42" name="">
            <a:extLst xmlns:a="http://schemas.openxmlformats.org/drawingml/2006/main">
              <a:ext uri="{FF2B5EF4-FFF2-40B4-BE49-F238E27FC236}">
                <a16:creationId xmlns:a16="http://schemas.microsoft.com/office/drawing/2014/main" id="{5275377E-A1F6-40CE-8614-94D61D2A44EB}"/>
              </a:ext>
            </a:extLst>
          </p:cNvPr>
          <p:cNvSpPr>
            <a:spLocks xmlns:a="http://schemas.openxmlformats.org/drawingml/2006/main" noGrp="1"/>
          </p:cNvSpPr>
          <p:nvPr/>
        </p:nvSpPr>
        <p:spPr>
          <a:xfrm xmlns:a="http://schemas.openxmlformats.org/drawingml/2006/main">
            <a:off x="7562850" y="40767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leftmost child</a:t>
            </a:r>
          </a:p>
        </p:txBody>
      </p:sp>
      <p:sp>
        <p:nvSpPr>
          <p:cNvPr id="43" name="">
            <a:extLst xmlns:a="http://schemas.openxmlformats.org/drawingml/2006/main">
              <a:ext uri="{FF2B5EF4-FFF2-40B4-BE49-F238E27FC236}">
                <a16:creationId xmlns:a16="http://schemas.microsoft.com/office/drawing/2014/main" id="{FFD1FB87-C018-45FA-895C-CDD0A10E5A2D}"/>
              </a:ext>
            </a:extLst>
          </p:cNvPr>
          <p:cNvSpPr>
            <a:spLocks xmlns:a="http://schemas.openxmlformats.org/drawingml/2006/main" noGrp="1"/>
          </p:cNvSpPr>
          <p:nvPr/>
        </p:nvSpPr>
        <p:spPr>
          <a:xfrm xmlns:a="http://schemas.openxmlformats.org/drawingml/2006/main">
            <a:off x="876300" y="4533900"/>
            <a:ext cx="331470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4" name="">
            <a:extLst xmlns:a="http://schemas.openxmlformats.org/drawingml/2006/main">
              <a:ext uri="{FF2B5EF4-FFF2-40B4-BE49-F238E27FC236}">
                <a16:creationId xmlns:a16="http://schemas.microsoft.com/office/drawing/2014/main" id="{CCE261C8-64F6-45D7-983E-A2FF9449D609}"/>
              </a:ext>
            </a:extLst>
          </p:cNvPr>
          <p:cNvSpPr>
            <a:spLocks xmlns:a="http://schemas.openxmlformats.org/drawingml/2006/main" noGrp="1"/>
          </p:cNvSpPr>
          <p:nvPr/>
        </p:nvSpPr>
        <p:spPr>
          <a:xfrm xmlns:a="http://schemas.openxmlformats.org/drawingml/2006/main">
            <a:off x="952500" y="459105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Geometric anchor</a:t>
            </a:r>
          </a:p>
        </p:txBody>
      </p:sp>
      <p:sp>
        <p:nvSpPr>
          <p:cNvPr id="45" name="">
            <a:extLst xmlns:a="http://schemas.openxmlformats.org/drawingml/2006/main">
              <a:ext uri="{FF2B5EF4-FFF2-40B4-BE49-F238E27FC236}">
                <a16:creationId xmlns:a16="http://schemas.microsoft.com/office/drawing/2014/main" id="{4C3DF091-66CE-40E1-9752-5919581C9025}"/>
              </a:ext>
            </a:extLst>
          </p:cNvPr>
          <p:cNvSpPr>
            <a:spLocks xmlns:a="http://schemas.openxmlformats.org/drawingml/2006/main" noGrp="1"/>
          </p:cNvSpPr>
          <p:nvPr/>
        </p:nvSpPr>
        <p:spPr>
          <a:xfrm xmlns:a="http://schemas.openxmlformats.org/drawingml/2006/main">
            <a:off x="4191000" y="4533900"/>
            <a:ext cx="32956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6" name="">
            <a:extLst xmlns:a="http://schemas.openxmlformats.org/drawingml/2006/main">
              <a:ext uri="{FF2B5EF4-FFF2-40B4-BE49-F238E27FC236}">
                <a16:creationId xmlns:a16="http://schemas.microsoft.com/office/drawing/2014/main" id="{2FEA7439-3CCC-42F4-A70E-5971FA72D4AE}"/>
              </a:ext>
            </a:extLst>
          </p:cNvPr>
          <p:cNvSpPr>
            <a:spLocks xmlns:a="http://schemas.openxmlformats.org/drawingml/2006/main" noGrp="1"/>
          </p:cNvSpPr>
          <p:nvPr/>
        </p:nvSpPr>
        <p:spPr>
          <a:xfrm xmlns:a="http://schemas.openxmlformats.org/drawingml/2006/main">
            <a:off x="4267200" y="4591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right endpoint</a:t>
            </a:r>
          </a:p>
        </p:txBody>
      </p:sp>
      <p:sp>
        <p:nvSpPr>
          <p:cNvPr id="47" name="">
            <a:extLst xmlns:a="http://schemas.openxmlformats.org/drawingml/2006/main">
              <a:ext uri="{FF2B5EF4-FFF2-40B4-BE49-F238E27FC236}">
                <a16:creationId xmlns:a16="http://schemas.microsoft.com/office/drawing/2014/main" id="{ECA9F610-408B-4759-AE80-E9FACF71CE51}"/>
              </a:ext>
            </a:extLst>
          </p:cNvPr>
          <p:cNvSpPr>
            <a:spLocks xmlns:a="http://schemas.openxmlformats.org/drawingml/2006/main" noGrp="1"/>
          </p:cNvSpPr>
          <p:nvPr/>
        </p:nvSpPr>
        <p:spPr>
          <a:xfrm xmlns:a="http://schemas.openxmlformats.org/drawingml/2006/main">
            <a:off x="7486650" y="4533900"/>
            <a:ext cx="3752850" cy="514350"/>
          </a:xfrm>
          <a:prstGeom xmlns:a="http://schemas.openxmlformats.org/drawingml/2006/main" prst="rect">
            <a:avLst/>
          </a:prstGeom>
          <a:solidFill xmlns:a="http://schemas.openxmlformats.org/drawingml/2006/main">
            <a:srgbClr val="F0F4F8"/>
          </a:solidFill>
          <a:ln xmlns:a="http://schemas.openxmlformats.org/drawingml/2006/main" w="11430">
            <a:solidFill>
              <a:srgbClr val="D9E2EC"/>
            </a:solidFill>
            <a:prstDash val="solid"/>
          </a:ln>
        </p:spPr>
      </p:sp>
      <p:sp>
        <p:nvSpPr>
          <p:cNvPr id="48" name="">
            <a:extLst xmlns:a="http://schemas.openxmlformats.org/drawingml/2006/main">
              <a:ext uri="{FF2B5EF4-FFF2-40B4-BE49-F238E27FC236}">
                <a16:creationId xmlns:a16="http://schemas.microsoft.com/office/drawing/2014/main" id="{6E92AE2A-DA20-4AA1-B64D-0CE4C9C9844A}"/>
              </a:ext>
            </a:extLst>
          </p:cNvPr>
          <p:cNvSpPr>
            <a:spLocks xmlns:a="http://schemas.openxmlformats.org/drawingml/2006/main" noGrp="1"/>
          </p:cNvSpPr>
          <p:nvPr/>
        </p:nvSpPr>
        <p:spPr>
          <a:xfrm xmlns:a="http://schemas.openxmlformats.org/drawingml/2006/main">
            <a:off x="7562850" y="459105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left endpoint</a:t>
            </a:r>
          </a:p>
        </p:txBody>
      </p:sp>
      <p:sp>
        <p:nvSpPr>
          <p:cNvPr id="49" name="">
            <a:extLst xmlns:a="http://schemas.openxmlformats.org/drawingml/2006/main">
              <a:ext uri="{FF2B5EF4-FFF2-40B4-BE49-F238E27FC236}">
                <a16:creationId xmlns:a16="http://schemas.microsoft.com/office/drawing/2014/main" id="{AC936FA3-E09C-4546-80E8-806D7D661346}"/>
              </a:ext>
            </a:extLst>
          </p:cNvPr>
          <p:cNvSpPr>
            <a:spLocks xmlns:a="http://schemas.openxmlformats.org/drawingml/2006/main" noGrp="1"/>
          </p:cNvSpPr>
          <p:nvPr/>
        </p:nvSpPr>
        <p:spPr>
          <a:xfrm xmlns:a="http://schemas.openxmlformats.org/drawingml/2006/main">
            <a:off x="876300" y="5048250"/>
            <a:ext cx="331470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0" name="">
            <a:extLst xmlns:a="http://schemas.openxmlformats.org/drawingml/2006/main">
              <a:ext uri="{FF2B5EF4-FFF2-40B4-BE49-F238E27FC236}">
                <a16:creationId xmlns:a16="http://schemas.microsoft.com/office/drawing/2014/main" id="{1DF122EE-1FDD-4C13-9460-50B3FED57DDB}"/>
              </a:ext>
            </a:extLst>
          </p:cNvPr>
          <p:cNvSpPr>
            <a:spLocks xmlns:a="http://schemas.openxmlformats.org/drawingml/2006/main" noGrp="1"/>
          </p:cNvSpPr>
          <p:nvPr/>
        </p:nvSpPr>
        <p:spPr>
          <a:xfrm xmlns:a="http://schemas.openxmlformats.org/drawingml/2006/main">
            <a:off x="952500" y="5105400"/>
            <a:ext cx="316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1" i="0">
                <a:solidFill>
                  <a:srgbClr val="243B53"/>
                </a:solidFill>
              </a:defRPr>
            </a:pPr>
            <a:r>
              <a:rPr sz="1275" b="1" i="0">
                <a:solidFill>
                  <a:srgbClr val="243B53"/>
                </a:solidFill>
              </a:rPr>
              <a:t>Output insertion</a:t>
            </a:r>
          </a:p>
        </p:txBody>
      </p:sp>
      <p:sp>
        <p:nvSpPr>
          <p:cNvPr id="51" name="">
            <a:extLst xmlns:a="http://schemas.openxmlformats.org/drawingml/2006/main">
              <a:ext uri="{FF2B5EF4-FFF2-40B4-BE49-F238E27FC236}">
                <a16:creationId xmlns:a16="http://schemas.microsoft.com/office/drawing/2014/main" id="{86C54C1F-66DF-4F72-9F14-66B011B84A0D}"/>
              </a:ext>
            </a:extLst>
          </p:cNvPr>
          <p:cNvSpPr>
            <a:spLocks xmlns:a="http://schemas.openxmlformats.org/drawingml/2006/main" noGrp="1"/>
          </p:cNvSpPr>
          <p:nvPr/>
        </p:nvSpPr>
        <p:spPr>
          <a:xfrm xmlns:a="http://schemas.openxmlformats.org/drawingml/2006/main">
            <a:off x="4191000" y="5048250"/>
            <a:ext cx="32956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2" name="">
            <a:extLst xmlns:a="http://schemas.openxmlformats.org/drawingml/2006/main">
              <a:ext uri="{FF2B5EF4-FFF2-40B4-BE49-F238E27FC236}">
                <a16:creationId xmlns:a16="http://schemas.microsoft.com/office/drawing/2014/main" id="{AF17920F-38FE-4986-81BC-FFB10D7D434F}"/>
              </a:ext>
            </a:extLst>
          </p:cNvPr>
          <p:cNvSpPr>
            <a:spLocks xmlns:a="http://schemas.openxmlformats.org/drawingml/2006/main" noGrp="1"/>
          </p:cNvSpPr>
          <p:nvPr/>
        </p:nvSpPr>
        <p:spPr>
          <a:xfrm xmlns:a="http://schemas.openxmlformats.org/drawingml/2006/main">
            <a:off x="42672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after anchor</a:t>
            </a:r>
          </a:p>
        </p:txBody>
      </p:sp>
      <p:sp>
        <p:nvSpPr>
          <p:cNvPr id="53" name="">
            <a:extLst xmlns:a="http://schemas.openxmlformats.org/drawingml/2006/main">
              <a:ext uri="{FF2B5EF4-FFF2-40B4-BE49-F238E27FC236}">
                <a16:creationId xmlns:a16="http://schemas.microsoft.com/office/drawing/2014/main" id="{F448E09F-DF49-416A-B16B-0F674810C3D4}"/>
              </a:ext>
            </a:extLst>
          </p:cNvPr>
          <p:cNvSpPr>
            <a:spLocks xmlns:a="http://schemas.openxmlformats.org/drawingml/2006/main" noGrp="1"/>
          </p:cNvSpPr>
          <p:nvPr/>
        </p:nvSpPr>
        <p:spPr>
          <a:xfrm xmlns:a="http://schemas.openxmlformats.org/drawingml/2006/main">
            <a:off x="7486650" y="5048250"/>
            <a:ext cx="3752850" cy="514350"/>
          </a:xfrm>
          <a:prstGeom xmlns:a="http://schemas.openxmlformats.org/drawingml/2006/main" prst="rect">
            <a:avLst/>
          </a:prstGeom>
          <a:solidFill xmlns:a="http://schemas.openxmlformats.org/drawingml/2006/main">
            <a:srgbClr val="FFFFFF"/>
          </a:solidFill>
          <a:ln xmlns:a="http://schemas.openxmlformats.org/drawingml/2006/main" w="11430">
            <a:solidFill>
              <a:srgbClr val="D9E2EC"/>
            </a:solidFill>
            <a:prstDash val="solid"/>
          </a:ln>
        </p:spPr>
      </p:sp>
      <p:sp>
        <p:nvSpPr>
          <p:cNvPr id="54" name="">
            <a:extLst xmlns:a="http://schemas.openxmlformats.org/drawingml/2006/main">
              <a:ext uri="{FF2B5EF4-FFF2-40B4-BE49-F238E27FC236}">
                <a16:creationId xmlns:a16="http://schemas.microsoft.com/office/drawing/2014/main" id="{456A6E05-A7BE-4911-883F-F009F48ED313}"/>
              </a:ext>
            </a:extLst>
          </p:cNvPr>
          <p:cNvSpPr>
            <a:spLocks xmlns:a="http://schemas.openxmlformats.org/drawingml/2006/main" noGrp="1"/>
          </p:cNvSpPr>
          <p:nvPr/>
        </p:nvSpPr>
        <p:spPr>
          <a:xfrm xmlns:a="http://schemas.openxmlformats.org/drawingml/2006/main">
            <a:off x="7562850" y="5105400"/>
            <a:ext cx="3600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275" b="0" i="0">
                <a:solidFill>
                  <a:srgbClr val="243B53"/>
                </a:solidFill>
              </a:defRPr>
            </a:pPr>
            <a:r>
              <a:rPr sz="1275" b="0" i="0">
                <a:solidFill>
                  <a:srgbClr val="243B53"/>
                </a:solidFill>
              </a:rPr>
              <a:t>before anchor</a:t>
            </a:r>
          </a:p>
        </p:txBody>
      </p:sp>
      <p:sp>
        <p:nvSpPr>
          <p:cNvPr id="55" name="">
            <a:extLst xmlns:a="http://schemas.openxmlformats.org/drawingml/2006/main">
              <a:ext uri="{FF2B5EF4-FFF2-40B4-BE49-F238E27FC236}">
                <a16:creationId xmlns:a16="http://schemas.microsoft.com/office/drawing/2014/main" id="{667E8EAA-3089-4DD9-BB99-A18C94742DC0}"/>
              </a:ext>
            </a:extLst>
          </p:cNvPr>
          <p:cNvSpPr>
            <a:spLocks xmlns:a="http://schemas.openxmlformats.org/drawingml/2006/main" noGrp="1"/>
          </p:cNvSpPr>
          <p:nvPr/>
        </p:nvSpPr>
        <p:spPr>
          <a:xfrm xmlns:a="http://schemas.openxmlformats.org/drawingml/2006/main">
            <a:off x="1143000" y="573405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350" b="1" i="0">
                <a:solidFill>
                  <a:srgbClr val="102A43"/>
                </a:solidFill>
              </a:defRPr>
            </a:pPr>
            <a:r>
              <a:rPr sz="1350" b="1" i="0">
                <a:solidFill>
                  <a:srgbClr val="102A43"/>
                </a:solidFill>
              </a:rPr>
              <a:t>Step 1 always selects Aᵢ and Step 2 always selects Bᵢ; Step 3 reflects how those boundaries are used.</a:t>
            </a:r>
          </a:p>
        </p:txBody>
      </p:sp>
    </p:spTree>
    <p:extLst>
      <p:ext uri="{BB962C8B-B14F-4D97-AF65-F5344CB8AC3E}">
        <p14:creationId xmlns:p14="http://schemas.microsoft.com/office/powerpoint/2010/main" val="1872941890"/>
      </p:ext>
    </p:extLst>
  </p:cSld>
</p:sld>
</file>

<file path=ppt/slides/slide21.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A987C8D-9E3F-43EC-8767-79EDDB0096C8}"/>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E76F51"/>
                </a:solidFill>
              </a:defRPr>
            </a:pPr>
            <a:r>
              <a:rPr sz="900" b="1" i="0">
                <a:solidFill>
                  <a:srgbClr val="E76F51"/>
                </a:solidFill>
              </a:rPr>
              <a:t>BACKUP E</a:t>
            </a:r>
          </a:p>
        </p:txBody>
      </p:sp>
      <p:sp>
        <p:nvSpPr>
          <p:cNvPr id="2" name="">
            <a:extLst xmlns:a="http://schemas.openxmlformats.org/drawingml/2006/main">
              <a:ext uri="{FF2B5EF4-FFF2-40B4-BE49-F238E27FC236}">
                <a16:creationId xmlns:a16="http://schemas.microsoft.com/office/drawing/2014/main" id="{FD4BBEB4-6F06-46D3-B860-BBF310A7A401}"/>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Proposed finger-tree backend boundary</a:t>
            </a:r>
          </a:p>
        </p:txBody>
      </p:sp>
      <p:sp>
        <p:nvSpPr>
          <p:cNvPr id="3" name="">
            <a:extLst xmlns:a="http://schemas.openxmlformats.org/drawingml/2006/main">
              <a:ext uri="{FF2B5EF4-FFF2-40B4-BE49-F238E27FC236}">
                <a16:creationId xmlns:a16="http://schemas.microsoft.com/office/drawing/2014/main" id="{4617027A-D1A1-48B7-8B0E-3517407B80BB}"/>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E76F51"/>
            </a:solidFill>
            <a:prstDash val="solid"/>
          </a:ln>
        </p:spPr>
      </p:sp>
      <p:sp>
        <p:nvSpPr>
          <p:cNvPr id="4" name="">
            <a:extLst xmlns:a="http://schemas.openxmlformats.org/drawingml/2006/main">
              <a:ext uri="{FF2B5EF4-FFF2-40B4-BE49-F238E27FC236}">
                <a16:creationId xmlns:a16="http://schemas.microsoft.com/office/drawing/2014/main" id="{32BDFF57-D1B6-4A19-B836-CF83FDF900E4}"/>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3AAB2B19-2702-45C9-BCF3-389B54AC7145}"/>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E76F51"/>
                </a:solidFill>
              </a:defRPr>
            </a:pPr>
            <a:r>
              <a:rPr sz="825" b="1" i="0">
                <a:solidFill>
                  <a:srgbClr val="E76F51"/>
                </a:solidFill>
              </a:rPr>
              <a:t>BACKUP</a:t>
            </a:r>
          </a:p>
        </p:txBody>
      </p:sp>
      <p:sp>
        <p:nvSpPr>
          <p:cNvPr id="6" name="">
            <a:extLst xmlns:a="http://schemas.openxmlformats.org/drawingml/2006/main">
              <a:ext uri="{FF2B5EF4-FFF2-40B4-BE49-F238E27FC236}">
                <a16:creationId xmlns:a16="http://schemas.microsoft.com/office/drawing/2014/main" id="{DF9C3D5F-0FEF-44EF-9BD7-2DD568E27B33}"/>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E</a:t>
            </a:r>
          </a:p>
        </p:txBody>
      </p:sp>
      <p:sp>
        <p:nvSpPr>
          <p:cNvPr id="7" name="">
            <a:extLst xmlns:a="http://schemas.openxmlformats.org/drawingml/2006/main">
              <a:ext uri="{FF2B5EF4-FFF2-40B4-BE49-F238E27FC236}">
                <a16:creationId xmlns:a16="http://schemas.microsoft.com/office/drawing/2014/main" id="{28650EA6-6706-445A-A199-0F101675E896}"/>
              </a:ext>
            </a:extLst>
          </p:cNvPr>
          <p:cNvSpPr>
            <a:spLocks xmlns:a="http://schemas.openxmlformats.org/drawingml/2006/main" noGrp="1"/>
          </p:cNvSpPr>
          <p:nvPr/>
        </p:nvSpPr>
        <p:spPr>
          <a:xfrm xmlns:a="http://schemas.openxmlformats.org/drawingml/2006/main">
            <a:off x="895350" y="1524000"/>
            <a:ext cx="2762250" cy="685800"/>
          </a:xfrm>
          <a:prstGeom xmlns:a="http://schemas.openxmlformats.org/drawingml/2006/main" prst="roundRect">
            <a:avLst>
              <a:gd name="adj" fmla="val 11111"/>
            </a:avLst>
          </a:prstGeom>
          <a:solidFill xmlns:a="http://schemas.openxmlformats.org/drawingml/2006/main">
            <a:srgbClr val="E8F5F3"/>
          </a:solidFill>
          <a:ln xmlns:a="http://schemas.openxmlformats.org/drawingml/2006/main" w="14288">
            <a:solidFill>
              <a:srgbClr val="2A9D8F"/>
            </a:solidFill>
            <a:prstDash val="solid"/>
          </a:ln>
        </p:spPr>
      </p:sp>
      <p:sp>
        <p:nvSpPr>
          <p:cNvPr id="8" name="">
            <a:extLst xmlns:a="http://schemas.openxmlformats.org/drawingml/2006/main">
              <a:ext uri="{FF2B5EF4-FFF2-40B4-BE49-F238E27FC236}">
                <a16:creationId xmlns:a16="http://schemas.microsoft.com/office/drawing/2014/main" id="{21AC5CC1-8BAC-4982-9CDC-3BFE5DA67DB5}"/>
              </a:ext>
            </a:extLst>
          </p:cNvPr>
          <p:cNvSpPr>
            <a:spLocks xmlns:a="http://schemas.openxmlformats.org/drawingml/2006/main" noGrp="1"/>
          </p:cNvSpPr>
          <p:nvPr/>
        </p:nvSpPr>
        <p:spPr>
          <a:xfrm xmlns:a="http://schemas.openxmlformats.org/drawingml/2006/main">
            <a:off x="1028700" y="1657350"/>
            <a:ext cx="24955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Paper Step 1/2/3</a:t>
            </a:r>
          </a:p>
        </p:txBody>
      </p:sp>
      <p:sp>
        <p:nvSpPr>
          <p:cNvPr id="9" name="">
            <a:extLst xmlns:a="http://schemas.openxmlformats.org/drawingml/2006/main">
              <a:ext uri="{FF2B5EF4-FFF2-40B4-BE49-F238E27FC236}">
                <a16:creationId xmlns:a16="http://schemas.microsoft.com/office/drawing/2014/main" id="{4D5BAB35-E479-468D-8CE9-F1A35EF00C3C}"/>
              </a:ext>
            </a:extLst>
          </p:cNvPr>
          <p:cNvSpPr>
            <a:spLocks xmlns:a="http://schemas.openxmlformats.org/drawingml/2006/main" noGrp="1"/>
          </p:cNvSpPr>
          <p:nvPr/>
        </p:nvSpPr>
        <p:spPr>
          <a:xfrm xmlns:a="http://schemas.openxmlformats.org/drawingml/2006/main">
            <a:off x="4762500" y="1409700"/>
            <a:ext cx="6534150" cy="9144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14288">
            <a:solidFill>
              <a:srgbClr val="102A43"/>
            </a:solidFill>
            <a:prstDash val="solid"/>
          </a:ln>
        </p:spPr>
      </p:sp>
      <p:sp>
        <p:nvSpPr>
          <p:cNvPr id="10" name="">
            <a:extLst xmlns:a="http://schemas.openxmlformats.org/drawingml/2006/main">
              <a:ext uri="{FF2B5EF4-FFF2-40B4-BE49-F238E27FC236}">
                <a16:creationId xmlns:a16="http://schemas.microsoft.com/office/drawing/2014/main" id="{FB805653-5DD6-47FA-9251-A82FA6872079}"/>
              </a:ext>
            </a:extLst>
          </p:cNvPr>
          <p:cNvSpPr>
            <a:spLocks xmlns:a="http://schemas.openxmlformats.org/drawingml/2006/main" noGrp="1"/>
          </p:cNvSpPr>
          <p:nvPr/>
        </p:nvSpPr>
        <p:spPr>
          <a:xfrm xmlns:a="http://schemas.openxmlformats.org/drawingml/2006/main">
            <a:off x="4953000" y="1485900"/>
            <a:ext cx="6153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Sibling-list backend interface</a:t>
            </a:r>
          </a:p>
        </p:txBody>
      </p:sp>
      <p:sp>
        <p:nvSpPr>
          <p:cNvPr id="11" name="">
            <a:extLst xmlns:a="http://schemas.openxmlformats.org/drawingml/2006/main">
              <a:ext uri="{FF2B5EF4-FFF2-40B4-BE49-F238E27FC236}">
                <a16:creationId xmlns:a16="http://schemas.microsoft.com/office/drawing/2014/main" id="{5648ACD7-F52E-4839-8669-030AAF84641C}"/>
              </a:ext>
            </a:extLst>
          </p:cNvPr>
          <p:cNvSpPr>
            <a:spLocks xmlns:a="http://schemas.openxmlformats.org/drawingml/2006/main" noGrp="1"/>
          </p:cNvSpPr>
          <p:nvPr/>
        </p:nvSpPr>
        <p:spPr>
          <a:xfrm xmlns:a="http://schemas.openxmlformats.org/drawingml/2006/main">
            <a:off x="4991100" y="1847850"/>
            <a:ext cx="607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050" b="0" i="0">
                <a:solidFill>
                  <a:srgbClr val="52606D"/>
                </a:solidFill>
              </a:defRPr>
            </a:pPr>
            <a:r>
              <a:rPr sz="1050" b="0" i="0">
                <a:solidFill>
                  <a:srgbClr val="52606D"/>
                </a:solidFill>
              </a:rPr>
              <a:t>make singleton • insert at left/right boundary • split at new-point value</a:t>
            </a:r>
          </a:p>
          <a:p xmlns:a="http://schemas.openxmlformats.org/drawingml/2006/main">
            <a:pPr algn="ctr">
              <a:lnSpc>
                <a:spcPct val="105000"/>
              </a:lnSpc>
              <a:buNone/>
              <a:defRPr sz="1050" b="0" i="0">
                <a:solidFill>
                  <a:srgbClr val="52606D"/>
                </a:solidFill>
              </a:defRPr>
            </a:pPr>
            <a:r>
              <a:rPr sz="1050" b="0" i="0">
                <a:solidFill>
                  <a:srgbClr val="52606D"/>
                </a:solidFill>
              </a:rPr>
              <a:t>access first/last child • preserve ownership and stable handles</a:t>
            </a:r>
          </a:p>
        </p:txBody>
      </p:sp>
      <p:sp>
        <p:nvSpPr>
          <p:cNvPr id="12" name="">
            <a:extLst xmlns:a="http://schemas.openxmlformats.org/drawingml/2006/main">
              <a:ext uri="{FF2B5EF4-FFF2-40B4-BE49-F238E27FC236}">
                <a16:creationId xmlns:a16="http://schemas.microsoft.com/office/drawing/2014/main" id="{0C5C1705-5C96-464A-9742-753C0D06BA61}"/>
              </a:ext>
            </a:extLst>
          </p:cNvPr>
          <p:cNvSpPr>
            <a:spLocks xmlns:a="http://schemas.openxmlformats.org/drawingml/2006/main" noGrp="1"/>
          </p:cNvSpPr>
          <p:nvPr/>
        </p:nvSpPr>
        <p:spPr>
          <a:xfrm xmlns:a="http://schemas.openxmlformats.org/drawingml/2006/main">
            <a:off x="876300" y="3352800"/>
            <a:ext cx="4762500" cy="1733550"/>
          </a:xfrm>
          <a:prstGeom xmlns:a="http://schemas.openxmlformats.org/drawingml/2006/main" prst="roundRect">
            <a:avLst>
              <a:gd name="adj" fmla="val 4396"/>
            </a:avLst>
          </a:prstGeom>
          <a:solidFill xmlns:a="http://schemas.openxmlformats.org/drawingml/2006/main">
            <a:srgbClr val="E8F5F3"/>
          </a:solidFill>
          <a:ln xmlns:a="http://schemas.openxmlformats.org/drawingml/2006/main" w="14288">
            <a:solidFill>
              <a:srgbClr val="2A9D8F"/>
            </a:solidFill>
            <a:prstDash val="solid"/>
          </a:ln>
        </p:spPr>
      </p:sp>
      <p:sp>
        <p:nvSpPr>
          <p:cNvPr id="13" name="">
            <a:extLst xmlns:a="http://schemas.openxmlformats.org/drawingml/2006/main">
              <a:ext uri="{FF2B5EF4-FFF2-40B4-BE49-F238E27FC236}">
                <a16:creationId xmlns:a16="http://schemas.microsoft.com/office/drawing/2014/main" id="{78F24BF8-8C9C-4EC9-9D7F-2041625AAC6B}"/>
              </a:ext>
            </a:extLst>
          </p:cNvPr>
          <p:cNvSpPr>
            <a:spLocks xmlns:a="http://schemas.openxmlformats.org/drawingml/2006/main" noGrp="1"/>
          </p:cNvSpPr>
          <p:nvPr/>
        </p:nvSpPr>
        <p:spPr>
          <a:xfrm xmlns:a="http://schemas.openxmlformats.org/drawingml/2006/main">
            <a:off x="6553200" y="3352800"/>
            <a:ext cx="4762500" cy="1733550"/>
          </a:xfrm>
          <a:prstGeom xmlns:a="http://schemas.openxmlformats.org/drawingml/2006/main" prst="roundRect">
            <a:avLst>
              <a:gd name="adj" fmla="val 4396"/>
            </a:avLst>
          </a:prstGeom>
          <a:solidFill xmlns:a="http://schemas.openxmlformats.org/drawingml/2006/main">
            <a:srgbClr val="FCEEEA"/>
          </a:solidFill>
          <a:ln xmlns:a="http://schemas.openxmlformats.org/drawingml/2006/main" w="14288">
            <a:solidFill>
              <a:srgbClr val="E76F51"/>
            </a:solidFill>
            <a:prstDash val="solid"/>
          </a:ln>
        </p:spPr>
      </p:sp>
      <p:sp>
        <p:nvSpPr>
          <p:cNvPr id="14" name="">
            <a:extLst xmlns:a="http://schemas.openxmlformats.org/drawingml/2006/main">
              <a:ext uri="{FF2B5EF4-FFF2-40B4-BE49-F238E27FC236}">
                <a16:creationId xmlns:a16="http://schemas.microsoft.com/office/drawing/2014/main" id="{6FFD63FC-BD9C-4237-9C6C-06BC61F811CA}"/>
              </a:ext>
            </a:extLst>
          </p:cNvPr>
          <p:cNvSpPr>
            <a:spLocks xmlns:a="http://schemas.openxmlformats.org/drawingml/2006/main" noGrp="1"/>
          </p:cNvSpPr>
          <p:nvPr/>
        </p:nvSpPr>
        <p:spPr>
          <a:xfrm xmlns:a="http://schemas.openxmlformats.org/drawingml/2006/main">
            <a:off x="11620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2A9D8F"/>
                </a:solidFill>
              </a:defRPr>
            </a:pPr>
            <a:r>
              <a:rPr sz="1950" b="1" i="0">
                <a:solidFill>
                  <a:srgbClr val="2A9D8F"/>
                </a:solidFill>
              </a:rPr>
              <a:t>Ordinary-list backend</a:t>
            </a:r>
          </a:p>
        </p:txBody>
      </p:sp>
      <p:sp>
        <p:nvSpPr>
          <p:cNvPr id="15" name="">
            <a:extLst xmlns:a="http://schemas.openxmlformats.org/drawingml/2006/main">
              <a:ext uri="{FF2B5EF4-FFF2-40B4-BE49-F238E27FC236}">
                <a16:creationId xmlns:a16="http://schemas.microsoft.com/office/drawing/2014/main" id="{42EB2AFC-16F8-4A95-8B74-81A56859C3F4}"/>
              </a:ext>
            </a:extLst>
          </p:cNvPr>
          <p:cNvSpPr>
            <a:spLocks xmlns:a="http://schemas.openxmlformats.org/drawingml/2006/main" noGrp="1"/>
          </p:cNvSpPr>
          <p:nvPr/>
        </p:nvSpPr>
        <p:spPr>
          <a:xfrm xmlns:a="http://schemas.openxmlformats.org/drawingml/2006/main">
            <a:off x="11620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CURRENT VALIDATED BASELINE</a:t>
            </a:r>
          </a:p>
        </p:txBody>
      </p:sp>
      <p:sp>
        <p:nvSpPr>
          <p:cNvPr id="16" name="">
            <a:extLst xmlns:a="http://schemas.openxmlformats.org/drawingml/2006/main">
              <a:ext uri="{FF2B5EF4-FFF2-40B4-BE49-F238E27FC236}">
                <a16:creationId xmlns:a16="http://schemas.microsoft.com/office/drawing/2014/main" id="{9AA89899-1490-4740-947A-325B7E7966CC}"/>
              </a:ext>
            </a:extLst>
          </p:cNvPr>
          <p:cNvSpPr>
            <a:spLocks xmlns:a="http://schemas.openxmlformats.org/drawingml/2006/main" noGrp="1"/>
          </p:cNvSpPr>
          <p:nvPr/>
        </p:nvSpPr>
        <p:spPr>
          <a:xfrm xmlns:a="http://schemas.openxmlformats.org/drawingml/2006/main">
            <a:off x="13525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ordinary Python lists</a:t>
            </a:r>
          </a:p>
          <a:p xmlns:a="http://schemas.openxmlformats.org/drawingml/2006/main">
            <a:pPr algn="ctr">
              <a:lnSpc>
                <a:spcPct val="105000"/>
              </a:lnSpc>
              <a:buNone/>
              <a:defRPr sz="1425" b="0" i="0">
                <a:solidFill>
                  <a:srgbClr val="243B53"/>
                </a:solidFill>
              </a:defRPr>
            </a:pPr>
            <a:r>
              <a:rPr sz="1425" b="0" i="0">
                <a:solidFill>
                  <a:srgbClr val="243B53"/>
                </a:solidFill>
              </a:rPr>
              <a:t>archived correctness and timing evidence</a:t>
            </a:r>
          </a:p>
        </p:txBody>
      </p:sp>
      <p:sp>
        <p:nvSpPr>
          <p:cNvPr id="17" name="">
            <a:extLst xmlns:a="http://schemas.openxmlformats.org/drawingml/2006/main">
              <a:ext uri="{FF2B5EF4-FFF2-40B4-BE49-F238E27FC236}">
                <a16:creationId xmlns:a16="http://schemas.microsoft.com/office/drawing/2014/main" id="{8CA36DE0-9C95-4FBC-9A43-32BE0C6B31C7}"/>
              </a:ext>
            </a:extLst>
          </p:cNvPr>
          <p:cNvSpPr>
            <a:spLocks xmlns:a="http://schemas.openxmlformats.org/drawingml/2006/main" noGrp="1"/>
          </p:cNvSpPr>
          <p:nvPr/>
        </p:nvSpPr>
        <p:spPr>
          <a:xfrm xmlns:a="http://schemas.openxmlformats.org/drawingml/2006/main">
            <a:off x="6838950" y="3524250"/>
            <a:ext cx="419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950" b="1" i="0">
                <a:solidFill>
                  <a:srgbClr val="E76F51"/>
                </a:solidFill>
              </a:defRPr>
            </a:pPr>
            <a:r>
              <a:rPr sz="1950" b="1" i="0">
                <a:solidFill>
                  <a:srgbClr val="E76F51"/>
                </a:solidFill>
              </a:rPr>
              <a:t>Finger-tree backend</a:t>
            </a:r>
          </a:p>
        </p:txBody>
      </p:sp>
      <p:sp>
        <p:nvSpPr>
          <p:cNvPr id="18" name="">
            <a:extLst xmlns:a="http://schemas.openxmlformats.org/drawingml/2006/main">
              <a:ext uri="{FF2B5EF4-FFF2-40B4-BE49-F238E27FC236}">
                <a16:creationId xmlns:a16="http://schemas.microsoft.com/office/drawing/2014/main" id="{B4AE3366-D17D-4F3A-B896-A93F09C77D5E}"/>
              </a:ext>
            </a:extLst>
          </p:cNvPr>
          <p:cNvSpPr>
            <a:spLocks xmlns:a="http://schemas.openxmlformats.org/drawingml/2006/main" noGrp="1"/>
          </p:cNvSpPr>
          <p:nvPr/>
        </p:nvSpPr>
        <p:spPr>
          <a:xfrm xmlns:a="http://schemas.openxmlformats.org/drawingml/2006/main">
            <a:off x="6838950" y="394335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PROPOSED EXTENSION</a:t>
            </a:r>
          </a:p>
        </p:txBody>
      </p:sp>
      <p:sp>
        <p:nvSpPr>
          <p:cNvPr id="19" name="">
            <a:extLst xmlns:a="http://schemas.openxmlformats.org/drawingml/2006/main">
              <a:ext uri="{FF2B5EF4-FFF2-40B4-BE49-F238E27FC236}">
                <a16:creationId xmlns:a16="http://schemas.microsoft.com/office/drawing/2014/main" id="{C800B2BA-984B-4949-9A91-B883199A8520}"/>
              </a:ext>
            </a:extLst>
          </p:cNvPr>
          <p:cNvSpPr>
            <a:spLocks xmlns:a="http://schemas.openxmlformats.org/drawingml/2006/main" noGrp="1"/>
          </p:cNvSpPr>
          <p:nvPr/>
        </p:nvSpPr>
        <p:spPr>
          <a:xfrm xmlns:a="http://schemas.openxmlformats.org/drawingml/2006/main">
            <a:off x="7029450" y="4400550"/>
            <a:ext cx="3810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semantic-equivalence target</a:t>
            </a:r>
          </a:p>
          <a:p xmlns:a="http://schemas.openxmlformats.org/drawingml/2006/main">
            <a:pPr algn="ctr">
              <a:lnSpc>
                <a:spcPct val="105000"/>
              </a:lnSpc>
              <a:buNone/>
              <a:defRPr sz="1425" b="0" i="0">
                <a:solidFill>
                  <a:srgbClr val="243B53"/>
                </a:solidFill>
              </a:defRPr>
            </a:pPr>
            <a:r>
              <a:rPr sz="1425" b="0" i="0">
                <a:solidFill>
                  <a:srgbClr val="243B53"/>
                </a:solidFill>
              </a:rPr>
              <a:t>new validation and experiment version</a:t>
            </a:r>
          </a:p>
        </p:txBody>
      </p:sp>
      <p:sp>
        <p:nvSpPr>
          <p:cNvPr id="20" name="">
            <a:extLst xmlns:a="http://schemas.openxmlformats.org/drawingml/2006/main">
              <a:ext uri="{FF2B5EF4-FFF2-40B4-BE49-F238E27FC236}">
                <a16:creationId xmlns:a16="http://schemas.microsoft.com/office/drawing/2014/main" id="{195127F6-876D-48DC-9B66-04DE488B0025}"/>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5238"/>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Efficient tree splitting alone is insufficient if ownership transfer still scans and</a:t>
            </a:r>
          </a:p>
          <a:p xmlns:a="http://schemas.openxmlformats.org/drawingml/2006/main">
            <a:pPr algn="ctr">
              <a:lnSpc>
                <a:spcPct val="105000"/>
              </a:lnSpc>
              <a:buNone/>
              <a:defRPr sz="1875" b="1" i="0">
                <a:solidFill>
                  <a:srgbClr val="102A43"/>
                </a:solidFill>
              </a:defRPr>
            </a:pPr>
            <a:r>
              <a:rPr sz="1875" b="1" i="0">
                <a:solidFill>
                  <a:srgbClr val="102A43"/>
                </a:solidFill>
              </a:rPr>
              <a:t>rebinds every item.</a:t>
            </a:r>
          </a:p>
        </p:txBody>
      </p:sp>
      <p:cxnSp>
        <p:nvCxnSpPr>
          <p:cNvPr id="44" name=""/>
          <p:cNvCxnSpPr>
            <a:stCxn xmlns:a="http://schemas.openxmlformats.org/drawingml/2006/main" id="7" idx="3"/>
            <a:endCxn xmlns:a="http://schemas.openxmlformats.org/drawingml/2006/main" id="9" idx="1"/>
          </p:cNvCxnSpPr>
          <p:nvPr/>
        </p:nvCxnSpPr>
        <p:spPr>
          <a:xfrm xmlns:a="http://schemas.openxmlformats.org/drawingml/2006/main">
            <a:off x="3657600" y="1866900"/>
            <a:ext cx="1104900" cy="0"/>
          </a:xfrm>
          <a:prstGeom xmlns:a="http://schemas.openxmlformats.org/drawingml/2006/main" prst="straightConnector1">
            <a:avLst/>
          </a:prstGeom>
          <a:ln xmlns:a="http://schemas.openxmlformats.org/drawingml/2006/main" w="19050">
            <a:solidFill>
              <a:srgbClr val="2A9D8F"/>
            </a:solidFill>
            <a:prstDash val="solid"/>
            <a:tailEnd type="arrow" w="med" len="med"/>
          </a:ln>
        </p:spPr>
      </p:cxnSp>
      <p:cxnSp>
        <p:nvCxnSpPr>
          <p:cNvPr id="45" name=""/>
          <p:cNvCxnSpPr>
            <a:stCxn xmlns:a="http://schemas.openxmlformats.org/drawingml/2006/main" id="9" idx="2"/>
            <a:endCxn xmlns:a="http://schemas.openxmlformats.org/drawingml/2006/main" id="12" idx="0"/>
          </p:cNvCxnSpPr>
          <p:nvPr/>
        </p:nvCxnSpPr>
        <p:spPr>
          <a:xfrm xmlns:a="http://schemas.openxmlformats.org/drawingml/2006/main" flipH="1">
            <a:off x="3257550" y="2324100"/>
            <a:ext cx="4772025" cy="1028700"/>
          </a:xfrm>
          <a:prstGeom xmlns:a="http://schemas.openxmlformats.org/drawingml/2006/main" prst="bentConnector4">
            <a:avLst>
              <a:gd name="adj1" fmla="val 0"/>
              <a:gd name="adj2" fmla="val 50000"/>
            </a:avLst>
          </a:prstGeom>
          <a:ln xmlns:a="http://schemas.openxmlformats.org/drawingml/2006/main" w="19050">
            <a:solidFill>
              <a:srgbClr val="2A9D8F"/>
            </a:solidFill>
            <a:prstDash val="solid"/>
            <a:tailEnd type="arrow" w="med" len="med"/>
          </a:ln>
        </p:spPr>
      </p:cxnSp>
      <p:cxnSp>
        <p:nvCxnSpPr>
          <p:cNvPr id="46" name=""/>
          <p:cNvCxnSpPr>
            <a:stCxn xmlns:a="http://schemas.openxmlformats.org/drawingml/2006/main" id="9" idx="2"/>
            <a:endCxn xmlns:a="http://schemas.openxmlformats.org/drawingml/2006/main" id="13" idx="0"/>
          </p:cNvCxnSpPr>
          <p:nvPr/>
        </p:nvCxnSpPr>
        <p:spPr>
          <a:xfrm xmlns:a="http://schemas.openxmlformats.org/drawingml/2006/main">
            <a:off x="8029575" y="2324100"/>
            <a:ext cx="904875" cy="1028700"/>
          </a:xfrm>
          <a:prstGeom xmlns:a="http://schemas.openxmlformats.org/drawingml/2006/main" prst="bentConnector4">
            <a:avLst>
              <a:gd name="adj1" fmla="val 0"/>
              <a:gd name="adj2" fmla="val 50000"/>
            </a:avLst>
          </a:prstGeom>
          <a:ln xmlns:a="http://schemas.openxmlformats.org/drawingml/2006/main" w="19050">
            <a:solidFill>
              <a:srgbClr val="E76F51"/>
            </a:solidFill>
            <a:prstDash val="solid"/>
            <a:tailEnd type="arrow" w="med" len="med"/>
          </a:ln>
        </p:spPr>
      </p:cxnSp>
    </p:spTree>
    <p:extLst>
      <p:ext uri="{BB962C8B-B14F-4D97-AF65-F5344CB8AC3E}">
        <p14:creationId xmlns:p14="http://schemas.microsoft.com/office/powerpoint/2010/main" val="15912018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2026-09-07T12:00:45.9940000Z</dcterms:created>
  <dcterms:modified xsi:type="dcterms:W3CDTF">2026-09-07T12:00:45.9940000Z</dcterms:modified>
</coreProperties>
</file>