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d228a30bcba44b8" /><Relationship Type="http://schemas.openxmlformats.org/officeDocument/2006/relationships/extended-properties" Target="/docProps/app.xml" Id="R6289aa68f1664ed6" /><Relationship Type="http://schemas.openxmlformats.org/officeDocument/2006/relationships/officeDocument" Target="/ppt/presentation.xml" Id="R381fff2b98e9451a" /></Relationships>
</file>

<file path=ppt/presentation.xml><?xml version="1.0" encoding="utf-8"?>
<p:presentation xmlns:p="http://schemas.openxmlformats.org/presentationml/2006/main">
  <p:sldMasterIdLst>
    <p:sldMasterId xmlns:r="http://schemas.openxmlformats.org/officeDocument/2006/relationships" id="2147483648" r:id="R71a0ef3326244e42"/>
  </p:sldMasterIdLst>
  <p:notesMasterIdLst>
    <p:notesMasterId xmlns:r="http://schemas.openxmlformats.org/officeDocument/2006/relationships" r:id="Rd8d58d5578a1485c"/>
  </p:notesMasterIdLst>
  <p:sldIdLst>
    <p:sldId xmlns:r="http://schemas.openxmlformats.org/officeDocument/2006/relationships" id="256" r:id="R2a18df2b246941f2"/>
    <p:sldId xmlns:r="http://schemas.openxmlformats.org/officeDocument/2006/relationships" id="257" r:id="R357404093fe9417b"/>
    <p:sldId xmlns:r="http://schemas.openxmlformats.org/officeDocument/2006/relationships" id="258" r:id="Rdac5a7ef01ff4024"/>
    <p:sldId xmlns:r="http://schemas.openxmlformats.org/officeDocument/2006/relationships" id="259" r:id="Rbb71f77b36614663"/>
    <p:sldId xmlns:r="http://schemas.openxmlformats.org/officeDocument/2006/relationships" id="260" r:id="R3df7735f103e4d77"/>
    <p:sldId xmlns:r="http://schemas.openxmlformats.org/officeDocument/2006/relationships" id="261" r:id="Rc5f951f0166f4319"/>
    <p:sldId xmlns:r="http://schemas.openxmlformats.org/officeDocument/2006/relationships" id="262" r:id="R80d01b4ad56c425d"/>
    <p:sldId xmlns:r="http://schemas.openxmlformats.org/officeDocument/2006/relationships" id="263" r:id="R58604098872e463d"/>
    <p:sldId xmlns:r="http://schemas.openxmlformats.org/officeDocument/2006/relationships" id="264" r:id="R75ac0e9a062245a3"/>
    <p:sldId xmlns:r="http://schemas.openxmlformats.org/officeDocument/2006/relationships" id="265" r:id="Re1e3ba541fa3468f"/>
    <p:sldId xmlns:r="http://schemas.openxmlformats.org/officeDocument/2006/relationships" id="266" r:id="R9592e10a4d4945ac"/>
    <p:sldId xmlns:r="http://schemas.openxmlformats.org/officeDocument/2006/relationships" id="267" r:id="R425b166ebd8c4560"/>
    <p:sldId xmlns:r="http://schemas.openxmlformats.org/officeDocument/2006/relationships" id="268" r:id="Rd58776f4bacc4f60"/>
    <p:sldId xmlns:r="http://schemas.openxmlformats.org/officeDocument/2006/relationships" id="269" r:id="R8c5e777211ae4a08"/>
    <p:sldId xmlns:r="http://schemas.openxmlformats.org/officeDocument/2006/relationships" id="270" r:id="R80ca57960b7b43d3"/>
    <p:sldId xmlns:r="http://schemas.openxmlformats.org/officeDocument/2006/relationships" id="271" r:id="R20c631358faf4a00"/>
    <p:sldId xmlns:r="http://schemas.openxmlformats.org/officeDocument/2006/relationships" id="272" r:id="R518c551557844f95"/>
    <p:sldId xmlns:r="http://schemas.openxmlformats.org/officeDocument/2006/relationships" id="273" r:id="Rff06b9fad7d54491"/>
    <p:sldId xmlns:r="http://schemas.openxmlformats.org/officeDocument/2006/relationships" id="274" r:id="Refbe0fedeed34245"/>
    <p:sldId xmlns:r="http://schemas.openxmlformats.org/officeDocument/2006/relationships" id="275" r:id="R25e507d6dd9641a9"/>
    <p:sldId xmlns:r="http://schemas.openxmlformats.org/officeDocument/2006/relationships" id="276" r:id="Rd08cce9fb3d84bc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30dbcadde274663" /><Relationship Type="http://schemas.openxmlformats.org/officeDocument/2006/relationships/slideMaster" Target="/ppt/slideMasters/slideMaster1.xml" Id="R71a0ef3326244e42" /><Relationship Type="http://schemas.openxmlformats.org/officeDocument/2006/relationships/notesMaster" Target="/ppt/notesMasters/notesMaster1.xml" Id="Rd8d58d5578a1485c" /><Relationship Type="http://schemas.openxmlformats.org/officeDocument/2006/relationships/presProps" Target="/ppt/presProps.xml" Id="R721fb90dae684232" /><Relationship Type="http://schemas.openxmlformats.org/officeDocument/2006/relationships/tableStyles" Target="/ppt/tableStyles.xml" Id="R2f15a9fbfe3940a8" /><Relationship Type="http://schemas.openxmlformats.org/officeDocument/2006/relationships/slide" Target="/ppt/slides/slide1.xml" Id="R2a18df2b246941f2" /><Relationship Type="http://schemas.openxmlformats.org/officeDocument/2006/relationships/slide" Target="/ppt/slides/slide2.xml" Id="R357404093fe9417b" /><Relationship Type="http://schemas.openxmlformats.org/officeDocument/2006/relationships/slide" Target="/ppt/slides/slide3.xml" Id="Rdac5a7ef01ff4024" /><Relationship Type="http://schemas.openxmlformats.org/officeDocument/2006/relationships/slide" Target="/ppt/slides/slide4.xml" Id="Rbb71f77b36614663" /><Relationship Type="http://schemas.openxmlformats.org/officeDocument/2006/relationships/slide" Target="/ppt/slides/slide5.xml" Id="R3df7735f103e4d77" /><Relationship Type="http://schemas.openxmlformats.org/officeDocument/2006/relationships/slide" Target="/ppt/slides/slide6.xml" Id="Rc5f951f0166f4319" /><Relationship Type="http://schemas.openxmlformats.org/officeDocument/2006/relationships/slide" Target="/ppt/slides/slide7.xml" Id="R80d01b4ad56c425d" /><Relationship Type="http://schemas.openxmlformats.org/officeDocument/2006/relationships/slide" Target="/ppt/slides/slide8.xml" Id="R58604098872e463d" /><Relationship Type="http://schemas.openxmlformats.org/officeDocument/2006/relationships/slide" Target="/ppt/slides/slide9.xml" Id="R75ac0e9a062245a3" /><Relationship Type="http://schemas.openxmlformats.org/officeDocument/2006/relationships/slide" Target="/ppt/slides/slide10.xml" Id="Re1e3ba541fa3468f" /><Relationship Type="http://schemas.openxmlformats.org/officeDocument/2006/relationships/slide" Target="/ppt/slides/slide11.xml" Id="R9592e10a4d4945ac" /><Relationship Type="http://schemas.openxmlformats.org/officeDocument/2006/relationships/slide" Target="/ppt/slides/slide12.xml" Id="R425b166ebd8c4560" /><Relationship Type="http://schemas.openxmlformats.org/officeDocument/2006/relationships/slide" Target="/ppt/slides/slide13.xml" Id="Rd58776f4bacc4f60" /><Relationship Type="http://schemas.openxmlformats.org/officeDocument/2006/relationships/slide" Target="/ppt/slides/slide14.xml" Id="R8c5e777211ae4a08" /><Relationship Type="http://schemas.openxmlformats.org/officeDocument/2006/relationships/slide" Target="/ppt/slides/slide15.xml" Id="R80ca57960b7b43d3" /><Relationship Type="http://schemas.openxmlformats.org/officeDocument/2006/relationships/slide" Target="/ppt/slides/slide16.xml" Id="R20c631358faf4a00" /><Relationship Type="http://schemas.openxmlformats.org/officeDocument/2006/relationships/slide" Target="/ppt/slides/slide17.xml" Id="R518c551557844f95" /><Relationship Type="http://schemas.openxmlformats.org/officeDocument/2006/relationships/slide" Target="/ppt/slides/slide18.xml" Id="Rff06b9fad7d54491" /><Relationship Type="http://schemas.openxmlformats.org/officeDocument/2006/relationships/slide" Target="/ppt/slides/slide19.xml" Id="Refbe0fedeed34245" /><Relationship Type="http://schemas.openxmlformats.org/officeDocument/2006/relationships/slide" Target="/ppt/slides/slide20.xml" Id="R25e507d6dd9641a9" /><Relationship Type="http://schemas.openxmlformats.org/officeDocument/2006/relationships/slide" Target="/ppt/slides/slide21.xml" Id="Rd08cce9fb3d84bc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6c36f7672b240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2a1874050ea46da" /><Relationship Type="http://schemas.openxmlformats.org/officeDocument/2006/relationships/notesMaster" Target="/ppt/notesMasters/notesMaster1.xml" Id="Rff1ea7d94a6d4479"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975e67720b4d1a" /><Relationship Type="http://schemas.openxmlformats.org/officeDocument/2006/relationships/notesMaster" Target="/ppt/notesMasters/notesMaster1.xml" Id="R05a26f5dade14b89" /></Relationships>
</file>

<file path=ppt/notesSlides/_rels/notesSlide3.xml.rels>&#65279;<?xml version="1.0" encoding="utf-8"?><Relationships xmlns="http://schemas.openxmlformats.org/package/2006/relationships"><Relationship Type="http://schemas.openxmlformats.org/officeDocument/2006/relationships/slide" Target="/ppt/slides/slide3.xml" Id="R98dbf7bce65e4b07" /><Relationship Type="http://schemas.openxmlformats.org/officeDocument/2006/relationships/notesMaster" Target="/ppt/notesMasters/notesMaster1.xml" Id="Rd0575630f0af47da" /></Relationships>
</file>

<file path=ppt/notesSlides/_rels/notesSlide4.xml.rels>&#65279;<?xml version="1.0" encoding="utf-8"?><Relationships xmlns="http://schemas.openxmlformats.org/package/2006/relationships"><Relationship Type="http://schemas.openxmlformats.org/officeDocument/2006/relationships/slide" Target="/ppt/slides/slide4.xml" Id="R5c0f5515667b44ee" /><Relationship Type="http://schemas.openxmlformats.org/officeDocument/2006/relationships/notesMaster" Target="/ppt/notesMasters/notesMaster1.xml" Id="R043edec8bc7c4d86" /></Relationships>
</file>

<file path=ppt/notesSlides/_rels/notesSlide5.xml.rels>&#65279;<?xml version="1.0" encoding="utf-8"?><Relationships xmlns="http://schemas.openxmlformats.org/package/2006/relationships"><Relationship Type="http://schemas.openxmlformats.org/officeDocument/2006/relationships/slide" Target="/ppt/slides/slide5.xml" Id="Rdd363f30cbc9485a" /><Relationship Type="http://schemas.openxmlformats.org/officeDocument/2006/relationships/notesMaster" Target="/ppt/notesMasters/notesMaster1.xml" Id="R7f17646d4dae4d66" /></Relationships>
</file>

<file path=ppt/notesSlides/_rels/notesSlide6.xml.rels>&#65279;<?xml version="1.0" encoding="utf-8"?><Relationships xmlns="http://schemas.openxmlformats.org/package/2006/relationships"><Relationship Type="http://schemas.openxmlformats.org/officeDocument/2006/relationships/slide" Target="/ppt/slides/slide6.xml" Id="R7633ed28b4dc49e2" /><Relationship Type="http://schemas.openxmlformats.org/officeDocument/2006/relationships/notesMaster" Target="/ppt/notesMasters/notesMaster1.xml" Id="R65eb1689c335428d" /></Relationships>
</file>

<file path=ppt/notesSlides/_rels/notesSlide7.xml.rels>&#65279;<?xml version="1.0" encoding="utf-8"?><Relationships xmlns="http://schemas.openxmlformats.org/package/2006/relationships"><Relationship Type="http://schemas.openxmlformats.org/officeDocument/2006/relationships/slide" Target="/ppt/slides/slide7.xml" Id="R14afd2e2e0b847ab" /><Relationship Type="http://schemas.openxmlformats.org/officeDocument/2006/relationships/notesMaster" Target="/ppt/notesMasters/notesMaster1.xml" Id="R2e74dce570f149f1" /></Relationships>
</file>

<file path=ppt/notesSlides/_rels/notesSlide8.xml.rels>&#65279;<?xml version="1.0" encoding="utf-8"?><Relationships xmlns="http://schemas.openxmlformats.org/package/2006/relationships"><Relationship Type="http://schemas.openxmlformats.org/officeDocument/2006/relationships/slide" Target="/ppt/slides/slide8.xml" Id="Rb50f75446d1040d3" /><Relationship Type="http://schemas.openxmlformats.org/officeDocument/2006/relationships/notesMaster" Target="/ppt/notesMasters/notesMaster1.xml" Id="Rf786e5d2e4af4f09" /></Relationships>
</file>

<file path=ppt/notesSlides/_rels/notesSlide9.xml.rels>&#65279;<?xml version="1.0" encoding="utf-8"?><Relationships xmlns="http://schemas.openxmlformats.org/package/2006/relationships"><Relationship Type="http://schemas.openxmlformats.org/officeDocument/2006/relationships/slide" Target="/ppt/slides/slide9.xml" Id="R7353e1ee86bc4562" /><Relationship Type="http://schemas.openxmlformats.org/officeDocument/2006/relationships/notesMaster" Target="/ppt/notesMasters/notesMaster1.xml" Id="R2380717221b2406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2c9a570ba824dd6" /><Relationship Type="http://schemas.openxmlformats.org/officeDocument/2006/relationships/notesMaster" Target="/ppt/notesMasters/notesMaster1.xml" Id="R9153f4ccd89b40f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9dafb750ede40b6" /><Relationship Type="http://schemas.openxmlformats.org/officeDocument/2006/relationships/notesMaster" Target="/ppt/notesMasters/notesMaster1.xml" Id="R1be99ddf091e42b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72e42b1ad2741a0" /><Relationship Type="http://schemas.openxmlformats.org/officeDocument/2006/relationships/notesMaster" Target="/ppt/notesMasters/notesMaster1.xml" Id="Rd60304f31c07481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4b164d94a744424" /><Relationship Type="http://schemas.openxmlformats.org/officeDocument/2006/relationships/notesMaster" Target="/ppt/notesMasters/notesMaster1.xml" Id="R8d29e0528197400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d620ba9fa654a9d" /><Relationship Type="http://schemas.openxmlformats.org/officeDocument/2006/relationships/notesMaster" Target="/ppt/notesMasters/notesMaster1.xml" Id="Rdb6d8241443b4c0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fb12ce3b5174471" /><Relationship Type="http://schemas.openxmlformats.org/officeDocument/2006/relationships/notesMaster" Target="/ppt/notesMasters/notesMaster1.xml" Id="R117051d6c7f5427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8024070ad2b421f" /><Relationship Type="http://schemas.openxmlformats.org/officeDocument/2006/relationships/notesMaster" Target="/ppt/notesMasters/notesMaster1.xml" Id="R10abe15c43fd4f0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d4e8957c9fb45fb" /><Relationship Type="http://schemas.openxmlformats.org/officeDocument/2006/relationships/notesMaster" Target="/ppt/notesMasters/notesMaster1.xml" Id="R96e12630977646d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ac4fa19c703498f" /><Relationship Type="http://schemas.openxmlformats.org/officeDocument/2006/relationships/notesMaster" Target="/ppt/notesMasters/notesMaster1.xml" Id="Rd423490b09634b0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4bd5a54daa94f55" /><Relationship Type="http://schemas.openxmlformats.org/officeDocument/2006/relationships/notesMaster" Target="/ppt/notesMasters/notesMaster1.xml" Id="R92d844761d66422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e83cd97833c46c0" /><Relationship Type="http://schemas.openxmlformats.org/officeDocument/2006/relationships/notesMaster" Target="/ppt/notesMasters/notesMaster1.xml" Id="R51aaefaab320489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c53ddb68bf545b1" /><Relationship Type="http://schemas.openxmlformats.org/officeDocument/2006/relationships/notesMaster" Target="/ppt/notesMasters/notesMaster1.xml" Id="R8c2cdf57aaa14b8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afternoon. This presentation updates my master's thesis on an executable reconstruction of Simplified Jordan Sorting using ordinary Python lists. My previous report focused on static structure: rank intervals, upper and lower pair families, family trees, and an oracle-backed reference. The main question is whether the paper's dynamic procedure can maintain its own state and recover its own output. I will focus on two reconstruction decisions, then explain the validation checks and the runtime results from the formal experiment.</a:t>
            </a:r>
          </a:p>
          <a:p xmlns:a="http://schemas.openxmlformats.org/drawingml/2006/main">
            <a:r>
              <a:t/>
            </a:r>
          </a:p>
          <a:p xmlns:a="http://schemas.openxmlformats.org/drawingml/2006/main">
            <a:r>
              <a:t>[Sources]</a:t>
            </a:r>
          </a:p>
          <a:p xmlns:a="http://schemas.openxmlformats.org/drawingml/2006/main">
            <a:r>
              <a:t>- thesis/frontmatter/abstract.tex</a:t>
            </a:r>
          </a:p>
          <a:p xmlns:a="http://schemas.openxmlformats.org/drawingml/2006/main">
            <a:r>
              <a:t>- thesis/chapters/introduction.tex</a:t>
            </a:r>
          </a:p>
          <a:p xmlns:a="http://schemas.openxmlformats.org/drawingml/2006/main">
            <a:r>
              <a:t>- thesis/figures/jordan_sorting_problem.pdf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previous implementation represented rank intervals, separated upper and lower pair families, rebuilt their laminar family trees, and computed structural metrics. An oracle checked input validity and supplied a reference answer. The missing part was the dynamic procedure: updating the processed prefix, splitting sibling lists, transferring ownership, and recovering output from maintained state. Each update must preserve both the partial order and the family structure. An error in one update can corrupt both, so safe dynamic updates were the main implementation gap.</a:t>
            </a:r>
          </a:p>
          <a:p xmlns:a="http://schemas.openxmlformats.org/drawingml/2006/main">
            <a:r>
              <a:t/>
            </a:r>
          </a:p>
          <a:p xmlns:a="http://schemas.openxmlformats.org/drawingml/2006/main">
            <a:r>
              <a:t>[Sources]</a:t>
            </a:r>
          </a:p>
          <a:p xmlns:a="http://schemas.openxmlformats.org/drawingml/2006/main">
            <a:r>
              <a:t>- thesis/chapters/background.tex</a:t>
            </a:r>
          </a:p>
          <a:p xmlns:a="http://schemas.openxmlformats.org/drawingml/2006/main">
            <a:r>
              <a:t>- thesis/chapters/implementation.tex</a:t>
            </a:r>
          </a:p>
          <a:p xmlns:a="http://schemas.openxmlformats.org/drawingml/2006/main">
            <a:r>
              <a:t>- Hoffmann et al. (1986), doi:10.1016/S0019-9958(86)80033-X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Since then, I narrowed the scope to externally certified valid inputs and implemented the Step 1, Step 2, and Step 3 control flow. I added ownership checks, transactional updates, replay, and bounded validation. Once the implementation passed these checks, I ran a formal experiment with a fixed protocol. The result is an executable ordinary-list reconstruction.</a:t>
            </a:r>
          </a:p>
          <a:p xmlns:a="http://schemas.openxmlformats.org/drawingml/2006/main">
            <a:r>
              <a:t/>
            </a:r>
          </a:p>
          <a:p xmlns:a="http://schemas.openxmlformats.org/drawingml/2006/main">
            <a:r>
              <a:t>[Sources]</a:t>
            </a:r>
          </a:p>
          <a:p xmlns:a="http://schemas.openxmlformats.org/drawingml/2006/main">
            <a:r>
              <a:t>- thesis/chapters/introduction.tex</a:t>
            </a:r>
          </a:p>
          <a:p xmlns:a="http://schemas.openxmlformats.org/drawingml/2006/main">
            <a:r>
              <a:t>- thesis/chapters/implementation.tex</a:t>
            </a:r>
          </a:p>
          <a:p xmlns:a="http://schemas.openxmlformats.org/drawingml/2006/main">
            <a:r>
              <a:t>- thesis/chapters/methodology.tex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thesis studies the 1990 sorting procedure on inputs already certified as valid by an oracle. The experiment compares Python sort, the complete oracle-backed reference pipeline, and the reconstructed paper core. Recognition remains outside this experiment. The current core uses ordinary Python lists. It does not implement the specialized backend used in the historical linear-time analysis.</a:t>
            </a:r>
          </a:p>
          <a:p xmlns:a="http://schemas.openxmlformats.org/drawingml/2006/main">
            <a:r>
              <a:t/>
            </a:r>
          </a:p>
          <a:p xmlns:a="http://schemas.openxmlformats.org/drawingml/2006/main">
            <a:r>
              <a:t>[Sources]</a:t>
            </a:r>
          </a:p>
          <a:p xmlns:a="http://schemas.openxmlformats.org/drawingml/2006/main">
            <a:r>
              <a:t>- thesis/chapters/introduction.tex</a:t>
            </a:r>
          </a:p>
          <a:p xmlns:a="http://schemas.openxmlformats.org/drawingml/2006/main">
            <a:r>
              <a:t>- thesis/chapters/limitations.tex</a:t>
            </a:r>
          </a:p>
          <a:p xmlns:a="http://schemas.openxmlformats.org/drawingml/2006/main">
            <a:r>
              <a:t>- thesis/chapters/methodology.tex</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RQ1 is the main technical question: can the ordinary-list reconstruction recover the correct sorted order from maintained state on certified valid inputs? RQ2 compares the paper call with Python sort and the complete reference pipeline under their stated timing scopes. RQ3 explores descriptive relationships between input structure, checked operation counters, and runtime. It does not claim a causal explanation.</a:t>
            </a:r>
          </a:p>
          <a:p xmlns:a="http://schemas.openxmlformats.org/drawingml/2006/main">
            <a:r>
              <a:t/>
            </a:r>
          </a:p>
          <a:p xmlns:a="http://schemas.openxmlformats.org/drawingml/2006/main">
            <a:r>
              <a:t>[Sources]</a:t>
            </a:r>
          </a:p>
          <a:p xmlns:a="http://schemas.openxmlformats.org/drawingml/2006/main">
            <a:r>
              <a:t>- thesis/chapters/introduction.tex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paper call, the oracle certifies input validity. After the call, the runner compares the returned output with the oracle's sorted result. The reference pipeline uses the complete oracle result, including that sorted output. The paper core receives only the original sequence under the certified precondition. It executes Step 1, Step 2, and Step 3, maintains the partial order and sibling lists, and recovers output from the partial order. Both methods are checked against the same expected answer, but they produce their outputs differently. The oracle-sorted answer never enters the paper core. The dashed comparison box therefore sits outside it.</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thesis/chapters/methodology.tex</a:t>
            </a:r>
          </a:p>
          <a:p xmlns:a="http://schemas.openxmlformats.org/drawingml/2006/main">
            <a:r>
              <a:t>- src/paper_jordan.py</a:t>
            </a:r>
          </a:p>
          <a:p xmlns:a="http://schemas.openxmlformats.org/drawingml/2006/main">
            <a:r>
              <a:t>- src/simplified_jordan.py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procedure first orders z one, z two, and z three, then initializes the partial order and the first upper and lower pairs. For each new point, Step 1 finds predecessor boundary pair A sub i, and Step 2 finds successor boundary pair B sub i. Step 3(a) inserts a pair. Step 3(b) splits a sibling list and transfers ownership when needed. These steps update the pair families. Step 3(c) inserts the point into the maintained order. In an increasing iteration, Step 3(a) uses A sub i and Step 3(b) uses B sub i. A decreasing iteration swaps these uses. The paper states the increasing case; the decreasing case follows by symmetry. The two orientations share the same stages, but reflect the local roles. The next slides explain two executable clarifications: the geometric endpoint and the odd-index z one output anchor.</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thesis/chapters/implementation.tex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Consider the valid prefix three, two, one, four. The acquired pair P two is stored in curve order as three, two. Using its second stored element, two, as the anchor gives one, two, four, three, which is wrong on the axis. Step 3(c) needs the geometric extreme, not the second element in curve order. Here the correct anchor is three. Inserting four after three gives one, two, three, four. The pair records traversal along the curve, while insertion must follow the axis order. This is a representation issue: curve order does not always identify the required side of the axis order. Increasing iterations use the right geometric endpoint; decreasing iterations use the left. This is an executable clarification, since the 1990 paper does not state the rule in this form. Without this clarification, even valid examples fail.</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src/paper_jordan.py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odd-index z one case uses the valid prefix one, two, three, four, six, seven, zero. In this decreasing iteration, the ordinary anchor is z two, with value two. Inserting zero before it gives one, zero, two, three, four, six, seven. Z one remains on the wrong side of the new point. Here zero is smaller than z one, and z one is smaller than the original anchor. The output anchor must therefore change to z one. Inserting zero before z one gives zero, one, two, three, four, six, seven. This correction changes only output insertion. It does not replace the earlier predecessor or successor boundary calculation. Boundary selection still chooses the pair for the family update; the output anchor chooses the point for insertion into the partial order.</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thesis/figures/step3c_anchor_z1_anomaly.pdf</a:t>
            </a:r>
          </a:p>
          <a:p xmlns:a="http://schemas.openxmlformats.org/drawingml/2006/main">
            <a:r>
              <a:t>- Hoffmann et al. (1986), p. 175, doi:10.1016/S0019-9958(86)80033-X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finite pair has one parent and one sibling-list owner. Before a split, the existing owner controls both the retained and acquired segments. After a split, the original owner keeps the retained segment, while the new owner receives the acquired segment. Both nonempty sides may get new lists, but only the acquired segment changes parent. Split and transfer form one transaction: save the affected state, update it, then check the split boundary, ownership, and local postconditions. If a check fails, rollback restores the registry, ownership links, and list identifiers. The maintained state also contains the sorted processed prefix and both pair families. Ordinary lists incur scanning, copying, slicing, and ownership-rebinding costs. These correctness checks do not establish the update bounds required by the historical linear-time analysis.</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thesis/figures/family_sibling_structure.pdf</a:t>
            </a:r>
          </a:p>
          <a:p xmlns:a="http://schemas.openxmlformats.org/drawingml/2006/main">
            <a:r>
              <a:t>- src/paper_jordan.py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Focused regression cases cover known edge conditions. Bounded exhaustive validation covers all 2,074 oracle-valid permutations up to size eight. Checked-state audits inspect parent links, ownership, sibling lists, and recovered output. Deterministic replay compares states from repeated runs of the same core; it is not a second independent implementation. Replay checks whether the same procedure gives a consistent state. Separate experiment checks compare saved outputs with the fixed setup and recomputed summaries. Backup C gives the details. This finite evidence supports the evaluated cases, but is not a mathematical proof for every Jordan sequence.</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thesis/chapters/methodology.tex</a:t>
            </a:r>
          </a:p>
          <a:p xmlns:a="http://schemas.openxmlformats.org/drawingml/2006/main">
            <a:r>
              <a:t>- docs/thesis/latex_final_audit.md</a:t>
            </a:r>
          </a:p>
          <a:p xmlns:a="http://schemas.openxmlformats.org/drawingml/2006/main">
            <a:r>
              <a:t>- experiments/validate_week12_formal_sorting_outputs.py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experiment uses five sizes, twelve exact cases per size, and three algorithms. Each case-algorithm cell has five warm-up calls and twenty measured calls, giving 3,600 measured rows. The twenty calls repeat one exact case; they are not twenty independent inputs. Each call receives a fresh list with the same values. Algorithm positions rotate so that one method does not always run first. Paper certification and the checked-state audit happen before timing. Paper timing includes the minimal core call and output recovery from maintained order. Output comparison follows timing. Python timing covers its sorting call; reference timing covers the complete oracle-backed pipeline. These are three different timing scopes.</a:t>
            </a:r>
          </a:p>
          <a:p xmlns:a="http://schemas.openxmlformats.org/drawingml/2006/main">
            <a:r>
              <a:t/>
            </a:r>
          </a:p>
          <a:p xmlns:a="http://schemas.openxmlformats.org/drawingml/2006/main">
            <a:r>
              <a:t>[Sources]</a:t>
            </a:r>
          </a:p>
          <a:p xmlns:a="http://schemas.openxmlformats.org/drawingml/2006/main">
            <a:r>
              <a:t>- thesis/chapters/methodology.tex</a:t>
            </a:r>
          </a:p>
          <a:p xmlns:a="http://schemas.openxmlformats.org/drawingml/2006/main">
            <a:r>
              <a:t>- thesis/figures/formal_experiment_pipeline.pdf</a:t>
            </a:r>
          </a:p>
          <a:p xmlns:a="http://schemas.openxmlformats.org/drawingml/2006/main">
            <a:r>
              <a:t>- results/runs/week12_formal_sorting_v1__run001/config.json</a:t>
            </a:r>
          </a:p>
          <a:p xmlns:a="http://schemas.openxmlformats.org/drawingml/2006/main">
            <a:r>
              <a:t>- results/runs/week12_formal_sorting_v1__run001/manifest.json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60 cases passed certification and one checked-state audit each. Every measured call returned the expected output, with no recorded correctness errors. The 3,600 measured rows carry their case-level audit results; they do not represent 3,600 independent audits. These results cover the tested valid cases only.</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results/runs/week12_formal_sorting_v1__run001/raw.csv</a:t>
            </a:r>
          </a:p>
          <a:p xmlns:a="http://schemas.openxmlformats.org/drawingml/2006/main">
            <a:r>
              <a:t>- results/runs/week12_formal_sorting_v1__run001/case_audit.csv</a:t>
            </a:r>
          </a:p>
          <a:p xmlns:a="http://schemas.openxmlformats.org/drawingml/2006/main">
            <a:r>
              <a:t>- results/runs/week12_formal_sorting_v1__run001/validation_report.json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compute the paper/reference ratio for each exact case, then take the median at each size with equal weight per case. The ratios are 3.226 at n equals 32, 2.202 at 64, 1.351 at 128, 0.851 at 256, and 0.567 at 512. Thus, the ratio is above one at 128 and below one at 256. Paper calls take less time at the two larger sizes under these scopes. Since the scopes differ, this does not establish an end-to-end speedup. Python sort has the lowest median call time at every tested size, as shown in Backup A.</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results/runs/week12_formal_sorting_v1__run001/case_summary.csv</a:t>
            </a:r>
          </a:p>
          <a:p xmlns:a="http://schemas.openxmlformats.org/drawingml/2006/main">
            <a:r>
              <a:t>- docs/analysis/week12_runtime_ratios.csv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evidence supports an executable ordinary-list reconstruction that recovers output from maintained state, with correct results on the evaluated cases. The runtime trend describes this implementation under the stated timing scopes. Ordinary lists do not establish a linear-time implementation, and five tested sizes do not establish asymptotic complexity. Recognition was not evaluated.</a:t>
            </a:r>
          </a:p>
          <a:p xmlns:a="http://schemas.openxmlformats.org/drawingml/2006/main">
            <a:r>
              <a:t/>
            </a:r>
          </a:p>
          <a:p xmlns:a="http://schemas.openxmlformats.org/drawingml/2006/main">
            <a:r>
              <a:t>[Sources]</a:t>
            </a:r>
          </a:p>
          <a:p xmlns:a="http://schemas.openxmlformats.org/drawingml/2006/main">
            <a:r>
              <a:t>- thesis/chapters/limitations.tex</a:t>
            </a:r>
          </a:p>
          <a:p xmlns:a="http://schemas.openxmlformats.org/drawingml/2006/main">
            <a:r>
              <a:t>- thesis/chapters/conclusion.tex</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finger-tree backend is a possible future extension, outside the current experimental evidence. It would keep the same Step 1, Step 2, and Step 3 behavior. The ordinary-list implementation provides a tested reference point for checking the behavior of a new backend. Backup E explains the interface and ownership-transfer difficulty. I would like guidance on two questions. Should I target the historical heterogeneous finger tree, or an equivalent backend supporting the required list operations? Is a tested, semantically equivalent prototype enough, or should I also prove the required amortized operation bounds?</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thesis/chapters/limitations.tex</a:t>
            </a:r>
          </a:p>
          <a:p xmlns:a="http://schemas.openxmlformats.org/drawingml/2006/main">
            <a:r>
              <a:t>- thesis/README.md</a:t>
            </a:r>
          </a:p>
          <a:p xmlns:a="http://schemas.openxmlformats.org/drawingml/2006/main">
            <a:r>
              <a:t>- Fung et al. (1990), doi:10.1016/0020-0190(90)90111-A</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exact runtimes are requested, this backup slide reports the median call times for all three algorithms. The values belong to one recorded Apple M4 and CPython 3.12.4 execution. The logarithmic scale makes the Python values visible beside the reference and paper values. These absolute times should not be generalized to other environments.</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results/runs/week12_formal_sorting_v1__run001/case_summary.csv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answers the output-provenance question directly. The reference pipeline returns oracle_result sorted. The paper core returns state.partial_order.to_list. Certification precedes the paper call and comparison follows it, so neither operation supplies the paper core's return value.</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src/paper_jordan.py</a:t>
            </a:r>
          </a:p>
          <a:p xmlns:a="http://schemas.openxmlformats.org/drawingml/2006/main">
            <a:r>
              <a:t>- src/simplified_jordan.py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inventory summarizes the bounded validation evidence: repository tests, exhaustive valid permutations through size eight, fixed generated cases, formal case-level checked-state audits, and a formal evidence archive that passed evidence-contract validation. These checks are complementary; none is a universal proof.</a:t>
            </a:r>
          </a:p>
          <a:p xmlns:a="http://schemas.openxmlformats.org/drawingml/2006/main">
            <a:r>
              <a:t/>
            </a:r>
          </a:p>
          <a:p xmlns:a="http://schemas.openxmlformats.org/drawingml/2006/main">
            <a:r>
              <a:t>[Sources]</a:t>
            </a:r>
          </a:p>
          <a:p xmlns:a="http://schemas.openxmlformats.org/drawingml/2006/main">
            <a:r>
              <a:t>- docs/thesis/latex_final_audit.md</a:t>
            </a:r>
          </a:p>
          <a:p xmlns:a="http://schemas.openxmlformats.org/drawingml/2006/main">
            <a:r>
              <a:t>- experiments/validate_paper_algorithm.py</a:t>
            </a:r>
          </a:p>
          <a:p xmlns:a="http://schemas.openxmlformats.org/drawingml/2006/main">
            <a:r>
              <a:t>- results/runs/week12_formal_sorting_v1__run001/validation_report.json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summarizes the reflected local choices. Step 1 always selects the predecessor-side boundary A-i, and Step 2 always selects the successor-side boundary B-i. Step 3 reflects how those boundaries are used. Increasing iterations acquire the left split side and use the rightmost child and right endpoint; decreasing iterations mirror those choices.</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thesis/chapters/implementation.tex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proposed boundary keeps the paper-facing Step 1, Step 2, and Step 3 control flow above a small sibling-list interface. The current ordinary-list backend remains the validated baseline. A finger-tree backend would be a separate implementation of the same semantic operations: singleton creation, boundary insertion, split, extreme-child access, ownership preservation, and stable handles. The exact data-structure target—either the historical heterogeneous finger tree or an equivalently efficient backend—remains to be agreed with the supervisor. The main risk is that efficient tree splitting is not enough by itself. If ownership transfer still scans the acquired segment and rebinds every item, the backend may not satisfy the operation bounds needed by the historical analysis. The first milestone is therefore semantic equivalence and differential correctness; any complexity claim requires a separate proof-level argument.</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thesis/chapters/limitations.tex</a:t>
            </a:r>
          </a:p>
          <a:p xmlns:a="http://schemas.openxmlformats.org/drawingml/2006/main">
            <a:r>
              <a:t>- Fung et al. (1990), doi:10.1016/0020-0190(90)90111-A</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9e673f708f44c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cd1a7a0b7644745" /><Relationship Type="http://schemas.openxmlformats.org/officeDocument/2006/relationships/slideLayout" Target="/ppt/slideLayouts/slideLayout1.xml" Id="R8ca098f6044e477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ca098f6044e477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098156e63834ba6" /><Relationship Type="http://schemas.openxmlformats.org/officeDocument/2006/relationships/image" Target="/ppt/media/image.png" Id="Rfa1d7a5c3009486c" /><Relationship Type="http://schemas.openxmlformats.org/officeDocument/2006/relationships/notesSlide" Target="/ppt/notesSlides/notesSlide1.xml" Id="R783ae956692b446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e8a9a653fa24396" /><Relationship Type="http://schemas.openxmlformats.org/officeDocument/2006/relationships/notesSlide" Target="/ppt/notesSlides/notesSlide2.xml" Id="Rbabdde42735f459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4f7842241074361" /><Relationship Type="http://schemas.openxmlformats.org/officeDocument/2006/relationships/notesSlide" Target="/ppt/notesSlides/notesSlide3.xml" Id="R1af6193adaed46b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a2d0f989de34043" /><Relationship Type="http://schemas.openxmlformats.org/officeDocument/2006/relationships/notesSlide" Target="/ppt/notesSlides/notesSlide4.xml" Id="R34a3bddfe05d49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d9d617ac25c437e" /><Relationship Type="http://schemas.openxmlformats.org/officeDocument/2006/relationships/notesSlide" Target="/ppt/notesSlides/notesSlide5.xml" Id="Rf4968c68a05342b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bef0c0ace2e4fa2" /><Relationship Type="http://schemas.openxmlformats.org/officeDocument/2006/relationships/notesSlide" Target="/ppt/notesSlides/notesSlide6.xml" Id="R4d47ef67e0d9429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2ea4faf8dfc4cfe" /><Relationship Type="http://schemas.openxmlformats.org/officeDocument/2006/relationships/notesSlide" Target="/ppt/notesSlides/notesSlide7.xml" Id="R484075710423439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4d0acd6f1854770" /><Relationship Type="http://schemas.openxmlformats.org/officeDocument/2006/relationships/notesSlide" Target="/ppt/notesSlides/notesSlide8.xml" Id="R02fb51eabc534e6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fb2205aebe7415a" /><Relationship Type="http://schemas.openxmlformats.org/officeDocument/2006/relationships/notesSlide" Target="/ppt/notesSlides/notesSlide9.xml" Id="R2cd76b010c9e4a2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487f181b2004a58" /><Relationship Type="http://schemas.openxmlformats.org/officeDocument/2006/relationships/notesSlide" Target="/ppt/notesSlides/notesSlide10.xml" Id="R2c2e03b7ba56463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90c15ccfa2b4fb4" /><Relationship Type="http://schemas.openxmlformats.org/officeDocument/2006/relationships/notesSlide" Target="/ppt/notesSlides/notesSlide11.xml" Id="R35a5cd6eb54c491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57e2bdbbdd14f4e" /><Relationship Type="http://schemas.openxmlformats.org/officeDocument/2006/relationships/notesSlide" Target="/ppt/notesSlides/notesSlide12.xml" Id="R720196b71cf7465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3475fb836724720" /><Relationship Type="http://schemas.openxmlformats.org/officeDocument/2006/relationships/notesSlide" Target="/ppt/notesSlides/notesSlide13.xml" Id="R2afd7e7e7df5421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54904c9a49743b3" /><Relationship Type="http://schemas.openxmlformats.org/officeDocument/2006/relationships/chart" Target="/ppt/slides/charts/chart1.xml" Id="Ra03577e6470f40b8" /><Relationship Type="http://schemas.openxmlformats.org/officeDocument/2006/relationships/notesSlide" Target="/ppt/notesSlides/notesSlide14.xml" Id="R7583cce8e52744f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b455b9344b64cde" /><Relationship Type="http://schemas.openxmlformats.org/officeDocument/2006/relationships/notesSlide" Target="/ppt/notesSlides/notesSlide15.xml" Id="Rbbdeb615cf444d7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1465606e4a14044" /><Relationship Type="http://schemas.openxmlformats.org/officeDocument/2006/relationships/notesSlide" Target="/ppt/notesSlides/notesSlide16.xml" Id="R45c2499035594d8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87647b890914277" /><Relationship Type="http://schemas.openxmlformats.org/officeDocument/2006/relationships/image" Target="/ppt/media/image2.png" Id="R41449a41ec4f4b18" /><Relationship Type="http://schemas.openxmlformats.org/officeDocument/2006/relationships/notesSlide" Target="/ppt/notesSlides/notesSlide17.xml" Id="R6cdbcc0149a347f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57107fec18a40b6" /><Relationship Type="http://schemas.openxmlformats.org/officeDocument/2006/relationships/notesSlide" Target="/ppt/notesSlides/notesSlide18.xml" Id="Raf6ebb5fd5c74db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47dcb7a42cb4c18" /><Relationship Type="http://schemas.openxmlformats.org/officeDocument/2006/relationships/notesSlide" Target="/ppt/notesSlides/notesSlide19.xml" Id="Rb35792c83801419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cc6de9e38d34b78" /><Relationship Type="http://schemas.openxmlformats.org/officeDocument/2006/relationships/notesSlide" Target="/ppt/notesSlides/notesSlide20.xml" Id="R4fa3a417e06649f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351c85696bb42ca" /><Relationship Type="http://schemas.openxmlformats.org/officeDocument/2006/relationships/notesSlide" Target="/ppt/notesSlides/notesSlide21.xml" Id="R4e976e3ec00745d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paper/reference</c:v>
          </c:tx>
          <c:spPr>
            <a:ln xmlns:a="http://schemas.openxmlformats.org/drawingml/2006/main" w="38100">
              <a:solidFill>
                <a:srgbClr val="2A9D8F"/>
              </a:solidFill>
              <a:prstDash val="solid"/>
            </a:ln>
          </c:spPr>
          <c:marker>
            <c:symbol val="circle"/>
            <c:size val="9"/>
            <c:spPr>
              <a:solidFill xmlns:a="http://schemas.openxmlformats.org/drawingml/2006/main">
                <a:srgbClr val="2A9D8F"/>
              </a:solidFill>
            </c:spPr>
          </c:marker>
          <c:cat>
            <c:numRef>
              <c:f>'Chart Data'!$A$2:$A$6</c:f>
              <c:numCache>
                <c:formatCode>General</c:formatCode>
                <c:ptCount val="5"/>
                <c:pt idx="0">
                  <c:v>32</c:v>
                </c:pt>
                <c:pt idx="1">
                  <c:v>64</c:v>
                </c:pt>
                <c:pt idx="2">
                  <c:v>128</c:v>
                </c:pt>
                <c:pt idx="3">
                  <c:v>256</c:v>
                </c:pt>
                <c:pt idx="4">
                  <c:v>512</c:v>
                </c:pt>
              </c:numCache>
            </c:numRef>
          </c:cat>
          <c:val>
            <c:numRef>
              <c:f>'Chart Data'!$B$2:$B$6</c:f>
              <c:numCache>
                <c:formatCode>0.0</c:formatCode>
                <c:ptCount val="5"/>
                <c:pt idx="0">
                  <c:v>3.22642</c:v>
                </c:pt>
                <c:pt idx="1">
                  <c:v>2.202394</c:v>
                </c:pt>
                <c:pt idx="2">
                  <c:v>1.351064</c:v>
                </c:pt>
                <c:pt idx="3">
                  <c:v>0.850597</c:v>
                </c:pt>
                <c:pt idx="4">
                  <c:v>0.567187</c:v>
                </c:pt>
              </c:numCache>
            </c:numRef>
          </c:val>
          <c:smooth val="0"/>
        </c:ser>
        <c:ser>
          <c:idx val="1"/>
          <c:order val="1"/>
          <c:tx>
            <c:v>ratio = 1</c:v>
          </c:tx>
          <c:spPr>
            <a:ln xmlns:a="http://schemas.openxmlformats.org/drawingml/2006/main" w="19050">
              <a:solidFill>
                <a:srgbClr val="E76F51"/>
              </a:solidFill>
              <a:prstDash val="dash"/>
            </a:ln>
          </c:spPr>
          <c:marker>
            <c:symbol val="none"/>
          </c:marker>
          <c:cat>
            <c:numRef>
              <c:f>'Chart Data'!$C$2:$C$6</c:f>
              <c:numCache>
                <c:formatCode>General</c:formatCode>
                <c:ptCount val="5"/>
                <c:pt idx="0">
                  <c:v>32</c:v>
                </c:pt>
                <c:pt idx="1">
                  <c:v>64</c:v>
                </c:pt>
                <c:pt idx="2">
                  <c:v>128</c:v>
                </c:pt>
                <c:pt idx="3">
                  <c:v>256</c:v>
                </c:pt>
                <c:pt idx="4">
                  <c:v>512</c:v>
                </c:pt>
              </c:numCache>
            </c:numRef>
          </c:cat>
          <c:val>
            <c:numRef>
              <c:f>'Chart Data'!$D$2:$D$6</c:f>
              <c:numCache>
                <c:formatCode>0.0</c:formatCode>
                <c:ptCount val="5"/>
                <c:pt idx="0">
                  <c:v>1</c:v>
                </c:pt>
                <c:pt idx="1">
                  <c:v>1</c:v>
                </c:pt>
                <c:pt idx="2">
                  <c:v>1</c:v>
                </c:pt>
                <c:pt idx="3">
                  <c:v>1</c:v>
                </c:pt>
                <c:pt idx="4">
                  <c:v>1</c:v>
                </c:pt>
              </c:numCache>
            </c:numRef>
          </c:val>
          <c:smooth val="0"/>
        </c:ser>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125">
                    <a:solidFill>
                      <a:srgbClr val="52606D"/>
                    </a:solidFill>
                  </a:rPr>
                  <a:t>input size n</a:t>
                </a:r>
              </a:p>
            </c:rich>
          </c:tx>
          <c:overlay val="0"/>
          <c:txPr>
            <a:bodyPr xmlns:a="http://schemas.openxmlformats.org/drawingml/2006/main" anchorCtr="1"/>
            <a:lstStyle xmlns:a="http://schemas.openxmlformats.org/drawingml/2006/main"/>
            <a:p xmlns:a="http://schemas.openxmlformats.org/drawingml/2006/main">
              <a:pPr>
                <a:defRPr sz="1125">
                  <a:solidFill>
                    <a:srgbClr val="52606D"/>
                  </a:solidFill>
                </a:defRPr>
              </a:pPr>
            </a:p>
          </c:txPr>
        </c:title>
        <c:numFmt formatCode="General"/>
        <c:majorTickMark val="none"/>
        <c:minorTickMark val="none"/>
        <c:spPr>
          <a:ln xmlns:a="http://schemas.openxmlformats.org/drawingml/2006/main" w="9525">
            <a:solidFill>
              <a:srgbClr val="D9E2EC"/>
            </a:solidFill>
            <a:prstDash val="solid"/>
          </a:ln>
        </c:spPr>
        <c:txPr>
          <a:bodyPr xmlns:a="http://schemas.openxmlformats.org/drawingml/2006/main" anchorCtr="1"/>
          <a:lstStyle xmlns:a="http://schemas.openxmlformats.org/drawingml/2006/main"/>
          <a:p xmlns:a="http://schemas.openxmlformats.org/drawingml/2006/main">
            <a:pPr>
              <a:defRPr sz="1125">
                <a:solidFill>
                  <a:srgbClr val="52606D"/>
                </a:solidFill>
              </a:defRPr>
            </a:pPr>
          </a:p>
        </c:txPr>
        <c:crossAx val="48672768"/>
      </c:catAx>
      <c:valAx>
        <c:axId val="48672768"/>
        <c:scaling>
          <c:orientation val="minMax"/>
          <c:max val="3.5"/>
          <c:min val="0"/>
        </c:scaling>
        <c:delete val="0"/>
        <c:axPos val="l"/>
        <c:majorGridlines>
          <c:spPr>
            <a:ln xmlns:a="http://schemas.openxmlformats.org/drawingml/2006/main" w="9525">
              <a:solidFill>
                <a:srgbClr val="E6EDF3"/>
              </a:solidFill>
              <a:prstDash val="solid"/>
            </a:ln>
          </c:spPr>
        </c:majorGridlines>
        <c:title>
          <c:tx>
            <c:rich>
              <a:bodyPr xmlns:a="http://schemas.openxmlformats.org/drawingml/2006/main"/>
              <a:lstStyle xmlns:a="http://schemas.openxmlformats.org/drawingml/2006/main"/>
              <a:p xmlns:a="http://schemas.openxmlformats.org/drawingml/2006/main">
                <a:r>
                  <a:rPr sz="1125">
                    <a:solidFill>
                      <a:srgbClr val="52606D"/>
                    </a:solidFill>
                  </a:rPr>
                  <a:t>median exact-case ratio</a:t>
                </a:r>
              </a:p>
            </c:rich>
          </c:tx>
          <c:overlay val="0"/>
          <c:txPr>
            <a:bodyPr xmlns:a="http://schemas.openxmlformats.org/drawingml/2006/main" anchorCtr="1"/>
            <a:lstStyle xmlns:a="http://schemas.openxmlformats.org/drawingml/2006/main"/>
            <a:p xmlns:a="http://schemas.openxmlformats.org/drawingml/2006/main">
              <a:pPr>
                <a:defRPr sz="1125">
                  <a:solidFill>
                    <a:srgbClr val="52606D"/>
                  </a:solidFill>
                </a:defRPr>
              </a:pPr>
            </a:p>
          </c:txPr>
        </c:title>
        <c:numFmt formatCode="0.0"/>
        <c:majorTickMark val="none"/>
        <c:minorTickMark val="none"/>
        <c:spPr>
          <a:ln xmlns:a="http://schemas.openxmlformats.org/drawingml/2006/main" w="9525">
            <a:solidFill>
              <a:srgbClr val="D9E2EC"/>
            </a:solidFill>
            <a:prstDash val="solid"/>
          </a:ln>
        </c:spPr>
        <c:txPr>
          <a:bodyPr xmlns:a="http://schemas.openxmlformats.org/drawingml/2006/main" anchorCtr="1"/>
          <a:lstStyle xmlns:a="http://schemas.openxmlformats.org/drawingml/2006/main"/>
          <a:p xmlns:a="http://schemas.openxmlformats.org/drawingml/2006/main">
            <a:pPr>
              <a:defRPr sz="1050">
                <a:solidFill>
                  <a:srgbClr val="52606D"/>
                </a:solidFill>
              </a:defRPr>
            </a:pPr>
          </a:p>
        </c:txPr>
        <c:crossAx val="48650112"/>
        <c:crossBetween val="between"/>
        <c:majorUnit val="0.5"/>
      </c:valAx>
      <c:spPr>
        <a:solidFill xmlns:a="http://schemas.openxmlformats.org/drawingml/2006/main">
          <a:srgbClr val="FFFFFF"/>
        </a:solidFill>
        <a:ln xmlns:a="http://schemas.openxmlformats.org/drawingml/2006/main" w="9525">
          <a:solidFill>
            <a:srgbClr val="D9E2EC"/>
          </a:solid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125">
              <a:solidFill>
                <a:srgbClr val="52606D"/>
              </a:solidFill>
            </a:defRPr>
          </a:pPr>
        </a:p>
      </c:txPr>
    </c:legend>
    <c:plotVisOnly val="1"/>
  </c:chart>
  <c:spPr>
    <a:solidFill xmlns:a="http://schemas.openxmlformats.org/drawingml/2006/main">
      <a:srgbClr val="FFFFFF"/>
    </a:solidFill>
    <a:ln xmlns:a="http://schemas.openxmlformats.org/drawingml/2006/main" w="9525">
      <a:solidFill>
        <a:srgbClr val="D9E2EC"/>
      </a:solid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A43"/>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680AA2C-E2D8-4815-AE5A-A5DBC929986F}"/>
              </a:ext>
            </a:extLst>
          </p:cNvPr>
          <p:cNvSpPr>
            <a:spLocks xmlns:a="http://schemas.openxmlformats.org/drawingml/2006/main" noGrp="1"/>
          </p:cNvSpPr>
          <p:nvPr/>
        </p:nvSpPr>
        <p:spPr>
          <a:xfrm xmlns:a="http://schemas.openxmlformats.org/drawingml/2006/main">
            <a:off x="7239000" y="0"/>
            <a:ext cx="4953000" cy="685800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fa1d7a5c3009486c"/>
          <a:stretch xmlns:a="http://schemas.openxmlformats.org/drawingml/2006/main"/>
        </p:blipFill>
        <p:spPr>
          <a:xfrm xmlns:a="http://schemas.openxmlformats.org/drawingml/2006/main">
            <a:off x="7334250" y="1695818"/>
            <a:ext cx="4667250" cy="2666263"/>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9F0D7E22-F95C-48F7-8140-F5DD3AE543A4}"/>
              </a:ext>
            </a:extLst>
          </p:cNvPr>
          <p:cNvSpPr>
            <a:spLocks xmlns:a="http://schemas.openxmlformats.org/drawingml/2006/main" noGrp="1"/>
          </p:cNvSpPr>
          <p:nvPr/>
        </p:nvSpPr>
        <p:spPr>
          <a:xfrm xmlns:a="http://schemas.openxmlformats.org/drawingml/2006/main">
            <a:off x="685800" y="66675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050" b="1" i="0">
                <a:solidFill>
                  <a:srgbClr val="2A9D8F"/>
                </a:solidFill>
              </a:defRPr>
            </a:pPr>
            <a:r>
              <a:rPr sz="1050" b="1" i="0">
                <a:solidFill>
                  <a:srgbClr val="2A9D8F"/>
                </a:solidFill>
              </a:rPr>
              <a:t>MASTER'S THESIS PROGRESS REPORT</a:t>
            </a:r>
          </a:p>
        </p:txBody>
      </p:sp>
      <p:sp>
        <p:nvSpPr>
          <p:cNvPr id="4" name="">
            <a:extLst xmlns:a="http://schemas.openxmlformats.org/drawingml/2006/main">
              <a:ext uri="{FF2B5EF4-FFF2-40B4-BE49-F238E27FC236}">
                <a16:creationId xmlns:a16="http://schemas.microsoft.com/office/drawing/2014/main" id="{FBA7378B-1A42-42D7-9420-D3C2FBF8AF67}"/>
              </a:ext>
            </a:extLst>
          </p:cNvPr>
          <p:cNvSpPr>
            <a:spLocks xmlns:a="http://schemas.openxmlformats.org/drawingml/2006/main" noGrp="1"/>
          </p:cNvSpPr>
          <p:nvPr/>
        </p:nvSpPr>
        <p:spPr>
          <a:xfrm xmlns:a="http://schemas.openxmlformats.org/drawingml/2006/main">
            <a:off x="685800" y="1219200"/>
            <a:ext cx="590550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2000"/>
              </a:lnSpc>
              <a:buNone/>
              <a:defRPr sz="3750" b="1" i="0">
                <a:solidFill>
                  <a:srgbClr val="FFFFFF"/>
                </a:solidFill>
              </a:defRPr>
            </a:pPr>
            <a:r>
              <a:rPr sz="3750" b="1" i="0">
                <a:solidFill>
                  <a:srgbClr val="FFFFFF"/>
                </a:solidFill>
              </a:rPr>
              <a:t>Progress on the Executable Reconstruction of Simplified Jordan Sorting</a:t>
            </a:r>
          </a:p>
        </p:txBody>
      </p:sp>
      <p:sp>
        <p:nvSpPr>
          <p:cNvPr id="5" name="">
            <a:extLst xmlns:a="http://schemas.openxmlformats.org/drawingml/2006/main">
              <a:ext uri="{FF2B5EF4-FFF2-40B4-BE49-F238E27FC236}">
                <a16:creationId xmlns:a16="http://schemas.microsoft.com/office/drawing/2014/main" id="{2F74A685-8006-43B8-A223-06C121E6B4E3}"/>
              </a:ext>
            </a:extLst>
          </p:cNvPr>
          <p:cNvSpPr>
            <a:spLocks xmlns:a="http://schemas.openxmlformats.org/drawingml/2006/main" noGrp="1"/>
          </p:cNvSpPr>
          <p:nvPr/>
        </p:nvSpPr>
        <p:spPr>
          <a:xfrm xmlns:a="http://schemas.openxmlformats.org/drawingml/2006/main">
            <a:off x="723900" y="3857625"/>
            <a:ext cx="5334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0" i="0">
                <a:solidFill>
                  <a:srgbClr val="D9EAF2"/>
                </a:solidFill>
              </a:defRPr>
            </a:pPr>
            <a:r>
              <a:rPr sz="1800" b="0" i="0">
                <a:solidFill>
                  <a:srgbClr val="D9EAF2"/>
                </a:solidFill>
              </a:rPr>
              <a:t>Implementation progress, validation, and initial experimental results</a:t>
            </a:r>
          </a:p>
        </p:txBody>
      </p:sp>
      <p:sp>
        <p:nvSpPr>
          <p:cNvPr id="6" name="">
            <a:extLst xmlns:a="http://schemas.openxmlformats.org/drawingml/2006/main">
              <a:ext uri="{FF2B5EF4-FFF2-40B4-BE49-F238E27FC236}">
                <a16:creationId xmlns:a16="http://schemas.microsoft.com/office/drawing/2014/main" id="{FFCC32F0-6665-4966-A9A2-529D8D4759F1}"/>
              </a:ext>
            </a:extLst>
          </p:cNvPr>
          <p:cNvSpPr>
            <a:spLocks xmlns:a="http://schemas.openxmlformats.org/drawingml/2006/main" noGrp="1"/>
          </p:cNvSpPr>
          <p:nvPr/>
        </p:nvSpPr>
        <p:spPr>
          <a:xfrm xmlns:a="http://schemas.openxmlformats.org/drawingml/2006/main">
            <a:off x="723900" y="4838700"/>
            <a:ext cx="1428750" cy="9525"/>
          </a:xfrm>
          <a:prstGeom xmlns:a="http://schemas.openxmlformats.org/drawingml/2006/main" prst="line">
            <a:avLst/>
          </a:prstGeom>
          <a:noFill xmlns:a="http://schemas.openxmlformats.org/drawingml/2006/main"/>
          <a:ln xmlns:a="http://schemas.openxmlformats.org/drawingml/2006/main" w="47625">
            <a:solidFill>
              <a:srgbClr val="E76F51"/>
            </a:solidFill>
            <a:prstDash val="solid"/>
          </a:ln>
        </p:spPr>
      </p:sp>
      <p:sp>
        <p:nvSpPr>
          <p:cNvPr id="7" name="">
            <a:extLst xmlns:a="http://schemas.openxmlformats.org/drawingml/2006/main">
              <a:ext uri="{FF2B5EF4-FFF2-40B4-BE49-F238E27FC236}">
                <a16:creationId xmlns:a16="http://schemas.microsoft.com/office/drawing/2014/main" id="{E124ED05-08EF-4B11-8E5C-5B3C18FCCF7E}"/>
              </a:ext>
            </a:extLst>
          </p:cNvPr>
          <p:cNvSpPr>
            <a:spLocks xmlns:a="http://schemas.openxmlformats.org/drawingml/2006/main" noGrp="1"/>
          </p:cNvSpPr>
          <p:nvPr/>
        </p:nvSpPr>
        <p:spPr>
          <a:xfrm xmlns:a="http://schemas.openxmlformats.org/drawingml/2006/main">
            <a:off x="723900" y="5086350"/>
            <a:ext cx="590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275" b="0" i="0">
                <a:solidFill>
                  <a:srgbClr val="BCCCDC"/>
                </a:solidFill>
              </a:defRPr>
            </a:pPr>
            <a:r>
              <a:rPr sz="1275" b="0" i="0">
                <a:solidFill>
                  <a:srgbClr val="BCCCDC"/>
                </a:solidFill>
              </a:rPr>
              <a:t>Research Seminar  |  Freie Universität Berlin  |  September 2026</a:t>
            </a:r>
          </a:p>
        </p:txBody>
      </p:sp>
      <p:sp>
        <p:nvSpPr>
          <p:cNvPr id="8" name="">
            <a:extLst xmlns:a="http://schemas.openxmlformats.org/drawingml/2006/main">
              <a:ext uri="{FF2B5EF4-FFF2-40B4-BE49-F238E27FC236}">
                <a16:creationId xmlns:a16="http://schemas.microsoft.com/office/drawing/2014/main" id="{F31F48F4-F4F1-4ADE-B5F2-E706807175C5}"/>
              </a:ext>
            </a:extLst>
          </p:cNvPr>
          <p:cNvSpPr>
            <a:spLocks xmlns:a="http://schemas.openxmlformats.org/drawingml/2006/main" noGrp="1"/>
          </p:cNvSpPr>
          <p:nvPr/>
        </p:nvSpPr>
        <p:spPr>
          <a:xfrm xmlns:a="http://schemas.openxmlformats.org/drawingml/2006/main">
            <a:off x="11010900" y="6477000"/>
            <a:ext cx="7048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r">
              <a:lnSpc>
                <a:spcPct val="105000"/>
              </a:lnSpc>
              <a:buNone/>
              <a:defRPr sz="825" b="0" i="0">
                <a:solidFill>
                  <a:srgbClr val="7B8794"/>
                </a:solidFill>
              </a:defRPr>
            </a:pPr>
            <a:r>
              <a:rPr sz="825" b="0" i="0">
                <a:solidFill>
                  <a:srgbClr val="7B8794"/>
                </a:solidFill>
              </a:rPr>
              <a:t>1 / 16</a:t>
            </a:r>
          </a:p>
        </p:txBody>
      </p:sp>
    </p:spTree>
    <p:extLst>
      <p:ext uri="{BB962C8B-B14F-4D97-AF65-F5344CB8AC3E}">
        <p14:creationId xmlns:p14="http://schemas.microsoft.com/office/powerpoint/2010/main" val="682601810"/>
      </p:ext>
    </p:extLst>
  </p:cSld>
</p:sld>
</file>

<file path=ppt/slides/slide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D92527C7-9AEF-454E-9A26-FAFA08BE9DDD}"/>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CONTEXT</a:t>
            </a:r>
          </a:p>
        </p:txBody>
      </p:sp>
      <p:sp>
        <p:nvSpPr>
          <p:cNvPr id="2" name="">
            <a:extLst xmlns:a="http://schemas.openxmlformats.org/drawingml/2006/main">
              <a:ext uri="{FF2B5EF4-FFF2-40B4-BE49-F238E27FC236}">
                <a16:creationId xmlns:a16="http://schemas.microsoft.com/office/drawing/2014/main" id="{25B8403D-791A-4AEA-9B85-0328013A6406}"/>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previous report established a static structural baseline</a:t>
            </a:r>
          </a:p>
        </p:txBody>
      </p:sp>
      <p:sp>
        <p:nvSpPr>
          <p:cNvPr id="3" name="">
            <a:extLst xmlns:a="http://schemas.openxmlformats.org/drawingml/2006/main">
              <a:ext uri="{FF2B5EF4-FFF2-40B4-BE49-F238E27FC236}">
                <a16:creationId xmlns:a16="http://schemas.microsoft.com/office/drawing/2014/main" id="{4AB23991-F903-4EB0-9C3B-610B80F1EBD8}"/>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C3109861-1373-4C79-9F6E-B667CDBFC0CC}"/>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F86279E-CF39-48EF-84F7-5515EAF82C8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7ABB6548-335D-4E1A-A6BB-0EB4DF967DB5}"/>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2 / 16</a:t>
            </a:r>
          </a:p>
        </p:txBody>
      </p:sp>
      <p:sp>
        <p:nvSpPr>
          <p:cNvPr id="7" name="">
            <a:extLst xmlns:a="http://schemas.openxmlformats.org/drawingml/2006/main">
              <a:ext uri="{FF2B5EF4-FFF2-40B4-BE49-F238E27FC236}">
                <a16:creationId xmlns:a16="http://schemas.microsoft.com/office/drawing/2014/main" id="{2449552F-C9DC-4C46-89AE-30A5839C37A9}"/>
              </a:ext>
            </a:extLst>
          </p:cNvPr>
          <p:cNvSpPr>
            <a:spLocks xmlns:a="http://schemas.openxmlformats.org/drawingml/2006/main" noGrp="1"/>
          </p:cNvSpPr>
          <p:nvPr/>
        </p:nvSpPr>
        <p:spPr>
          <a:xfrm xmlns:a="http://schemas.openxmlformats.org/drawingml/2006/main">
            <a:off x="895350" y="14287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2A9D8F"/>
                </a:solidFill>
              </a:defRPr>
            </a:pPr>
            <a:r>
              <a:rPr sz="1125" b="1" i="0">
                <a:solidFill>
                  <a:srgbClr val="2A9D8F"/>
                </a:solidFill>
              </a:rPr>
              <a:t>PREVIOUS BASELINE</a:t>
            </a:r>
          </a:p>
        </p:txBody>
      </p:sp>
      <p:sp>
        <p:nvSpPr>
          <p:cNvPr id="8" name="">
            <a:extLst xmlns:a="http://schemas.openxmlformats.org/drawingml/2006/main">
              <a:ext uri="{FF2B5EF4-FFF2-40B4-BE49-F238E27FC236}">
                <a16:creationId xmlns:a16="http://schemas.microsoft.com/office/drawing/2014/main" id="{994F44D3-EA5E-4214-9116-0EB590C710DB}"/>
              </a:ext>
            </a:extLst>
          </p:cNvPr>
          <p:cNvSpPr>
            <a:spLocks xmlns:a="http://schemas.openxmlformats.org/drawingml/2006/main" noGrp="1"/>
          </p:cNvSpPr>
          <p:nvPr/>
        </p:nvSpPr>
        <p:spPr>
          <a:xfrm xmlns:a="http://schemas.openxmlformats.org/drawingml/2006/main">
            <a:off x="895350" y="1762125"/>
            <a:ext cx="3714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4383"/>
          </a:bodyPr>
          <a:lstStyle xmlns:a="http://schemas.openxmlformats.org/drawingml/2006/main"/>
          <a:p xmlns:a="http://schemas.openxmlformats.org/drawingml/2006/main">
            <a:pPr algn="l">
              <a:lnSpc>
                <a:spcPct val="105000"/>
              </a:lnSpc>
              <a:buNone/>
              <a:defRPr sz="2025" b="1" i="0">
                <a:solidFill>
                  <a:srgbClr val="102A43"/>
                </a:solidFill>
              </a:defRPr>
            </a:pPr>
            <a:r>
              <a:rPr sz="2025" b="1" i="0">
                <a:solidFill>
                  <a:srgbClr val="102A43"/>
                </a:solidFill>
              </a:rPr>
              <a:t>Structural reference framework</a:t>
            </a:r>
          </a:p>
        </p:txBody>
      </p:sp>
      <p:sp>
        <p:nvSpPr>
          <p:cNvPr id="9" name="">
            <a:extLst xmlns:a="http://schemas.openxmlformats.org/drawingml/2006/main">
              <a:ext uri="{FF2B5EF4-FFF2-40B4-BE49-F238E27FC236}">
                <a16:creationId xmlns:a16="http://schemas.microsoft.com/office/drawing/2014/main" id="{E9110F7B-AA45-4555-AAF6-857B4C7526BD}"/>
              </a:ext>
            </a:extLst>
          </p:cNvPr>
          <p:cNvSpPr>
            <a:spLocks xmlns:a="http://schemas.openxmlformats.org/drawingml/2006/main" noGrp="1"/>
          </p:cNvSpPr>
          <p:nvPr/>
        </p:nvSpPr>
        <p:spPr>
          <a:xfrm xmlns:a="http://schemas.openxmlformats.org/drawingml/2006/main">
            <a:off x="971550" y="24574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0" name="">
            <a:extLst xmlns:a="http://schemas.openxmlformats.org/drawingml/2006/main">
              <a:ext uri="{FF2B5EF4-FFF2-40B4-BE49-F238E27FC236}">
                <a16:creationId xmlns:a16="http://schemas.microsoft.com/office/drawing/2014/main" id="{D818320C-0F05-4080-A1BB-31F169D118AD}"/>
              </a:ext>
            </a:extLst>
          </p:cNvPr>
          <p:cNvSpPr>
            <a:spLocks xmlns:a="http://schemas.openxmlformats.org/drawingml/2006/main" noGrp="1"/>
          </p:cNvSpPr>
          <p:nvPr/>
        </p:nvSpPr>
        <p:spPr>
          <a:xfrm xmlns:a="http://schemas.openxmlformats.org/drawingml/2006/main">
            <a:off x="1181100" y="23812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rank-interval abstraction</a:t>
            </a:r>
          </a:p>
        </p:txBody>
      </p:sp>
      <p:sp>
        <p:nvSpPr>
          <p:cNvPr id="11" name="">
            <a:extLst xmlns:a="http://schemas.openxmlformats.org/drawingml/2006/main">
              <a:ext uri="{FF2B5EF4-FFF2-40B4-BE49-F238E27FC236}">
                <a16:creationId xmlns:a16="http://schemas.microsoft.com/office/drawing/2014/main" id="{56829D05-C615-4F0F-BF9D-7459B091C89E}"/>
              </a:ext>
            </a:extLst>
          </p:cNvPr>
          <p:cNvSpPr>
            <a:spLocks xmlns:a="http://schemas.openxmlformats.org/drawingml/2006/main" noGrp="1"/>
          </p:cNvSpPr>
          <p:nvPr/>
        </p:nvSpPr>
        <p:spPr>
          <a:xfrm xmlns:a="http://schemas.openxmlformats.org/drawingml/2006/main">
            <a:off x="971550" y="29527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2" name="">
            <a:extLst xmlns:a="http://schemas.openxmlformats.org/drawingml/2006/main">
              <a:ext uri="{FF2B5EF4-FFF2-40B4-BE49-F238E27FC236}">
                <a16:creationId xmlns:a16="http://schemas.microsoft.com/office/drawing/2014/main" id="{F69A176A-5671-494F-80A5-03DB398A5EDD}"/>
              </a:ext>
            </a:extLst>
          </p:cNvPr>
          <p:cNvSpPr>
            <a:spLocks xmlns:a="http://schemas.openxmlformats.org/drawingml/2006/main" noGrp="1"/>
          </p:cNvSpPr>
          <p:nvPr/>
        </p:nvSpPr>
        <p:spPr>
          <a:xfrm xmlns:a="http://schemas.openxmlformats.org/drawingml/2006/main">
            <a:off x="1181100" y="28765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upper and lower families</a:t>
            </a:r>
          </a:p>
        </p:txBody>
      </p:sp>
      <p:sp>
        <p:nvSpPr>
          <p:cNvPr id="13" name="">
            <a:extLst xmlns:a="http://schemas.openxmlformats.org/drawingml/2006/main">
              <a:ext uri="{FF2B5EF4-FFF2-40B4-BE49-F238E27FC236}">
                <a16:creationId xmlns:a16="http://schemas.microsoft.com/office/drawing/2014/main" id="{1E03F622-9F42-4140-8944-C44C22845740}"/>
              </a:ext>
            </a:extLst>
          </p:cNvPr>
          <p:cNvSpPr>
            <a:spLocks xmlns:a="http://schemas.openxmlformats.org/drawingml/2006/main" noGrp="1"/>
          </p:cNvSpPr>
          <p:nvPr/>
        </p:nvSpPr>
        <p:spPr>
          <a:xfrm xmlns:a="http://schemas.openxmlformats.org/drawingml/2006/main">
            <a:off x="971550" y="34480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4" name="">
            <a:extLst xmlns:a="http://schemas.openxmlformats.org/drawingml/2006/main">
              <a:ext uri="{FF2B5EF4-FFF2-40B4-BE49-F238E27FC236}">
                <a16:creationId xmlns:a16="http://schemas.microsoft.com/office/drawing/2014/main" id="{853AA5E3-00BE-45DB-9C79-3B7C8C25B019}"/>
              </a:ext>
            </a:extLst>
          </p:cNvPr>
          <p:cNvSpPr>
            <a:spLocks xmlns:a="http://schemas.openxmlformats.org/drawingml/2006/main" noGrp="1"/>
          </p:cNvSpPr>
          <p:nvPr/>
        </p:nvSpPr>
        <p:spPr>
          <a:xfrm xmlns:a="http://schemas.openxmlformats.org/drawingml/2006/main">
            <a:off x="1181100" y="33718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family trees and structural metrics</a:t>
            </a:r>
          </a:p>
        </p:txBody>
      </p:sp>
      <p:sp>
        <p:nvSpPr>
          <p:cNvPr id="15" name="">
            <a:extLst xmlns:a="http://schemas.openxmlformats.org/drawingml/2006/main">
              <a:ext uri="{FF2B5EF4-FFF2-40B4-BE49-F238E27FC236}">
                <a16:creationId xmlns:a16="http://schemas.microsoft.com/office/drawing/2014/main" id="{90C0F484-6B8E-4F83-9ED7-EDCA385121AF}"/>
              </a:ext>
            </a:extLst>
          </p:cNvPr>
          <p:cNvSpPr>
            <a:spLocks xmlns:a="http://schemas.openxmlformats.org/drawingml/2006/main" noGrp="1"/>
          </p:cNvSpPr>
          <p:nvPr/>
        </p:nvSpPr>
        <p:spPr>
          <a:xfrm xmlns:a="http://schemas.openxmlformats.org/drawingml/2006/main">
            <a:off x="971550" y="39433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6" name="">
            <a:extLst xmlns:a="http://schemas.openxmlformats.org/drawingml/2006/main">
              <a:ext uri="{FF2B5EF4-FFF2-40B4-BE49-F238E27FC236}">
                <a16:creationId xmlns:a16="http://schemas.microsoft.com/office/drawing/2014/main" id="{312E9624-B5B4-4A5A-9C89-658AE3F2C5FB}"/>
              </a:ext>
            </a:extLst>
          </p:cNvPr>
          <p:cNvSpPr>
            <a:spLocks xmlns:a="http://schemas.openxmlformats.org/drawingml/2006/main" noGrp="1"/>
          </p:cNvSpPr>
          <p:nvPr/>
        </p:nvSpPr>
        <p:spPr>
          <a:xfrm xmlns:a="http://schemas.openxmlformats.org/drawingml/2006/main">
            <a:off x="1181100" y="38671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oracle-backed validation</a:t>
            </a:r>
          </a:p>
        </p:txBody>
      </p:sp>
      <p:sp>
        <p:nvSpPr>
          <p:cNvPr id="17" name="">
            <a:extLst xmlns:a="http://schemas.openxmlformats.org/drawingml/2006/main">
              <a:ext uri="{FF2B5EF4-FFF2-40B4-BE49-F238E27FC236}">
                <a16:creationId xmlns:a16="http://schemas.microsoft.com/office/drawing/2014/main" id="{1F01D763-67DA-4327-B6BB-09610F70E5C4}"/>
              </a:ext>
            </a:extLst>
          </p:cNvPr>
          <p:cNvSpPr>
            <a:spLocks xmlns:a="http://schemas.openxmlformats.org/drawingml/2006/main" noGrp="1"/>
          </p:cNvSpPr>
          <p:nvPr/>
        </p:nvSpPr>
        <p:spPr>
          <a:xfrm xmlns:a="http://schemas.openxmlformats.org/drawingml/2006/main">
            <a:off x="5219700" y="2971800"/>
            <a:ext cx="1143000" cy="552450"/>
          </a:xfrm>
          <a:prstGeom xmlns:a="http://schemas.openxmlformats.org/drawingml/2006/main" prst="roundRect">
            <a:avLst>
              <a:gd name="adj" fmla="val 50000"/>
            </a:avLst>
          </a:prstGeom>
          <a:solidFill xmlns:a="http://schemas.openxmlformats.org/drawingml/2006/main">
            <a:srgbClr val="EAF1F8"/>
          </a:solidFill>
          <a:ln xmlns:a="http://schemas.openxmlformats.org/drawingml/2006/main" w="11430">
            <a:solidFill>
              <a:srgbClr val="102A43"/>
            </a:solidFill>
            <a:prstDash val="solid"/>
          </a:ln>
        </p:spPr>
      </p:sp>
      <p:sp>
        <p:nvSpPr>
          <p:cNvPr id="18" name="">
            <a:extLst xmlns:a="http://schemas.openxmlformats.org/drawingml/2006/main">
              <a:ext uri="{FF2B5EF4-FFF2-40B4-BE49-F238E27FC236}">
                <a16:creationId xmlns:a16="http://schemas.microsoft.com/office/drawing/2014/main" id="{ED986F72-7D89-40E8-9CE4-6D30F6F287B2}"/>
              </a:ext>
            </a:extLst>
          </p:cNvPr>
          <p:cNvSpPr>
            <a:spLocks xmlns:a="http://schemas.openxmlformats.org/drawingml/2006/main" noGrp="1"/>
          </p:cNvSpPr>
          <p:nvPr/>
        </p:nvSpPr>
        <p:spPr>
          <a:xfrm xmlns:a="http://schemas.openxmlformats.org/drawingml/2006/main">
            <a:off x="5238750" y="3028950"/>
            <a:ext cx="11049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static</a:t>
            </a:r>
          </a:p>
        </p:txBody>
      </p:sp>
      <p:sp>
        <p:nvSpPr>
          <p:cNvPr id="19" name="">
            <a:extLst xmlns:a="http://schemas.openxmlformats.org/drawingml/2006/main">
              <a:ext uri="{FF2B5EF4-FFF2-40B4-BE49-F238E27FC236}">
                <a16:creationId xmlns:a16="http://schemas.microsoft.com/office/drawing/2014/main" id="{A14D78AF-DB17-4677-BAD9-39105BD4A48C}"/>
              </a:ext>
            </a:extLst>
          </p:cNvPr>
          <p:cNvSpPr>
            <a:spLocks xmlns:a="http://schemas.openxmlformats.org/drawingml/2006/main" noGrp="1"/>
          </p:cNvSpPr>
          <p:nvPr/>
        </p:nvSpPr>
        <p:spPr>
          <a:xfrm xmlns:a="http://schemas.openxmlformats.org/drawingml/2006/main">
            <a:off x="6334125" y="2981325"/>
            <a:ext cx="666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850" b="1" i="0">
                <a:solidFill>
                  <a:srgbClr val="E76F51"/>
                </a:solidFill>
              </a:defRPr>
            </a:pPr>
            <a:r>
              <a:rPr sz="2850" b="1" i="0">
                <a:solidFill>
                  <a:srgbClr val="E76F51"/>
                </a:solidFill>
              </a:rPr>
              <a:t>→</a:t>
            </a:r>
          </a:p>
        </p:txBody>
      </p:sp>
      <p:sp>
        <p:nvSpPr>
          <p:cNvPr id="20" name="">
            <a:extLst xmlns:a="http://schemas.openxmlformats.org/drawingml/2006/main">
              <a:ext uri="{FF2B5EF4-FFF2-40B4-BE49-F238E27FC236}">
                <a16:creationId xmlns:a16="http://schemas.microsoft.com/office/drawing/2014/main" id="{C1262B43-00CF-4DA9-9456-507A68AEF4A9}"/>
              </a:ext>
            </a:extLst>
          </p:cNvPr>
          <p:cNvSpPr>
            <a:spLocks xmlns:a="http://schemas.openxmlformats.org/drawingml/2006/main" noGrp="1"/>
          </p:cNvSpPr>
          <p:nvPr/>
        </p:nvSpPr>
        <p:spPr>
          <a:xfrm xmlns:a="http://schemas.openxmlformats.org/drawingml/2006/main">
            <a:off x="6953250" y="2971800"/>
            <a:ext cx="1238250" cy="552450"/>
          </a:xfrm>
          <a:prstGeom xmlns:a="http://schemas.openxmlformats.org/drawingml/2006/main" prst="roundRect">
            <a:avLst>
              <a:gd name="adj" fmla="val 50000"/>
            </a:avLst>
          </a:prstGeom>
          <a:solidFill xmlns:a="http://schemas.openxmlformats.org/drawingml/2006/main">
            <a:srgbClr val="E8F5F3"/>
          </a:solidFill>
          <a:ln xmlns:a="http://schemas.openxmlformats.org/drawingml/2006/main" w="11430">
            <a:solidFill>
              <a:srgbClr val="2A9D8F"/>
            </a:solidFill>
            <a:prstDash val="solid"/>
          </a:ln>
        </p:spPr>
      </p:sp>
      <p:sp>
        <p:nvSpPr>
          <p:cNvPr id="21" name="">
            <a:extLst xmlns:a="http://schemas.openxmlformats.org/drawingml/2006/main">
              <a:ext uri="{FF2B5EF4-FFF2-40B4-BE49-F238E27FC236}">
                <a16:creationId xmlns:a16="http://schemas.microsoft.com/office/drawing/2014/main" id="{2B900C52-030E-4979-B1F2-5CDC3506AFAC}"/>
              </a:ext>
            </a:extLst>
          </p:cNvPr>
          <p:cNvSpPr>
            <a:spLocks xmlns:a="http://schemas.openxmlformats.org/drawingml/2006/main" noGrp="1"/>
          </p:cNvSpPr>
          <p:nvPr/>
        </p:nvSpPr>
        <p:spPr>
          <a:xfrm xmlns:a="http://schemas.openxmlformats.org/drawingml/2006/main">
            <a:off x="6991350" y="3028950"/>
            <a:ext cx="1162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dynamic</a:t>
            </a:r>
          </a:p>
        </p:txBody>
      </p:sp>
      <p:sp>
        <p:nvSpPr>
          <p:cNvPr id="22" name="">
            <a:extLst xmlns:a="http://schemas.openxmlformats.org/drawingml/2006/main">
              <a:ext uri="{FF2B5EF4-FFF2-40B4-BE49-F238E27FC236}">
                <a16:creationId xmlns:a16="http://schemas.microsoft.com/office/drawing/2014/main" id="{887FA0DE-EB01-4AA3-B09A-8869194F319D}"/>
              </a:ext>
            </a:extLst>
          </p:cNvPr>
          <p:cNvSpPr>
            <a:spLocks xmlns:a="http://schemas.openxmlformats.org/drawingml/2006/main" noGrp="1"/>
          </p:cNvSpPr>
          <p:nvPr/>
        </p:nvSpPr>
        <p:spPr>
          <a:xfrm xmlns:a="http://schemas.openxmlformats.org/drawingml/2006/main">
            <a:off x="8572500" y="14287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E76F51"/>
                </a:solidFill>
              </a:defRPr>
            </a:pPr>
            <a:r>
              <a:rPr sz="1125" b="1" i="0">
                <a:solidFill>
                  <a:srgbClr val="E76F51"/>
                </a:solidFill>
              </a:rPr>
              <a:t>OPEN IMPLEMENTATION GAP</a:t>
            </a:r>
          </a:p>
        </p:txBody>
      </p:sp>
      <p:sp>
        <p:nvSpPr>
          <p:cNvPr id="23" name="">
            <a:extLst xmlns:a="http://schemas.openxmlformats.org/drawingml/2006/main">
              <a:ext uri="{FF2B5EF4-FFF2-40B4-BE49-F238E27FC236}">
                <a16:creationId xmlns:a16="http://schemas.microsoft.com/office/drawing/2014/main" id="{660B415B-CB4D-4A77-B11B-5B87283CEE1C}"/>
              </a:ext>
            </a:extLst>
          </p:cNvPr>
          <p:cNvSpPr>
            <a:spLocks xmlns:a="http://schemas.openxmlformats.org/drawingml/2006/main" noGrp="1"/>
          </p:cNvSpPr>
          <p:nvPr/>
        </p:nvSpPr>
        <p:spPr>
          <a:xfrm xmlns:a="http://schemas.openxmlformats.org/drawingml/2006/main">
            <a:off x="8572500" y="1762125"/>
            <a:ext cx="285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7002"/>
          </a:bodyPr>
          <a:lstStyle xmlns:a="http://schemas.openxmlformats.org/drawingml/2006/main"/>
          <a:p xmlns:a="http://schemas.openxmlformats.org/drawingml/2006/main">
            <a:pPr algn="l">
              <a:lnSpc>
                <a:spcPct val="105000"/>
              </a:lnSpc>
              <a:buNone/>
              <a:defRPr sz="2025" b="1" i="0">
                <a:solidFill>
                  <a:srgbClr val="102A43"/>
                </a:solidFill>
              </a:defRPr>
            </a:pPr>
            <a:r>
              <a:rPr sz="2025" b="1" i="0">
                <a:solidFill>
                  <a:srgbClr val="102A43"/>
                </a:solidFill>
              </a:rPr>
              <a:t>Executable dynamic reconstruction</a:t>
            </a:r>
          </a:p>
        </p:txBody>
      </p:sp>
      <p:sp>
        <p:nvSpPr>
          <p:cNvPr id="24" name="">
            <a:extLst xmlns:a="http://schemas.openxmlformats.org/drawingml/2006/main">
              <a:ext uri="{FF2B5EF4-FFF2-40B4-BE49-F238E27FC236}">
                <a16:creationId xmlns:a16="http://schemas.microsoft.com/office/drawing/2014/main" id="{8B0200A6-76A7-4955-B6C2-39D530AE6D61}"/>
              </a:ext>
            </a:extLst>
          </p:cNvPr>
          <p:cNvSpPr>
            <a:spLocks xmlns:a="http://schemas.openxmlformats.org/drawingml/2006/main" noGrp="1"/>
          </p:cNvSpPr>
          <p:nvPr/>
        </p:nvSpPr>
        <p:spPr>
          <a:xfrm xmlns:a="http://schemas.openxmlformats.org/drawingml/2006/main">
            <a:off x="8648700" y="26479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5" name="">
            <a:extLst xmlns:a="http://schemas.openxmlformats.org/drawingml/2006/main">
              <a:ext uri="{FF2B5EF4-FFF2-40B4-BE49-F238E27FC236}">
                <a16:creationId xmlns:a16="http://schemas.microsoft.com/office/drawing/2014/main" id="{28BD51AC-2B03-441A-A96C-E0F7F54F1DFA}"/>
              </a:ext>
            </a:extLst>
          </p:cNvPr>
          <p:cNvSpPr>
            <a:spLocks xmlns:a="http://schemas.openxmlformats.org/drawingml/2006/main" noGrp="1"/>
          </p:cNvSpPr>
          <p:nvPr/>
        </p:nvSpPr>
        <p:spPr>
          <a:xfrm xmlns:a="http://schemas.openxmlformats.org/drawingml/2006/main">
            <a:off x="8858250" y="25717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Step 1/2/3 control flow</a:t>
            </a:r>
          </a:p>
        </p:txBody>
      </p:sp>
      <p:sp>
        <p:nvSpPr>
          <p:cNvPr id="26" name="">
            <a:extLst xmlns:a="http://schemas.openxmlformats.org/drawingml/2006/main">
              <a:ext uri="{FF2B5EF4-FFF2-40B4-BE49-F238E27FC236}">
                <a16:creationId xmlns:a16="http://schemas.microsoft.com/office/drawing/2014/main" id="{1AB286DA-6BD9-4996-B061-6AFD27E096E2}"/>
              </a:ext>
            </a:extLst>
          </p:cNvPr>
          <p:cNvSpPr>
            <a:spLocks xmlns:a="http://schemas.openxmlformats.org/drawingml/2006/main" noGrp="1"/>
          </p:cNvSpPr>
          <p:nvPr/>
        </p:nvSpPr>
        <p:spPr>
          <a:xfrm xmlns:a="http://schemas.openxmlformats.org/drawingml/2006/main">
            <a:off x="8648700" y="31432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7" name="">
            <a:extLst xmlns:a="http://schemas.openxmlformats.org/drawingml/2006/main">
              <a:ext uri="{FF2B5EF4-FFF2-40B4-BE49-F238E27FC236}">
                <a16:creationId xmlns:a16="http://schemas.microsoft.com/office/drawing/2014/main" id="{38C4F998-DDFB-49BB-A49F-F6EB10BFA178}"/>
              </a:ext>
            </a:extLst>
          </p:cNvPr>
          <p:cNvSpPr>
            <a:spLocks xmlns:a="http://schemas.openxmlformats.org/drawingml/2006/main" noGrp="1"/>
          </p:cNvSpPr>
          <p:nvPr/>
        </p:nvSpPr>
        <p:spPr>
          <a:xfrm xmlns:a="http://schemas.openxmlformats.org/drawingml/2006/main">
            <a:off x="8858250" y="30670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833"/>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sibling-list insertion and splitting</a:t>
            </a:r>
          </a:p>
        </p:txBody>
      </p:sp>
      <p:sp>
        <p:nvSpPr>
          <p:cNvPr id="28" name="">
            <a:extLst xmlns:a="http://schemas.openxmlformats.org/drawingml/2006/main">
              <a:ext uri="{FF2B5EF4-FFF2-40B4-BE49-F238E27FC236}">
                <a16:creationId xmlns:a16="http://schemas.microsoft.com/office/drawing/2014/main" id="{C2015A69-E006-4AED-A47D-770EE587ABE9}"/>
              </a:ext>
            </a:extLst>
          </p:cNvPr>
          <p:cNvSpPr>
            <a:spLocks xmlns:a="http://schemas.openxmlformats.org/drawingml/2006/main" noGrp="1"/>
          </p:cNvSpPr>
          <p:nvPr/>
        </p:nvSpPr>
        <p:spPr>
          <a:xfrm xmlns:a="http://schemas.openxmlformats.org/drawingml/2006/main">
            <a:off x="8648700" y="36385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9" name="">
            <a:extLst xmlns:a="http://schemas.openxmlformats.org/drawingml/2006/main">
              <a:ext uri="{FF2B5EF4-FFF2-40B4-BE49-F238E27FC236}">
                <a16:creationId xmlns:a16="http://schemas.microsoft.com/office/drawing/2014/main" id="{F942FA6B-472F-4FDF-A8CB-D202DFBB68A1}"/>
              </a:ext>
            </a:extLst>
          </p:cNvPr>
          <p:cNvSpPr>
            <a:spLocks xmlns:a="http://schemas.openxmlformats.org/drawingml/2006/main" noGrp="1"/>
          </p:cNvSpPr>
          <p:nvPr/>
        </p:nvSpPr>
        <p:spPr>
          <a:xfrm xmlns:a="http://schemas.openxmlformats.org/drawingml/2006/main">
            <a:off x="8858250" y="35623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ownership transfer</a:t>
            </a:r>
          </a:p>
        </p:txBody>
      </p:sp>
      <p:sp>
        <p:nvSpPr>
          <p:cNvPr id="30" name="">
            <a:extLst xmlns:a="http://schemas.openxmlformats.org/drawingml/2006/main">
              <a:ext uri="{FF2B5EF4-FFF2-40B4-BE49-F238E27FC236}">
                <a16:creationId xmlns:a16="http://schemas.microsoft.com/office/drawing/2014/main" id="{2B7C7CFA-76B0-42E4-9213-97E7D1AF9F8F}"/>
              </a:ext>
            </a:extLst>
          </p:cNvPr>
          <p:cNvSpPr>
            <a:spLocks xmlns:a="http://schemas.openxmlformats.org/drawingml/2006/main" noGrp="1"/>
          </p:cNvSpPr>
          <p:nvPr/>
        </p:nvSpPr>
        <p:spPr>
          <a:xfrm xmlns:a="http://schemas.openxmlformats.org/drawingml/2006/main">
            <a:off x="8648700" y="41338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31" name="">
            <a:extLst xmlns:a="http://schemas.openxmlformats.org/drawingml/2006/main">
              <a:ext uri="{FF2B5EF4-FFF2-40B4-BE49-F238E27FC236}">
                <a16:creationId xmlns:a16="http://schemas.microsoft.com/office/drawing/2014/main" id="{55D1C499-47B3-4174-918C-4791FFCB71BB}"/>
              </a:ext>
            </a:extLst>
          </p:cNvPr>
          <p:cNvSpPr>
            <a:spLocks xmlns:a="http://schemas.openxmlformats.org/drawingml/2006/main" noGrp="1"/>
          </p:cNvSpPr>
          <p:nvPr/>
        </p:nvSpPr>
        <p:spPr>
          <a:xfrm xmlns:a="http://schemas.openxmlformats.org/drawingml/2006/main">
            <a:off x="8858250" y="40576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833"/>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output recovery from maintained state</a:t>
            </a:r>
          </a:p>
        </p:txBody>
      </p:sp>
      <p:sp>
        <p:nvSpPr>
          <p:cNvPr id="32" name="">
            <a:extLst xmlns:a="http://schemas.openxmlformats.org/drawingml/2006/main">
              <a:ext uri="{FF2B5EF4-FFF2-40B4-BE49-F238E27FC236}">
                <a16:creationId xmlns:a16="http://schemas.microsoft.com/office/drawing/2014/main" id="{CD68179F-E21E-4346-B88A-B5CBD99DB502}"/>
              </a:ext>
            </a:extLst>
          </p:cNvPr>
          <p:cNvSpPr>
            <a:spLocks xmlns:a="http://schemas.openxmlformats.org/drawingml/2006/main" noGrp="1"/>
          </p:cNvSpPr>
          <p:nvPr/>
        </p:nvSpPr>
        <p:spPr>
          <a:xfrm xmlns:a="http://schemas.openxmlformats.org/drawingml/2006/main">
            <a:off x="895350" y="5572125"/>
            <a:ext cx="10534650" cy="514350"/>
          </a:xfrm>
          <a:prstGeom xmlns:a="http://schemas.openxmlformats.org/drawingml/2006/main" prst="roundRect">
            <a:avLst>
              <a:gd name="adj" fmla="val 11111"/>
            </a:avLst>
          </a:prstGeom>
          <a:solidFill xmlns:a="http://schemas.openxmlformats.org/drawingml/2006/main">
            <a:srgbClr val="102A43"/>
          </a:solidFill>
          <a:ln xmlns:a="http://schemas.openxmlformats.org/drawingml/2006/main" w="11430">
            <a:solidFill>
              <a:srgbClr val="102A43"/>
            </a:solidFill>
            <a:prstDash val="solid"/>
          </a:ln>
        </p:spPr>
      </p:sp>
      <p:sp>
        <p:nvSpPr>
          <p:cNvPr id="33" name="">
            <a:extLst xmlns:a="http://schemas.openxmlformats.org/drawingml/2006/main">
              <a:ext uri="{FF2B5EF4-FFF2-40B4-BE49-F238E27FC236}">
                <a16:creationId xmlns:a16="http://schemas.microsoft.com/office/drawing/2014/main" id="{EECBB5B0-A976-4561-8728-F2D21E4A330A}"/>
              </a:ext>
            </a:extLst>
          </p:cNvPr>
          <p:cNvSpPr>
            <a:spLocks xmlns:a="http://schemas.openxmlformats.org/drawingml/2006/main" noGrp="1"/>
          </p:cNvSpPr>
          <p:nvPr/>
        </p:nvSpPr>
        <p:spPr>
          <a:xfrm xmlns:a="http://schemas.openxmlformats.org/drawingml/2006/main">
            <a:off x="1066800" y="5619750"/>
            <a:ext cx="10191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75" b="1" i="0">
                <a:solidFill>
                  <a:srgbClr val="FFFFFF"/>
                </a:solidFill>
              </a:defRPr>
            </a:pPr>
            <a:r>
              <a:rPr sz="1575" b="1" i="0">
                <a:solidFill>
                  <a:srgbClr val="FFFFFF"/>
                </a:solidFill>
              </a:rPr>
              <a:t>Family trees explain nesting; executable Jordan sorting requires dynamic updates.</a:t>
            </a:r>
          </a:p>
        </p:txBody>
      </p:sp>
    </p:spTree>
    <p:extLst>
      <p:ext uri="{BB962C8B-B14F-4D97-AF65-F5344CB8AC3E}">
        <p14:creationId xmlns:p14="http://schemas.microsoft.com/office/powerpoint/2010/main" val="662590085"/>
      </p:ext>
    </p:extLst>
  </p:cSld>
</p:sld>
</file>

<file path=ppt/slides/slide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1E976470-0F86-4CFC-8851-AC0FB6F06927}"/>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PROGRESS</a:t>
            </a:r>
          </a:p>
        </p:txBody>
      </p:sp>
      <p:sp>
        <p:nvSpPr>
          <p:cNvPr id="2" name="">
            <a:extLst xmlns:a="http://schemas.openxmlformats.org/drawingml/2006/main">
              <a:ext uri="{FF2B5EF4-FFF2-40B4-BE49-F238E27FC236}">
                <a16:creationId xmlns:a16="http://schemas.microsoft.com/office/drawing/2014/main" id="{77562C89-D2B7-47C5-8A21-E283FF9AB880}"/>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Progress since the previous report</a:t>
            </a:r>
          </a:p>
        </p:txBody>
      </p:sp>
      <p:sp>
        <p:nvSpPr>
          <p:cNvPr id="3" name="">
            <a:extLst xmlns:a="http://schemas.openxmlformats.org/drawingml/2006/main">
              <a:ext uri="{FF2B5EF4-FFF2-40B4-BE49-F238E27FC236}">
                <a16:creationId xmlns:a16="http://schemas.microsoft.com/office/drawing/2014/main" id="{78EA483D-E3EE-478B-B3B6-0311CF1CC3F5}"/>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37322FCE-9A43-410E-ABD6-06AFEADDB77B}"/>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27FED0D5-912D-42DF-9AB7-185A1C2623E2}"/>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590998BA-2CE8-4CDD-9B57-4F40ABED9221}"/>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3 / 16</a:t>
            </a:r>
          </a:p>
        </p:txBody>
      </p:sp>
      <p:sp>
        <p:nvSpPr>
          <p:cNvPr id="7" name="">
            <a:extLst xmlns:a="http://schemas.openxmlformats.org/drawingml/2006/main">
              <a:ext uri="{FF2B5EF4-FFF2-40B4-BE49-F238E27FC236}">
                <a16:creationId xmlns:a16="http://schemas.microsoft.com/office/drawing/2014/main" id="{C32B2DA3-E432-48A5-972C-5D92375487B9}"/>
              </a:ext>
            </a:extLst>
          </p:cNvPr>
          <p:cNvSpPr>
            <a:spLocks xmlns:a="http://schemas.openxmlformats.org/drawingml/2006/main" noGrp="1"/>
          </p:cNvSpPr>
          <p:nvPr/>
        </p:nvSpPr>
        <p:spPr>
          <a:xfrm xmlns:a="http://schemas.openxmlformats.org/drawingml/2006/main">
            <a:off x="723900"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102A43"/>
                </a:solidFill>
              </a:defRPr>
            </a:pPr>
            <a:r>
              <a:rPr sz="3000" b="1" i="0">
                <a:solidFill>
                  <a:srgbClr val="102A43"/>
                </a:solidFill>
              </a:rPr>
              <a:t>01</a:t>
            </a:r>
          </a:p>
        </p:txBody>
      </p:sp>
      <p:sp>
        <p:nvSpPr>
          <p:cNvPr id="8" name="">
            <a:extLst xmlns:a="http://schemas.openxmlformats.org/drawingml/2006/main">
              <a:ext uri="{FF2B5EF4-FFF2-40B4-BE49-F238E27FC236}">
                <a16:creationId xmlns:a16="http://schemas.microsoft.com/office/drawing/2014/main" id="{64C9F9E9-F8B5-4AC5-9DB5-875B3AA1ADDE}"/>
              </a:ext>
            </a:extLst>
          </p:cNvPr>
          <p:cNvSpPr>
            <a:spLocks xmlns:a="http://schemas.openxmlformats.org/drawingml/2006/main" noGrp="1"/>
          </p:cNvSpPr>
          <p:nvPr/>
        </p:nvSpPr>
        <p:spPr>
          <a:xfrm xmlns:a="http://schemas.openxmlformats.org/drawingml/2006/main">
            <a:off x="723900" y="2209800"/>
            <a:ext cx="1952625" cy="9525"/>
          </a:xfrm>
          <a:prstGeom xmlns:a="http://schemas.openxmlformats.org/drawingml/2006/main" prst="line">
            <a:avLst/>
          </a:prstGeom>
          <a:noFill xmlns:a="http://schemas.openxmlformats.org/drawingml/2006/main"/>
          <a:ln xmlns:a="http://schemas.openxmlformats.org/drawingml/2006/main" w="38100">
            <a:solidFill>
              <a:srgbClr val="102A43"/>
            </a:solidFill>
            <a:prstDash val="solid"/>
          </a:ln>
        </p:spPr>
      </p:sp>
      <p:sp>
        <p:nvSpPr>
          <p:cNvPr id="9" name="">
            <a:extLst xmlns:a="http://schemas.openxmlformats.org/drawingml/2006/main">
              <a:ext uri="{FF2B5EF4-FFF2-40B4-BE49-F238E27FC236}">
                <a16:creationId xmlns:a16="http://schemas.microsoft.com/office/drawing/2014/main" id="{3A3B1EE8-1D93-47C3-AB9F-0F60230CD2D4}"/>
              </a:ext>
            </a:extLst>
          </p:cNvPr>
          <p:cNvSpPr>
            <a:spLocks xmlns:a="http://schemas.openxmlformats.org/drawingml/2006/main" noGrp="1"/>
          </p:cNvSpPr>
          <p:nvPr/>
        </p:nvSpPr>
        <p:spPr>
          <a:xfrm xmlns:a="http://schemas.openxmlformats.org/drawingml/2006/main">
            <a:off x="723900"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Scope stabilization</a:t>
            </a:r>
          </a:p>
        </p:txBody>
      </p:sp>
      <p:sp>
        <p:nvSpPr>
          <p:cNvPr id="10" name="">
            <a:extLst xmlns:a="http://schemas.openxmlformats.org/drawingml/2006/main">
              <a:ext uri="{FF2B5EF4-FFF2-40B4-BE49-F238E27FC236}">
                <a16:creationId xmlns:a16="http://schemas.microsoft.com/office/drawing/2014/main" id="{2F10AD51-52B4-4A8B-AE55-5E9D44717B34}"/>
              </a:ext>
            </a:extLst>
          </p:cNvPr>
          <p:cNvSpPr>
            <a:spLocks xmlns:a="http://schemas.openxmlformats.org/drawingml/2006/main" noGrp="1"/>
          </p:cNvSpPr>
          <p:nvPr/>
        </p:nvSpPr>
        <p:spPr>
          <a:xfrm xmlns:a="http://schemas.openxmlformats.org/drawingml/2006/main">
            <a:off x="723900" y="3333750"/>
            <a:ext cx="2152650" cy="1619250"/>
          </a:xfrm>
          <a:prstGeom xmlns:a="http://schemas.openxmlformats.org/drawingml/2006/main" prst="roundRect">
            <a:avLst>
              <a:gd name="adj" fmla="val 4706"/>
            </a:avLst>
          </a:prstGeom>
          <a:solidFill xmlns:a="http://schemas.openxmlformats.org/drawingml/2006/main">
            <a:srgbClr val="EAF1F8"/>
          </a:solidFill>
          <a:ln xmlns:a="http://schemas.openxmlformats.org/drawingml/2006/main" w="11430">
            <a:solidFill>
              <a:srgbClr val="EAF1F8"/>
            </a:solidFill>
            <a:prstDash val="solid"/>
          </a:ln>
        </p:spPr>
      </p:sp>
      <p:sp>
        <p:nvSpPr>
          <p:cNvPr id="11" name="">
            <a:extLst xmlns:a="http://schemas.openxmlformats.org/drawingml/2006/main">
              <a:ext uri="{FF2B5EF4-FFF2-40B4-BE49-F238E27FC236}">
                <a16:creationId xmlns:a16="http://schemas.microsoft.com/office/drawing/2014/main" id="{CC761DAC-4FE1-4EDD-82FA-09E0E129CCEA}"/>
              </a:ext>
            </a:extLst>
          </p:cNvPr>
          <p:cNvSpPr>
            <a:spLocks xmlns:a="http://schemas.openxmlformats.org/drawingml/2006/main" noGrp="1"/>
          </p:cNvSpPr>
          <p:nvPr/>
        </p:nvSpPr>
        <p:spPr>
          <a:xfrm xmlns:a="http://schemas.openxmlformats.org/drawingml/2006/main">
            <a:off x="857250"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Separated valid-input sorting, recognition, and theoretical-backend claims</a:t>
            </a:r>
          </a:p>
        </p:txBody>
      </p:sp>
      <p:sp>
        <p:nvSpPr>
          <p:cNvPr id="12" name="">
            <a:extLst xmlns:a="http://schemas.openxmlformats.org/drawingml/2006/main">
              <a:ext uri="{FF2B5EF4-FFF2-40B4-BE49-F238E27FC236}">
                <a16:creationId xmlns:a16="http://schemas.microsoft.com/office/drawing/2014/main" id="{DFBEC670-B4FF-4D5D-9C16-682715DD874E}"/>
              </a:ext>
            </a:extLst>
          </p:cNvPr>
          <p:cNvSpPr>
            <a:spLocks xmlns:a="http://schemas.openxmlformats.org/drawingml/2006/main" noGrp="1"/>
          </p:cNvSpPr>
          <p:nvPr/>
        </p:nvSpPr>
        <p:spPr>
          <a:xfrm xmlns:a="http://schemas.openxmlformats.org/drawingml/2006/main">
            <a:off x="3533775"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2A9D8F"/>
                </a:solidFill>
              </a:defRPr>
            </a:pPr>
            <a:r>
              <a:rPr sz="3000" b="1" i="0">
                <a:solidFill>
                  <a:srgbClr val="2A9D8F"/>
                </a:solidFill>
              </a:rPr>
              <a:t>02</a:t>
            </a:r>
          </a:p>
        </p:txBody>
      </p:sp>
      <p:sp>
        <p:nvSpPr>
          <p:cNvPr id="13" name="">
            <a:extLst xmlns:a="http://schemas.openxmlformats.org/drawingml/2006/main">
              <a:ext uri="{FF2B5EF4-FFF2-40B4-BE49-F238E27FC236}">
                <a16:creationId xmlns:a16="http://schemas.microsoft.com/office/drawing/2014/main" id="{AE62D550-1D43-4017-80D8-500066C097F6}"/>
              </a:ext>
            </a:extLst>
          </p:cNvPr>
          <p:cNvSpPr>
            <a:spLocks xmlns:a="http://schemas.openxmlformats.org/drawingml/2006/main" noGrp="1"/>
          </p:cNvSpPr>
          <p:nvPr/>
        </p:nvSpPr>
        <p:spPr>
          <a:xfrm xmlns:a="http://schemas.openxmlformats.org/drawingml/2006/main">
            <a:off x="3533775" y="2209800"/>
            <a:ext cx="1952625" cy="9525"/>
          </a:xfrm>
          <a:prstGeom xmlns:a="http://schemas.openxmlformats.org/drawingml/2006/main" prst="line">
            <a:avLst/>
          </a:prstGeom>
          <a:noFill xmlns:a="http://schemas.openxmlformats.org/drawingml/2006/main"/>
          <a:ln xmlns:a="http://schemas.openxmlformats.org/drawingml/2006/main" w="38100">
            <a:solidFill>
              <a:srgbClr val="2A9D8F"/>
            </a:solidFill>
            <a:prstDash val="solid"/>
          </a:ln>
        </p:spPr>
      </p:sp>
      <p:sp>
        <p:nvSpPr>
          <p:cNvPr id="14" name="">
            <a:extLst xmlns:a="http://schemas.openxmlformats.org/drawingml/2006/main">
              <a:ext uri="{FF2B5EF4-FFF2-40B4-BE49-F238E27FC236}">
                <a16:creationId xmlns:a16="http://schemas.microsoft.com/office/drawing/2014/main" id="{66273AB2-59EA-4284-987D-185C5D70F56E}"/>
              </a:ext>
            </a:extLst>
          </p:cNvPr>
          <p:cNvSpPr>
            <a:spLocks xmlns:a="http://schemas.openxmlformats.org/drawingml/2006/main" noGrp="1"/>
          </p:cNvSpPr>
          <p:nvPr/>
        </p:nvSpPr>
        <p:spPr>
          <a:xfrm xmlns:a="http://schemas.openxmlformats.org/drawingml/2006/main">
            <a:off x="3533775"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Executable reconstruction</a:t>
            </a:r>
          </a:p>
        </p:txBody>
      </p:sp>
      <p:sp>
        <p:nvSpPr>
          <p:cNvPr id="15" name="">
            <a:extLst xmlns:a="http://schemas.openxmlformats.org/drawingml/2006/main">
              <a:ext uri="{FF2B5EF4-FFF2-40B4-BE49-F238E27FC236}">
                <a16:creationId xmlns:a16="http://schemas.microsoft.com/office/drawing/2014/main" id="{B23FFA7B-7450-40B8-8496-763F9D1F26EB}"/>
              </a:ext>
            </a:extLst>
          </p:cNvPr>
          <p:cNvSpPr>
            <a:spLocks xmlns:a="http://schemas.openxmlformats.org/drawingml/2006/main" noGrp="1"/>
          </p:cNvSpPr>
          <p:nvPr/>
        </p:nvSpPr>
        <p:spPr>
          <a:xfrm xmlns:a="http://schemas.openxmlformats.org/drawingml/2006/main">
            <a:off x="3533775" y="3333750"/>
            <a:ext cx="2152650" cy="1619250"/>
          </a:xfrm>
          <a:prstGeom xmlns:a="http://schemas.openxmlformats.org/drawingml/2006/main" prst="roundRect">
            <a:avLst>
              <a:gd name="adj" fmla="val 4706"/>
            </a:avLst>
          </a:prstGeom>
          <a:solidFill xmlns:a="http://schemas.openxmlformats.org/drawingml/2006/main">
            <a:srgbClr val="E8F5F3"/>
          </a:solidFill>
          <a:ln xmlns:a="http://schemas.openxmlformats.org/drawingml/2006/main" w="11430">
            <a:solidFill>
              <a:srgbClr val="E8F5F3"/>
            </a:solidFill>
            <a:prstDash val="solid"/>
          </a:ln>
        </p:spPr>
      </p:sp>
      <p:sp>
        <p:nvSpPr>
          <p:cNvPr id="16" name="">
            <a:extLst xmlns:a="http://schemas.openxmlformats.org/drawingml/2006/main">
              <a:ext uri="{FF2B5EF4-FFF2-40B4-BE49-F238E27FC236}">
                <a16:creationId xmlns:a16="http://schemas.microsoft.com/office/drawing/2014/main" id="{67287952-8101-43F8-BF82-D6029259899F}"/>
              </a:ext>
            </a:extLst>
          </p:cNvPr>
          <p:cNvSpPr>
            <a:spLocks xmlns:a="http://schemas.openxmlformats.org/drawingml/2006/main" noGrp="1"/>
          </p:cNvSpPr>
          <p:nvPr/>
        </p:nvSpPr>
        <p:spPr>
          <a:xfrm xmlns:a="http://schemas.openxmlformats.org/drawingml/2006/main">
            <a:off x="3667125"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Implemented the paper-facing Step 1/2/3 control flow</a:t>
            </a:r>
          </a:p>
        </p:txBody>
      </p:sp>
      <p:sp>
        <p:nvSpPr>
          <p:cNvPr id="17" name="">
            <a:extLst xmlns:a="http://schemas.openxmlformats.org/drawingml/2006/main">
              <a:ext uri="{FF2B5EF4-FFF2-40B4-BE49-F238E27FC236}">
                <a16:creationId xmlns:a16="http://schemas.microsoft.com/office/drawing/2014/main" id="{F1EEC8C0-6889-4BA8-BADD-73114E67B215}"/>
              </a:ext>
            </a:extLst>
          </p:cNvPr>
          <p:cNvSpPr>
            <a:spLocks xmlns:a="http://schemas.openxmlformats.org/drawingml/2006/main" noGrp="1"/>
          </p:cNvSpPr>
          <p:nvPr/>
        </p:nvSpPr>
        <p:spPr>
          <a:xfrm xmlns:a="http://schemas.openxmlformats.org/drawingml/2006/main">
            <a:off x="6343650"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E76F51"/>
                </a:solidFill>
              </a:defRPr>
            </a:pPr>
            <a:r>
              <a:rPr sz="3000" b="1" i="0">
                <a:solidFill>
                  <a:srgbClr val="E76F51"/>
                </a:solidFill>
              </a:rPr>
              <a:t>03</a:t>
            </a:r>
          </a:p>
        </p:txBody>
      </p:sp>
      <p:sp>
        <p:nvSpPr>
          <p:cNvPr id="18" name="">
            <a:extLst xmlns:a="http://schemas.openxmlformats.org/drawingml/2006/main">
              <a:ext uri="{FF2B5EF4-FFF2-40B4-BE49-F238E27FC236}">
                <a16:creationId xmlns:a16="http://schemas.microsoft.com/office/drawing/2014/main" id="{9FB57D98-BEFA-4646-A22A-00762B0E5FFB}"/>
              </a:ext>
            </a:extLst>
          </p:cNvPr>
          <p:cNvSpPr>
            <a:spLocks xmlns:a="http://schemas.openxmlformats.org/drawingml/2006/main" noGrp="1"/>
          </p:cNvSpPr>
          <p:nvPr/>
        </p:nvSpPr>
        <p:spPr>
          <a:xfrm xmlns:a="http://schemas.openxmlformats.org/drawingml/2006/main">
            <a:off x="6343650" y="2209800"/>
            <a:ext cx="1952625" cy="9525"/>
          </a:xfrm>
          <a:prstGeom xmlns:a="http://schemas.openxmlformats.org/drawingml/2006/main" prst="line">
            <a:avLst/>
          </a:prstGeom>
          <a:noFill xmlns:a="http://schemas.openxmlformats.org/drawingml/2006/main"/>
          <a:ln xmlns:a="http://schemas.openxmlformats.org/drawingml/2006/main" w="38100">
            <a:solidFill>
              <a:srgbClr val="E76F51"/>
            </a:solidFill>
            <a:prstDash val="solid"/>
          </a:ln>
        </p:spPr>
      </p:sp>
      <p:sp>
        <p:nvSpPr>
          <p:cNvPr id="19" name="">
            <a:extLst xmlns:a="http://schemas.openxmlformats.org/drawingml/2006/main">
              <a:ext uri="{FF2B5EF4-FFF2-40B4-BE49-F238E27FC236}">
                <a16:creationId xmlns:a16="http://schemas.microsoft.com/office/drawing/2014/main" id="{9983ACD9-778C-491C-A214-7777B6AFA8B8}"/>
              </a:ext>
            </a:extLst>
          </p:cNvPr>
          <p:cNvSpPr>
            <a:spLocks xmlns:a="http://schemas.openxmlformats.org/drawingml/2006/main" noGrp="1"/>
          </p:cNvSpPr>
          <p:nvPr/>
        </p:nvSpPr>
        <p:spPr>
          <a:xfrm xmlns:a="http://schemas.openxmlformats.org/drawingml/2006/main">
            <a:off x="6343650"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9573"/>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State and correctness controls</a:t>
            </a:r>
          </a:p>
        </p:txBody>
      </p:sp>
      <p:sp>
        <p:nvSpPr>
          <p:cNvPr id="20" name="">
            <a:extLst xmlns:a="http://schemas.openxmlformats.org/drawingml/2006/main">
              <a:ext uri="{FF2B5EF4-FFF2-40B4-BE49-F238E27FC236}">
                <a16:creationId xmlns:a16="http://schemas.microsoft.com/office/drawing/2014/main" id="{7ACA743E-83E0-44D5-8CF0-D3187D3E3D9F}"/>
              </a:ext>
            </a:extLst>
          </p:cNvPr>
          <p:cNvSpPr>
            <a:spLocks xmlns:a="http://schemas.openxmlformats.org/drawingml/2006/main" noGrp="1"/>
          </p:cNvSpPr>
          <p:nvPr/>
        </p:nvSpPr>
        <p:spPr>
          <a:xfrm xmlns:a="http://schemas.openxmlformats.org/drawingml/2006/main">
            <a:off x="6343650" y="3333750"/>
            <a:ext cx="2152650" cy="1619250"/>
          </a:xfrm>
          <a:prstGeom xmlns:a="http://schemas.openxmlformats.org/drawingml/2006/main" prst="roundRect">
            <a:avLst>
              <a:gd name="adj" fmla="val 4706"/>
            </a:avLst>
          </a:prstGeom>
          <a:solidFill xmlns:a="http://schemas.openxmlformats.org/drawingml/2006/main">
            <a:srgbClr val="FCEEEA"/>
          </a:solidFill>
          <a:ln xmlns:a="http://schemas.openxmlformats.org/drawingml/2006/main" w="11430">
            <a:solidFill>
              <a:srgbClr val="FCEEEA"/>
            </a:solidFill>
            <a:prstDash val="solid"/>
          </a:ln>
        </p:spPr>
      </p:sp>
      <p:sp>
        <p:nvSpPr>
          <p:cNvPr id="21" name="">
            <a:extLst xmlns:a="http://schemas.openxmlformats.org/drawingml/2006/main">
              <a:ext uri="{FF2B5EF4-FFF2-40B4-BE49-F238E27FC236}">
                <a16:creationId xmlns:a16="http://schemas.microsoft.com/office/drawing/2014/main" id="{FE901965-0A24-4A1D-936B-975315681293}"/>
              </a:ext>
            </a:extLst>
          </p:cNvPr>
          <p:cNvSpPr>
            <a:spLocks xmlns:a="http://schemas.openxmlformats.org/drawingml/2006/main" noGrp="1"/>
          </p:cNvSpPr>
          <p:nvPr/>
        </p:nvSpPr>
        <p:spPr>
          <a:xfrm xmlns:a="http://schemas.openxmlformats.org/drawingml/2006/main">
            <a:off x="6477000"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Added ownership invariants, transactional updates, and replay</a:t>
            </a:r>
          </a:p>
        </p:txBody>
      </p:sp>
      <p:sp>
        <p:nvSpPr>
          <p:cNvPr id="22" name="">
            <a:extLst xmlns:a="http://schemas.openxmlformats.org/drawingml/2006/main">
              <a:ext uri="{FF2B5EF4-FFF2-40B4-BE49-F238E27FC236}">
                <a16:creationId xmlns:a16="http://schemas.microsoft.com/office/drawing/2014/main" id="{34398B87-2F7A-4045-9933-5E81EA271D7A}"/>
              </a:ext>
            </a:extLst>
          </p:cNvPr>
          <p:cNvSpPr>
            <a:spLocks xmlns:a="http://schemas.openxmlformats.org/drawingml/2006/main" noGrp="1"/>
          </p:cNvSpPr>
          <p:nvPr/>
        </p:nvSpPr>
        <p:spPr>
          <a:xfrm xmlns:a="http://schemas.openxmlformats.org/drawingml/2006/main">
            <a:off x="9153525"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52606D"/>
                </a:solidFill>
              </a:defRPr>
            </a:pPr>
            <a:r>
              <a:rPr sz="3000" b="1" i="0">
                <a:solidFill>
                  <a:srgbClr val="52606D"/>
                </a:solidFill>
              </a:rPr>
              <a:t>04</a:t>
            </a:r>
          </a:p>
        </p:txBody>
      </p:sp>
      <p:sp>
        <p:nvSpPr>
          <p:cNvPr id="23" name="">
            <a:extLst xmlns:a="http://schemas.openxmlformats.org/drawingml/2006/main">
              <a:ext uri="{FF2B5EF4-FFF2-40B4-BE49-F238E27FC236}">
                <a16:creationId xmlns:a16="http://schemas.microsoft.com/office/drawing/2014/main" id="{5E936B4D-4C7A-4A46-B4FF-4E84B8708FDF}"/>
              </a:ext>
            </a:extLst>
          </p:cNvPr>
          <p:cNvSpPr>
            <a:spLocks xmlns:a="http://schemas.openxmlformats.org/drawingml/2006/main" noGrp="1"/>
          </p:cNvSpPr>
          <p:nvPr/>
        </p:nvSpPr>
        <p:spPr>
          <a:xfrm xmlns:a="http://schemas.openxmlformats.org/drawingml/2006/main">
            <a:off x="9153525" y="2209800"/>
            <a:ext cx="1952625" cy="9525"/>
          </a:xfrm>
          <a:prstGeom xmlns:a="http://schemas.openxmlformats.org/drawingml/2006/main" prst="line">
            <a:avLst/>
          </a:prstGeom>
          <a:noFill xmlns:a="http://schemas.openxmlformats.org/drawingml/2006/main"/>
          <a:ln xmlns:a="http://schemas.openxmlformats.org/drawingml/2006/main" w="38100">
            <a:solidFill>
              <a:srgbClr val="52606D"/>
            </a:solidFill>
            <a:prstDash val="solid"/>
          </a:ln>
        </p:spPr>
      </p:sp>
      <p:sp>
        <p:nvSpPr>
          <p:cNvPr id="24" name="">
            <a:extLst xmlns:a="http://schemas.openxmlformats.org/drawingml/2006/main">
              <a:ext uri="{FF2B5EF4-FFF2-40B4-BE49-F238E27FC236}">
                <a16:creationId xmlns:a16="http://schemas.microsoft.com/office/drawing/2014/main" id="{3AF47FD8-9DA8-4CF0-9938-3BDD7E600F92}"/>
              </a:ext>
            </a:extLst>
          </p:cNvPr>
          <p:cNvSpPr>
            <a:spLocks xmlns:a="http://schemas.openxmlformats.org/drawingml/2006/main" noGrp="1"/>
          </p:cNvSpPr>
          <p:nvPr/>
        </p:nvSpPr>
        <p:spPr>
          <a:xfrm xmlns:a="http://schemas.openxmlformats.org/drawingml/2006/main">
            <a:off x="9153525"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Initial formal evaluation</a:t>
            </a:r>
          </a:p>
        </p:txBody>
      </p:sp>
      <p:sp>
        <p:nvSpPr>
          <p:cNvPr id="25" name="">
            <a:extLst xmlns:a="http://schemas.openxmlformats.org/drawingml/2006/main">
              <a:ext uri="{FF2B5EF4-FFF2-40B4-BE49-F238E27FC236}">
                <a16:creationId xmlns:a16="http://schemas.microsoft.com/office/drawing/2014/main" id="{5539FC18-BDCC-416C-983A-257D8614A4E6}"/>
              </a:ext>
            </a:extLst>
          </p:cNvPr>
          <p:cNvSpPr>
            <a:spLocks xmlns:a="http://schemas.openxmlformats.org/drawingml/2006/main" noGrp="1"/>
          </p:cNvSpPr>
          <p:nvPr/>
        </p:nvSpPr>
        <p:spPr>
          <a:xfrm xmlns:a="http://schemas.openxmlformats.org/drawingml/2006/main">
            <a:off x="9153525" y="3333750"/>
            <a:ext cx="2152650" cy="1619250"/>
          </a:xfrm>
          <a:prstGeom xmlns:a="http://schemas.openxmlformats.org/drawingml/2006/main" prst="roundRect">
            <a:avLst>
              <a:gd name="adj" fmla="val 4706"/>
            </a:avLst>
          </a:prstGeom>
          <a:solidFill xmlns:a="http://schemas.openxmlformats.org/drawingml/2006/main">
            <a:srgbClr val="EDF2F7"/>
          </a:solidFill>
          <a:ln xmlns:a="http://schemas.openxmlformats.org/drawingml/2006/main" w="11430">
            <a:solidFill>
              <a:srgbClr val="EDF2F7"/>
            </a:solidFill>
            <a:prstDash val="solid"/>
          </a:ln>
        </p:spPr>
      </p:sp>
      <p:sp>
        <p:nvSpPr>
          <p:cNvPr id="26" name="">
            <a:extLst xmlns:a="http://schemas.openxmlformats.org/drawingml/2006/main">
              <a:ext uri="{FF2B5EF4-FFF2-40B4-BE49-F238E27FC236}">
                <a16:creationId xmlns:a16="http://schemas.microsoft.com/office/drawing/2014/main" id="{CDA126AA-6919-40D8-91B9-D1813F4A6DD1}"/>
              </a:ext>
            </a:extLst>
          </p:cNvPr>
          <p:cNvSpPr>
            <a:spLocks xmlns:a="http://schemas.openxmlformats.org/drawingml/2006/main" noGrp="1"/>
          </p:cNvSpPr>
          <p:nvPr/>
        </p:nvSpPr>
        <p:spPr>
          <a:xfrm xmlns:a="http://schemas.openxmlformats.org/drawingml/2006/main">
            <a:off x="9286875"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Executed a fixed valid-input sorting experiment</a:t>
            </a:r>
          </a:p>
        </p:txBody>
      </p:sp>
      <p:sp>
        <p:nvSpPr>
          <p:cNvPr id="27" name="">
            <a:extLst xmlns:a="http://schemas.openxmlformats.org/drawingml/2006/main">
              <a:ext uri="{FF2B5EF4-FFF2-40B4-BE49-F238E27FC236}">
                <a16:creationId xmlns:a16="http://schemas.microsoft.com/office/drawing/2014/main" id="{F3FA3693-4471-423B-A917-29B8C24AE930}"/>
              </a:ext>
            </a:extLst>
          </p:cNvPr>
          <p:cNvSpPr>
            <a:spLocks xmlns:a="http://schemas.openxmlformats.org/drawingml/2006/main" noGrp="1"/>
          </p:cNvSpPr>
          <p:nvPr/>
        </p:nvSpPr>
        <p:spPr>
          <a:xfrm xmlns:a="http://schemas.openxmlformats.org/drawingml/2006/main">
            <a:off x="1238250" y="55245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9776"/>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Current result: an executable ordinary-list implementation. The historical backend remains future work.</a:t>
            </a:r>
          </a:p>
        </p:txBody>
      </p:sp>
    </p:spTree>
    <p:extLst>
      <p:ext uri="{BB962C8B-B14F-4D97-AF65-F5344CB8AC3E}">
        <p14:creationId xmlns:p14="http://schemas.microsoft.com/office/powerpoint/2010/main" val="326222649"/>
      </p:ext>
    </p:extLst>
  </p:cSld>
</p:sld>
</file>

<file path=ppt/slides/slide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6FDD8664-4A81-4AE5-99EE-56A0D369899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SCOPE</a:t>
            </a:r>
          </a:p>
        </p:txBody>
      </p:sp>
      <p:sp>
        <p:nvSpPr>
          <p:cNvPr id="2" name="">
            <a:extLst xmlns:a="http://schemas.openxmlformats.org/drawingml/2006/main">
              <a:ext uri="{FF2B5EF4-FFF2-40B4-BE49-F238E27FC236}">
                <a16:creationId xmlns:a16="http://schemas.microsoft.com/office/drawing/2014/main" id="{88F91CA0-C75B-4D20-B515-43B8F0E5AF4D}"/>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Current scope: valid-input sorting</a:t>
            </a:r>
          </a:p>
        </p:txBody>
      </p:sp>
      <p:sp>
        <p:nvSpPr>
          <p:cNvPr id="3" name="">
            <a:extLst xmlns:a="http://schemas.openxmlformats.org/drawingml/2006/main">
              <a:ext uri="{FF2B5EF4-FFF2-40B4-BE49-F238E27FC236}">
                <a16:creationId xmlns:a16="http://schemas.microsoft.com/office/drawing/2014/main" id="{1DF99E6E-EB0F-4213-92A2-308B61FB438A}"/>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688E762F-70F0-4B29-9ECB-253BC1E02685}"/>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99740EE-B48B-44B6-88A8-8DBE4371D2D4}"/>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4191E108-F899-42C0-81E9-7694AA485407}"/>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4 / 16</a:t>
            </a:r>
          </a:p>
        </p:txBody>
      </p:sp>
      <p:sp>
        <p:nvSpPr>
          <p:cNvPr id="7" name="">
            <a:extLst xmlns:a="http://schemas.openxmlformats.org/drawingml/2006/main">
              <a:ext uri="{FF2B5EF4-FFF2-40B4-BE49-F238E27FC236}">
                <a16:creationId xmlns:a16="http://schemas.microsoft.com/office/drawing/2014/main" id="{24702943-676C-4413-9F5A-B24DC75FC227}"/>
              </a:ext>
            </a:extLst>
          </p:cNvPr>
          <p:cNvSpPr>
            <a:spLocks xmlns:a="http://schemas.openxmlformats.org/drawingml/2006/main" noGrp="1"/>
          </p:cNvSpPr>
          <p:nvPr/>
        </p:nvSpPr>
        <p:spPr>
          <a:xfrm xmlns:a="http://schemas.openxmlformats.org/drawingml/2006/main">
            <a:off x="723900" y="1447800"/>
            <a:ext cx="4953000" cy="3905250"/>
          </a:xfrm>
          <a:prstGeom xmlns:a="http://schemas.openxmlformats.org/drawingml/2006/main" prst="roundRect">
            <a:avLst>
              <a:gd name="adj" fmla="val 1951"/>
            </a:avLst>
          </a:prstGeom>
          <a:solidFill xmlns:a="http://schemas.openxmlformats.org/drawingml/2006/main">
            <a:srgbClr val="FFFFFF"/>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CEF9D68C-518E-4999-9391-5E4F5EE534E1}"/>
              </a:ext>
            </a:extLst>
          </p:cNvPr>
          <p:cNvSpPr>
            <a:spLocks xmlns:a="http://schemas.openxmlformats.org/drawingml/2006/main" noGrp="1"/>
          </p:cNvSpPr>
          <p:nvPr/>
        </p:nvSpPr>
        <p:spPr>
          <a:xfrm xmlns:a="http://schemas.openxmlformats.org/drawingml/2006/main">
            <a:off x="6515100" y="1447800"/>
            <a:ext cx="4953000" cy="3905250"/>
          </a:xfrm>
          <a:prstGeom xmlns:a="http://schemas.openxmlformats.org/drawingml/2006/main" prst="roundRect">
            <a:avLst>
              <a:gd name="adj" fmla="val 1951"/>
            </a:avLst>
          </a:prstGeom>
          <a:solidFill xmlns:a="http://schemas.openxmlformats.org/drawingml/2006/main">
            <a:srgbClr val="FFFFFF"/>
          </a:solidFill>
          <a:ln xmlns:a="http://schemas.openxmlformats.org/drawingml/2006/main" w="19050">
            <a:solidFill>
              <a:srgbClr val="2A9D8F"/>
            </a:solidFill>
            <a:prstDash val="solid"/>
          </a:ln>
        </p:spPr>
      </p:sp>
      <p:sp>
        <p:nvSpPr>
          <p:cNvPr id="9" name="">
            <a:extLst xmlns:a="http://schemas.openxmlformats.org/drawingml/2006/main">
              <a:ext uri="{FF2B5EF4-FFF2-40B4-BE49-F238E27FC236}">
                <a16:creationId xmlns:a16="http://schemas.microsoft.com/office/drawing/2014/main" id="{AA288D46-3657-4680-AF2A-8EB79620E28E}"/>
              </a:ext>
            </a:extLst>
          </p:cNvPr>
          <p:cNvSpPr>
            <a:spLocks xmlns:a="http://schemas.openxmlformats.org/drawingml/2006/main" noGrp="1"/>
          </p:cNvSpPr>
          <p:nvPr/>
        </p:nvSpPr>
        <p:spPr>
          <a:xfrm xmlns:a="http://schemas.openxmlformats.org/drawingml/2006/main">
            <a:off x="952500" y="167640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52606D"/>
                </a:solidFill>
              </a:defRPr>
            </a:pPr>
            <a:r>
              <a:rPr sz="1875" b="1" i="0">
                <a:solidFill>
                  <a:srgbClr val="52606D"/>
                </a:solidFill>
              </a:rPr>
              <a:t>Earlier planning emphasis</a:t>
            </a:r>
          </a:p>
        </p:txBody>
      </p:sp>
      <p:sp>
        <p:nvSpPr>
          <p:cNvPr id="10" name="">
            <a:extLst xmlns:a="http://schemas.openxmlformats.org/drawingml/2006/main">
              <a:ext uri="{FF2B5EF4-FFF2-40B4-BE49-F238E27FC236}">
                <a16:creationId xmlns:a16="http://schemas.microsoft.com/office/drawing/2014/main" id="{5945EB85-DDF5-4B0F-84D5-D0021EFEB96C}"/>
              </a:ext>
            </a:extLst>
          </p:cNvPr>
          <p:cNvSpPr>
            <a:spLocks xmlns:a="http://schemas.openxmlformats.org/drawingml/2006/main" noGrp="1"/>
          </p:cNvSpPr>
          <p:nvPr/>
        </p:nvSpPr>
        <p:spPr>
          <a:xfrm xmlns:a="http://schemas.openxmlformats.org/drawingml/2006/main">
            <a:off x="6743700" y="167640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2A9D8F"/>
                </a:solidFill>
              </a:defRPr>
            </a:pPr>
            <a:r>
              <a:rPr sz="1875" b="1" i="0">
                <a:solidFill>
                  <a:srgbClr val="2A9D8F"/>
                </a:solidFill>
              </a:rPr>
              <a:t>Current research scope</a:t>
            </a:r>
          </a:p>
        </p:txBody>
      </p:sp>
      <p:sp>
        <p:nvSpPr>
          <p:cNvPr id="11" name="">
            <a:extLst xmlns:a="http://schemas.openxmlformats.org/drawingml/2006/main">
              <a:ext uri="{FF2B5EF4-FFF2-40B4-BE49-F238E27FC236}">
                <a16:creationId xmlns:a16="http://schemas.microsoft.com/office/drawing/2014/main" id="{D1BE454D-4AE3-4380-A5D1-BA8ED8901A82}"/>
              </a:ext>
            </a:extLst>
          </p:cNvPr>
          <p:cNvSpPr>
            <a:spLocks xmlns:a="http://schemas.openxmlformats.org/drawingml/2006/main" noGrp="1"/>
          </p:cNvSpPr>
          <p:nvPr/>
        </p:nvSpPr>
        <p:spPr>
          <a:xfrm xmlns:a="http://schemas.openxmlformats.org/drawingml/2006/main">
            <a:off x="971550" y="2266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General structural framework</a:t>
            </a:r>
          </a:p>
        </p:txBody>
      </p:sp>
      <p:sp>
        <p:nvSpPr>
          <p:cNvPr id="12" name="">
            <a:extLst xmlns:a="http://schemas.openxmlformats.org/drawingml/2006/main">
              <a:ext uri="{FF2B5EF4-FFF2-40B4-BE49-F238E27FC236}">
                <a16:creationId xmlns:a16="http://schemas.microsoft.com/office/drawing/2014/main" id="{77E4CB35-68AA-439E-89B8-78D03CFF6D01}"/>
              </a:ext>
            </a:extLst>
          </p:cNvPr>
          <p:cNvSpPr>
            <a:spLocks xmlns:a="http://schemas.openxmlformats.org/drawingml/2006/main" noGrp="1"/>
          </p:cNvSpPr>
          <p:nvPr/>
        </p:nvSpPr>
        <p:spPr>
          <a:xfrm xmlns:a="http://schemas.openxmlformats.org/drawingml/2006/main">
            <a:off x="5810250" y="22669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3" name="">
            <a:extLst xmlns:a="http://schemas.openxmlformats.org/drawingml/2006/main">
              <a:ext uri="{FF2B5EF4-FFF2-40B4-BE49-F238E27FC236}">
                <a16:creationId xmlns:a16="http://schemas.microsoft.com/office/drawing/2014/main" id="{6D53554D-79AC-4692-BDEC-3D3A15D2414F}"/>
              </a:ext>
            </a:extLst>
          </p:cNvPr>
          <p:cNvSpPr>
            <a:spLocks xmlns:a="http://schemas.openxmlformats.org/drawingml/2006/main" noGrp="1"/>
          </p:cNvSpPr>
          <p:nvPr/>
        </p:nvSpPr>
        <p:spPr>
          <a:xfrm xmlns:a="http://schemas.openxmlformats.org/drawingml/2006/main">
            <a:off x="6762750" y="2266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1" i="0">
                <a:solidFill>
                  <a:srgbClr val="243B53"/>
                </a:solidFill>
              </a:defRPr>
            </a:pPr>
            <a:r>
              <a:rPr sz="1350" b="1" i="0">
                <a:solidFill>
                  <a:srgbClr val="243B53"/>
                </a:solidFill>
              </a:rPr>
              <a:t>Executable reconstruction of the 1990 procedure</a:t>
            </a:r>
          </a:p>
        </p:txBody>
      </p:sp>
      <p:sp>
        <p:nvSpPr>
          <p:cNvPr id="14" name="">
            <a:extLst xmlns:a="http://schemas.openxmlformats.org/drawingml/2006/main">
              <a:ext uri="{FF2B5EF4-FFF2-40B4-BE49-F238E27FC236}">
                <a16:creationId xmlns:a16="http://schemas.microsoft.com/office/drawing/2014/main" id="{084DEF7C-F652-440D-8D70-2AE496BC165B}"/>
              </a:ext>
            </a:extLst>
          </p:cNvPr>
          <p:cNvSpPr>
            <a:spLocks xmlns:a="http://schemas.openxmlformats.org/drawingml/2006/main" noGrp="1"/>
          </p:cNvSpPr>
          <p:nvPr/>
        </p:nvSpPr>
        <p:spPr>
          <a:xfrm xmlns:a="http://schemas.openxmlformats.org/drawingml/2006/main">
            <a:off x="971550" y="2743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Valid and invalid generators</a:t>
            </a:r>
          </a:p>
        </p:txBody>
      </p:sp>
      <p:sp>
        <p:nvSpPr>
          <p:cNvPr id="15" name="">
            <a:extLst xmlns:a="http://schemas.openxmlformats.org/drawingml/2006/main">
              <a:ext uri="{FF2B5EF4-FFF2-40B4-BE49-F238E27FC236}">
                <a16:creationId xmlns:a16="http://schemas.microsoft.com/office/drawing/2014/main" id="{2CACC6F9-CB5A-4D92-BAA2-81C6082A6480}"/>
              </a:ext>
            </a:extLst>
          </p:cNvPr>
          <p:cNvSpPr>
            <a:spLocks xmlns:a="http://schemas.openxmlformats.org/drawingml/2006/main" noGrp="1"/>
          </p:cNvSpPr>
          <p:nvPr/>
        </p:nvSpPr>
        <p:spPr>
          <a:xfrm xmlns:a="http://schemas.openxmlformats.org/drawingml/2006/main">
            <a:off x="5810250" y="27432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6" name="">
            <a:extLst xmlns:a="http://schemas.openxmlformats.org/drawingml/2006/main">
              <a:ext uri="{FF2B5EF4-FFF2-40B4-BE49-F238E27FC236}">
                <a16:creationId xmlns:a16="http://schemas.microsoft.com/office/drawing/2014/main" id="{3816F943-5CBB-4C07-A421-B20CABFAE8F2}"/>
              </a:ext>
            </a:extLst>
          </p:cNvPr>
          <p:cNvSpPr>
            <a:spLocks xmlns:a="http://schemas.openxmlformats.org/drawingml/2006/main" noGrp="1"/>
          </p:cNvSpPr>
          <p:nvPr/>
        </p:nvSpPr>
        <p:spPr>
          <a:xfrm xmlns:a="http://schemas.openxmlformats.org/drawingml/2006/main">
            <a:off x="6762750" y="2743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Oracle-certified valid-input sorting</a:t>
            </a:r>
          </a:p>
        </p:txBody>
      </p:sp>
      <p:sp>
        <p:nvSpPr>
          <p:cNvPr id="17" name="">
            <a:extLst xmlns:a="http://schemas.openxmlformats.org/drawingml/2006/main">
              <a:ext uri="{FF2B5EF4-FFF2-40B4-BE49-F238E27FC236}">
                <a16:creationId xmlns:a16="http://schemas.microsoft.com/office/drawing/2014/main" id="{76DA9D41-D402-4C1D-B668-F459A58CE0D5}"/>
              </a:ext>
            </a:extLst>
          </p:cNvPr>
          <p:cNvSpPr>
            <a:spLocks xmlns:a="http://schemas.openxmlformats.org/drawingml/2006/main" noGrp="1"/>
          </p:cNvSpPr>
          <p:nvPr/>
        </p:nvSpPr>
        <p:spPr>
          <a:xfrm xmlns:a="http://schemas.openxmlformats.org/drawingml/2006/main">
            <a:off x="971550" y="32194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Static family trees</a:t>
            </a:r>
          </a:p>
        </p:txBody>
      </p:sp>
      <p:sp>
        <p:nvSpPr>
          <p:cNvPr id="18" name="">
            <a:extLst xmlns:a="http://schemas.openxmlformats.org/drawingml/2006/main">
              <a:ext uri="{FF2B5EF4-FFF2-40B4-BE49-F238E27FC236}">
                <a16:creationId xmlns:a16="http://schemas.microsoft.com/office/drawing/2014/main" id="{B1DC8711-B163-4F83-ACCE-EDB2E22AF548}"/>
              </a:ext>
            </a:extLst>
          </p:cNvPr>
          <p:cNvSpPr>
            <a:spLocks xmlns:a="http://schemas.openxmlformats.org/drawingml/2006/main" noGrp="1"/>
          </p:cNvSpPr>
          <p:nvPr/>
        </p:nvSpPr>
        <p:spPr>
          <a:xfrm xmlns:a="http://schemas.openxmlformats.org/drawingml/2006/main">
            <a:off x="5810250" y="32194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9" name="">
            <a:extLst xmlns:a="http://schemas.openxmlformats.org/drawingml/2006/main">
              <a:ext uri="{FF2B5EF4-FFF2-40B4-BE49-F238E27FC236}">
                <a16:creationId xmlns:a16="http://schemas.microsoft.com/office/drawing/2014/main" id="{22F150DF-5A71-4E8F-B69D-0BE91471A342}"/>
              </a:ext>
            </a:extLst>
          </p:cNvPr>
          <p:cNvSpPr>
            <a:spLocks xmlns:a="http://schemas.openxmlformats.org/drawingml/2006/main" noGrp="1"/>
          </p:cNvSpPr>
          <p:nvPr/>
        </p:nvSpPr>
        <p:spPr>
          <a:xfrm xmlns:a="http://schemas.openxmlformats.org/drawingml/2006/main">
            <a:off x="6762750" y="32194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1" i="0">
                <a:solidFill>
                  <a:srgbClr val="243B53"/>
                </a:solidFill>
              </a:defRPr>
            </a:pPr>
            <a:r>
              <a:rPr sz="1350" b="1" i="0">
                <a:solidFill>
                  <a:srgbClr val="243B53"/>
                </a:solidFill>
              </a:rPr>
              <a:t>Dynamic sibling-list state</a:t>
            </a:r>
          </a:p>
        </p:txBody>
      </p:sp>
      <p:sp>
        <p:nvSpPr>
          <p:cNvPr id="20" name="">
            <a:extLst xmlns:a="http://schemas.openxmlformats.org/drawingml/2006/main">
              <a:ext uri="{FF2B5EF4-FFF2-40B4-BE49-F238E27FC236}">
                <a16:creationId xmlns:a16="http://schemas.microsoft.com/office/drawing/2014/main" id="{B801C161-044B-4D83-A970-43AB0E64A668}"/>
              </a:ext>
            </a:extLst>
          </p:cNvPr>
          <p:cNvSpPr>
            <a:spLocks xmlns:a="http://schemas.openxmlformats.org/drawingml/2006/main" noGrp="1"/>
          </p:cNvSpPr>
          <p:nvPr/>
        </p:nvSpPr>
        <p:spPr>
          <a:xfrm xmlns:a="http://schemas.openxmlformats.org/drawingml/2006/main">
            <a:off x="971550" y="36957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Broad reference evaluation</a:t>
            </a:r>
          </a:p>
        </p:txBody>
      </p:sp>
      <p:sp>
        <p:nvSpPr>
          <p:cNvPr id="21" name="">
            <a:extLst xmlns:a="http://schemas.openxmlformats.org/drawingml/2006/main">
              <a:ext uri="{FF2B5EF4-FFF2-40B4-BE49-F238E27FC236}">
                <a16:creationId xmlns:a16="http://schemas.microsoft.com/office/drawing/2014/main" id="{7EA43E8E-721B-4AE7-A3C2-6AB342DEA573}"/>
              </a:ext>
            </a:extLst>
          </p:cNvPr>
          <p:cNvSpPr>
            <a:spLocks xmlns:a="http://schemas.openxmlformats.org/drawingml/2006/main" noGrp="1"/>
          </p:cNvSpPr>
          <p:nvPr/>
        </p:nvSpPr>
        <p:spPr>
          <a:xfrm xmlns:a="http://schemas.openxmlformats.org/drawingml/2006/main">
            <a:off x="5810250" y="36957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2" name="">
            <a:extLst xmlns:a="http://schemas.openxmlformats.org/drawingml/2006/main">
              <a:ext uri="{FF2B5EF4-FFF2-40B4-BE49-F238E27FC236}">
                <a16:creationId xmlns:a16="http://schemas.microsoft.com/office/drawing/2014/main" id="{59630446-5728-4B2D-9D12-C927A5E0BF24}"/>
              </a:ext>
            </a:extLst>
          </p:cNvPr>
          <p:cNvSpPr>
            <a:spLocks xmlns:a="http://schemas.openxmlformats.org/drawingml/2006/main" noGrp="1"/>
          </p:cNvSpPr>
          <p:nvPr/>
        </p:nvSpPr>
        <p:spPr>
          <a:xfrm xmlns:a="http://schemas.openxmlformats.org/drawingml/2006/main">
            <a:off x="6762750" y="36957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Paper core, reference pipeline, Python sort</a:t>
            </a:r>
          </a:p>
        </p:txBody>
      </p:sp>
      <p:sp>
        <p:nvSpPr>
          <p:cNvPr id="23" name="">
            <a:extLst xmlns:a="http://schemas.openxmlformats.org/drawingml/2006/main">
              <a:ext uri="{FF2B5EF4-FFF2-40B4-BE49-F238E27FC236}">
                <a16:creationId xmlns:a16="http://schemas.microsoft.com/office/drawing/2014/main" id="{31FD1875-18E0-43F9-9010-E6E0C40327AE}"/>
              </a:ext>
            </a:extLst>
          </p:cNvPr>
          <p:cNvSpPr>
            <a:spLocks xmlns:a="http://schemas.openxmlformats.org/drawingml/2006/main" noGrp="1"/>
          </p:cNvSpPr>
          <p:nvPr/>
        </p:nvSpPr>
        <p:spPr>
          <a:xfrm xmlns:a="http://schemas.openxmlformats.org/drawingml/2006/main">
            <a:off x="971550" y="4171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Recognition as a possible experiment</a:t>
            </a:r>
          </a:p>
        </p:txBody>
      </p:sp>
      <p:sp>
        <p:nvSpPr>
          <p:cNvPr id="24" name="">
            <a:extLst xmlns:a="http://schemas.openxmlformats.org/drawingml/2006/main">
              <a:ext uri="{FF2B5EF4-FFF2-40B4-BE49-F238E27FC236}">
                <a16:creationId xmlns:a16="http://schemas.microsoft.com/office/drawing/2014/main" id="{DAA51320-C502-4AFF-BF48-73456EC8F540}"/>
              </a:ext>
            </a:extLst>
          </p:cNvPr>
          <p:cNvSpPr>
            <a:spLocks xmlns:a="http://schemas.openxmlformats.org/drawingml/2006/main" noGrp="1"/>
          </p:cNvSpPr>
          <p:nvPr/>
        </p:nvSpPr>
        <p:spPr>
          <a:xfrm xmlns:a="http://schemas.openxmlformats.org/drawingml/2006/main">
            <a:off x="5810250" y="41719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5" name="">
            <a:extLst xmlns:a="http://schemas.openxmlformats.org/drawingml/2006/main">
              <a:ext uri="{FF2B5EF4-FFF2-40B4-BE49-F238E27FC236}">
                <a16:creationId xmlns:a16="http://schemas.microsoft.com/office/drawing/2014/main" id="{EB064539-46B7-482C-80B0-7FDE42F93A9D}"/>
              </a:ext>
            </a:extLst>
          </p:cNvPr>
          <p:cNvSpPr>
            <a:spLocks xmlns:a="http://schemas.openxmlformats.org/drawingml/2006/main" noGrp="1"/>
          </p:cNvSpPr>
          <p:nvPr/>
        </p:nvSpPr>
        <p:spPr>
          <a:xfrm xmlns:a="http://schemas.openxmlformats.org/drawingml/2006/main">
            <a:off x="6762750" y="4171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Recognition remains separate</a:t>
            </a:r>
          </a:p>
        </p:txBody>
      </p:sp>
      <p:sp>
        <p:nvSpPr>
          <p:cNvPr id="26" name="">
            <a:extLst xmlns:a="http://schemas.openxmlformats.org/drawingml/2006/main">
              <a:ext uri="{FF2B5EF4-FFF2-40B4-BE49-F238E27FC236}">
                <a16:creationId xmlns:a16="http://schemas.microsoft.com/office/drawing/2014/main" id="{E95707BD-03AB-4534-B8ED-D32FAC935437}"/>
              </a:ext>
            </a:extLst>
          </p:cNvPr>
          <p:cNvSpPr>
            <a:spLocks xmlns:a="http://schemas.openxmlformats.org/drawingml/2006/main" noGrp="1"/>
          </p:cNvSpPr>
          <p:nvPr/>
        </p:nvSpPr>
        <p:spPr>
          <a:xfrm xmlns:a="http://schemas.openxmlformats.org/drawingml/2006/main">
            <a:off x="971550" y="4648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Theoretical backend implementation</a:t>
            </a:r>
          </a:p>
        </p:txBody>
      </p:sp>
      <p:sp>
        <p:nvSpPr>
          <p:cNvPr id="27" name="">
            <a:extLst xmlns:a="http://schemas.openxmlformats.org/drawingml/2006/main">
              <a:ext uri="{FF2B5EF4-FFF2-40B4-BE49-F238E27FC236}">
                <a16:creationId xmlns:a16="http://schemas.microsoft.com/office/drawing/2014/main" id="{551FDA94-7A06-4F60-9E33-1EDBDF4FD38C}"/>
              </a:ext>
            </a:extLst>
          </p:cNvPr>
          <p:cNvSpPr>
            <a:spLocks xmlns:a="http://schemas.openxmlformats.org/drawingml/2006/main" noGrp="1"/>
          </p:cNvSpPr>
          <p:nvPr/>
        </p:nvSpPr>
        <p:spPr>
          <a:xfrm xmlns:a="http://schemas.openxmlformats.org/drawingml/2006/main">
            <a:off x="5810250" y="46482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8" name="">
            <a:extLst xmlns:a="http://schemas.openxmlformats.org/drawingml/2006/main">
              <a:ext uri="{FF2B5EF4-FFF2-40B4-BE49-F238E27FC236}">
                <a16:creationId xmlns:a16="http://schemas.microsoft.com/office/drawing/2014/main" id="{EEA9B9C7-02D6-4A89-9CDF-F17B111BCC2D}"/>
              </a:ext>
            </a:extLst>
          </p:cNvPr>
          <p:cNvSpPr>
            <a:spLocks xmlns:a="http://schemas.openxmlformats.org/drawingml/2006/main" noGrp="1"/>
          </p:cNvSpPr>
          <p:nvPr/>
        </p:nvSpPr>
        <p:spPr>
          <a:xfrm xmlns:a="http://schemas.openxmlformats.org/drawingml/2006/main">
            <a:off x="6762750" y="4648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Ordinary lists in the current implementation</a:t>
            </a:r>
          </a:p>
        </p:txBody>
      </p:sp>
      <p:sp>
        <p:nvSpPr>
          <p:cNvPr id="29" name="">
            <a:extLst xmlns:a="http://schemas.openxmlformats.org/drawingml/2006/main">
              <a:ext uri="{FF2B5EF4-FFF2-40B4-BE49-F238E27FC236}">
                <a16:creationId xmlns:a16="http://schemas.microsoft.com/office/drawing/2014/main" id="{1C72D62C-98B1-496B-B509-6BABFB790D93}"/>
              </a:ext>
            </a:extLst>
          </p:cNvPr>
          <p:cNvSpPr>
            <a:spLocks xmlns:a="http://schemas.openxmlformats.org/drawingml/2006/main" noGrp="1"/>
          </p:cNvSpPr>
          <p:nvPr/>
        </p:nvSpPr>
        <p:spPr>
          <a:xfrm xmlns:a="http://schemas.openxmlformats.org/drawingml/2006/main">
            <a:off x="1143000" y="5505450"/>
            <a:ext cx="990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The experiment evaluates the ordinary-list implementation. A finger-tree backend remains a possible extension.</a:t>
            </a:r>
          </a:p>
        </p:txBody>
      </p:sp>
    </p:spTree>
    <p:extLst>
      <p:ext uri="{BB962C8B-B14F-4D97-AF65-F5344CB8AC3E}">
        <p14:creationId xmlns:p14="http://schemas.microsoft.com/office/powerpoint/2010/main" val="1075357415"/>
      </p:ext>
    </p:extLst>
  </p:cSld>
</p:sld>
</file>

<file path=ppt/slides/slide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CE48B733-B68B-48E3-B76C-814D5767808A}"/>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RESEARCH QUESTIONS</a:t>
            </a:r>
          </a:p>
        </p:txBody>
      </p:sp>
      <p:sp>
        <p:nvSpPr>
          <p:cNvPr id="2" name="">
            <a:extLst xmlns:a="http://schemas.openxmlformats.org/drawingml/2006/main">
              <a:ext uri="{FF2B5EF4-FFF2-40B4-BE49-F238E27FC236}">
                <a16:creationId xmlns:a16="http://schemas.microsoft.com/office/drawing/2014/main" id="{08277AA5-5570-40B0-A4D8-C8EEAF396AC6}"/>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0096"/>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Three questions connect reconstruction, measurement, and interpretation</a:t>
            </a:r>
          </a:p>
        </p:txBody>
      </p:sp>
      <p:sp>
        <p:nvSpPr>
          <p:cNvPr id="3" name="">
            <a:extLst xmlns:a="http://schemas.openxmlformats.org/drawingml/2006/main">
              <a:ext uri="{FF2B5EF4-FFF2-40B4-BE49-F238E27FC236}">
                <a16:creationId xmlns:a16="http://schemas.microsoft.com/office/drawing/2014/main" id="{C03DDE34-55F9-4F0D-ADFD-8EF5B3F14370}"/>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3FC5DE1E-A69D-45C3-8A1D-F145A3AC5E44}"/>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E2F9802-9712-41F9-8FEE-FAC32837515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99057FAA-3111-42DD-9B70-19E83DF07055}"/>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5 / 16</a:t>
            </a:r>
          </a:p>
        </p:txBody>
      </p:sp>
      <p:sp>
        <p:nvSpPr>
          <p:cNvPr id="7" name="">
            <a:extLst xmlns:a="http://schemas.openxmlformats.org/drawingml/2006/main">
              <a:ext uri="{FF2B5EF4-FFF2-40B4-BE49-F238E27FC236}">
                <a16:creationId xmlns:a16="http://schemas.microsoft.com/office/drawing/2014/main" id="{46E266F8-AEED-4782-8B0C-8DA4F2BDA781}"/>
              </a:ext>
            </a:extLst>
          </p:cNvPr>
          <p:cNvSpPr>
            <a:spLocks xmlns:a="http://schemas.openxmlformats.org/drawingml/2006/main" noGrp="1"/>
          </p:cNvSpPr>
          <p:nvPr/>
        </p:nvSpPr>
        <p:spPr>
          <a:xfrm xmlns:a="http://schemas.openxmlformats.org/drawingml/2006/main">
            <a:off x="723900" y="1485900"/>
            <a:ext cx="10744200" cy="1200150"/>
          </a:xfrm>
          <a:prstGeom xmlns:a="http://schemas.openxmlformats.org/drawingml/2006/main" prst="roundRect">
            <a:avLst>
              <a:gd name="adj" fmla="val 6349"/>
            </a:avLst>
          </a:prstGeom>
          <a:solidFill xmlns:a="http://schemas.openxmlformats.org/drawingml/2006/main">
            <a:srgbClr val="E8F5F3"/>
          </a:solidFill>
          <a:ln xmlns:a="http://schemas.openxmlformats.org/drawingml/2006/main" w="11430">
            <a:solidFill>
              <a:srgbClr val="E8F5F3"/>
            </a:solidFill>
            <a:prstDash val="solid"/>
          </a:ln>
        </p:spPr>
      </p:sp>
      <p:sp>
        <p:nvSpPr>
          <p:cNvPr id="8" name="">
            <a:extLst xmlns:a="http://schemas.openxmlformats.org/drawingml/2006/main">
              <a:ext uri="{FF2B5EF4-FFF2-40B4-BE49-F238E27FC236}">
                <a16:creationId xmlns:a16="http://schemas.microsoft.com/office/drawing/2014/main" id="{FAB5174E-0A31-4FAB-81C2-C7DFA2D2C426}"/>
              </a:ext>
            </a:extLst>
          </p:cNvPr>
          <p:cNvSpPr>
            <a:spLocks xmlns:a="http://schemas.openxmlformats.org/drawingml/2006/main" noGrp="1"/>
          </p:cNvSpPr>
          <p:nvPr/>
        </p:nvSpPr>
        <p:spPr>
          <a:xfrm xmlns:a="http://schemas.openxmlformats.org/drawingml/2006/main">
            <a:off x="914400" y="165735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2A9D8F"/>
                </a:solidFill>
              </a:defRPr>
            </a:pPr>
            <a:r>
              <a:rPr sz="2100" b="1" i="0">
                <a:solidFill>
                  <a:srgbClr val="2A9D8F"/>
                </a:solidFill>
              </a:rPr>
              <a:t>RQ1</a:t>
            </a:r>
          </a:p>
        </p:txBody>
      </p:sp>
      <p:sp>
        <p:nvSpPr>
          <p:cNvPr id="9" name="">
            <a:extLst xmlns:a="http://schemas.openxmlformats.org/drawingml/2006/main">
              <a:ext uri="{FF2B5EF4-FFF2-40B4-BE49-F238E27FC236}">
                <a16:creationId xmlns:a16="http://schemas.microsoft.com/office/drawing/2014/main" id="{D3DCDDAD-7A0D-4FEA-B1D8-30716EF808B2}"/>
              </a:ext>
            </a:extLst>
          </p:cNvPr>
          <p:cNvSpPr>
            <a:spLocks xmlns:a="http://schemas.openxmlformats.org/drawingml/2006/main" noGrp="1"/>
          </p:cNvSpPr>
          <p:nvPr/>
        </p:nvSpPr>
        <p:spPr>
          <a:xfrm xmlns:a="http://schemas.openxmlformats.org/drawingml/2006/main">
            <a:off x="2152650" y="161925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Executable reconstruction and correctness</a:t>
            </a:r>
          </a:p>
        </p:txBody>
      </p:sp>
      <p:sp>
        <p:nvSpPr>
          <p:cNvPr id="10" name="">
            <a:extLst xmlns:a="http://schemas.openxmlformats.org/drawingml/2006/main">
              <a:ext uri="{FF2B5EF4-FFF2-40B4-BE49-F238E27FC236}">
                <a16:creationId xmlns:a16="http://schemas.microsoft.com/office/drawing/2014/main" id="{84470029-080A-4415-B328-E42E7E3A55EA}"/>
              </a:ext>
            </a:extLst>
          </p:cNvPr>
          <p:cNvSpPr>
            <a:spLocks xmlns:a="http://schemas.openxmlformats.org/drawingml/2006/main" noGrp="1"/>
          </p:cNvSpPr>
          <p:nvPr/>
        </p:nvSpPr>
        <p:spPr>
          <a:xfrm xmlns:a="http://schemas.openxmlformats.org/drawingml/2006/main">
            <a:off x="2152650" y="205740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Can an ordinary-list reconstruction recover sorted order from maintained state for oracle-certified valid inputs?</a:t>
            </a:r>
          </a:p>
        </p:txBody>
      </p:sp>
      <p:sp>
        <p:nvSpPr>
          <p:cNvPr id="11" name="">
            <a:extLst xmlns:a="http://schemas.openxmlformats.org/drawingml/2006/main">
              <a:ext uri="{FF2B5EF4-FFF2-40B4-BE49-F238E27FC236}">
                <a16:creationId xmlns:a16="http://schemas.microsoft.com/office/drawing/2014/main" id="{0ABA143B-1C15-44AF-9EF7-AA92736159A4}"/>
              </a:ext>
            </a:extLst>
          </p:cNvPr>
          <p:cNvSpPr>
            <a:spLocks xmlns:a="http://schemas.openxmlformats.org/drawingml/2006/main" noGrp="1"/>
          </p:cNvSpPr>
          <p:nvPr/>
        </p:nvSpPr>
        <p:spPr>
          <a:xfrm xmlns:a="http://schemas.openxmlformats.org/drawingml/2006/main">
            <a:off x="8477250" y="1647825"/>
            <a:ext cx="2571750" cy="285750"/>
          </a:xfrm>
          <a:prstGeom xmlns:a="http://schemas.openxmlformats.org/drawingml/2006/main" prst="roundRect">
            <a:avLst>
              <a:gd name="adj" fmla="val 20000"/>
            </a:avLst>
          </a:prstGeom>
          <a:solidFill xmlns:a="http://schemas.openxmlformats.org/drawingml/2006/main">
            <a:srgbClr val="2A9D8F"/>
          </a:solidFill>
          <a:ln xmlns:a="http://schemas.openxmlformats.org/drawingml/2006/main" w="11430">
            <a:solidFill>
              <a:srgbClr val="2A9D8F"/>
            </a:solidFill>
            <a:prstDash val="solid"/>
          </a:ln>
        </p:spPr>
      </p:sp>
      <p:sp>
        <p:nvSpPr>
          <p:cNvPr id="12" name="">
            <a:extLst xmlns:a="http://schemas.openxmlformats.org/drawingml/2006/main">
              <a:ext uri="{FF2B5EF4-FFF2-40B4-BE49-F238E27FC236}">
                <a16:creationId xmlns:a16="http://schemas.microsoft.com/office/drawing/2014/main" id="{855F9B95-70E4-4C66-8B89-126BA07E65BA}"/>
              </a:ext>
            </a:extLst>
          </p:cNvPr>
          <p:cNvSpPr>
            <a:spLocks xmlns:a="http://schemas.openxmlformats.org/drawingml/2006/main" noGrp="1"/>
          </p:cNvSpPr>
          <p:nvPr/>
        </p:nvSpPr>
        <p:spPr>
          <a:xfrm xmlns:a="http://schemas.openxmlformats.org/drawingml/2006/main">
            <a:off x="8477250" y="165735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975" b="1" i="0">
                <a:solidFill>
                  <a:srgbClr val="FFFFFF"/>
                </a:solidFill>
              </a:defRPr>
            </a:pPr>
            <a:r>
              <a:rPr sz="975" b="1" i="0">
                <a:solidFill>
                  <a:srgbClr val="FFFFFF"/>
                </a:solidFill>
              </a:rPr>
              <a:t>PRIMARY TECHNICAL QUESTION</a:t>
            </a:r>
          </a:p>
        </p:txBody>
      </p:sp>
      <p:sp>
        <p:nvSpPr>
          <p:cNvPr id="13" name="">
            <a:extLst xmlns:a="http://schemas.openxmlformats.org/drawingml/2006/main">
              <a:ext uri="{FF2B5EF4-FFF2-40B4-BE49-F238E27FC236}">
                <a16:creationId xmlns:a16="http://schemas.microsoft.com/office/drawing/2014/main" id="{36B0AFB9-66D8-4828-9236-5E747F0FA505}"/>
              </a:ext>
            </a:extLst>
          </p:cNvPr>
          <p:cNvSpPr>
            <a:spLocks xmlns:a="http://schemas.openxmlformats.org/drawingml/2006/main" noGrp="1"/>
          </p:cNvSpPr>
          <p:nvPr/>
        </p:nvSpPr>
        <p:spPr>
          <a:xfrm xmlns:a="http://schemas.openxmlformats.org/drawingml/2006/main">
            <a:off x="723900" y="2990850"/>
            <a:ext cx="10744200" cy="1200150"/>
          </a:xfrm>
          <a:prstGeom xmlns:a="http://schemas.openxmlformats.org/drawingml/2006/main" prst="roundRect">
            <a:avLst>
              <a:gd name="adj" fmla="val 6349"/>
            </a:avLst>
          </a:prstGeom>
          <a:solidFill xmlns:a="http://schemas.openxmlformats.org/drawingml/2006/main">
            <a:srgbClr val="FCEEEA"/>
          </a:solidFill>
          <a:ln xmlns:a="http://schemas.openxmlformats.org/drawingml/2006/main" w="11430">
            <a:solidFill>
              <a:srgbClr val="FCEEEA"/>
            </a:solidFill>
            <a:prstDash val="solid"/>
          </a:ln>
        </p:spPr>
      </p:sp>
      <p:sp>
        <p:nvSpPr>
          <p:cNvPr id="14" name="">
            <a:extLst xmlns:a="http://schemas.openxmlformats.org/drawingml/2006/main">
              <a:ext uri="{FF2B5EF4-FFF2-40B4-BE49-F238E27FC236}">
                <a16:creationId xmlns:a16="http://schemas.microsoft.com/office/drawing/2014/main" id="{E33A5852-5A62-4505-8369-8F2D8DA0EB58}"/>
              </a:ext>
            </a:extLst>
          </p:cNvPr>
          <p:cNvSpPr>
            <a:spLocks xmlns:a="http://schemas.openxmlformats.org/drawingml/2006/main" noGrp="1"/>
          </p:cNvSpPr>
          <p:nvPr/>
        </p:nvSpPr>
        <p:spPr>
          <a:xfrm xmlns:a="http://schemas.openxmlformats.org/drawingml/2006/main">
            <a:off x="914400" y="316230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E76F51"/>
                </a:solidFill>
              </a:defRPr>
            </a:pPr>
            <a:r>
              <a:rPr sz="2100" b="1" i="0">
                <a:solidFill>
                  <a:srgbClr val="E76F51"/>
                </a:solidFill>
              </a:rPr>
              <a:t>RQ2</a:t>
            </a:r>
          </a:p>
        </p:txBody>
      </p:sp>
      <p:sp>
        <p:nvSpPr>
          <p:cNvPr id="15" name="">
            <a:extLst xmlns:a="http://schemas.openxmlformats.org/drawingml/2006/main">
              <a:ext uri="{FF2B5EF4-FFF2-40B4-BE49-F238E27FC236}">
                <a16:creationId xmlns:a16="http://schemas.microsoft.com/office/drawing/2014/main" id="{2BDEA94F-A8FE-48CE-BB9D-A7662F2149BA}"/>
              </a:ext>
            </a:extLst>
          </p:cNvPr>
          <p:cNvSpPr>
            <a:spLocks xmlns:a="http://schemas.openxmlformats.org/drawingml/2006/main" noGrp="1"/>
          </p:cNvSpPr>
          <p:nvPr/>
        </p:nvSpPr>
        <p:spPr>
          <a:xfrm xmlns:a="http://schemas.openxmlformats.org/drawingml/2006/main">
            <a:off x="2152650" y="312420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Observed runtime behavior</a:t>
            </a:r>
          </a:p>
        </p:txBody>
      </p:sp>
      <p:sp>
        <p:nvSpPr>
          <p:cNvPr id="16" name="">
            <a:extLst xmlns:a="http://schemas.openxmlformats.org/drawingml/2006/main">
              <a:ext uri="{FF2B5EF4-FFF2-40B4-BE49-F238E27FC236}">
                <a16:creationId xmlns:a16="http://schemas.microsoft.com/office/drawing/2014/main" id="{49344DE8-5D84-439D-A9ED-4941D6AF6C82}"/>
              </a:ext>
            </a:extLst>
          </p:cNvPr>
          <p:cNvSpPr>
            <a:spLocks xmlns:a="http://schemas.openxmlformats.org/drawingml/2006/main" noGrp="1"/>
          </p:cNvSpPr>
          <p:nvPr/>
        </p:nvSpPr>
        <p:spPr>
          <a:xfrm xmlns:a="http://schemas.openxmlformats.org/drawingml/2006/main">
            <a:off x="2152650" y="356235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How does the paper core behave on pre-certified inputs relative to Python sort and the complete reference pipeline under different timing scopes?</a:t>
            </a:r>
          </a:p>
        </p:txBody>
      </p:sp>
      <p:sp>
        <p:nvSpPr>
          <p:cNvPr id="17" name="">
            <a:extLst xmlns:a="http://schemas.openxmlformats.org/drawingml/2006/main">
              <a:ext uri="{FF2B5EF4-FFF2-40B4-BE49-F238E27FC236}">
                <a16:creationId xmlns:a16="http://schemas.microsoft.com/office/drawing/2014/main" id="{69E5B361-FFA6-4708-AEB9-7D459F786587}"/>
              </a:ext>
            </a:extLst>
          </p:cNvPr>
          <p:cNvSpPr>
            <a:spLocks xmlns:a="http://schemas.openxmlformats.org/drawingml/2006/main" noGrp="1"/>
          </p:cNvSpPr>
          <p:nvPr/>
        </p:nvSpPr>
        <p:spPr>
          <a:xfrm xmlns:a="http://schemas.openxmlformats.org/drawingml/2006/main">
            <a:off x="723900" y="4495800"/>
            <a:ext cx="10744200" cy="1200150"/>
          </a:xfrm>
          <a:prstGeom xmlns:a="http://schemas.openxmlformats.org/drawingml/2006/main" prst="roundRect">
            <a:avLst>
              <a:gd name="adj" fmla="val 6349"/>
            </a:avLst>
          </a:prstGeom>
          <a:solidFill xmlns:a="http://schemas.openxmlformats.org/drawingml/2006/main">
            <a:srgbClr val="EDF2F7"/>
          </a:solidFill>
          <a:ln xmlns:a="http://schemas.openxmlformats.org/drawingml/2006/main" w="11430">
            <a:solidFill>
              <a:srgbClr val="EDF2F7"/>
            </a:solidFill>
            <a:prstDash val="solid"/>
          </a:ln>
        </p:spPr>
      </p:sp>
      <p:sp>
        <p:nvSpPr>
          <p:cNvPr id="18" name="">
            <a:extLst xmlns:a="http://schemas.openxmlformats.org/drawingml/2006/main">
              <a:ext uri="{FF2B5EF4-FFF2-40B4-BE49-F238E27FC236}">
                <a16:creationId xmlns:a16="http://schemas.microsoft.com/office/drawing/2014/main" id="{210CAEB6-FA74-485B-9C8C-D76C568FA34F}"/>
              </a:ext>
            </a:extLst>
          </p:cNvPr>
          <p:cNvSpPr>
            <a:spLocks xmlns:a="http://schemas.openxmlformats.org/drawingml/2006/main" noGrp="1"/>
          </p:cNvSpPr>
          <p:nvPr/>
        </p:nvSpPr>
        <p:spPr>
          <a:xfrm xmlns:a="http://schemas.openxmlformats.org/drawingml/2006/main">
            <a:off x="914400" y="466725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52606D"/>
                </a:solidFill>
              </a:defRPr>
            </a:pPr>
            <a:r>
              <a:rPr sz="2100" b="1" i="0">
                <a:solidFill>
                  <a:srgbClr val="52606D"/>
                </a:solidFill>
              </a:rPr>
              <a:t>RQ3</a:t>
            </a:r>
          </a:p>
        </p:txBody>
      </p:sp>
      <p:sp>
        <p:nvSpPr>
          <p:cNvPr id="19" name="">
            <a:extLst xmlns:a="http://schemas.openxmlformats.org/drawingml/2006/main">
              <a:ext uri="{FF2B5EF4-FFF2-40B4-BE49-F238E27FC236}">
                <a16:creationId xmlns:a16="http://schemas.microsoft.com/office/drawing/2014/main" id="{43475A2F-CB2B-41E1-B74C-858CF7D9E209}"/>
              </a:ext>
            </a:extLst>
          </p:cNvPr>
          <p:cNvSpPr>
            <a:spLocks xmlns:a="http://schemas.openxmlformats.org/drawingml/2006/main" noGrp="1"/>
          </p:cNvSpPr>
          <p:nvPr/>
        </p:nvSpPr>
        <p:spPr>
          <a:xfrm xmlns:a="http://schemas.openxmlformats.org/drawingml/2006/main">
            <a:off x="2152650" y="462915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Structure and implementation cost</a:t>
            </a:r>
          </a:p>
        </p:txBody>
      </p:sp>
      <p:sp>
        <p:nvSpPr>
          <p:cNvPr id="20" name="">
            <a:extLst xmlns:a="http://schemas.openxmlformats.org/drawingml/2006/main">
              <a:ext uri="{FF2B5EF4-FFF2-40B4-BE49-F238E27FC236}">
                <a16:creationId xmlns:a16="http://schemas.microsoft.com/office/drawing/2014/main" id="{B3A18B6F-FAE7-423D-8B25-650C13D8B311}"/>
              </a:ext>
            </a:extLst>
          </p:cNvPr>
          <p:cNvSpPr>
            <a:spLocks xmlns:a="http://schemas.openxmlformats.org/drawingml/2006/main" noGrp="1"/>
          </p:cNvSpPr>
          <p:nvPr/>
        </p:nvSpPr>
        <p:spPr>
          <a:xfrm xmlns:a="http://schemas.openxmlformats.org/drawingml/2006/main">
            <a:off x="2152650" y="506730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What descriptive relationships appear between input structure, checked operation counters, and runtime?</a:t>
            </a:r>
          </a:p>
        </p:txBody>
      </p:sp>
    </p:spTree>
    <p:extLst>
      <p:ext uri="{BB962C8B-B14F-4D97-AF65-F5344CB8AC3E}">
        <p14:creationId xmlns:p14="http://schemas.microsoft.com/office/powerpoint/2010/main" val="314430339"/>
      </p:ext>
    </p:extLst>
  </p:cSld>
</p:sld>
</file>

<file path=ppt/slides/slide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FE00917F-7E02-4A06-80F4-33B05ABACB2B}"/>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ARCHITECTURE</a:t>
            </a:r>
          </a:p>
        </p:txBody>
      </p:sp>
      <p:sp>
        <p:nvSpPr>
          <p:cNvPr id="2" name="">
            <a:extLst xmlns:a="http://schemas.openxmlformats.org/drawingml/2006/main">
              <a:ext uri="{FF2B5EF4-FFF2-40B4-BE49-F238E27FC236}">
                <a16:creationId xmlns:a16="http://schemas.microsoft.com/office/drawing/2014/main" id="{3693D8C2-8D88-45D8-B0A5-D234A61176D8}"/>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oracle, reference pipeline, and paper core have distinct roles</a:t>
            </a:r>
          </a:p>
        </p:txBody>
      </p:sp>
      <p:sp>
        <p:nvSpPr>
          <p:cNvPr id="3" name="">
            <a:extLst xmlns:a="http://schemas.openxmlformats.org/drawingml/2006/main">
              <a:ext uri="{FF2B5EF4-FFF2-40B4-BE49-F238E27FC236}">
                <a16:creationId xmlns:a16="http://schemas.microsoft.com/office/drawing/2014/main" id="{794D21A2-D40F-4796-BFF7-6EA1A1DFAC26}"/>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788A2D76-91F3-4B4C-A777-F3F7376F40C2}"/>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FE8BBBA8-7F5E-421A-B565-D2124A556021}"/>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1B6B8E42-2CEB-49BC-958E-8EF901F8300F}"/>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6 / 16</a:t>
            </a:r>
          </a:p>
        </p:txBody>
      </p:sp>
      <p:sp>
        <p:nvSpPr>
          <p:cNvPr id="7" name="">
            <a:extLst xmlns:a="http://schemas.openxmlformats.org/drawingml/2006/main">
              <a:ext uri="{FF2B5EF4-FFF2-40B4-BE49-F238E27FC236}">
                <a16:creationId xmlns:a16="http://schemas.microsoft.com/office/drawing/2014/main" id="{45FFCD13-0E74-47C4-9C14-E2B5659F772C}"/>
              </a:ext>
            </a:extLst>
          </p:cNvPr>
          <p:cNvSpPr>
            <a:spLocks xmlns:a="http://schemas.openxmlformats.org/drawingml/2006/main" noGrp="1"/>
          </p:cNvSpPr>
          <p:nvPr/>
        </p:nvSpPr>
        <p:spPr>
          <a:xfrm xmlns:a="http://schemas.openxmlformats.org/drawingml/2006/main">
            <a:off x="4238625" y="1352550"/>
            <a:ext cx="3714750" cy="876300"/>
          </a:xfrm>
          <a:prstGeom xmlns:a="http://schemas.openxmlformats.org/drawingml/2006/main" prst="roundRect">
            <a:avLst>
              <a:gd name="adj" fmla="val 8696"/>
            </a:avLst>
          </a:prstGeom>
          <a:solidFill xmlns:a="http://schemas.openxmlformats.org/drawingml/2006/main">
            <a:srgbClr val="EAF1F8"/>
          </a:solidFill>
          <a:ln xmlns:a="http://schemas.openxmlformats.org/drawingml/2006/main" w="19050">
            <a:solidFill>
              <a:srgbClr val="102A43"/>
            </a:solidFill>
            <a:prstDash val="solid"/>
          </a:ln>
        </p:spPr>
      </p:sp>
      <p:sp>
        <p:nvSpPr>
          <p:cNvPr id="8" name="">
            <a:extLst xmlns:a="http://schemas.openxmlformats.org/drawingml/2006/main">
              <a:ext uri="{FF2B5EF4-FFF2-40B4-BE49-F238E27FC236}">
                <a16:creationId xmlns:a16="http://schemas.microsoft.com/office/drawing/2014/main" id="{B4F1447F-5AE7-479E-A94C-CB782B363C13}"/>
              </a:ext>
            </a:extLst>
          </p:cNvPr>
          <p:cNvSpPr>
            <a:spLocks xmlns:a="http://schemas.openxmlformats.org/drawingml/2006/main" noGrp="1"/>
          </p:cNvSpPr>
          <p:nvPr/>
        </p:nvSpPr>
        <p:spPr>
          <a:xfrm xmlns:a="http://schemas.openxmlformats.org/drawingml/2006/main">
            <a:off x="4429125" y="148590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5238"/>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Certification oracle</a:t>
            </a:r>
          </a:p>
        </p:txBody>
      </p:sp>
      <p:sp>
        <p:nvSpPr>
          <p:cNvPr id="9" name="">
            <a:extLst xmlns:a="http://schemas.openxmlformats.org/drawingml/2006/main">
              <a:ext uri="{FF2B5EF4-FFF2-40B4-BE49-F238E27FC236}">
                <a16:creationId xmlns:a16="http://schemas.microsoft.com/office/drawing/2014/main" id="{51F32FF4-D3DE-4099-AE60-A68EBAC9B5BA}"/>
              </a:ext>
            </a:extLst>
          </p:cNvPr>
          <p:cNvSpPr>
            <a:spLocks xmlns:a="http://schemas.openxmlformats.org/drawingml/2006/main" noGrp="1"/>
          </p:cNvSpPr>
          <p:nvPr/>
        </p:nvSpPr>
        <p:spPr>
          <a:xfrm xmlns:a="http://schemas.openxmlformats.org/drawingml/2006/main">
            <a:off x="4429125" y="1847850"/>
            <a:ext cx="333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7002"/>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validity + expected sorted order</a:t>
            </a:r>
          </a:p>
        </p:txBody>
      </p:sp>
      <p:sp>
        <p:nvSpPr>
          <p:cNvPr id="10" name="">
            <a:extLst xmlns:a="http://schemas.openxmlformats.org/drawingml/2006/main">
              <a:ext uri="{FF2B5EF4-FFF2-40B4-BE49-F238E27FC236}">
                <a16:creationId xmlns:a16="http://schemas.microsoft.com/office/drawing/2014/main" id="{18E322A4-41C2-441A-956E-7641D1470521}"/>
              </a:ext>
            </a:extLst>
          </p:cNvPr>
          <p:cNvSpPr>
            <a:spLocks xmlns:a="http://schemas.openxmlformats.org/drawingml/2006/main" noGrp="1"/>
          </p:cNvSpPr>
          <p:nvPr/>
        </p:nvSpPr>
        <p:spPr>
          <a:xfrm xmlns:a="http://schemas.openxmlformats.org/drawingml/2006/main">
            <a:off x="876300" y="3105150"/>
            <a:ext cx="4333875" cy="1809750"/>
          </a:xfrm>
          <a:prstGeom xmlns:a="http://schemas.openxmlformats.org/drawingml/2006/main" prst="roundRect">
            <a:avLst>
              <a:gd name="adj" fmla="val 4211"/>
            </a:avLst>
          </a:prstGeom>
          <a:solidFill xmlns:a="http://schemas.openxmlformats.org/drawingml/2006/main">
            <a:srgbClr val="FCEEEA"/>
          </a:solidFill>
          <a:ln xmlns:a="http://schemas.openxmlformats.org/drawingml/2006/main" w="19050">
            <a:solidFill>
              <a:srgbClr val="E76F51"/>
            </a:solidFill>
            <a:prstDash val="solid"/>
          </a:ln>
        </p:spPr>
      </p:sp>
      <p:sp>
        <p:nvSpPr>
          <p:cNvPr id="11" name="">
            <a:extLst xmlns:a="http://schemas.openxmlformats.org/drawingml/2006/main">
              <a:ext uri="{FF2B5EF4-FFF2-40B4-BE49-F238E27FC236}">
                <a16:creationId xmlns:a16="http://schemas.microsoft.com/office/drawing/2014/main" id="{A9DD47C9-9F76-4E47-9D53-730893993EA9}"/>
              </a:ext>
            </a:extLst>
          </p:cNvPr>
          <p:cNvSpPr>
            <a:spLocks xmlns:a="http://schemas.openxmlformats.org/drawingml/2006/main" noGrp="1"/>
          </p:cNvSpPr>
          <p:nvPr/>
        </p:nvSpPr>
        <p:spPr>
          <a:xfrm xmlns:a="http://schemas.openxmlformats.org/drawingml/2006/main">
            <a:off x="6981825" y="3105150"/>
            <a:ext cx="4333875" cy="1809750"/>
          </a:xfrm>
          <a:prstGeom xmlns:a="http://schemas.openxmlformats.org/drawingml/2006/main" prst="roundRect">
            <a:avLst>
              <a:gd name="adj" fmla="val 4211"/>
            </a:avLst>
          </a:prstGeom>
          <a:solidFill xmlns:a="http://schemas.openxmlformats.org/drawingml/2006/main">
            <a:srgbClr val="E8F5F3"/>
          </a:solidFill>
          <a:ln xmlns:a="http://schemas.openxmlformats.org/drawingml/2006/main" w="19050">
            <a:solidFill>
              <a:srgbClr val="2A9D8F"/>
            </a:solidFill>
            <a:prstDash val="solid"/>
          </a:ln>
        </p:spPr>
      </p:sp>
      <p:cxnSp>
        <p:nvCxnSpPr>
          <p:cNvPr id="38" name=""/>
          <p:cNvCxnSpPr>
            <a:stCxn xmlns:a="http://schemas.openxmlformats.org/drawingml/2006/main" id="7" idx="2"/>
            <a:endCxn xmlns:a="http://schemas.openxmlformats.org/drawingml/2006/main" id="10" idx="0"/>
          </p:cNvCxnSpPr>
          <p:nvPr/>
        </p:nvCxnSpPr>
        <p:spPr>
          <a:xfrm xmlns:a="http://schemas.openxmlformats.org/drawingml/2006/main" flipH="1">
            <a:off x="3043238" y="2228850"/>
            <a:ext cx="3052763" cy="87630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cxnSp>
        <p:nvCxnSpPr>
          <p:cNvPr id="39" name=""/>
          <p:cNvCxnSpPr>
            <a:stCxn xmlns:a="http://schemas.openxmlformats.org/drawingml/2006/main" id="7" idx="2"/>
            <a:endCxn xmlns:a="http://schemas.openxmlformats.org/drawingml/2006/main" id="11" idx="0"/>
          </p:cNvCxnSpPr>
          <p:nvPr/>
        </p:nvCxnSpPr>
        <p:spPr>
          <a:xfrm xmlns:a="http://schemas.openxmlformats.org/drawingml/2006/main">
            <a:off x="6096000" y="2228850"/>
            <a:ext cx="3052763" cy="87630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sp>
        <p:nvSpPr>
          <p:cNvPr id="14" name="">
            <a:extLst xmlns:a="http://schemas.openxmlformats.org/drawingml/2006/main">
              <a:ext uri="{FF2B5EF4-FFF2-40B4-BE49-F238E27FC236}">
                <a16:creationId xmlns:a16="http://schemas.microsoft.com/office/drawing/2014/main" id="{A7D1EC7D-FCC0-40E0-8268-8B3A08209C36}"/>
              </a:ext>
            </a:extLst>
          </p:cNvPr>
          <p:cNvSpPr>
            <a:spLocks xmlns:a="http://schemas.openxmlformats.org/drawingml/2006/main" noGrp="1"/>
          </p:cNvSpPr>
          <p:nvPr/>
        </p:nvSpPr>
        <p:spPr>
          <a:xfrm xmlns:a="http://schemas.openxmlformats.org/drawingml/2006/main">
            <a:off x="1352550" y="2419350"/>
            <a:ext cx="3390900" cy="457200"/>
          </a:xfrm>
          <a:prstGeom xmlns:a="http://schemas.openxmlformats.org/drawingml/2006/main" prst="roundRect">
            <a:avLst>
              <a:gd name="adj" fmla="val 12500"/>
            </a:avLst>
          </a:prstGeom>
          <a:solidFill xmlns:a="http://schemas.openxmlformats.org/drawingml/2006/main">
            <a:srgbClr val="FFFFFF"/>
          </a:solidFill>
          <a:ln xmlns:a="http://schemas.openxmlformats.org/drawingml/2006/main" w="11430">
            <a:solidFill>
              <a:srgbClr val="E76F51"/>
            </a:solidFill>
            <a:prstDash val="solid"/>
          </a:ln>
        </p:spPr>
      </p:sp>
      <p:sp>
        <p:nvSpPr>
          <p:cNvPr id="15" name="">
            <a:extLst xmlns:a="http://schemas.openxmlformats.org/drawingml/2006/main">
              <a:ext uri="{FF2B5EF4-FFF2-40B4-BE49-F238E27FC236}">
                <a16:creationId xmlns:a16="http://schemas.microsoft.com/office/drawing/2014/main" id="{F94F0154-C1F7-4862-9F3C-0D3F1823C3FA}"/>
              </a:ext>
            </a:extLst>
          </p:cNvPr>
          <p:cNvSpPr>
            <a:spLocks xmlns:a="http://schemas.openxmlformats.org/drawingml/2006/main" noGrp="1"/>
          </p:cNvSpPr>
          <p:nvPr/>
        </p:nvSpPr>
        <p:spPr>
          <a:xfrm xmlns:a="http://schemas.openxmlformats.org/drawingml/2006/main">
            <a:off x="1485900" y="2476500"/>
            <a:ext cx="3124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E76F51"/>
                </a:solidFill>
              </a:defRPr>
            </a:pPr>
            <a:r>
              <a:rPr sz="1275" b="1" i="0">
                <a:solidFill>
                  <a:srgbClr val="E76F51"/>
                </a:solidFill>
              </a:rPr>
              <a:t>oracle result, including sorted output</a:t>
            </a:r>
          </a:p>
        </p:txBody>
      </p:sp>
      <p:sp>
        <p:nvSpPr>
          <p:cNvPr id="16" name="">
            <a:extLst xmlns:a="http://schemas.openxmlformats.org/drawingml/2006/main">
              <a:ext uri="{FF2B5EF4-FFF2-40B4-BE49-F238E27FC236}">
                <a16:creationId xmlns:a16="http://schemas.microsoft.com/office/drawing/2014/main" id="{E7D30B6C-14DE-4F11-A8E9-E4F7AF5B6DCE}"/>
              </a:ext>
            </a:extLst>
          </p:cNvPr>
          <p:cNvSpPr>
            <a:spLocks xmlns:a="http://schemas.openxmlformats.org/drawingml/2006/main" noGrp="1"/>
          </p:cNvSpPr>
          <p:nvPr/>
        </p:nvSpPr>
        <p:spPr>
          <a:xfrm xmlns:a="http://schemas.openxmlformats.org/drawingml/2006/main">
            <a:off x="7448550" y="2419350"/>
            <a:ext cx="3390900" cy="457200"/>
          </a:xfrm>
          <a:prstGeom xmlns:a="http://schemas.openxmlformats.org/drawingml/2006/main" prst="roundRect">
            <a:avLst>
              <a:gd name="adj" fmla="val 12500"/>
            </a:avLst>
          </a:prstGeom>
          <a:solidFill xmlns:a="http://schemas.openxmlformats.org/drawingml/2006/main">
            <a:srgbClr val="FFFFFF"/>
          </a:solidFill>
          <a:ln xmlns:a="http://schemas.openxmlformats.org/drawingml/2006/main" w="11430">
            <a:solidFill>
              <a:srgbClr val="2A9D8F"/>
            </a:solidFill>
            <a:prstDash val="solid"/>
          </a:ln>
        </p:spPr>
      </p:sp>
      <p:sp>
        <p:nvSpPr>
          <p:cNvPr id="17" name="">
            <a:extLst xmlns:a="http://schemas.openxmlformats.org/drawingml/2006/main">
              <a:ext uri="{FF2B5EF4-FFF2-40B4-BE49-F238E27FC236}">
                <a16:creationId xmlns:a16="http://schemas.microsoft.com/office/drawing/2014/main" id="{7C6F4F46-C3B1-4DB6-B13C-93D2DB0A8CF5}"/>
              </a:ext>
            </a:extLst>
          </p:cNvPr>
          <p:cNvSpPr>
            <a:spLocks xmlns:a="http://schemas.openxmlformats.org/drawingml/2006/main" noGrp="1"/>
          </p:cNvSpPr>
          <p:nvPr/>
        </p:nvSpPr>
        <p:spPr>
          <a:xfrm xmlns:a="http://schemas.openxmlformats.org/drawingml/2006/main">
            <a:off x="7581900" y="2476500"/>
            <a:ext cx="3124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A9D8F"/>
                </a:solidFill>
              </a:defRPr>
            </a:pPr>
            <a:r>
              <a:rPr sz="1275" b="1" i="0">
                <a:solidFill>
                  <a:srgbClr val="2A9D8F"/>
                </a:solidFill>
              </a:rPr>
              <a:t>valid-input certification only</a:t>
            </a:r>
          </a:p>
        </p:txBody>
      </p:sp>
      <p:sp>
        <p:nvSpPr>
          <p:cNvPr id="18" name="">
            <a:extLst xmlns:a="http://schemas.openxmlformats.org/drawingml/2006/main">
              <a:ext uri="{FF2B5EF4-FFF2-40B4-BE49-F238E27FC236}">
                <a16:creationId xmlns:a16="http://schemas.microsoft.com/office/drawing/2014/main" id="{DA62581A-ACA7-4883-B773-3C889A4C366C}"/>
              </a:ext>
            </a:extLst>
          </p:cNvPr>
          <p:cNvSpPr>
            <a:spLocks xmlns:a="http://schemas.openxmlformats.org/drawingml/2006/main" noGrp="1"/>
          </p:cNvSpPr>
          <p:nvPr/>
        </p:nvSpPr>
        <p:spPr>
          <a:xfrm xmlns:a="http://schemas.openxmlformats.org/drawingml/2006/main">
            <a:off x="1104900" y="3276600"/>
            <a:ext cx="3857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746"/>
          </a:bodyPr>
          <a:lstStyle xmlns:a="http://schemas.openxmlformats.org/drawingml/2006/main"/>
          <a:p xmlns:a="http://schemas.openxmlformats.org/drawingml/2006/main">
            <a:pPr algn="ctr">
              <a:lnSpc>
                <a:spcPct val="105000"/>
              </a:lnSpc>
              <a:buNone/>
              <a:defRPr sz="1875" b="1" i="0">
                <a:solidFill>
                  <a:srgbClr val="E76F51"/>
                </a:solidFill>
              </a:defRPr>
            </a:pPr>
            <a:r>
              <a:rPr sz="1875" b="1" i="0">
                <a:solidFill>
                  <a:srgbClr val="E76F51"/>
                </a:solidFill>
              </a:rPr>
              <a:t>Oracle-backed reference pipeline</a:t>
            </a:r>
          </a:p>
        </p:txBody>
      </p:sp>
      <p:sp>
        <p:nvSpPr>
          <p:cNvPr id="19" name="">
            <a:extLst xmlns:a="http://schemas.openxmlformats.org/drawingml/2006/main">
              <a:ext uri="{FF2B5EF4-FFF2-40B4-BE49-F238E27FC236}">
                <a16:creationId xmlns:a16="http://schemas.microsoft.com/office/drawing/2014/main" id="{B6CDC7A0-8A6D-4DDB-BE10-3C1388273DE5}"/>
              </a:ext>
            </a:extLst>
          </p:cNvPr>
          <p:cNvSpPr>
            <a:spLocks xmlns:a="http://schemas.openxmlformats.org/drawingml/2006/main" noGrp="1"/>
          </p:cNvSpPr>
          <p:nvPr/>
        </p:nvSpPr>
        <p:spPr>
          <a:xfrm xmlns:a="http://schemas.openxmlformats.org/drawingml/2006/main">
            <a:off x="1200150" y="3848100"/>
            <a:ext cx="366712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family trees</a:t>
            </a:r>
          </a:p>
          <a:p xmlns:a="http://schemas.openxmlformats.org/drawingml/2006/main">
            <a:pPr algn="ctr">
              <a:lnSpc>
                <a:spcPct val="105000"/>
              </a:lnSpc>
              <a:buNone/>
              <a:defRPr sz="1500" b="0" i="0">
                <a:solidFill>
                  <a:srgbClr val="243B53"/>
                </a:solidFill>
              </a:defRPr>
            </a:pPr>
            <a:r>
              <a:rPr sz="1500" b="0" i="0">
                <a:solidFill>
                  <a:srgbClr val="243B53"/>
                </a:solidFill>
              </a:rPr>
              <a:t>structural information</a:t>
            </a:r>
          </a:p>
          <a:p xmlns:a="http://schemas.openxmlformats.org/drawingml/2006/main">
            <a:pPr algn="ctr">
              <a:lnSpc>
                <a:spcPct val="105000"/>
              </a:lnSpc>
              <a:buNone/>
              <a:defRPr sz="1500" b="0" i="0">
                <a:solidFill>
                  <a:srgbClr val="243B53"/>
                </a:solidFill>
              </a:defRPr>
            </a:pPr>
            <a:r>
              <a:rPr sz="1500" b="0" i="0">
                <a:solidFill>
                  <a:srgbClr val="243B53"/>
                </a:solidFill>
              </a:rPr>
              <a:t>oracle-derived output</a:t>
            </a:r>
          </a:p>
        </p:txBody>
      </p:sp>
      <p:sp>
        <p:nvSpPr>
          <p:cNvPr id="20" name="">
            <a:extLst xmlns:a="http://schemas.openxmlformats.org/drawingml/2006/main">
              <a:ext uri="{FF2B5EF4-FFF2-40B4-BE49-F238E27FC236}">
                <a16:creationId xmlns:a16="http://schemas.microsoft.com/office/drawing/2014/main" id="{ADD2DA64-3722-42B4-B8A7-9CA073E871E9}"/>
              </a:ext>
            </a:extLst>
          </p:cNvPr>
          <p:cNvSpPr>
            <a:spLocks xmlns:a="http://schemas.openxmlformats.org/drawingml/2006/main" noGrp="1"/>
          </p:cNvSpPr>
          <p:nvPr/>
        </p:nvSpPr>
        <p:spPr>
          <a:xfrm xmlns:a="http://schemas.openxmlformats.org/drawingml/2006/main">
            <a:off x="7210425" y="3276600"/>
            <a:ext cx="3857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Paper ordinary-list core</a:t>
            </a:r>
          </a:p>
        </p:txBody>
      </p:sp>
      <p:sp>
        <p:nvSpPr>
          <p:cNvPr id="21" name="">
            <a:extLst xmlns:a="http://schemas.openxmlformats.org/drawingml/2006/main">
              <a:ext uri="{FF2B5EF4-FFF2-40B4-BE49-F238E27FC236}">
                <a16:creationId xmlns:a16="http://schemas.microsoft.com/office/drawing/2014/main" id="{CEEDDA1C-CC25-44F1-A9A5-3099D29EA72E}"/>
              </a:ext>
            </a:extLst>
          </p:cNvPr>
          <p:cNvSpPr>
            <a:spLocks xmlns:a="http://schemas.openxmlformats.org/drawingml/2006/main" noGrp="1"/>
          </p:cNvSpPr>
          <p:nvPr/>
        </p:nvSpPr>
        <p:spPr>
          <a:xfrm xmlns:a="http://schemas.openxmlformats.org/drawingml/2006/main">
            <a:off x="7334250" y="3810000"/>
            <a:ext cx="361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243B53"/>
                </a:solidFill>
              </a:defRPr>
            </a:pPr>
            <a:r>
              <a:rPr sz="1350" b="0" i="0">
                <a:solidFill>
                  <a:srgbClr val="243B53"/>
                </a:solidFill>
              </a:rPr>
              <a:t>input sequence + certified precondition</a:t>
            </a:r>
          </a:p>
          <a:p xmlns:a="http://schemas.openxmlformats.org/drawingml/2006/main">
            <a:pPr algn="ctr">
              <a:lnSpc>
                <a:spcPct val="105000"/>
              </a:lnSpc>
              <a:buNone/>
              <a:defRPr sz="1350" b="0" i="0">
                <a:solidFill>
                  <a:srgbClr val="243B53"/>
                </a:solidFill>
              </a:defRPr>
            </a:pPr>
            <a:r>
              <a:rPr sz="1350" b="0" i="0">
                <a:solidFill>
                  <a:srgbClr val="243B53"/>
                </a:solidFill>
              </a:rPr>
              <a:t>Step 1/2/3 and maintained state</a:t>
            </a:r>
          </a:p>
          <a:p xmlns:a="http://schemas.openxmlformats.org/drawingml/2006/main">
            <a:pPr algn="ctr">
              <a:lnSpc>
                <a:spcPct val="105000"/>
              </a:lnSpc>
              <a:buNone/>
              <a:defRPr sz="1350" b="0" i="0">
                <a:solidFill>
                  <a:srgbClr val="243B53"/>
                </a:solidFill>
              </a:defRPr>
            </a:pPr>
            <a:r>
              <a:rPr sz="1350" b="0" i="0">
                <a:solidFill>
                  <a:srgbClr val="243B53"/>
                </a:solidFill>
              </a:rPr>
              <a:t>output recovered from state</a:t>
            </a:r>
          </a:p>
        </p:txBody>
      </p:sp>
      <p:sp>
        <p:nvSpPr>
          <p:cNvPr id="22" name="">
            <a:extLst xmlns:a="http://schemas.openxmlformats.org/drawingml/2006/main">
              <a:ext uri="{FF2B5EF4-FFF2-40B4-BE49-F238E27FC236}">
                <a16:creationId xmlns:a16="http://schemas.microsoft.com/office/drawing/2014/main" id="{25E8E927-3872-40B3-9129-CE8DEC547C67}"/>
              </a:ext>
            </a:extLst>
          </p:cNvPr>
          <p:cNvSpPr>
            <a:spLocks xmlns:a="http://schemas.openxmlformats.org/drawingml/2006/main" noGrp="1"/>
          </p:cNvSpPr>
          <p:nvPr/>
        </p:nvSpPr>
        <p:spPr>
          <a:xfrm xmlns:a="http://schemas.openxmlformats.org/drawingml/2006/main">
            <a:off x="8172450" y="5010150"/>
            <a:ext cx="2724150" cy="34290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1430">
            <a:solidFill>
              <a:srgbClr val="52606D"/>
            </a:solidFill>
            <a:prstDash val="dash"/>
          </a:ln>
        </p:spPr>
      </p:sp>
      <p:sp>
        <p:nvSpPr>
          <p:cNvPr id="23" name="">
            <a:extLst xmlns:a="http://schemas.openxmlformats.org/drawingml/2006/main">
              <a:ext uri="{FF2B5EF4-FFF2-40B4-BE49-F238E27FC236}">
                <a16:creationId xmlns:a16="http://schemas.microsoft.com/office/drawing/2014/main" id="{0601265E-1099-4F17-B68A-D8AD8A96EF90}"/>
              </a:ext>
            </a:extLst>
          </p:cNvPr>
          <p:cNvSpPr>
            <a:spLocks xmlns:a="http://schemas.openxmlformats.org/drawingml/2006/main" noGrp="1"/>
          </p:cNvSpPr>
          <p:nvPr/>
        </p:nvSpPr>
        <p:spPr>
          <a:xfrm xmlns:a="http://schemas.openxmlformats.org/drawingml/2006/main">
            <a:off x="8267700" y="5057775"/>
            <a:ext cx="2533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1" i="0">
                <a:solidFill>
                  <a:srgbClr val="52606D"/>
                </a:solidFill>
              </a:defRPr>
            </a:pPr>
            <a:r>
              <a:rPr sz="1200" b="1" i="0">
                <a:solidFill>
                  <a:srgbClr val="52606D"/>
                </a:solidFill>
              </a:rPr>
              <a:t>post-call output comparison</a:t>
            </a:r>
          </a:p>
        </p:txBody>
      </p:sp>
      <p:cxnSp>
        <p:nvCxnSpPr>
          <p:cNvPr id="50" name=""/>
          <p:cNvCxnSpPr>
            <a:stCxn xmlns:a="http://schemas.openxmlformats.org/drawingml/2006/main" id="11" idx="2"/>
            <a:endCxn xmlns:a="http://schemas.openxmlformats.org/drawingml/2006/main" id="22" idx="0"/>
          </p:cNvCxnSpPr>
          <p:nvPr/>
        </p:nvCxnSpPr>
        <p:spPr>
          <a:xfrm xmlns:a="http://schemas.openxmlformats.org/drawingml/2006/main">
            <a:off x="9148763" y="4914900"/>
            <a:ext cx="385763" cy="95250"/>
          </a:xfrm>
          <a:prstGeom xmlns:a="http://schemas.openxmlformats.org/drawingml/2006/main" prst="straightConnector1">
            <a:avLst/>
          </a:prstGeom>
          <a:ln xmlns:a="http://schemas.openxmlformats.org/drawingml/2006/main" w="14288">
            <a:solidFill>
              <a:srgbClr val="52606D"/>
            </a:solidFill>
            <a:prstDash val="dash"/>
            <a:tailEnd type="arrow" w="sm" len="sm"/>
          </a:ln>
        </p:spPr>
      </p:cxnSp>
      <p:sp>
        <p:nvSpPr>
          <p:cNvPr id="25" name="">
            <a:extLst xmlns:a="http://schemas.openxmlformats.org/drawingml/2006/main">
              <a:ext uri="{FF2B5EF4-FFF2-40B4-BE49-F238E27FC236}">
                <a16:creationId xmlns:a16="http://schemas.microsoft.com/office/drawing/2014/main" id="{E1295BD3-762F-461D-850E-EBBB827300B7}"/>
              </a:ext>
            </a:extLst>
          </p:cNvPr>
          <p:cNvSpPr>
            <a:spLocks xmlns:a="http://schemas.openxmlformats.org/drawingml/2006/main" noGrp="1"/>
          </p:cNvSpPr>
          <p:nvPr/>
        </p:nvSpPr>
        <p:spPr>
          <a:xfrm xmlns:a="http://schemas.openxmlformats.org/drawingml/2006/main">
            <a:off x="1257300" y="5543550"/>
            <a:ext cx="9677400" cy="514350"/>
          </a:xfrm>
          <a:prstGeom xmlns:a="http://schemas.openxmlformats.org/drawingml/2006/main" prst="roundRect">
            <a:avLst>
              <a:gd name="adj" fmla="val 11111"/>
            </a:avLst>
          </a:prstGeom>
          <a:solidFill xmlns:a="http://schemas.openxmlformats.org/drawingml/2006/main">
            <a:srgbClr val="102A43"/>
          </a:solidFill>
          <a:ln xmlns:a="http://schemas.openxmlformats.org/drawingml/2006/main" w="11430">
            <a:solidFill>
              <a:srgbClr val="102A43"/>
            </a:solidFill>
            <a:prstDash val="solid"/>
          </a:ln>
        </p:spPr>
      </p:sp>
      <p:sp>
        <p:nvSpPr>
          <p:cNvPr id="26" name="">
            <a:extLst xmlns:a="http://schemas.openxmlformats.org/drawingml/2006/main">
              <a:ext uri="{FF2B5EF4-FFF2-40B4-BE49-F238E27FC236}">
                <a16:creationId xmlns:a16="http://schemas.microsoft.com/office/drawing/2014/main" id="{2941A575-029F-44E6-BB0D-2E7EE95F6D98}"/>
              </a:ext>
            </a:extLst>
          </p:cNvPr>
          <p:cNvSpPr>
            <a:spLocks xmlns:a="http://schemas.openxmlformats.org/drawingml/2006/main" noGrp="1"/>
          </p:cNvSpPr>
          <p:nvPr/>
        </p:nvSpPr>
        <p:spPr>
          <a:xfrm xmlns:a="http://schemas.openxmlformats.org/drawingml/2006/main">
            <a:off x="1428750" y="5610225"/>
            <a:ext cx="933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FFFFFF"/>
                </a:solidFill>
              </a:defRPr>
            </a:pPr>
            <a:r>
              <a:rPr sz="1350" b="1" i="0">
                <a:solidFill>
                  <a:srgbClr val="FFFFFF"/>
                </a:solidFill>
              </a:rPr>
              <a:t>Certification before the paper call  |  comparison after the call  |  oracle-sorted output never enters the paper core</a:t>
            </a:r>
          </a:p>
        </p:txBody>
      </p:sp>
    </p:spTree>
    <p:extLst>
      <p:ext uri="{BB962C8B-B14F-4D97-AF65-F5344CB8AC3E}">
        <p14:creationId xmlns:p14="http://schemas.microsoft.com/office/powerpoint/2010/main" val="343137165"/>
      </p:ext>
    </p:extLst>
  </p:cSld>
</p:sld>
</file>

<file path=ppt/slides/slide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C2412C13-D138-4366-BCAE-28057FF26DB6}"/>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a:t>
            </a:r>
          </a:p>
        </p:txBody>
      </p:sp>
      <p:sp>
        <p:nvSpPr>
          <p:cNvPr id="2" name="">
            <a:extLst xmlns:a="http://schemas.openxmlformats.org/drawingml/2006/main">
              <a:ext uri="{FF2B5EF4-FFF2-40B4-BE49-F238E27FC236}">
                <a16:creationId xmlns:a16="http://schemas.microsoft.com/office/drawing/2014/main" id="{FE0A8256-2EFB-4E61-A531-F1A350E2549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Step 1/2/3 control flow and reflected orientation</a:t>
            </a:r>
          </a:p>
        </p:txBody>
      </p:sp>
      <p:sp>
        <p:nvSpPr>
          <p:cNvPr id="3" name="">
            <a:extLst xmlns:a="http://schemas.openxmlformats.org/drawingml/2006/main">
              <a:ext uri="{FF2B5EF4-FFF2-40B4-BE49-F238E27FC236}">
                <a16:creationId xmlns:a16="http://schemas.microsoft.com/office/drawing/2014/main" id="{F61CD364-8AB0-4F7A-96B1-8FEBC2988710}"/>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3F8BB2C5-D515-4323-A41C-C42862C25792}"/>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ADC07D3-183B-4F92-A022-C6537A78115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90850466-EE69-44A8-AB36-6A6817440C3C}"/>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7 / 16</a:t>
            </a:r>
          </a:p>
        </p:txBody>
      </p:sp>
      <p:sp>
        <p:nvSpPr>
          <p:cNvPr id="7" name="">
            <a:extLst xmlns:a="http://schemas.openxmlformats.org/drawingml/2006/main">
              <a:ext uri="{FF2B5EF4-FFF2-40B4-BE49-F238E27FC236}">
                <a16:creationId xmlns:a16="http://schemas.microsoft.com/office/drawing/2014/main" id="{17253AA9-5234-4198-A953-49F395F37998}"/>
              </a:ext>
            </a:extLst>
          </p:cNvPr>
          <p:cNvSpPr>
            <a:spLocks xmlns:a="http://schemas.openxmlformats.org/drawingml/2006/main" noGrp="1"/>
          </p:cNvSpPr>
          <p:nvPr/>
        </p:nvSpPr>
        <p:spPr>
          <a:xfrm xmlns:a="http://schemas.openxmlformats.org/drawingml/2006/main">
            <a:off x="8191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8" name="">
            <a:extLst xmlns:a="http://schemas.openxmlformats.org/drawingml/2006/main">
              <a:ext uri="{FF2B5EF4-FFF2-40B4-BE49-F238E27FC236}">
                <a16:creationId xmlns:a16="http://schemas.microsoft.com/office/drawing/2014/main" id="{D34DC77E-5B0E-481E-83FC-B975EC4F1156}"/>
              </a:ext>
            </a:extLst>
          </p:cNvPr>
          <p:cNvSpPr>
            <a:spLocks xmlns:a="http://schemas.openxmlformats.org/drawingml/2006/main" noGrp="1"/>
          </p:cNvSpPr>
          <p:nvPr/>
        </p:nvSpPr>
        <p:spPr>
          <a:xfrm xmlns:a="http://schemas.openxmlformats.org/drawingml/2006/main">
            <a:off x="8953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Initialize</a:t>
            </a:r>
          </a:p>
        </p:txBody>
      </p:sp>
      <p:sp>
        <p:nvSpPr>
          <p:cNvPr id="9" name="">
            <a:extLst xmlns:a="http://schemas.openxmlformats.org/drawingml/2006/main">
              <a:ext uri="{FF2B5EF4-FFF2-40B4-BE49-F238E27FC236}">
                <a16:creationId xmlns:a16="http://schemas.microsoft.com/office/drawing/2014/main" id="{20B6D780-5287-4A2A-9E4C-7EA477C0F82F}"/>
              </a:ext>
            </a:extLst>
          </p:cNvPr>
          <p:cNvSpPr>
            <a:spLocks xmlns:a="http://schemas.openxmlformats.org/drawingml/2006/main" noGrp="1"/>
          </p:cNvSpPr>
          <p:nvPr/>
        </p:nvSpPr>
        <p:spPr>
          <a:xfrm xmlns:a="http://schemas.openxmlformats.org/drawingml/2006/main">
            <a:off x="9144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order z₁, z₂, z₃</a:t>
            </a:r>
          </a:p>
        </p:txBody>
      </p:sp>
      <p:sp>
        <p:nvSpPr>
          <p:cNvPr id="10" name="">
            <a:extLst xmlns:a="http://schemas.openxmlformats.org/drawingml/2006/main">
              <a:ext uri="{FF2B5EF4-FFF2-40B4-BE49-F238E27FC236}">
                <a16:creationId xmlns:a16="http://schemas.microsoft.com/office/drawing/2014/main" id="{13BB1AD6-DCB8-4811-A92E-4AACF36F4087}"/>
              </a:ext>
            </a:extLst>
          </p:cNvPr>
          <p:cNvSpPr>
            <a:spLocks xmlns:a="http://schemas.openxmlformats.org/drawingml/2006/main" noGrp="1"/>
          </p:cNvSpPr>
          <p:nvPr/>
        </p:nvSpPr>
        <p:spPr>
          <a:xfrm xmlns:a="http://schemas.openxmlformats.org/drawingml/2006/main">
            <a:off x="29527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1" name="">
            <a:extLst xmlns:a="http://schemas.openxmlformats.org/drawingml/2006/main">
              <a:ext uri="{FF2B5EF4-FFF2-40B4-BE49-F238E27FC236}">
                <a16:creationId xmlns:a16="http://schemas.microsoft.com/office/drawing/2014/main" id="{8777D564-F3DD-4C00-8BAE-D19A9DAA205F}"/>
              </a:ext>
            </a:extLst>
          </p:cNvPr>
          <p:cNvSpPr>
            <a:spLocks xmlns:a="http://schemas.openxmlformats.org/drawingml/2006/main" noGrp="1"/>
          </p:cNvSpPr>
          <p:nvPr/>
        </p:nvSpPr>
        <p:spPr>
          <a:xfrm xmlns:a="http://schemas.openxmlformats.org/drawingml/2006/main">
            <a:off x="30289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1</a:t>
            </a:r>
          </a:p>
        </p:txBody>
      </p:sp>
      <p:sp>
        <p:nvSpPr>
          <p:cNvPr id="12" name="">
            <a:extLst xmlns:a="http://schemas.openxmlformats.org/drawingml/2006/main">
              <a:ext uri="{FF2B5EF4-FFF2-40B4-BE49-F238E27FC236}">
                <a16:creationId xmlns:a16="http://schemas.microsoft.com/office/drawing/2014/main" id="{55531557-4C14-4867-94EE-C990E69F5A11}"/>
              </a:ext>
            </a:extLst>
          </p:cNvPr>
          <p:cNvSpPr>
            <a:spLocks xmlns:a="http://schemas.openxmlformats.org/drawingml/2006/main" noGrp="1"/>
          </p:cNvSpPr>
          <p:nvPr/>
        </p:nvSpPr>
        <p:spPr>
          <a:xfrm xmlns:a="http://schemas.openxmlformats.org/drawingml/2006/main">
            <a:off x="30480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79722"/>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predecessor-side boundary</a:t>
            </a:r>
          </a:p>
        </p:txBody>
      </p:sp>
      <p:sp>
        <p:nvSpPr>
          <p:cNvPr id="13" name="">
            <a:extLst xmlns:a="http://schemas.openxmlformats.org/drawingml/2006/main">
              <a:ext uri="{FF2B5EF4-FFF2-40B4-BE49-F238E27FC236}">
                <a16:creationId xmlns:a16="http://schemas.microsoft.com/office/drawing/2014/main" id="{687ADF1A-427B-42C1-BCB3-FFA52D0A7FD1}"/>
              </a:ext>
            </a:extLst>
          </p:cNvPr>
          <p:cNvSpPr>
            <a:spLocks xmlns:a="http://schemas.openxmlformats.org/drawingml/2006/main" noGrp="1"/>
          </p:cNvSpPr>
          <p:nvPr/>
        </p:nvSpPr>
        <p:spPr>
          <a:xfrm xmlns:a="http://schemas.openxmlformats.org/drawingml/2006/main">
            <a:off x="50863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4" name="">
            <a:extLst xmlns:a="http://schemas.openxmlformats.org/drawingml/2006/main">
              <a:ext uri="{FF2B5EF4-FFF2-40B4-BE49-F238E27FC236}">
                <a16:creationId xmlns:a16="http://schemas.microsoft.com/office/drawing/2014/main" id="{D6740C00-CF00-40C0-A707-6EEF698BA207}"/>
              </a:ext>
            </a:extLst>
          </p:cNvPr>
          <p:cNvSpPr>
            <a:spLocks xmlns:a="http://schemas.openxmlformats.org/drawingml/2006/main" noGrp="1"/>
          </p:cNvSpPr>
          <p:nvPr/>
        </p:nvSpPr>
        <p:spPr>
          <a:xfrm xmlns:a="http://schemas.openxmlformats.org/drawingml/2006/main">
            <a:off x="51625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2</a:t>
            </a:r>
          </a:p>
        </p:txBody>
      </p:sp>
      <p:sp>
        <p:nvSpPr>
          <p:cNvPr id="15" name="">
            <a:extLst xmlns:a="http://schemas.openxmlformats.org/drawingml/2006/main">
              <a:ext uri="{FF2B5EF4-FFF2-40B4-BE49-F238E27FC236}">
                <a16:creationId xmlns:a16="http://schemas.microsoft.com/office/drawing/2014/main" id="{4A5F5B7D-DED1-4507-854B-7270204B7FBF}"/>
              </a:ext>
            </a:extLst>
          </p:cNvPr>
          <p:cNvSpPr>
            <a:spLocks xmlns:a="http://schemas.openxmlformats.org/drawingml/2006/main" noGrp="1"/>
          </p:cNvSpPr>
          <p:nvPr/>
        </p:nvSpPr>
        <p:spPr>
          <a:xfrm xmlns:a="http://schemas.openxmlformats.org/drawingml/2006/main">
            <a:off x="51816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6391"/>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successor-side boundary</a:t>
            </a:r>
          </a:p>
        </p:txBody>
      </p:sp>
      <p:sp>
        <p:nvSpPr>
          <p:cNvPr id="16" name="">
            <a:extLst xmlns:a="http://schemas.openxmlformats.org/drawingml/2006/main">
              <a:ext uri="{FF2B5EF4-FFF2-40B4-BE49-F238E27FC236}">
                <a16:creationId xmlns:a16="http://schemas.microsoft.com/office/drawing/2014/main" id="{63236A10-1D0D-4A0E-A3AF-7C4F29802BD6}"/>
              </a:ext>
            </a:extLst>
          </p:cNvPr>
          <p:cNvSpPr>
            <a:spLocks xmlns:a="http://schemas.openxmlformats.org/drawingml/2006/main" noGrp="1"/>
          </p:cNvSpPr>
          <p:nvPr/>
        </p:nvSpPr>
        <p:spPr>
          <a:xfrm xmlns:a="http://schemas.openxmlformats.org/drawingml/2006/main">
            <a:off x="72199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7" name="">
            <a:extLst xmlns:a="http://schemas.openxmlformats.org/drawingml/2006/main">
              <a:ext uri="{FF2B5EF4-FFF2-40B4-BE49-F238E27FC236}">
                <a16:creationId xmlns:a16="http://schemas.microsoft.com/office/drawing/2014/main" id="{B39A619C-3FFB-4372-AC16-7B542A6F470D}"/>
              </a:ext>
            </a:extLst>
          </p:cNvPr>
          <p:cNvSpPr>
            <a:spLocks xmlns:a="http://schemas.openxmlformats.org/drawingml/2006/main" noGrp="1"/>
          </p:cNvSpPr>
          <p:nvPr/>
        </p:nvSpPr>
        <p:spPr>
          <a:xfrm xmlns:a="http://schemas.openxmlformats.org/drawingml/2006/main">
            <a:off x="72961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3(a)</a:t>
            </a:r>
          </a:p>
        </p:txBody>
      </p:sp>
      <p:sp>
        <p:nvSpPr>
          <p:cNvPr id="18" name="">
            <a:extLst xmlns:a="http://schemas.openxmlformats.org/drawingml/2006/main">
              <a:ext uri="{FF2B5EF4-FFF2-40B4-BE49-F238E27FC236}">
                <a16:creationId xmlns:a16="http://schemas.microsoft.com/office/drawing/2014/main" id="{159E49E5-E206-476E-9FE6-C0D0E9D3C888}"/>
              </a:ext>
            </a:extLst>
          </p:cNvPr>
          <p:cNvSpPr>
            <a:spLocks xmlns:a="http://schemas.openxmlformats.org/drawingml/2006/main" noGrp="1"/>
          </p:cNvSpPr>
          <p:nvPr/>
        </p:nvSpPr>
        <p:spPr>
          <a:xfrm xmlns:a="http://schemas.openxmlformats.org/drawingml/2006/main">
            <a:off x="73152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insert new pair</a:t>
            </a:r>
          </a:p>
        </p:txBody>
      </p:sp>
      <p:sp>
        <p:nvSpPr>
          <p:cNvPr id="19" name="">
            <a:extLst xmlns:a="http://schemas.openxmlformats.org/drawingml/2006/main">
              <a:ext uri="{FF2B5EF4-FFF2-40B4-BE49-F238E27FC236}">
                <a16:creationId xmlns:a16="http://schemas.microsoft.com/office/drawing/2014/main" id="{DD3ED06B-F3E8-4578-9B66-EF53B8E7C6CC}"/>
              </a:ext>
            </a:extLst>
          </p:cNvPr>
          <p:cNvSpPr>
            <a:spLocks xmlns:a="http://schemas.openxmlformats.org/drawingml/2006/main" noGrp="1"/>
          </p:cNvSpPr>
          <p:nvPr/>
        </p:nvSpPr>
        <p:spPr>
          <a:xfrm xmlns:a="http://schemas.openxmlformats.org/drawingml/2006/main">
            <a:off x="93535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20" name="">
            <a:extLst xmlns:a="http://schemas.openxmlformats.org/drawingml/2006/main">
              <a:ext uri="{FF2B5EF4-FFF2-40B4-BE49-F238E27FC236}">
                <a16:creationId xmlns:a16="http://schemas.microsoft.com/office/drawing/2014/main" id="{3C88C250-3D14-4DC3-98CF-36DC983A24A7}"/>
              </a:ext>
            </a:extLst>
          </p:cNvPr>
          <p:cNvSpPr>
            <a:spLocks xmlns:a="http://schemas.openxmlformats.org/drawingml/2006/main" noGrp="1"/>
          </p:cNvSpPr>
          <p:nvPr/>
        </p:nvSpPr>
        <p:spPr>
          <a:xfrm xmlns:a="http://schemas.openxmlformats.org/drawingml/2006/main">
            <a:off x="94297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3(b)</a:t>
            </a:r>
          </a:p>
        </p:txBody>
      </p:sp>
      <p:sp>
        <p:nvSpPr>
          <p:cNvPr id="21" name="">
            <a:extLst xmlns:a="http://schemas.openxmlformats.org/drawingml/2006/main">
              <a:ext uri="{FF2B5EF4-FFF2-40B4-BE49-F238E27FC236}">
                <a16:creationId xmlns:a16="http://schemas.microsoft.com/office/drawing/2014/main" id="{DF5A1BD5-3BD5-454C-9977-7F39F1EA0647}"/>
              </a:ext>
            </a:extLst>
          </p:cNvPr>
          <p:cNvSpPr>
            <a:spLocks xmlns:a="http://schemas.openxmlformats.org/drawingml/2006/main" noGrp="1"/>
          </p:cNvSpPr>
          <p:nvPr/>
        </p:nvSpPr>
        <p:spPr>
          <a:xfrm xmlns:a="http://schemas.openxmlformats.org/drawingml/2006/main">
            <a:off x="94488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split + transfer</a:t>
            </a:r>
          </a:p>
        </p:txBody>
      </p:sp>
      <p:sp>
        <p:nvSpPr>
          <p:cNvPr id="22" name="">
            <a:extLst xmlns:a="http://schemas.openxmlformats.org/drawingml/2006/main">
              <a:ext uri="{FF2B5EF4-FFF2-40B4-BE49-F238E27FC236}">
                <a16:creationId xmlns:a16="http://schemas.microsoft.com/office/drawing/2014/main" id="{69ABFCC9-FD52-4A94-A5D6-D74AA43A56C6}"/>
              </a:ext>
            </a:extLst>
          </p:cNvPr>
          <p:cNvSpPr>
            <a:spLocks xmlns:a="http://schemas.openxmlformats.org/drawingml/2006/main" noGrp="1"/>
          </p:cNvSpPr>
          <p:nvPr/>
        </p:nvSpPr>
        <p:spPr>
          <a:xfrm xmlns:a="http://schemas.openxmlformats.org/drawingml/2006/main">
            <a:off x="4762500" y="3009900"/>
            <a:ext cx="2667000" cy="838200"/>
          </a:xfrm>
          <a:prstGeom xmlns:a="http://schemas.openxmlformats.org/drawingml/2006/main" prst="roundRect">
            <a:avLst>
              <a:gd name="adj" fmla="val 9091"/>
            </a:avLst>
          </a:prstGeom>
          <a:solidFill xmlns:a="http://schemas.openxmlformats.org/drawingml/2006/main">
            <a:srgbClr val="EAF1F8"/>
          </a:solidFill>
          <a:ln xmlns:a="http://schemas.openxmlformats.org/drawingml/2006/main" w="19050">
            <a:solidFill>
              <a:srgbClr val="52606D"/>
            </a:solidFill>
            <a:prstDash val="solid"/>
          </a:ln>
        </p:spPr>
      </p:sp>
      <p:sp>
        <p:nvSpPr>
          <p:cNvPr id="23" name="">
            <a:extLst xmlns:a="http://schemas.openxmlformats.org/drawingml/2006/main">
              <a:ext uri="{FF2B5EF4-FFF2-40B4-BE49-F238E27FC236}">
                <a16:creationId xmlns:a16="http://schemas.microsoft.com/office/drawing/2014/main" id="{F27DD430-E767-42A4-9BE4-2B9302F97304}"/>
              </a:ext>
            </a:extLst>
          </p:cNvPr>
          <p:cNvSpPr>
            <a:spLocks xmlns:a="http://schemas.openxmlformats.org/drawingml/2006/main" noGrp="1"/>
          </p:cNvSpPr>
          <p:nvPr/>
        </p:nvSpPr>
        <p:spPr>
          <a:xfrm xmlns:a="http://schemas.openxmlformats.org/drawingml/2006/main">
            <a:off x="4838700" y="3105150"/>
            <a:ext cx="2514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3(c)</a:t>
            </a:r>
          </a:p>
        </p:txBody>
      </p:sp>
      <p:sp>
        <p:nvSpPr>
          <p:cNvPr id="24" name="">
            <a:extLst xmlns:a="http://schemas.openxmlformats.org/drawingml/2006/main">
              <a:ext uri="{FF2B5EF4-FFF2-40B4-BE49-F238E27FC236}">
                <a16:creationId xmlns:a16="http://schemas.microsoft.com/office/drawing/2014/main" id="{4786817E-2D08-4C5C-ABD4-87BDA8CDA85C}"/>
              </a:ext>
            </a:extLst>
          </p:cNvPr>
          <p:cNvSpPr>
            <a:spLocks xmlns:a="http://schemas.openxmlformats.org/drawingml/2006/main" noGrp="1"/>
          </p:cNvSpPr>
          <p:nvPr/>
        </p:nvSpPr>
        <p:spPr>
          <a:xfrm xmlns:a="http://schemas.openxmlformats.org/drawingml/2006/main">
            <a:off x="4857750" y="3409950"/>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2722"/>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insert new point into maintained order</a:t>
            </a:r>
          </a:p>
        </p:txBody>
      </p:sp>
      <p:cxnSp>
        <p:nvCxnSpPr>
          <p:cNvPr id="63" name=""/>
          <p:cNvCxnSpPr>
            <a:stCxn xmlns:a="http://schemas.openxmlformats.org/drawingml/2006/main" id="7" idx="3"/>
            <a:endCxn xmlns:a="http://schemas.openxmlformats.org/drawingml/2006/main" id="10" idx="1"/>
          </p:cNvCxnSpPr>
          <p:nvPr/>
        </p:nvCxnSpPr>
        <p:spPr>
          <a:xfrm xmlns:a="http://schemas.openxmlformats.org/drawingml/2006/main">
            <a:off x="25717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64" name=""/>
          <p:cNvCxnSpPr>
            <a:stCxn xmlns:a="http://schemas.openxmlformats.org/drawingml/2006/main" id="10" idx="3"/>
            <a:endCxn xmlns:a="http://schemas.openxmlformats.org/drawingml/2006/main" id="13" idx="1"/>
          </p:cNvCxnSpPr>
          <p:nvPr/>
        </p:nvCxnSpPr>
        <p:spPr>
          <a:xfrm xmlns:a="http://schemas.openxmlformats.org/drawingml/2006/main">
            <a:off x="47053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65" name=""/>
          <p:cNvCxnSpPr>
            <a:stCxn xmlns:a="http://schemas.openxmlformats.org/drawingml/2006/main" id="13" idx="3"/>
            <a:endCxn xmlns:a="http://schemas.openxmlformats.org/drawingml/2006/main" id="16" idx="1"/>
          </p:cNvCxnSpPr>
          <p:nvPr/>
        </p:nvCxnSpPr>
        <p:spPr>
          <a:xfrm xmlns:a="http://schemas.openxmlformats.org/drawingml/2006/main">
            <a:off x="68389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66" name=""/>
          <p:cNvCxnSpPr>
            <a:stCxn xmlns:a="http://schemas.openxmlformats.org/drawingml/2006/main" id="16" idx="3"/>
            <a:endCxn xmlns:a="http://schemas.openxmlformats.org/drawingml/2006/main" id="19" idx="1"/>
          </p:cNvCxnSpPr>
          <p:nvPr/>
        </p:nvCxnSpPr>
        <p:spPr>
          <a:xfrm xmlns:a="http://schemas.openxmlformats.org/drawingml/2006/main">
            <a:off x="89725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67" name=""/>
          <p:cNvCxnSpPr>
            <a:stCxn xmlns:a="http://schemas.openxmlformats.org/drawingml/2006/main" id="19" idx="2"/>
            <a:endCxn xmlns:a="http://schemas.openxmlformats.org/drawingml/2006/main" id="22" idx="0"/>
          </p:cNvCxnSpPr>
          <p:nvPr/>
        </p:nvCxnSpPr>
        <p:spPr>
          <a:xfrm xmlns:a="http://schemas.openxmlformats.org/drawingml/2006/main" flipH="1">
            <a:off x="6096000" y="2419350"/>
            <a:ext cx="4133850" cy="59055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sp>
        <p:nvSpPr>
          <p:cNvPr id="30" name="">
            <a:extLst xmlns:a="http://schemas.openxmlformats.org/drawingml/2006/main">
              <a:ext uri="{FF2B5EF4-FFF2-40B4-BE49-F238E27FC236}">
                <a16:creationId xmlns:a16="http://schemas.microsoft.com/office/drawing/2014/main" id="{F06BA3CF-F607-4A0B-B6DA-CB027852A35E}"/>
              </a:ext>
            </a:extLst>
          </p:cNvPr>
          <p:cNvSpPr>
            <a:spLocks xmlns:a="http://schemas.openxmlformats.org/drawingml/2006/main" noGrp="1"/>
          </p:cNvSpPr>
          <p:nvPr/>
        </p:nvSpPr>
        <p:spPr>
          <a:xfrm xmlns:a="http://schemas.openxmlformats.org/drawingml/2006/main">
            <a:off x="781050" y="4476750"/>
            <a:ext cx="3105150" cy="1066800"/>
          </a:xfrm>
          <a:prstGeom xmlns:a="http://schemas.openxmlformats.org/drawingml/2006/main" prst="roundRect">
            <a:avLst>
              <a:gd name="adj" fmla="val 7143"/>
            </a:avLst>
          </a:prstGeom>
          <a:solidFill xmlns:a="http://schemas.openxmlformats.org/drawingml/2006/main">
            <a:srgbClr val="EAF1F8"/>
          </a:solidFill>
          <a:ln xmlns:a="http://schemas.openxmlformats.org/drawingml/2006/main" w="14288">
            <a:solidFill>
              <a:srgbClr val="102A43"/>
            </a:solidFill>
            <a:prstDash val="solid"/>
          </a:ln>
        </p:spPr>
      </p:sp>
      <p:sp>
        <p:nvSpPr>
          <p:cNvPr id="31" name="">
            <a:extLst xmlns:a="http://schemas.openxmlformats.org/drawingml/2006/main">
              <a:ext uri="{FF2B5EF4-FFF2-40B4-BE49-F238E27FC236}">
                <a16:creationId xmlns:a16="http://schemas.microsoft.com/office/drawing/2014/main" id="{FA24A531-E165-4A5E-ACC2-FF1070A8DC3A}"/>
              </a:ext>
            </a:extLst>
          </p:cNvPr>
          <p:cNvSpPr>
            <a:spLocks xmlns:a="http://schemas.openxmlformats.org/drawingml/2006/main" noGrp="1"/>
          </p:cNvSpPr>
          <p:nvPr/>
        </p:nvSpPr>
        <p:spPr>
          <a:xfrm xmlns:a="http://schemas.openxmlformats.org/drawingml/2006/main">
            <a:off x="914400"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Explicit source rule</a:t>
            </a:r>
          </a:p>
        </p:txBody>
      </p:sp>
      <p:sp>
        <p:nvSpPr>
          <p:cNvPr id="32" name="">
            <a:extLst xmlns:a="http://schemas.openxmlformats.org/drawingml/2006/main">
              <a:ext uri="{FF2B5EF4-FFF2-40B4-BE49-F238E27FC236}">
                <a16:creationId xmlns:a16="http://schemas.microsoft.com/office/drawing/2014/main" id="{B170ED51-4B21-4D0E-9690-4E05435FA1B8}"/>
              </a:ext>
            </a:extLst>
          </p:cNvPr>
          <p:cNvSpPr>
            <a:spLocks xmlns:a="http://schemas.openxmlformats.org/drawingml/2006/main" noGrp="1"/>
          </p:cNvSpPr>
          <p:nvPr/>
        </p:nvSpPr>
        <p:spPr>
          <a:xfrm xmlns:a="http://schemas.openxmlformats.org/drawingml/2006/main">
            <a:off x="952500"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Increasing Step 1/2/3 structure</a:t>
            </a:r>
          </a:p>
        </p:txBody>
      </p:sp>
      <p:sp>
        <p:nvSpPr>
          <p:cNvPr id="33" name="">
            <a:extLst xmlns:a="http://schemas.openxmlformats.org/drawingml/2006/main">
              <a:ext uri="{FF2B5EF4-FFF2-40B4-BE49-F238E27FC236}">
                <a16:creationId xmlns:a16="http://schemas.microsoft.com/office/drawing/2014/main" id="{4CCD361C-C50F-4D6C-AC74-F194F01ED0BD}"/>
              </a:ext>
            </a:extLst>
          </p:cNvPr>
          <p:cNvSpPr>
            <a:spLocks xmlns:a="http://schemas.openxmlformats.org/drawingml/2006/main" noGrp="1"/>
          </p:cNvSpPr>
          <p:nvPr/>
        </p:nvSpPr>
        <p:spPr>
          <a:xfrm xmlns:a="http://schemas.openxmlformats.org/drawingml/2006/main">
            <a:off x="4257675" y="4476750"/>
            <a:ext cx="3105150" cy="1066800"/>
          </a:xfrm>
          <a:prstGeom xmlns:a="http://schemas.openxmlformats.org/drawingml/2006/main" prst="roundRect">
            <a:avLst>
              <a:gd name="adj" fmla="val 7143"/>
            </a:avLst>
          </a:prstGeom>
          <a:solidFill xmlns:a="http://schemas.openxmlformats.org/drawingml/2006/main">
            <a:srgbClr val="E8F5F3"/>
          </a:solidFill>
          <a:ln xmlns:a="http://schemas.openxmlformats.org/drawingml/2006/main" w="14288">
            <a:solidFill>
              <a:srgbClr val="2A9D8F"/>
            </a:solidFill>
            <a:prstDash val="solid"/>
          </a:ln>
        </p:spPr>
      </p:sp>
      <p:sp>
        <p:nvSpPr>
          <p:cNvPr id="34" name="">
            <a:extLst xmlns:a="http://schemas.openxmlformats.org/drawingml/2006/main">
              <a:ext uri="{FF2B5EF4-FFF2-40B4-BE49-F238E27FC236}">
                <a16:creationId xmlns:a16="http://schemas.microsoft.com/office/drawing/2014/main" id="{77B9DF26-4948-4CDC-A892-9333C07DE774}"/>
              </a:ext>
            </a:extLst>
          </p:cNvPr>
          <p:cNvSpPr>
            <a:spLocks xmlns:a="http://schemas.openxmlformats.org/drawingml/2006/main" noGrp="1"/>
          </p:cNvSpPr>
          <p:nvPr/>
        </p:nvSpPr>
        <p:spPr>
          <a:xfrm xmlns:a="http://schemas.openxmlformats.org/drawingml/2006/main">
            <a:off x="4391025"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Symmetric reconstruction</a:t>
            </a:r>
          </a:p>
        </p:txBody>
      </p:sp>
      <p:sp>
        <p:nvSpPr>
          <p:cNvPr id="35" name="">
            <a:extLst xmlns:a="http://schemas.openxmlformats.org/drawingml/2006/main">
              <a:ext uri="{FF2B5EF4-FFF2-40B4-BE49-F238E27FC236}">
                <a16:creationId xmlns:a16="http://schemas.microsoft.com/office/drawing/2014/main" id="{EB71DF38-3734-483B-A0BE-D7897D1CEFEF}"/>
              </a:ext>
            </a:extLst>
          </p:cNvPr>
          <p:cNvSpPr>
            <a:spLocks xmlns:a="http://schemas.openxmlformats.org/drawingml/2006/main" noGrp="1"/>
          </p:cNvSpPr>
          <p:nvPr/>
        </p:nvSpPr>
        <p:spPr>
          <a:xfrm xmlns:a="http://schemas.openxmlformats.org/drawingml/2006/main">
            <a:off x="4429125"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Reflected decreasing orientation</a:t>
            </a:r>
          </a:p>
        </p:txBody>
      </p:sp>
      <p:sp>
        <p:nvSpPr>
          <p:cNvPr id="36" name="">
            <a:extLst xmlns:a="http://schemas.openxmlformats.org/drawingml/2006/main">
              <a:ext uri="{FF2B5EF4-FFF2-40B4-BE49-F238E27FC236}">
                <a16:creationId xmlns:a16="http://schemas.microsoft.com/office/drawing/2014/main" id="{17BDA841-FBF6-470B-A02A-5D04638FFC93}"/>
              </a:ext>
            </a:extLst>
          </p:cNvPr>
          <p:cNvSpPr>
            <a:spLocks xmlns:a="http://schemas.openxmlformats.org/drawingml/2006/main" noGrp="1"/>
          </p:cNvSpPr>
          <p:nvPr/>
        </p:nvSpPr>
        <p:spPr>
          <a:xfrm xmlns:a="http://schemas.openxmlformats.org/drawingml/2006/main">
            <a:off x="7734300" y="4476750"/>
            <a:ext cx="3105150" cy="1066800"/>
          </a:xfrm>
          <a:prstGeom xmlns:a="http://schemas.openxmlformats.org/drawingml/2006/main" prst="roundRect">
            <a:avLst>
              <a:gd name="adj" fmla="val 7143"/>
            </a:avLst>
          </a:prstGeom>
          <a:solidFill xmlns:a="http://schemas.openxmlformats.org/drawingml/2006/main">
            <a:srgbClr val="FCEEEA"/>
          </a:solidFill>
          <a:ln xmlns:a="http://schemas.openxmlformats.org/drawingml/2006/main" w="14288">
            <a:solidFill>
              <a:srgbClr val="E76F51"/>
            </a:solidFill>
            <a:prstDash val="solid"/>
          </a:ln>
        </p:spPr>
      </p:sp>
      <p:sp>
        <p:nvSpPr>
          <p:cNvPr id="37" name="">
            <a:extLst xmlns:a="http://schemas.openxmlformats.org/drawingml/2006/main">
              <a:ext uri="{FF2B5EF4-FFF2-40B4-BE49-F238E27FC236}">
                <a16:creationId xmlns:a16="http://schemas.microsoft.com/office/drawing/2014/main" id="{AF8E8744-DDA7-4AED-ADEC-E4524151F365}"/>
              </a:ext>
            </a:extLst>
          </p:cNvPr>
          <p:cNvSpPr>
            <a:spLocks xmlns:a="http://schemas.openxmlformats.org/drawingml/2006/main" noGrp="1"/>
          </p:cNvSpPr>
          <p:nvPr/>
        </p:nvSpPr>
        <p:spPr>
          <a:xfrm xmlns:a="http://schemas.openxmlformats.org/drawingml/2006/main">
            <a:off x="7867650"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E76F51"/>
                </a:solidFill>
              </a:defRPr>
            </a:pPr>
            <a:r>
              <a:rPr sz="1425" b="1" i="0">
                <a:solidFill>
                  <a:srgbClr val="E76F51"/>
                </a:solidFill>
              </a:rPr>
              <a:t>Executable clarifications</a:t>
            </a:r>
          </a:p>
        </p:txBody>
      </p:sp>
      <p:sp>
        <p:nvSpPr>
          <p:cNvPr id="38" name="">
            <a:extLst xmlns:a="http://schemas.openxmlformats.org/drawingml/2006/main">
              <a:ext uri="{FF2B5EF4-FFF2-40B4-BE49-F238E27FC236}">
                <a16:creationId xmlns:a16="http://schemas.microsoft.com/office/drawing/2014/main" id="{872FB400-5206-4FE9-916A-41161B9E4CF8}"/>
              </a:ext>
            </a:extLst>
          </p:cNvPr>
          <p:cNvSpPr>
            <a:spLocks xmlns:a="http://schemas.openxmlformats.org/drawingml/2006/main" noGrp="1"/>
          </p:cNvSpPr>
          <p:nvPr/>
        </p:nvSpPr>
        <p:spPr>
          <a:xfrm xmlns:a="http://schemas.openxmlformats.org/drawingml/2006/main">
            <a:off x="7905750"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8702"/>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Geometric endpoint and odd-index z₁ anchor</a:t>
            </a:r>
          </a:p>
        </p:txBody>
      </p:sp>
    </p:spTree>
    <p:extLst>
      <p:ext uri="{BB962C8B-B14F-4D97-AF65-F5344CB8AC3E}">
        <p14:creationId xmlns:p14="http://schemas.microsoft.com/office/powerpoint/2010/main" val="680686428"/>
      </p:ext>
    </p:extLst>
  </p:cSld>
</p:sld>
</file>

<file path=ppt/slides/slide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DFF3B44-2D4C-4FA8-A131-23017F1501A8}"/>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 ISSUE I</a:t>
            </a:r>
          </a:p>
        </p:txBody>
      </p:sp>
      <p:sp>
        <p:nvSpPr>
          <p:cNvPr id="2" name="">
            <a:extLst xmlns:a="http://schemas.openxmlformats.org/drawingml/2006/main">
              <a:ext uri="{FF2B5EF4-FFF2-40B4-BE49-F238E27FC236}">
                <a16:creationId xmlns:a16="http://schemas.microsoft.com/office/drawing/2014/main" id="{CD48931C-18DB-4BC2-A99E-15A3E2C391AC}"/>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546"/>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Step 3(c) uses the geometric extreme, not the second stored endpoint</a:t>
            </a:r>
          </a:p>
        </p:txBody>
      </p:sp>
      <p:sp>
        <p:nvSpPr>
          <p:cNvPr id="3" name="">
            <a:extLst xmlns:a="http://schemas.openxmlformats.org/drawingml/2006/main">
              <a:ext uri="{FF2B5EF4-FFF2-40B4-BE49-F238E27FC236}">
                <a16:creationId xmlns:a16="http://schemas.microsoft.com/office/drawing/2014/main" id="{F419E47B-48ED-4711-ADA0-2C021B89FB8B}"/>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24E6DC67-6361-4B97-AB8C-D78AA8FDF738}"/>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6184973-AF41-4A64-BEDB-D02EBB853D1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FC66B9FD-C1FA-42E5-BADA-DB90560B0E1D}"/>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8 / 16</a:t>
            </a:r>
          </a:p>
        </p:txBody>
      </p:sp>
      <p:sp>
        <p:nvSpPr>
          <p:cNvPr id="7" name="">
            <a:extLst xmlns:a="http://schemas.openxmlformats.org/drawingml/2006/main">
              <a:ext uri="{FF2B5EF4-FFF2-40B4-BE49-F238E27FC236}">
                <a16:creationId xmlns:a16="http://schemas.microsoft.com/office/drawing/2014/main" id="{6A2A90DC-320C-4888-9121-FCA32F31E2F4}"/>
              </a:ext>
            </a:extLst>
          </p:cNvPr>
          <p:cNvSpPr>
            <a:spLocks xmlns:a="http://schemas.openxmlformats.org/drawingml/2006/main" noGrp="1"/>
          </p:cNvSpPr>
          <p:nvPr/>
        </p:nvSpPr>
        <p:spPr>
          <a:xfrm xmlns:a="http://schemas.openxmlformats.org/drawingml/2006/main">
            <a:off x="800100" y="148590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Input prefix</a:t>
            </a:r>
          </a:p>
        </p:txBody>
      </p:sp>
      <p:sp>
        <p:nvSpPr>
          <p:cNvPr id="8" name="">
            <a:extLst xmlns:a="http://schemas.openxmlformats.org/drawingml/2006/main">
              <a:ext uri="{FF2B5EF4-FFF2-40B4-BE49-F238E27FC236}">
                <a16:creationId xmlns:a16="http://schemas.microsoft.com/office/drawing/2014/main" id="{4F6893B1-2A7E-4DBF-AA1E-63A716F9B86F}"/>
              </a:ext>
            </a:extLst>
          </p:cNvPr>
          <p:cNvSpPr>
            <a:spLocks xmlns:a="http://schemas.openxmlformats.org/drawingml/2006/main" noGrp="1"/>
          </p:cNvSpPr>
          <p:nvPr/>
        </p:nvSpPr>
        <p:spPr>
          <a:xfrm xmlns:a="http://schemas.openxmlformats.org/drawingml/2006/main">
            <a:off x="800100" y="17907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2400" b="1" i="0">
                <a:solidFill>
                  <a:srgbClr val="102A43"/>
                </a:solidFill>
              </a:defRPr>
            </a:pPr>
            <a:r>
              <a:rPr sz="2400" b="1" i="0">
                <a:solidFill>
                  <a:srgbClr val="102A43"/>
                </a:solidFill>
              </a:rPr>
              <a:t>(3, 2, 1, 4)</a:t>
            </a:r>
          </a:p>
        </p:txBody>
      </p:sp>
      <p:sp>
        <p:nvSpPr>
          <p:cNvPr id="9" name="">
            <a:extLst xmlns:a="http://schemas.openxmlformats.org/drawingml/2006/main">
              <a:ext uri="{FF2B5EF4-FFF2-40B4-BE49-F238E27FC236}">
                <a16:creationId xmlns:a16="http://schemas.microsoft.com/office/drawing/2014/main" id="{F0590AAD-B774-481E-A256-A798AEB8F06B}"/>
              </a:ext>
            </a:extLst>
          </p:cNvPr>
          <p:cNvSpPr>
            <a:spLocks xmlns:a="http://schemas.openxmlformats.org/drawingml/2006/main" noGrp="1"/>
          </p:cNvSpPr>
          <p:nvPr/>
        </p:nvSpPr>
        <p:spPr>
          <a:xfrm xmlns:a="http://schemas.openxmlformats.org/drawingml/2006/main">
            <a:off x="800100" y="241935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Acquired pair</a:t>
            </a:r>
          </a:p>
        </p:txBody>
      </p:sp>
      <p:sp>
        <p:nvSpPr>
          <p:cNvPr id="10" name="">
            <a:extLst xmlns:a="http://schemas.openxmlformats.org/drawingml/2006/main">
              <a:ext uri="{FF2B5EF4-FFF2-40B4-BE49-F238E27FC236}">
                <a16:creationId xmlns:a16="http://schemas.microsoft.com/office/drawing/2014/main" id="{285D6303-2CDC-4E48-968D-61E61CF57A20}"/>
              </a:ext>
            </a:extLst>
          </p:cNvPr>
          <p:cNvSpPr>
            <a:spLocks xmlns:a="http://schemas.openxmlformats.org/drawingml/2006/main" noGrp="1"/>
          </p:cNvSpPr>
          <p:nvPr/>
        </p:nvSpPr>
        <p:spPr>
          <a:xfrm xmlns:a="http://schemas.openxmlformats.org/drawingml/2006/main">
            <a:off x="800100" y="27241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2250" b="1" i="0">
                <a:solidFill>
                  <a:srgbClr val="E76F51"/>
                </a:solidFill>
              </a:defRPr>
            </a:pPr>
            <a:r>
              <a:rPr sz="2250" b="1" i="0">
                <a:solidFill>
                  <a:srgbClr val="E76F51"/>
                </a:solidFill>
              </a:rPr>
              <a:t>P₂ = (3, 2)</a:t>
            </a:r>
          </a:p>
        </p:txBody>
      </p:sp>
      <p:sp>
        <p:nvSpPr>
          <p:cNvPr id="11" name="">
            <a:extLst xmlns:a="http://schemas.openxmlformats.org/drawingml/2006/main">
              <a:ext uri="{FF2B5EF4-FFF2-40B4-BE49-F238E27FC236}">
                <a16:creationId xmlns:a16="http://schemas.microsoft.com/office/drawing/2014/main" id="{4FB1025A-AD69-4FCF-BA13-1224256206B9}"/>
              </a:ext>
            </a:extLst>
          </p:cNvPr>
          <p:cNvSpPr>
            <a:spLocks xmlns:a="http://schemas.openxmlformats.org/drawingml/2006/main" noGrp="1"/>
          </p:cNvSpPr>
          <p:nvPr/>
        </p:nvSpPr>
        <p:spPr>
          <a:xfrm xmlns:a="http://schemas.openxmlformats.org/drawingml/2006/main">
            <a:off x="3905250" y="2400300"/>
            <a:ext cx="6477000" cy="9525"/>
          </a:xfrm>
          <a:prstGeom xmlns:a="http://schemas.openxmlformats.org/drawingml/2006/main" prst="line">
            <a:avLst/>
          </a:prstGeom>
          <a:noFill xmlns:a="http://schemas.openxmlformats.org/drawingml/2006/main"/>
          <a:ln xmlns:a="http://schemas.openxmlformats.org/drawingml/2006/main" w="28575">
            <a:solidFill>
              <a:srgbClr val="52606D"/>
            </a:solidFill>
            <a:prstDash val="solid"/>
          </a:ln>
        </p:spPr>
      </p:sp>
      <p:sp>
        <p:nvSpPr>
          <p:cNvPr id="12" name="">
            <a:extLst xmlns:a="http://schemas.openxmlformats.org/drawingml/2006/main">
              <a:ext uri="{FF2B5EF4-FFF2-40B4-BE49-F238E27FC236}">
                <a16:creationId xmlns:a16="http://schemas.microsoft.com/office/drawing/2014/main" id="{C0AED91A-5AE0-4F60-9BF1-AAFEEA33B3F6}"/>
              </a:ext>
            </a:extLst>
          </p:cNvPr>
          <p:cNvSpPr>
            <a:spLocks xmlns:a="http://schemas.openxmlformats.org/drawingml/2006/main" noGrp="1"/>
          </p:cNvSpPr>
          <p:nvPr/>
        </p:nvSpPr>
        <p:spPr>
          <a:xfrm xmlns:a="http://schemas.openxmlformats.org/drawingml/2006/main">
            <a:off x="4095750" y="2209800"/>
            <a:ext cx="381000" cy="381000"/>
          </a:xfrm>
          <a:prstGeom xmlns:a="http://schemas.openxmlformats.org/drawingml/2006/main" prst="ellipse">
            <a:avLst/>
          </a:prstGeom>
          <a:solidFill xmlns:a="http://schemas.openxmlformats.org/drawingml/2006/main">
            <a:srgbClr val="FFFFFF"/>
          </a:solidFill>
          <a:ln xmlns:a="http://schemas.openxmlformats.org/drawingml/2006/main" w="19050">
            <a:solidFill>
              <a:srgbClr val="52606D"/>
            </a:solidFill>
            <a:prstDash val="solid"/>
          </a:ln>
        </p:spPr>
      </p:sp>
      <p:sp>
        <p:nvSpPr>
          <p:cNvPr id="13" name="">
            <a:extLst xmlns:a="http://schemas.openxmlformats.org/drawingml/2006/main">
              <a:ext uri="{FF2B5EF4-FFF2-40B4-BE49-F238E27FC236}">
                <a16:creationId xmlns:a16="http://schemas.microsoft.com/office/drawing/2014/main" id="{0BC3307D-200F-4376-A1CE-1F4E3379FB41}"/>
              </a:ext>
            </a:extLst>
          </p:cNvPr>
          <p:cNvSpPr>
            <a:spLocks xmlns:a="http://schemas.openxmlformats.org/drawingml/2006/main" noGrp="1"/>
          </p:cNvSpPr>
          <p:nvPr/>
        </p:nvSpPr>
        <p:spPr>
          <a:xfrm xmlns:a="http://schemas.openxmlformats.org/drawingml/2006/main">
            <a:off x="4095750"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1</a:t>
            </a:r>
          </a:p>
        </p:txBody>
      </p:sp>
      <p:sp>
        <p:nvSpPr>
          <p:cNvPr id="14" name="">
            <a:extLst xmlns:a="http://schemas.openxmlformats.org/drawingml/2006/main">
              <a:ext uri="{FF2B5EF4-FFF2-40B4-BE49-F238E27FC236}">
                <a16:creationId xmlns:a16="http://schemas.microsoft.com/office/drawing/2014/main" id="{1F4CD8B4-00F7-41BF-979A-42450A2C1663}"/>
              </a:ext>
            </a:extLst>
          </p:cNvPr>
          <p:cNvSpPr>
            <a:spLocks xmlns:a="http://schemas.openxmlformats.org/drawingml/2006/main" noGrp="1"/>
          </p:cNvSpPr>
          <p:nvPr/>
        </p:nvSpPr>
        <p:spPr>
          <a:xfrm xmlns:a="http://schemas.openxmlformats.org/drawingml/2006/main">
            <a:off x="6048375" y="2209800"/>
            <a:ext cx="381000" cy="381000"/>
          </a:xfrm>
          <a:prstGeom xmlns:a="http://schemas.openxmlformats.org/drawingml/2006/main" prst="ellipse">
            <a:avLst/>
          </a:prstGeom>
          <a:solidFill xmlns:a="http://schemas.openxmlformats.org/drawingml/2006/main">
            <a:srgbClr val="FCEEEA"/>
          </a:solidFill>
          <a:ln xmlns:a="http://schemas.openxmlformats.org/drawingml/2006/main" w="19050">
            <a:solidFill>
              <a:srgbClr val="E76F51"/>
            </a:solidFill>
            <a:prstDash val="solid"/>
          </a:ln>
        </p:spPr>
      </p:sp>
      <p:sp>
        <p:nvSpPr>
          <p:cNvPr id="15" name="">
            <a:extLst xmlns:a="http://schemas.openxmlformats.org/drawingml/2006/main">
              <a:ext uri="{FF2B5EF4-FFF2-40B4-BE49-F238E27FC236}">
                <a16:creationId xmlns:a16="http://schemas.microsoft.com/office/drawing/2014/main" id="{B5F06001-2DE3-4FEF-8029-0EDFAE69D81F}"/>
              </a:ext>
            </a:extLst>
          </p:cNvPr>
          <p:cNvSpPr>
            <a:spLocks xmlns:a="http://schemas.openxmlformats.org/drawingml/2006/main" noGrp="1"/>
          </p:cNvSpPr>
          <p:nvPr/>
        </p:nvSpPr>
        <p:spPr>
          <a:xfrm xmlns:a="http://schemas.openxmlformats.org/drawingml/2006/main">
            <a:off x="6048375"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2</a:t>
            </a:r>
          </a:p>
        </p:txBody>
      </p:sp>
      <p:sp>
        <p:nvSpPr>
          <p:cNvPr id="16" name="">
            <a:extLst xmlns:a="http://schemas.openxmlformats.org/drawingml/2006/main">
              <a:ext uri="{FF2B5EF4-FFF2-40B4-BE49-F238E27FC236}">
                <a16:creationId xmlns:a16="http://schemas.microsoft.com/office/drawing/2014/main" id="{658EC519-6518-4C06-BD7D-8CE7F3EA9283}"/>
              </a:ext>
            </a:extLst>
          </p:cNvPr>
          <p:cNvSpPr>
            <a:spLocks xmlns:a="http://schemas.openxmlformats.org/drawingml/2006/main" noGrp="1"/>
          </p:cNvSpPr>
          <p:nvPr/>
        </p:nvSpPr>
        <p:spPr>
          <a:xfrm xmlns:a="http://schemas.openxmlformats.org/drawingml/2006/main">
            <a:off x="8001000" y="2209800"/>
            <a:ext cx="381000" cy="381000"/>
          </a:xfrm>
          <a:prstGeom xmlns:a="http://schemas.openxmlformats.org/drawingml/2006/main" prst="ellipse">
            <a:avLst/>
          </a:prstGeom>
          <a:solidFill xmlns:a="http://schemas.openxmlformats.org/drawingml/2006/main">
            <a:srgbClr val="E8F5F3"/>
          </a:solidFill>
          <a:ln xmlns:a="http://schemas.openxmlformats.org/drawingml/2006/main" w="19050">
            <a:solidFill>
              <a:srgbClr val="2A9D8F"/>
            </a:solidFill>
            <a:prstDash val="solid"/>
          </a:ln>
        </p:spPr>
      </p:sp>
      <p:sp>
        <p:nvSpPr>
          <p:cNvPr id="17" name="">
            <a:extLst xmlns:a="http://schemas.openxmlformats.org/drawingml/2006/main">
              <a:ext uri="{FF2B5EF4-FFF2-40B4-BE49-F238E27FC236}">
                <a16:creationId xmlns:a16="http://schemas.microsoft.com/office/drawing/2014/main" id="{D2D70831-D955-497F-9A92-70C9295D439E}"/>
              </a:ext>
            </a:extLst>
          </p:cNvPr>
          <p:cNvSpPr>
            <a:spLocks xmlns:a="http://schemas.openxmlformats.org/drawingml/2006/main" noGrp="1"/>
          </p:cNvSpPr>
          <p:nvPr/>
        </p:nvSpPr>
        <p:spPr>
          <a:xfrm xmlns:a="http://schemas.openxmlformats.org/drawingml/2006/main">
            <a:off x="8001000"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3</a:t>
            </a:r>
          </a:p>
        </p:txBody>
      </p:sp>
      <p:sp>
        <p:nvSpPr>
          <p:cNvPr id="18" name="">
            <a:extLst xmlns:a="http://schemas.openxmlformats.org/drawingml/2006/main">
              <a:ext uri="{FF2B5EF4-FFF2-40B4-BE49-F238E27FC236}">
                <a16:creationId xmlns:a16="http://schemas.microsoft.com/office/drawing/2014/main" id="{9AE9C38F-25F3-45CD-AEF9-F2D3E9866880}"/>
              </a:ext>
            </a:extLst>
          </p:cNvPr>
          <p:cNvSpPr>
            <a:spLocks xmlns:a="http://schemas.openxmlformats.org/drawingml/2006/main" noGrp="1"/>
          </p:cNvSpPr>
          <p:nvPr/>
        </p:nvSpPr>
        <p:spPr>
          <a:xfrm xmlns:a="http://schemas.openxmlformats.org/drawingml/2006/main">
            <a:off x="9953625" y="2209800"/>
            <a:ext cx="381000" cy="381000"/>
          </a:xfrm>
          <a:prstGeom xmlns:a="http://schemas.openxmlformats.org/drawingml/2006/main" prst="ellipse">
            <a:avLst/>
          </a:prstGeom>
          <a:solidFill xmlns:a="http://schemas.openxmlformats.org/drawingml/2006/main">
            <a:srgbClr val="FFFFFF"/>
          </a:solidFill>
          <a:ln xmlns:a="http://schemas.openxmlformats.org/drawingml/2006/main" w="19050">
            <a:solidFill>
              <a:srgbClr val="52606D"/>
            </a:solidFill>
            <a:prstDash val="solid"/>
          </a:ln>
        </p:spPr>
      </p:sp>
      <p:sp>
        <p:nvSpPr>
          <p:cNvPr id="19" name="">
            <a:extLst xmlns:a="http://schemas.openxmlformats.org/drawingml/2006/main">
              <a:ext uri="{FF2B5EF4-FFF2-40B4-BE49-F238E27FC236}">
                <a16:creationId xmlns:a16="http://schemas.microsoft.com/office/drawing/2014/main" id="{C463F82C-89EF-42B5-A761-05B4C940D2B3}"/>
              </a:ext>
            </a:extLst>
          </p:cNvPr>
          <p:cNvSpPr>
            <a:spLocks xmlns:a="http://schemas.openxmlformats.org/drawingml/2006/main" noGrp="1"/>
          </p:cNvSpPr>
          <p:nvPr/>
        </p:nvSpPr>
        <p:spPr>
          <a:xfrm xmlns:a="http://schemas.openxmlformats.org/drawingml/2006/main">
            <a:off x="9953625"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4</a:t>
            </a:r>
          </a:p>
        </p:txBody>
      </p:sp>
      <p:sp>
        <p:nvSpPr>
          <p:cNvPr id="20" name="">
            <a:extLst xmlns:a="http://schemas.openxmlformats.org/drawingml/2006/main">
              <a:ext uri="{FF2B5EF4-FFF2-40B4-BE49-F238E27FC236}">
                <a16:creationId xmlns:a16="http://schemas.microsoft.com/office/drawing/2014/main" id="{EAAE72FB-3EFA-438F-9152-DFCE9A8BEBC3}"/>
              </a:ext>
            </a:extLst>
          </p:cNvPr>
          <p:cNvSpPr>
            <a:spLocks xmlns:a="http://schemas.openxmlformats.org/drawingml/2006/main" noGrp="1"/>
          </p:cNvSpPr>
          <p:nvPr/>
        </p:nvSpPr>
        <p:spPr>
          <a:xfrm xmlns:a="http://schemas.openxmlformats.org/drawingml/2006/main">
            <a:off x="6858000" y="158115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stored direction 3 → 2</a:t>
            </a:r>
          </a:p>
        </p:txBody>
      </p:sp>
      <p:sp>
        <p:nvSpPr>
          <p:cNvPr id="21" name="">
            <a:extLst xmlns:a="http://schemas.openxmlformats.org/drawingml/2006/main">
              <a:ext uri="{FF2B5EF4-FFF2-40B4-BE49-F238E27FC236}">
                <a16:creationId xmlns:a16="http://schemas.microsoft.com/office/drawing/2014/main" id="{AF06E509-04CD-4FB0-B8B8-6C4898958FC7}"/>
              </a:ext>
            </a:extLst>
          </p:cNvPr>
          <p:cNvSpPr>
            <a:spLocks xmlns:a="http://schemas.openxmlformats.org/drawingml/2006/main" noGrp="1"/>
          </p:cNvSpPr>
          <p:nvPr/>
        </p:nvSpPr>
        <p:spPr>
          <a:xfrm xmlns:a="http://schemas.openxmlformats.org/drawingml/2006/main">
            <a:off x="6153150" y="27241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200" b="0" i="0">
                <a:solidFill>
                  <a:srgbClr val="7B8794"/>
                </a:solidFill>
              </a:defRPr>
            </a:pPr>
            <a:r>
              <a:rPr sz="1200" b="0" i="0">
                <a:solidFill>
                  <a:srgbClr val="7B8794"/>
                </a:solidFill>
              </a:rPr>
              <a:t>geometric axis</a:t>
            </a:r>
          </a:p>
        </p:txBody>
      </p:sp>
      <p:sp>
        <p:nvSpPr>
          <p:cNvPr id="22" name="">
            <a:extLst xmlns:a="http://schemas.openxmlformats.org/drawingml/2006/main">
              <a:ext uri="{FF2B5EF4-FFF2-40B4-BE49-F238E27FC236}">
                <a16:creationId xmlns:a16="http://schemas.microsoft.com/office/drawing/2014/main" id="{0150611D-A03A-4F10-ABB7-53A52F060AEF}"/>
              </a:ext>
            </a:extLst>
          </p:cNvPr>
          <p:cNvSpPr>
            <a:spLocks xmlns:a="http://schemas.openxmlformats.org/drawingml/2006/main" noGrp="1"/>
          </p:cNvSpPr>
          <p:nvPr/>
        </p:nvSpPr>
        <p:spPr>
          <a:xfrm xmlns:a="http://schemas.openxmlformats.org/drawingml/2006/main">
            <a:off x="3943350" y="3409950"/>
            <a:ext cx="3143250" cy="1466850"/>
          </a:xfrm>
          <a:prstGeom xmlns:a="http://schemas.openxmlformats.org/drawingml/2006/main" prst="roundRect">
            <a:avLst>
              <a:gd name="adj" fmla="val 5195"/>
            </a:avLst>
          </a:prstGeom>
          <a:solidFill xmlns:a="http://schemas.openxmlformats.org/drawingml/2006/main">
            <a:srgbClr val="FCEEEA"/>
          </a:solidFill>
          <a:ln xmlns:a="http://schemas.openxmlformats.org/drawingml/2006/main" w="19050">
            <a:solidFill>
              <a:srgbClr val="E76F51"/>
            </a:solidFill>
            <a:prstDash val="solid"/>
          </a:ln>
        </p:spPr>
      </p:sp>
      <p:sp>
        <p:nvSpPr>
          <p:cNvPr id="23" name="">
            <a:extLst xmlns:a="http://schemas.openxmlformats.org/drawingml/2006/main">
              <a:ext uri="{FF2B5EF4-FFF2-40B4-BE49-F238E27FC236}">
                <a16:creationId xmlns:a16="http://schemas.microsoft.com/office/drawing/2014/main" id="{18A34A0B-7CD5-4297-8F12-E844C3D193DA}"/>
              </a:ext>
            </a:extLst>
          </p:cNvPr>
          <p:cNvSpPr>
            <a:spLocks xmlns:a="http://schemas.openxmlformats.org/drawingml/2006/main" noGrp="1"/>
          </p:cNvSpPr>
          <p:nvPr/>
        </p:nvSpPr>
        <p:spPr>
          <a:xfrm xmlns:a="http://schemas.openxmlformats.org/drawingml/2006/main">
            <a:off x="4152900" y="35623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725" b="1" i="0">
                <a:solidFill>
                  <a:srgbClr val="E76F51"/>
                </a:solidFill>
              </a:defRPr>
            </a:pPr>
            <a:r>
              <a:rPr sz="1725" b="1" i="0">
                <a:solidFill>
                  <a:srgbClr val="E76F51"/>
                </a:solidFill>
              </a:rPr>
              <a:t>Curve-order endpoint</a:t>
            </a:r>
          </a:p>
        </p:txBody>
      </p:sp>
      <p:sp>
        <p:nvSpPr>
          <p:cNvPr id="24" name="">
            <a:extLst xmlns:a="http://schemas.openxmlformats.org/drawingml/2006/main">
              <a:ext uri="{FF2B5EF4-FFF2-40B4-BE49-F238E27FC236}">
                <a16:creationId xmlns:a16="http://schemas.microsoft.com/office/drawing/2014/main" id="{911C2938-DBE6-4532-A47C-84CBA7D2DE0B}"/>
              </a:ext>
            </a:extLst>
          </p:cNvPr>
          <p:cNvSpPr>
            <a:spLocks xmlns:a="http://schemas.openxmlformats.org/drawingml/2006/main" noGrp="1"/>
          </p:cNvSpPr>
          <p:nvPr/>
        </p:nvSpPr>
        <p:spPr>
          <a:xfrm xmlns:a="http://schemas.openxmlformats.org/drawingml/2006/main">
            <a:off x="4171950" y="3981450"/>
            <a:ext cx="2686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anchor = 2</a:t>
            </a:r>
          </a:p>
          <a:p xmlns:a="http://schemas.openxmlformats.org/drawingml/2006/main">
            <a:pPr algn="ctr">
              <a:lnSpc>
                <a:spcPct val="105000"/>
              </a:lnSpc>
              <a:buNone/>
              <a:defRPr sz="1500" b="0" i="0">
                <a:solidFill>
                  <a:srgbClr val="243B53"/>
                </a:solidFill>
              </a:defRPr>
            </a:pPr>
            <a:r>
              <a:rPr sz="1500" b="0" i="0">
                <a:solidFill>
                  <a:srgbClr val="243B53"/>
                </a:solidFill>
              </a:rPr>
              <a:t>result: [1, 2, 4, 3]</a:t>
            </a:r>
          </a:p>
        </p:txBody>
      </p:sp>
      <p:sp>
        <p:nvSpPr>
          <p:cNvPr id="25" name="">
            <a:extLst xmlns:a="http://schemas.openxmlformats.org/drawingml/2006/main">
              <a:ext uri="{FF2B5EF4-FFF2-40B4-BE49-F238E27FC236}">
                <a16:creationId xmlns:a16="http://schemas.microsoft.com/office/drawing/2014/main" id="{8D7966AF-B661-4B7E-B454-B4457804F67C}"/>
              </a:ext>
            </a:extLst>
          </p:cNvPr>
          <p:cNvSpPr>
            <a:spLocks xmlns:a="http://schemas.openxmlformats.org/drawingml/2006/main" noGrp="1"/>
          </p:cNvSpPr>
          <p:nvPr/>
        </p:nvSpPr>
        <p:spPr>
          <a:xfrm xmlns:a="http://schemas.openxmlformats.org/drawingml/2006/main">
            <a:off x="7524750" y="3409950"/>
            <a:ext cx="3143250" cy="1466850"/>
          </a:xfrm>
          <a:prstGeom xmlns:a="http://schemas.openxmlformats.org/drawingml/2006/main" prst="roundRect">
            <a:avLst>
              <a:gd name="adj" fmla="val 5195"/>
            </a:avLst>
          </a:prstGeom>
          <a:solidFill xmlns:a="http://schemas.openxmlformats.org/drawingml/2006/main">
            <a:srgbClr val="E8F5F3"/>
          </a:solidFill>
          <a:ln xmlns:a="http://schemas.openxmlformats.org/drawingml/2006/main" w="19050">
            <a:solidFill>
              <a:srgbClr val="2A9D8F"/>
            </a:solidFill>
            <a:prstDash val="solid"/>
          </a:ln>
        </p:spPr>
      </p:sp>
      <p:sp>
        <p:nvSpPr>
          <p:cNvPr id="26" name="">
            <a:extLst xmlns:a="http://schemas.openxmlformats.org/drawingml/2006/main">
              <a:ext uri="{FF2B5EF4-FFF2-40B4-BE49-F238E27FC236}">
                <a16:creationId xmlns:a16="http://schemas.microsoft.com/office/drawing/2014/main" id="{330307E2-66CA-4BA2-82BC-D12B605F8E86}"/>
              </a:ext>
            </a:extLst>
          </p:cNvPr>
          <p:cNvSpPr>
            <a:spLocks xmlns:a="http://schemas.openxmlformats.org/drawingml/2006/main" noGrp="1"/>
          </p:cNvSpPr>
          <p:nvPr/>
        </p:nvSpPr>
        <p:spPr>
          <a:xfrm xmlns:a="http://schemas.openxmlformats.org/drawingml/2006/main">
            <a:off x="7734300" y="35623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725" b="1" i="0">
                <a:solidFill>
                  <a:srgbClr val="2A9D8F"/>
                </a:solidFill>
              </a:defRPr>
            </a:pPr>
            <a:r>
              <a:rPr sz="1725" b="1" i="0">
                <a:solidFill>
                  <a:srgbClr val="2A9D8F"/>
                </a:solidFill>
              </a:rPr>
              <a:t>Geometric endpoint</a:t>
            </a:r>
          </a:p>
        </p:txBody>
      </p:sp>
      <p:sp>
        <p:nvSpPr>
          <p:cNvPr id="27" name="">
            <a:extLst xmlns:a="http://schemas.openxmlformats.org/drawingml/2006/main">
              <a:ext uri="{FF2B5EF4-FFF2-40B4-BE49-F238E27FC236}">
                <a16:creationId xmlns:a16="http://schemas.microsoft.com/office/drawing/2014/main" id="{8A9B6353-A173-47B4-A73A-78F24469519E}"/>
              </a:ext>
            </a:extLst>
          </p:cNvPr>
          <p:cNvSpPr>
            <a:spLocks xmlns:a="http://schemas.openxmlformats.org/drawingml/2006/main" noGrp="1"/>
          </p:cNvSpPr>
          <p:nvPr/>
        </p:nvSpPr>
        <p:spPr>
          <a:xfrm xmlns:a="http://schemas.openxmlformats.org/drawingml/2006/main">
            <a:off x="7753350" y="3981450"/>
            <a:ext cx="2686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anchor = 3</a:t>
            </a:r>
          </a:p>
          <a:p xmlns:a="http://schemas.openxmlformats.org/drawingml/2006/main">
            <a:pPr algn="ctr">
              <a:lnSpc>
                <a:spcPct val="105000"/>
              </a:lnSpc>
              <a:buNone/>
              <a:defRPr sz="1500" b="0" i="0">
                <a:solidFill>
                  <a:srgbClr val="243B53"/>
                </a:solidFill>
              </a:defRPr>
            </a:pPr>
            <a:r>
              <a:rPr sz="1500" b="0" i="0">
                <a:solidFill>
                  <a:srgbClr val="243B53"/>
                </a:solidFill>
              </a:rPr>
              <a:t>result: [1, 2, 3, 4]</a:t>
            </a:r>
          </a:p>
        </p:txBody>
      </p:sp>
      <p:sp>
        <p:nvSpPr>
          <p:cNvPr id="28" name="">
            <a:extLst xmlns:a="http://schemas.openxmlformats.org/drawingml/2006/main">
              <a:ext uri="{FF2B5EF4-FFF2-40B4-BE49-F238E27FC236}">
                <a16:creationId xmlns:a16="http://schemas.microsoft.com/office/drawing/2014/main" id="{E335B674-1918-4C90-841C-9BBAE7B5C347}"/>
              </a:ext>
            </a:extLst>
          </p:cNvPr>
          <p:cNvSpPr>
            <a:spLocks xmlns:a="http://schemas.openxmlformats.org/drawingml/2006/main" noGrp="1"/>
          </p:cNvSpPr>
          <p:nvPr/>
        </p:nvSpPr>
        <p:spPr>
          <a:xfrm xmlns:a="http://schemas.openxmlformats.org/drawingml/2006/main">
            <a:off x="3714750" y="531495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Executable rule: choose the geometric extreme.</a:t>
            </a:r>
          </a:p>
        </p:txBody>
      </p:sp>
      <p:sp>
        <p:nvSpPr>
          <p:cNvPr id="29" name="">
            <a:extLst xmlns:a="http://schemas.openxmlformats.org/drawingml/2006/main">
              <a:ext uri="{FF2B5EF4-FFF2-40B4-BE49-F238E27FC236}">
                <a16:creationId xmlns:a16="http://schemas.microsoft.com/office/drawing/2014/main" id="{490C7D3C-9160-4BE3-BC57-72AB7D4AD760}"/>
              </a:ext>
            </a:extLst>
          </p:cNvPr>
          <p:cNvSpPr>
            <a:spLocks xmlns:a="http://schemas.openxmlformats.org/drawingml/2006/main" noGrp="1"/>
          </p:cNvSpPr>
          <p:nvPr/>
        </p:nvSpPr>
        <p:spPr>
          <a:xfrm xmlns:a="http://schemas.openxmlformats.org/drawingml/2006/main">
            <a:off x="3714750" y="581025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Recorded as a reconstruction clarification, not as a verbatim 1990-paper rule.</a:t>
            </a:r>
          </a:p>
        </p:txBody>
      </p:sp>
    </p:spTree>
    <p:extLst>
      <p:ext uri="{BB962C8B-B14F-4D97-AF65-F5344CB8AC3E}">
        <p14:creationId xmlns:p14="http://schemas.microsoft.com/office/powerpoint/2010/main" val="1641983417"/>
      </p:ext>
    </p:extLst>
  </p:cSld>
</p:sld>
</file>

<file path=ppt/slides/slide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C4EF2641-7651-4F6D-AA66-506D4AA9DBC1}"/>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 ISSUE II</a:t>
            </a:r>
          </a:p>
        </p:txBody>
      </p:sp>
      <p:sp>
        <p:nvSpPr>
          <p:cNvPr id="2" name="">
            <a:extLst xmlns:a="http://schemas.openxmlformats.org/drawingml/2006/main">
              <a:ext uri="{FF2B5EF4-FFF2-40B4-BE49-F238E27FC236}">
                <a16:creationId xmlns:a16="http://schemas.microsoft.com/office/drawing/2014/main" id="{6BD32007-2845-4A0E-9911-A698D4854C67}"/>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Odd iterations require a separate z₁ output-anchor correction</a:t>
            </a:r>
          </a:p>
        </p:txBody>
      </p:sp>
      <p:sp>
        <p:nvSpPr>
          <p:cNvPr id="3" name="">
            <a:extLst xmlns:a="http://schemas.openxmlformats.org/drawingml/2006/main">
              <a:ext uri="{FF2B5EF4-FFF2-40B4-BE49-F238E27FC236}">
                <a16:creationId xmlns:a16="http://schemas.microsoft.com/office/drawing/2014/main" id="{0A3296CA-B015-4589-9E62-AC9D70C2D2B1}"/>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C7235E4E-C7A5-4A76-AE81-587232E10EB3}"/>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1A5B7F5-AF32-48EB-9222-FEB468861B3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79D89DCE-4BD6-4924-9A4D-190F3BBD8868}"/>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9 / 16</a:t>
            </a:r>
          </a:p>
        </p:txBody>
      </p:sp>
      <p:sp>
        <p:nvSpPr>
          <p:cNvPr id="7" name="">
            <a:extLst xmlns:a="http://schemas.openxmlformats.org/drawingml/2006/main">
              <a:ext uri="{FF2B5EF4-FFF2-40B4-BE49-F238E27FC236}">
                <a16:creationId xmlns:a16="http://schemas.microsoft.com/office/drawing/2014/main" id="{854B8CE0-68E1-4FFE-8B22-E50538816CEC}"/>
              </a:ext>
            </a:extLst>
          </p:cNvPr>
          <p:cNvSpPr>
            <a:spLocks xmlns:a="http://schemas.openxmlformats.org/drawingml/2006/main" noGrp="1"/>
          </p:cNvSpPr>
          <p:nvPr/>
        </p:nvSpPr>
        <p:spPr>
          <a:xfrm xmlns:a="http://schemas.openxmlformats.org/drawingml/2006/main">
            <a:off x="685800" y="1428750"/>
            <a:ext cx="7239000" cy="18669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14288">
            <a:solidFill>
              <a:srgbClr val="E76F51"/>
            </a:solidFill>
            <a:prstDash val="solid"/>
          </a:ln>
        </p:spPr>
      </p:sp>
      <p:sp>
        <p:nvSpPr>
          <p:cNvPr id="8" name="">
            <a:extLst xmlns:a="http://schemas.openxmlformats.org/drawingml/2006/main">
              <a:ext uri="{FF2B5EF4-FFF2-40B4-BE49-F238E27FC236}">
                <a16:creationId xmlns:a16="http://schemas.microsoft.com/office/drawing/2014/main" id="{4FB12657-16DA-459C-85E9-EC5035DE26FF}"/>
              </a:ext>
            </a:extLst>
          </p:cNvPr>
          <p:cNvSpPr>
            <a:spLocks xmlns:a="http://schemas.openxmlformats.org/drawingml/2006/main" noGrp="1"/>
          </p:cNvSpPr>
          <p:nvPr/>
        </p:nvSpPr>
        <p:spPr>
          <a:xfrm xmlns:a="http://schemas.openxmlformats.org/drawingml/2006/main">
            <a:off x="914400" y="1600200"/>
            <a:ext cx="678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E76F51"/>
                </a:solidFill>
              </a:defRPr>
            </a:pPr>
            <a:r>
              <a:rPr sz="1725" b="1" i="0">
                <a:solidFill>
                  <a:srgbClr val="E76F51"/>
                </a:solidFill>
              </a:rPr>
              <a:t>Ordinary geometric base anchor = z₂ = 2</a:t>
            </a:r>
          </a:p>
        </p:txBody>
      </p:sp>
      <p:sp>
        <p:nvSpPr>
          <p:cNvPr id="9" name="">
            <a:extLst xmlns:a="http://schemas.openxmlformats.org/drawingml/2006/main">
              <a:ext uri="{FF2B5EF4-FFF2-40B4-BE49-F238E27FC236}">
                <a16:creationId xmlns:a16="http://schemas.microsoft.com/office/drawing/2014/main" id="{DC07B830-45D9-4785-ACB0-73178A92228B}"/>
              </a:ext>
            </a:extLst>
          </p:cNvPr>
          <p:cNvSpPr>
            <a:spLocks xmlns:a="http://schemas.openxmlformats.org/drawingml/2006/main" noGrp="1"/>
          </p:cNvSpPr>
          <p:nvPr/>
        </p:nvSpPr>
        <p:spPr>
          <a:xfrm xmlns:a="http://schemas.openxmlformats.org/drawingml/2006/main">
            <a:off x="1009650" y="219075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new point 0</a:t>
            </a:r>
          </a:p>
        </p:txBody>
      </p:sp>
      <p:sp>
        <p:nvSpPr>
          <p:cNvPr id="10" name="">
            <a:extLst xmlns:a="http://schemas.openxmlformats.org/drawingml/2006/main">
              <a:ext uri="{FF2B5EF4-FFF2-40B4-BE49-F238E27FC236}">
                <a16:creationId xmlns:a16="http://schemas.microsoft.com/office/drawing/2014/main" id="{D6183F62-C257-499B-BA0B-A2343780626B}"/>
              </a:ext>
            </a:extLst>
          </p:cNvPr>
          <p:cNvSpPr>
            <a:spLocks xmlns:a="http://schemas.openxmlformats.org/drawingml/2006/main" noGrp="1"/>
          </p:cNvSpPr>
          <p:nvPr/>
        </p:nvSpPr>
        <p:spPr>
          <a:xfrm xmlns:a="http://schemas.openxmlformats.org/drawingml/2006/main">
            <a:off x="2362200" y="215265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a:t>
            </a:r>
          </a:p>
        </p:txBody>
      </p:sp>
      <p:sp>
        <p:nvSpPr>
          <p:cNvPr id="11" name="">
            <a:extLst xmlns:a="http://schemas.openxmlformats.org/drawingml/2006/main">
              <a:ext uri="{FF2B5EF4-FFF2-40B4-BE49-F238E27FC236}">
                <a16:creationId xmlns:a16="http://schemas.microsoft.com/office/drawing/2014/main" id="{795296A3-AD91-47D9-8FD7-3575506D5D44}"/>
              </a:ext>
            </a:extLst>
          </p:cNvPr>
          <p:cNvSpPr>
            <a:spLocks xmlns:a="http://schemas.openxmlformats.org/drawingml/2006/main" noGrp="1"/>
          </p:cNvSpPr>
          <p:nvPr/>
        </p:nvSpPr>
        <p:spPr>
          <a:xfrm xmlns:a="http://schemas.openxmlformats.org/drawingml/2006/main">
            <a:off x="2971800" y="2190750"/>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insert before 2</a:t>
            </a:r>
          </a:p>
        </p:txBody>
      </p:sp>
      <p:sp>
        <p:nvSpPr>
          <p:cNvPr id="12" name="">
            <a:extLst xmlns:a="http://schemas.openxmlformats.org/drawingml/2006/main">
              <a:ext uri="{FF2B5EF4-FFF2-40B4-BE49-F238E27FC236}">
                <a16:creationId xmlns:a16="http://schemas.microsoft.com/office/drawing/2014/main" id="{4CE48695-C98D-4386-A7A2-AE89C487AF8B}"/>
              </a:ext>
            </a:extLst>
          </p:cNvPr>
          <p:cNvSpPr>
            <a:spLocks xmlns:a="http://schemas.openxmlformats.org/drawingml/2006/main" noGrp="1"/>
          </p:cNvSpPr>
          <p:nvPr/>
        </p:nvSpPr>
        <p:spPr>
          <a:xfrm xmlns:a="http://schemas.openxmlformats.org/drawingml/2006/main">
            <a:off x="4591050" y="215265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a:t>
            </a:r>
          </a:p>
        </p:txBody>
      </p:sp>
      <p:sp>
        <p:nvSpPr>
          <p:cNvPr id="13" name="">
            <a:extLst xmlns:a="http://schemas.openxmlformats.org/drawingml/2006/main">
              <a:ext uri="{FF2B5EF4-FFF2-40B4-BE49-F238E27FC236}">
                <a16:creationId xmlns:a16="http://schemas.microsoft.com/office/drawing/2014/main" id="{D6DD01FE-F50A-4FA8-BABC-F29F5F29CF8C}"/>
              </a:ext>
            </a:extLst>
          </p:cNvPr>
          <p:cNvSpPr>
            <a:spLocks xmlns:a="http://schemas.openxmlformats.org/drawingml/2006/main" noGrp="1"/>
          </p:cNvSpPr>
          <p:nvPr/>
        </p:nvSpPr>
        <p:spPr>
          <a:xfrm xmlns:a="http://schemas.openxmlformats.org/drawingml/2006/main">
            <a:off x="5219700" y="2190750"/>
            <a:ext cx="2343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75" b="1" i="0">
                <a:solidFill>
                  <a:srgbClr val="243B53"/>
                </a:solidFill>
              </a:defRPr>
            </a:pPr>
            <a:r>
              <a:rPr sz="1575" b="1" i="0">
                <a:solidFill>
                  <a:srgbClr val="243B53"/>
                </a:solidFill>
              </a:rPr>
              <a:t>1, 0, 2, 3, 4, 6, 7</a:t>
            </a:r>
          </a:p>
        </p:txBody>
      </p:sp>
      <p:sp>
        <p:nvSpPr>
          <p:cNvPr id="14" name="">
            <a:extLst xmlns:a="http://schemas.openxmlformats.org/drawingml/2006/main">
              <a:ext uri="{FF2B5EF4-FFF2-40B4-BE49-F238E27FC236}">
                <a16:creationId xmlns:a16="http://schemas.microsoft.com/office/drawing/2014/main" id="{A42FC381-2369-420E-B012-0E6EE1763431}"/>
              </a:ext>
            </a:extLst>
          </p:cNvPr>
          <p:cNvSpPr>
            <a:spLocks xmlns:a="http://schemas.openxmlformats.org/drawingml/2006/main" noGrp="1"/>
          </p:cNvSpPr>
          <p:nvPr/>
        </p:nvSpPr>
        <p:spPr>
          <a:xfrm xmlns:a="http://schemas.openxmlformats.org/drawingml/2006/main">
            <a:off x="1104900" y="2762250"/>
            <a:ext cx="638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0" i="0">
                <a:solidFill>
                  <a:srgbClr val="52606D"/>
                </a:solidFill>
              </a:defRPr>
            </a:pPr>
            <a:r>
              <a:rPr sz="1425" b="0" i="0">
                <a:solidFill>
                  <a:srgbClr val="52606D"/>
                </a:solidFill>
              </a:rPr>
              <a:t>z₁ = 1 remains on the wrong side of the new point.</a:t>
            </a:r>
          </a:p>
        </p:txBody>
      </p:sp>
      <p:sp>
        <p:nvSpPr>
          <p:cNvPr id="15" name="">
            <a:extLst xmlns:a="http://schemas.openxmlformats.org/drawingml/2006/main">
              <a:ext uri="{FF2B5EF4-FFF2-40B4-BE49-F238E27FC236}">
                <a16:creationId xmlns:a16="http://schemas.microsoft.com/office/drawing/2014/main" id="{8243A0F3-4515-4E5D-A8B4-04E90B55DFFD}"/>
              </a:ext>
            </a:extLst>
          </p:cNvPr>
          <p:cNvSpPr>
            <a:spLocks xmlns:a="http://schemas.openxmlformats.org/drawingml/2006/main" noGrp="1"/>
          </p:cNvSpPr>
          <p:nvPr/>
        </p:nvSpPr>
        <p:spPr>
          <a:xfrm xmlns:a="http://schemas.openxmlformats.org/drawingml/2006/main">
            <a:off x="685800" y="3543300"/>
            <a:ext cx="7239000" cy="1866900"/>
          </a:xfrm>
          <a:prstGeom xmlns:a="http://schemas.openxmlformats.org/drawingml/2006/main" prst="roundRect">
            <a:avLst>
              <a:gd name="adj" fmla="val 4082"/>
            </a:avLst>
          </a:prstGeom>
          <a:solidFill xmlns:a="http://schemas.openxmlformats.org/drawingml/2006/main">
            <a:srgbClr val="E8F5F3"/>
          </a:solidFill>
          <a:ln xmlns:a="http://schemas.openxmlformats.org/drawingml/2006/main" w="19050">
            <a:solidFill>
              <a:srgbClr val="2A9D8F"/>
            </a:solidFill>
            <a:prstDash val="solid"/>
          </a:ln>
        </p:spPr>
      </p:sp>
      <p:sp>
        <p:nvSpPr>
          <p:cNvPr id="16" name="">
            <a:extLst xmlns:a="http://schemas.openxmlformats.org/drawingml/2006/main">
              <a:ext uri="{FF2B5EF4-FFF2-40B4-BE49-F238E27FC236}">
                <a16:creationId xmlns:a16="http://schemas.microsoft.com/office/drawing/2014/main" id="{41C3A71F-16C6-4C3F-A356-F866B425D444}"/>
              </a:ext>
            </a:extLst>
          </p:cNvPr>
          <p:cNvSpPr>
            <a:spLocks xmlns:a="http://schemas.openxmlformats.org/drawingml/2006/main" noGrp="1"/>
          </p:cNvSpPr>
          <p:nvPr/>
        </p:nvSpPr>
        <p:spPr>
          <a:xfrm xmlns:a="http://schemas.openxmlformats.org/drawingml/2006/main">
            <a:off x="914400" y="3714750"/>
            <a:ext cx="678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2A9D8F"/>
                </a:solidFill>
              </a:defRPr>
            </a:pPr>
            <a:r>
              <a:rPr sz="1725" b="1" i="0">
                <a:solidFill>
                  <a:srgbClr val="2A9D8F"/>
                </a:solidFill>
              </a:rPr>
              <a:t>Corrected output anchor = z₁ = 1</a:t>
            </a:r>
          </a:p>
        </p:txBody>
      </p:sp>
      <p:sp>
        <p:nvSpPr>
          <p:cNvPr id="17" name="">
            <a:extLst xmlns:a="http://schemas.openxmlformats.org/drawingml/2006/main">
              <a:ext uri="{FF2B5EF4-FFF2-40B4-BE49-F238E27FC236}">
                <a16:creationId xmlns:a16="http://schemas.microsoft.com/office/drawing/2014/main" id="{30580AE7-B354-420F-B49D-14555BC9582B}"/>
              </a:ext>
            </a:extLst>
          </p:cNvPr>
          <p:cNvSpPr>
            <a:spLocks xmlns:a="http://schemas.openxmlformats.org/drawingml/2006/main" noGrp="1"/>
          </p:cNvSpPr>
          <p:nvPr/>
        </p:nvSpPr>
        <p:spPr>
          <a:xfrm xmlns:a="http://schemas.openxmlformats.org/drawingml/2006/main">
            <a:off x="1009650" y="430530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new point 0</a:t>
            </a:r>
          </a:p>
        </p:txBody>
      </p:sp>
      <p:sp>
        <p:nvSpPr>
          <p:cNvPr id="18" name="">
            <a:extLst xmlns:a="http://schemas.openxmlformats.org/drawingml/2006/main">
              <a:ext uri="{FF2B5EF4-FFF2-40B4-BE49-F238E27FC236}">
                <a16:creationId xmlns:a16="http://schemas.microsoft.com/office/drawing/2014/main" id="{554CD6DE-D37C-4C03-8624-F350D80AC809}"/>
              </a:ext>
            </a:extLst>
          </p:cNvPr>
          <p:cNvSpPr>
            <a:spLocks xmlns:a="http://schemas.openxmlformats.org/drawingml/2006/main" noGrp="1"/>
          </p:cNvSpPr>
          <p:nvPr/>
        </p:nvSpPr>
        <p:spPr>
          <a:xfrm xmlns:a="http://schemas.openxmlformats.org/drawingml/2006/main">
            <a:off x="2362200" y="426720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a:t>
            </a:r>
          </a:p>
        </p:txBody>
      </p:sp>
      <p:sp>
        <p:nvSpPr>
          <p:cNvPr id="19" name="">
            <a:extLst xmlns:a="http://schemas.openxmlformats.org/drawingml/2006/main">
              <a:ext uri="{FF2B5EF4-FFF2-40B4-BE49-F238E27FC236}">
                <a16:creationId xmlns:a16="http://schemas.microsoft.com/office/drawing/2014/main" id="{FDAD2B8F-6BCD-4AA2-9F2F-D71332B7CA94}"/>
              </a:ext>
            </a:extLst>
          </p:cNvPr>
          <p:cNvSpPr>
            <a:spLocks xmlns:a="http://schemas.openxmlformats.org/drawingml/2006/main" noGrp="1"/>
          </p:cNvSpPr>
          <p:nvPr/>
        </p:nvSpPr>
        <p:spPr>
          <a:xfrm xmlns:a="http://schemas.openxmlformats.org/drawingml/2006/main">
            <a:off x="2971800" y="4305300"/>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2A9D8F"/>
                </a:solidFill>
              </a:defRPr>
            </a:pPr>
            <a:r>
              <a:rPr sz="1500" b="1" i="0">
                <a:solidFill>
                  <a:srgbClr val="2A9D8F"/>
                </a:solidFill>
              </a:rPr>
              <a:t>insert before z₁</a:t>
            </a:r>
          </a:p>
        </p:txBody>
      </p:sp>
      <p:sp>
        <p:nvSpPr>
          <p:cNvPr id="20" name="">
            <a:extLst xmlns:a="http://schemas.openxmlformats.org/drawingml/2006/main">
              <a:ext uri="{FF2B5EF4-FFF2-40B4-BE49-F238E27FC236}">
                <a16:creationId xmlns:a16="http://schemas.microsoft.com/office/drawing/2014/main" id="{23C6E3B1-2FFC-4881-9C4B-88DC7FFA5599}"/>
              </a:ext>
            </a:extLst>
          </p:cNvPr>
          <p:cNvSpPr>
            <a:spLocks xmlns:a="http://schemas.openxmlformats.org/drawingml/2006/main" noGrp="1"/>
          </p:cNvSpPr>
          <p:nvPr/>
        </p:nvSpPr>
        <p:spPr>
          <a:xfrm xmlns:a="http://schemas.openxmlformats.org/drawingml/2006/main">
            <a:off x="4591050" y="426720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a:t>
            </a:r>
          </a:p>
        </p:txBody>
      </p:sp>
      <p:sp>
        <p:nvSpPr>
          <p:cNvPr id="21" name="">
            <a:extLst xmlns:a="http://schemas.openxmlformats.org/drawingml/2006/main">
              <a:ext uri="{FF2B5EF4-FFF2-40B4-BE49-F238E27FC236}">
                <a16:creationId xmlns:a16="http://schemas.microsoft.com/office/drawing/2014/main" id="{B33E9C2B-E781-46D5-BD7B-18D5C2823FF2}"/>
              </a:ext>
            </a:extLst>
          </p:cNvPr>
          <p:cNvSpPr>
            <a:spLocks xmlns:a="http://schemas.openxmlformats.org/drawingml/2006/main" noGrp="1"/>
          </p:cNvSpPr>
          <p:nvPr/>
        </p:nvSpPr>
        <p:spPr>
          <a:xfrm xmlns:a="http://schemas.openxmlformats.org/drawingml/2006/main">
            <a:off x="5219700" y="4305300"/>
            <a:ext cx="2343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75" b="1" i="0">
                <a:solidFill>
                  <a:srgbClr val="243B53"/>
                </a:solidFill>
              </a:defRPr>
            </a:pPr>
            <a:r>
              <a:rPr sz="1575" b="1" i="0">
                <a:solidFill>
                  <a:srgbClr val="243B53"/>
                </a:solidFill>
              </a:rPr>
              <a:t>0, 1, 2, 3, 4, 6, 7</a:t>
            </a:r>
          </a:p>
        </p:txBody>
      </p:sp>
      <p:sp>
        <p:nvSpPr>
          <p:cNvPr id="22" name="">
            <a:extLst xmlns:a="http://schemas.openxmlformats.org/drawingml/2006/main">
              <a:ext uri="{FF2B5EF4-FFF2-40B4-BE49-F238E27FC236}">
                <a16:creationId xmlns:a16="http://schemas.microsoft.com/office/drawing/2014/main" id="{858C3A68-77A4-4B19-99A4-899E0C9FFF2E}"/>
              </a:ext>
            </a:extLst>
          </p:cNvPr>
          <p:cNvSpPr>
            <a:spLocks xmlns:a="http://schemas.openxmlformats.org/drawingml/2006/main" noGrp="1"/>
          </p:cNvSpPr>
          <p:nvPr/>
        </p:nvSpPr>
        <p:spPr>
          <a:xfrm xmlns:a="http://schemas.openxmlformats.org/drawingml/2006/main">
            <a:off x="1104900" y="4876800"/>
            <a:ext cx="638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0" i="0">
                <a:solidFill>
                  <a:srgbClr val="52606D"/>
                </a:solidFill>
              </a:defRPr>
            </a:pPr>
            <a:r>
              <a:rPr sz="1425" b="0" i="0">
                <a:solidFill>
                  <a:srgbClr val="52606D"/>
                </a:solidFill>
              </a:rPr>
              <a:t>The maintained partial order now matches the geometric axis order.</a:t>
            </a:r>
          </a:p>
        </p:txBody>
      </p:sp>
      <p:sp>
        <p:nvSpPr>
          <p:cNvPr id="23" name="">
            <a:extLst xmlns:a="http://schemas.openxmlformats.org/drawingml/2006/main">
              <a:ext uri="{FF2B5EF4-FFF2-40B4-BE49-F238E27FC236}">
                <a16:creationId xmlns:a16="http://schemas.microsoft.com/office/drawing/2014/main" id="{6192BCFF-9554-4B2E-997A-BC9CAFF1B1A1}"/>
              </a:ext>
            </a:extLst>
          </p:cNvPr>
          <p:cNvSpPr>
            <a:spLocks xmlns:a="http://schemas.openxmlformats.org/drawingml/2006/main" noGrp="1"/>
          </p:cNvSpPr>
          <p:nvPr/>
        </p:nvSpPr>
        <p:spPr>
          <a:xfrm xmlns:a="http://schemas.openxmlformats.org/drawingml/2006/main">
            <a:off x="8286750" y="1524000"/>
            <a:ext cx="3143250" cy="156210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11430">
            <a:solidFill>
              <a:srgbClr val="D9E2EC"/>
            </a:solidFill>
            <a:prstDash val="solid"/>
          </a:ln>
        </p:spPr>
      </p:sp>
      <p:sp>
        <p:nvSpPr>
          <p:cNvPr id="24" name="">
            <a:extLst xmlns:a="http://schemas.openxmlformats.org/drawingml/2006/main">
              <a:ext uri="{FF2B5EF4-FFF2-40B4-BE49-F238E27FC236}">
                <a16:creationId xmlns:a16="http://schemas.microsoft.com/office/drawing/2014/main" id="{2B012FAB-A1ED-4F84-AA62-775052E16200}"/>
              </a:ext>
            </a:extLst>
          </p:cNvPr>
          <p:cNvSpPr>
            <a:spLocks xmlns:a="http://schemas.openxmlformats.org/drawingml/2006/main" noGrp="1"/>
          </p:cNvSpPr>
          <p:nvPr/>
        </p:nvSpPr>
        <p:spPr>
          <a:xfrm xmlns:a="http://schemas.openxmlformats.org/drawingml/2006/main">
            <a:off x="8496300" y="1695450"/>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Valid prefix</a:t>
            </a:r>
          </a:p>
        </p:txBody>
      </p:sp>
      <p:sp>
        <p:nvSpPr>
          <p:cNvPr id="25" name="">
            <a:extLst xmlns:a="http://schemas.openxmlformats.org/drawingml/2006/main">
              <a:ext uri="{FF2B5EF4-FFF2-40B4-BE49-F238E27FC236}">
                <a16:creationId xmlns:a16="http://schemas.microsoft.com/office/drawing/2014/main" id="{18797353-99E7-4CAA-8AD3-46FACAC0D60E}"/>
              </a:ext>
            </a:extLst>
          </p:cNvPr>
          <p:cNvSpPr>
            <a:spLocks xmlns:a="http://schemas.openxmlformats.org/drawingml/2006/main" noGrp="1"/>
          </p:cNvSpPr>
          <p:nvPr/>
        </p:nvSpPr>
        <p:spPr>
          <a:xfrm xmlns:a="http://schemas.openxmlformats.org/drawingml/2006/main">
            <a:off x="8496300" y="2000250"/>
            <a:ext cx="2724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(1, 2, 3, 4, 6, 7, 0)</a:t>
            </a:r>
          </a:p>
        </p:txBody>
      </p:sp>
      <p:sp>
        <p:nvSpPr>
          <p:cNvPr id="26" name="">
            <a:extLst xmlns:a="http://schemas.openxmlformats.org/drawingml/2006/main">
              <a:ext uri="{FF2B5EF4-FFF2-40B4-BE49-F238E27FC236}">
                <a16:creationId xmlns:a16="http://schemas.microsoft.com/office/drawing/2014/main" id="{783CD77E-CFF2-4B9D-8BF0-EA5A885B40EB}"/>
              </a:ext>
            </a:extLst>
          </p:cNvPr>
          <p:cNvSpPr>
            <a:spLocks xmlns:a="http://schemas.openxmlformats.org/drawingml/2006/main" noGrp="1"/>
          </p:cNvSpPr>
          <p:nvPr/>
        </p:nvSpPr>
        <p:spPr>
          <a:xfrm xmlns:a="http://schemas.openxmlformats.org/drawingml/2006/main">
            <a:off x="8496300" y="2552700"/>
            <a:ext cx="2724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9941"/>
          </a:bodyPr>
          <a:lstStyle xmlns:a="http://schemas.openxmlformats.org/drawingml/2006/main"/>
          <a:p xmlns:a="http://schemas.openxmlformats.org/drawingml/2006/main">
            <a:pPr algn="ctr">
              <a:lnSpc>
                <a:spcPct val="105000"/>
              </a:lnSpc>
              <a:buNone/>
              <a:defRPr sz="2025" b="1" i="0">
                <a:solidFill>
                  <a:srgbClr val="E76F51"/>
                </a:solidFill>
              </a:defRPr>
            </a:pPr>
            <a:r>
              <a:rPr sz="2025" b="1" i="0">
                <a:solidFill>
                  <a:srgbClr val="E76F51"/>
                </a:solidFill>
              </a:rPr>
              <a:t>0 &lt; z₁ &lt; 2</a:t>
            </a:r>
          </a:p>
        </p:txBody>
      </p:sp>
      <p:sp>
        <p:nvSpPr>
          <p:cNvPr id="27" name="">
            <a:extLst xmlns:a="http://schemas.openxmlformats.org/drawingml/2006/main">
              <a:ext uri="{FF2B5EF4-FFF2-40B4-BE49-F238E27FC236}">
                <a16:creationId xmlns:a16="http://schemas.microsoft.com/office/drawing/2014/main" id="{FFC32EA3-4E21-405D-B37F-E3F04841BEE3}"/>
              </a:ext>
            </a:extLst>
          </p:cNvPr>
          <p:cNvSpPr>
            <a:spLocks xmlns:a="http://schemas.openxmlformats.org/drawingml/2006/main" noGrp="1"/>
          </p:cNvSpPr>
          <p:nvPr/>
        </p:nvSpPr>
        <p:spPr>
          <a:xfrm xmlns:a="http://schemas.openxmlformats.org/drawingml/2006/main">
            <a:off x="8286750" y="3543300"/>
            <a:ext cx="3143250" cy="1657350"/>
          </a:xfrm>
          <a:prstGeom xmlns:a="http://schemas.openxmlformats.org/drawingml/2006/main" prst="roundRect">
            <a:avLst>
              <a:gd name="adj" fmla="val 4598"/>
            </a:avLst>
          </a:prstGeom>
          <a:solidFill xmlns:a="http://schemas.openxmlformats.org/drawingml/2006/main">
            <a:srgbClr val="FFFFFF"/>
          </a:solidFill>
          <a:ln xmlns:a="http://schemas.openxmlformats.org/drawingml/2006/main" w="14288">
            <a:solidFill>
              <a:srgbClr val="2A9D8F"/>
            </a:solidFill>
            <a:prstDash val="solid"/>
          </a:ln>
        </p:spPr>
      </p:sp>
      <p:sp>
        <p:nvSpPr>
          <p:cNvPr id="28" name="">
            <a:extLst xmlns:a="http://schemas.openxmlformats.org/drawingml/2006/main">
              <a:ext uri="{FF2B5EF4-FFF2-40B4-BE49-F238E27FC236}">
                <a16:creationId xmlns:a16="http://schemas.microsoft.com/office/drawing/2014/main" id="{6E43DF9D-2F19-4ECA-B280-FA70C2ED555A}"/>
              </a:ext>
            </a:extLst>
          </p:cNvPr>
          <p:cNvSpPr>
            <a:spLocks xmlns:a="http://schemas.openxmlformats.org/drawingml/2006/main" noGrp="1"/>
          </p:cNvSpPr>
          <p:nvPr/>
        </p:nvSpPr>
        <p:spPr>
          <a:xfrm xmlns:a="http://schemas.openxmlformats.org/drawingml/2006/main">
            <a:off x="8496300" y="37147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650" b="1" i="0">
                <a:solidFill>
                  <a:srgbClr val="2A9D8F"/>
                </a:solidFill>
              </a:defRPr>
            </a:pPr>
            <a:r>
              <a:rPr sz="1650" b="1" i="0">
                <a:solidFill>
                  <a:srgbClr val="2A9D8F"/>
                </a:solidFill>
              </a:rPr>
              <a:t>Two separate decisions</a:t>
            </a:r>
          </a:p>
        </p:txBody>
      </p:sp>
      <p:sp>
        <p:nvSpPr>
          <p:cNvPr id="29" name="">
            <a:extLst xmlns:a="http://schemas.openxmlformats.org/drawingml/2006/main">
              <a:ext uri="{FF2B5EF4-FFF2-40B4-BE49-F238E27FC236}">
                <a16:creationId xmlns:a16="http://schemas.microsoft.com/office/drawing/2014/main" id="{8D69AA4C-CC7D-42D1-BB3B-1DF237B0218C}"/>
              </a:ext>
            </a:extLst>
          </p:cNvPr>
          <p:cNvSpPr>
            <a:spLocks xmlns:a="http://schemas.openxmlformats.org/drawingml/2006/main" noGrp="1"/>
          </p:cNvSpPr>
          <p:nvPr/>
        </p:nvSpPr>
        <p:spPr>
          <a:xfrm xmlns:a="http://schemas.openxmlformats.org/drawingml/2006/main">
            <a:off x="8572500" y="4114800"/>
            <a:ext cx="2571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boundary-pair selection</a:t>
            </a:r>
          </a:p>
          <a:p xmlns:a="http://schemas.openxmlformats.org/drawingml/2006/main">
            <a:pPr algn="ctr">
              <a:lnSpc>
                <a:spcPct val="105000"/>
              </a:lnSpc>
              <a:buNone/>
              <a:defRPr sz="1425" b="0" i="0">
                <a:solidFill>
                  <a:srgbClr val="243B53"/>
                </a:solidFill>
              </a:defRPr>
            </a:pPr>
            <a:r>
              <a:rPr sz="1425" b="0" i="0">
                <a:solidFill>
                  <a:srgbClr val="243B53"/>
                </a:solidFill>
              </a:rPr>
              <a:t>≠</a:t>
            </a:r>
          </a:p>
          <a:p xmlns:a="http://schemas.openxmlformats.org/drawingml/2006/main">
            <a:pPr algn="ctr">
              <a:lnSpc>
                <a:spcPct val="105000"/>
              </a:lnSpc>
              <a:buNone/>
              <a:defRPr sz="1425" b="0" i="0">
                <a:solidFill>
                  <a:srgbClr val="243B53"/>
                </a:solidFill>
              </a:defRPr>
            </a:pPr>
            <a:r>
              <a:rPr sz="1425" b="0" i="0">
                <a:solidFill>
                  <a:srgbClr val="243B53"/>
                </a:solidFill>
              </a:rPr>
              <a:t>output-anchor selection</a:t>
            </a:r>
          </a:p>
        </p:txBody>
      </p:sp>
      <p:sp>
        <p:nvSpPr>
          <p:cNvPr id="30" name="">
            <a:extLst xmlns:a="http://schemas.openxmlformats.org/drawingml/2006/main">
              <a:ext uri="{FF2B5EF4-FFF2-40B4-BE49-F238E27FC236}">
                <a16:creationId xmlns:a16="http://schemas.microsoft.com/office/drawing/2014/main" id="{D60F4464-1112-415E-990E-0202EB64DA79}"/>
              </a:ext>
            </a:extLst>
          </p:cNvPr>
          <p:cNvSpPr>
            <a:spLocks xmlns:a="http://schemas.openxmlformats.org/drawingml/2006/main" noGrp="1"/>
          </p:cNvSpPr>
          <p:nvPr/>
        </p:nvSpPr>
        <p:spPr>
          <a:xfrm xmlns:a="http://schemas.openxmlformats.org/drawingml/2006/main">
            <a:off x="8229600" y="5524500"/>
            <a:ext cx="32575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8631"/>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This correction is separate from predecessor/successor boundary selection.</a:t>
            </a:r>
          </a:p>
        </p:txBody>
      </p:sp>
    </p:spTree>
    <p:extLst>
      <p:ext uri="{BB962C8B-B14F-4D97-AF65-F5344CB8AC3E}">
        <p14:creationId xmlns:p14="http://schemas.microsoft.com/office/powerpoint/2010/main" val="933092093"/>
      </p:ext>
    </p:extLst>
  </p:cSld>
</p:sld>
</file>

<file path=ppt/slides/slide1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FB401E2D-C5E0-4C73-B40D-9E567026E7FE}"/>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MAINTAINED STATE</a:t>
            </a:r>
          </a:p>
        </p:txBody>
      </p:sp>
      <p:sp>
        <p:nvSpPr>
          <p:cNvPr id="2" name="">
            <a:extLst xmlns:a="http://schemas.openxmlformats.org/drawingml/2006/main">
              <a:ext uri="{FF2B5EF4-FFF2-40B4-BE49-F238E27FC236}">
                <a16:creationId xmlns:a16="http://schemas.microsoft.com/office/drawing/2014/main" id="{70B431C0-7F4A-4646-8B4F-B1655611E54E}"/>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Ownership-safe split and transfer</a:t>
            </a:r>
          </a:p>
        </p:txBody>
      </p:sp>
      <p:sp>
        <p:nvSpPr>
          <p:cNvPr id="3" name="">
            <a:extLst xmlns:a="http://schemas.openxmlformats.org/drawingml/2006/main">
              <a:ext uri="{FF2B5EF4-FFF2-40B4-BE49-F238E27FC236}">
                <a16:creationId xmlns:a16="http://schemas.microsoft.com/office/drawing/2014/main" id="{3C9C8D93-5C2F-4DF1-A110-7AF547E9B572}"/>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F6353A3E-207D-42DE-9EFA-38FDFA0D3BA8}"/>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6B003E8-D079-4E52-AD72-A6E41DC7F8A9}"/>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DE295B48-550A-4C9D-BAB1-41288E2DA42B}"/>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10 / 16</a:t>
            </a:r>
          </a:p>
        </p:txBody>
      </p:sp>
      <p:sp>
        <p:nvSpPr>
          <p:cNvPr id="7" name="">
            <a:extLst xmlns:a="http://schemas.openxmlformats.org/drawingml/2006/main">
              <a:ext uri="{FF2B5EF4-FFF2-40B4-BE49-F238E27FC236}">
                <a16:creationId xmlns:a16="http://schemas.microsoft.com/office/drawing/2014/main" id="{49C7CE1C-D66E-44EB-B697-7D68D4C0EF4C}"/>
              </a:ext>
            </a:extLst>
          </p:cNvPr>
          <p:cNvSpPr>
            <a:spLocks xmlns:a="http://schemas.openxmlformats.org/drawingml/2006/main" noGrp="1"/>
          </p:cNvSpPr>
          <p:nvPr/>
        </p:nvSpPr>
        <p:spPr>
          <a:xfrm xmlns:a="http://schemas.openxmlformats.org/drawingml/2006/main">
            <a:off x="647700" y="1428750"/>
            <a:ext cx="6248400" cy="4000500"/>
          </a:xfrm>
          <a:prstGeom xmlns:a="http://schemas.openxmlformats.org/drawingml/2006/main" prst="roundRect">
            <a:avLst>
              <a:gd name="adj" fmla="val 1905"/>
            </a:avLst>
          </a:prstGeom>
          <a:solidFill xmlns:a="http://schemas.openxmlformats.org/drawingml/2006/main">
            <a:srgbClr val="FFFFFF"/>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8221BD8A-8447-44BE-BDDF-80AF3F983466}"/>
              </a:ext>
            </a:extLst>
          </p:cNvPr>
          <p:cNvSpPr>
            <a:spLocks xmlns:a="http://schemas.openxmlformats.org/drawingml/2006/main" noGrp="1"/>
          </p:cNvSpPr>
          <p:nvPr/>
        </p:nvSpPr>
        <p:spPr>
          <a:xfrm xmlns:a="http://schemas.openxmlformats.org/drawingml/2006/main">
            <a:off x="895350" y="1619250"/>
            <a:ext cx="5772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Local split and ownership transfer</a:t>
            </a:r>
          </a:p>
        </p:txBody>
      </p:sp>
      <p:sp>
        <p:nvSpPr>
          <p:cNvPr id="9" name="">
            <a:extLst xmlns:a="http://schemas.openxmlformats.org/drawingml/2006/main">
              <a:ext uri="{FF2B5EF4-FFF2-40B4-BE49-F238E27FC236}">
                <a16:creationId xmlns:a16="http://schemas.microsoft.com/office/drawing/2014/main" id="{1ACD43D2-60AB-4D82-9BA0-44852F5EC3F8}"/>
              </a:ext>
            </a:extLst>
          </p:cNvPr>
          <p:cNvSpPr>
            <a:spLocks xmlns:a="http://schemas.openxmlformats.org/drawingml/2006/main" noGrp="1"/>
          </p:cNvSpPr>
          <p:nvPr/>
        </p:nvSpPr>
        <p:spPr>
          <a:xfrm xmlns:a="http://schemas.openxmlformats.org/drawingml/2006/main">
            <a:off x="895350" y="2152650"/>
            <a:ext cx="876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350" b="1" i="0">
                <a:solidFill>
                  <a:srgbClr val="7B8794"/>
                </a:solidFill>
              </a:defRPr>
            </a:pPr>
            <a:r>
              <a:rPr sz="1350" b="1" i="0">
                <a:solidFill>
                  <a:srgbClr val="7B8794"/>
                </a:solidFill>
              </a:rPr>
              <a:t>Before</a:t>
            </a:r>
          </a:p>
        </p:txBody>
      </p:sp>
      <p:sp>
        <p:nvSpPr>
          <p:cNvPr id="10" name="">
            <a:extLst xmlns:a="http://schemas.openxmlformats.org/drawingml/2006/main">
              <a:ext uri="{FF2B5EF4-FFF2-40B4-BE49-F238E27FC236}">
                <a16:creationId xmlns:a16="http://schemas.microsoft.com/office/drawing/2014/main" id="{65C6159B-AB42-4617-AEBD-78497AF367F6}"/>
              </a:ext>
            </a:extLst>
          </p:cNvPr>
          <p:cNvSpPr>
            <a:spLocks xmlns:a="http://schemas.openxmlformats.org/drawingml/2006/main" noGrp="1"/>
          </p:cNvSpPr>
          <p:nvPr/>
        </p:nvSpPr>
        <p:spPr>
          <a:xfrm xmlns:a="http://schemas.openxmlformats.org/drawingml/2006/main">
            <a:off x="1847850" y="2076450"/>
            <a:ext cx="1562100" cy="495300"/>
          </a:xfrm>
          <a:prstGeom xmlns:a="http://schemas.openxmlformats.org/drawingml/2006/main" prst="roundRect">
            <a:avLst>
              <a:gd name="adj" fmla="val 11538"/>
            </a:avLst>
          </a:prstGeom>
          <a:solidFill xmlns:a="http://schemas.openxmlformats.org/drawingml/2006/main">
            <a:srgbClr val="EAF1F8"/>
          </a:solidFill>
          <a:ln xmlns:a="http://schemas.openxmlformats.org/drawingml/2006/main" w="14288">
            <a:solidFill>
              <a:srgbClr val="102A43"/>
            </a:solidFill>
            <a:prstDash val="solid"/>
          </a:ln>
        </p:spPr>
      </p:sp>
      <p:sp>
        <p:nvSpPr>
          <p:cNvPr id="11" name="">
            <a:extLst xmlns:a="http://schemas.openxmlformats.org/drawingml/2006/main">
              <a:ext uri="{FF2B5EF4-FFF2-40B4-BE49-F238E27FC236}">
                <a16:creationId xmlns:a16="http://schemas.microsoft.com/office/drawing/2014/main" id="{ABC47E52-2542-4439-8E61-1A86AA0A930F}"/>
              </a:ext>
            </a:extLst>
          </p:cNvPr>
          <p:cNvSpPr>
            <a:spLocks xmlns:a="http://schemas.openxmlformats.org/drawingml/2006/main" noGrp="1"/>
          </p:cNvSpPr>
          <p:nvPr/>
        </p:nvSpPr>
        <p:spPr>
          <a:xfrm xmlns:a="http://schemas.openxmlformats.org/drawingml/2006/main">
            <a:off x="1943100" y="215265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existing owner</a:t>
            </a:r>
          </a:p>
        </p:txBody>
      </p:sp>
      <p:sp>
        <p:nvSpPr>
          <p:cNvPr id="12" name="">
            <a:extLst xmlns:a="http://schemas.openxmlformats.org/drawingml/2006/main">
              <a:ext uri="{FF2B5EF4-FFF2-40B4-BE49-F238E27FC236}">
                <a16:creationId xmlns:a16="http://schemas.microsoft.com/office/drawing/2014/main" id="{C1BF3505-D9E6-4DCD-954D-C06744EB94F7}"/>
              </a:ext>
            </a:extLst>
          </p:cNvPr>
          <p:cNvSpPr>
            <a:spLocks xmlns:a="http://schemas.openxmlformats.org/drawingml/2006/main" noGrp="1"/>
          </p:cNvSpPr>
          <p:nvPr/>
        </p:nvSpPr>
        <p:spPr>
          <a:xfrm xmlns:a="http://schemas.openxmlformats.org/drawingml/2006/main">
            <a:off x="3505200" y="2152650"/>
            <a:ext cx="66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owns</a:t>
            </a:r>
          </a:p>
        </p:txBody>
      </p:sp>
      <p:sp>
        <p:nvSpPr>
          <p:cNvPr id="13" name="">
            <a:extLst xmlns:a="http://schemas.openxmlformats.org/drawingml/2006/main">
              <a:ext uri="{FF2B5EF4-FFF2-40B4-BE49-F238E27FC236}">
                <a16:creationId xmlns:a16="http://schemas.microsoft.com/office/drawing/2014/main" id="{8C7F0633-17C9-4752-9509-AEDF0ED2216D}"/>
              </a:ext>
            </a:extLst>
          </p:cNvPr>
          <p:cNvSpPr>
            <a:spLocks xmlns:a="http://schemas.openxmlformats.org/drawingml/2006/main" noGrp="1"/>
          </p:cNvSpPr>
          <p:nvPr/>
        </p:nvSpPr>
        <p:spPr>
          <a:xfrm xmlns:a="http://schemas.openxmlformats.org/drawingml/2006/main">
            <a:off x="4248150" y="2019300"/>
            <a:ext cx="2095500" cy="609600"/>
          </a:xfrm>
          <a:prstGeom xmlns:a="http://schemas.openxmlformats.org/drawingml/2006/main" prst="roundRect">
            <a:avLst>
              <a:gd name="adj" fmla="val 9375"/>
            </a:avLst>
          </a:prstGeom>
          <a:solidFill xmlns:a="http://schemas.openxmlformats.org/drawingml/2006/main">
            <a:srgbClr val="FFFFFF"/>
          </a:solidFill>
          <a:ln xmlns:a="http://schemas.openxmlformats.org/drawingml/2006/main" w="11430">
            <a:solidFill>
              <a:srgbClr val="52606D"/>
            </a:solidFill>
            <a:prstDash val="solid"/>
          </a:ln>
        </p:spPr>
      </p:sp>
      <p:sp>
        <p:nvSpPr>
          <p:cNvPr id="14" name="">
            <a:extLst xmlns:a="http://schemas.openxmlformats.org/drawingml/2006/main">
              <a:ext uri="{FF2B5EF4-FFF2-40B4-BE49-F238E27FC236}">
                <a16:creationId xmlns:a16="http://schemas.microsoft.com/office/drawing/2014/main" id="{C2B0C6AC-0C23-48E4-B054-EADCBBDC65DA}"/>
              </a:ext>
            </a:extLst>
          </p:cNvPr>
          <p:cNvSpPr>
            <a:spLocks xmlns:a="http://schemas.openxmlformats.org/drawingml/2006/main" noGrp="1"/>
          </p:cNvSpPr>
          <p:nvPr/>
        </p:nvSpPr>
        <p:spPr>
          <a:xfrm xmlns:a="http://schemas.openxmlformats.org/drawingml/2006/main">
            <a:off x="4362450" y="2114550"/>
            <a:ext cx="1866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43B53"/>
                </a:solidFill>
              </a:defRPr>
            </a:pPr>
            <a:r>
              <a:rPr sz="1350" b="1" i="0">
                <a:solidFill>
                  <a:srgbClr val="243B53"/>
                </a:solidFill>
              </a:rPr>
              <a:t>retained  |  acquired</a:t>
            </a:r>
          </a:p>
        </p:txBody>
      </p:sp>
      <p:sp>
        <p:nvSpPr>
          <p:cNvPr id="15" name="">
            <a:extLst xmlns:a="http://schemas.openxmlformats.org/drawingml/2006/main">
              <a:ext uri="{FF2B5EF4-FFF2-40B4-BE49-F238E27FC236}">
                <a16:creationId xmlns:a16="http://schemas.microsoft.com/office/drawing/2014/main" id="{A0C73410-7B0C-40AB-89EA-F1E5D5A315CA}"/>
              </a:ext>
            </a:extLst>
          </p:cNvPr>
          <p:cNvSpPr>
            <a:spLocks xmlns:a="http://schemas.openxmlformats.org/drawingml/2006/main" noGrp="1"/>
          </p:cNvSpPr>
          <p:nvPr/>
        </p:nvSpPr>
        <p:spPr>
          <a:xfrm xmlns:a="http://schemas.openxmlformats.org/drawingml/2006/main">
            <a:off x="2514600" y="2876550"/>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split + transfer</a:t>
            </a:r>
          </a:p>
        </p:txBody>
      </p:sp>
      <p:sp>
        <p:nvSpPr>
          <p:cNvPr id="16" name="">
            <a:extLst xmlns:a="http://schemas.openxmlformats.org/drawingml/2006/main">
              <a:ext uri="{FF2B5EF4-FFF2-40B4-BE49-F238E27FC236}">
                <a16:creationId xmlns:a16="http://schemas.microsoft.com/office/drawing/2014/main" id="{C1F08A1E-CA01-40BC-927C-3A002E2F1DD0}"/>
              </a:ext>
            </a:extLst>
          </p:cNvPr>
          <p:cNvSpPr>
            <a:spLocks xmlns:a="http://schemas.openxmlformats.org/drawingml/2006/main" noGrp="1"/>
          </p:cNvSpPr>
          <p:nvPr/>
        </p:nvSpPr>
        <p:spPr>
          <a:xfrm xmlns:a="http://schemas.openxmlformats.org/drawingml/2006/main">
            <a:off x="3371850" y="3200400"/>
            <a:ext cx="685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371"/>
          </a:bodyPr>
          <a:lstStyle xmlns:a="http://schemas.openxmlformats.org/drawingml/2006/main"/>
          <a:p xmlns:a="http://schemas.openxmlformats.org/drawingml/2006/main">
            <a:pPr algn="ctr">
              <a:lnSpc>
                <a:spcPct val="105000"/>
              </a:lnSpc>
              <a:buNone/>
              <a:defRPr sz="2550" b="1" i="0">
                <a:solidFill>
                  <a:srgbClr val="E76F51"/>
                </a:solidFill>
              </a:defRPr>
            </a:pPr>
            <a:r>
              <a:rPr sz="2550" b="1" i="0">
                <a:solidFill>
                  <a:srgbClr val="E76F51"/>
                </a:solidFill>
              </a:rPr>
              <a:t>↓</a:t>
            </a:r>
          </a:p>
        </p:txBody>
      </p:sp>
      <p:sp>
        <p:nvSpPr>
          <p:cNvPr id="17" name="">
            <a:extLst xmlns:a="http://schemas.openxmlformats.org/drawingml/2006/main">
              <a:ext uri="{FF2B5EF4-FFF2-40B4-BE49-F238E27FC236}">
                <a16:creationId xmlns:a16="http://schemas.microsoft.com/office/drawing/2014/main" id="{4D97030A-4CCD-4AF9-A689-EC6E6EC00EA8}"/>
              </a:ext>
            </a:extLst>
          </p:cNvPr>
          <p:cNvSpPr>
            <a:spLocks xmlns:a="http://schemas.openxmlformats.org/drawingml/2006/main" noGrp="1"/>
          </p:cNvSpPr>
          <p:nvPr/>
        </p:nvSpPr>
        <p:spPr>
          <a:xfrm xmlns:a="http://schemas.openxmlformats.org/drawingml/2006/main">
            <a:off x="895350" y="3714750"/>
            <a:ext cx="876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350" b="1" i="0">
                <a:solidFill>
                  <a:srgbClr val="7B8794"/>
                </a:solidFill>
              </a:defRPr>
            </a:pPr>
            <a:r>
              <a:rPr sz="1350" b="1" i="0">
                <a:solidFill>
                  <a:srgbClr val="7B8794"/>
                </a:solidFill>
              </a:rPr>
              <a:t>After</a:t>
            </a:r>
          </a:p>
        </p:txBody>
      </p:sp>
      <p:sp>
        <p:nvSpPr>
          <p:cNvPr id="18" name="">
            <a:extLst xmlns:a="http://schemas.openxmlformats.org/drawingml/2006/main">
              <a:ext uri="{FF2B5EF4-FFF2-40B4-BE49-F238E27FC236}">
                <a16:creationId xmlns:a16="http://schemas.microsoft.com/office/drawing/2014/main" id="{A379EC3D-2B1C-498F-935D-1DDC241FA223}"/>
              </a:ext>
            </a:extLst>
          </p:cNvPr>
          <p:cNvSpPr>
            <a:spLocks xmlns:a="http://schemas.openxmlformats.org/drawingml/2006/main" noGrp="1"/>
          </p:cNvSpPr>
          <p:nvPr/>
        </p:nvSpPr>
        <p:spPr>
          <a:xfrm xmlns:a="http://schemas.openxmlformats.org/drawingml/2006/main">
            <a:off x="1847850" y="3638550"/>
            <a:ext cx="1562100" cy="495300"/>
          </a:xfrm>
          <a:prstGeom xmlns:a="http://schemas.openxmlformats.org/drawingml/2006/main" prst="roundRect">
            <a:avLst>
              <a:gd name="adj" fmla="val 11538"/>
            </a:avLst>
          </a:prstGeom>
          <a:solidFill xmlns:a="http://schemas.openxmlformats.org/drawingml/2006/main">
            <a:srgbClr val="EAF1F8"/>
          </a:solidFill>
          <a:ln xmlns:a="http://schemas.openxmlformats.org/drawingml/2006/main" w="14288">
            <a:solidFill>
              <a:srgbClr val="102A43"/>
            </a:solidFill>
            <a:prstDash val="solid"/>
          </a:ln>
        </p:spPr>
      </p:sp>
      <p:sp>
        <p:nvSpPr>
          <p:cNvPr id="19" name="">
            <a:extLst xmlns:a="http://schemas.openxmlformats.org/drawingml/2006/main">
              <a:ext uri="{FF2B5EF4-FFF2-40B4-BE49-F238E27FC236}">
                <a16:creationId xmlns:a16="http://schemas.microsoft.com/office/drawing/2014/main" id="{86DFECA7-9B4E-465C-B416-7A6B7C3C270B}"/>
              </a:ext>
            </a:extLst>
          </p:cNvPr>
          <p:cNvSpPr>
            <a:spLocks xmlns:a="http://schemas.openxmlformats.org/drawingml/2006/main" noGrp="1"/>
          </p:cNvSpPr>
          <p:nvPr/>
        </p:nvSpPr>
        <p:spPr>
          <a:xfrm xmlns:a="http://schemas.openxmlformats.org/drawingml/2006/main">
            <a:off x="1943100" y="371475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existing owner</a:t>
            </a:r>
          </a:p>
        </p:txBody>
      </p:sp>
      <p:sp>
        <p:nvSpPr>
          <p:cNvPr id="20" name="">
            <a:extLst xmlns:a="http://schemas.openxmlformats.org/drawingml/2006/main">
              <a:ext uri="{FF2B5EF4-FFF2-40B4-BE49-F238E27FC236}">
                <a16:creationId xmlns:a16="http://schemas.microsoft.com/office/drawing/2014/main" id="{106A51DD-DABE-4309-967D-ABF5E2884DD6}"/>
              </a:ext>
            </a:extLst>
          </p:cNvPr>
          <p:cNvSpPr>
            <a:spLocks xmlns:a="http://schemas.openxmlformats.org/drawingml/2006/main" noGrp="1"/>
          </p:cNvSpPr>
          <p:nvPr/>
        </p:nvSpPr>
        <p:spPr>
          <a:xfrm xmlns:a="http://schemas.openxmlformats.org/drawingml/2006/main">
            <a:off x="3476625" y="3714750"/>
            <a:ext cx="514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00" b="1" i="0">
                <a:solidFill>
                  <a:srgbClr val="52606D"/>
                </a:solidFill>
              </a:defRPr>
            </a:pPr>
            <a:r>
              <a:rPr sz="1800" b="1" i="0">
                <a:solidFill>
                  <a:srgbClr val="52606D"/>
                </a:solidFill>
              </a:rPr>
              <a:t>→</a:t>
            </a:r>
          </a:p>
        </p:txBody>
      </p:sp>
      <p:sp>
        <p:nvSpPr>
          <p:cNvPr id="21" name="">
            <a:extLst xmlns:a="http://schemas.openxmlformats.org/drawingml/2006/main">
              <a:ext uri="{FF2B5EF4-FFF2-40B4-BE49-F238E27FC236}">
                <a16:creationId xmlns:a16="http://schemas.microsoft.com/office/drawing/2014/main" id="{68FBB827-7954-4251-815A-AF1B558965A5}"/>
              </a:ext>
            </a:extLst>
          </p:cNvPr>
          <p:cNvSpPr>
            <a:spLocks xmlns:a="http://schemas.openxmlformats.org/drawingml/2006/main" noGrp="1"/>
          </p:cNvSpPr>
          <p:nvPr/>
        </p:nvSpPr>
        <p:spPr>
          <a:xfrm xmlns:a="http://schemas.openxmlformats.org/drawingml/2006/main">
            <a:off x="4038600" y="3638550"/>
            <a:ext cx="1390650" cy="495300"/>
          </a:xfrm>
          <a:prstGeom xmlns:a="http://schemas.openxmlformats.org/drawingml/2006/main" prst="roundRect">
            <a:avLst>
              <a:gd name="adj" fmla="val 11538"/>
            </a:avLst>
          </a:prstGeom>
          <a:solidFill xmlns:a="http://schemas.openxmlformats.org/drawingml/2006/main">
            <a:srgbClr val="FFFFFF"/>
          </a:solidFill>
          <a:ln xmlns:a="http://schemas.openxmlformats.org/drawingml/2006/main" w="11430">
            <a:solidFill>
              <a:srgbClr val="102A43"/>
            </a:solidFill>
            <a:prstDash val="solid"/>
          </a:ln>
        </p:spPr>
      </p:sp>
      <p:sp>
        <p:nvSpPr>
          <p:cNvPr id="22" name="">
            <a:extLst xmlns:a="http://schemas.openxmlformats.org/drawingml/2006/main">
              <a:ext uri="{FF2B5EF4-FFF2-40B4-BE49-F238E27FC236}">
                <a16:creationId xmlns:a16="http://schemas.microsoft.com/office/drawing/2014/main" id="{309F81E1-0A9F-4E2C-B98B-199C97337A20}"/>
              </a:ext>
            </a:extLst>
          </p:cNvPr>
          <p:cNvSpPr>
            <a:spLocks xmlns:a="http://schemas.openxmlformats.org/drawingml/2006/main" noGrp="1"/>
          </p:cNvSpPr>
          <p:nvPr/>
        </p:nvSpPr>
        <p:spPr>
          <a:xfrm xmlns:a="http://schemas.openxmlformats.org/drawingml/2006/main">
            <a:off x="4133850" y="3714750"/>
            <a:ext cx="1200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retained</a:t>
            </a:r>
          </a:p>
        </p:txBody>
      </p:sp>
      <p:sp>
        <p:nvSpPr>
          <p:cNvPr id="23" name="">
            <a:extLst xmlns:a="http://schemas.openxmlformats.org/drawingml/2006/main">
              <a:ext uri="{FF2B5EF4-FFF2-40B4-BE49-F238E27FC236}">
                <a16:creationId xmlns:a16="http://schemas.microsoft.com/office/drawing/2014/main" id="{E3B38425-E4AA-491E-9AEE-3D44D379AB71}"/>
              </a:ext>
            </a:extLst>
          </p:cNvPr>
          <p:cNvSpPr>
            <a:spLocks xmlns:a="http://schemas.openxmlformats.org/drawingml/2006/main" noGrp="1"/>
          </p:cNvSpPr>
          <p:nvPr/>
        </p:nvSpPr>
        <p:spPr>
          <a:xfrm xmlns:a="http://schemas.openxmlformats.org/drawingml/2006/main">
            <a:off x="1847850" y="4381500"/>
            <a:ext cx="1562100" cy="495300"/>
          </a:xfrm>
          <a:prstGeom xmlns:a="http://schemas.openxmlformats.org/drawingml/2006/main" prst="roundRect">
            <a:avLst>
              <a:gd name="adj" fmla="val 11538"/>
            </a:avLst>
          </a:prstGeom>
          <a:solidFill xmlns:a="http://schemas.openxmlformats.org/drawingml/2006/main">
            <a:srgbClr val="E8F5F3"/>
          </a:solidFill>
          <a:ln xmlns:a="http://schemas.openxmlformats.org/drawingml/2006/main" w="14288">
            <a:solidFill>
              <a:srgbClr val="2A9D8F"/>
            </a:solidFill>
            <a:prstDash val="solid"/>
          </a:ln>
        </p:spPr>
      </p:sp>
      <p:sp>
        <p:nvSpPr>
          <p:cNvPr id="24" name="">
            <a:extLst xmlns:a="http://schemas.openxmlformats.org/drawingml/2006/main">
              <a:ext uri="{FF2B5EF4-FFF2-40B4-BE49-F238E27FC236}">
                <a16:creationId xmlns:a16="http://schemas.microsoft.com/office/drawing/2014/main" id="{DDFACD43-0D24-44EA-8768-C730F26AC129}"/>
              </a:ext>
            </a:extLst>
          </p:cNvPr>
          <p:cNvSpPr>
            <a:spLocks xmlns:a="http://schemas.openxmlformats.org/drawingml/2006/main" noGrp="1"/>
          </p:cNvSpPr>
          <p:nvPr/>
        </p:nvSpPr>
        <p:spPr>
          <a:xfrm xmlns:a="http://schemas.openxmlformats.org/drawingml/2006/main">
            <a:off x="1943100" y="445770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new owner</a:t>
            </a:r>
          </a:p>
        </p:txBody>
      </p:sp>
      <p:sp>
        <p:nvSpPr>
          <p:cNvPr id="25" name="">
            <a:extLst xmlns:a="http://schemas.openxmlformats.org/drawingml/2006/main">
              <a:ext uri="{FF2B5EF4-FFF2-40B4-BE49-F238E27FC236}">
                <a16:creationId xmlns:a16="http://schemas.microsoft.com/office/drawing/2014/main" id="{F1D922A2-36BC-4C65-AF5C-4A0A483A90C7}"/>
              </a:ext>
            </a:extLst>
          </p:cNvPr>
          <p:cNvSpPr>
            <a:spLocks xmlns:a="http://schemas.openxmlformats.org/drawingml/2006/main" noGrp="1"/>
          </p:cNvSpPr>
          <p:nvPr/>
        </p:nvSpPr>
        <p:spPr>
          <a:xfrm xmlns:a="http://schemas.openxmlformats.org/drawingml/2006/main">
            <a:off x="3476625" y="4457700"/>
            <a:ext cx="514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00" b="1" i="0">
                <a:solidFill>
                  <a:srgbClr val="2A9D8F"/>
                </a:solidFill>
              </a:defRPr>
            </a:pPr>
            <a:r>
              <a:rPr sz="1800" b="1" i="0">
                <a:solidFill>
                  <a:srgbClr val="2A9D8F"/>
                </a:solidFill>
              </a:rPr>
              <a:t>→</a:t>
            </a:r>
          </a:p>
        </p:txBody>
      </p:sp>
      <p:sp>
        <p:nvSpPr>
          <p:cNvPr id="26" name="">
            <a:extLst xmlns:a="http://schemas.openxmlformats.org/drawingml/2006/main">
              <a:ext uri="{FF2B5EF4-FFF2-40B4-BE49-F238E27FC236}">
                <a16:creationId xmlns:a16="http://schemas.microsoft.com/office/drawing/2014/main" id="{E3472FFF-0617-4984-98E8-5FB647F28D6B}"/>
              </a:ext>
            </a:extLst>
          </p:cNvPr>
          <p:cNvSpPr>
            <a:spLocks xmlns:a="http://schemas.openxmlformats.org/drawingml/2006/main" noGrp="1"/>
          </p:cNvSpPr>
          <p:nvPr/>
        </p:nvSpPr>
        <p:spPr>
          <a:xfrm xmlns:a="http://schemas.openxmlformats.org/drawingml/2006/main">
            <a:off x="4038600" y="4381500"/>
            <a:ext cx="1390650" cy="495300"/>
          </a:xfrm>
          <a:prstGeom xmlns:a="http://schemas.openxmlformats.org/drawingml/2006/main" prst="roundRect">
            <a:avLst>
              <a:gd name="adj" fmla="val 11538"/>
            </a:avLst>
          </a:prstGeom>
          <a:solidFill xmlns:a="http://schemas.openxmlformats.org/drawingml/2006/main">
            <a:srgbClr val="E8F5F3"/>
          </a:solidFill>
          <a:ln xmlns:a="http://schemas.openxmlformats.org/drawingml/2006/main" w="11430">
            <a:solidFill>
              <a:srgbClr val="2A9D8F"/>
            </a:solidFill>
            <a:prstDash val="solid"/>
          </a:ln>
        </p:spPr>
      </p:sp>
      <p:sp>
        <p:nvSpPr>
          <p:cNvPr id="27" name="">
            <a:extLst xmlns:a="http://schemas.openxmlformats.org/drawingml/2006/main">
              <a:ext uri="{FF2B5EF4-FFF2-40B4-BE49-F238E27FC236}">
                <a16:creationId xmlns:a16="http://schemas.microsoft.com/office/drawing/2014/main" id="{6CDE1766-206E-476D-8788-D4BFCF217BF7}"/>
              </a:ext>
            </a:extLst>
          </p:cNvPr>
          <p:cNvSpPr>
            <a:spLocks xmlns:a="http://schemas.openxmlformats.org/drawingml/2006/main" noGrp="1"/>
          </p:cNvSpPr>
          <p:nvPr/>
        </p:nvSpPr>
        <p:spPr>
          <a:xfrm xmlns:a="http://schemas.openxmlformats.org/drawingml/2006/main">
            <a:off x="4133850" y="4457700"/>
            <a:ext cx="1200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acquired</a:t>
            </a:r>
          </a:p>
        </p:txBody>
      </p:sp>
      <p:sp>
        <p:nvSpPr>
          <p:cNvPr id="28" name="">
            <a:extLst xmlns:a="http://schemas.openxmlformats.org/drawingml/2006/main">
              <a:ext uri="{FF2B5EF4-FFF2-40B4-BE49-F238E27FC236}">
                <a16:creationId xmlns:a16="http://schemas.microsoft.com/office/drawing/2014/main" id="{3A7F7763-2F85-462B-BC8E-BB4ADD06136A}"/>
              </a:ext>
            </a:extLst>
          </p:cNvPr>
          <p:cNvSpPr>
            <a:spLocks xmlns:a="http://schemas.openxmlformats.org/drawingml/2006/main" noGrp="1"/>
          </p:cNvSpPr>
          <p:nvPr/>
        </p:nvSpPr>
        <p:spPr>
          <a:xfrm xmlns:a="http://schemas.openxmlformats.org/drawingml/2006/main">
            <a:off x="1047750" y="5010150"/>
            <a:ext cx="5448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Only the acquired nonempty segment changes parent ownership.</a:t>
            </a:r>
          </a:p>
        </p:txBody>
      </p:sp>
      <p:sp>
        <p:nvSpPr>
          <p:cNvPr id="29" name="">
            <a:extLst xmlns:a="http://schemas.openxmlformats.org/drawingml/2006/main">
              <a:ext uri="{FF2B5EF4-FFF2-40B4-BE49-F238E27FC236}">
                <a16:creationId xmlns:a16="http://schemas.microsoft.com/office/drawing/2014/main" id="{7FE88211-7E33-4CE3-894A-8E147185122E}"/>
              </a:ext>
            </a:extLst>
          </p:cNvPr>
          <p:cNvSpPr>
            <a:spLocks xmlns:a="http://schemas.openxmlformats.org/drawingml/2006/main" noGrp="1"/>
          </p:cNvSpPr>
          <p:nvPr/>
        </p:nvSpPr>
        <p:spPr>
          <a:xfrm xmlns:a="http://schemas.openxmlformats.org/drawingml/2006/main">
            <a:off x="7286625" y="1447800"/>
            <a:ext cx="3714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102A43"/>
                </a:solidFill>
              </a:defRPr>
            </a:pPr>
            <a:r>
              <a:rPr sz="1875" b="1" i="0">
                <a:solidFill>
                  <a:srgbClr val="102A43"/>
                </a:solidFill>
              </a:rPr>
              <a:t>Maintained state</a:t>
            </a:r>
          </a:p>
        </p:txBody>
      </p:sp>
      <p:sp>
        <p:nvSpPr>
          <p:cNvPr id="30" name="">
            <a:extLst xmlns:a="http://schemas.openxmlformats.org/drawingml/2006/main">
              <a:ext uri="{FF2B5EF4-FFF2-40B4-BE49-F238E27FC236}">
                <a16:creationId xmlns:a16="http://schemas.microsoft.com/office/drawing/2014/main" id="{2F08D3A0-38C7-45A8-BFF5-0BBD95B107A2}"/>
              </a:ext>
            </a:extLst>
          </p:cNvPr>
          <p:cNvSpPr>
            <a:spLocks xmlns:a="http://schemas.openxmlformats.org/drawingml/2006/main" noGrp="1"/>
          </p:cNvSpPr>
          <p:nvPr/>
        </p:nvSpPr>
        <p:spPr>
          <a:xfrm xmlns:a="http://schemas.openxmlformats.org/drawingml/2006/main">
            <a:off x="7334250" y="2028825"/>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1" name="">
            <a:extLst xmlns:a="http://schemas.openxmlformats.org/drawingml/2006/main">
              <a:ext uri="{FF2B5EF4-FFF2-40B4-BE49-F238E27FC236}">
                <a16:creationId xmlns:a16="http://schemas.microsoft.com/office/drawing/2014/main" id="{C681B3CC-A1CD-40F8-94C6-035C2AB57D8C}"/>
              </a:ext>
            </a:extLst>
          </p:cNvPr>
          <p:cNvSpPr>
            <a:spLocks xmlns:a="http://schemas.openxmlformats.org/drawingml/2006/main" noGrp="1"/>
          </p:cNvSpPr>
          <p:nvPr/>
        </p:nvSpPr>
        <p:spPr>
          <a:xfrm xmlns:a="http://schemas.openxmlformats.org/drawingml/2006/main">
            <a:off x="7543800" y="1952625"/>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sorted processed prefix</a:t>
            </a:r>
          </a:p>
        </p:txBody>
      </p:sp>
      <p:sp>
        <p:nvSpPr>
          <p:cNvPr id="32" name="">
            <a:extLst xmlns:a="http://schemas.openxmlformats.org/drawingml/2006/main">
              <a:ext uri="{FF2B5EF4-FFF2-40B4-BE49-F238E27FC236}">
                <a16:creationId xmlns:a16="http://schemas.microsoft.com/office/drawing/2014/main" id="{133B55E1-5FC1-46BF-9DBC-1B33B52F0ACA}"/>
              </a:ext>
            </a:extLst>
          </p:cNvPr>
          <p:cNvSpPr>
            <a:spLocks xmlns:a="http://schemas.openxmlformats.org/drawingml/2006/main" noGrp="1"/>
          </p:cNvSpPr>
          <p:nvPr/>
        </p:nvSpPr>
        <p:spPr>
          <a:xfrm xmlns:a="http://schemas.openxmlformats.org/drawingml/2006/main">
            <a:off x="7334250" y="24574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3" name="">
            <a:extLst xmlns:a="http://schemas.openxmlformats.org/drawingml/2006/main">
              <a:ext uri="{FF2B5EF4-FFF2-40B4-BE49-F238E27FC236}">
                <a16:creationId xmlns:a16="http://schemas.microsoft.com/office/drawing/2014/main" id="{9BAF103E-8122-41F9-B9BF-F247AF801CB8}"/>
              </a:ext>
            </a:extLst>
          </p:cNvPr>
          <p:cNvSpPr>
            <a:spLocks xmlns:a="http://schemas.openxmlformats.org/drawingml/2006/main" noGrp="1"/>
          </p:cNvSpPr>
          <p:nvPr/>
        </p:nvSpPr>
        <p:spPr>
          <a:xfrm xmlns:a="http://schemas.openxmlformats.org/drawingml/2006/main">
            <a:off x="7543800" y="2381250"/>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upper and lower pair families</a:t>
            </a:r>
          </a:p>
        </p:txBody>
      </p:sp>
      <p:sp>
        <p:nvSpPr>
          <p:cNvPr id="34" name="">
            <a:extLst xmlns:a="http://schemas.openxmlformats.org/drawingml/2006/main">
              <a:ext uri="{FF2B5EF4-FFF2-40B4-BE49-F238E27FC236}">
                <a16:creationId xmlns:a16="http://schemas.microsoft.com/office/drawing/2014/main" id="{DCF80717-3BB5-4962-B009-95E1CA234081}"/>
              </a:ext>
            </a:extLst>
          </p:cNvPr>
          <p:cNvSpPr>
            <a:spLocks xmlns:a="http://schemas.openxmlformats.org/drawingml/2006/main" noGrp="1"/>
          </p:cNvSpPr>
          <p:nvPr/>
        </p:nvSpPr>
        <p:spPr>
          <a:xfrm xmlns:a="http://schemas.openxmlformats.org/drawingml/2006/main">
            <a:off x="7334250" y="2886075"/>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5" name="">
            <a:extLst xmlns:a="http://schemas.openxmlformats.org/drawingml/2006/main">
              <a:ext uri="{FF2B5EF4-FFF2-40B4-BE49-F238E27FC236}">
                <a16:creationId xmlns:a16="http://schemas.microsoft.com/office/drawing/2014/main" id="{09F32759-E185-4E27-AFBD-668F56A7D3D9}"/>
              </a:ext>
            </a:extLst>
          </p:cNvPr>
          <p:cNvSpPr>
            <a:spLocks xmlns:a="http://schemas.openxmlformats.org/drawingml/2006/main" noGrp="1"/>
          </p:cNvSpPr>
          <p:nvPr/>
        </p:nvSpPr>
        <p:spPr>
          <a:xfrm xmlns:a="http://schemas.openxmlformats.org/drawingml/2006/main">
            <a:off x="7543800" y="2809875"/>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one parent per finite pair</a:t>
            </a:r>
          </a:p>
        </p:txBody>
      </p:sp>
      <p:sp>
        <p:nvSpPr>
          <p:cNvPr id="36" name="">
            <a:extLst xmlns:a="http://schemas.openxmlformats.org/drawingml/2006/main">
              <a:ext uri="{FF2B5EF4-FFF2-40B4-BE49-F238E27FC236}">
                <a16:creationId xmlns:a16="http://schemas.microsoft.com/office/drawing/2014/main" id="{4968E028-8288-46D5-9A1F-5A8123E743C2}"/>
              </a:ext>
            </a:extLst>
          </p:cNvPr>
          <p:cNvSpPr>
            <a:spLocks xmlns:a="http://schemas.openxmlformats.org/drawingml/2006/main" noGrp="1"/>
          </p:cNvSpPr>
          <p:nvPr/>
        </p:nvSpPr>
        <p:spPr>
          <a:xfrm xmlns:a="http://schemas.openxmlformats.org/drawingml/2006/main">
            <a:off x="7334250" y="331470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7" name="">
            <a:extLst xmlns:a="http://schemas.openxmlformats.org/drawingml/2006/main">
              <a:ext uri="{FF2B5EF4-FFF2-40B4-BE49-F238E27FC236}">
                <a16:creationId xmlns:a16="http://schemas.microsoft.com/office/drawing/2014/main" id="{24BFCC10-F758-4F36-A896-7A717F29763E}"/>
              </a:ext>
            </a:extLst>
          </p:cNvPr>
          <p:cNvSpPr>
            <a:spLocks xmlns:a="http://schemas.openxmlformats.org/drawingml/2006/main" noGrp="1"/>
          </p:cNvSpPr>
          <p:nvPr/>
        </p:nvSpPr>
        <p:spPr>
          <a:xfrm xmlns:a="http://schemas.openxmlformats.org/drawingml/2006/main">
            <a:off x="7543800" y="3238500"/>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one sibling-list owner per finite pair</a:t>
            </a:r>
          </a:p>
        </p:txBody>
      </p:sp>
      <p:sp>
        <p:nvSpPr>
          <p:cNvPr id="38" name="">
            <a:extLst xmlns:a="http://schemas.openxmlformats.org/drawingml/2006/main">
              <a:ext uri="{FF2B5EF4-FFF2-40B4-BE49-F238E27FC236}">
                <a16:creationId xmlns:a16="http://schemas.microsoft.com/office/drawing/2014/main" id="{E68ABE82-7AA0-4E02-A58A-AA08AEDAA477}"/>
              </a:ext>
            </a:extLst>
          </p:cNvPr>
          <p:cNvSpPr>
            <a:spLocks xmlns:a="http://schemas.openxmlformats.org/drawingml/2006/main" noGrp="1"/>
          </p:cNvSpPr>
          <p:nvPr/>
        </p:nvSpPr>
        <p:spPr>
          <a:xfrm xmlns:a="http://schemas.openxmlformats.org/drawingml/2006/main">
            <a:off x="7286625" y="3886200"/>
            <a:ext cx="3714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2A9D8F"/>
                </a:solidFill>
              </a:defRPr>
            </a:pPr>
            <a:r>
              <a:rPr sz="1875" b="1" i="0">
                <a:solidFill>
                  <a:srgbClr val="2A9D8F"/>
                </a:solidFill>
              </a:rPr>
              <a:t>Transactional update</a:t>
            </a:r>
          </a:p>
        </p:txBody>
      </p:sp>
      <p:sp>
        <p:nvSpPr>
          <p:cNvPr id="39" name="">
            <a:extLst xmlns:a="http://schemas.openxmlformats.org/drawingml/2006/main">
              <a:ext uri="{FF2B5EF4-FFF2-40B4-BE49-F238E27FC236}">
                <a16:creationId xmlns:a16="http://schemas.microsoft.com/office/drawing/2014/main" id="{360303FE-8473-450A-84CE-306340A21F39}"/>
              </a:ext>
            </a:extLst>
          </p:cNvPr>
          <p:cNvSpPr>
            <a:spLocks xmlns:a="http://schemas.openxmlformats.org/drawingml/2006/main" noGrp="1"/>
          </p:cNvSpPr>
          <p:nvPr/>
        </p:nvSpPr>
        <p:spPr>
          <a:xfrm xmlns:a="http://schemas.openxmlformats.org/drawingml/2006/main">
            <a:off x="7334250" y="4324350"/>
            <a:ext cx="3905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save state  →  split  →  transfer  →</a:t>
            </a:r>
          </a:p>
          <a:p xmlns:a="http://schemas.openxmlformats.org/drawingml/2006/main">
            <a:pPr algn="ctr">
              <a:lnSpc>
                <a:spcPct val="105000"/>
              </a:lnSpc>
              <a:buNone/>
              <a:defRPr sz="1500" b="0" i="0">
                <a:solidFill>
                  <a:srgbClr val="243B53"/>
                </a:solidFill>
              </a:defRPr>
            </a:pPr>
            <a:r>
              <a:rPr sz="1500" b="0" i="0">
                <a:solidFill>
                  <a:srgbClr val="243B53"/>
                </a:solidFill>
              </a:rPr>
              <a:t>check postconditions  →  roll back on failure</a:t>
            </a:r>
          </a:p>
        </p:txBody>
      </p:sp>
      <p:sp>
        <p:nvSpPr>
          <p:cNvPr id="40" name="">
            <a:extLst xmlns:a="http://schemas.openxmlformats.org/drawingml/2006/main">
              <a:ext uri="{FF2B5EF4-FFF2-40B4-BE49-F238E27FC236}">
                <a16:creationId xmlns:a16="http://schemas.microsoft.com/office/drawing/2014/main" id="{C2E354DC-9A42-4ED3-A124-43505450DDF4}"/>
              </a:ext>
            </a:extLst>
          </p:cNvPr>
          <p:cNvSpPr>
            <a:spLocks xmlns:a="http://schemas.openxmlformats.org/drawingml/2006/main" noGrp="1"/>
          </p:cNvSpPr>
          <p:nvPr/>
        </p:nvSpPr>
        <p:spPr>
          <a:xfrm xmlns:a="http://schemas.openxmlformats.org/drawingml/2006/main">
            <a:off x="1066800" y="5715000"/>
            <a:ext cx="10058400" cy="476250"/>
          </a:xfrm>
          <a:prstGeom xmlns:a="http://schemas.openxmlformats.org/drawingml/2006/main" prst="roundRect">
            <a:avLst>
              <a:gd name="adj" fmla="val 12000"/>
            </a:avLst>
          </a:prstGeom>
          <a:solidFill xmlns:a="http://schemas.openxmlformats.org/drawingml/2006/main">
            <a:srgbClr val="FCEEEA"/>
          </a:solidFill>
          <a:ln xmlns:a="http://schemas.openxmlformats.org/drawingml/2006/main" w="11430">
            <a:solidFill>
              <a:srgbClr val="E76F51"/>
            </a:solidFill>
            <a:prstDash val="solid"/>
          </a:ln>
        </p:spPr>
      </p:sp>
      <p:sp>
        <p:nvSpPr>
          <p:cNvPr id="41" name="">
            <a:extLst xmlns:a="http://schemas.openxmlformats.org/drawingml/2006/main">
              <a:ext uri="{FF2B5EF4-FFF2-40B4-BE49-F238E27FC236}">
                <a16:creationId xmlns:a16="http://schemas.microsoft.com/office/drawing/2014/main" id="{A84D4D58-562A-438F-A9F2-571C116F8A13}"/>
              </a:ext>
            </a:extLst>
          </p:cNvPr>
          <p:cNvSpPr>
            <a:spLocks xmlns:a="http://schemas.openxmlformats.org/drawingml/2006/main" noGrp="1"/>
          </p:cNvSpPr>
          <p:nvPr/>
        </p:nvSpPr>
        <p:spPr>
          <a:xfrm xmlns:a="http://schemas.openxmlformats.org/drawingml/2006/main">
            <a:off x="1219200" y="5762625"/>
            <a:ext cx="9753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Ordinary lists expose scanning, copying, slicing, and ownership rebinding as concrete costs.</a:t>
            </a:r>
          </a:p>
        </p:txBody>
      </p:sp>
    </p:spTree>
    <p:extLst>
      <p:ext uri="{BB962C8B-B14F-4D97-AF65-F5344CB8AC3E}">
        <p14:creationId xmlns:p14="http://schemas.microsoft.com/office/powerpoint/2010/main" val="1686660708"/>
      </p:ext>
    </p:extLst>
  </p:cSld>
</p:sld>
</file>

<file path=ppt/slides/slide1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B3F094BB-CE19-4AD3-B87F-14D6E851B38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VALIDATION</a:t>
            </a:r>
          </a:p>
        </p:txBody>
      </p:sp>
      <p:sp>
        <p:nvSpPr>
          <p:cNvPr id="2" name="">
            <a:extLst xmlns:a="http://schemas.openxmlformats.org/drawingml/2006/main">
              <a:ext uri="{FF2B5EF4-FFF2-40B4-BE49-F238E27FC236}">
                <a16:creationId xmlns:a16="http://schemas.microsoft.com/office/drawing/2014/main" id="{19A1ECD9-9E3E-45C6-BA9C-59D26445B51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Implementation checks and experiment consistency</a:t>
            </a:r>
          </a:p>
        </p:txBody>
      </p:sp>
      <p:sp>
        <p:nvSpPr>
          <p:cNvPr id="3" name="">
            <a:extLst xmlns:a="http://schemas.openxmlformats.org/drawingml/2006/main">
              <a:ext uri="{FF2B5EF4-FFF2-40B4-BE49-F238E27FC236}">
                <a16:creationId xmlns:a16="http://schemas.microsoft.com/office/drawing/2014/main" id="{C3082634-D6F3-4026-B5CF-40196227B1A7}"/>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18289D5D-C882-4408-8106-5919D9B832B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C41C4E17-B88B-45B7-A6B1-796C7C0B9A37}"/>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AFA14789-31E6-4EF8-ACCB-183BE4AFC1E9}"/>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11 / 16</a:t>
            </a:r>
          </a:p>
        </p:txBody>
      </p:sp>
      <p:sp>
        <p:nvSpPr>
          <p:cNvPr id="7" name="">
            <a:extLst xmlns:a="http://schemas.openxmlformats.org/drawingml/2006/main">
              <a:ext uri="{FF2B5EF4-FFF2-40B4-BE49-F238E27FC236}">
                <a16:creationId xmlns:a16="http://schemas.microsoft.com/office/drawing/2014/main" id="{20DE47C2-D6E2-4723-AF19-C24F87BB9DAA}"/>
              </a:ext>
            </a:extLst>
          </p:cNvPr>
          <p:cNvSpPr>
            <a:spLocks xmlns:a="http://schemas.openxmlformats.org/drawingml/2006/main" noGrp="1"/>
          </p:cNvSpPr>
          <p:nvPr/>
        </p:nvSpPr>
        <p:spPr>
          <a:xfrm xmlns:a="http://schemas.openxmlformats.org/drawingml/2006/main">
            <a:off x="876300" y="15049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2A9D8F"/>
                </a:solidFill>
              </a:defRPr>
            </a:pPr>
            <a:r>
              <a:rPr sz="1125" b="1" i="0">
                <a:solidFill>
                  <a:srgbClr val="2A9D8F"/>
                </a:solidFill>
              </a:rPr>
              <a:t>IMPLEMENTATION AND STATE VALIDATION</a:t>
            </a:r>
          </a:p>
        </p:txBody>
      </p:sp>
      <p:sp>
        <p:nvSpPr>
          <p:cNvPr id="8" name="">
            <a:extLst xmlns:a="http://schemas.openxmlformats.org/drawingml/2006/main">
              <a:ext uri="{FF2B5EF4-FFF2-40B4-BE49-F238E27FC236}">
                <a16:creationId xmlns:a16="http://schemas.microsoft.com/office/drawing/2014/main" id="{C0726BF0-D68C-405B-BC73-20D27CDA56DA}"/>
              </a:ext>
            </a:extLst>
          </p:cNvPr>
          <p:cNvSpPr>
            <a:spLocks xmlns:a="http://schemas.openxmlformats.org/drawingml/2006/main" noGrp="1"/>
          </p:cNvSpPr>
          <p:nvPr/>
        </p:nvSpPr>
        <p:spPr>
          <a:xfrm xmlns:a="http://schemas.openxmlformats.org/drawingml/2006/main">
            <a:off x="6934200" y="15049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E76F51"/>
                </a:solidFill>
              </a:defRPr>
            </a:pPr>
            <a:r>
              <a:rPr sz="1125" b="1" i="0">
                <a:solidFill>
                  <a:srgbClr val="E76F51"/>
                </a:solidFill>
              </a:rPr>
              <a:t>EXPERIMENT OUTPUT CHECK</a:t>
            </a:r>
          </a:p>
        </p:txBody>
      </p:sp>
      <p:sp>
        <p:nvSpPr>
          <p:cNvPr id="9" name="">
            <a:extLst xmlns:a="http://schemas.openxmlformats.org/drawingml/2006/main">
              <a:ext uri="{FF2B5EF4-FFF2-40B4-BE49-F238E27FC236}">
                <a16:creationId xmlns:a16="http://schemas.microsoft.com/office/drawing/2014/main" id="{822ABF15-0A71-47DE-B5F2-EFCBDF8D7D67}"/>
              </a:ext>
            </a:extLst>
          </p:cNvPr>
          <p:cNvSpPr>
            <a:spLocks xmlns:a="http://schemas.openxmlformats.org/drawingml/2006/main" noGrp="1"/>
          </p:cNvSpPr>
          <p:nvPr/>
        </p:nvSpPr>
        <p:spPr>
          <a:xfrm xmlns:a="http://schemas.openxmlformats.org/drawingml/2006/main">
            <a:off x="838200" y="1924050"/>
            <a:ext cx="4476750" cy="609600"/>
          </a:xfrm>
          <a:prstGeom xmlns:a="http://schemas.openxmlformats.org/drawingml/2006/main" prst="roundRect">
            <a:avLst>
              <a:gd name="adj" fmla="val 10938"/>
            </a:avLst>
          </a:prstGeom>
          <a:solidFill xmlns:a="http://schemas.openxmlformats.org/drawingml/2006/main">
            <a:srgbClr val="E8F5F3"/>
          </a:solidFill>
          <a:ln xmlns:a="http://schemas.openxmlformats.org/drawingml/2006/main" w="11430">
            <a:solidFill>
              <a:srgbClr val="2A9D8F"/>
            </a:solidFill>
            <a:prstDash val="solid"/>
          </a:ln>
        </p:spPr>
      </p:sp>
      <p:sp>
        <p:nvSpPr>
          <p:cNvPr id="10" name="">
            <a:extLst xmlns:a="http://schemas.openxmlformats.org/drawingml/2006/main">
              <a:ext uri="{FF2B5EF4-FFF2-40B4-BE49-F238E27FC236}">
                <a16:creationId xmlns:a16="http://schemas.microsoft.com/office/drawing/2014/main" id="{DF2ED6A0-FF25-4F01-8EC5-3A4FEBF9785B}"/>
              </a:ext>
            </a:extLst>
          </p:cNvPr>
          <p:cNvSpPr>
            <a:spLocks xmlns:a="http://schemas.openxmlformats.org/drawingml/2006/main" noGrp="1"/>
          </p:cNvSpPr>
          <p:nvPr/>
        </p:nvSpPr>
        <p:spPr>
          <a:xfrm xmlns:a="http://schemas.openxmlformats.org/drawingml/2006/main">
            <a:off x="990600" y="20002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Focused regression cases</a:t>
            </a:r>
          </a:p>
        </p:txBody>
      </p:sp>
      <p:sp>
        <p:nvSpPr>
          <p:cNvPr id="11" name="">
            <a:extLst xmlns:a="http://schemas.openxmlformats.org/drawingml/2006/main">
              <a:ext uri="{FF2B5EF4-FFF2-40B4-BE49-F238E27FC236}">
                <a16:creationId xmlns:a16="http://schemas.microsoft.com/office/drawing/2014/main" id="{EA5D4B5A-1906-4C08-8399-D881B68EDBCE}"/>
              </a:ext>
            </a:extLst>
          </p:cNvPr>
          <p:cNvSpPr>
            <a:spLocks xmlns:a="http://schemas.openxmlformats.org/drawingml/2006/main" noGrp="1"/>
          </p:cNvSpPr>
          <p:nvPr/>
        </p:nvSpPr>
        <p:spPr>
          <a:xfrm xmlns:a="http://schemas.openxmlformats.org/drawingml/2006/main">
            <a:off x="2724150" y="250507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a:t>
            </a:r>
          </a:p>
        </p:txBody>
      </p:sp>
      <p:sp>
        <p:nvSpPr>
          <p:cNvPr id="12" name="">
            <a:extLst xmlns:a="http://schemas.openxmlformats.org/drawingml/2006/main">
              <a:ext uri="{FF2B5EF4-FFF2-40B4-BE49-F238E27FC236}">
                <a16:creationId xmlns:a16="http://schemas.microsoft.com/office/drawing/2014/main" id="{9587A61D-6027-4FA2-BAC4-C6C585F6ED4E}"/>
              </a:ext>
            </a:extLst>
          </p:cNvPr>
          <p:cNvSpPr>
            <a:spLocks xmlns:a="http://schemas.openxmlformats.org/drawingml/2006/main" noGrp="1"/>
          </p:cNvSpPr>
          <p:nvPr/>
        </p:nvSpPr>
        <p:spPr>
          <a:xfrm xmlns:a="http://schemas.openxmlformats.org/drawingml/2006/main">
            <a:off x="838200" y="2800350"/>
            <a:ext cx="4476750" cy="781050"/>
          </a:xfrm>
          <a:prstGeom xmlns:a="http://schemas.openxmlformats.org/drawingml/2006/main" prst="roundRect">
            <a:avLst>
              <a:gd name="adj" fmla="val 8537"/>
            </a:avLst>
          </a:prstGeom>
          <a:solidFill xmlns:a="http://schemas.openxmlformats.org/drawingml/2006/main">
            <a:srgbClr val="E8F5F3"/>
          </a:solidFill>
          <a:ln xmlns:a="http://schemas.openxmlformats.org/drawingml/2006/main" w="11430">
            <a:solidFill>
              <a:srgbClr val="2A9D8F"/>
            </a:solidFill>
            <a:prstDash val="solid"/>
          </a:ln>
        </p:spPr>
      </p:sp>
      <p:sp>
        <p:nvSpPr>
          <p:cNvPr id="13" name="">
            <a:extLst xmlns:a="http://schemas.openxmlformats.org/drawingml/2006/main">
              <a:ext uri="{FF2B5EF4-FFF2-40B4-BE49-F238E27FC236}">
                <a16:creationId xmlns:a16="http://schemas.microsoft.com/office/drawing/2014/main" id="{4D8C6C7E-3621-41BA-9A02-EA3CD417B021}"/>
              </a:ext>
            </a:extLst>
          </p:cNvPr>
          <p:cNvSpPr>
            <a:spLocks xmlns:a="http://schemas.openxmlformats.org/drawingml/2006/main" noGrp="1"/>
          </p:cNvSpPr>
          <p:nvPr/>
        </p:nvSpPr>
        <p:spPr>
          <a:xfrm xmlns:a="http://schemas.openxmlformats.org/drawingml/2006/main">
            <a:off x="990600" y="2876550"/>
            <a:ext cx="4171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43B53"/>
                </a:solidFill>
              </a:defRPr>
            </a:pPr>
            <a:r>
              <a:rPr sz="1350" b="1" i="0">
                <a:solidFill>
                  <a:srgbClr val="243B53"/>
                </a:solidFill>
              </a:rPr>
              <a:t>Bounded exhaustive validation</a:t>
            </a:r>
          </a:p>
          <a:p xmlns:a="http://schemas.openxmlformats.org/drawingml/2006/main">
            <a:pPr algn="ctr">
              <a:lnSpc>
                <a:spcPct val="105000"/>
              </a:lnSpc>
              <a:buNone/>
              <a:defRPr sz="1350" b="1" i="0">
                <a:solidFill>
                  <a:srgbClr val="243B53"/>
                </a:solidFill>
              </a:defRPr>
            </a:pPr>
            <a:r>
              <a:rPr sz="1350" b="1" i="0">
                <a:solidFill>
                  <a:srgbClr val="243B53"/>
                </a:solidFill>
              </a:rPr>
              <a:t>2,074 oracle-valid permutations, n ≤ 8</a:t>
            </a:r>
          </a:p>
        </p:txBody>
      </p:sp>
      <p:sp>
        <p:nvSpPr>
          <p:cNvPr id="14" name="">
            <a:extLst xmlns:a="http://schemas.openxmlformats.org/drawingml/2006/main">
              <a:ext uri="{FF2B5EF4-FFF2-40B4-BE49-F238E27FC236}">
                <a16:creationId xmlns:a16="http://schemas.microsoft.com/office/drawing/2014/main" id="{627A32BA-B682-41BE-8C06-824005C7F8DF}"/>
              </a:ext>
            </a:extLst>
          </p:cNvPr>
          <p:cNvSpPr>
            <a:spLocks xmlns:a="http://schemas.openxmlformats.org/drawingml/2006/main" noGrp="1"/>
          </p:cNvSpPr>
          <p:nvPr/>
        </p:nvSpPr>
        <p:spPr>
          <a:xfrm xmlns:a="http://schemas.openxmlformats.org/drawingml/2006/main">
            <a:off x="2724150" y="355282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a:t>
            </a:r>
          </a:p>
        </p:txBody>
      </p:sp>
      <p:sp>
        <p:nvSpPr>
          <p:cNvPr id="15" name="">
            <a:extLst xmlns:a="http://schemas.openxmlformats.org/drawingml/2006/main">
              <a:ext uri="{FF2B5EF4-FFF2-40B4-BE49-F238E27FC236}">
                <a16:creationId xmlns:a16="http://schemas.microsoft.com/office/drawing/2014/main" id="{7AFF28C6-23D1-4FD0-B74F-807AF90D237C}"/>
              </a:ext>
            </a:extLst>
          </p:cNvPr>
          <p:cNvSpPr>
            <a:spLocks xmlns:a="http://schemas.openxmlformats.org/drawingml/2006/main" noGrp="1"/>
          </p:cNvSpPr>
          <p:nvPr/>
        </p:nvSpPr>
        <p:spPr>
          <a:xfrm xmlns:a="http://schemas.openxmlformats.org/drawingml/2006/main">
            <a:off x="838200" y="3829050"/>
            <a:ext cx="4476750" cy="609600"/>
          </a:xfrm>
          <a:prstGeom xmlns:a="http://schemas.openxmlformats.org/drawingml/2006/main" prst="roundRect">
            <a:avLst>
              <a:gd name="adj" fmla="val 10938"/>
            </a:avLst>
          </a:prstGeom>
          <a:solidFill xmlns:a="http://schemas.openxmlformats.org/drawingml/2006/main">
            <a:srgbClr val="E8F5F3"/>
          </a:solidFill>
          <a:ln xmlns:a="http://schemas.openxmlformats.org/drawingml/2006/main" w="11430">
            <a:solidFill>
              <a:srgbClr val="2A9D8F"/>
            </a:solidFill>
            <a:prstDash val="solid"/>
          </a:ln>
        </p:spPr>
      </p:sp>
      <p:sp>
        <p:nvSpPr>
          <p:cNvPr id="16" name="">
            <a:extLst xmlns:a="http://schemas.openxmlformats.org/drawingml/2006/main">
              <a:ext uri="{FF2B5EF4-FFF2-40B4-BE49-F238E27FC236}">
                <a16:creationId xmlns:a16="http://schemas.microsoft.com/office/drawing/2014/main" id="{3CCC33E9-DA35-4132-8EB6-2F31A9DB7BCF}"/>
              </a:ext>
            </a:extLst>
          </p:cNvPr>
          <p:cNvSpPr>
            <a:spLocks xmlns:a="http://schemas.openxmlformats.org/drawingml/2006/main" noGrp="1"/>
          </p:cNvSpPr>
          <p:nvPr/>
        </p:nvSpPr>
        <p:spPr>
          <a:xfrm xmlns:a="http://schemas.openxmlformats.org/drawingml/2006/main">
            <a:off x="990600" y="39052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Checked-state audits</a:t>
            </a:r>
          </a:p>
        </p:txBody>
      </p:sp>
      <p:sp>
        <p:nvSpPr>
          <p:cNvPr id="17" name="">
            <a:extLst xmlns:a="http://schemas.openxmlformats.org/drawingml/2006/main">
              <a:ext uri="{FF2B5EF4-FFF2-40B4-BE49-F238E27FC236}">
                <a16:creationId xmlns:a16="http://schemas.microsoft.com/office/drawing/2014/main" id="{2304C8FF-45F3-4961-8893-7BA78956EFD5}"/>
              </a:ext>
            </a:extLst>
          </p:cNvPr>
          <p:cNvSpPr>
            <a:spLocks xmlns:a="http://schemas.openxmlformats.org/drawingml/2006/main" noGrp="1"/>
          </p:cNvSpPr>
          <p:nvPr/>
        </p:nvSpPr>
        <p:spPr>
          <a:xfrm xmlns:a="http://schemas.openxmlformats.org/drawingml/2006/main">
            <a:off x="2724150" y="441007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a:t>
            </a:r>
          </a:p>
        </p:txBody>
      </p:sp>
      <p:sp>
        <p:nvSpPr>
          <p:cNvPr id="18" name="">
            <a:extLst xmlns:a="http://schemas.openxmlformats.org/drawingml/2006/main">
              <a:ext uri="{FF2B5EF4-FFF2-40B4-BE49-F238E27FC236}">
                <a16:creationId xmlns:a16="http://schemas.microsoft.com/office/drawing/2014/main" id="{242FA285-BF04-4229-A280-67430829F650}"/>
              </a:ext>
            </a:extLst>
          </p:cNvPr>
          <p:cNvSpPr>
            <a:spLocks xmlns:a="http://schemas.openxmlformats.org/drawingml/2006/main" noGrp="1"/>
          </p:cNvSpPr>
          <p:nvPr/>
        </p:nvSpPr>
        <p:spPr>
          <a:xfrm xmlns:a="http://schemas.openxmlformats.org/drawingml/2006/main">
            <a:off x="838200" y="4705350"/>
            <a:ext cx="4476750" cy="609600"/>
          </a:xfrm>
          <a:prstGeom xmlns:a="http://schemas.openxmlformats.org/drawingml/2006/main" prst="roundRect">
            <a:avLst>
              <a:gd name="adj" fmla="val 10938"/>
            </a:avLst>
          </a:prstGeom>
          <a:solidFill xmlns:a="http://schemas.openxmlformats.org/drawingml/2006/main">
            <a:srgbClr val="E8F5F3"/>
          </a:solidFill>
          <a:ln xmlns:a="http://schemas.openxmlformats.org/drawingml/2006/main" w="11430">
            <a:solidFill>
              <a:srgbClr val="2A9D8F"/>
            </a:solidFill>
            <a:prstDash val="solid"/>
          </a:ln>
        </p:spPr>
      </p:sp>
      <p:sp>
        <p:nvSpPr>
          <p:cNvPr id="19" name="">
            <a:extLst xmlns:a="http://schemas.openxmlformats.org/drawingml/2006/main">
              <a:ext uri="{FF2B5EF4-FFF2-40B4-BE49-F238E27FC236}">
                <a16:creationId xmlns:a16="http://schemas.microsoft.com/office/drawing/2014/main" id="{C85EF987-1FC2-4B46-B451-C84F2FE0DCCF}"/>
              </a:ext>
            </a:extLst>
          </p:cNvPr>
          <p:cNvSpPr>
            <a:spLocks xmlns:a="http://schemas.openxmlformats.org/drawingml/2006/main" noGrp="1"/>
          </p:cNvSpPr>
          <p:nvPr/>
        </p:nvSpPr>
        <p:spPr>
          <a:xfrm xmlns:a="http://schemas.openxmlformats.org/drawingml/2006/main">
            <a:off x="990600" y="47815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Same-core deterministic replay</a:t>
            </a:r>
          </a:p>
        </p:txBody>
      </p:sp>
      <p:sp>
        <p:nvSpPr>
          <p:cNvPr id="20" name="">
            <a:extLst xmlns:a="http://schemas.openxmlformats.org/drawingml/2006/main">
              <a:ext uri="{FF2B5EF4-FFF2-40B4-BE49-F238E27FC236}">
                <a16:creationId xmlns:a16="http://schemas.microsoft.com/office/drawing/2014/main" id="{61B3455F-E932-48ED-AF0B-5EF8B53A5601}"/>
              </a:ext>
            </a:extLst>
          </p:cNvPr>
          <p:cNvSpPr>
            <a:spLocks xmlns:a="http://schemas.openxmlformats.org/drawingml/2006/main" noGrp="1"/>
          </p:cNvSpPr>
          <p:nvPr/>
        </p:nvSpPr>
        <p:spPr>
          <a:xfrm xmlns:a="http://schemas.openxmlformats.org/drawingml/2006/main">
            <a:off x="6877050" y="2209800"/>
            <a:ext cx="4476750" cy="2381250"/>
          </a:xfrm>
          <a:prstGeom xmlns:a="http://schemas.openxmlformats.org/drawingml/2006/main" prst="roundRect">
            <a:avLst>
              <a:gd name="adj" fmla="val 3200"/>
            </a:avLst>
          </a:prstGeom>
          <a:solidFill xmlns:a="http://schemas.openxmlformats.org/drawingml/2006/main">
            <a:srgbClr val="FCEEEA"/>
          </a:solidFill>
          <a:ln xmlns:a="http://schemas.openxmlformats.org/drawingml/2006/main" w="14288">
            <a:solidFill>
              <a:srgbClr val="E76F51"/>
            </a:solidFill>
            <a:prstDash val="solid"/>
          </a:ln>
        </p:spPr>
      </p:sp>
      <p:sp>
        <p:nvSpPr>
          <p:cNvPr id="21" name="">
            <a:extLst xmlns:a="http://schemas.openxmlformats.org/drawingml/2006/main">
              <a:ext uri="{FF2B5EF4-FFF2-40B4-BE49-F238E27FC236}">
                <a16:creationId xmlns:a16="http://schemas.microsoft.com/office/drawing/2014/main" id="{FB0356B3-8256-4C8E-B6EA-E965A5544ABF}"/>
              </a:ext>
            </a:extLst>
          </p:cNvPr>
          <p:cNvSpPr>
            <a:spLocks xmlns:a="http://schemas.openxmlformats.org/drawingml/2006/main" noGrp="1"/>
          </p:cNvSpPr>
          <p:nvPr/>
        </p:nvSpPr>
        <p:spPr>
          <a:xfrm xmlns:a="http://schemas.openxmlformats.org/drawingml/2006/main">
            <a:off x="7219950" y="2686050"/>
            <a:ext cx="37909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243B53"/>
                </a:solidFill>
              </a:defRPr>
            </a:pPr>
            <a:r>
              <a:rPr sz="1725" b="1" i="0">
                <a:solidFill>
                  <a:srgbClr val="243B53"/>
                </a:solidFill>
              </a:rPr>
              <a:t>A separate validation path checked that the saved outputs match the fixed experiment setup and recomputed summaries.</a:t>
            </a:r>
          </a:p>
        </p:txBody>
      </p:sp>
      <p:sp>
        <p:nvSpPr>
          <p:cNvPr id="22" name="">
            <a:extLst xmlns:a="http://schemas.openxmlformats.org/drawingml/2006/main">
              <a:ext uri="{FF2B5EF4-FFF2-40B4-BE49-F238E27FC236}">
                <a16:creationId xmlns:a16="http://schemas.microsoft.com/office/drawing/2014/main" id="{429CE395-EA45-4B5E-B91F-6BE479A987D8}"/>
              </a:ext>
            </a:extLst>
          </p:cNvPr>
          <p:cNvSpPr>
            <a:spLocks xmlns:a="http://schemas.openxmlformats.org/drawingml/2006/main" noGrp="1"/>
          </p:cNvSpPr>
          <p:nvPr/>
        </p:nvSpPr>
        <p:spPr>
          <a:xfrm xmlns:a="http://schemas.openxmlformats.org/drawingml/2006/main">
            <a:off x="7239000" y="4819650"/>
            <a:ext cx="3752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Full consistency checks: Backup C</a:t>
            </a:r>
          </a:p>
        </p:txBody>
      </p:sp>
      <p:sp>
        <p:nvSpPr>
          <p:cNvPr id="23" name="">
            <a:extLst xmlns:a="http://schemas.openxmlformats.org/drawingml/2006/main">
              <a:ext uri="{FF2B5EF4-FFF2-40B4-BE49-F238E27FC236}">
                <a16:creationId xmlns:a16="http://schemas.microsoft.com/office/drawing/2014/main" id="{C29301BE-C6CD-4270-AEB1-C259A03F7CF2}"/>
              </a:ext>
            </a:extLst>
          </p:cNvPr>
          <p:cNvSpPr>
            <a:spLocks xmlns:a="http://schemas.openxmlformats.org/drawingml/2006/main" noGrp="1"/>
          </p:cNvSpPr>
          <p:nvPr/>
        </p:nvSpPr>
        <p:spPr>
          <a:xfrm xmlns:a="http://schemas.openxmlformats.org/drawingml/2006/main">
            <a:off x="1333500" y="5810250"/>
            <a:ext cx="952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6917"/>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These checks support the evaluated cases. They do not prove correctness for every Jordan sequence.</a:t>
            </a:r>
          </a:p>
        </p:txBody>
      </p:sp>
    </p:spTree>
    <p:extLst>
      <p:ext uri="{BB962C8B-B14F-4D97-AF65-F5344CB8AC3E}">
        <p14:creationId xmlns:p14="http://schemas.microsoft.com/office/powerpoint/2010/main" val="511779226"/>
      </p:ext>
    </p:extLst>
  </p:cSld>
</p:sld>
</file>

<file path=ppt/slides/slide1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2132C4AF-4920-4492-B41A-2D62156D71C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EXPERIMENTAL METHOD</a:t>
            </a:r>
          </a:p>
        </p:txBody>
      </p:sp>
      <p:sp>
        <p:nvSpPr>
          <p:cNvPr id="2" name="">
            <a:extLst xmlns:a="http://schemas.openxmlformats.org/drawingml/2006/main">
              <a:ext uri="{FF2B5EF4-FFF2-40B4-BE49-F238E27FC236}">
                <a16:creationId xmlns:a16="http://schemas.microsoft.com/office/drawing/2014/main" id="{3124DBDF-FB83-4478-8F36-9E57029AE5F9}"/>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1421"/>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formal experiment keeps certification and audit outside paper timing</a:t>
            </a:r>
          </a:p>
        </p:txBody>
      </p:sp>
      <p:sp>
        <p:nvSpPr>
          <p:cNvPr id="3" name="">
            <a:extLst xmlns:a="http://schemas.openxmlformats.org/drawingml/2006/main">
              <a:ext uri="{FF2B5EF4-FFF2-40B4-BE49-F238E27FC236}">
                <a16:creationId xmlns:a16="http://schemas.microsoft.com/office/drawing/2014/main" id="{19E68C4D-7D2E-46D6-8769-EE6F78671F33}"/>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6DD76055-1638-4ED2-986E-2FC3E7A7BDD5}"/>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55D2745E-1A26-49E0-AF8D-E8A8670D3374}"/>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96B54EC2-3794-446D-A313-E9117737BC6D}"/>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12 / 16</a:t>
            </a:r>
          </a:p>
        </p:txBody>
      </p:sp>
      <p:sp>
        <p:nvSpPr>
          <p:cNvPr id="7" name="">
            <a:extLst xmlns:a="http://schemas.openxmlformats.org/drawingml/2006/main">
              <a:ext uri="{FF2B5EF4-FFF2-40B4-BE49-F238E27FC236}">
                <a16:creationId xmlns:a16="http://schemas.microsoft.com/office/drawing/2014/main" id="{3FF72416-7A54-453B-A455-1BE4939CA2B0}"/>
              </a:ext>
            </a:extLst>
          </p:cNvPr>
          <p:cNvSpPr>
            <a:spLocks xmlns:a="http://schemas.openxmlformats.org/drawingml/2006/main" noGrp="1"/>
          </p:cNvSpPr>
          <p:nvPr/>
        </p:nvSpPr>
        <p:spPr>
          <a:xfrm xmlns:a="http://schemas.openxmlformats.org/drawingml/2006/main">
            <a:off x="723900" y="1409700"/>
            <a:ext cx="10744200" cy="781050"/>
          </a:xfrm>
          <a:prstGeom xmlns:a="http://schemas.openxmlformats.org/drawingml/2006/main" prst="roundRect">
            <a:avLst>
              <a:gd name="adj" fmla="val 9756"/>
            </a:avLst>
          </a:prstGeom>
          <a:solidFill xmlns:a="http://schemas.openxmlformats.org/drawingml/2006/main">
            <a:srgbClr val="102A43"/>
          </a:solidFill>
          <a:ln xmlns:a="http://schemas.openxmlformats.org/drawingml/2006/main" w="11430">
            <a:solidFill>
              <a:srgbClr val="102A43"/>
            </a:solidFill>
            <a:prstDash val="solid"/>
          </a:ln>
        </p:spPr>
      </p:sp>
      <p:sp>
        <p:nvSpPr>
          <p:cNvPr id="8" name="">
            <a:extLst xmlns:a="http://schemas.openxmlformats.org/drawingml/2006/main">
              <a:ext uri="{FF2B5EF4-FFF2-40B4-BE49-F238E27FC236}">
                <a16:creationId xmlns:a16="http://schemas.microsoft.com/office/drawing/2014/main" id="{B0706F22-55DC-4BFC-9E76-BC8627A91C70}"/>
              </a:ext>
            </a:extLst>
          </p:cNvPr>
          <p:cNvSpPr>
            <a:spLocks xmlns:a="http://schemas.openxmlformats.org/drawingml/2006/main" noGrp="1"/>
          </p:cNvSpPr>
          <p:nvPr/>
        </p:nvSpPr>
        <p:spPr>
          <a:xfrm xmlns:a="http://schemas.openxmlformats.org/drawingml/2006/main">
            <a:off x="933450" y="1504950"/>
            <a:ext cx="69342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FFFFFF"/>
                </a:solidFill>
              </a:defRPr>
            </a:pPr>
            <a:r>
              <a:rPr sz="1725" b="1" i="0">
                <a:solidFill>
                  <a:srgbClr val="FFFFFF"/>
                </a:solidFill>
              </a:rPr>
              <a:t>5 sizes  ×  12 cases  ×  3 algorithms  ×  20 calls</a:t>
            </a:r>
          </a:p>
        </p:txBody>
      </p:sp>
      <p:sp>
        <p:nvSpPr>
          <p:cNvPr id="9" name="">
            <a:extLst xmlns:a="http://schemas.openxmlformats.org/drawingml/2006/main">
              <a:ext uri="{FF2B5EF4-FFF2-40B4-BE49-F238E27FC236}">
                <a16:creationId xmlns:a16="http://schemas.microsoft.com/office/drawing/2014/main" id="{E4EBC13E-170E-4481-9DA0-4ABF7EA20C36}"/>
              </a:ext>
            </a:extLst>
          </p:cNvPr>
          <p:cNvSpPr>
            <a:spLocks xmlns:a="http://schemas.openxmlformats.org/drawingml/2006/main" noGrp="1"/>
          </p:cNvSpPr>
          <p:nvPr/>
        </p:nvSpPr>
        <p:spPr>
          <a:xfrm xmlns:a="http://schemas.openxmlformats.org/drawingml/2006/main">
            <a:off x="8096250" y="1504950"/>
            <a:ext cx="3105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3,600 measured rows</a:t>
            </a:r>
          </a:p>
        </p:txBody>
      </p:sp>
      <p:sp>
        <p:nvSpPr>
          <p:cNvPr id="10" name="">
            <a:extLst xmlns:a="http://schemas.openxmlformats.org/drawingml/2006/main">
              <a:ext uri="{FF2B5EF4-FFF2-40B4-BE49-F238E27FC236}">
                <a16:creationId xmlns:a16="http://schemas.microsoft.com/office/drawing/2014/main" id="{67B9993F-C446-43BE-984E-3FEFEE6506D3}"/>
              </a:ext>
            </a:extLst>
          </p:cNvPr>
          <p:cNvSpPr>
            <a:spLocks xmlns:a="http://schemas.openxmlformats.org/drawingml/2006/main" noGrp="1"/>
          </p:cNvSpPr>
          <p:nvPr/>
        </p:nvSpPr>
        <p:spPr>
          <a:xfrm xmlns:a="http://schemas.openxmlformats.org/drawingml/2006/main">
            <a:off x="7048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1" name="">
            <a:extLst xmlns:a="http://schemas.openxmlformats.org/drawingml/2006/main">
              <a:ext uri="{FF2B5EF4-FFF2-40B4-BE49-F238E27FC236}">
                <a16:creationId xmlns:a16="http://schemas.microsoft.com/office/drawing/2014/main" id="{42DCB787-35AB-43E3-8D74-F849F9E9156B}"/>
              </a:ext>
            </a:extLst>
          </p:cNvPr>
          <p:cNvSpPr>
            <a:spLocks xmlns:a="http://schemas.openxmlformats.org/drawingml/2006/main" noGrp="1"/>
          </p:cNvSpPr>
          <p:nvPr/>
        </p:nvSpPr>
        <p:spPr>
          <a:xfrm xmlns:a="http://schemas.openxmlformats.org/drawingml/2006/main">
            <a:off x="7810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Generate</a:t>
            </a:r>
          </a:p>
        </p:txBody>
      </p:sp>
      <p:sp>
        <p:nvSpPr>
          <p:cNvPr id="12" name="">
            <a:extLst xmlns:a="http://schemas.openxmlformats.org/drawingml/2006/main">
              <a:ext uri="{FF2B5EF4-FFF2-40B4-BE49-F238E27FC236}">
                <a16:creationId xmlns:a16="http://schemas.microsoft.com/office/drawing/2014/main" id="{828CE6B7-BCA0-4567-881B-201ECF7137B9}"/>
              </a:ext>
            </a:extLst>
          </p:cNvPr>
          <p:cNvSpPr>
            <a:spLocks xmlns:a="http://schemas.openxmlformats.org/drawingml/2006/main" noGrp="1"/>
          </p:cNvSpPr>
          <p:nvPr/>
        </p:nvSpPr>
        <p:spPr>
          <a:xfrm xmlns:a="http://schemas.openxmlformats.org/drawingml/2006/main">
            <a:off x="22669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3" name="">
            <a:extLst xmlns:a="http://schemas.openxmlformats.org/drawingml/2006/main">
              <a:ext uri="{FF2B5EF4-FFF2-40B4-BE49-F238E27FC236}">
                <a16:creationId xmlns:a16="http://schemas.microsoft.com/office/drawing/2014/main" id="{A308DFFD-5CFE-4102-8540-E466DE5F48CE}"/>
              </a:ext>
            </a:extLst>
          </p:cNvPr>
          <p:cNvSpPr>
            <a:spLocks xmlns:a="http://schemas.openxmlformats.org/drawingml/2006/main" noGrp="1"/>
          </p:cNvSpPr>
          <p:nvPr/>
        </p:nvSpPr>
        <p:spPr>
          <a:xfrm xmlns:a="http://schemas.openxmlformats.org/drawingml/2006/main">
            <a:off x="23431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Certify</a:t>
            </a:r>
          </a:p>
        </p:txBody>
      </p:sp>
      <p:sp>
        <p:nvSpPr>
          <p:cNvPr id="14" name="">
            <a:extLst xmlns:a="http://schemas.openxmlformats.org/drawingml/2006/main">
              <a:ext uri="{FF2B5EF4-FFF2-40B4-BE49-F238E27FC236}">
                <a16:creationId xmlns:a16="http://schemas.microsoft.com/office/drawing/2014/main" id="{6DDE7832-4362-43D0-A593-CC8EEC2F29B4}"/>
              </a:ext>
            </a:extLst>
          </p:cNvPr>
          <p:cNvSpPr>
            <a:spLocks xmlns:a="http://schemas.openxmlformats.org/drawingml/2006/main" noGrp="1"/>
          </p:cNvSpPr>
          <p:nvPr/>
        </p:nvSpPr>
        <p:spPr>
          <a:xfrm xmlns:a="http://schemas.openxmlformats.org/drawingml/2006/main">
            <a:off x="38290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5" name="">
            <a:extLst xmlns:a="http://schemas.openxmlformats.org/drawingml/2006/main">
              <a:ext uri="{FF2B5EF4-FFF2-40B4-BE49-F238E27FC236}">
                <a16:creationId xmlns:a16="http://schemas.microsoft.com/office/drawing/2014/main" id="{D3FE9FC8-5403-4A74-A352-EAB1FA22C309}"/>
              </a:ext>
            </a:extLst>
          </p:cNvPr>
          <p:cNvSpPr>
            <a:spLocks xmlns:a="http://schemas.openxmlformats.org/drawingml/2006/main" noGrp="1"/>
          </p:cNvSpPr>
          <p:nvPr/>
        </p:nvSpPr>
        <p:spPr>
          <a:xfrm xmlns:a="http://schemas.openxmlformats.org/drawingml/2006/main">
            <a:off x="39052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125" b="1" i="0">
                <a:solidFill>
                  <a:srgbClr val="102A43"/>
                </a:solidFill>
              </a:defRPr>
            </a:pPr>
            <a:r>
              <a:rPr sz="1125" b="1" i="0">
                <a:solidFill>
                  <a:srgbClr val="102A43"/>
                </a:solidFill>
              </a:rPr>
              <a:t>Checked-state</a:t>
            </a:r>
          </a:p>
          <a:p xmlns:a="http://schemas.openxmlformats.org/drawingml/2006/main">
            <a:pPr algn="ctr">
              <a:lnSpc>
                <a:spcPct val="105000"/>
              </a:lnSpc>
              <a:buNone/>
              <a:defRPr sz="1125" b="1" i="0">
                <a:solidFill>
                  <a:srgbClr val="102A43"/>
                </a:solidFill>
              </a:defRPr>
            </a:pPr>
            <a:r>
              <a:rPr sz="1125" b="1" i="0">
                <a:solidFill>
                  <a:srgbClr val="102A43"/>
                </a:solidFill>
              </a:rPr>
              <a:t>audit</a:t>
            </a:r>
          </a:p>
        </p:txBody>
      </p:sp>
      <p:sp>
        <p:nvSpPr>
          <p:cNvPr id="16" name="">
            <a:extLst xmlns:a="http://schemas.openxmlformats.org/drawingml/2006/main">
              <a:ext uri="{FF2B5EF4-FFF2-40B4-BE49-F238E27FC236}">
                <a16:creationId xmlns:a16="http://schemas.microsoft.com/office/drawing/2014/main" id="{A4F4883B-5F3E-4C21-8DAB-A31F5605A6B5}"/>
              </a:ext>
            </a:extLst>
          </p:cNvPr>
          <p:cNvSpPr>
            <a:spLocks xmlns:a="http://schemas.openxmlformats.org/drawingml/2006/main" noGrp="1"/>
          </p:cNvSpPr>
          <p:nvPr/>
        </p:nvSpPr>
        <p:spPr>
          <a:xfrm xmlns:a="http://schemas.openxmlformats.org/drawingml/2006/main">
            <a:off x="53911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7" name="">
            <a:extLst xmlns:a="http://schemas.openxmlformats.org/drawingml/2006/main">
              <a:ext uri="{FF2B5EF4-FFF2-40B4-BE49-F238E27FC236}">
                <a16:creationId xmlns:a16="http://schemas.microsoft.com/office/drawing/2014/main" id="{825CD1BD-32D7-433D-8E3C-F6D781AF0E76}"/>
              </a:ext>
            </a:extLst>
          </p:cNvPr>
          <p:cNvSpPr>
            <a:spLocks xmlns:a="http://schemas.openxmlformats.org/drawingml/2006/main" noGrp="1"/>
          </p:cNvSpPr>
          <p:nvPr/>
        </p:nvSpPr>
        <p:spPr>
          <a:xfrm xmlns:a="http://schemas.openxmlformats.org/drawingml/2006/main">
            <a:off x="54673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Warm-up</a:t>
            </a:r>
          </a:p>
        </p:txBody>
      </p:sp>
      <p:sp>
        <p:nvSpPr>
          <p:cNvPr id="18" name="">
            <a:extLst xmlns:a="http://schemas.openxmlformats.org/drawingml/2006/main">
              <a:ext uri="{FF2B5EF4-FFF2-40B4-BE49-F238E27FC236}">
                <a16:creationId xmlns:a16="http://schemas.microsoft.com/office/drawing/2014/main" id="{FAEDC86E-5C9E-44D6-9A6A-177CFF79C045}"/>
              </a:ext>
            </a:extLst>
          </p:cNvPr>
          <p:cNvSpPr>
            <a:spLocks xmlns:a="http://schemas.openxmlformats.org/drawingml/2006/main" noGrp="1"/>
          </p:cNvSpPr>
          <p:nvPr/>
        </p:nvSpPr>
        <p:spPr>
          <a:xfrm xmlns:a="http://schemas.openxmlformats.org/drawingml/2006/main">
            <a:off x="6953250" y="2647950"/>
            <a:ext cx="1295400" cy="781050"/>
          </a:xfrm>
          <a:prstGeom xmlns:a="http://schemas.openxmlformats.org/drawingml/2006/main" prst="roundRect">
            <a:avLst>
              <a:gd name="adj" fmla="val 8537"/>
            </a:avLst>
          </a:prstGeom>
          <a:solidFill xmlns:a="http://schemas.openxmlformats.org/drawingml/2006/main">
            <a:srgbClr val="FCEEEA"/>
          </a:solidFill>
          <a:ln xmlns:a="http://schemas.openxmlformats.org/drawingml/2006/main" w="19050">
            <a:solidFill>
              <a:srgbClr val="E76F51"/>
            </a:solidFill>
            <a:prstDash val="solid"/>
          </a:ln>
        </p:spPr>
      </p:sp>
      <p:sp>
        <p:nvSpPr>
          <p:cNvPr id="19" name="">
            <a:extLst xmlns:a="http://schemas.openxmlformats.org/drawingml/2006/main">
              <a:ext uri="{FF2B5EF4-FFF2-40B4-BE49-F238E27FC236}">
                <a16:creationId xmlns:a16="http://schemas.microsoft.com/office/drawing/2014/main" id="{AAF7E717-4DBA-40E9-A5F0-14B289AD46C6}"/>
              </a:ext>
            </a:extLst>
          </p:cNvPr>
          <p:cNvSpPr>
            <a:spLocks xmlns:a="http://schemas.openxmlformats.org/drawingml/2006/main" noGrp="1"/>
          </p:cNvSpPr>
          <p:nvPr/>
        </p:nvSpPr>
        <p:spPr>
          <a:xfrm xmlns:a="http://schemas.openxmlformats.org/drawingml/2006/main">
            <a:off x="70294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Measure</a:t>
            </a:r>
          </a:p>
        </p:txBody>
      </p:sp>
      <p:sp>
        <p:nvSpPr>
          <p:cNvPr id="20" name="">
            <a:extLst xmlns:a="http://schemas.openxmlformats.org/drawingml/2006/main">
              <a:ext uri="{FF2B5EF4-FFF2-40B4-BE49-F238E27FC236}">
                <a16:creationId xmlns:a16="http://schemas.microsoft.com/office/drawing/2014/main" id="{ADABDF03-47B7-4BA4-9B79-83F0AAE6783C}"/>
              </a:ext>
            </a:extLst>
          </p:cNvPr>
          <p:cNvSpPr>
            <a:spLocks xmlns:a="http://schemas.openxmlformats.org/drawingml/2006/main" noGrp="1"/>
          </p:cNvSpPr>
          <p:nvPr/>
        </p:nvSpPr>
        <p:spPr>
          <a:xfrm xmlns:a="http://schemas.openxmlformats.org/drawingml/2006/main">
            <a:off x="85153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21" name="">
            <a:extLst xmlns:a="http://schemas.openxmlformats.org/drawingml/2006/main">
              <a:ext uri="{FF2B5EF4-FFF2-40B4-BE49-F238E27FC236}">
                <a16:creationId xmlns:a16="http://schemas.microsoft.com/office/drawing/2014/main" id="{1092CEB5-E7AE-472F-8918-13456F8891A0}"/>
              </a:ext>
            </a:extLst>
          </p:cNvPr>
          <p:cNvSpPr>
            <a:spLocks xmlns:a="http://schemas.openxmlformats.org/drawingml/2006/main" noGrp="1"/>
          </p:cNvSpPr>
          <p:nvPr/>
        </p:nvSpPr>
        <p:spPr>
          <a:xfrm xmlns:a="http://schemas.openxmlformats.org/drawingml/2006/main">
            <a:off x="85915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Aggregate</a:t>
            </a:r>
          </a:p>
        </p:txBody>
      </p:sp>
      <p:sp>
        <p:nvSpPr>
          <p:cNvPr id="22" name="">
            <a:extLst xmlns:a="http://schemas.openxmlformats.org/drawingml/2006/main">
              <a:ext uri="{FF2B5EF4-FFF2-40B4-BE49-F238E27FC236}">
                <a16:creationId xmlns:a16="http://schemas.microsoft.com/office/drawing/2014/main" id="{FFEAEBE7-35DF-4C71-B3F9-C1EEAF9B33C4}"/>
              </a:ext>
            </a:extLst>
          </p:cNvPr>
          <p:cNvSpPr>
            <a:spLocks xmlns:a="http://schemas.openxmlformats.org/drawingml/2006/main" noGrp="1"/>
          </p:cNvSpPr>
          <p:nvPr/>
        </p:nvSpPr>
        <p:spPr>
          <a:xfrm xmlns:a="http://schemas.openxmlformats.org/drawingml/2006/main">
            <a:off x="100774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23" name="">
            <a:extLst xmlns:a="http://schemas.openxmlformats.org/drawingml/2006/main">
              <a:ext uri="{FF2B5EF4-FFF2-40B4-BE49-F238E27FC236}">
                <a16:creationId xmlns:a16="http://schemas.microsoft.com/office/drawing/2014/main" id="{9A4414E3-5702-4E34-968F-FDC8C6E8A726}"/>
              </a:ext>
            </a:extLst>
          </p:cNvPr>
          <p:cNvSpPr>
            <a:spLocks xmlns:a="http://schemas.openxmlformats.org/drawingml/2006/main" noGrp="1"/>
          </p:cNvSpPr>
          <p:nvPr/>
        </p:nvSpPr>
        <p:spPr>
          <a:xfrm xmlns:a="http://schemas.openxmlformats.org/drawingml/2006/main">
            <a:off x="101536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Validate</a:t>
            </a:r>
          </a:p>
          <a:p xmlns:a="http://schemas.openxmlformats.org/drawingml/2006/main">
            <a:pPr algn="ctr">
              <a:lnSpc>
                <a:spcPct val="105000"/>
              </a:lnSpc>
              <a:buNone/>
              <a:defRPr sz="1350" b="1" i="0">
                <a:solidFill>
                  <a:srgbClr val="102A43"/>
                </a:solidFill>
              </a:defRPr>
            </a:pPr>
            <a:r>
              <a:rPr sz="1350" b="1" i="0">
                <a:solidFill>
                  <a:srgbClr val="102A43"/>
                </a:solidFill>
              </a:rPr>
              <a:t>and archive</a:t>
            </a:r>
          </a:p>
        </p:txBody>
      </p:sp>
      <p:cxnSp>
        <p:nvCxnSpPr>
          <p:cNvPr id="65" name=""/>
          <p:cNvCxnSpPr>
            <a:stCxn xmlns:a="http://schemas.openxmlformats.org/drawingml/2006/main" id="10" idx="3"/>
            <a:endCxn xmlns:a="http://schemas.openxmlformats.org/drawingml/2006/main" id="12" idx="1"/>
          </p:cNvCxnSpPr>
          <p:nvPr/>
        </p:nvCxnSpPr>
        <p:spPr>
          <a:xfrm xmlns:a="http://schemas.openxmlformats.org/drawingml/2006/main">
            <a:off x="20002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66" name=""/>
          <p:cNvCxnSpPr>
            <a:stCxn xmlns:a="http://schemas.openxmlformats.org/drawingml/2006/main" id="12" idx="3"/>
            <a:endCxn xmlns:a="http://schemas.openxmlformats.org/drawingml/2006/main" id="14" idx="1"/>
          </p:cNvCxnSpPr>
          <p:nvPr/>
        </p:nvCxnSpPr>
        <p:spPr>
          <a:xfrm xmlns:a="http://schemas.openxmlformats.org/drawingml/2006/main">
            <a:off x="35623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67" name=""/>
          <p:cNvCxnSpPr>
            <a:stCxn xmlns:a="http://schemas.openxmlformats.org/drawingml/2006/main" id="14" idx="3"/>
            <a:endCxn xmlns:a="http://schemas.openxmlformats.org/drawingml/2006/main" id="16" idx="1"/>
          </p:cNvCxnSpPr>
          <p:nvPr/>
        </p:nvCxnSpPr>
        <p:spPr>
          <a:xfrm xmlns:a="http://schemas.openxmlformats.org/drawingml/2006/main">
            <a:off x="51244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68" name=""/>
          <p:cNvCxnSpPr>
            <a:stCxn xmlns:a="http://schemas.openxmlformats.org/drawingml/2006/main" id="16" idx="3"/>
            <a:endCxn xmlns:a="http://schemas.openxmlformats.org/drawingml/2006/main" id="18" idx="1"/>
          </p:cNvCxnSpPr>
          <p:nvPr/>
        </p:nvCxnSpPr>
        <p:spPr>
          <a:xfrm xmlns:a="http://schemas.openxmlformats.org/drawingml/2006/main">
            <a:off x="66865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69" name=""/>
          <p:cNvCxnSpPr>
            <a:stCxn xmlns:a="http://schemas.openxmlformats.org/drawingml/2006/main" id="18" idx="3"/>
            <a:endCxn xmlns:a="http://schemas.openxmlformats.org/drawingml/2006/main" id="20" idx="1"/>
          </p:cNvCxnSpPr>
          <p:nvPr/>
        </p:nvCxnSpPr>
        <p:spPr>
          <a:xfrm xmlns:a="http://schemas.openxmlformats.org/drawingml/2006/main">
            <a:off x="82486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70" name=""/>
          <p:cNvCxnSpPr>
            <a:stCxn xmlns:a="http://schemas.openxmlformats.org/drawingml/2006/main" id="20" idx="3"/>
            <a:endCxn xmlns:a="http://schemas.openxmlformats.org/drawingml/2006/main" id="22" idx="1"/>
          </p:cNvCxnSpPr>
          <p:nvPr/>
        </p:nvCxnSpPr>
        <p:spPr>
          <a:xfrm xmlns:a="http://schemas.openxmlformats.org/drawingml/2006/main">
            <a:off x="98107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sp>
        <p:nvSpPr>
          <p:cNvPr id="30" name="">
            <a:extLst xmlns:a="http://schemas.openxmlformats.org/drawingml/2006/main">
              <a:ext uri="{FF2B5EF4-FFF2-40B4-BE49-F238E27FC236}">
                <a16:creationId xmlns:a16="http://schemas.microsoft.com/office/drawing/2014/main" id="{E1E99362-759C-49B9-9033-6892EBF2A93B}"/>
              </a:ext>
            </a:extLst>
          </p:cNvPr>
          <p:cNvSpPr>
            <a:spLocks xmlns:a="http://schemas.openxmlformats.org/drawingml/2006/main" noGrp="1"/>
          </p:cNvSpPr>
          <p:nvPr/>
        </p:nvSpPr>
        <p:spPr>
          <a:xfrm xmlns:a="http://schemas.openxmlformats.org/drawingml/2006/main">
            <a:off x="723900" y="3905250"/>
            <a:ext cx="32194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4288">
            <a:solidFill>
              <a:srgbClr val="2A9D8F"/>
            </a:solidFill>
            <a:prstDash val="solid"/>
          </a:ln>
        </p:spPr>
      </p:sp>
      <p:sp>
        <p:nvSpPr>
          <p:cNvPr id="31" name="">
            <a:extLst xmlns:a="http://schemas.openxmlformats.org/drawingml/2006/main">
              <a:ext uri="{FF2B5EF4-FFF2-40B4-BE49-F238E27FC236}">
                <a16:creationId xmlns:a16="http://schemas.microsoft.com/office/drawing/2014/main" id="{08934BD8-30A9-4463-BB7F-CF25191B50A6}"/>
              </a:ext>
            </a:extLst>
          </p:cNvPr>
          <p:cNvSpPr>
            <a:spLocks xmlns:a="http://schemas.openxmlformats.org/drawingml/2006/main" noGrp="1"/>
          </p:cNvSpPr>
          <p:nvPr/>
        </p:nvSpPr>
        <p:spPr>
          <a:xfrm xmlns:a="http://schemas.openxmlformats.org/drawingml/2006/main">
            <a:off x="87630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Certification outside paper timing</a:t>
            </a:r>
          </a:p>
        </p:txBody>
      </p:sp>
      <p:sp>
        <p:nvSpPr>
          <p:cNvPr id="32" name="">
            <a:extLst xmlns:a="http://schemas.openxmlformats.org/drawingml/2006/main">
              <a:ext uri="{FF2B5EF4-FFF2-40B4-BE49-F238E27FC236}">
                <a16:creationId xmlns:a16="http://schemas.microsoft.com/office/drawing/2014/main" id="{1BA67164-2681-4314-8A78-D9DD35735DC9}"/>
              </a:ext>
            </a:extLst>
          </p:cNvPr>
          <p:cNvSpPr>
            <a:spLocks xmlns:a="http://schemas.openxmlformats.org/drawingml/2006/main" noGrp="1"/>
          </p:cNvSpPr>
          <p:nvPr/>
        </p:nvSpPr>
        <p:spPr>
          <a:xfrm xmlns:a="http://schemas.openxmlformats.org/drawingml/2006/main">
            <a:off x="89535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valid-input precondition</a:t>
            </a:r>
          </a:p>
        </p:txBody>
      </p:sp>
      <p:sp>
        <p:nvSpPr>
          <p:cNvPr id="33" name="">
            <a:extLst xmlns:a="http://schemas.openxmlformats.org/drawingml/2006/main">
              <a:ext uri="{FF2B5EF4-FFF2-40B4-BE49-F238E27FC236}">
                <a16:creationId xmlns:a16="http://schemas.microsoft.com/office/drawing/2014/main" id="{0EA711B9-BC78-4B2A-8D3F-34BAA65CB4C3}"/>
              </a:ext>
            </a:extLst>
          </p:cNvPr>
          <p:cNvSpPr>
            <a:spLocks xmlns:a="http://schemas.openxmlformats.org/drawingml/2006/main" noGrp="1"/>
          </p:cNvSpPr>
          <p:nvPr/>
        </p:nvSpPr>
        <p:spPr>
          <a:xfrm xmlns:a="http://schemas.openxmlformats.org/drawingml/2006/main">
            <a:off x="4248150" y="3905250"/>
            <a:ext cx="32194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4288">
            <a:solidFill>
              <a:srgbClr val="2A9D8F"/>
            </a:solidFill>
            <a:prstDash val="solid"/>
          </a:ln>
        </p:spPr>
      </p:sp>
      <p:sp>
        <p:nvSpPr>
          <p:cNvPr id="34" name="">
            <a:extLst xmlns:a="http://schemas.openxmlformats.org/drawingml/2006/main">
              <a:ext uri="{FF2B5EF4-FFF2-40B4-BE49-F238E27FC236}">
                <a16:creationId xmlns:a16="http://schemas.microsoft.com/office/drawing/2014/main" id="{C43E5F16-5EA3-47C2-AB39-E98180A0F409}"/>
              </a:ext>
            </a:extLst>
          </p:cNvPr>
          <p:cNvSpPr>
            <a:spLocks xmlns:a="http://schemas.openxmlformats.org/drawingml/2006/main" noGrp="1"/>
          </p:cNvSpPr>
          <p:nvPr/>
        </p:nvSpPr>
        <p:spPr>
          <a:xfrm xmlns:a="http://schemas.openxmlformats.org/drawingml/2006/main">
            <a:off x="440055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3774"/>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Checked-state audit outside paper timing</a:t>
            </a:r>
          </a:p>
        </p:txBody>
      </p:sp>
      <p:sp>
        <p:nvSpPr>
          <p:cNvPr id="35" name="">
            <a:extLst xmlns:a="http://schemas.openxmlformats.org/drawingml/2006/main">
              <a:ext uri="{FF2B5EF4-FFF2-40B4-BE49-F238E27FC236}">
                <a16:creationId xmlns:a16="http://schemas.microsoft.com/office/drawing/2014/main" id="{E2264E6A-1413-488E-A9FE-D37E0B221652}"/>
              </a:ext>
            </a:extLst>
          </p:cNvPr>
          <p:cNvSpPr>
            <a:spLocks xmlns:a="http://schemas.openxmlformats.org/drawingml/2006/main" noGrp="1"/>
          </p:cNvSpPr>
          <p:nvPr/>
        </p:nvSpPr>
        <p:spPr>
          <a:xfrm xmlns:a="http://schemas.openxmlformats.org/drawingml/2006/main">
            <a:off x="441960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one audit per exact case</a:t>
            </a:r>
          </a:p>
        </p:txBody>
      </p:sp>
      <p:sp>
        <p:nvSpPr>
          <p:cNvPr id="36" name="">
            <a:extLst xmlns:a="http://schemas.openxmlformats.org/drawingml/2006/main">
              <a:ext uri="{FF2B5EF4-FFF2-40B4-BE49-F238E27FC236}">
                <a16:creationId xmlns:a16="http://schemas.microsoft.com/office/drawing/2014/main" id="{75B0C86F-3309-443F-8E59-21DC01E84529}"/>
              </a:ext>
            </a:extLst>
          </p:cNvPr>
          <p:cNvSpPr>
            <a:spLocks xmlns:a="http://schemas.openxmlformats.org/drawingml/2006/main" noGrp="1"/>
          </p:cNvSpPr>
          <p:nvPr/>
        </p:nvSpPr>
        <p:spPr>
          <a:xfrm xmlns:a="http://schemas.openxmlformats.org/drawingml/2006/main">
            <a:off x="7772400" y="3905250"/>
            <a:ext cx="3219450" cy="990600"/>
          </a:xfrm>
          <a:prstGeom xmlns:a="http://schemas.openxmlformats.org/drawingml/2006/main" prst="roundRect">
            <a:avLst>
              <a:gd name="adj" fmla="val 7692"/>
            </a:avLst>
          </a:prstGeom>
          <a:solidFill xmlns:a="http://schemas.openxmlformats.org/drawingml/2006/main">
            <a:srgbClr val="FCEEEA"/>
          </a:solidFill>
          <a:ln xmlns:a="http://schemas.openxmlformats.org/drawingml/2006/main" w="14288">
            <a:solidFill>
              <a:srgbClr val="E76F51"/>
            </a:solidFill>
            <a:prstDash val="solid"/>
          </a:ln>
        </p:spPr>
      </p:sp>
      <p:sp>
        <p:nvSpPr>
          <p:cNvPr id="37" name="">
            <a:extLst xmlns:a="http://schemas.openxmlformats.org/drawingml/2006/main">
              <a:ext uri="{FF2B5EF4-FFF2-40B4-BE49-F238E27FC236}">
                <a16:creationId xmlns:a16="http://schemas.microsoft.com/office/drawing/2014/main" id="{6D7891F7-5560-4666-AE3A-6C237F5877BD}"/>
              </a:ext>
            </a:extLst>
          </p:cNvPr>
          <p:cNvSpPr>
            <a:spLocks xmlns:a="http://schemas.openxmlformats.org/drawingml/2006/main" noGrp="1"/>
          </p:cNvSpPr>
          <p:nvPr/>
        </p:nvSpPr>
        <p:spPr>
          <a:xfrm xmlns:a="http://schemas.openxmlformats.org/drawingml/2006/main">
            <a:off x="792480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Minimal paper call inside timing</a:t>
            </a:r>
          </a:p>
        </p:txBody>
      </p:sp>
      <p:sp>
        <p:nvSpPr>
          <p:cNvPr id="38" name="">
            <a:extLst xmlns:a="http://schemas.openxmlformats.org/drawingml/2006/main">
              <a:ext uri="{FF2B5EF4-FFF2-40B4-BE49-F238E27FC236}">
                <a16:creationId xmlns:a16="http://schemas.microsoft.com/office/drawing/2014/main" id="{DA2F0CE0-C291-4726-A402-E0C2FB8B7F1E}"/>
              </a:ext>
            </a:extLst>
          </p:cNvPr>
          <p:cNvSpPr>
            <a:spLocks xmlns:a="http://schemas.openxmlformats.org/drawingml/2006/main" noGrp="1"/>
          </p:cNvSpPr>
          <p:nvPr/>
        </p:nvSpPr>
        <p:spPr>
          <a:xfrm xmlns:a="http://schemas.openxmlformats.org/drawingml/2006/main">
            <a:off x="794385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output recovery remains timed</a:t>
            </a:r>
          </a:p>
        </p:txBody>
      </p:sp>
      <p:sp>
        <p:nvSpPr>
          <p:cNvPr id="39" name="">
            <a:extLst xmlns:a="http://schemas.openxmlformats.org/drawingml/2006/main">
              <a:ext uri="{FF2B5EF4-FFF2-40B4-BE49-F238E27FC236}">
                <a16:creationId xmlns:a16="http://schemas.microsoft.com/office/drawing/2014/main" id="{5B521CB6-7B3C-47D4-89E2-1B67DC7A7E17}"/>
              </a:ext>
            </a:extLst>
          </p:cNvPr>
          <p:cNvSpPr>
            <a:spLocks xmlns:a="http://schemas.openxmlformats.org/drawingml/2006/main" noGrp="1"/>
          </p:cNvSpPr>
          <p:nvPr/>
        </p:nvSpPr>
        <p:spPr>
          <a:xfrm xmlns:a="http://schemas.openxmlformats.org/drawingml/2006/main">
            <a:off x="1143000" y="5124450"/>
            <a:ext cx="990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Reference timing includes its complete oracle-backed pipeline. Python timing covers its complete sorting call.</a:t>
            </a:r>
          </a:p>
        </p:txBody>
      </p:sp>
      <p:sp>
        <p:nvSpPr>
          <p:cNvPr id="40" name="">
            <a:extLst xmlns:a="http://schemas.openxmlformats.org/drawingml/2006/main">
              <a:ext uri="{FF2B5EF4-FFF2-40B4-BE49-F238E27FC236}">
                <a16:creationId xmlns:a16="http://schemas.microsoft.com/office/drawing/2014/main" id="{F83C73DB-0854-474C-B90A-3EB35FD4DE3B}"/>
              </a:ext>
            </a:extLst>
          </p:cNvPr>
          <p:cNvSpPr>
            <a:spLocks xmlns:a="http://schemas.openxmlformats.org/drawingml/2006/main" noGrp="1"/>
          </p:cNvSpPr>
          <p:nvPr/>
        </p:nvSpPr>
        <p:spPr>
          <a:xfrm xmlns:a="http://schemas.openxmlformats.org/drawingml/2006/main">
            <a:off x="2019300" y="5581650"/>
            <a:ext cx="8153400" cy="495300"/>
          </a:xfrm>
          <a:prstGeom xmlns:a="http://schemas.openxmlformats.org/drawingml/2006/main" prst="roundRect">
            <a:avLst>
              <a:gd name="adj" fmla="val 11538"/>
            </a:avLst>
          </a:prstGeom>
          <a:solidFill xmlns:a="http://schemas.openxmlformats.org/drawingml/2006/main">
            <a:srgbClr val="FCEEEA"/>
          </a:solidFill>
          <a:ln xmlns:a="http://schemas.openxmlformats.org/drawingml/2006/main" w="14288">
            <a:solidFill>
              <a:srgbClr val="E76F51"/>
            </a:solidFill>
            <a:prstDash val="solid"/>
          </a:ln>
        </p:spPr>
      </p:sp>
      <p:sp>
        <p:nvSpPr>
          <p:cNvPr id="41" name="">
            <a:extLst xmlns:a="http://schemas.openxmlformats.org/drawingml/2006/main">
              <a:ext uri="{FF2B5EF4-FFF2-40B4-BE49-F238E27FC236}">
                <a16:creationId xmlns:a16="http://schemas.microsoft.com/office/drawing/2014/main" id="{447EFD12-684B-4D6D-82B1-51A229D4DEE3}"/>
              </a:ext>
            </a:extLst>
          </p:cNvPr>
          <p:cNvSpPr>
            <a:spLocks xmlns:a="http://schemas.openxmlformats.org/drawingml/2006/main" noGrp="1"/>
          </p:cNvSpPr>
          <p:nvPr/>
        </p:nvSpPr>
        <p:spPr>
          <a:xfrm xmlns:a="http://schemas.openxmlformats.org/drawingml/2006/main">
            <a:off x="2190750" y="5638800"/>
            <a:ext cx="781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Paper and reference use different timing scopes, so this ratio is not an end-to-end speedup.</a:t>
            </a:r>
          </a:p>
        </p:txBody>
      </p:sp>
    </p:spTree>
    <p:extLst>
      <p:ext uri="{BB962C8B-B14F-4D97-AF65-F5344CB8AC3E}">
        <p14:creationId xmlns:p14="http://schemas.microsoft.com/office/powerpoint/2010/main" val="1716834103"/>
      </p:ext>
    </p:extLst>
  </p:cSld>
</p:sld>
</file>

<file path=ppt/slides/slide1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8C2E0E2-7D30-4239-9730-043A649F058D}"/>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RESULTS</a:t>
            </a:r>
          </a:p>
        </p:txBody>
      </p:sp>
      <p:sp>
        <p:nvSpPr>
          <p:cNvPr id="2" name="">
            <a:extLst xmlns:a="http://schemas.openxmlformats.org/drawingml/2006/main">
              <a:ext uri="{FF2B5EF4-FFF2-40B4-BE49-F238E27FC236}">
                <a16:creationId xmlns:a16="http://schemas.microsoft.com/office/drawing/2014/main" id="{274879BC-0762-4661-A997-19B83007BD93}"/>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All 60 evaluated cases returned the correct output</a:t>
            </a:r>
          </a:p>
        </p:txBody>
      </p:sp>
      <p:sp>
        <p:nvSpPr>
          <p:cNvPr id="3" name="">
            <a:extLst xmlns:a="http://schemas.openxmlformats.org/drawingml/2006/main">
              <a:ext uri="{FF2B5EF4-FFF2-40B4-BE49-F238E27FC236}">
                <a16:creationId xmlns:a16="http://schemas.microsoft.com/office/drawing/2014/main" id="{54BB8D10-52A7-4351-8136-2B08A0F0888D}"/>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E38891AC-4ABA-4AC9-AB58-DCE6ECFF32E5}"/>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6D19904-3D9A-42D4-933E-4BFF2BAF87AB}"/>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01549C78-4A15-46F5-9094-523085885390}"/>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13 / 16</a:t>
            </a:r>
          </a:p>
        </p:txBody>
      </p:sp>
      <p:sp>
        <p:nvSpPr>
          <p:cNvPr id="7" name="">
            <a:extLst xmlns:a="http://schemas.openxmlformats.org/drawingml/2006/main">
              <a:ext uri="{FF2B5EF4-FFF2-40B4-BE49-F238E27FC236}">
                <a16:creationId xmlns:a16="http://schemas.microsoft.com/office/drawing/2014/main" id="{13BA1E2B-B978-4583-97EE-8BCD196E7998}"/>
              </a:ext>
            </a:extLst>
          </p:cNvPr>
          <p:cNvSpPr>
            <a:spLocks xmlns:a="http://schemas.openxmlformats.org/drawingml/2006/main" noGrp="1"/>
          </p:cNvSpPr>
          <p:nvPr/>
        </p:nvSpPr>
        <p:spPr>
          <a:xfrm xmlns:a="http://schemas.openxmlformats.org/drawingml/2006/main">
            <a:off x="1238250" y="16764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5400" b="1" i="0">
                <a:solidFill>
                  <a:srgbClr val="2A9D8F"/>
                </a:solidFill>
              </a:defRPr>
            </a:pPr>
            <a:r>
              <a:rPr sz="5400" b="1" i="0">
                <a:solidFill>
                  <a:srgbClr val="2A9D8F"/>
                </a:solidFill>
              </a:rPr>
              <a:t>60</a:t>
            </a:r>
          </a:p>
        </p:txBody>
      </p:sp>
      <p:sp>
        <p:nvSpPr>
          <p:cNvPr id="8" name="">
            <a:extLst xmlns:a="http://schemas.openxmlformats.org/drawingml/2006/main">
              <a:ext uri="{FF2B5EF4-FFF2-40B4-BE49-F238E27FC236}">
                <a16:creationId xmlns:a16="http://schemas.microsoft.com/office/drawing/2014/main" id="{BF8AE45C-575B-4D3A-BEE7-8A9C41E24A9A}"/>
              </a:ext>
            </a:extLst>
          </p:cNvPr>
          <p:cNvSpPr>
            <a:spLocks xmlns:a="http://schemas.openxmlformats.org/drawingml/2006/main" noGrp="1"/>
          </p:cNvSpPr>
          <p:nvPr/>
        </p:nvSpPr>
        <p:spPr>
          <a:xfrm xmlns:a="http://schemas.openxmlformats.org/drawingml/2006/main">
            <a:off x="1238250" y="2647950"/>
            <a:ext cx="3905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102A43"/>
                </a:solidFill>
              </a:defRPr>
            </a:pPr>
            <a:r>
              <a:rPr sz="1950" b="1" i="0">
                <a:solidFill>
                  <a:srgbClr val="102A43"/>
                </a:solidFill>
              </a:rPr>
              <a:t>exact cases</a:t>
            </a:r>
          </a:p>
        </p:txBody>
      </p:sp>
      <p:sp>
        <p:nvSpPr>
          <p:cNvPr id="9" name="">
            <a:extLst xmlns:a="http://schemas.openxmlformats.org/drawingml/2006/main">
              <a:ext uri="{FF2B5EF4-FFF2-40B4-BE49-F238E27FC236}">
                <a16:creationId xmlns:a16="http://schemas.microsoft.com/office/drawing/2014/main" id="{FA4E967F-3E03-4E76-ACA9-FBDAE5DE1B47}"/>
              </a:ext>
            </a:extLst>
          </p:cNvPr>
          <p:cNvSpPr>
            <a:spLocks xmlns:a="http://schemas.openxmlformats.org/drawingml/2006/main" noGrp="1"/>
          </p:cNvSpPr>
          <p:nvPr/>
        </p:nvSpPr>
        <p:spPr>
          <a:xfrm xmlns:a="http://schemas.openxmlformats.org/drawingml/2006/main">
            <a:off x="7048500" y="16764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5400" b="1" i="0">
                <a:solidFill>
                  <a:srgbClr val="1F8A70"/>
                </a:solidFill>
              </a:defRPr>
            </a:pPr>
            <a:r>
              <a:rPr sz="5400" b="1" i="0">
                <a:solidFill>
                  <a:srgbClr val="1F8A70"/>
                </a:solidFill>
              </a:rPr>
              <a:t>0</a:t>
            </a:r>
          </a:p>
        </p:txBody>
      </p:sp>
      <p:sp>
        <p:nvSpPr>
          <p:cNvPr id="10" name="">
            <a:extLst xmlns:a="http://schemas.openxmlformats.org/drawingml/2006/main">
              <a:ext uri="{FF2B5EF4-FFF2-40B4-BE49-F238E27FC236}">
                <a16:creationId xmlns:a16="http://schemas.microsoft.com/office/drawing/2014/main" id="{0E7322BD-C137-4BFA-AFFB-AA801CF3CC84}"/>
              </a:ext>
            </a:extLst>
          </p:cNvPr>
          <p:cNvSpPr>
            <a:spLocks xmlns:a="http://schemas.openxmlformats.org/drawingml/2006/main" noGrp="1"/>
          </p:cNvSpPr>
          <p:nvPr/>
        </p:nvSpPr>
        <p:spPr>
          <a:xfrm xmlns:a="http://schemas.openxmlformats.org/drawingml/2006/main">
            <a:off x="7048500" y="2647950"/>
            <a:ext cx="3905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102A43"/>
                </a:solidFill>
              </a:defRPr>
            </a:pPr>
            <a:r>
              <a:rPr sz="1950" b="1" i="0">
                <a:solidFill>
                  <a:srgbClr val="102A43"/>
                </a:solidFill>
              </a:rPr>
              <a:t>recorded correctness errors</a:t>
            </a:r>
          </a:p>
        </p:txBody>
      </p:sp>
      <p:sp>
        <p:nvSpPr>
          <p:cNvPr id="11" name="">
            <a:extLst xmlns:a="http://schemas.openxmlformats.org/drawingml/2006/main">
              <a:ext uri="{FF2B5EF4-FFF2-40B4-BE49-F238E27FC236}">
                <a16:creationId xmlns:a16="http://schemas.microsoft.com/office/drawing/2014/main" id="{F2BE177E-D7E2-4DA4-9AF4-CDB775E225F7}"/>
              </a:ext>
            </a:extLst>
          </p:cNvPr>
          <p:cNvSpPr>
            <a:spLocks xmlns:a="http://schemas.openxmlformats.org/drawingml/2006/main" noGrp="1"/>
          </p:cNvSpPr>
          <p:nvPr/>
        </p:nvSpPr>
        <p:spPr>
          <a:xfrm xmlns:a="http://schemas.openxmlformats.org/drawingml/2006/main">
            <a:off x="723900" y="3371850"/>
            <a:ext cx="10744200" cy="9525"/>
          </a:xfrm>
          <a:prstGeom xmlns:a="http://schemas.openxmlformats.org/drawingml/2006/main" prst="line">
            <a:avLst/>
          </a:prstGeom>
          <a:noFill xmlns:a="http://schemas.openxmlformats.org/drawingml/2006/main"/>
          <a:ln xmlns:a="http://schemas.openxmlformats.org/drawingml/2006/main" w="19050">
            <a:solidFill>
              <a:srgbClr val="D9E2EC"/>
            </a:solidFill>
            <a:prstDash val="solid"/>
          </a:ln>
        </p:spPr>
      </p:sp>
      <p:sp>
        <p:nvSpPr>
          <p:cNvPr id="12" name="">
            <a:extLst xmlns:a="http://schemas.openxmlformats.org/drawingml/2006/main">
              <a:ext uri="{FF2B5EF4-FFF2-40B4-BE49-F238E27FC236}">
                <a16:creationId xmlns:a16="http://schemas.microsoft.com/office/drawing/2014/main" id="{B4E85005-C4C4-4F12-A29D-A2A1F2524111}"/>
              </a:ext>
            </a:extLst>
          </p:cNvPr>
          <p:cNvSpPr>
            <a:spLocks xmlns:a="http://schemas.openxmlformats.org/drawingml/2006/main" noGrp="1"/>
          </p:cNvSpPr>
          <p:nvPr/>
        </p:nvSpPr>
        <p:spPr>
          <a:xfrm xmlns:a="http://schemas.openxmlformats.org/drawingml/2006/main">
            <a:off x="1524000" y="3638550"/>
            <a:ext cx="9144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175" b="1" i="0">
                <a:solidFill>
                  <a:srgbClr val="102A43"/>
                </a:solidFill>
              </a:defRPr>
            </a:pPr>
            <a:r>
              <a:rPr sz="2175" b="1" i="0">
                <a:solidFill>
                  <a:srgbClr val="102A43"/>
                </a:solidFill>
              </a:rPr>
              <a:t>Each case was oracle-certified and checked once before timing.</a:t>
            </a:r>
          </a:p>
        </p:txBody>
      </p:sp>
      <p:sp>
        <p:nvSpPr>
          <p:cNvPr id="13" name="">
            <a:extLst xmlns:a="http://schemas.openxmlformats.org/drawingml/2006/main">
              <a:ext uri="{FF2B5EF4-FFF2-40B4-BE49-F238E27FC236}">
                <a16:creationId xmlns:a16="http://schemas.microsoft.com/office/drawing/2014/main" id="{C7801FEE-A445-431F-9DF1-B10350D2E5A7}"/>
              </a:ext>
            </a:extLst>
          </p:cNvPr>
          <p:cNvSpPr>
            <a:spLocks xmlns:a="http://schemas.openxmlformats.org/drawingml/2006/main" noGrp="1"/>
          </p:cNvSpPr>
          <p:nvPr/>
        </p:nvSpPr>
        <p:spPr>
          <a:xfrm xmlns:a="http://schemas.openxmlformats.org/drawingml/2006/main">
            <a:off x="1581150" y="4514850"/>
            <a:ext cx="9029700" cy="876300"/>
          </a:xfrm>
          <a:prstGeom xmlns:a="http://schemas.openxmlformats.org/drawingml/2006/main" prst="roundRect">
            <a:avLst>
              <a:gd name="adj" fmla="val 8696"/>
            </a:avLst>
          </a:prstGeom>
          <a:solidFill xmlns:a="http://schemas.openxmlformats.org/drawingml/2006/main">
            <a:srgbClr val="EAF1F8"/>
          </a:solidFill>
          <a:ln xmlns:a="http://schemas.openxmlformats.org/drawingml/2006/main" w="14288">
            <a:solidFill>
              <a:srgbClr val="102A43"/>
            </a:solidFill>
            <a:prstDash val="solid"/>
          </a:ln>
        </p:spPr>
      </p:sp>
      <p:sp>
        <p:nvSpPr>
          <p:cNvPr id="14" name="">
            <a:extLst xmlns:a="http://schemas.openxmlformats.org/drawingml/2006/main">
              <a:ext uri="{FF2B5EF4-FFF2-40B4-BE49-F238E27FC236}">
                <a16:creationId xmlns:a16="http://schemas.microsoft.com/office/drawing/2014/main" id="{A7AD7B16-0A45-45C5-8BF1-3B1F8B6D83D6}"/>
              </a:ext>
            </a:extLst>
          </p:cNvPr>
          <p:cNvSpPr>
            <a:spLocks xmlns:a="http://schemas.openxmlformats.org/drawingml/2006/main" noGrp="1"/>
          </p:cNvSpPr>
          <p:nvPr/>
        </p:nvSpPr>
        <p:spPr>
          <a:xfrm xmlns:a="http://schemas.openxmlformats.org/drawingml/2006/main">
            <a:off x="1847850" y="4686300"/>
            <a:ext cx="8496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0" i="0">
                <a:solidFill>
                  <a:srgbClr val="243B53"/>
                </a:solidFill>
              </a:defRPr>
            </a:pPr>
            <a:r>
              <a:rPr sz="1650" b="0" i="0">
                <a:solidFill>
                  <a:srgbClr val="243B53"/>
                </a:solidFill>
              </a:rPr>
              <a:t>The 3,600 timing rows carry the corresponding case-level audit result.</a:t>
            </a:r>
          </a:p>
        </p:txBody>
      </p:sp>
      <p:sp>
        <p:nvSpPr>
          <p:cNvPr id="15" name="">
            <a:extLst xmlns:a="http://schemas.openxmlformats.org/drawingml/2006/main">
              <a:ext uri="{FF2B5EF4-FFF2-40B4-BE49-F238E27FC236}">
                <a16:creationId xmlns:a16="http://schemas.microsoft.com/office/drawing/2014/main" id="{E98E9E80-ECE6-47E5-8BE5-6ABFDCB77F1D}"/>
              </a:ext>
            </a:extLst>
          </p:cNvPr>
          <p:cNvSpPr>
            <a:spLocks xmlns:a="http://schemas.openxmlformats.org/drawingml/2006/main" noGrp="1"/>
          </p:cNvSpPr>
          <p:nvPr/>
        </p:nvSpPr>
        <p:spPr>
          <a:xfrm xmlns:a="http://schemas.openxmlformats.org/drawingml/2006/main">
            <a:off x="1485900" y="5772150"/>
            <a:ext cx="9220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These results cover the tested valid cases only.</a:t>
            </a:r>
          </a:p>
        </p:txBody>
      </p:sp>
    </p:spTree>
    <p:extLst>
      <p:ext uri="{BB962C8B-B14F-4D97-AF65-F5344CB8AC3E}">
        <p14:creationId xmlns:p14="http://schemas.microsoft.com/office/powerpoint/2010/main" val="1410612824"/>
      </p:ext>
    </p:extLst>
  </p:cSld>
</p:sld>
</file>

<file path=ppt/slides/slide1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925E849-E3A6-47B4-B00C-33AE89159FC3}"/>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RESULTS</a:t>
            </a:r>
          </a:p>
        </p:txBody>
      </p:sp>
      <p:sp>
        <p:nvSpPr>
          <p:cNvPr id="2" name="">
            <a:extLst xmlns:a="http://schemas.openxmlformats.org/drawingml/2006/main">
              <a:ext uri="{FF2B5EF4-FFF2-40B4-BE49-F238E27FC236}">
                <a16:creationId xmlns:a16="http://schemas.microsoft.com/office/drawing/2014/main" id="{E703B348-69F3-4565-A620-A274E1932020}"/>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paper/reference ratio decreases across the five tested sizes</a:t>
            </a:r>
          </a:p>
        </p:txBody>
      </p:sp>
      <p:sp>
        <p:nvSpPr>
          <p:cNvPr id="3" name="">
            <a:extLst xmlns:a="http://schemas.openxmlformats.org/drawingml/2006/main">
              <a:ext uri="{FF2B5EF4-FFF2-40B4-BE49-F238E27FC236}">
                <a16:creationId xmlns:a16="http://schemas.microsoft.com/office/drawing/2014/main" id="{BBA1E6EC-8859-4A24-A741-4EC4489DFCF3}"/>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C33ED974-9581-4084-9AE4-A264EBAAD37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04FB2DF8-8A86-4EB2-9707-2239FA165118}"/>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94E86C29-3F32-4524-AD47-64CB3491C1E3}"/>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14 / 16</a:t>
            </a:r>
          </a:p>
        </p:txBody>
      </p:sp>
      <p:graphicFrame>
        <p:nvGraphicFramePr>
          <p:cNvPr id="25" name="Chart"/>
          <p:cNvGraphicFramePr/>
          <p:nvPr/>
        </p:nvGraphicFramePr>
        <p:xfrm>
          <a:off xmlns:a="http://schemas.openxmlformats.org/drawingml/2006/main" x="647700" y="1409700"/>
          <a:ext xmlns:a="http://schemas.openxmlformats.org/drawingml/2006/main" cx="6858000" cy="4095750"/>
        </p:xfrm>
        <a:graphic xmlns:a="http://schemas.openxmlformats.org/drawingml/2006/main">
          <a:graphicData uri="http://schemas.openxmlformats.org/drawingml/2006/chart">
            <c:chart xmlns:r="http://schemas.openxmlformats.org/officeDocument/2006/relationships" xmlns:c="http://schemas.openxmlformats.org/drawingml/2006/chart" r:id="Ra03577e6470f40b8"/>
          </a:graphicData>
        </a:graphic>
      </p:graphicFrame>
      <p:sp>
        <p:nvSpPr>
          <p:cNvPr id="8" name="">
            <a:extLst xmlns:a="http://schemas.openxmlformats.org/drawingml/2006/main">
              <a:ext uri="{FF2B5EF4-FFF2-40B4-BE49-F238E27FC236}">
                <a16:creationId xmlns:a16="http://schemas.microsoft.com/office/drawing/2014/main" id="{946911AC-E250-42AF-ABB5-24E688E56EFE}"/>
              </a:ext>
            </a:extLst>
          </p:cNvPr>
          <p:cNvSpPr>
            <a:spLocks xmlns:a="http://schemas.openxmlformats.org/drawingml/2006/main" noGrp="1"/>
          </p:cNvSpPr>
          <p:nvPr/>
        </p:nvSpPr>
        <p:spPr>
          <a:xfrm xmlns:a="http://schemas.openxmlformats.org/drawingml/2006/main">
            <a:off x="7905750" y="1524000"/>
            <a:ext cx="33337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1430">
            <a:solidFill>
              <a:srgbClr val="2A9D8F"/>
            </a:solidFill>
            <a:prstDash val="solid"/>
          </a:ln>
        </p:spPr>
      </p:sp>
      <p:sp>
        <p:nvSpPr>
          <p:cNvPr id="9" name="">
            <a:extLst xmlns:a="http://schemas.openxmlformats.org/drawingml/2006/main">
              <a:ext uri="{FF2B5EF4-FFF2-40B4-BE49-F238E27FC236}">
                <a16:creationId xmlns:a16="http://schemas.microsoft.com/office/drawing/2014/main" id="{252063DC-A5B7-491E-9BA0-CA1ADF88C88B}"/>
              </a:ext>
            </a:extLst>
          </p:cNvPr>
          <p:cNvSpPr>
            <a:spLocks xmlns:a="http://schemas.openxmlformats.org/drawingml/2006/main" noGrp="1"/>
          </p:cNvSpPr>
          <p:nvPr/>
        </p:nvSpPr>
        <p:spPr>
          <a:xfrm xmlns:a="http://schemas.openxmlformats.org/drawingml/2006/main">
            <a:off x="8096250" y="1638300"/>
            <a:ext cx="1200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850" b="1" i="0">
                <a:solidFill>
                  <a:srgbClr val="2A9D8F"/>
                </a:solidFill>
              </a:defRPr>
            </a:pPr>
            <a:r>
              <a:rPr sz="2850" b="1" i="0">
                <a:solidFill>
                  <a:srgbClr val="2A9D8F"/>
                </a:solidFill>
              </a:rPr>
              <a:t>3.226</a:t>
            </a:r>
          </a:p>
        </p:txBody>
      </p:sp>
      <p:sp>
        <p:nvSpPr>
          <p:cNvPr id="10" name="">
            <a:extLst xmlns:a="http://schemas.openxmlformats.org/drawingml/2006/main">
              <a:ext uri="{FF2B5EF4-FFF2-40B4-BE49-F238E27FC236}">
                <a16:creationId xmlns:a16="http://schemas.microsoft.com/office/drawing/2014/main" id="{94D78D45-A39E-4546-935C-B246A77460D5}"/>
              </a:ext>
            </a:extLst>
          </p:cNvPr>
          <p:cNvSpPr>
            <a:spLocks xmlns:a="http://schemas.openxmlformats.org/drawingml/2006/main" noGrp="1"/>
          </p:cNvSpPr>
          <p:nvPr/>
        </p:nvSpPr>
        <p:spPr>
          <a:xfrm xmlns:a="http://schemas.openxmlformats.org/drawingml/2006/main">
            <a:off x="9334500" y="1752600"/>
            <a:ext cx="1676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500" b="0" i="0">
                <a:solidFill>
                  <a:srgbClr val="243B53"/>
                </a:solidFill>
              </a:defRPr>
            </a:pPr>
            <a:r>
              <a:rPr sz="1500" b="0" i="0">
                <a:solidFill>
                  <a:srgbClr val="243B53"/>
                </a:solidFill>
              </a:rPr>
              <a:t>at n = 32</a:t>
            </a:r>
          </a:p>
        </p:txBody>
      </p:sp>
      <p:sp>
        <p:nvSpPr>
          <p:cNvPr id="11" name="">
            <a:extLst xmlns:a="http://schemas.openxmlformats.org/drawingml/2006/main">
              <a:ext uri="{FF2B5EF4-FFF2-40B4-BE49-F238E27FC236}">
                <a16:creationId xmlns:a16="http://schemas.microsoft.com/office/drawing/2014/main" id="{EC76C15F-EBCF-4A62-B8D4-37FFF06D1A83}"/>
              </a:ext>
            </a:extLst>
          </p:cNvPr>
          <p:cNvSpPr>
            <a:spLocks xmlns:a="http://schemas.openxmlformats.org/drawingml/2006/main" noGrp="1"/>
          </p:cNvSpPr>
          <p:nvPr/>
        </p:nvSpPr>
        <p:spPr>
          <a:xfrm xmlns:a="http://schemas.openxmlformats.org/drawingml/2006/main">
            <a:off x="7905750" y="2686050"/>
            <a:ext cx="3333750" cy="990600"/>
          </a:xfrm>
          <a:prstGeom xmlns:a="http://schemas.openxmlformats.org/drawingml/2006/main" prst="roundRect">
            <a:avLst>
              <a:gd name="adj" fmla="val 7692"/>
            </a:avLst>
          </a:prstGeom>
          <a:solidFill xmlns:a="http://schemas.openxmlformats.org/drawingml/2006/main">
            <a:srgbClr val="FCEEEA"/>
          </a:solidFill>
          <a:ln xmlns:a="http://schemas.openxmlformats.org/drawingml/2006/main" w="11430">
            <a:solidFill>
              <a:srgbClr val="E76F51"/>
            </a:solidFill>
            <a:prstDash val="solid"/>
          </a:ln>
        </p:spPr>
      </p:sp>
      <p:sp>
        <p:nvSpPr>
          <p:cNvPr id="12" name="">
            <a:extLst xmlns:a="http://schemas.openxmlformats.org/drawingml/2006/main">
              <a:ext uri="{FF2B5EF4-FFF2-40B4-BE49-F238E27FC236}">
                <a16:creationId xmlns:a16="http://schemas.microsoft.com/office/drawing/2014/main" id="{FB75DD24-25B4-494D-BBB1-2DD4DBC5FEE7}"/>
              </a:ext>
            </a:extLst>
          </p:cNvPr>
          <p:cNvSpPr>
            <a:spLocks xmlns:a="http://schemas.openxmlformats.org/drawingml/2006/main" noGrp="1"/>
          </p:cNvSpPr>
          <p:nvPr/>
        </p:nvSpPr>
        <p:spPr>
          <a:xfrm xmlns:a="http://schemas.openxmlformats.org/drawingml/2006/main">
            <a:off x="8096250" y="2800350"/>
            <a:ext cx="1200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850" b="1" i="0">
                <a:solidFill>
                  <a:srgbClr val="E76F51"/>
                </a:solidFill>
              </a:defRPr>
            </a:pPr>
            <a:r>
              <a:rPr sz="2850" b="1" i="0">
                <a:solidFill>
                  <a:srgbClr val="E76F51"/>
                </a:solidFill>
              </a:rPr>
              <a:t>0.567</a:t>
            </a:r>
          </a:p>
        </p:txBody>
      </p:sp>
      <p:sp>
        <p:nvSpPr>
          <p:cNvPr id="13" name="">
            <a:extLst xmlns:a="http://schemas.openxmlformats.org/drawingml/2006/main">
              <a:ext uri="{FF2B5EF4-FFF2-40B4-BE49-F238E27FC236}">
                <a16:creationId xmlns:a16="http://schemas.microsoft.com/office/drawing/2014/main" id="{306648A3-8990-4865-9FE8-BA25C6F6509B}"/>
              </a:ext>
            </a:extLst>
          </p:cNvPr>
          <p:cNvSpPr>
            <a:spLocks xmlns:a="http://schemas.openxmlformats.org/drawingml/2006/main" noGrp="1"/>
          </p:cNvSpPr>
          <p:nvPr/>
        </p:nvSpPr>
        <p:spPr>
          <a:xfrm xmlns:a="http://schemas.openxmlformats.org/drawingml/2006/main">
            <a:off x="9334500" y="2914650"/>
            <a:ext cx="1676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500" b="0" i="0">
                <a:solidFill>
                  <a:srgbClr val="243B53"/>
                </a:solidFill>
              </a:defRPr>
            </a:pPr>
            <a:r>
              <a:rPr sz="1500" b="0" i="0">
                <a:solidFill>
                  <a:srgbClr val="243B53"/>
                </a:solidFill>
              </a:rPr>
              <a:t>at n = 512</a:t>
            </a:r>
          </a:p>
        </p:txBody>
      </p:sp>
      <p:sp>
        <p:nvSpPr>
          <p:cNvPr id="14" name="">
            <a:extLst xmlns:a="http://schemas.openxmlformats.org/drawingml/2006/main">
              <a:ext uri="{FF2B5EF4-FFF2-40B4-BE49-F238E27FC236}">
                <a16:creationId xmlns:a16="http://schemas.microsoft.com/office/drawing/2014/main" id="{FE1D1C47-F8C8-4B42-8859-BA94F3A40049}"/>
              </a:ext>
            </a:extLst>
          </p:cNvPr>
          <p:cNvSpPr>
            <a:spLocks xmlns:a="http://schemas.openxmlformats.org/drawingml/2006/main" noGrp="1"/>
          </p:cNvSpPr>
          <p:nvPr/>
        </p:nvSpPr>
        <p:spPr>
          <a:xfrm xmlns:a="http://schemas.openxmlformats.org/drawingml/2006/main">
            <a:off x="7905750" y="3981450"/>
            <a:ext cx="3333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02A43"/>
            </a:solidFill>
            <a:prstDash val="solid"/>
          </a:ln>
        </p:spPr>
      </p:sp>
      <p:sp>
        <p:nvSpPr>
          <p:cNvPr id="15" name="">
            <a:extLst xmlns:a="http://schemas.openxmlformats.org/drawingml/2006/main">
              <a:ext uri="{FF2B5EF4-FFF2-40B4-BE49-F238E27FC236}">
                <a16:creationId xmlns:a16="http://schemas.microsoft.com/office/drawing/2014/main" id="{D2FA35B6-450D-437B-914A-37AB54462C47}"/>
              </a:ext>
            </a:extLst>
          </p:cNvPr>
          <p:cNvSpPr>
            <a:spLocks xmlns:a="http://schemas.openxmlformats.org/drawingml/2006/main" noGrp="1"/>
          </p:cNvSpPr>
          <p:nvPr/>
        </p:nvSpPr>
        <p:spPr>
          <a:xfrm xmlns:a="http://schemas.openxmlformats.org/drawingml/2006/main">
            <a:off x="8096250" y="411480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ctr">
              <a:lnSpc>
                <a:spcPct val="105000"/>
              </a:lnSpc>
              <a:buNone/>
              <a:defRPr sz="1800" b="1" i="0">
                <a:solidFill>
                  <a:srgbClr val="102A43"/>
                </a:solidFill>
              </a:defRPr>
            </a:pPr>
            <a:r>
              <a:rPr sz="1800" b="1" i="0">
                <a:solidFill>
                  <a:srgbClr val="102A43"/>
                </a:solidFill>
              </a:rPr>
              <a:t>Observed crossover</a:t>
            </a:r>
          </a:p>
        </p:txBody>
      </p:sp>
      <p:sp>
        <p:nvSpPr>
          <p:cNvPr id="16" name="">
            <a:extLst xmlns:a="http://schemas.openxmlformats.org/drawingml/2006/main">
              <a:ext uri="{FF2B5EF4-FFF2-40B4-BE49-F238E27FC236}">
                <a16:creationId xmlns:a16="http://schemas.microsoft.com/office/drawing/2014/main" id="{649B020C-7848-4F40-AE00-6EC6B470B4D5}"/>
              </a:ext>
            </a:extLst>
          </p:cNvPr>
          <p:cNvSpPr>
            <a:spLocks xmlns:a="http://schemas.openxmlformats.org/drawingml/2006/main" noGrp="1"/>
          </p:cNvSpPr>
          <p:nvPr/>
        </p:nvSpPr>
        <p:spPr>
          <a:xfrm xmlns:a="http://schemas.openxmlformats.org/drawingml/2006/main">
            <a:off x="8115300" y="453390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between tested sizes 128 and 256</a:t>
            </a:r>
          </a:p>
        </p:txBody>
      </p:sp>
      <p:sp>
        <p:nvSpPr>
          <p:cNvPr id="17" name="">
            <a:extLst xmlns:a="http://schemas.openxmlformats.org/drawingml/2006/main">
              <a:ext uri="{FF2B5EF4-FFF2-40B4-BE49-F238E27FC236}">
                <a16:creationId xmlns:a16="http://schemas.microsoft.com/office/drawing/2014/main" id="{297A9124-DAA7-4078-9ED1-BBEB108D8676}"/>
              </a:ext>
            </a:extLst>
          </p:cNvPr>
          <p:cNvSpPr>
            <a:spLocks xmlns:a="http://schemas.openxmlformats.org/drawingml/2006/main" noGrp="1"/>
          </p:cNvSpPr>
          <p:nvPr/>
        </p:nvSpPr>
        <p:spPr>
          <a:xfrm xmlns:a="http://schemas.openxmlformats.org/drawingml/2006/main">
            <a:off x="7810500" y="5391150"/>
            <a:ext cx="3543300" cy="647700"/>
          </a:xfrm>
          <a:prstGeom xmlns:a="http://schemas.openxmlformats.org/drawingml/2006/main" prst="roundRect">
            <a:avLst>
              <a:gd name="adj" fmla="val 8824"/>
            </a:avLst>
          </a:prstGeom>
          <a:solidFill xmlns:a="http://schemas.openxmlformats.org/drawingml/2006/main">
            <a:srgbClr val="102A43"/>
          </a:solidFill>
          <a:ln xmlns:a="http://schemas.openxmlformats.org/drawingml/2006/main" w="11430">
            <a:solidFill>
              <a:srgbClr val="102A43"/>
            </a:solidFill>
            <a:prstDash val="solid"/>
          </a:ln>
        </p:spPr>
      </p:sp>
      <p:sp>
        <p:nvSpPr>
          <p:cNvPr id="18" name="">
            <a:extLst xmlns:a="http://schemas.openxmlformats.org/drawingml/2006/main">
              <a:ext uri="{FF2B5EF4-FFF2-40B4-BE49-F238E27FC236}">
                <a16:creationId xmlns:a16="http://schemas.microsoft.com/office/drawing/2014/main" id="{D9BAE94A-A71B-408D-BDFA-573B28DA1CFC}"/>
              </a:ext>
            </a:extLst>
          </p:cNvPr>
          <p:cNvSpPr>
            <a:spLocks xmlns:a="http://schemas.openxmlformats.org/drawingml/2006/main" noGrp="1"/>
          </p:cNvSpPr>
          <p:nvPr/>
        </p:nvSpPr>
        <p:spPr>
          <a:xfrm xmlns:a="http://schemas.openxmlformats.org/drawingml/2006/main">
            <a:off x="7981950" y="5486400"/>
            <a:ext cx="320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FFFFFF"/>
                </a:solidFill>
              </a:defRPr>
            </a:pPr>
            <a:r>
              <a:rPr sz="1275" b="1" i="0">
                <a:solidFill>
                  <a:srgbClr val="FFFFFF"/>
                </a:solidFill>
              </a:rPr>
              <a:t>five sizes  |  ordinary lists  |  different timed scopes</a:t>
            </a:r>
          </a:p>
        </p:txBody>
      </p:sp>
    </p:spTree>
    <p:extLst>
      <p:ext uri="{BB962C8B-B14F-4D97-AF65-F5344CB8AC3E}">
        <p14:creationId xmlns:p14="http://schemas.microsoft.com/office/powerpoint/2010/main" val="1391756224"/>
      </p:ext>
    </p:extLst>
  </p:cSld>
</p:sld>
</file>

<file path=ppt/slides/slide1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1949D3F5-7748-4EA7-86C8-F33A5F16790C}"/>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INTERPRETATION</a:t>
            </a:r>
          </a:p>
        </p:txBody>
      </p:sp>
      <p:sp>
        <p:nvSpPr>
          <p:cNvPr id="2" name="">
            <a:extLst xmlns:a="http://schemas.openxmlformats.org/drawingml/2006/main">
              <a:ext uri="{FF2B5EF4-FFF2-40B4-BE49-F238E27FC236}">
                <a16:creationId xmlns:a16="http://schemas.microsoft.com/office/drawing/2014/main" id="{A0CAD3D1-16AD-41B8-805D-EB53FA76780F}"/>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What the current evidence shows</a:t>
            </a:r>
          </a:p>
        </p:txBody>
      </p:sp>
      <p:sp>
        <p:nvSpPr>
          <p:cNvPr id="3" name="">
            <a:extLst xmlns:a="http://schemas.openxmlformats.org/drawingml/2006/main">
              <a:ext uri="{FF2B5EF4-FFF2-40B4-BE49-F238E27FC236}">
                <a16:creationId xmlns:a16="http://schemas.microsoft.com/office/drawing/2014/main" id="{E4064EC9-40E1-4255-8664-CD3726281508}"/>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350C5905-8768-4E09-9F5A-2C51139B31AE}"/>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A1E6FC90-EE01-406F-9507-197E0CB382A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57418FE0-E356-416E-BAF2-3E596ABAD76D}"/>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15 / 16</a:t>
            </a:r>
          </a:p>
        </p:txBody>
      </p:sp>
      <p:sp>
        <p:nvSpPr>
          <p:cNvPr id="7" name="">
            <a:extLst xmlns:a="http://schemas.openxmlformats.org/drawingml/2006/main">
              <a:ext uri="{FF2B5EF4-FFF2-40B4-BE49-F238E27FC236}">
                <a16:creationId xmlns:a16="http://schemas.microsoft.com/office/drawing/2014/main" id="{1960CDD4-3484-43B7-8F24-DBD70C4C2DC3}"/>
              </a:ext>
            </a:extLst>
          </p:cNvPr>
          <p:cNvSpPr>
            <a:spLocks xmlns:a="http://schemas.openxmlformats.org/drawingml/2006/main" noGrp="1"/>
          </p:cNvSpPr>
          <p:nvPr/>
        </p:nvSpPr>
        <p:spPr>
          <a:xfrm xmlns:a="http://schemas.openxmlformats.org/drawingml/2006/main">
            <a:off x="742950" y="1447800"/>
            <a:ext cx="5105400" cy="3848100"/>
          </a:xfrm>
          <a:prstGeom xmlns:a="http://schemas.openxmlformats.org/drawingml/2006/main" prst="roundRect">
            <a:avLst>
              <a:gd name="adj" fmla="val 1980"/>
            </a:avLst>
          </a:prstGeom>
          <a:solidFill xmlns:a="http://schemas.openxmlformats.org/drawingml/2006/main">
            <a:srgbClr val="E8F5F3"/>
          </a:solidFill>
          <a:ln xmlns:a="http://schemas.openxmlformats.org/drawingml/2006/main" w="19050">
            <a:solidFill>
              <a:srgbClr val="2A9D8F"/>
            </a:solidFill>
            <a:prstDash val="solid"/>
          </a:ln>
        </p:spPr>
      </p:sp>
      <p:sp>
        <p:nvSpPr>
          <p:cNvPr id="8" name="">
            <a:extLst xmlns:a="http://schemas.openxmlformats.org/drawingml/2006/main">
              <a:ext uri="{FF2B5EF4-FFF2-40B4-BE49-F238E27FC236}">
                <a16:creationId xmlns:a16="http://schemas.microsoft.com/office/drawing/2014/main" id="{2D9AD4BD-B015-493A-9742-08B86C76B6CD}"/>
              </a:ext>
            </a:extLst>
          </p:cNvPr>
          <p:cNvSpPr>
            <a:spLocks xmlns:a="http://schemas.openxmlformats.org/drawingml/2006/main" noGrp="1"/>
          </p:cNvSpPr>
          <p:nvPr/>
        </p:nvSpPr>
        <p:spPr>
          <a:xfrm xmlns:a="http://schemas.openxmlformats.org/drawingml/2006/main">
            <a:off x="6343650" y="1447800"/>
            <a:ext cx="5105400" cy="3848100"/>
          </a:xfrm>
          <a:prstGeom xmlns:a="http://schemas.openxmlformats.org/drawingml/2006/main" prst="roundRect">
            <a:avLst>
              <a:gd name="adj" fmla="val 1980"/>
            </a:avLst>
          </a:prstGeom>
          <a:solidFill xmlns:a="http://schemas.openxmlformats.org/drawingml/2006/main">
            <a:srgbClr val="FCEEEA"/>
          </a:solidFill>
          <a:ln xmlns:a="http://schemas.openxmlformats.org/drawingml/2006/main" w="19050">
            <a:solidFill>
              <a:srgbClr val="E76F51"/>
            </a:solidFill>
            <a:prstDash val="solid"/>
          </a:ln>
        </p:spPr>
      </p:sp>
      <p:sp>
        <p:nvSpPr>
          <p:cNvPr id="9" name="">
            <a:extLst xmlns:a="http://schemas.openxmlformats.org/drawingml/2006/main">
              <a:ext uri="{FF2B5EF4-FFF2-40B4-BE49-F238E27FC236}">
                <a16:creationId xmlns:a16="http://schemas.microsoft.com/office/drawing/2014/main" id="{D1803D99-742F-43D5-AAEC-0A2BF0BE8E09}"/>
              </a:ext>
            </a:extLst>
          </p:cNvPr>
          <p:cNvSpPr>
            <a:spLocks xmlns:a="http://schemas.openxmlformats.org/drawingml/2006/main" noGrp="1"/>
          </p:cNvSpPr>
          <p:nvPr/>
        </p:nvSpPr>
        <p:spPr>
          <a:xfrm xmlns:a="http://schemas.openxmlformats.org/drawingml/2006/main">
            <a:off x="1009650" y="169545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Current results</a:t>
            </a:r>
          </a:p>
        </p:txBody>
      </p:sp>
      <p:sp>
        <p:nvSpPr>
          <p:cNvPr id="10" name="">
            <a:extLst xmlns:a="http://schemas.openxmlformats.org/drawingml/2006/main">
              <a:ext uri="{FF2B5EF4-FFF2-40B4-BE49-F238E27FC236}">
                <a16:creationId xmlns:a16="http://schemas.microsoft.com/office/drawing/2014/main" id="{1D9FD332-FFCB-40D5-8230-65EF5D9E864A}"/>
              </a:ext>
            </a:extLst>
          </p:cNvPr>
          <p:cNvSpPr>
            <a:spLocks xmlns:a="http://schemas.openxmlformats.org/drawingml/2006/main" noGrp="1"/>
          </p:cNvSpPr>
          <p:nvPr/>
        </p:nvSpPr>
        <p:spPr>
          <a:xfrm xmlns:a="http://schemas.openxmlformats.org/drawingml/2006/main">
            <a:off x="6610350" y="169545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Main limits</a:t>
            </a:r>
          </a:p>
        </p:txBody>
      </p:sp>
      <p:sp>
        <p:nvSpPr>
          <p:cNvPr id="11" name="">
            <a:extLst xmlns:a="http://schemas.openxmlformats.org/drawingml/2006/main">
              <a:ext uri="{FF2B5EF4-FFF2-40B4-BE49-F238E27FC236}">
                <a16:creationId xmlns:a16="http://schemas.microsoft.com/office/drawing/2014/main" id="{5F9CF2F3-5AD7-45D7-A1A3-89F33B814D7A}"/>
              </a:ext>
            </a:extLst>
          </p:cNvPr>
          <p:cNvSpPr>
            <a:spLocks xmlns:a="http://schemas.openxmlformats.org/drawingml/2006/main" noGrp="1"/>
          </p:cNvSpPr>
          <p:nvPr/>
        </p:nvSpPr>
        <p:spPr>
          <a:xfrm xmlns:a="http://schemas.openxmlformats.org/drawingml/2006/main">
            <a:off x="1066800" y="26479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2" name="">
            <a:extLst xmlns:a="http://schemas.openxmlformats.org/drawingml/2006/main">
              <a:ext uri="{FF2B5EF4-FFF2-40B4-BE49-F238E27FC236}">
                <a16:creationId xmlns:a16="http://schemas.microsoft.com/office/drawing/2014/main" id="{92BD5FE8-B11B-450B-86CF-FB65E6DFC96E}"/>
              </a:ext>
            </a:extLst>
          </p:cNvPr>
          <p:cNvSpPr>
            <a:spLocks xmlns:a="http://schemas.openxmlformats.org/drawingml/2006/main" noGrp="1"/>
          </p:cNvSpPr>
          <p:nvPr/>
        </p:nvSpPr>
        <p:spPr>
          <a:xfrm xmlns:a="http://schemas.openxmlformats.org/drawingml/2006/main">
            <a:off x="1276350" y="25717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Executable reconstruction with output recovered from maintained state</a:t>
            </a:r>
          </a:p>
        </p:txBody>
      </p:sp>
      <p:sp>
        <p:nvSpPr>
          <p:cNvPr id="13" name="">
            <a:extLst xmlns:a="http://schemas.openxmlformats.org/drawingml/2006/main">
              <a:ext uri="{FF2B5EF4-FFF2-40B4-BE49-F238E27FC236}">
                <a16:creationId xmlns:a16="http://schemas.microsoft.com/office/drawing/2014/main" id="{3EC2EE22-2CE1-4675-9735-50813777BABA}"/>
              </a:ext>
            </a:extLst>
          </p:cNvPr>
          <p:cNvSpPr>
            <a:spLocks xmlns:a="http://schemas.openxmlformats.org/drawingml/2006/main" noGrp="1"/>
          </p:cNvSpPr>
          <p:nvPr/>
        </p:nvSpPr>
        <p:spPr>
          <a:xfrm xmlns:a="http://schemas.openxmlformats.org/drawingml/2006/main">
            <a:off x="1066800" y="39052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4" name="">
            <a:extLst xmlns:a="http://schemas.openxmlformats.org/drawingml/2006/main">
              <a:ext uri="{FF2B5EF4-FFF2-40B4-BE49-F238E27FC236}">
                <a16:creationId xmlns:a16="http://schemas.microsoft.com/office/drawing/2014/main" id="{798DB842-A019-49FB-96EC-BBF12B4DD1F5}"/>
              </a:ext>
            </a:extLst>
          </p:cNvPr>
          <p:cNvSpPr>
            <a:spLocks xmlns:a="http://schemas.openxmlformats.org/drawingml/2006/main" noGrp="1"/>
          </p:cNvSpPr>
          <p:nvPr/>
        </p:nvSpPr>
        <p:spPr>
          <a:xfrm xmlns:a="http://schemas.openxmlformats.org/drawingml/2006/main">
            <a:off x="1276350" y="38290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Correct outputs and a recorded runtime trend for the evaluated cases</a:t>
            </a:r>
          </a:p>
        </p:txBody>
      </p:sp>
      <p:sp>
        <p:nvSpPr>
          <p:cNvPr id="15" name="">
            <a:extLst xmlns:a="http://schemas.openxmlformats.org/drawingml/2006/main">
              <a:ext uri="{FF2B5EF4-FFF2-40B4-BE49-F238E27FC236}">
                <a16:creationId xmlns:a16="http://schemas.microsoft.com/office/drawing/2014/main" id="{6A61BA01-FEA2-4EBC-93B1-F23C0089ABC1}"/>
              </a:ext>
            </a:extLst>
          </p:cNvPr>
          <p:cNvSpPr>
            <a:spLocks xmlns:a="http://schemas.openxmlformats.org/drawingml/2006/main" noGrp="1"/>
          </p:cNvSpPr>
          <p:nvPr/>
        </p:nvSpPr>
        <p:spPr>
          <a:xfrm xmlns:a="http://schemas.openxmlformats.org/drawingml/2006/main">
            <a:off x="6667500" y="26479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16" name="">
            <a:extLst xmlns:a="http://schemas.openxmlformats.org/drawingml/2006/main">
              <a:ext uri="{FF2B5EF4-FFF2-40B4-BE49-F238E27FC236}">
                <a16:creationId xmlns:a16="http://schemas.microsoft.com/office/drawing/2014/main" id="{AAB1C6BE-B10A-4DF9-A3FB-E4E3FAB84844}"/>
              </a:ext>
            </a:extLst>
          </p:cNvPr>
          <p:cNvSpPr>
            <a:spLocks xmlns:a="http://schemas.openxmlformats.org/drawingml/2006/main" noGrp="1"/>
          </p:cNvSpPr>
          <p:nvPr/>
        </p:nvSpPr>
        <p:spPr>
          <a:xfrm xmlns:a="http://schemas.openxmlformats.org/drawingml/2006/main">
            <a:off x="6877050" y="25717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Ordinary lists do not establish a linear-time implementation</a:t>
            </a:r>
          </a:p>
        </p:txBody>
      </p:sp>
      <p:sp>
        <p:nvSpPr>
          <p:cNvPr id="17" name="">
            <a:extLst xmlns:a="http://schemas.openxmlformats.org/drawingml/2006/main">
              <a:ext uri="{FF2B5EF4-FFF2-40B4-BE49-F238E27FC236}">
                <a16:creationId xmlns:a16="http://schemas.microsoft.com/office/drawing/2014/main" id="{0EF8C973-3072-41DA-AD1C-A16A40652BA6}"/>
              </a:ext>
            </a:extLst>
          </p:cNvPr>
          <p:cNvSpPr>
            <a:spLocks xmlns:a="http://schemas.openxmlformats.org/drawingml/2006/main" noGrp="1"/>
          </p:cNvSpPr>
          <p:nvPr/>
        </p:nvSpPr>
        <p:spPr>
          <a:xfrm xmlns:a="http://schemas.openxmlformats.org/drawingml/2006/main">
            <a:off x="6667500" y="39052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18" name="">
            <a:extLst xmlns:a="http://schemas.openxmlformats.org/drawingml/2006/main">
              <a:ext uri="{FF2B5EF4-FFF2-40B4-BE49-F238E27FC236}">
                <a16:creationId xmlns:a16="http://schemas.microsoft.com/office/drawing/2014/main" id="{9CD2EDDF-D51D-4E9F-92CD-A6EA20E09FEC}"/>
              </a:ext>
            </a:extLst>
          </p:cNvPr>
          <p:cNvSpPr>
            <a:spLocks xmlns:a="http://schemas.openxmlformats.org/drawingml/2006/main" noGrp="1"/>
          </p:cNvSpPr>
          <p:nvPr/>
        </p:nvSpPr>
        <p:spPr>
          <a:xfrm xmlns:a="http://schemas.openxmlformats.org/drawingml/2006/main">
            <a:off x="6877050" y="38290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Five tested sizes do not establish asymptotic complexity</a:t>
            </a:r>
          </a:p>
        </p:txBody>
      </p:sp>
      <p:sp>
        <p:nvSpPr>
          <p:cNvPr id="19" name="">
            <a:extLst xmlns:a="http://schemas.openxmlformats.org/drawingml/2006/main">
              <a:ext uri="{FF2B5EF4-FFF2-40B4-BE49-F238E27FC236}">
                <a16:creationId xmlns:a16="http://schemas.microsoft.com/office/drawing/2014/main" id="{C4531ED7-0B81-4B8B-9FCD-875637FC2E1B}"/>
              </a:ext>
            </a:extLst>
          </p:cNvPr>
          <p:cNvSpPr>
            <a:spLocks xmlns:a="http://schemas.openxmlformats.org/drawingml/2006/main" noGrp="1"/>
          </p:cNvSpPr>
          <p:nvPr/>
        </p:nvSpPr>
        <p:spPr>
          <a:xfrm xmlns:a="http://schemas.openxmlformats.org/drawingml/2006/main">
            <a:off x="1428750" y="5715000"/>
            <a:ext cx="933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Recognition was not evaluated. Paper and reference use different timing scopes.</a:t>
            </a:r>
          </a:p>
        </p:txBody>
      </p:sp>
    </p:spTree>
    <p:extLst>
      <p:ext uri="{BB962C8B-B14F-4D97-AF65-F5344CB8AC3E}">
        <p14:creationId xmlns:p14="http://schemas.microsoft.com/office/powerpoint/2010/main" val="1275000473"/>
      </p:ext>
    </p:extLst>
  </p:cSld>
</p:sld>
</file>

<file path=ppt/slides/slide1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479511C-A080-4341-8FD6-00597062F672}"/>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NEXT STEP</a:t>
            </a:r>
          </a:p>
        </p:txBody>
      </p:sp>
      <p:sp>
        <p:nvSpPr>
          <p:cNvPr id="2" name="">
            <a:extLst xmlns:a="http://schemas.openxmlformats.org/drawingml/2006/main">
              <a:ext uri="{FF2B5EF4-FFF2-40B4-BE49-F238E27FC236}">
                <a16:creationId xmlns:a16="http://schemas.microsoft.com/office/drawing/2014/main" id="{CBF3D366-443B-4E84-850D-34D0935E0BC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Possible next step: a finger-tree backend</a:t>
            </a:r>
          </a:p>
        </p:txBody>
      </p:sp>
      <p:sp>
        <p:nvSpPr>
          <p:cNvPr id="3" name="">
            <a:extLst xmlns:a="http://schemas.openxmlformats.org/drawingml/2006/main">
              <a:ext uri="{FF2B5EF4-FFF2-40B4-BE49-F238E27FC236}">
                <a16:creationId xmlns:a16="http://schemas.microsoft.com/office/drawing/2014/main" id="{46A58543-D5A2-4305-AD5D-EBE908986986}"/>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9A041079-AF76-4613-B1FB-B9F0168043E6}"/>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EEDF9E8F-2EB8-4981-9344-0CD2EA93DD9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CCF62471-D770-42A2-A22C-6D1D0A37A4F2}"/>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16 / 16</a:t>
            </a:r>
          </a:p>
        </p:txBody>
      </p:sp>
      <p:sp>
        <p:nvSpPr>
          <p:cNvPr id="7" name="">
            <a:extLst xmlns:a="http://schemas.openxmlformats.org/drawingml/2006/main">
              <a:ext uri="{FF2B5EF4-FFF2-40B4-BE49-F238E27FC236}">
                <a16:creationId xmlns:a16="http://schemas.microsoft.com/office/drawing/2014/main" id="{ADA62E34-8AF8-4637-AB2E-E28BCB7397B1}"/>
              </a:ext>
            </a:extLst>
          </p:cNvPr>
          <p:cNvSpPr>
            <a:spLocks xmlns:a="http://schemas.openxmlformats.org/drawingml/2006/main" noGrp="1"/>
          </p:cNvSpPr>
          <p:nvPr/>
        </p:nvSpPr>
        <p:spPr>
          <a:xfrm xmlns:a="http://schemas.openxmlformats.org/drawingml/2006/main">
            <a:off x="1066800" y="1485900"/>
            <a:ext cx="10058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100" b="1" i="0">
                <a:solidFill>
                  <a:srgbClr val="102A43"/>
                </a:solidFill>
              </a:defRPr>
            </a:pPr>
            <a:r>
              <a:rPr sz="2100" b="1" i="0">
                <a:solidFill>
                  <a:srgbClr val="102A43"/>
                </a:solidFill>
              </a:rPr>
              <a:t>The ordinary-list implementation provides a tested reference point.</a:t>
            </a:r>
          </a:p>
        </p:txBody>
      </p:sp>
      <p:sp>
        <p:nvSpPr>
          <p:cNvPr id="8" name="">
            <a:extLst xmlns:a="http://schemas.openxmlformats.org/drawingml/2006/main">
              <a:ext uri="{FF2B5EF4-FFF2-40B4-BE49-F238E27FC236}">
                <a16:creationId xmlns:a16="http://schemas.microsoft.com/office/drawing/2014/main" id="{51829D50-2489-4503-8FB7-EBD4A8F3EB38}"/>
              </a:ext>
            </a:extLst>
          </p:cNvPr>
          <p:cNvSpPr>
            <a:spLocks xmlns:a="http://schemas.openxmlformats.org/drawingml/2006/main" noGrp="1"/>
          </p:cNvSpPr>
          <p:nvPr/>
        </p:nvSpPr>
        <p:spPr>
          <a:xfrm xmlns:a="http://schemas.openxmlformats.org/drawingml/2006/main">
            <a:off x="1638300" y="2324100"/>
            <a:ext cx="8915400" cy="952500"/>
          </a:xfrm>
          <a:prstGeom xmlns:a="http://schemas.openxmlformats.org/drawingml/2006/main" prst="roundRect">
            <a:avLst>
              <a:gd name="adj" fmla="val 8000"/>
            </a:avLst>
          </a:prstGeom>
          <a:solidFill xmlns:a="http://schemas.openxmlformats.org/drawingml/2006/main">
            <a:srgbClr val="E8F5F3"/>
          </a:solidFill>
          <a:ln xmlns:a="http://schemas.openxmlformats.org/drawingml/2006/main" w="14288">
            <a:solidFill>
              <a:srgbClr val="2A9D8F"/>
            </a:solidFill>
            <a:prstDash val="solid"/>
          </a:ln>
        </p:spPr>
      </p:sp>
      <p:sp>
        <p:nvSpPr>
          <p:cNvPr id="9" name="">
            <a:extLst xmlns:a="http://schemas.openxmlformats.org/drawingml/2006/main">
              <a:ext uri="{FF2B5EF4-FFF2-40B4-BE49-F238E27FC236}">
                <a16:creationId xmlns:a16="http://schemas.microsoft.com/office/drawing/2014/main" id="{67D15C1E-34A0-4F9F-ADEE-B2F5A66D81EF}"/>
              </a:ext>
            </a:extLst>
          </p:cNvPr>
          <p:cNvSpPr>
            <a:spLocks xmlns:a="http://schemas.openxmlformats.org/drawingml/2006/main" noGrp="1"/>
          </p:cNvSpPr>
          <p:nvPr/>
        </p:nvSpPr>
        <p:spPr>
          <a:xfrm xmlns:a="http://schemas.openxmlformats.org/drawingml/2006/main">
            <a:off x="1943100" y="2552700"/>
            <a:ext cx="830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2672"/>
          </a:bodyPr>
          <a:lstStyle xmlns:a="http://schemas.openxmlformats.org/drawingml/2006/main"/>
          <a:p xmlns:a="http://schemas.openxmlformats.org/drawingml/2006/main">
            <a:pPr algn="ctr">
              <a:lnSpc>
                <a:spcPct val="105000"/>
              </a:lnSpc>
              <a:buNone/>
              <a:defRPr sz="1800" b="0" i="0">
                <a:solidFill>
                  <a:srgbClr val="243B53"/>
                </a:solidFill>
              </a:defRPr>
            </a:pPr>
            <a:r>
              <a:rPr sz="1800" b="0" i="0">
                <a:solidFill>
                  <a:srgbClr val="243B53"/>
                </a:solidFill>
              </a:rPr>
              <a:t>A new backend would keep the same Step 1/2/3 behavior while changing the sibling-list operations.</a:t>
            </a:r>
          </a:p>
        </p:txBody>
      </p:sp>
      <p:sp>
        <p:nvSpPr>
          <p:cNvPr id="10" name="">
            <a:extLst xmlns:a="http://schemas.openxmlformats.org/drawingml/2006/main">
              <a:ext uri="{FF2B5EF4-FFF2-40B4-BE49-F238E27FC236}">
                <a16:creationId xmlns:a16="http://schemas.microsoft.com/office/drawing/2014/main" id="{C87785DE-9D5C-4654-88BC-F558A6A9C287}"/>
              </a:ext>
            </a:extLst>
          </p:cNvPr>
          <p:cNvSpPr>
            <a:spLocks xmlns:a="http://schemas.openxmlformats.org/drawingml/2006/main" noGrp="1"/>
          </p:cNvSpPr>
          <p:nvPr/>
        </p:nvSpPr>
        <p:spPr>
          <a:xfrm xmlns:a="http://schemas.openxmlformats.org/drawingml/2006/main">
            <a:off x="1066800" y="3829050"/>
            <a:ext cx="10058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Discussion with the supervisor</a:t>
            </a:r>
          </a:p>
        </p:txBody>
      </p:sp>
      <p:sp>
        <p:nvSpPr>
          <p:cNvPr id="11" name="">
            <a:extLst xmlns:a="http://schemas.openxmlformats.org/drawingml/2006/main">
              <a:ext uri="{FF2B5EF4-FFF2-40B4-BE49-F238E27FC236}">
                <a16:creationId xmlns:a16="http://schemas.microsoft.com/office/drawing/2014/main" id="{C51E7204-7828-4B5C-812C-5BF14D1E4B3A}"/>
              </a:ext>
            </a:extLst>
          </p:cNvPr>
          <p:cNvSpPr>
            <a:spLocks xmlns:a="http://schemas.openxmlformats.org/drawingml/2006/main" noGrp="1"/>
          </p:cNvSpPr>
          <p:nvPr/>
        </p:nvSpPr>
        <p:spPr>
          <a:xfrm xmlns:a="http://schemas.openxmlformats.org/drawingml/2006/main">
            <a:off x="1066800" y="4343400"/>
            <a:ext cx="10058400" cy="1543050"/>
          </a:xfrm>
          <a:prstGeom xmlns:a="http://schemas.openxmlformats.org/drawingml/2006/main" prst="roundRect">
            <a:avLst>
              <a:gd name="adj" fmla="val 4938"/>
            </a:avLst>
          </a:prstGeom>
          <a:solidFill xmlns:a="http://schemas.openxmlformats.org/drawingml/2006/main">
            <a:srgbClr val="102A43"/>
          </a:solidFill>
          <a:ln xmlns:a="http://schemas.openxmlformats.org/drawingml/2006/main" w="11430">
            <a:solidFill>
              <a:srgbClr val="102A43"/>
            </a:solidFill>
            <a:prstDash val="solid"/>
          </a:ln>
        </p:spPr>
      </p:sp>
      <p:sp>
        <p:nvSpPr>
          <p:cNvPr id="12" name="">
            <a:extLst xmlns:a="http://schemas.openxmlformats.org/drawingml/2006/main">
              <a:ext uri="{FF2B5EF4-FFF2-40B4-BE49-F238E27FC236}">
                <a16:creationId xmlns:a16="http://schemas.microsoft.com/office/drawing/2014/main" id="{322268DB-FCF0-4E75-99E6-2A52ABA6D78E}"/>
              </a:ext>
            </a:extLst>
          </p:cNvPr>
          <p:cNvSpPr>
            <a:spLocks xmlns:a="http://schemas.openxmlformats.org/drawingml/2006/main" noGrp="1"/>
          </p:cNvSpPr>
          <p:nvPr/>
        </p:nvSpPr>
        <p:spPr>
          <a:xfrm xmlns:a="http://schemas.openxmlformats.org/drawingml/2006/main">
            <a:off x="1466850" y="4533900"/>
            <a:ext cx="92583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0" i="0">
                <a:solidFill>
                  <a:srgbClr val="FFFFFF"/>
                </a:solidFill>
              </a:defRPr>
            </a:pPr>
            <a:r>
              <a:rPr sz="1800" b="0" i="0">
                <a:solidFill>
                  <a:srgbClr val="FFFFFF"/>
                </a:solidFill>
              </a:rPr>
              <a:t>1. Should I target the historical heterogeneous finger tree or an equivalent backend?</a:t>
            </a:r>
          </a:p>
          <a:p xmlns:a="http://schemas.openxmlformats.org/drawingml/2006/main">
            <a:pPr algn="l">
              <a:lnSpc>
                <a:spcPct val="105000"/>
              </a:lnSpc>
              <a:buNone/>
              <a:defRPr sz="1800" b="0" i="0">
                <a:solidFill>
                  <a:srgbClr val="FFFFFF"/>
                </a:solidFill>
              </a:defRPr>
            </a:pPr>
            <a:r>
              <a:rPr sz="1800" b="0" i="0">
                <a:solidFill>
                  <a:srgbClr val="FFFFFF"/>
                </a:solidFill>
              </a:rPr>
              <a:t>2. Is a tested, semantically equivalent prototype enough, or should I also prove the required amortized operation bounds?</a:t>
            </a:r>
          </a:p>
        </p:txBody>
      </p:sp>
    </p:spTree>
    <p:extLst>
      <p:ext uri="{BB962C8B-B14F-4D97-AF65-F5344CB8AC3E}">
        <p14:creationId xmlns:p14="http://schemas.microsoft.com/office/powerpoint/2010/main" val="667786400"/>
      </p:ext>
    </p:extLst>
  </p:cSld>
</p:sld>
</file>

<file path=ppt/slides/slide1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65" name="">
            <a:extLst xmlns:a="http://schemas.openxmlformats.org/drawingml/2006/main">
              <a:ext uri="{FF2B5EF4-FFF2-40B4-BE49-F238E27FC236}">
                <a16:creationId xmlns:a16="http://schemas.microsoft.com/office/drawing/2014/main" id="{1995CCAB-68D4-4B41-B270-820AEBB04080}"/>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A</a:t>
            </a:r>
          </a:p>
        </p:txBody>
      </p:sp>
      <p:sp>
        <p:nvSpPr>
          <p:cNvPr id="2" name="">
            <a:extLst xmlns:a="http://schemas.openxmlformats.org/drawingml/2006/main">
              <a:ext uri="{FF2B5EF4-FFF2-40B4-BE49-F238E27FC236}">
                <a16:creationId xmlns:a16="http://schemas.microsoft.com/office/drawing/2014/main" id="{14B50AF5-0824-45B7-84A9-F0920BE304E6}"/>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Median runtime by size under the recorded call scopes</a:t>
            </a:r>
          </a:p>
        </p:txBody>
      </p:sp>
      <p:sp>
        <p:nvSpPr>
          <p:cNvPr id="3" name="">
            <a:extLst xmlns:a="http://schemas.openxmlformats.org/drawingml/2006/main">
              <a:ext uri="{FF2B5EF4-FFF2-40B4-BE49-F238E27FC236}">
                <a16:creationId xmlns:a16="http://schemas.microsoft.com/office/drawing/2014/main" id="{76A0DCE7-4ED3-434D-A66E-5035A2D14372}"/>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7D0D0149-DD0A-4AFE-9477-F5141C0584F6}"/>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D510B5BE-E112-4455-B439-776FA5BE0826}"/>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6F4E4FD6-D1B9-4668-B289-6ACFCFB2D990}"/>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A</a:t>
            </a:r>
          </a:p>
        </p:txBody>
      </p:sp>
      <p:pic>
        <p:nvPicPr>
          <p:cNvPr id="71" name=""/>
          <p:cNvPicPr>
            <a:picLocks xmlns:a="http://schemas.openxmlformats.org/drawingml/2006/main" noChangeAspect="1"/>
          </p:cNvPicPr>
          <p:nvPr/>
        </p:nvPicPr>
        <p:blipFill>
          <a:blip xmlns:r="http://schemas.openxmlformats.org/officeDocument/2006/relationships" xmlns:a="http://schemas.openxmlformats.org/drawingml/2006/main" r:embed="R41449a41ec4f4b18"/>
          <a:stretch xmlns:a="http://schemas.openxmlformats.org/drawingml/2006/main"/>
        </p:blipFill>
        <p:spPr>
          <a:xfrm xmlns:a="http://schemas.openxmlformats.org/drawingml/2006/main">
            <a:off x="628650" y="1749972"/>
            <a:ext cx="6858000" cy="351045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11249F4-275C-4D61-96C2-9B0DA9C1BF47}"/>
              </a:ext>
            </a:extLst>
          </p:cNvPr>
          <p:cNvSpPr>
            <a:spLocks xmlns:a="http://schemas.openxmlformats.org/drawingml/2006/main" noGrp="1"/>
          </p:cNvSpPr>
          <p:nvPr/>
        </p:nvSpPr>
        <p:spPr>
          <a:xfrm xmlns:a="http://schemas.openxmlformats.org/drawingml/2006/main">
            <a:off x="628650" y="1562100"/>
            <a:ext cx="6858000" cy="47625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sp>
        <p:nvSpPr>
          <p:cNvPr id="9" name="">
            <a:extLst xmlns:a="http://schemas.openxmlformats.org/drawingml/2006/main">
              <a:ext uri="{FF2B5EF4-FFF2-40B4-BE49-F238E27FC236}">
                <a16:creationId xmlns:a16="http://schemas.microsoft.com/office/drawing/2014/main" id="{AD313A29-FA98-4CEB-AEDA-1EA2FB992FAE}"/>
              </a:ext>
            </a:extLst>
          </p:cNvPr>
          <p:cNvSpPr>
            <a:spLocks xmlns:a="http://schemas.openxmlformats.org/drawingml/2006/main" noGrp="1"/>
          </p:cNvSpPr>
          <p:nvPr/>
        </p:nvSpPr>
        <p:spPr>
          <a:xfrm xmlns:a="http://schemas.openxmlformats.org/drawingml/2006/main">
            <a:off x="6000750" y="2057400"/>
            <a:ext cx="1447800" cy="112395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sp>
        <p:nvSpPr>
          <p:cNvPr id="10" name="">
            <a:extLst xmlns:a="http://schemas.openxmlformats.org/drawingml/2006/main">
              <a:ext uri="{FF2B5EF4-FFF2-40B4-BE49-F238E27FC236}">
                <a16:creationId xmlns:a16="http://schemas.microsoft.com/office/drawing/2014/main" id="{AA564752-E826-4B89-B5B1-40E7CB61CD2D}"/>
              </a:ext>
            </a:extLst>
          </p:cNvPr>
          <p:cNvSpPr>
            <a:spLocks xmlns:a="http://schemas.openxmlformats.org/drawingml/2006/main" noGrp="1"/>
          </p:cNvSpPr>
          <p:nvPr/>
        </p:nvSpPr>
        <p:spPr>
          <a:xfrm xmlns:a="http://schemas.openxmlformats.org/drawingml/2006/main">
            <a:off x="6153150" y="2266950"/>
            <a:ext cx="228600" cy="9525"/>
          </a:xfrm>
          <a:prstGeom xmlns:a="http://schemas.openxmlformats.org/drawingml/2006/main" prst="line">
            <a:avLst/>
          </a:prstGeom>
          <a:noFill xmlns:a="http://schemas.openxmlformats.org/drawingml/2006/main"/>
          <a:ln xmlns:a="http://schemas.openxmlformats.org/drawingml/2006/main" w="28575">
            <a:solidFill>
              <a:srgbClr val="1F8A70"/>
            </a:solidFill>
            <a:prstDash val="solid"/>
          </a:ln>
        </p:spPr>
      </p:sp>
      <p:sp>
        <p:nvSpPr>
          <p:cNvPr id="11" name="">
            <a:extLst xmlns:a="http://schemas.openxmlformats.org/drawingml/2006/main">
              <a:ext uri="{FF2B5EF4-FFF2-40B4-BE49-F238E27FC236}">
                <a16:creationId xmlns:a16="http://schemas.microsoft.com/office/drawing/2014/main" id="{B1851BA9-A1BB-4C1D-85FF-5B436E7A1972}"/>
              </a:ext>
            </a:extLst>
          </p:cNvPr>
          <p:cNvSpPr>
            <a:spLocks xmlns:a="http://schemas.openxmlformats.org/drawingml/2006/main" noGrp="1"/>
          </p:cNvSpPr>
          <p:nvPr/>
        </p:nvSpPr>
        <p:spPr>
          <a:xfrm xmlns:a="http://schemas.openxmlformats.org/drawingml/2006/main">
            <a:off x="6477000" y="2143125"/>
            <a:ext cx="895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75" b="0" i="0">
                <a:solidFill>
                  <a:srgbClr val="243B53"/>
                </a:solidFill>
              </a:defRPr>
            </a:pPr>
            <a:r>
              <a:rPr sz="975" b="0" i="0">
                <a:solidFill>
                  <a:srgbClr val="243B53"/>
                </a:solidFill>
              </a:rPr>
              <a:t>Python sort</a:t>
            </a:r>
          </a:p>
        </p:txBody>
      </p:sp>
      <p:sp>
        <p:nvSpPr>
          <p:cNvPr id="12" name="">
            <a:extLst xmlns:a="http://schemas.openxmlformats.org/drawingml/2006/main">
              <a:ext uri="{FF2B5EF4-FFF2-40B4-BE49-F238E27FC236}">
                <a16:creationId xmlns:a16="http://schemas.microsoft.com/office/drawing/2014/main" id="{9D2C2005-E626-4DD2-93E3-4C518844A53D}"/>
              </a:ext>
            </a:extLst>
          </p:cNvPr>
          <p:cNvSpPr>
            <a:spLocks xmlns:a="http://schemas.openxmlformats.org/drawingml/2006/main" noGrp="1"/>
          </p:cNvSpPr>
          <p:nvPr/>
        </p:nvSpPr>
        <p:spPr>
          <a:xfrm xmlns:a="http://schemas.openxmlformats.org/drawingml/2006/main">
            <a:off x="6153150" y="2609850"/>
            <a:ext cx="228600" cy="9525"/>
          </a:xfrm>
          <a:prstGeom xmlns:a="http://schemas.openxmlformats.org/drawingml/2006/main" prst="line">
            <a:avLst/>
          </a:prstGeom>
          <a:noFill xmlns:a="http://schemas.openxmlformats.org/drawingml/2006/main"/>
          <a:ln xmlns:a="http://schemas.openxmlformats.org/drawingml/2006/main" w="28575">
            <a:solidFill>
              <a:srgbClr val="2E75B6"/>
            </a:solidFill>
            <a:prstDash val="solid"/>
          </a:ln>
        </p:spPr>
      </p:sp>
      <p:sp>
        <p:nvSpPr>
          <p:cNvPr id="13" name="">
            <a:extLst xmlns:a="http://schemas.openxmlformats.org/drawingml/2006/main">
              <a:ext uri="{FF2B5EF4-FFF2-40B4-BE49-F238E27FC236}">
                <a16:creationId xmlns:a16="http://schemas.microsoft.com/office/drawing/2014/main" id="{FF5D8C28-2F1C-413B-95AE-6DDAECBC4494}"/>
              </a:ext>
            </a:extLst>
          </p:cNvPr>
          <p:cNvSpPr>
            <a:spLocks xmlns:a="http://schemas.openxmlformats.org/drawingml/2006/main" noGrp="1"/>
          </p:cNvSpPr>
          <p:nvPr/>
        </p:nvSpPr>
        <p:spPr>
          <a:xfrm xmlns:a="http://schemas.openxmlformats.org/drawingml/2006/main">
            <a:off x="6477000" y="2486025"/>
            <a:ext cx="933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3681"/>
          </a:bodyPr>
          <a:lstStyle xmlns:a="http://schemas.openxmlformats.org/drawingml/2006/main"/>
          <a:p xmlns:a="http://schemas.openxmlformats.org/drawingml/2006/main">
            <a:pPr algn="l">
              <a:lnSpc>
                <a:spcPct val="105000"/>
              </a:lnSpc>
              <a:buNone/>
              <a:defRPr sz="975" b="0" i="0">
                <a:solidFill>
                  <a:srgbClr val="243B53"/>
                </a:solidFill>
              </a:defRPr>
            </a:pPr>
            <a:r>
              <a:rPr sz="975" b="0" i="0">
                <a:solidFill>
                  <a:srgbClr val="243B53"/>
                </a:solidFill>
              </a:rPr>
              <a:t>Reference pipeline</a:t>
            </a:r>
          </a:p>
        </p:txBody>
      </p:sp>
      <p:sp>
        <p:nvSpPr>
          <p:cNvPr id="14" name="">
            <a:extLst xmlns:a="http://schemas.openxmlformats.org/drawingml/2006/main">
              <a:ext uri="{FF2B5EF4-FFF2-40B4-BE49-F238E27FC236}">
                <a16:creationId xmlns:a16="http://schemas.microsoft.com/office/drawing/2014/main" id="{F2C3D5D4-6D8B-422A-B1E8-3F724FB89110}"/>
              </a:ext>
            </a:extLst>
          </p:cNvPr>
          <p:cNvSpPr>
            <a:spLocks xmlns:a="http://schemas.openxmlformats.org/drawingml/2006/main" noGrp="1"/>
          </p:cNvSpPr>
          <p:nvPr/>
        </p:nvSpPr>
        <p:spPr>
          <a:xfrm xmlns:a="http://schemas.openxmlformats.org/drawingml/2006/main">
            <a:off x="6153150" y="2952750"/>
            <a:ext cx="2286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15" name="">
            <a:extLst xmlns:a="http://schemas.openxmlformats.org/drawingml/2006/main">
              <a:ext uri="{FF2B5EF4-FFF2-40B4-BE49-F238E27FC236}">
                <a16:creationId xmlns:a16="http://schemas.microsoft.com/office/drawing/2014/main" id="{67B374AF-2C19-4BEF-9BA9-AC3E977F9778}"/>
              </a:ext>
            </a:extLst>
          </p:cNvPr>
          <p:cNvSpPr>
            <a:spLocks xmlns:a="http://schemas.openxmlformats.org/drawingml/2006/main" noGrp="1"/>
          </p:cNvSpPr>
          <p:nvPr/>
        </p:nvSpPr>
        <p:spPr>
          <a:xfrm xmlns:a="http://schemas.openxmlformats.org/drawingml/2006/main">
            <a:off x="6477000" y="2828925"/>
            <a:ext cx="933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2593"/>
          </a:bodyPr>
          <a:lstStyle xmlns:a="http://schemas.openxmlformats.org/drawingml/2006/main"/>
          <a:p xmlns:a="http://schemas.openxmlformats.org/drawingml/2006/main">
            <a:pPr algn="l">
              <a:lnSpc>
                <a:spcPct val="105000"/>
              </a:lnSpc>
              <a:buNone/>
              <a:defRPr sz="900" b="0" i="0">
                <a:solidFill>
                  <a:srgbClr val="243B53"/>
                </a:solidFill>
              </a:defRPr>
            </a:pPr>
            <a:r>
              <a:rPr sz="900" b="0" i="0">
                <a:solidFill>
                  <a:srgbClr val="243B53"/>
                </a:solidFill>
              </a:rPr>
              <a:t>Paper ordinary-list core</a:t>
            </a:r>
          </a:p>
        </p:txBody>
      </p:sp>
      <p:sp>
        <p:nvSpPr>
          <p:cNvPr id="16" name="">
            <a:extLst xmlns:a="http://schemas.openxmlformats.org/drawingml/2006/main">
              <a:ext uri="{FF2B5EF4-FFF2-40B4-BE49-F238E27FC236}">
                <a16:creationId xmlns:a16="http://schemas.microsoft.com/office/drawing/2014/main" id="{6E277C52-E325-4A27-9FDF-529EF226831E}"/>
              </a:ext>
            </a:extLst>
          </p:cNvPr>
          <p:cNvSpPr>
            <a:spLocks xmlns:a="http://schemas.openxmlformats.org/drawingml/2006/main" noGrp="1"/>
          </p:cNvSpPr>
          <p:nvPr/>
        </p:nvSpPr>
        <p:spPr>
          <a:xfrm xmlns:a="http://schemas.openxmlformats.org/drawingml/2006/main">
            <a:off x="7772400" y="1638300"/>
            <a:ext cx="66675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17" name="">
            <a:extLst xmlns:a="http://schemas.openxmlformats.org/drawingml/2006/main">
              <a:ext uri="{FF2B5EF4-FFF2-40B4-BE49-F238E27FC236}">
                <a16:creationId xmlns:a16="http://schemas.microsoft.com/office/drawing/2014/main" id="{E2F01695-0F70-4A99-920E-47C8CD09CCF2}"/>
              </a:ext>
            </a:extLst>
          </p:cNvPr>
          <p:cNvSpPr>
            <a:spLocks xmlns:a="http://schemas.openxmlformats.org/drawingml/2006/main" noGrp="1"/>
          </p:cNvSpPr>
          <p:nvPr/>
        </p:nvSpPr>
        <p:spPr>
          <a:xfrm xmlns:a="http://schemas.openxmlformats.org/drawingml/2006/main">
            <a:off x="7791450" y="167640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n</a:t>
            </a:r>
          </a:p>
        </p:txBody>
      </p:sp>
      <p:sp>
        <p:nvSpPr>
          <p:cNvPr id="18" name="">
            <a:extLst xmlns:a="http://schemas.openxmlformats.org/drawingml/2006/main">
              <a:ext uri="{FF2B5EF4-FFF2-40B4-BE49-F238E27FC236}">
                <a16:creationId xmlns:a16="http://schemas.microsoft.com/office/drawing/2014/main" id="{60B505FC-5BF0-4D8C-8FF1-659F0325386D}"/>
              </a:ext>
            </a:extLst>
          </p:cNvPr>
          <p:cNvSpPr>
            <a:spLocks xmlns:a="http://schemas.openxmlformats.org/drawingml/2006/main" noGrp="1"/>
          </p:cNvSpPr>
          <p:nvPr/>
        </p:nvSpPr>
        <p:spPr>
          <a:xfrm xmlns:a="http://schemas.openxmlformats.org/drawingml/2006/main">
            <a:off x="8439150" y="1638300"/>
            <a:ext cx="10668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19" name="">
            <a:extLst xmlns:a="http://schemas.openxmlformats.org/drawingml/2006/main">
              <a:ext uri="{FF2B5EF4-FFF2-40B4-BE49-F238E27FC236}">
                <a16:creationId xmlns:a16="http://schemas.microsoft.com/office/drawing/2014/main" id="{D687488C-A871-4F41-8B64-A7F1EEE110EA}"/>
              </a:ext>
            </a:extLst>
          </p:cNvPr>
          <p:cNvSpPr>
            <a:spLocks xmlns:a="http://schemas.openxmlformats.org/drawingml/2006/main" noGrp="1"/>
          </p:cNvSpPr>
          <p:nvPr/>
        </p:nvSpPr>
        <p:spPr>
          <a:xfrm xmlns:a="http://schemas.openxmlformats.org/drawingml/2006/main">
            <a:off x="8458200" y="16764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Python (ms)</a:t>
            </a:r>
          </a:p>
        </p:txBody>
      </p:sp>
      <p:sp>
        <p:nvSpPr>
          <p:cNvPr id="20" name="">
            <a:extLst xmlns:a="http://schemas.openxmlformats.org/drawingml/2006/main">
              <a:ext uri="{FF2B5EF4-FFF2-40B4-BE49-F238E27FC236}">
                <a16:creationId xmlns:a16="http://schemas.microsoft.com/office/drawing/2014/main" id="{E7238D34-C4D6-49FB-B0C9-14BFFCADE459}"/>
              </a:ext>
            </a:extLst>
          </p:cNvPr>
          <p:cNvSpPr>
            <a:spLocks xmlns:a="http://schemas.openxmlformats.org/drawingml/2006/main" noGrp="1"/>
          </p:cNvSpPr>
          <p:nvPr/>
        </p:nvSpPr>
        <p:spPr>
          <a:xfrm xmlns:a="http://schemas.openxmlformats.org/drawingml/2006/main">
            <a:off x="9505950" y="1638300"/>
            <a:ext cx="12192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21" name="">
            <a:extLst xmlns:a="http://schemas.openxmlformats.org/drawingml/2006/main">
              <a:ext uri="{FF2B5EF4-FFF2-40B4-BE49-F238E27FC236}">
                <a16:creationId xmlns:a16="http://schemas.microsoft.com/office/drawing/2014/main" id="{304BCA33-68DB-4F0E-81B9-453DB1779B00}"/>
              </a:ext>
            </a:extLst>
          </p:cNvPr>
          <p:cNvSpPr>
            <a:spLocks xmlns:a="http://schemas.openxmlformats.org/drawingml/2006/main" noGrp="1"/>
          </p:cNvSpPr>
          <p:nvPr/>
        </p:nvSpPr>
        <p:spPr>
          <a:xfrm xmlns:a="http://schemas.openxmlformats.org/drawingml/2006/main">
            <a:off x="9525000" y="167640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Reference (ms)</a:t>
            </a:r>
          </a:p>
        </p:txBody>
      </p:sp>
      <p:sp>
        <p:nvSpPr>
          <p:cNvPr id="22" name="">
            <a:extLst xmlns:a="http://schemas.openxmlformats.org/drawingml/2006/main">
              <a:ext uri="{FF2B5EF4-FFF2-40B4-BE49-F238E27FC236}">
                <a16:creationId xmlns:a16="http://schemas.microsoft.com/office/drawing/2014/main" id="{BBE24EC2-71D4-4999-A118-25B03B936536}"/>
              </a:ext>
            </a:extLst>
          </p:cNvPr>
          <p:cNvSpPr>
            <a:spLocks xmlns:a="http://schemas.openxmlformats.org/drawingml/2006/main" noGrp="1"/>
          </p:cNvSpPr>
          <p:nvPr/>
        </p:nvSpPr>
        <p:spPr>
          <a:xfrm xmlns:a="http://schemas.openxmlformats.org/drawingml/2006/main">
            <a:off x="10725150" y="1638300"/>
            <a:ext cx="10668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23" name="">
            <a:extLst xmlns:a="http://schemas.openxmlformats.org/drawingml/2006/main">
              <a:ext uri="{FF2B5EF4-FFF2-40B4-BE49-F238E27FC236}">
                <a16:creationId xmlns:a16="http://schemas.microsoft.com/office/drawing/2014/main" id="{B8607202-7325-4D52-BDE7-9B3AF69D46F0}"/>
              </a:ext>
            </a:extLst>
          </p:cNvPr>
          <p:cNvSpPr>
            <a:spLocks xmlns:a="http://schemas.openxmlformats.org/drawingml/2006/main" noGrp="1"/>
          </p:cNvSpPr>
          <p:nvPr/>
        </p:nvSpPr>
        <p:spPr>
          <a:xfrm xmlns:a="http://schemas.openxmlformats.org/drawingml/2006/main">
            <a:off x="10744200" y="16764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Paper (ms)</a:t>
            </a:r>
          </a:p>
        </p:txBody>
      </p:sp>
      <p:sp>
        <p:nvSpPr>
          <p:cNvPr id="24" name="">
            <a:extLst xmlns:a="http://schemas.openxmlformats.org/drawingml/2006/main">
              <a:ext uri="{FF2B5EF4-FFF2-40B4-BE49-F238E27FC236}">
                <a16:creationId xmlns:a16="http://schemas.microsoft.com/office/drawing/2014/main" id="{2D7036E5-C072-4190-8272-0FE4C9298F9B}"/>
              </a:ext>
            </a:extLst>
          </p:cNvPr>
          <p:cNvSpPr>
            <a:spLocks xmlns:a="http://schemas.openxmlformats.org/drawingml/2006/main" noGrp="1"/>
          </p:cNvSpPr>
          <p:nvPr/>
        </p:nvSpPr>
        <p:spPr>
          <a:xfrm xmlns:a="http://schemas.openxmlformats.org/drawingml/2006/main">
            <a:off x="7772400" y="216217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5" name="">
            <a:extLst xmlns:a="http://schemas.openxmlformats.org/drawingml/2006/main">
              <a:ext uri="{FF2B5EF4-FFF2-40B4-BE49-F238E27FC236}">
                <a16:creationId xmlns:a16="http://schemas.microsoft.com/office/drawing/2014/main" id="{6668D75D-0F01-4D4F-995F-5FBBE5070F2B}"/>
              </a:ext>
            </a:extLst>
          </p:cNvPr>
          <p:cNvSpPr>
            <a:spLocks xmlns:a="http://schemas.openxmlformats.org/drawingml/2006/main" noGrp="1"/>
          </p:cNvSpPr>
          <p:nvPr/>
        </p:nvSpPr>
        <p:spPr>
          <a:xfrm xmlns:a="http://schemas.openxmlformats.org/drawingml/2006/main">
            <a:off x="7791450" y="220027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32</a:t>
            </a:r>
          </a:p>
        </p:txBody>
      </p:sp>
      <p:sp>
        <p:nvSpPr>
          <p:cNvPr id="26" name="">
            <a:extLst xmlns:a="http://schemas.openxmlformats.org/drawingml/2006/main">
              <a:ext uri="{FF2B5EF4-FFF2-40B4-BE49-F238E27FC236}">
                <a16:creationId xmlns:a16="http://schemas.microsoft.com/office/drawing/2014/main" id="{C1D9CFCA-3CFC-4EF7-BF0F-5C3DE7E27006}"/>
              </a:ext>
            </a:extLst>
          </p:cNvPr>
          <p:cNvSpPr>
            <a:spLocks xmlns:a="http://schemas.openxmlformats.org/drawingml/2006/main" noGrp="1"/>
          </p:cNvSpPr>
          <p:nvPr/>
        </p:nvSpPr>
        <p:spPr>
          <a:xfrm xmlns:a="http://schemas.openxmlformats.org/drawingml/2006/main">
            <a:off x="8439150" y="21621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7" name="">
            <a:extLst xmlns:a="http://schemas.openxmlformats.org/drawingml/2006/main">
              <a:ext uri="{FF2B5EF4-FFF2-40B4-BE49-F238E27FC236}">
                <a16:creationId xmlns:a16="http://schemas.microsoft.com/office/drawing/2014/main" id="{E9FBDE9A-03DE-4257-B063-695B4E9BADDF}"/>
              </a:ext>
            </a:extLst>
          </p:cNvPr>
          <p:cNvSpPr>
            <a:spLocks xmlns:a="http://schemas.openxmlformats.org/drawingml/2006/main" noGrp="1"/>
          </p:cNvSpPr>
          <p:nvPr/>
        </p:nvSpPr>
        <p:spPr>
          <a:xfrm xmlns:a="http://schemas.openxmlformats.org/drawingml/2006/main">
            <a:off x="8458200" y="22002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0.000791</a:t>
            </a:r>
          </a:p>
        </p:txBody>
      </p:sp>
      <p:sp>
        <p:nvSpPr>
          <p:cNvPr id="28" name="">
            <a:extLst xmlns:a="http://schemas.openxmlformats.org/drawingml/2006/main">
              <a:ext uri="{FF2B5EF4-FFF2-40B4-BE49-F238E27FC236}">
                <a16:creationId xmlns:a16="http://schemas.microsoft.com/office/drawing/2014/main" id="{5951C860-8708-4F2F-8D42-96556262815E}"/>
              </a:ext>
            </a:extLst>
          </p:cNvPr>
          <p:cNvSpPr>
            <a:spLocks xmlns:a="http://schemas.openxmlformats.org/drawingml/2006/main" noGrp="1"/>
          </p:cNvSpPr>
          <p:nvPr/>
        </p:nvSpPr>
        <p:spPr>
          <a:xfrm xmlns:a="http://schemas.openxmlformats.org/drawingml/2006/main">
            <a:off x="9505950" y="216217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9" name="">
            <a:extLst xmlns:a="http://schemas.openxmlformats.org/drawingml/2006/main">
              <a:ext uri="{FF2B5EF4-FFF2-40B4-BE49-F238E27FC236}">
                <a16:creationId xmlns:a16="http://schemas.microsoft.com/office/drawing/2014/main" id="{445E4EEC-894C-4EE9-B836-875770D5F270}"/>
              </a:ext>
            </a:extLst>
          </p:cNvPr>
          <p:cNvSpPr>
            <a:spLocks xmlns:a="http://schemas.openxmlformats.org/drawingml/2006/main" noGrp="1"/>
          </p:cNvSpPr>
          <p:nvPr/>
        </p:nvSpPr>
        <p:spPr>
          <a:xfrm xmlns:a="http://schemas.openxmlformats.org/drawingml/2006/main">
            <a:off x="9525000" y="220027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0.181177</a:t>
            </a:r>
          </a:p>
        </p:txBody>
      </p:sp>
      <p:sp>
        <p:nvSpPr>
          <p:cNvPr id="30" name="">
            <a:extLst xmlns:a="http://schemas.openxmlformats.org/drawingml/2006/main">
              <a:ext uri="{FF2B5EF4-FFF2-40B4-BE49-F238E27FC236}">
                <a16:creationId xmlns:a16="http://schemas.microsoft.com/office/drawing/2014/main" id="{D9A6B4CB-0DA9-4E31-A36D-BAB77533B28D}"/>
              </a:ext>
            </a:extLst>
          </p:cNvPr>
          <p:cNvSpPr>
            <a:spLocks xmlns:a="http://schemas.openxmlformats.org/drawingml/2006/main" noGrp="1"/>
          </p:cNvSpPr>
          <p:nvPr/>
        </p:nvSpPr>
        <p:spPr>
          <a:xfrm xmlns:a="http://schemas.openxmlformats.org/drawingml/2006/main">
            <a:off x="10725150" y="21621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1" name="">
            <a:extLst xmlns:a="http://schemas.openxmlformats.org/drawingml/2006/main">
              <a:ext uri="{FF2B5EF4-FFF2-40B4-BE49-F238E27FC236}">
                <a16:creationId xmlns:a16="http://schemas.microsoft.com/office/drawing/2014/main" id="{4BB32664-C98D-4626-B46A-DAB28D8FC4AD}"/>
              </a:ext>
            </a:extLst>
          </p:cNvPr>
          <p:cNvSpPr>
            <a:spLocks xmlns:a="http://schemas.openxmlformats.org/drawingml/2006/main" noGrp="1"/>
          </p:cNvSpPr>
          <p:nvPr/>
        </p:nvSpPr>
        <p:spPr>
          <a:xfrm xmlns:a="http://schemas.openxmlformats.org/drawingml/2006/main">
            <a:off x="10744200" y="22002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0.586906</a:t>
            </a:r>
          </a:p>
        </p:txBody>
      </p:sp>
      <p:sp>
        <p:nvSpPr>
          <p:cNvPr id="32" name="">
            <a:extLst xmlns:a="http://schemas.openxmlformats.org/drawingml/2006/main">
              <a:ext uri="{FF2B5EF4-FFF2-40B4-BE49-F238E27FC236}">
                <a16:creationId xmlns:a16="http://schemas.microsoft.com/office/drawing/2014/main" id="{15D77E91-DAE1-4791-B671-22CDDF0E2925}"/>
              </a:ext>
            </a:extLst>
          </p:cNvPr>
          <p:cNvSpPr>
            <a:spLocks xmlns:a="http://schemas.openxmlformats.org/drawingml/2006/main" noGrp="1"/>
          </p:cNvSpPr>
          <p:nvPr/>
        </p:nvSpPr>
        <p:spPr>
          <a:xfrm xmlns:a="http://schemas.openxmlformats.org/drawingml/2006/main">
            <a:off x="7772400" y="2686050"/>
            <a:ext cx="66675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3" name="">
            <a:extLst xmlns:a="http://schemas.openxmlformats.org/drawingml/2006/main">
              <a:ext uri="{FF2B5EF4-FFF2-40B4-BE49-F238E27FC236}">
                <a16:creationId xmlns:a16="http://schemas.microsoft.com/office/drawing/2014/main" id="{415727ED-D9CE-4AC7-88C4-E5D6F6A9E56D}"/>
              </a:ext>
            </a:extLst>
          </p:cNvPr>
          <p:cNvSpPr>
            <a:spLocks xmlns:a="http://schemas.openxmlformats.org/drawingml/2006/main" noGrp="1"/>
          </p:cNvSpPr>
          <p:nvPr/>
        </p:nvSpPr>
        <p:spPr>
          <a:xfrm xmlns:a="http://schemas.openxmlformats.org/drawingml/2006/main">
            <a:off x="7791450" y="272415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64</a:t>
            </a:r>
          </a:p>
        </p:txBody>
      </p:sp>
      <p:sp>
        <p:nvSpPr>
          <p:cNvPr id="34" name="">
            <a:extLst xmlns:a="http://schemas.openxmlformats.org/drawingml/2006/main">
              <a:ext uri="{FF2B5EF4-FFF2-40B4-BE49-F238E27FC236}">
                <a16:creationId xmlns:a16="http://schemas.microsoft.com/office/drawing/2014/main" id="{29890758-8E20-445E-ADBB-1C6764CA5669}"/>
              </a:ext>
            </a:extLst>
          </p:cNvPr>
          <p:cNvSpPr>
            <a:spLocks xmlns:a="http://schemas.openxmlformats.org/drawingml/2006/main" noGrp="1"/>
          </p:cNvSpPr>
          <p:nvPr/>
        </p:nvSpPr>
        <p:spPr>
          <a:xfrm xmlns:a="http://schemas.openxmlformats.org/drawingml/2006/main">
            <a:off x="8439150" y="268605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5" name="">
            <a:extLst xmlns:a="http://schemas.openxmlformats.org/drawingml/2006/main">
              <a:ext uri="{FF2B5EF4-FFF2-40B4-BE49-F238E27FC236}">
                <a16:creationId xmlns:a16="http://schemas.microsoft.com/office/drawing/2014/main" id="{B48B9A1D-C467-4E63-8960-F2E75DE491EE}"/>
              </a:ext>
            </a:extLst>
          </p:cNvPr>
          <p:cNvSpPr>
            <a:spLocks xmlns:a="http://schemas.openxmlformats.org/drawingml/2006/main" noGrp="1"/>
          </p:cNvSpPr>
          <p:nvPr/>
        </p:nvSpPr>
        <p:spPr>
          <a:xfrm xmlns:a="http://schemas.openxmlformats.org/drawingml/2006/main">
            <a:off x="8458200" y="272415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0.001417</a:t>
            </a:r>
          </a:p>
        </p:txBody>
      </p:sp>
      <p:sp>
        <p:nvSpPr>
          <p:cNvPr id="36" name="">
            <a:extLst xmlns:a="http://schemas.openxmlformats.org/drawingml/2006/main">
              <a:ext uri="{FF2B5EF4-FFF2-40B4-BE49-F238E27FC236}">
                <a16:creationId xmlns:a16="http://schemas.microsoft.com/office/drawing/2014/main" id="{FBF454E7-DD5A-46C0-8106-CF58F64943FF}"/>
              </a:ext>
            </a:extLst>
          </p:cNvPr>
          <p:cNvSpPr>
            <a:spLocks xmlns:a="http://schemas.openxmlformats.org/drawingml/2006/main" noGrp="1"/>
          </p:cNvSpPr>
          <p:nvPr/>
        </p:nvSpPr>
        <p:spPr>
          <a:xfrm xmlns:a="http://schemas.openxmlformats.org/drawingml/2006/main">
            <a:off x="9505950" y="2686050"/>
            <a:ext cx="12192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7" name="">
            <a:extLst xmlns:a="http://schemas.openxmlformats.org/drawingml/2006/main">
              <a:ext uri="{FF2B5EF4-FFF2-40B4-BE49-F238E27FC236}">
                <a16:creationId xmlns:a16="http://schemas.microsoft.com/office/drawing/2014/main" id="{B16D868C-3B39-40C9-BBDF-B6D42CED4CDB}"/>
              </a:ext>
            </a:extLst>
          </p:cNvPr>
          <p:cNvSpPr>
            <a:spLocks xmlns:a="http://schemas.openxmlformats.org/drawingml/2006/main" noGrp="1"/>
          </p:cNvSpPr>
          <p:nvPr/>
        </p:nvSpPr>
        <p:spPr>
          <a:xfrm xmlns:a="http://schemas.openxmlformats.org/drawingml/2006/main">
            <a:off x="9525000" y="272415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0.585667</a:t>
            </a:r>
          </a:p>
        </p:txBody>
      </p:sp>
      <p:sp>
        <p:nvSpPr>
          <p:cNvPr id="38" name="">
            <a:extLst xmlns:a="http://schemas.openxmlformats.org/drawingml/2006/main">
              <a:ext uri="{FF2B5EF4-FFF2-40B4-BE49-F238E27FC236}">
                <a16:creationId xmlns:a16="http://schemas.microsoft.com/office/drawing/2014/main" id="{D5C7D552-4850-42F9-92FC-6DA92A17DC53}"/>
              </a:ext>
            </a:extLst>
          </p:cNvPr>
          <p:cNvSpPr>
            <a:spLocks xmlns:a="http://schemas.openxmlformats.org/drawingml/2006/main" noGrp="1"/>
          </p:cNvSpPr>
          <p:nvPr/>
        </p:nvSpPr>
        <p:spPr>
          <a:xfrm xmlns:a="http://schemas.openxmlformats.org/drawingml/2006/main">
            <a:off x="10725150" y="268605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9" name="">
            <a:extLst xmlns:a="http://schemas.openxmlformats.org/drawingml/2006/main">
              <a:ext uri="{FF2B5EF4-FFF2-40B4-BE49-F238E27FC236}">
                <a16:creationId xmlns:a16="http://schemas.microsoft.com/office/drawing/2014/main" id="{A3EDCDFD-008B-4505-9646-566942016A12}"/>
              </a:ext>
            </a:extLst>
          </p:cNvPr>
          <p:cNvSpPr>
            <a:spLocks xmlns:a="http://schemas.openxmlformats.org/drawingml/2006/main" noGrp="1"/>
          </p:cNvSpPr>
          <p:nvPr/>
        </p:nvSpPr>
        <p:spPr>
          <a:xfrm xmlns:a="http://schemas.openxmlformats.org/drawingml/2006/main">
            <a:off x="10744200" y="272415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1.282198</a:t>
            </a:r>
          </a:p>
        </p:txBody>
      </p:sp>
      <p:sp>
        <p:nvSpPr>
          <p:cNvPr id="40" name="">
            <a:extLst xmlns:a="http://schemas.openxmlformats.org/drawingml/2006/main">
              <a:ext uri="{FF2B5EF4-FFF2-40B4-BE49-F238E27FC236}">
                <a16:creationId xmlns:a16="http://schemas.microsoft.com/office/drawing/2014/main" id="{236AFD4E-20D7-4039-B19E-8EB3A35510AB}"/>
              </a:ext>
            </a:extLst>
          </p:cNvPr>
          <p:cNvSpPr>
            <a:spLocks xmlns:a="http://schemas.openxmlformats.org/drawingml/2006/main" noGrp="1"/>
          </p:cNvSpPr>
          <p:nvPr/>
        </p:nvSpPr>
        <p:spPr>
          <a:xfrm xmlns:a="http://schemas.openxmlformats.org/drawingml/2006/main">
            <a:off x="7772400" y="320992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1" name="">
            <a:extLst xmlns:a="http://schemas.openxmlformats.org/drawingml/2006/main">
              <a:ext uri="{FF2B5EF4-FFF2-40B4-BE49-F238E27FC236}">
                <a16:creationId xmlns:a16="http://schemas.microsoft.com/office/drawing/2014/main" id="{A68A8945-8171-4F58-A591-BE2DFC138F96}"/>
              </a:ext>
            </a:extLst>
          </p:cNvPr>
          <p:cNvSpPr>
            <a:spLocks xmlns:a="http://schemas.openxmlformats.org/drawingml/2006/main" noGrp="1"/>
          </p:cNvSpPr>
          <p:nvPr/>
        </p:nvSpPr>
        <p:spPr>
          <a:xfrm xmlns:a="http://schemas.openxmlformats.org/drawingml/2006/main">
            <a:off x="7791450" y="324802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128</a:t>
            </a:r>
          </a:p>
        </p:txBody>
      </p:sp>
      <p:sp>
        <p:nvSpPr>
          <p:cNvPr id="42" name="">
            <a:extLst xmlns:a="http://schemas.openxmlformats.org/drawingml/2006/main">
              <a:ext uri="{FF2B5EF4-FFF2-40B4-BE49-F238E27FC236}">
                <a16:creationId xmlns:a16="http://schemas.microsoft.com/office/drawing/2014/main" id="{231BC57B-58AA-4F3D-8624-8BAB2947E481}"/>
              </a:ext>
            </a:extLst>
          </p:cNvPr>
          <p:cNvSpPr>
            <a:spLocks xmlns:a="http://schemas.openxmlformats.org/drawingml/2006/main" noGrp="1"/>
          </p:cNvSpPr>
          <p:nvPr/>
        </p:nvSpPr>
        <p:spPr>
          <a:xfrm xmlns:a="http://schemas.openxmlformats.org/drawingml/2006/main">
            <a:off x="8439150" y="320992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3" name="">
            <a:extLst xmlns:a="http://schemas.openxmlformats.org/drawingml/2006/main">
              <a:ext uri="{FF2B5EF4-FFF2-40B4-BE49-F238E27FC236}">
                <a16:creationId xmlns:a16="http://schemas.microsoft.com/office/drawing/2014/main" id="{6EDB4090-A562-4482-99B7-8E3FCF898AD7}"/>
              </a:ext>
            </a:extLst>
          </p:cNvPr>
          <p:cNvSpPr>
            <a:spLocks xmlns:a="http://schemas.openxmlformats.org/drawingml/2006/main" noGrp="1"/>
          </p:cNvSpPr>
          <p:nvPr/>
        </p:nvSpPr>
        <p:spPr>
          <a:xfrm xmlns:a="http://schemas.openxmlformats.org/drawingml/2006/main">
            <a:off x="8458200" y="324802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0.002635</a:t>
            </a:r>
          </a:p>
        </p:txBody>
      </p:sp>
      <p:sp>
        <p:nvSpPr>
          <p:cNvPr id="44" name="">
            <a:extLst xmlns:a="http://schemas.openxmlformats.org/drawingml/2006/main">
              <a:ext uri="{FF2B5EF4-FFF2-40B4-BE49-F238E27FC236}">
                <a16:creationId xmlns:a16="http://schemas.microsoft.com/office/drawing/2014/main" id="{9D9A783C-D268-45E2-B4C3-2B1C0C4DE9B0}"/>
              </a:ext>
            </a:extLst>
          </p:cNvPr>
          <p:cNvSpPr>
            <a:spLocks xmlns:a="http://schemas.openxmlformats.org/drawingml/2006/main" noGrp="1"/>
          </p:cNvSpPr>
          <p:nvPr/>
        </p:nvSpPr>
        <p:spPr>
          <a:xfrm xmlns:a="http://schemas.openxmlformats.org/drawingml/2006/main">
            <a:off x="9505950" y="320992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5" name="">
            <a:extLst xmlns:a="http://schemas.openxmlformats.org/drawingml/2006/main">
              <a:ext uri="{FF2B5EF4-FFF2-40B4-BE49-F238E27FC236}">
                <a16:creationId xmlns:a16="http://schemas.microsoft.com/office/drawing/2014/main" id="{02E5C43C-44CC-45D4-AFBD-15B39F02A7B3}"/>
              </a:ext>
            </a:extLst>
          </p:cNvPr>
          <p:cNvSpPr>
            <a:spLocks xmlns:a="http://schemas.openxmlformats.org/drawingml/2006/main" noGrp="1"/>
          </p:cNvSpPr>
          <p:nvPr/>
        </p:nvSpPr>
        <p:spPr>
          <a:xfrm xmlns:a="http://schemas.openxmlformats.org/drawingml/2006/main">
            <a:off x="9525000" y="324802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2.077959</a:t>
            </a:r>
          </a:p>
        </p:txBody>
      </p:sp>
      <p:sp>
        <p:nvSpPr>
          <p:cNvPr id="46" name="">
            <a:extLst xmlns:a="http://schemas.openxmlformats.org/drawingml/2006/main">
              <a:ext uri="{FF2B5EF4-FFF2-40B4-BE49-F238E27FC236}">
                <a16:creationId xmlns:a16="http://schemas.microsoft.com/office/drawing/2014/main" id="{524DEE16-AAE8-4A49-8B01-156A9BC9BAF9}"/>
              </a:ext>
            </a:extLst>
          </p:cNvPr>
          <p:cNvSpPr>
            <a:spLocks xmlns:a="http://schemas.openxmlformats.org/drawingml/2006/main" noGrp="1"/>
          </p:cNvSpPr>
          <p:nvPr/>
        </p:nvSpPr>
        <p:spPr>
          <a:xfrm xmlns:a="http://schemas.openxmlformats.org/drawingml/2006/main">
            <a:off x="10725150" y="320992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7" name="">
            <a:extLst xmlns:a="http://schemas.openxmlformats.org/drawingml/2006/main">
              <a:ext uri="{FF2B5EF4-FFF2-40B4-BE49-F238E27FC236}">
                <a16:creationId xmlns:a16="http://schemas.microsoft.com/office/drawing/2014/main" id="{549C4D0B-C355-470F-A0F9-17D10C844D3E}"/>
              </a:ext>
            </a:extLst>
          </p:cNvPr>
          <p:cNvSpPr>
            <a:spLocks xmlns:a="http://schemas.openxmlformats.org/drawingml/2006/main" noGrp="1"/>
          </p:cNvSpPr>
          <p:nvPr/>
        </p:nvSpPr>
        <p:spPr>
          <a:xfrm xmlns:a="http://schemas.openxmlformats.org/drawingml/2006/main">
            <a:off x="10744200" y="324802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2.815083</a:t>
            </a:r>
          </a:p>
        </p:txBody>
      </p:sp>
      <p:sp>
        <p:nvSpPr>
          <p:cNvPr id="48" name="">
            <a:extLst xmlns:a="http://schemas.openxmlformats.org/drawingml/2006/main">
              <a:ext uri="{FF2B5EF4-FFF2-40B4-BE49-F238E27FC236}">
                <a16:creationId xmlns:a16="http://schemas.microsoft.com/office/drawing/2014/main" id="{27E9FAF6-8574-45A2-BFE7-0AD116B74A62}"/>
              </a:ext>
            </a:extLst>
          </p:cNvPr>
          <p:cNvSpPr>
            <a:spLocks xmlns:a="http://schemas.openxmlformats.org/drawingml/2006/main" noGrp="1"/>
          </p:cNvSpPr>
          <p:nvPr/>
        </p:nvSpPr>
        <p:spPr>
          <a:xfrm xmlns:a="http://schemas.openxmlformats.org/drawingml/2006/main">
            <a:off x="7772400" y="3733800"/>
            <a:ext cx="66675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49" name="">
            <a:extLst xmlns:a="http://schemas.openxmlformats.org/drawingml/2006/main">
              <a:ext uri="{FF2B5EF4-FFF2-40B4-BE49-F238E27FC236}">
                <a16:creationId xmlns:a16="http://schemas.microsoft.com/office/drawing/2014/main" id="{583B328D-B6B5-416B-9238-739C949FABC3}"/>
              </a:ext>
            </a:extLst>
          </p:cNvPr>
          <p:cNvSpPr>
            <a:spLocks xmlns:a="http://schemas.openxmlformats.org/drawingml/2006/main" noGrp="1"/>
          </p:cNvSpPr>
          <p:nvPr/>
        </p:nvSpPr>
        <p:spPr>
          <a:xfrm xmlns:a="http://schemas.openxmlformats.org/drawingml/2006/main">
            <a:off x="7791450" y="377190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256</a:t>
            </a:r>
          </a:p>
        </p:txBody>
      </p:sp>
      <p:sp>
        <p:nvSpPr>
          <p:cNvPr id="50" name="">
            <a:extLst xmlns:a="http://schemas.openxmlformats.org/drawingml/2006/main">
              <a:ext uri="{FF2B5EF4-FFF2-40B4-BE49-F238E27FC236}">
                <a16:creationId xmlns:a16="http://schemas.microsoft.com/office/drawing/2014/main" id="{7341A71D-5CF6-4395-81E5-C11B98A709E2}"/>
              </a:ext>
            </a:extLst>
          </p:cNvPr>
          <p:cNvSpPr>
            <a:spLocks xmlns:a="http://schemas.openxmlformats.org/drawingml/2006/main" noGrp="1"/>
          </p:cNvSpPr>
          <p:nvPr/>
        </p:nvSpPr>
        <p:spPr>
          <a:xfrm xmlns:a="http://schemas.openxmlformats.org/drawingml/2006/main">
            <a:off x="8439150" y="373380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1" name="">
            <a:extLst xmlns:a="http://schemas.openxmlformats.org/drawingml/2006/main">
              <a:ext uri="{FF2B5EF4-FFF2-40B4-BE49-F238E27FC236}">
                <a16:creationId xmlns:a16="http://schemas.microsoft.com/office/drawing/2014/main" id="{5788938B-65CD-4464-86A6-8D630719EF3C}"/>
              </a:ext>
            </a:extLst>
          </p:cNvPr>
          <p:cNvSpPr>
            <a:spLocks xmlns:a="http://schemas.openxmlformats.org/drawingml/2006/main" noGrp="1"/>
          </p:cNvSpPr>
          <p:nvPr/>
        </p:nvSpPr>
        <p:spPr>
          <a:xfrm xmlns:a="http://schemas.openxmlformats.org/drawingml/2006/main">
            <a:off x="8458200" y="37719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0.005208</a:t>
            </a:r>
          </a:p>
        </p:txBody>
      </p:sp>
      <p:sp>
        <p:nvSpPr>
          <p:cNvPr id="52" name="">
            <a:extLst xmlns:a="http://schemas.openxmlformats.org/drawingml/2006/main">
              <a:ext uri="{FF2B5EF4-FFF2-40B4-BE49-F238E27FC236}">
                <a16:creationId xmlns:a16="http://schemas.microsoft.com/office/drawing/2014/main" id="{67D6D650-7DF3-45C3-980E-A7EF31EB1042}"/>
              </a:ext>
            </a:extLst>
          </p:cNvPr>
          <p:cNvSpPr>
            <a:spLocks xmlns:a="http://schemas.openxmlformats.org/drawingml/2006/main" noGrp="1"/>
          </p:cNvSpPr>
          <p:nvPr/>
        </p:nvSpPr>
        <p:spPr>
          <a:xfrm xmlns:a="http://schemas.openxmlformats.org/drawingml/2006/main">
            <a:off x="9505950" y="3733800"/>
            <a:ext cx="12192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3" name="">
            <a:extLst xmlns:a="http://schemas.openxmlformats.org/drawingml/2006/main">
              <a:ext uri="{FF2B5EF4-FFF2-40B4-BE49-F238E27FC236}">
                <a16:creationId xmlns:a16="http://schemas.microsoft.com/office/drawing/2014/main" id="{7CE1C7AB-E44D-432A-9B0A-B602F6DD3CDC}"/>
              </a:ext>
            </a:extLst>
          </p:cNvPr>
          <p:cNvSpPr>
            <a:spLocks xmlns:a="http://schemas.openxmlformats.org/drawingml/2006/main" noGrp="1"/>
          </p:cNvSpPr>
          <p:nvPr/>
        </p:nvSpPr>
        <p:spPr>
          <a:xfrm xmlns:a="http://schemas.openxmlformats.org/drawingml/2006/main">
            <a:off x="9525000" y="377190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7.929646</a:t>
            </a:r>
          </a:p>
        </p:txBody>
      </p:sp>
      <p:sp>
        <p:nvSpPr>
          <p:cNvPr id="54" name="">
            <a:extLst xmlns:a="http://schemas.openxmlformats.org/drawingml/2006/main">
              <a:ext uri="{FF2B5EF4-FFF2-40B4-BE49-F238E27FC236}">
                <a16:creationId xmlns:a16="http://schemas.microsoft.com/office/drawing/2014/main" id="{2AC15408-D7A9-46BD-92AB-337FDFB19E21}"/>
              </a:ext>
            </a:extLst>
          </p:cNvPr>
          <p:cNvSpPr>
            <a:spLocks xmlns:a="http://schemas.openxmlformats.org/drawingml/2006/main" noGrp="1"/>
          </p:cNvSpPr>
          <p:nvPr/>
        </p:nvSpPr>
        <p:spPr>
          <a:xfrm xmlns:a="http://schemas.openxmlformats.org/drawingml/2006/main">
            <a:off x="10725150" y="373380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5" name="">
            <a:extLst xmlns:a="http://schemas.openxmlformats.org/drawingml/2006/main">
              <a:ext uri="{FF2B5EF4-FFF2-40B4-BE49-F238E27FC236}">
                <a16:creationId xmlns:a16="http://schemas.microsoft.com/office/drawing/2014/main" id="{FAF138B6-982F-4104-A981-7877F7493459}"/>
              </a:ext>
            </a:extLst>
          </p:cNvPr>
          <p:cNvSpPr>
            <a:spLocks xmlns:a="http://schemas.openxmlformats.org/drawingml/2006/main" noGrp="1"/>
          </p:cNvSpPr>
          <p:nvPr/>
        </p:nvSpPr>
        <p:spPr>
          <a:xfrm xmlns:a="http://schemas.openxmlformats.org/drawingml/2006/main">
            <a:off x="10744200" y="37719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6.721250</a:t>
            </a:r>
          </a:p>
        </p:txBody>
      </p:sp>
      <p:sp>
        <p:nvSpPr>
          <p:cNvPr id="56" name="">
            <a:extLst xmlns:a="http://schemas.openxmlformats.org/drawingml/2006/main">
              <a:ext uri="{FF2B5EF4-FFF2-40B4-BE49-F238E27FC236}">
                <a16:creationId xmlns:a16="http://schemas.microsoft.com/office/drawing/2014/main" id="{8ECE2548-4F19-4E72-A701-31FCF66E5443}"/>
              </a:ext>
            </a:extLst>
          </p:cNvPr>
          <p:cNvSpPr>
            <a:spLocks xmlns:a="http://schemas.openxmlformats.org/drawingml/2006/main" noGrp="1"/>
          </p:cNvSpPr>
          <p:nvPr/>
        </p:nvSpPr>
        <p:spPr>
          <a:xfrm xmlns:a="http://schemas.openxmlformats.org/drawingml/2006/main">
            <a:off x="7772400" y="425767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7" name="">
            <a:extLst xmlns:a="http://schemas.openxmlformats.org/drawingml/2006/main">
              <a:ext uri="{FF2B5EF4-FFF2-40B4-BE49-F238E27FC236}">
                <a16:creationId xmlns:a16="http://schemas.microsoft.com/office/drawing/2014/main" id="{074214A9-2839-4DB3-89D5-F207C716F028}"/>
              </a:ext>
            </a:extLst>
          </p:cNvPr>
          <p:cNvSpPr>
            <a:spLocks xmlns:a="http://schemas.openxmlformats.org/drawingml/2006/main" noGrp="1"/>
          </p:cNvSpPr>
          <p:nvPr/>
        </p:nvSpPr>
        <p:spPr>
          <a:xfrm xmlns:a="http://schemas.openxmlformats.org/drawingml/2006/main">
            <a:off x="7791450" y="429577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512</a:t>
            </a:r>
          </a:p>
        </p:txBody>
      </p:sp>
      <p:sp>
        <p:nvSpPr>
          <p:cNvPr id="58" name="">
            <a:extLst xmlns:a="http://schemas.openxmlformats.org/drawingml/2006/main">
              <a:ext uri="{FF2B5EF4-FFF2-40B4-BE49-F238E27FC236}">
                <a16:creationId xmlns:a16="http://schemas.microsoft.com/office/drawing/2014/main" id="{216DF69D-BEE4-41AF-B9BC-E3B9D511F09D}"/>
              </a:ext>
            </a:extLst>
          </p:cNvPr>
          <p:cNvSpPr>
            <a:spLocks xmlns:a="http://schemas.openxmlformats.org/drawingml/2006/main" noGrp="1"/>
          </p:cNvSpPr>
          <p:nvPr/>
        </p:nvSpPr>
        <p:spPr>
          <a:xfrm xmlns:a="http://schemas.openxmlformats.org/drawingml/2006/main">
            <a:off x="8439150" y="42576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9" name="">
            <a:extLst xmlns:a="http://schemas.openxmlformats.org/drawingml/2006/main">
              <a:ext uri="{FF2B5EF4-FFF2-40B4-BE49-F238E27FC236}">
                <a16:creationId xmlns:a16="http://schemas.microsoft.com/office/drawing/2014/main" id="{25EE7473-E8D0-4777-9E4D-86AACBDB47C8}"/>
              </a:ext>
            </a:extLst>
          </p:cNvPr>
          <p:cNvSpPr>
            <a:spLocks xmlns:a="http://schemas.openxmlformats.org/drawingml/2006/main" noGrp="1"/>
          </p:cNvSpPr>
          <p:nvPr/>
        </p:nvSpPr>
        <p:spPr>
          <a:xfrm xmlns:a="http://schemas.openxmlformats.org/drawingml/2006/main">
            <a:off x="8458200" y="42957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0.010584</a:t>
            </a:r>
          </a:p>
        </p:txBody>
      </p:sp>
      <p:sp>
        <p:nvSpPr>
          <p:cNvPr id="60" name="">
            <a:extLst xmlns:a="http://schemas.openxmlformats.org/drawingml/2006/main">
              <a:ext uri="{FF2B5EF4-FFF2-40B4-BE49-F238E27FC236}">
                <a16:creationId xmlns:a16="http://schemas.microsoft.com/office/drawing/2014/main" id="{5C50A5FA-CB92-40E8-BF92-352AE2EDAB7B}"/>
              </a:ext>
            </a:extLst>
          </p:cNvPr>
          <p:cNvSpPr>
            <a:spLocks xmlns:a="http://schemas.openxmlformats.org/drawingml/2006/main" noGrp="1"/>
          </p:cNvSpPr>
          <p:nvPr/>
        </p:nvSpPr>
        <p:spPr>
          <a:xfrm xmlns:a="http://schemas.openxmlformats.org/drawingml/2006/main">
            <a:off x="9505950" y="425767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61" name="">
            <a:extLst xmlns:a="http://schemas.openxmlformats.org/drawingml/2006/main">
              <a:ext uri="{FF2B5EF4-FFF2-40B4-BE49-F238E27FC236}">
                <a16:creationId xmlns:a16="http://schemas.microsoft.com/office/drawing/2014/main" id="{A300F073-5A12-4C4D-81AF-851F04E0FE0E}"/>
              </a:ext>
            </a:extLst>
          </p:cNvPr>
          <p:cNvSpPr>
            <a:spLocks xmlns:a="http://schemas.openxmlformats.org/drawingml/2006/main" noGrp="1"/>
          </p:cNvSpPr>
          <p:nvPr/>
        </p:nvSpPr>
        <p:spPr>
          <a:xfrm xmlns:a="http://schemas.openxmlformats.org/drawingml/2006/main">
            <a:off x="9525000" y="429577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33.014458</a:t>
            </a:r>
          </a:p>
        </p:txBody>
      </p:sp>
      <p:sp>
        <p:nvSpPr>
          <p:cNvPr id="62" name="">
            <a:extLst xmlns:a="http://schemas.openxmlformats.org/drawingml/2006/main">
              <a:ext uri="{FF2B5EF4-FFF2-40B4-BE49-F238E27FC236}">
                <a16:creationId xmlns:a16="http://schemas.microsoft.com/office/drawing/2014/main" id="{483ACF50-B437-40C9-8F41-0BBE17811284}"/>
              </a:ext>
            </a:extLst>
          </p:cNvPr>
          <p:cNvSpPr>
            <a:spLocks xmlns:a="http://schemas.openxmlformats.org/drawingml/2006/main" noGrp="1"/>
          </p:cNvSpPr>
          <p:nvPr/>
        </p:nvSpPr>
        <p:spPr>
          <a:xfrm xmlns:a="http://schemas.openxmlformats.org/drawingml/2006/main">
            <a:off x="10725150" y="42576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63" name="">
            <a:extLst xmlns:a="http://schemas.openxmlformats.org/drawingml/2006/main">
              <a:ext uri="{FF2B5EF4-FFF2-40B4-BE49-F238E27FC236}">
                <a16:creationId xmlns:a16="http://schemas.microsoft.com/office/drawing/2014/main" id="{28C10C1E-1649-4AE9-953E-856484E64160}"/>
              </a:ext>
            </a:extLst>
          </p:cNvPr>
          <p:cNvSpPr>
            <a:spLocks xmlns:a="http://schemas.openxmlformats.org/drawingml/2006/main" noGrp="1"/>
          </p:cNvSpPr>
          <p:nvPr/>
        </p:nvSpPr>
        <p:spPr>
          <a:xfrm xmlns:a="http://schemas.openxmlformats.org/drawingml/2006/main">
            <a:off x="10744200" y="42957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18.716687</a:t>
            </a:r>
          </a:p>
        </p:txBody>
      </p:sp>
      <p:sp>
        <p:nvSpPr>
          <p:cNvPr id="64" name="">
            <a:extLst xmlns:a="http://schemas.openxmlformats.org/drawingml/2006/main">
              <a:ext uri="{FF2B5EF4-FFF2-40B4-BE49-F238E27FC236}">
                <a16:creationId xmlns:a16="http://schemas.microsoft.com/office/drawing/2014/main" id="{B06BA8BD-5701-4376-9E05-6BB747716668}"/>
              </a:ext>
            </a:extLst>
          </p:cNvPr>
          <p:cNvSpPr>
            <a:spLocks xmlns:a="http://schemas.openxmlformats.org/drawingml/2006/main" noGrp="1"/>
          </p:cNvSpPr>
          <p:nvPr/>
        </p:nvSpPr>
        <p:spPr>
          <a:xfrm xmlns:a="http://schemas.openxmlformats.org/drawingml/2006/main">
            <a:off x="7848600" y="5086350"/>
            <a:ext cx="3905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Absolute times belong to one recorded Apple M4 / CPython 3.12.4 execution.</a:t>
            </a:r>
          </a:p>
        </p:txBody>
      </p:sp>
    </p:spTree>
    <p:extLst>
      <p:ext uri="{BB962C8B-B14F-4D97-AF65-F5344CB8AC3E}">
        <p14:creationId xmlns:p14="http://schemas.microsoft.com/office/powerpoint/2010/main" val="307043971"/>
      </p:ext>
    </p:extLst>
  </p:cSld>
</p:sld>
</file>

<file path=ppt/slides/slide1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9BE80D2-207F-4C33-9C91-B99226E0BE5F}"/>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B</a:t>
            </a:r>
          </a:p>
        </p:txBody>
      </p:sp>
      <p:sp>
        <p:nvSpPr>
          <p:cNvPr id="2" name="">
            <a:extLst xmlns:a="http://schemas.openxmlformats.org/drawingml/2006/main">
              <a:ext uri="{FF2B5EF4-FFF2-40B4-BE49-F238E27FC236}">
                <a16:creationId xmlns:a16="http://schemas.microsoft.com/office/drawing/2014/main" id="{CAF91263-5838-4DBC-BCD3-69BD1FD57EB1}"/>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Paper output is recovered from state, not from the oracle result</a:t>
            </a:r>
          </a:p>
        </p:txBody>
      </p:sp>
      <p:sp>
        <p:nvSpPr>
          <p:cNvPr id="3" name="">
            <a:extLst xmlns:a="http://schemas.openxmlformats.org/drawingml/2006/main">
              <a:ext uri="{FF2B5EF4-FFF2-40B4-BE49-F238E27FC236}">
                <a16:creationId xmlns:a16="http://schemas.microsoft.com/office/drawing/2014/main" id="{4DEB3CC8-E781-4A0D-BC0C-C600AE6804B2}"/>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FC79B237-0570-4845-B0C2-9FB274FBF92C}"/>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66CF26F-2F04-4A54-A6AC-4E418A4FF7A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CF9AB10B-7BE0-4346-9159-4B09ACE3BDC6}"/>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B</a:t>
            </a:r>
          </a:p>
        </p:txBody>
      </p:sp>
      <p:sp>
        <p:nvSpPr>
          <p:cNvPr id="7" name="">
            <a:extLst xmlns:a="http://schemas.openxmlformats.org/drawingml/2006/main">
              <a:ext uri="{FF2B5EF4-FFF2-40B4-BE49-F238E27FC236}">
                <a16:creationId xmlns:a16="http://schemas.microsoft.com/office/drawing/2014/main" id="{75CCC6D2-E9C9-4C53-AF63-E6997527B132}"/>
              </a:ext>
            </a:extLst>
          </p:cNvPr>
          <p:cNvSpPr>
            <a:spLocks xmlns:a="http://schemas.openxmlformats.org/drawingml/2006/main" noGrp="1"/>
          </p:cNvSpPr>
          <p:nvPr/>
        </p:nvSpPr>
        <p:spPr>
          <a:xfrm xmlns:a="http://schemas.openxmlformats.org/drawingml/2006/main">
            <a:off x="971550" y="1543050"/>
            <a:ext cx="4095750" cy="3562350"/>
          </a:xfrm>
          <a:prstGeom xmlns:a="http://schemas.openxmlformats.org/drawingml/2006/main" prst="roundRect">
            <a:avLst>
              <a:gd name="adj" fmla="val 2139"/>
            </a:avLst>
          </a:prstGeom>
          <a:solidFill xmlns:a="http://schemas.openxmlformats.org/drawingml/2006/main">
            <a:srgbClr val="FCEEEA"/>
          </a:solidFill>
          <a:ln xmlns:a="http://schemas.openxmlformats.org/drawingml/2006/main" w="19050">
            <a:solidFill>
              <a:srgbClr val="E76F51"/>
            </a:solidFill>
            <a:prstDash val="solid"/>
          </a:ln>
        </p:spPr>
      </p:sp>
      <p:sp>
        <p:nvSpPr>
          <p:cNvPr id="8" name="">
            <a:extLst xmlns:a="http://schemas.openxmlformats.org/drawingml/2006/main">
              <a:ext uri="{FF2B5EF4-FFF2-40B4-BE49-F238E27FC236}">
                <a16:creationId xmlns:a16="http://schemas.microsoft.com/office/drawing/2014/main" id="{6D14B8EF-628A-4DA4-8BFC-500F6C63199B}"/>
              </a:ext>
            </a:extLst>
          </p:cNvPr>
          <p:cNvSpPr>
            <a:spLocks xmlns:a="http://schemas.openxmlformats.org/drawingml/2006/main" noGrp="1"/>
          </p:cNvSpPr>
          <p:nvPr/>
        </p:nvSpPr>
        <p:spPr>
          <a:xfrm xmlns:a="http://schemas.openxmlformats.org/drawingml/2006/main">
            <a:off x="7124700" y="1543050"/>
            <a:ext cx="4095750" cy="3562350"/>
          </a:xfrm>
          <a:prstGeom xmlns:a="http://schemas.openxmlformats.org/drawingml/2006/main" prst="roundRect">
            <a:avLst>
              <a:gd name="adj" fmla="val 2139"/>
            </a:avLst>
          </a:prstGeom>
          <a:solidFill xmlns:a="http://schemas.openxmlformats.org/drawingml/2006/main">
            <a:srgbClr val="E8F5F3"/>
          </a:solidFill>
          <a:ln xmlns:a="http://schemas.openxmlformats.org/drawingml/2006/main" w="19050">
            <a:solidFill>
              <a:srgbClr val="2A9D8F"/>
            </a:solidFill>
            <a:prstDash val="solid"/>
          </a:ln>
        </p:spPr>
      </p:sp>
      <p:sp>
        <p:nvSpPr>
          <p:cNvPr id="9" name="">
            <a:extLst xmlns:a="http://schemas.openxmlformats.org/drawingml/2006/main">
              <a:ext uri="{FF2B5EF4-FFF2-40B4-BE49-F238E27FC236}">
                <a16:creationId xmlns:a16="http://schemas.microsoft.com/office/drawing/2014/main" id="{6472B8AC-CF45-4A76-93BF-4178CCB3FAED}"/>
              </a:ext>
            </a:extLst>
          </p:cNvPr>
          <p:cNvSpPr>
            <a:spLocks xmlns:a="http://schemas.openxmlformats.org/drawingml/2006/main" noGrp="1"/>
          </p:cNvSpPr>
          <p:nvPr/>
        </p:nvSpPr>
        <p:spPr>
          <a:xfrm xmlns:a="http://schemas.openxmlformats.org/drawingml/2006/main">
            <a:off x="1238250" y="179070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Reference pipeline</a:t>
            </a:r>
          </a:p>
        </p:txBody>
      </p:sp>
      <p:sp>
        <p:nvSpPr>
          <p:cNvPr id="10" name="">
            <a:extLst xmlns:a="http://schemas.openxmlformats.org/drawingml/2006/main">
              <a:ext uri="{FF2B5EF4-FFF2-40B4-BE49-F238E27FC236}">
                <a16:creationId xmlns:a16="http://schemas.microsoft.com/office/drawing/2014/main" id="{93732A31-A6EF-47C2-AF24-078716197B79}"/>
              </a:ext>
            </a:extLst>
          </p:cNvPr>
          <p:cNvSpPr>
            <a:spLocks xmlns:a="http://schemas.openxmlformats.org/drawingml/2006/main" noGrp="1"/>
          </p:cNvSpPr>
          <p:nvPr/>
        </p:nvSpPr>
        <p:spPr>
          <a:xfrm xmlns:a="http://schemas.openxmlformats.org/drawingml/2006/main">
            <a:off x="1238250" y="2571750"/>
            <a:ext cx="3562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oracle_result["sorted"]</a:t>
            </a:r>
          </a:p>
        </p:txBody>
      </p:sp>
      <p:sp>
        <p:nvSpPr>
          <p:cNvPr id="11" name="">
            <a:extLst xmlns:a="http://schemas.openxmlformats.org/drawingml/2006/main">
              <a:ext uri="{FF2B5EF4-FFF2-40B4-BE49-F238E27FC236}">
                <a16:creationId xmlns:a16="http://schemas.microsoft.com/office/drawing/2014/main" id="{537A2ADE-9724-4A58-933B-0C02ABAC5D59}"/>
              </a:ext>
            </a:extLst>
          </p:cNvPr>
          <p:cNvSpPr>
            <a:spLocks xmlns:a="http://schemas.openxmlformats.org/drawingml/2006/main" noGrp="1"/>
          </p:cNvSpPr>
          <p:nvPr/>
        </p:nvSpPr>
        <p:spPr>
          <a:xfrm xmlns:a="http://schemas.openxmlformats.org/drawingml/2006/main">
            <a:off x="1428750" y="3429000"/>
            <a:ext cx="31813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Oracle validation, structure, trace, and serializable result assembly are part of the reference call.</a:t>
            </a:r>
          </a:p>
        </p:txBody>
      </p:sp>
      <p:sp>
        <p:nvSpPr>
          <p:cNvPr id="12" name="">
            <a:extLst xmlns:a="http://schemas.openxmlformats.org/drawingml/2006/main">
              <a:ext uri="{FF2B5EF4-FFF2-40B4-BE49-F238E27FC236}">
                <a16:creationId xmlns:a16="http://schemas.microsoft.com/office/drawing/2014/main" id="{BAF5B4B0-5CD0-483E-9885-04B917C40468}"/>
              </a:ext>
            </a:extLst>
          </p:cNvPr>
          <p:cNvSpPr>
            <a:spLocks xmlns:a="http://schemas.openxmlformats.org/drawingml/2006/main" noGrp="1"/>
          </p:cNvSpPr>
          <p:nvPr/>
        </p:nvSpPr>
        <p:spPr>
          <a:xfrm xmlns:a="http://schemas.openxmlformats.org/drawingml/2006/main">
            <a:off x="7391400" y="179070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Paper core</a:t>
            </a:r>
          </a:p>
        </p:txBody>
      </p:sp>
      <p:sp>
        <p:nvSpPr>
          <p:cNvPr id="13" name="">
            <a:extLst xmlns:a="http://schemas.openxmlformats.org/drawingml/2006/main">
              <a:ext uri="{FF2B5EF4-FFF2-40B4-BE49-F238E27FC236}">
                <a16:creationId xmlns:a16="http://schemas.microsoft.com/office/drawing/2014/main" id="{51E7A247-A831-4FDA-B955-3D50C0AF3A0E}"/>
              </a:ext>
            </a:extLst>
          </p:cNvPr>
          <p:cNvSpPr>
            <a:spLocks xmlns:a="http://schemas.openxmlformats.org/drawingml/2006/main" noGrp="1"/>
          </p:cNvSpPr>
          <p:nvPr/>
        </p:nvSpPr>
        <p:spPr>
          <a:xfrm xmlns:a="http://schemas.openxmlformats.org/drawingml/2006/main">
            <a:off x="7391400" y="2571750"/>
            <a:ext cx="3562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state.partial_order.to_list()</a:t>
            </a:r>
          </a:p>
        </p:txBody>
      </p:sp>
      <p:sp>
        <p:nvSpPr>
          <p:cNvPr id="14" name="">
            <a:extLst xmlns:a="http://schemas.openxmlformats.org/drawingml/2006/main">
              <a:ext uri="{FF2B5EF4-FFF2-40B4-BE49-F238E27FC236}">
                <a16:creationId xmlns:a16="http://schemas.microsoft.com/office/drawing/2014/main" id="{3701EA68-7CE8-41E6-8734-6429C6C14739}"/>
              </a:ext>
            </a:extLst>
          </p:cNvPr>
          <p:cNvSpPr>
            <a:spLocks xmlns:a="http://schemas.openxmlformats.org/drawingml/2006/main" noGrp="1"/>
          </p:cNvSpPr>
          <p:nvPr/>
        </p:nvSpPr>
        <p:spPr>
          <a:xfrm xmlns:a="http://schemas.openxmlformats.org/drawingml/2006/main">
            <a:off x="7581900" y="3352800"/>
            <a:ext cx="318135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Certification precedes the call. Output comparison follows it. Neither provides the paper core's return value.</a:t>
            </a:r>
          </a:p>
        </p:txBody>
      </p:sp>
      <p:sp>
        <p:nvSpPr>
          <p:cNvPr id="15" name="">
            <a:extLst xmlns:a="http://schemas.openxmlformats.org/drawingml/2006/main">
              <a:ext uri="{FF2B5EF4-FFF2-40B4-BE49-F238E27FC236}">
                <a16:creationId xmlns:a16="http://schemas.microsoft.com/office/drawing/2014/main" id="{DEF64C1B-FC00-4BAB-BD5B-DDB6544EC5B0}"/>
              </a:ext>
            </a:extLst>
          </p:cNvPr>
          <p:cNvSpPr>
            <a:spLocks xmlns:a="http://schemas.openxmlformats.org/drawingml/2006/main" noGrp="1"/>
          </p:cNvSpPr>
          <p:nvPr/>
        </p:nvSpPr>
        <p:spPr>
          <a:xfrm xmlns:a="http://schemas.openxmlformats.org/drawingml/2006/main">
            <a:off x="2190750" y="56197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Same expected answer, different output provenance.</a:t>
            </a:r>
          </a:p>
        </p:txBody>
      </p:sp>
    </p:spTree>
    <p:extLst>
      <p:ext uri="{BB962C8B-B14F-4D97-AF65-F5344CB8AC3E}">
        <p14:creationId xmlns:p14="http://schemas.microsoft.com/office/powerpoint/2010/main" val="1707585439"/>
      </p:ext>
    </p:extLst>
  </p:cSld>
</p:sld>
</file>

<file path=ppt/slides/slide1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16E0837-DE6B-4D19-90B5-BD26CE3AF963}"/>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C</a:t>
            </a:r>
          </a:p>
        </p:txBody>
      </p:sp>
      <p:sp>
        <p:nvSpPr>
          <p:cNvPr id="2" name="">
            <a:extLst xmlns:a="http://schemas.openxmlformats.org/drawingml/2006/main">
              <a:ext uri="{FF2B5EF4-FFF2-40B4-BE49-F238E27FC236}">
                <a16:creationId xmlns:a16="http://schemas.microsoft.com/office/drawing/2014/main" id="{CCE6BFC1-ABAC-44E1-A4F0-95E944628AB9}"/>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Validation summary for the current implementation baseline</a:t>
            </a:r>
          </a:p>
        </p:txBody>
      </p:sp>
      <p:sp>
        <p:nvSpPr>
          <p:cNvPr id="3" name="">
            <a:extLst xmlns:a="http://schemas.openxmlformats.org/drawingml/2006/main">
              <a:ext uri="{FF2B5EF4-FFF2-40B4-BE49-F238E27FC236}">
                <a16:creationId xmlns:a16="http://schemas.microsoft.com/office/drawing/2014/main" id="{7A6C4F3E-910D-4DB5-8DD4-8F0C8AE89F37}"/>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E1DF901E-4FF8-4D27-9353-B681CB732534}"/>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C2E7E065-18B0-4362-8682-6CE44F7F533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C6F48280-2624-4D4D-9520-F06F671B7EEC}"/>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C</a:t>
            </a:r>
          </a:p>
        </p:txBody>
      </p:sp>
      <p:sp>
        <p:nvSpPr>
          <p:cNvPr id="7" name="">
            <a:extLst xmlns:a="http://schemas.openxmlformats.org/drawingml/2006/main">
              <a:ext uri="{FF2B5EF4-FFF2-40B4-BE49-F238E27FC236}">
                <a16:creationId xmlns:a16="http://schemas.microsoft.com/office/drawing/2014/main" id="{C030B61D-EBA3-40C6-AFA9-326116896162}"/>
              </a:ext>
            </a:extLst>
          </p:cNvPr>
          <p:cNvSpPr>
            <a:spLocks xmlns:a="http://schemas.openxmlformats.org/drawingml/2006/main" noGrp="1"/>
          </p:cNvSpPr>
          <p:nvPr/>
        </p:nvSpPr>
        <p:spPr>
          <a:xfrm xmlns:a="http://schemas.openxmlformats.org/drawingml/2006/main">
            <a:off x="990600" y="15049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2A9D8F"/>
                </a:solidFill>
              </a:defRPr>
            </a:pPr>
            <a:r>
              <a:rPr sz="3150" b="1" i="0">
                <a:solidFill>
                  <a:srgbClr val="2A9D8F"/>
                </a:solidFill>
              </a:rPr>
              <a:t>537</a:t>
            </a:r>
          </a:p>
        </p:txBody>
      </p:sp>
      <p:sp>
        <p:nvSpPr>
          <p:cNvPr id="8" name="">
            <a:extLst xmlns:a="http://schemas.openxmlformats.org/drawingml/2006/main">
              <a:ext uri="{FF2B5EF4-FFF2-40B4-BE49-F238E27FC236}">
                <a16:creationId xmlns:a16="http://schemas.microsoft.com/office/drawing/2014/main" id="{586562F3-F812-4249-AB50-40270BE59506}"/>
              </a:ext>
            </a:extLst>
          </p:cNvPr>
          <p:cNvSpPr>
            <a:spLocks xmlns:a="http://schemas.openxmlformats.org/drawingml/2006/main" noGrp="1"/>
          </p:cNvSpPr>
          <p:nvPr/>
        </p:nvSpPr>
        <p:spPr>
          <a:xfrm xmlns:a="http://schemas.openxmlformats.org/drawingml/2006/main">
            <a:off x="3676650" y="16192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9" name="">
            <a:extLst xmlns:a="http://schemas.openxmlformats.org/drawingml/2006/main">
              <a:ext uri="{FF2B5EF4-FFF2-40B4-BE49-F238E27FC236}">
                <a16:creationId xmlns:a16="http://schemas.microsoft.com/office/drawing/2014/main" id="{5FF72575-D692-4CB4-8B03-ECFEC2F076EC}"/>
              </a:ext>
            </a:extLst>
          </p:cNvPr>
          <p:cNvSpPr>
            <a:spLocks xmlns:a="http://schemas.openxmlformats.org/drawingml/2006/main" noGrp="1"/>
          </p:cNvSpPr>
          <p:nvPr/>
        </p:nvSpPr>
        <p:spPr>
          <a:xfrm xmlns:a="http://schemas.openxmlformats.org/drawingml/2006/main">
            <a:off x="4000500" y="15049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repository tests</a:t>
            </a:r>
          </a:p>
        </p:txBody>
      </p:sp>
      <p:sp>
        <p:nvSpPr>
          <p:cNvPr id="10" name="">
            <a:extLst xmlns:a="http://schemas.openxmlformats.org/drawingml/2006/main">
              <a:ext uri="{FF2B5EF4-FFF2-40B4-BE49-F238E27FC236}">
                <a16:creationId xmlns:a16="http://schemas.microsoft.com/office/drawing/2014/main" id="{D16A42BA-54A3-4C2F-989F-C15EF5E6E1EE}"/>
              </a:ext>
            </a:extLst>
          </p:cNvPr>
          <p:cNvSpPr>
            <a:spLocks xmlns:a="http://schemas.openxmlformats.org/drawingml/2006/main" noGrp="1"/>
          </p:cNvSpPr>
          <p:nvPr/>
        </p:nvSpPr>
        <p:spPr>
          <a:xfrm xmlns:a="http://schemas.openxmlformats.org/drawingml/2006/main">
            <a:off x="990600" y="23431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E76F51"/>
                </a:solidFill>
              </a:defRPr>
            </a:pPr>
            <a:r>
              <a:rPr sz="3150" b="1" i="0">
                <a:solidFill>
                  <a:srgbClr val="E76F51"/>
                </a:solidFill>
              </a:rPr>
              <a:t>2,074</a:t>
            </a:r>
          </a:p>
        </p:txBody>
      </p:sp>
      <p:sp>
        <p:nvSpPr>
          <p:cNvPr id="11" name="">
            <a:extLst xmlns:a="http://schemas.openxmlformats.org/drawingml/2006/main">
              <a:ext uri="{FF2B5EF4-FFF2-40B4-BE49-F238E27FC236}">
                <a16:creationId xmlns:a16="http://schemas.microsoft.com/office/drawing/2014/main" id="{EA9C988F-05B2-414F-986B-20F9BE239654}"/>
              </a:ext>
            </a:extLst>
          </p:cNvPr>
          <p:cNvSpPr>
            <a:spLocks xmlns:a="http://schemas.openxmlformats.org/drawingml/2006/main" noGrp="1"/>
          </p:cNvSpPr>
          <p:nvPr/>
        </p:nvSpPr>
        <p:spPr>
          <a:xfrm xmlns:a="http://schemas.openxmlformats.org/drawingml/2006/main">
            <a:off x="3676650" y="2457450"/>
            <a:ext cx="38100" cy="342900"/>
          </a:xfrm>
          <a:prstGeom xmlns:a="http://schemas.openxmlformats.org/drawingml/2006/main" prst="rect">
            <a:avLst/>
          </a:prstGeom>
          <a:solidFill xmlns:a="http://schemas.openxmlformats.org/drawingml/2006/main">
            <a:srgbClr val="E76F51"/>
          </a:solidFill>
          <a:ln xmlns:a="http://schemas.openxmlformats.org/drawingml/2006/main" w="11430">
            <a:solidFill>
              <a:srgbClr val="E76F51"/>
            </a:solidFill>
            <a:prstDash val="solid"/>
          </a:ln>
        </p:spPr>
      </p:sp>
      <p:sp>
        <p:nvSpPr>
          <p:cNvPr id="12" name="">
            <a:extLst xmlns:a="http://schemas.openxmlformats.org/drawingml/2006/main">
              <a:ext uri="{FF2B5EF4-FFF2-40B4-BE49-F238E27FC236}">
                <a16:creationId xmlns:a16="http://schemas.microsoft.com/office/drawing/2014/main" id="{22144C4B-1B29-43A2-B849-DC796790F0C2}"/>
              </a:ext>
            </a:extLst>
          </p:cNvPr>
          <p:cNvSpPr>
            <a:spLocks xmlns:a="http://schemas.openxmlformats.org/drawingml/2006/main" noGrp="1"/>
          </p:cNvSpPr>
          <p:nvPr/>
        </p:nvSpPr>
        <p:spPr>
          <a:xfrm xmlns:a="http://schemas.openxmlformats.org/drawingml/2006/main">
            <a:off x="4000500" y="23431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bounded exhaustive valid permutations, n ≤ 8</a:t>
            </a:r>
          </a:p>
        </p:txBody>
      </p:sp>
      <p:sp>
        <p:nvSpPr>
          <p:cNvPr id="13" name="">
            <a:extLst xmlns:a="http://schemas.openxmlformats.org/drawingml/2006/main">
              <a:ext uri="{FF2B5EF4-FFF2-40B4-BE49-F238E27FC236}">
                <a16:creationId xmlns:a16="http://schemas.microsoft.com/office/drawing/2014/main" id="{642C8389-DCE2-40BA-BBA7-C5A2FD626B27}"/>
              </a:ext>
            </a:extLst>
          </p:cNvPr>
          <p:cNvSpPr>
            <a:spLocks xmlns:a="http://schemas.openxmlformats.org/drawingml/2006/main" noGrp="1"/>
          </p:cNvSpPr>
          <p:nvPr/>
        </p:nvSpPr>
        <p:spPr>
          <a:xfrm xmlns:a="http://schemas.openxmlformats.org/drawingml/2006/main">
            <a:off x="990600" y="31813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2A9D8F"/>
                </a:solidFill>
              </a:defRPr>
            </a:pPr>
            <a:r>
              <a:rPr sz="3150" b="1" i="0">
                <a:solidFill>
                  <a:srgbClr val="2A9D8F"/>
                </a:solidFill>
              </a:rPr>
              <a:t>48</a:t>
            </a:r>
          </a:p>
        </p:txBody>
      </p:sp>
      <p:sp>
        <p:nvSpPr>
          <p:cNvPr id="14" name="">
            <a:extLst xmlns:a="http://schemas.openxmlformats.org/drawingml/2006/main">
              <a:ext uri="{FF2B5EF4-FFF2-40B4-BE49-F238E27FC236}">
                <a16:creationId xmlns:a16="http://schemas.microsoft.com/office/drawing/2014/main" id="{9643F81F-C258-441A-A3D6-37DA52F8A38C}"/>
              </a:ext>
            </a:extLst>
          </p:cNvPr>
          <p:cNvSpPr>
            <a:spLocks xmlns:a="http://schemas.openxmlformats.org/drawingml/2006/main" noGrp="1"/>
          </p:cNvSpPr>
          <p:nvPr/>
        </p:nvSpPr>
        <p:spPr>
          <a:xfrm xmlns:a="http://schemas.openxmlformats.org/drawingml/2006/main">
            <a:off x="3676650" y="32956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15" name="">
            <a:extLst xmlns:a="http://schemas.openxmlformats.org/drawingml/2006/main">
              <a:ext uri="{FF2B5EF4-FFF2-40B4-BE49-F238E27FC236}">
                <a16:creationId xmlns:a16="http://schemas.microsoft.com/office/drawing/2014/main" id="{B536E76F-7182-42F7-A07F-40821EA7FB67}"/>
              </a:ext>
            </a:extLst>
          </p:cNvPr>
          <p:cNvSpPr>
            <a:spLocks xmlns:a="http://schemas.openxmlformats.org/drawingml/2006/main" noGrp="1"/>
          </p:cNvSpPr>
          <p:nvPr/>
        </p:nvSpPr>
        <p:spPr>
          <a:xfrm xmlns:a="http://schemas.openxmlformats.org/drawingml/2006/main">
            <a:off x="4000500" y="31813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fixed generated cases</a:t>
            </a:r>
          </a:p>
        </p:txBody>
      </p:sp>
      <p:sp>
        <p:nvSpPr>
          <p:cNvPr id="16" name="">
            <a:extLst xmlns:a="http://schemas.openxmlformats.org/drawingml/2006/main">
              <a:ext uri="{FF2B5EF4-FFF2-40B4-BE49-F238E27FC236}">
                <a16:creationId xmlns:a16="http://schemas.microsoft.com/office/drawing/2014/main" id="{50CBE8E2-81DA-4B79-8CB7-69F4423BEEC5}"/>
              </a:ext>
            </a:extLst>
          </p:cNvPr>
          <p:cNvSpPr>
            <a:spLocks xmlns:a="http://schemas.openxmlformats.org/drawingml/2006/main" noGrp="1"/>
          </p:cNvSpPr>
          <p:nvPr/>
        </p:nvSpPr>
        <p:spPr>
          <a:xfrm xmlns:a="http://schemas.openxmlformats.org/drawingml/2006/main">
            <a:off x="990600" y="40195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E76F51"/>
                </a:solidFill>
              </a:defRPr>
            </a:pPr>
            <a:r>
              <a:rPr sz="3150" b="1" i="0">
                <a:solidFill>
                  <a:srgbClr val="E76F51"/>
                </a:solidFill>
              </a:rPr>
              <a:t>60</a:t>
            </a:r>
          </a:p>
        </p:txBody>
      </p:sp>
      <p:sp>
        <p:nvSpPr>
          <p:cNvPr id="17" name="">
            <a:extLst xmlns:a="http://schemas.openxmlformats.org/drawingml/2006/main">
              <a:ext uri="{FF2B5EF4-FFF2-40B4-BE49-F238E27FC236}">
                <a16:creationId xmlns:a16="http://schemas.microsoft.com/office/drawing/2014/main" id="{9B5F8790-2EDC-4BD9-952B-9DA1B44BECC0}"/>
              </a:ext>
            </a:extLst>
          </p:cNvPr>
          <p:cNvSpPr>
            <a:spLocks xmlns:a="http://schemas.openxmlformats.org/drawingml/2006/main" noGrp="1"/>
          </p:cNvSpPr>
          <p:nvPr/>
        </p:nvSpPr>
        <p:spPr>
          <a:xfrm xmlns:a="http://schemas.openxmlformats.org/drawingml/2006/main">
            <a:off x="3676650" y="4133850"/>
            <a:ext cx="38100" cy="342900"/>
          </a:xfrm>
          <a:prstGeom xmlns:a="http://schemas.openxmlformats.org/drawingml/2006/main" prst="rect">
            <a:avLst/>
          </a:prstGeom>
          <a:solidFill xmlns:a="http://schemas.openxmlformats.org/drawingml/2006/main">
            <a:srgbClr val="E76F51"/>
          </a:solidFill>
          <a:ln xmlns:a="http://schemas.openxmlformats.org/drawingml/2006/main" w="11430">
            <a:solidFill>
              <a:srgbClr val="E76F51"/>
            </a:solidFill>
            <a:prstDash val="solid"/>
          </a:ln>
        </p:spPr>
      </p:sp>
      <p:sp>
        <p:nvSpPr>
          <p:cNvPr id="18" name="">
            <a:extLst xmlns:a="http://schemas.openxmlformats.org/drawingml/2006/main">
              <a:ext uri="{FF2B5EF4-FFF2-40B4-BE49-F238E27FC236}">
                <a16:creationId xmlns:a16="http://schemas.microsoft.com/office/drawing/2014/main" id="{52A24F72-9C69-4539-BECB-72E9E631F735}"/>
              </a:ext>
            </a:extLst>
          </p:cNvPr>
          <p:cNvSpPr>
            <a:spLocks xmlns:a="http://schemas.openxmlformats.org/drawingml/2006/main" noGrp="1"/>
          </p:cNvSpPr>
          <p:nvPr/>
        </p:nvSpPr>
        <p:spPr>
          <a:xfrm xmlns:a="http://schemas.openxmlformats.org/drawingml/2006/main">
            <a:off x="4000500" y="40195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formal case-level checked-state audits</a:t>
            </a:r>
          </a:p>
        </p:txBody>
      </p:sp>
      <p:sp>
        <p:nvSpPr>
          <p:cNvPr id="19" name="">
            <a:extLst xmlns:a="http://schemas.openxmlformats.org/drawingml/2006/main">
              <a:ext uri="{FF2B5EF4-FFF2-40B4-BE49-F238E27FC236}">
                <a16:creationId xmlns:a16="http://schemas.microsoft.com/office/drawing/2014/main" id="{9B0D21D5-DD18-494C-A7A4-684DB03435BB}"/>
              </a:ext>
            </a:extLst>
          </p:cNvPr>
          <p:cNvSpPr>
            <a:spLocks xmlns:a="http://schemas.openxmlformats.org/drawingml/2006/main" noGrp="1"/>
          </p:cNvSpPr>
          <p:nvPr/>
        </p:nvSpPr>
        <p:spPr>
          <a:xfrm xmlns:a="http://schemas.openxmlformats.org/drawingml/2006/main">
            <a:off x="990600" y="48577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2550" b="1" i="0">
                <a:solidFill>
                  <a:srgbClr val="2A9D8F"/>
                </a:solidFill>
              </a:defRPr>
            </a:pPr>
            <a:r>
              <a:rPr sz="2550" b="1" i="0">
                <a:solidFill>
                  <a:srgbClr val="2A9D8F"/>
                </a:solidFill>
              </a:rPr>
              <a:t>passed</a:t>
            </a:r>
          </a:p>
        </p:txBody>
      </p:sp>
      <p:sp>
        <p:nvSpPr>
          <p:cNvPr id="20" name="">
            <a:extLst xmlns:a="http://schemas.openxmlformats.org/drawingml/2006/main">
              <a:ext uri="{FF2B5EF4-FFF2-40B4-BE49-F238E27FC236}">
                <a16:creationId xmlns:a16="http://schemas.microsoft.com/office/drawing/2014/main" id="{626D6474-6276-4EAD-8509-B24179A14993}"/>
              </a:ext>
            </a:extLst>
          </p:cNvPr>
          <p:cNvSpPr>
            <a:spLocks xmlns:a="http://schemas.openxmlformats.org/drawingml/2006/main" noGrp="1"/>
          </p:cNvSpPr>
          <p:nvPr/>
        </p:nvSpPr>
        <p:spPr>
          <a:xfrm xmlns:a="http://schemas.openxmlformats.org/drawingml/2006/main">
            <a:off x="3676650" y="49720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21" name="">
            <a:extLst xmlns:a="http://schemas.openxmlformats.org/drawingml/2006/main">
              <a:ext uri="{FF2B5EF4-FFF2-40B4-BE49-F238E27FC236}">
                <a16:creationId xmlns:a16="http://schemas.microsoft.com/office/drawing/2014/main" id="{BBDFDD15-43E9-4D34-9444-48B257A21ADA}"/>
              </a:ext>
            </a:extLst>
          </p:cNvPr>
          <p:cNvSpPr>
            <a:spLocks xmlns:a="http://schemas.openxmlformats.org/drawingml/2006/main" noGrp="1"/>
          </p:cNvSpPr>
          <p:nvPr/>
        </p:nvSpPr>
        <p:spPr>
          <a:xfrm xmlns:a="http://schemas.openxmlformats.org/drawingml/2006/main">
            <a:off x="4000500" y="48577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formal evidence-contract validation</a:t>
            </a:r>
          </a:p>
        </p:txBody>
      </p:sp>
      <p:sp>
        <p:nvSpPr>
          <p:cNvPr id="22" name="">
            <a:extLst xmlns:a="http://schemas.openxmlformats.org/drawingml/2006/main">
              <a:ext uri="{FF2B5EF4-FFF2-40B4-BE49-F238E27FC236}">
                <a16:creationId xmlns:a16="http://schemas.microsoft.com/office/drawing/2014/main" id="{7F5B4D60-D526-4DA1-90FF-2DAC92BC37CC}"/>
              </a:ext>
            </a:extLst>
          </p:cNvPr>
          <p:cNvSpPr>
            <a:spLocks xmlns:a="http://schemas.openxmlformats.org/drawingml/2006/main" noGrp="1"/>
          </p:cNvSpPr>
          <p:nvPr/>
        </p:nvSpPr>
        <p:spPr>
          <a:xfrm xmlns:a="http://schemas.openxmlformats.org/drawingml/2006/main">
            <a:off x="1866900" y="5810250"/>
            <a:ext cx="8458200" cy="457200"/>
          </a:xfrm>
          <a:prstGeom xmlns:a="http://schemas.openxmlformats.org/drawingml/2006/main" prst="roundRect">
            <a:avLst>
              <a:gd name="adj" fmla="val 12500"/>
            </a:avLst>
          </a:prstGeom>
          <a:solidFill xmlns:a="http://schemas.openxmlformats.org/drawingml/2006/main">
            <a:srgbClr val="FCEEEA"/>
          </a:solidFill>
          <a:ln xmlns:a="http://schemas.openxmlformats.org/drawingml/2006/main" w="11430">
            <a:solidFill>
              <a:srgbClr val="E76F51"/>
            </a:solidFill>
            <a:prstDash val="solid"/>
          </a:ln>
        </p:spPr>
      </p:sp>
      <p:sp>
        <p:nvSpPr>
          <p:cNvPr id="23" name="">
            <a:extLst xmlns:a="http://schemas.openxmlformats.org/drawingml/2006/main">
              <a:ext uri="{FF2B5EF4-FFF2-40B4-BE49-F238E27FC236}">
                <a16:creationId xmlns:a16="http://schemas.microsoft.com/office/drawing/2014/main" id="{F55F2EA2-FEAB-4D0C-A491-7F1B4C922228}"/>
              </a:ext>
            </a:extLst>
          </p:cNvPr>
          <p:cNvSpPr>
            <a:spLocks xmlns:a="http://schemas.openxmlformats.org/drawingml/2006/main" noGrp="1"/>
          </p:cNvSpPr>
          <p:nvPr/>
        </p:nvSpPr>
        <p:spPr>
          <a:xfrm xmlns:a="http://schemas.openxmlformats.org/drawingml/2006/main">
            <a:off x="2057400" y="5848350"/>
            <a:ext cx="8077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Finite validation evidence is not a proof for every Jordan sequence.</a:t>
            </a:r>
          </a:p>
        </p:txBody>
      </p:sp>
    </p:spTree>
    <p:extLst>
      <p:ext uri="{BB962C8B-B14F-4D97-AF65-F5344CB8AC3E}">
        <p14:creationId xmlns:p14="http://schemas.microsoft.com/office/powerpoint/2010/main" val="730224311"/>
      </p:ext>
    </p:extLst>
  </p:cSld>
</p:sld>
</file>

<file path=ppt/slides/slide2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8222E2C4-D0C4-4C06-98C2-88CAF8F8BBAB}"/>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D</a:t>
            </a:r>
          </a:p>
        </p:txBody>
      </p:sp>
      <p:sp>
        <p:nvSpPr>
          <p:cNvPr id="2" name="">
            <a:extLst xmlns:a="http://schemas.openxmlformats.org/drawingml/2006/main">
              <a:ext uri="{FF2B5EF4-FFF2-40B4-BE49-F238E27FC236}">
                <a16:creationId xmlns:a16="http://schemas.microsoft.com/office/drawing/2014/main" id="{A1D4846E-70D8-423F-A006-AADE3E476EC0}"/>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Increasing and decreasing iterations use reflected local choices</a:t>
            </a:r>
          </a:p>
        </p:txBody>
      </p:sp>
      <p:sp>
        <p:nvSpPr>
          <p:cNvPr id="3" name="">
            <a:extLst xmlns:a="http://schemas.openxmlformats.org/drawingml/2006/main">
              <a:ext uri="{FF2B5EF4-FFF2-40B4-BE49-F238E27FC236}">
                <a16:creationId xmlns:a16="http://schemas.microsoft.com/office/drawing/2014/main" id="{B2767E35-EF24-42A7-8500-9B5F237DF4C5}"/>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C732EE74-2D3C-4B19-935A-B66A0A9A72D3}"/>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9B06C93E-9343-4699-BCFF-BEE2A4D75F46}"/>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2D455AFB-EAB1-4FD2-B4A1-5B687A52DC9F}"/>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D</a:t>
            </a:r>
          </a:p>
        </p:txBody>
      </p:sp>
      <p:sp>
        <p:nvSpPr>
          <p:cNvPr id="7" name="">
            <a:extLst xmlns:a="http://schemas.openxmlformats.org/drawingml/2006/main">
              <a:ext uri="{FF2B5EF4-FFF2-40B4-BE49-F238E27FC236}">
                <a16:creationId xmlns:a16="http://schemas.microsoft.com/office/drawing/2014/main" id="{0C9B6746-AD66-4585-8715-34ABC7031E7C}"/>
              </a:ext>
            </a:extLst>
          </p:cNvPr>
          <p:cNvSpPr>
            <a:spLocks xmlns:a="http://schemas.openxmlformats.org/drawingml/2006/main" noGrp="1"/>
          </p:cNvSpPr>
          <p:nvPr/>
        </p:nvSpPr>
        <p:spPr>
          <a:xfrm xmlns:a="http://schemas.openxmlformats.org/drawingml/2006/main">
            <a:off x="876300" y="1466850"/>
            <a:ext cx="3314700" cy="495300"/>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452E8BCC-731E-4F02-B593-1A6297A64D99}"/>
              </a:ext>
            </a:extLst>
          </p:cNvPr>
          <p:cNvSpPr>
            <a:spLocks xmlns:a="http://schemas.openxmlformats.org/drawingml/2006/main" noGrp="1"/>
          </p:cNvSpPr>
          <p:nvPr/>
        </p:nvSpPr>
        <p:spPr>
          <a:xfrm xmlns:a="http://schemas.openxmlformats.org/drawingml/2006/main">
            <a:off x="952500" y="1524000"/>
            <a:ext cx="31623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FFFFFF"/>
                </a:solidFill>
              </a:defRPr>
            </a:pPr>
            <a:r>
              <a:rPr sz="1425" b="1" i="0">
                <a:solidFill>
                  <a:srgbClr val="FFFFFF"/>
                </a:solidFill>
              </a:rPr>
              <a:t>Control choice</a:t>
            </a:r>
          </a:p>
        </p:txBody>
      </p:sp>
      <p:sp>
        <p:nvSpPr>
          <p:cNvPr id="9" name="">
            <a:extLst xmlns:a="http://schemas.openxmlformats.org/drawingml/2006/main">
              <a:ext uri="{FF2B5EF4-FFF2-40B4-BE49-F238E27FC236}">
                <a16:creationId xmlns:a16="http://schemas.microsoft.com/office/drawing/2014/main" id="{6AF6299A-9145-4483-B4F7-6D3961714DF6}"/>
              </a:ext>
            </a:extLst>
          </p:cNvPr>
          <p:cNvSpPr>
            <a:spLocks xmlns:a="http://schemas.openxmlformats.org/drawingml/2006/main" noGrp="1"/>
          </p:cNvSpPr>
          <p:nvPr/>
        </p:nvSpPr>
        <p:spPr>
          <a:xfrm xmlns:a="http://schemas.openxmlformats.org/drawingml/2006/main">
            <a:off x="4191000" y="1466850"/>
            <a:ext cx="3295650" cy="495300"/>
          </a:xfrm>
          <a:prstGeom xmlns:a="http://schemas.openxmlformats.org/drawingml/2006/main" prst="rect">
            <a:avLst/>
          </a:prstGeom>
          <a:solidFill xmlns:a="http://schemas.openxmlformats.org/drawingml/2006/main">
            <a:srgbClr val="E8F5F3"/>
          </a:solidFill>
          <a:ln xmlns:a="http://schemas.openxmlformats.org/drawingml/2006/main" w="11430">
            <a:solidFill>
              <a:srgbClr val="D9E2EC"/>
            </a:solidFill>
            <a:prstDash val="solid"/>
          </a:ln>
        </p:spPr>
      </p:sp>
      <p:sp>
        <p:nvSpPr>
          <p:cNvPr id="10" name="">
            <a:extLst xmlns:a="http://schemas.openxmlformats.org/drawingml/2006/main">
              <a:ext uri="{FF2B5EF4-FFF2-40B4-BE49-F238E27FC236}">
                <a16:creationId xmlns:a16="http://schemas.microsoft.com/office/drawing/2014/main" id="{6E40FDD9-B094-43E7-8E9B-456064607098}"/>
              </a:ext>
            </a:extLst>
          </p:cNvPr>
          <p:cNvSpPr>
            <a:spLocks xmlns:a="http://schemas.openxmlformats.org/drawingml/2006/main" noGrp="1"/>
          </p:cNvSpPr>
          <p:nvPr/>
        </p:nvSpPr>
        <p:spPr>
          <a:xfrm xmlns:a="http://schemas.openxmlformats.org/drawingml/2006/main">
            <a:off x="4267200" y="152400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Increasing orientation</a:t>
            </a:r>
          </a:p>
        </p:txBody>
      </p:sp>
      <p:sp>
        <p:nvSpPr>
          <p:cNvPr id="11" name="">
            <a:extLst xmlns:a="http://schemas.openxmlformats.org/drawingml/2006/main">
              <a:ext uri="{FF2B5EF4-FFF2-40B4-BE49-F238E27FC236}">
                <a16:creationId xmlns:a16="http://schemas.microsoft.com/office/drawing/2014/main" id="{50415B78-88D4-43E6-BD12-97177BF8DD5A}"/>
              </a:ext>
            </a:extLst>
          </p:cNvPr>
          <p:cNvSpPr>
            <a:spLocks xmlns:a="http://schemas.openxmlformats.org/drawingml/2006/main" noGrp="1"/>
          </p:cNvSpPr>
          <p:nvPr/>
        </p:nvSpPr>
        <p:spPr>
          <a:xfrm xmlns:a="http://schemas.openxmlformats.org/drawingml/2006/main">
            <a:off x="7486650" y="1466850"/>
            <a:ext cx="3752850" cy="495300"/>
          </a:xfrm>
          <a:prstGeom xmlns:a="http://schemas.openxmlformats.org/drawingml/2006/main" prst="rect">
            <a:avLst/>
          </a:prstGeom>
          <a:solidFill xmlns:a="http://schemas.openxmlformats.org/drawingml/2006/main">
            <a:srgbClr val="FCEEEA"/>
          </a:solidFill>
          <a:ln xmlns:a="http://schemas.openxmlformats.org/drawingml/2006/main" w="11430">
            <a:solidFill>
              <a:srgbClr val="D9E2EC"/>
            </a:solidFill>
            <a:prstDash val="solid"/>
          </a:ln>
        </p:spPr>
      </p:sp>
      <p:sp>
        <p:nvSpPr>
          <p:cNvPr id="12" name="">
            <a:extLst xmlns:a="http://schemas.openxmlformats.org/drawingml/2006/main">
              <a:ext uri="{FF2B5EF4-FFF2-40B4-BE49-F238E27FC236}">
                <a16:creationId xmlns:a16="http://schemas.microsoft.com/office/drawing/2014/main" id="{FBA5DCE2-EF00-4BFB-9F10-C3AAB7178ADC}"/>
              </a:ext>
            </a:extLst>
          </p:cNvPr>
          <p:cNvSpPr>
            <a:spLocks xmlns:a="http://schemas.openxmlformats.org/drawingml/2006/main" noGrp="1"/>
          </p:cNvSpPr>
          <p:nvPr/>
        </p:nvSpPr>
        <p:spPr>
          <a:xfrm xmlns:a="http://schemas.openxmlformats.org/drawingml/2006/main">
            <a:off x="7562850" y="1524000"/>
            <a:ext cx="3600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E76F51"/>
                </a:solidFill>
              </a:defRPr>
            </a:pPr>
            <a:r>
              <a:rPr sz="1425" b="1" i="0">
                <a:solidFill>
                  <a:srgbClr val="E76F51"/>
                </a:solidFill>
              </a:rPr>
              <a:t>Decreasing orientation</a:t>
            </a:r>
          </a:p>
        </p:txBody>
      </p:sp>
      <p:sp>
        <p:nvSpPr>
          <p:cNvPr id="13" name="">
            <a:extLst xmlns:a="http://schemas.openxmlformats.org/drawingml/2006/main">
              <a:ext uri="{FF2B5EF4-FFF2-40B4-BE49-F238E27FC236}">
                <a16:creationId xmlns:a16="http://schemas.microsoft.com/office/drawing/2014/main" id="{602A7C0A-6825-43D9-9ECF-941DBD3053A7}"/>
              </a:ext>
            </a:extLst>
          </p:cNvPr>
          <p:cNvSpPr>
            <a:spLocks xmlns:a="http://schemas.openxmlformats.org/drawingml/2006/main" noGrp="1"/>
          </p:cNvSpPr>
          <p:nvPr/>
        </p:nvSpPr>
        <p:spPr>
          <a:xfrm xmlns:a="http://schemas.openxmlformats.org/drawingml/2006/main">
            <a:off x="876300" y="19621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4" name="">
            <a:extLst xmlns:a="http://schemas.openxmlformats.org/drawingml/2006/main">
              <a:ext uri="{FF2B5EF4-FFF2-40B4-BE49-F238E27FC236}">
                <a16:creationId xmlns:a16="http://schemas.microsoft.com/office/drawing/2014/main" id="{EA693442-9BFA-4267-8571-F5ED6BD2F33A}"/>
              </a:ext>
            </a:extLst>
          </p:cNvPr>
          <p:cNvSpPr>
            <a:spLocks xmlns:a="http://schemas.openxmlformats.org/drawingml/2006/main" noGrp="1"/>
          </p:cNvSpPr>
          <p:nvPr/>
        </p:nvSpPr>
        <p:spPr>
          <a:xfrm xmlns:a="http://schemas.openxmlformats.org/drawingml/2006/main">
            <a:off x="952500" y="20193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Step 3(a) boundary</a:t>
            </a:r>
          </a:p>
        </p:txBody>
      </p:sp>
      <p:sp>
        <p:nvSpPr>
          <p:cNvPr id="15" name="">
            <a:extLst xmlns:a="http://schemas.openxmlformats.org/drawingml/2006/main">
              <a:ext uri="{FF2B5EF4-FFF2-40B4-BE49-F238E27FC236}">
                <a16:creationId xmlns:a16="http://schemas.microsoft.com/office/drawing/2014/main" id="{70901597-8D4B-4235-8AD7-1BC7DCBC5F7C}"/>
              </a:ext>
            </a:extLst>
          </p:cNvPr>
          <p:cNvSpPr>
            <a:spLocks xmlns:a="http://schemas.openxmlformats.org/drawingml/2006/main" noGrp="1"/>
          </p:cNvSpPr>
          <p:nvPr/>
        </p:nvSpPr>
        <p:spPr>
          <a:xfrm xmlns:a="http://schemas.openxmlformats.org/drawingml/2006/main">
            <a:off x="4191000" y="19621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6" name="">
            <a:extLst xmlns:a="http://schemas.openxmlformats.org/drawingml/2006/main">
              <a:ext uri="{FF2B5EF4-FFF2-40B4-BE49-F238E27FC236}">
                <a16:creationId xmlns:a16="http://schemas.microsoft.com/office/drawing/2014/main" id="{3AE64915-3081-4A11-A90E-9496BA7D742E}"/>
              </a:ext>
            </a:extLst>
          </p:cNvPr>
          <p:cNvSpPr>
            <a:spLocks xmlns:a="http://schemas.openxmlformats.org/drawingml/2006/main" noGrp="1"/>
          </p:cNvSpPr>
          <p:nvPr/>
        </p:nvSpPr>
        <p:spPr>
          <a:xfrm xmlns:a="http://schemas.openxmlformats.org/drawingml/2006/main">
            <a:off x="4267200" y="20193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predecessor-side (Aᵢ)</a:t>
            </a:r>
          </a:p>
        </p:txBody>
      </p:sp>
      <p:sp>
        <p:nvSpPr>
          <p:cNvPr id="17" name="">
            <a:extLst xmlns:a="http://schemas.openxmlformats.org/drawingml/2006/main">
              <a:ext uri="{FF2B5EF4-FFF2-40B4-BE49-F238E27FC236}">
                <a16:creationId xmlns:a16="http://schemas.microsoft.com/office/drawing/2014/main" id="{EFB18510-AE0D-413D-8CCB-A9558B1C87CB}"/>
              </a:ext>
            </a:extLst>
          </p:cNvPr>
          <p:cNvSpPr>
            <a:spLocks xmlns:a="http://schemas.openxmlformats.org/drawingml/2006/main" noGrp="1"/>
          </p:cNvSpPr>
          <p:nvPr/>
        </p:nvSpPr>
        <p:spPr>
          <a:xfrm xmlns:a="http://schemas.openxmlformats.org/drawingml/2006/main">
            <a:off x="7486650" y="19621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8" name="">
            <a:extLst xmlns:a="http://schemas.openxmlformats.org/drawingml/2006/main">
              <a:ext uri="{FF2B5EF4-FFF2-40B4-BE49-F238E27FC236}">
                <a16:creationId xmlns:a16="http://schemas.microsoft.com/office/drawing/2014/main" id="{B0E304E5-D4BF-47F4-B3FC-08E8A8D112EC}"/>
              </a:ext>
            </a:extLst>
          </p:cNvPr>
          <p:cNvSpPr>
            <a:spLocks xmlns:a="http://schemas.openxmlformats.org/drawingml/2006/main" noGrp="1"/>
          </p:cNvSpPr>
          <p:nvPr/>
        </p:nvSpPr>
        <p:spPr>
          <a:xfrm xmlns:a="http://schemas.openxmlformats.org/drawingml/2006/main">
            <a:off x="7562850" y="20193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successor-side (Bᵢ)</a:t>
            </a:r>
          </a:p>
        </p:txBody>
      </p:sp>
      <p:sp>
        <p:nvSpPr>
          <p:cNvPr id="19" name="">
            <a:extLst xmlns:a="http://schemas.openxmlformats.org/drawingml/2006/main">
              <a:ext uri="{FF2B5EF4-FFF2-40B4-BE49-F238E27FC236}">
                <a16:creationId xmlns:a16="http://schemas.microsoft.com/office/drawing/2014/main" id="{40D6F9A4-0B27-43BB-AD88-27FBBC6FE56F}"/>
              </a:ext>
            </a:extLst>
          </p:cNvPr>
          <p:cNvSpPr>
            <a:spLocks xmlns:a="http://schemas.openxmlformats.org/drawingml/2006/main" noGrp="1"/>
          </p:cNvSpPr>
          <p:nvPr/>
        </p:nvSpPr>
        <p:spPr>
          <a:xfrm xmlns:a="http://schemas.openxmlformats.org/drawingml/2006/main">
            <a:off x="876300" y="24765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0" name="">
            <a:extLst xmlns:a="http://schemas.openxmlformats.org/drawingml/2006/main">
              <a:ext uri="{FF2B5EF4-FFF2-40B4-BE49-F238E27FC236}">
                <a16:creationId xmlns:a16="http://schemas.microsoft.com/office/drawing/2014/main" id="{622ECB0C-5B48-4324-A4AA-9B26CB2C87B9}"/>
              </a:ext>
            </a:extLst>
          </p:cNvPr>
          <p:cNvSpPr>
            <a:spLocks xmlns:a="http://schemas.openxmlformats.org/drawingml/2006/main" noGrp="1"/>
          </p:cNvSpPr>
          <p:nvPr/>
        </p:nvSpPr>
        <p:spPr>
          <a:xfrm xmlns:a="http://schemas.openxmlformats.org/drawingml/2006/main">
            <a:off x="952500" y="25336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Boundary insertion</a:t>
            </a:r>
          </a:p>
        </p:txBody>
      </p:sp>
      <p:sp>
        <p:nvSpPr>
          <p:cNvPr id="21" name="">
            <a:extLst xmlns:a="http://schemas.openxmlformats.org/drawingml/2006/main">
              <a:ext uri="{FF2B5EF4-FFF2-40B4-BE49-F238E27FC236}">
                <a16:creationId xmlns:a16="http://schemas.microsoft.com/office/drawing/2014/main" id="{87317F62-B972-4F57-9310-6C4DF84D22D2}"/>
              </a:ext>
            </a:extLst>
          </p:cNvPr>
          <p:cNvSpPr>
            <a:spLocks xmlns:a="http://schemas.openxmlformats.org/drawingml/2006/main" noGrp="1"/>
          </p:cNvSpPr>
          <p:nvPr/>
        </p:nvSpPr>
        <p:spPr>
          <a:xfrm xmlns:a="http://schemas.openxmlformats.org/drawingml/2006/main">
            <a:off x="4191000" y="24765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2" name="">
            <a:extLst xmlns:a="http://schemas.openxmlformats.org/drawingml/2006/main">
              <a:ext uri="{FF2B5EF4-FFF2-40B4-BE49-F238E27FC236}">
                <a16:creationId xmlns:a16="http://schemas.microsoft.com/office/drawing/2014/main" id="{A66B1FAC-32A1-4B4A-AC22-A552D201C6E9}"/>
              </a:ext>
            </a:extLst>
          </p:cNvPr>
          <p:cNvSpPr>
            <a:spLocks xmlns:a="http://schemas.openxmlformats.org/drawingml/2006/main" noGrp="1"/>
          </p:cNvSpPr>
          <p:nvPr/>
        </p:nvSpPr>
        <p:spPr>
          <a:xfrm xmlns:a="http://schemas.openxmlformats.org/drawingml/2006/main">
            <a:off x="4267200" y="25336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after last sibling</a:t>
            </a:r>
          </a:p>
        </p:txBody>
      </p:sp>
      <p:sp>
        <p:nvSpPr>
          <p:cNvPr id="23" name="">
            <a:extLst xmlns:a="http://schemas.openxmlformats.org/drawingml/2006/main">
              <a:ext uri="{FF2B5EF4-FFF2-40B4-BE49-F238E27FC236}">
                <a16:creationId xmlns:a16="http://schemas.microsoft.com/office/drawing/2014/main" id="{9B703F15-FAA9-4220-BC7D-E2C585A4AC54}"/>
              </a:ext>
            </a:extLst>
          </p:cNvPr>
          <p:cNvSpPr>
            <a:spLocks xmlns:a="http://schemas.openxmlformats.org/drawingml/2006/main" noGrp="1"/>
          </p:cNvSpPr>
          <p:nvPr/>
        </p:nvSpPr>
        <p:spPr>
          <a:xfrm xmlns:a="http://schemas.openxmlformats.org/drawingml/2006/main">
            <a:off x="7486650" y="24765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4" name="">
            <a:extLst xmlns:a="http://schemas.openxmlformats.org/drawingml/2006/main">
              <a:ext uri="{FF2B5EF4-FFF2-40B4-BE49-F238E27FC236}">
                <a16:creationId xmlns:a16="http://schemas.microsoft.com/office/drawing/2014/main" id="{8E2A00D9-CB37-4775-8BE6-2986E4490EF1}"/>
              </a:ext>
            </a:extLst>
          </p:cNvPr>
          <p:cNvSpPr>
            <a:spLocks xmlns:a="http://schemas.openxmlformats.org/drawingml/2006/main" noGrp="1"/>
          </p:cNvSpPr>
          <p:nvPr/>
        </p:nvSpPr>
        <p:spPr>
          <a:xfrm xmlns:a="http://schemas.openxmlformats.org/drawingml/2006/main">
            <a:off x="7562850" y="25336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before first sibling</a:t>
            </a:r>
          </a:p>
        </p:txBody>
      </p:sp>
      <p:sp>
        <p:nvSpPr>
          <p:cNvPr id="25" name="">
            <a:extLst xmlns:a="http://schemas.openxmlformats.org/drawingml/2006/main">
              <a:ext uri="{FF2B5EF4-FFF2-40B4-BE49-F238E27FC236}">
                <a16:creationId xmlns:a16="http://schemas.microsoft.com/office/drawing/2014/main" id="{7871DBC8-D89D-49DE-80F2-CF6EE459E844}"/>
              </a:ext>
            </a:extLst>
          </p:cNvPr>
          <p:cNvSpPr>
            <a:spLocks xmlns:a="http://schemas.openxmlformats.org/drawingml/2006/main" noGrp="1"/>
          </p:cNvSpPr>
          <p:nvPr/>
        </p:nvSpPr>
        <p:spPr>
          <a:xfrm xmlns:a="http://schemas.openxmlformats.org/drawingml/2006/main">
            <a:off x="876300" y="29908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6" name="">
            <a:extLst xmlns:a="http://schemas.openxmlformats.org/drawingml/2006/main">
              <a:ext uri="{FF2B5EF4-FFF2-40B4-BE49-F238E27FC236}">
                <a16:creationId xmlns:a16="http://schemas.microsoft.com/office/drawing/2014/main" id="{80069BDC-A70D-4CF1-8468-AECE1A857D76}"/>
              </a:ext>
            </a:extLst>
          </p:cNvPr>
          <p:cNvSpPr>
            <a:spLocks xmlns:a="http://schemas.openxmlformats.org/drawingml/2006/main" noGrp="1"/>
          </p:cNvSpPr>
          <p:nvPr/>
        </p:nvSpPr>
        <p:spPr>
          <a:xfrm xmlns:a="http://schemas.openxmlformats.org/drawingml/2006/main">
            <a:off x="952500" y="30480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Step 3(b) boundary</a:t>
            </a:r>
          </a:p>
        </p:txBody>
      </p:sp>
      <p:sp>
        <p:nvSpPr>
          <p:cNvPr id="27" name="">
            <a:extLst xmlns:a="http://schemas.openxmlformats.org/drawingml/2006/main">
              <a:ext uri="{FF2B5EF4-FFF2-40B4-BE49-F238E27FC236}">
                <a16:creationId xmlns:a16="http://schemas.microsoft.com/office/drawing/2014/main" id="{A121321F-C975-4E8F-A240-B7EAE3641A07}"/>
              </a:ext>
            </a:extLst>
          </p:cNvPr>
          <p:cNvSpPr>
            <a:spLocks xmlns:a="http://schemas.openxmlformats.org/drawingml/2006/main" noGrp="1"/>
          </p:cNvSpPr>
          <p:nvPr/>
        </p:nvSpPr>
        <p:spPr>
          <a:xfrm xmlns:a="http://schemas.openxmlformats.org/drawingml/2006/main">
            <a:off x="4191000" y="29908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8" name="">
            <a:extLst xmlns:a="http://schemas.openxmlformats.org/drawingml/2006/main">
              <a:ext uri="{FF2B5EF4-FFF2-40B4-BE49-F238E27FC236}">
                <a16:creationId xmlns:a16="http://schemas.microsoft.com/office/drawing/2014/main" id="{595ED523-730B-425D-AF7A-86589D80074E}"/>
              </a:ext>
            </a:extLst>
          </p:cNvPr>
          <p:cNvSpPr>
            <a:spLocks xmlns:a="http://schemas.openxmlformats.org/drawingml/2006/main" noGrp="1"/>
          </p:cNvSpPr>
          <p:nvPr/>
        </p:nvSpPr>
        <p:spPr>
          <a:xfrm xmlns:a="http://schemas.openxmlformats.org/drawingml/2006/main">
            <a:off x="4267200" y="30480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successor-side (Bᵢ)</a:t>
            </a:r>
          </a:p>
        </p:txBody>
      </p:sp>
      <p:sp>
        <p:nvSpPr>
          <p:cNvPr id="29" name="">
            <a:extLst xmlns:a="http://schemas.openxmlformats.org/drawingml/2006/main">
              <a:ext uri="{FF2B5EF4-FFF2-40B4-BE49-F238E27FC236}">
                <a16:creationId xmlns:a16="http://schemas.microsoft.com/office/drawing/2014/main" id="{AC1305E1-3007-4126-8719-124308664364}"/>
              </a:ext>
            </a:extLst>
          </p:cNvPr>
          <p:cNvSpPr>
            <a:spLocks xmlns:a="http://schemas.openxmlformats.org/drawingml/2006/main" noGrp="1"/>
          </p:cNvSpPr>
          <p:nvPr/>
        </p:nvSpPr>
        <p:spPr>
          <a:xfrm xmlns:a="http://schemas.openxmlformats.org/drawingml/2006/main">
            <a:off x="7486650" y="29908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0" name="">
            <a:extLst xmlns:a="http://schemas.openxmlformats.org/drawingml/2006/main">
              <a:ext uri="{FF2B5EF4-FFF2-40B4-BE49-F238E27FC236}">
                <a16:creationId xmlns:a16="http://schemas.microsoft.com/office/drawing/2014/main" id="{53F90005-6A58-48D5-9C54-F2E983EC35A8}"/>
              </a:ext>
            </a:extLst>
          </p:cNvPr>
          <p:cNvSpPr>
            <a:spLocks xmlns:a="http://schemas.openxmlformats.org/drawingml/2006/main" noGrp="1"/>
          </p:cNvSpPr>
          <p:nvPr/>
        </p:nvSpPr>
        <p:spPr>
          <a:xfrm xmlns:a="http://schemas.openxmlformats.org/drawingml/2006/main">
            <a:off x="7562850" y="30480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predecessor-side (Aᵢ)</a:t>
            </a:r>
          </a:p>
        </p:txBody>
      </p:sp>
      <p:sp>
        <p:nvSpPr>
          <p:cNvPr id="31" name="">
            <a:extLst xmlns:a="http://schemas.openxmlformats.org/drawingml/2006/main">
              <a:ext uri="{FF2B5EF4-FFF2-40B4-BE49-F238E27FC236}">
                <a16:creationId xmlns:a16="http://schemas.microsoft.com/office/drawing/2014/main" id="{5878E33E-173D-4575-B6C5-A442958E909B}"/>
              </a:ext>
            </a:extLst>
          </p:cNvPr>
          <p:cNvSpPr>
            <a:spLocks xmlns:a="http://schemas.openxmlformats.org/drawingml/2006/main" noGrp="1"/>
          </p:cNvSpPr>
          <p:nvPr/>
        </p:nvSpPr>
        <p:spPr>
          <a:xfrm xmlns:a="http://schemas.openxmlformats.org/drawingml/2006/main">
            <a:off x="876300" y="35052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2" name="">
            <a:extLst xmlns:a="http://schemas.openxmlformats.org/drawingml/2006/main">
              <a:ext uri="{FF2B5EF4-FFF2-40B4-BE49-F238E27FC236}">
                <a16:creationId xmlns:a16="http://schemas.microsoft.com/office/drawing/2014/main" id="{30CC8726-A208-46C7-AB99-9310CBF3BE79}"/>
              </a:ext>
            </a:extLst>
          </p:cNvPr>
          <p:cNvSpPr>
            <a:spLocks xmlns:a="http://schemas.openxmlformats.org/drawingml/2006/main" noGrp="1"/>
          </p:cNvSpPr>
          <p:nvPr/>
        </p:nvSpPr>
        <p:spPr>
          <a:xfrm xmlns:a="http://schemas.openxmlformats.org/drawingml/2006/main">
            <a:off x="952500" y="35623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Acquired split side</a:t>
            </a:r>
          </a:p>
        </p:txBody>
      </p:sp>
      <p:sp>
        <p:nvSpPr>
          <p:cNvPr id="33" name="">
            <a:extLst xmlns:a="http://schemas.openxmlformats.org/drawingml/2006/main">
              <a:ext uri="{FF2B5EF4-FFF2-40B4-BE49-F238E27FC236}">
                <a16:creationId xmlns:a16="http://schemas.microsoft.com/office/drawing/2014/main" id="{E5B3525E-F389-4A9B-B7C9-A45582691F34}"/>
              </a:ext>
            </a:extLst>
          </p:cNvPr>
          <p:cNvSpPr>
            <a:spLocks xmlns:a="http://schemas.openxmlformats.org/drawingml/2006/main" noGrp="1"/>
          </p:cNvSpPr>
          <p:nvPr/>
        </p:nvSpPr>
        <p:spPr>
          <a:xfrm xmlns:a="http://schemas.openxmlformats.org/drawingml/2006/main">
            <a:off x="4191000" y="35052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4" name="">
            <a:extLst xmlns:a="http://schemas.openxmlformats.org/drawingml/2006/main">
              <a:ext uri="{FF2B5EF4-FFF2-40B4-BE49-F238E27FC236}">
                <a16:creationId xmlns:a16="http://schemas.microsoft.com/office/drawing/2014/main" id="{2A3E6956-9F44-4380-B64C-F8A36D430A33}"/>
              </a:ext>
            </a:extLst>
          </p:cNvPr>
          <p:cNvSpPr>
            <a:spLocks xmlns:a="http://schemas.openxmlformats.org/drawingml/2006/main" noGrp="1"/>
          </p:cNvSpPr>
          <p:nvPr/>
        </p:nvSpPr>
        <p:spPr>
          <a:xfrm xmlns:a="http://schemas.openxmlformats.org/drawingml/2006/main">
            <a:off x="4267200" y="35623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left</a:t>
            </a:r>
          </a:p>
        </p:txBody>
      </p:sp>
      <p:sp>
        <p:nvSpPr>
          <p:cNvPr id="35" name="">
            <a:extLst xmlns:a="http://schemas.openxmlformats.org/drawingml/2006/main">
              <a:ext uri="{FF2B5EF4-FFF2-40B4-BE49-F238E27FC236}">
                <a16:creationId xmlns:a16="http://schemas.microsoft.com/office/drawing/2014/main" id="{DCA3A797-CA0E-4106-9BDB-37E6C343FCA8}"/>
              </a:ext>
            </a:extLst>
          </p:cNvPr>
          <p:cNvSpPr>
            <a:spLocks xmlns:a="http://schemas.openxmlformats.org/drawingml/2006/main" noGrp="1"/>
          </p:cNvSpPr>
          <p:nvPr/>
        </p:nvSpPr>
        <p:spPr>
          <a:xfrm xmlns:a="http://schemas.openxmlformats.org/drawingml/2006/main">
            <a:off x="7486650" y="35052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6" name="">
            <a:extLst xmlns:a="http://schemas.openxmlformats.org/drawingml/2006/main">
              <a:ext uri="{FF2B5EF4-FFF2-40B4-BE49-F238E27FC236}">
                <a16:creationId xmlns:a16="http://schemas.microsoft.com/office/drawing/2014/main" id="{6E7DF21C-7910-4B19-8821-597E9535539D}"/>
              </a:ext>
            </a:extLst>
          </p:cNvPr>
          <p:cNvSpPr>
            <a:spLocks xmlns:a="http://schemas.openxmlformats.org/drawingml/2006/main" noGrp="1"/>
          </p:cNvSpPr>
          <p:nvPr/>
        </p:nvSpPr>
        <p:spPr>
          <a:xfrm xmlns:a="http://schemas.openxmlformats.org/drawingml/2006/main">
            <a:off x="7562850" y="35623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right</a:t>
            </a:r>
          </a:p>
        </p:txBody>
      </p:sp>
      <p:sp>
        <p:nvSpPr>
          <p:cNvPr id="37" name="">
            <a:extLst xmlns:a="http://schemas.openxmlformats.org/drawingml/2006/main">
              <a:ext uri="{FF2B5EF4-FFF2-40B4-BE49-F238E27FC236}">
                <a16:creationId xmlns:a16="http://schemas.microsoft.com/office/drawing/2014/main" id="{987084B1-BBD5-4975-B367-3267B87F95E3}"/>
              </a:ext>
            </a:extLst>
          </p:cNvPr>
          <p:cNvSpPr>
            <a:spLocks xmlns:a="http://schemas.openxmlformats.org/drawingml/2006/main" noGrp="1"/>
          </p:cNvSpPr>
          <p:nvPr/>
        </p:nvSpPr>
        <p:spPr>
          <a:xfrm xmlns:a="http://schemas.openxmlformats.org/drawingml/2006/main">
            <a:off x="876300" y="40195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8" name="">
            <a:extLst xmlns:a="http://schemas.openxmlformats.org/drawingml/2006/main">
              <a:ext uri="{FF2B5EF4-FFF2-40B4-BE49-F238E27FC236}">
                <a16:creationId xmlns:a16="http://schemas.microsoft.com/office/drawing/2014/main" id="{E571C058-03A2-4EB0-941A-9F1F592969F4}"/>
              </a:ext>
            </a:extLst>
          </p:cNvPr>
          <p:cNvSpPr>
            <a:spLocks xmlns:a="http://schemas.openxmlformats.org/drawingml/2006/main" noGrp="1"/>
          </p:cNvSpPr>
          <p:nvPr/>
        </p:nvSpPr>
        <p:spPr>
          <a:xfrm xmlns:a="http://schemas.openxmlformats.org/drawingml/2006/main">
            <a:off x="952500" y="40767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Child extreme</a:t>
            </a:r>
          </a:p>
        </p:txBody>
      </p:sp>
      <p:sp>
        <p:nvSpPr>
          <p:cNvPr id="39" name="">
            <a:extLst xmlns:a="http://schemas.openxmlformats.org/drawingml/2006/main">
              <a:ext uri="{FF2B5EF4-FFF2-40B4-BE49-F238E27FC236}">
                <a16:creationId xmlns:a16="http://schemas.microsoft.com/office/drawing/2014/main" id="{3E7B63C3-2DE0-460F-8EDA-6ED43D6AD2F7}"/>
              </a:ext>
            </a:extLst>
          </p:cNvPr>
          <p:cNvSpPr>
            <a:spLocks xmlns:a="http://schemas.openxmlformats.org/drawingml/2006/main" noGrp="1"/>
          </p:cNvSpPr>
          <p:nvPr/>
        </p:nvSpPr>
        <p:spPr>
          <a:xfrm xmlns:a="http://schemas.openxmlformats.org/drawingml/2006/main">
            <a:off x="4191000" y="40195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0" name="">
            <a:extLst xmlns:a="http://schemas.openxmlformats.org/drawingml/2006/main">
              <a:ext uri="{FF2B5EF4-FFF2-40B4-BE49-F238E27FC236}">
                <a16:creationId xmlns:a16="http://schemas.microsoft.com/office/drawing/2014/main" id="{030C4696-B30A-4B80-A04D-0018B7F999AD}"/>
              </a:ext>
            </a:extLst>
          </p:cNvPr>
          <p:cNvSpPr>
            <a:spLocks xmlns:a="http://schemas.openxmlformats.org/drawingml/2006/main" noGrp="1"/>
          </p:cNvSpPr>
          <p:nvPr/>
        </p:nvSpPr>
        <p:spPr>
          <a:xfrm xmlns:a="http://schemas.openxmlformats.org/drawingml/2006/main">
            <a:off x="4267200" y="40767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rightmost child</a:t>
            </a:r>
          </a:p>
        </p:txBody>
      </p:sp>
      <p:sp>
        <p:nvSpPr>
          <p:cNvPr id="41" name="">
            <a:extLst xmlns:a="http://schemas.openxmlformats.org/drawingml/2006/main">
              <a:ext uri="{FF2B5EF4-FFF2-40B4-BE49-F238E27FC236}">
                <a16:creationId xmlns:a16="http://schemas.microsoft.com/office/drawing/2014/main" id="{02202C7C-B7AC-40E7-8A28-E2A61E49D6CA}"/>
              </a:ext>
            </a:extLst>
          </p:cNvPr>
          <p:cNvSpPr>
            <a:spLocks xmlns:a="http://schemas.openxmlformats.org/drawingml/2006/main" noGrp="1"/>
          </p:cNvSpPr>
          <p:nvPr/>
        </p:nvSpPr>
        <p:spPr>
          <a:xfrm xmlns:a="http://schemas.openxmlformats.org/drawingml/2006/main">
            <a:off x="7486650" y="40195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2" name="">
            <a:extLst xmlns:a="http://schemas.openxmlformats.org/drawingml/2006/main">
              <a:ext uri="{FF2B5EF4-FFF2-40B4-BE49-F238E27FC236}">
                <a16:creationId xmlns:a16="http://schemas.microsoft.com/office/drawing/2014/main" id="{5275377E-A1F6-40CE-8614-94D61D2A44EB}"/>
              </a:ext>
            </a:extLst>
          </p:cNvPr>
          <p:cNvSpPr>
            <a:spLocks xmlns:a="http://schemas.openxmlformats.org/drawingml/2006/main" noGrp="1"/>
          </p:cNvSpPr>
          <p:nvPr/>
        </p:nvSpPr>
        <p:spPr>
          <a:xfrm xmlns:a="http://schemas.openxmlformats.org/drawingml/2006/main">
            <a:off x="7562850" y="40767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leftmost child</a:t>
            </a:r>
          </a:p>
        </p:txBody>
      </p:sp>
      <p:sp>
        <p:nvSpPr>
          <p:cNvPr id="43" name="">
            <a:extLst xmlns:a="http://schemas.openxmlformats.org/drawingml/2006/main">
              <a:ext uri="{FF2B5EF4-FFF2-40B4-BE49-F238E27FC236}">
                <a16:creationId xmlns:a16="http://schemas.microsoft.com/office/drawing/2014/main" id="{FFD1FB87-C018-45FA-895C-CDD0A10E5A2D}"/>
              </a:ext>
            </a:extLst>
          </p:cNvPr>
          <p:cNvSpPr>
            <a:spLocks xmlns:a="http://schemas.openxmlformats.org/drawingml/2006/main" noGrp="1"/>
          </p:cNvSpPr>
          <p:nvPr/>
        </p:nvSpPr>
        <p:spPr>
          <a:xfrm xmlns:a="http://schemas.openxmlformats.org/drawingml/2006/main">
            <a:off x="876300" y="45339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4" name="">
            <a:extLst xmlns:a="http://schemas.openxmlformats.org/drawingml/2006/main">
              <a:ext uri="{FF2B5EF4-FFF2-40B4-BE49-F238E27FC236}">
                <a16:creationId xmlns:a16="http://schemas.microsoft.com/office/drawing/2014/main" id="{CCE261C8-64F6-45D7-983E-A2FF9449D609}"/>
              </a:ext>
            </a:extLst>
          </p:cNvPr>
          <p:cNvSpPr>
            <a:spLocks xmlns:a="http://schemas.openxmlformats.org/drawingml/2006/main" noGrp="1"/>
          </p:cNvSpPr>
          <p:nvPr/>
        </p:nvSpPr>
        <p:spPr>
          <a:xfrm xmlns:a="http://schemas.openxmlformats.org/drawingml/2006/main">
            <a:off x="952500" y="45910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Geometric anchor</a:t>
            </a:r>
          </a:p>
        </p:txBody>
      </p:sp>
      <p:sp>
        <p:nvSpPr>
          <p:cNvPr id="45" name="">
            <a:extLst xmlns:a="http://schemas.openxmlformats.org/drawingml/2006/main">
              <a:ext uri="{FF2B5EF4-FFF2-40B4-BE49-F238E27FC236}">
                <a16:creationId xmlns:a16="http://schemas.microsoft.com/office/drawing/2014/main" id="{4C3DF091-66CE-40E1-9752-5919581C9025}"/>
              </a:ext>
            </a:extLst>
          </p:cNvPr>
          <p:cNvSpPr>
            <a:spLocks xmlns:a="http://schemas.openxmlformats.org/drawingml/2006/main" noGrp="1"/>
          </p:cNvSpPr>
          <p:nvPr/>
        </p:nvSpPr>
        <p:spPr>
          <a:xfrm xmlns:a="http://schemas.openxmlformats.org/drawingml/2006/main">
            <a:off x="4191000" y="45339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6" name="">
            <a:extLst xmlns:a="http://schemas.openxmlformats.org/drawingml/2006/main">
              <a:ext uri="{FF2B5EF4-FFF2-40B4-BE49-F238E27FC236}">
                <a16:creationId xmlns:a16="http://schemas.microsoft.com/office/drawing/2014/main" id="{2FEA7439-3CCC-42F4-A70E-5971FA72D4AE}"/>
              </a:ext>
            </a:extLst>
          </p:cNvPr>
          <p:cNvSpPr>
            <a:spLocks xmlns:a="http://schemas.openxmlformats.org/drawingml/2006/main" noGrp="1"/>
          </p:cNvSpPr>
          <p:nvPr/>
        </p:nvSpPr>
        <p:spPr>
          <a:xfrm xmlns:a="http://schemas.openxmlformats.org/drawingml/2006/main">
            <a:off x="4267200" y="45910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right endpoint</a:t>
            </a:r>
          </a:p>
        </p:txBody>
      </p:sp>
      <p:sp>
        <p:nvSpPr>
          <p:cNvPr id="47" name="">
            <a:extLst xmlns:a="http://schemas.openxmlformats.org/drawingml/2006/main">
              <a:ext uri="{FF2B5EF4-FFF2-40B4-BE49-F238E27FC236}">
                <a16:creationId xmlns:a16="http://schemas.microsoft.com/office/drawing/2014/main" id="{ECA9F610-408B-4759-AE80-E9FACF71CE51}"/>
              </a:ext>
            </a:extLst>
          </p:cNvPr>
          <p:cNvSpPr>
            <a:spLocks xmlns:a="http://schemas.openxmlformats.org/drawingml/2006/main" noGrp="1"/>
          </p:cNvSpPr>
          <p:nvPr/>
        </p:nvSpPr>
        <p:spPr>
          <a:xfrm xmlns:a="http://schemas.openxmlformats.org/drawingml/2006/main">
            <a:off x="7486650" y="45339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8" name="">
            <a:extLst xmlns:a="http://schemas.openxmlformats.org/drawingml/2006/main">
              <a:ext uri="{FF2B5EF4-FFF2-40B4-BE49-F238E27FC236}">
                <a16:creationId xmlns:a16="http://schemas.microsoft.com/office/drawing/2014/main" id="{6E92AE2A-DA20-4AA1-B64D-0CE4C9C9844A}"/>
              </a:ext>
            </a:extLst>
          </p:cNvPr>
          <p:cNvSpPr>
            <a:spLocks xmlns:a="http://schemas.openxmlformats.org/drawingml/2006/main" noGrp="1"/>
          </p:cNvSpPr>
          <p:nvPr/>
        </p:nvSpPr>
        <p:spPr>
          <a:xfrm xmlns:a="http://schemas.openxmlformats.org/drawingml/2006/main">
            <a:off x="7562850" y="45910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left endpoint</a:t>
            </a:r>
          </a:p>
        </p:txBody>
      </p:sp>
      <p:sp>
        <p:nvSpPr>
          <p:cNvPr id="49" name="">
            <a:extLst xmlns:a="http://schemas.openxmlformats.org/drawingml/2006/main">
              <a:ext uri="{FF2B5EF4-FFF2-40B4-BE49-F238E27FC236}">
                <a16:creationId xmlns:a16="http://schemas.microsoft.com/office/drawing/2014/main" id="{AC936FA3-E09C-4546-80E8-806D7D661346}"/>
              </a:ext>
            </a:extLst>
          </p:cNvPr>
          <p:cNvSpPr>
            <a:spLocks xmlns:a="http://schemas.openxmlformats.org/drawingml/2006/main" noGrp="1"/>
          </p:cNvSpPr>
          <p:nvPr/>
        </p:nvSpPr>
        <p:spPr>
          <a:xfrm xmlns:a="http://schemas.openxmlformats.org/drawingml/2006/main">
            <a:off x="876300" y="50482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0" name="">
            <a:extLst xmlns:a="http://schemas.openxmlformats.org/drawingml/2006/main">
              <a:ext uri="{FF2B5EF4-FFF2-40B4-BE49-F238E27FC236}">
                <a16:creationId xmlns:a16="http://schemas.microsoft.com/office/drawing/2014/main" id="{1DF122EE-1FDD-4C13-9460-50B3FED57DDB}"/>
              </a:ext>
            </a:extLst>
          </p:cNvPr>
          <p:cNvSpPr>
            <a:spLocks xmlns:a="http://schemas.openxmlformats.org/drawingml/2006/main" noGrp="1"/>
          </p:cNvSpPr>
          <p:nvPr/>
        </p:nvSpPr>
        <p:spPr>
          <a:xfrm xmlns:a="http://schemas.openxmlformats.org/drawingml/2006/main">
            <a:off x="952500" y="51054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Output insertion</a:t>
            </a:r>
          </a:p>
        </p:txBody>
      </p:sp>
      <p:sp>
        <p:nvSpPr>
          <p:cNvPr id="51" name="">
            <a:extLst xmlns:a="http://schemas.openxmlformats.org/drawingml/2006/main">
              <a:ext uri="{FF2B5EF4-FFF2-40B4-BE49-F238E27FC236}">
                <a16:creationId xmlns:a16="http://schemas.microsoft.com/office/drawing/2014/main" id="{86C54C1F-66DF-4F72-9F14-66B011B84A0D}"/>
              </a:ext>
            </a:extLst>
          </p:cNvPr>
          <p:cNvSpPr>
            <a:spLocks xmlns:a="http://schemas.openxmlformats.org/drawingml/2006/main" noGrp="1"/>
          </p:cNvSpPr>
          <p:nvPr/>
        </p:nvSpPr>
        <p:spPr>
          <a:xfrm xmlns:a="http://schemas.openxmlformats.org/drawingml/2006/main">
            <a:off x="4191000" y="50482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2" name="">
            <a:extLst xmlns:a="http://schemas.openxmlformats.org/drawingml/2006/main">
              <a:ext uri="{FF2B5EF4-FFF2-40B4-BE49-F238E27FC236}">
                <a16:creationId xmlns:a16="http://schemas.microsoft.com/office/drawing/2014/main" id="{AF17920F-38FE-4986-81BC-FFB10D7D434F}"/>
              </a:ext>
            </a:extLst>
          </p:cNvPr>
          <p:cNvSpPr>
            <a:spLocks xmlns:a="http://schemas.openxmlformats.org/drawingml/2006/main" noGrp="1"/>
          </p:cNvSpPr>
          <p:nvPr/>
        </p:nvSpPr>
        <p:spPr>
          <a:xfrm xmlns:a="http://schemas.openxmlformats.org/drawingml/2006/main">
            <a:off x="4267200" y="51054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after anchor</a:t>
            </a:r>
          </a:p>
        </p:txBody>
      </p:sp>
      <p:sp>
        <p:nvSpPr>
          <p:cNvPr id="53" name="">
            <a:extLst xmlns:a="http://schemas.openxmlformats.org/drawingml/2006/main">
              <a:ext uri="{FF2B5EF4-FFF2-40B4-BE49-F238E27FC236}">
                <a16:creationId xmlns:a16="http://schemas.microsoft.com/office/drawing/2014/main" id="{F448E09F-DF49-416A-B16B-0F674810C3D4}"/>
              </a:ext>
            </a:extLst>
          </p:cNvPr>
          <p:cNvSpPr>
            <a:spLocks xmlns:a="http://schemas.openxmlformats.org/drawingml/2006/main" noGrp="1"/>
          </p:cNvSpPr>
          <p:nvPr/>
        </p:nvSpPr>
        <p:spPr>
          <a:xfrm xmlns:a="http://schemas.openxmlformats.org/drawingml/2006/main">
            <a:off x="7486650" y="50482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4" name="">
            <a:extLst xmlns:a="http://schemas.openxmlformats.org/drawingml/2006/main">
              <a:ext uri="{FF2B5EF4-FFF2-40B4-BE49-F238E27FC236}">
                <a16:creationId xmlns:a16="http://schemas.microsoft.com/office/drawing/2014/main" id="{456A6E05-A7BE-4911-883F-F009F48ED313}"/>
              </a:ext>
            </a:extLst>
          </p:cNvPr>
          <p:cNvSpPr>
            <a:spLocks xmlns:a="http://schemas.openxmlformats.org/drawingml/2006/main" noGrp="1"/>
          </p:cNvSpPr>
          <p:nvPr/>
        </p:nvSpPr>
        <p:spPr>
          <a:xfrm xmlns:a="http://schemas.openxmlformats.org/drawingml/2006/main">
            <a:off x="7562850" y="51054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before anchor</a:t>
            </a:r>
          </a:p>
        </p:txBody>
      </p:sp>
      <p:sp>
        <p:nvSpPr>
          <p:cNvPr id="55" name="">
            <a:extLst xmlns:a="http://schemas.openxmlformats.org/drawingml/2006/main">
              <a:ext uri="{FF2B5EF4-FFF2-40B4-BE49-F238E27FC236}">
                <a16:creationId xmlns:a16="http://schemas.microsoft.com/office/drawing/2014/main" id="{667E8EAA-3089-4DD9-BB99-A18C94742DC0}"/>
              </a:ext>
            </a:extLst>
          </p:cNvPr>
          <p:cNvSpPr>
            <a:spLocks xmlns:a="http://schemas.openxmlformats.org/drawingml/2006/main" noGrp="1"/>
          </p:cNvSpPr>
          <p:nvPr/>
        </p:nvSpPr>
        <p:spPr>
          <a:xfrm xmlns:a="http://schemas.openxmlformats.org/drawingml/2006/main">
            <a:off x="1143000" y="5734050"/>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Step 1 always selects Aᵢ and Step 2 always selects Bᵢ; Step 3 reflects how those boundaries are used.</a:t>
            </a:r>
          </a:p>
        </p:txBody>
      </p:sp>
    </p:spTree>
    <p:extLst>
      <p:ext uri="{BB962C8B-B14F-4D97-AF65-F5344CB8AC3E}">
        <p14:creationId xmlns:p14="http://schemas.microsoft.com/office/powerpoint/2010/main" val="1872941890"/>
      </p:ext>
    </p:extLst>
  </p:cSld>
</p:sld>
</file>

<file path=ppt/slides/slide2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A987C8D-9E3F-43EC-8767-79EDDB0096C8}"/>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E</a:t>
            </a:r>
          </a:p>
        </p:txBody>
      </p:sp>
      <p:sp>
        <p:nvSpPr>
          <p:cNvPr id="2" name="">
            <a:extLst xmlns:a="http://schemas.openxmlformats.org/drawingml/2006/main">
              <a:ext uri="{FF2B5EF4-FFF2-40B4-BE49-F238E27FC236}">
                <a16:creationId xmlns:a16="http://schemas.microsoft.com/office/drawing/2014/main" id="{FD4BBEB4-6F06-46D3-B860-BBF310A7A401}"/>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Proposed finger-tree backend boundary</a:t>
            </a:r>
          </a:p>
        </p:txBody>
      </p:sp>
      <p:sp>
        <p:nvSpPr>
          <p:cNvPr id="3" name="">
            <a:extLst xmlns:a="http://schemas.openxmlformats.org/drawingml/2006/main">
              <a:ext uri="{FF2B5EF4-FFF2-40B4-BE49-F238E27FC236}">
                <a16:creationId xmlns:a16="http://schemas.microsoft.com/office/drawing/2014/main" id="{4617027A-D1A1-48B7-8B0E-3517407B80BB}"/>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32BDFF57-D1B6-4A19-B836-CF83FDF900E4}"/>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3AAB2B19-2702-45C9-BCF3-389B54AC7145}"/>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DF9C3D5F-0FEF-44EF-9BD7-2DD568E27B33}"/>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E</a:t>
            </a:r>
          </a:p>
        </p:txBody>
      </p:sp>
      <p:sp>
        <p:nvSpPr>
          <p:cNvPr id="7" name="">
            <a:extLst xmlns:a="http://schemas.openxmlformats.org/drawingml/2006/main">
              <a:ext uri="{FF2B5EF4-FFF2-40B4-BE49-F238E27FC236}">
                <a16:creationId xmlns:a16="http://schemas.microsoft.com/office/drawing/2014/main" id="{28650EA6-6706-445A-A199-0F101675E896}"/>
              </a:ext>
            </a:extLst>
          </p:cNvPr>
          <p:cNvSpPr>
            <a:spLocks xmlns:a="http://schemas.openxmlformats.org/drawingml/2006/main" noGrp="1"/>
          </p:cNvSpPr>
          <p:nvPr/>
        </p:nvSpPr>
        <p:spPr>
          <a:xfrm xmlns:a="http://schemas.openxmlformats.org/drawingml/2006/main">
            <a:off x="895350" y="1524000"/>
            <a:ext cx="2762250" cy="685800"/>
          </a:xfrm>
          <a:prstGeom xmlns:a="http://schemas.openxmlformats.org/drawingml/2006/main" prst="roundRect">
            <a:avLst>
              <a:gd name="adj" fmla="val 11111"/>
            </a:avLst>
          </a:prstGeom>
          <a:solidFill xmlns:a="http://schemas.openxmlformats.org/drawingml/2006/main">
            <a:srgbClr val="E8F5F3"/>
          </a:solidFill>
          <a:ln xmlns:a="http://schemas.openxmlformats.org/drawingml/2006/main" w="14288">
            <a:solidFill>
              <a:srgbClr val="2A9D8F"/>
            </a:solidFill>
            <a:prstDash val="solid"/>
          </a:ln>
        </p:spPr>
      </p:sp>
      <p:sp>
        <p:nvSpPr>
          <p:cNvPr id="8" name="">
            <a:extLst xmlns:a="http://schemas.openxmlformats.org/drawingml/2006/main">
              <a:ext uri="{FF2B5EF4-FFF2-40B4-BE49-F238E27FC236}">
                <a16:creationId xmlns:a16="http://schemas.microsoft.com/office/drawing/2014/main" id="{21AC5CC1-8BAC-4982-9CDC-3BFE5DA67DB5}"/>
              </a:ext>
            </a:extLst>
          </p:cNvPr>
          <p:cNvSpPr>
            <a:spLocks xmlns:a="http://schemas.openxmlformats.org/drawingml/2006/main" noGrp="1"/>
          </p:cNvSpPr>
          <p:nvPr/>
        </p:nvSpPr>
        <p:spPr>
          <a:xfrm xmlns:a="http://schemas.openxmlformats.org/drawingml/2006/main">
            <a:off x="1028700" y="1657350"/>
            <a:ext cx="2495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Paper Step 1/2/3</a:t>
            </a:r>
          </a:p>
        </p:txBody>
      </p:sp>
      <p:sp>
        <p:nvSpPr>
          <p:cNvPr id="9" name="">
            <a:extLst xmlns:a="http://schemas.openxmlformats.org/drawingml/2006/main">
              <a:ext uri="{FF2B5EF4-FFF2-40B4-BE49-F238E27FC236}">
                <a16:creationId xmlns:a16="http://schemas.microsoft.com/office/drawing/2014/main" id="{4D5BAB35-E479-468D-8CE9-F1A35EF00C3C}"/>
              </a:ext>
            </a:extLst>
          </p:cNvPr>
          <p:cNvSpPr>
            <a:spLocks xmlns:a="http://schemas.openxmlformats.org/drawingml/2006/main" noGrp="1"/>
          </p:cNvSpPr>
          <p:nvPr/>
        </p:nvSpPr>
        <p:spPr>
          <a:xfrm xmlns:a="http://schemas.openxmlformats.org/drawingml/2006/main">
            <a:off x="4762500" y="1409700"/>
            <a:ext cx="6534150" cy="91440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14288">
            <a:solidFill>
              <a:srgbClr val="102A43"/>
            </a:solidFill>
            <a:prstDash val="solid"/>
          </a:ln>
        </p:spPr>
      </p:sp>
      <p:sp>
        <p:nvSpPr>
          <p:cNvPr id="10" name="">
            <a:extLst xmlns:a="http://schemas.openxmlformats.org/drawingml/2006/main">
              <a:ext uri="{FF2B5EF4-FFF2-40B4-BE49-F238E27FC236}">
                <a16:creationId xmlns:a16="http://schemas.microsoft.com/office/drawing/2014/main" id="{FB805653-5DD6-47FA-9251-A82FA6872079}"/>
              </a:ext>
            </a:extLst>
          </p:cNvPr>
          <p:cNvSpPr>
            <a:spLocks xmlns:a="http://schemas.openxmlformats.org/drawingml/2006/main" noGrp="1"/>
          </p:cNvSpPr>
          <p:nvPr/>
        </p:nvSpPr>
        <p:spPr>
          <a:xfrm xmlns:a="http://schemas.openxmlformats.org/drawingml/2006/main">
            <a:off x="4953000" y="1485900"/>
            <a:ext cx="6153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Sibling-list backend interface</a:t>
            </a:r>
          </a:p>
        </p:txBody>
      </p:sp>
      <p:sp>
        <p:nvSpPr>
          <p:cNvPr id="11" name="">
            <a:extLst xmlns:a="http://schemas.openxmlformats.org/drawingml/2006/main">
              <a:ext uri="{FF2B5EF4-FFF2-40B4-BE49-F238E27FC236}">
                <a16:creationId xmlns:a16="http://schemas.microsoft.com/office/drawing/2014/main" id="{5648ACD7-F52E-4839-8669-030AAF84641C}"/>
              </a:ext>
            </a:extLst>
          </p:cNvPr>
          <p:cNvSpPr>
            <a:spLocks xmlns:a="http://schemas.openxmlformats.org/drawingml/2006/main" noGrp="1"/>
          </p:cNvSpPr>
          <p:nvPr/>
        </p:nvSpPr>
        <p:spPr>
          <a:xfrm xmlns:a="http://schemas.openxmlformats.org/drawingml/2006/main">
            <a:off x="4991100" y="1847850"/>
            <a:ext cx="6076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0" i="0">
                <a:solidFill>
                  <a:srgbClr val="52606D"/>
                </a:solidFill>
              </a:defRPr>
            </a:pPr>
            <a:r>
              <a:rPr sz="1050" b="0" i="0">
                <a:solidFill>
                  <a:srgbClr val="52606D"/>
                </a:solidFill>
              </a:rPr>
              <a:t>make singleton • insert at left/right boundary • split at new-point value</a:t>
            </a:r>
          </a:p>
          <a:p xmlns:a="http://schemas.openxmlformats.org/drawingml/2006/main">
            <a:pPr algn="ctr">
              <a:lnSpc>
                <a:spcPct val="105000"/>
              </a:lnSpc>
              <a:buNone/>
              <a:defRPr sz="1050" b="0" i="0">
                <a:solidFill>
                  <a:srgbClr val="52606D"/>
                </a:solidFill>
              </a:defRPr>
            </a:pPr>
            <a:r>
              <a:rPr sz="1050" b="0" i="0">
                <a:solidFill>
                  <a:srgbClr val="52606D"/>
                </a:solidFill>
              </a:rPr>
              <a:t>access first/last child • preserve ownership and stable handles</a:t>
            </a:r>
          </a:p>
        </p:txBody>
      </p:sp>
      <p:sp>
        <p:nvSpPr>
          <p:cNvPr id="12" name="">
            <a:extLst xmlns:a="http://schemas.openxmlformats.org/drawingml/2006/main">
              <a:ext uri="{FF2B5EF4-FFF2-40B4-BE49-F238E27FC236}">
                <a16:creationId xmlns:a16="http://schemas.microsoft.com/office/drawing/2014/main" id="{0C5C1705-5C96-464A-9742-753C0D06BA61}"/>
              </a:ext>
            </a:extLst>
          </p:cNvPr>
          <p:cNvSpPr>
            <a:spLocks xmlns:a="http://schemas.openxmlformats.org/drawingml/2006/main" noGrp="1"/>
          </p:cNvSpPr>
          <p:nvPr/>
        </p:nvSpPr>
        <p:spPr>
          <a:xfrm xmlns:a="http://schemas.openxmlformats.org/drawingml/2006/main">
            <a:off x="876300" y="3352800"/>
            <a:ext cx="4762500" cy="1733550"/>
          </a:xfrm>
          <a:prstGeom xmlns:a="http://schemas.openxmlformats.org/drawingml/2006/main" prst="roundRect">
            <a:avLst>
              <a:gd name="adj" fmla="val 4396"/>
            </a:avLst>
          </a:prstGeom>
          <a:solidFill xmlns:a="http://schemas.openxmlformats.org/drawingml/2006/main">
            <a:srgbClr val="E8F5F3"/>
          </a:solidFill>
          <a:ln xmlns:a="http://schemas.openxmlformats.org/drawingml/2006/main" w="14288">
            <a:solidFill>
              <a:srgbClr val="2A9D8F"/>
            </a:solidFill>
            <a:prstDash val="solid"/>
          </a:ln>
        </p:spPr>
      </p:sp>
      <p:sp>
        <p:nvSpPr>
          <p:cNvPr id="13" name="">
            <a:extLst xmlns:a="http://schemas.openxmlformats.org/drawingml/2006/main">
              <a:ext uri="{FF2B5EF4-FFF2-40B4-BE49-F238E27FC236}">
                <a16:creationId xmlns:a16="http://schemas.microsoft.com/office/drawing/2014/main" id="{78F24BF8-8C9C-4EC9-9D7F-2041625AAC6B}"/>
              </a:ext>
            </a:extLst>
          </p:cNvPr>
          <p:cNvSpPr>
            <a:spLocks xmlns:a="http://schemas.openxmlformats.org/drawingml/2006/main" noGrp="1"/>
          </p:cNvSpPr>
          <p:nvPr/>
        </p:nvSpPr>
        <p:spPr>
          <a:xfrm xmlns:a="http://schemas.openxmlformats.org/drawingml/2006/main">
            <a:off x="6553200" y="3352800"/>
            <a:ext cx="4762500" cy="1733550"/>
          </a:xfrm>
          <a:prstGeom xmlns:a="http://schemas.openxmlformats.org/drawingml/2006/main" prst="roundRect">
            <a:avLst>
              <a:gd name="adj" fmla="val 4396"/>
            </a:avLst>
          </a:prstGeom>
          <a:solidFill xmlns:a="http://schemas.openxmlformats.org/drawingml/2006/main">
            <a:srgbClr val="FCEEEA"/>
          </a:solidFill>
          <a:ln xmlns:a="http://schemas.openxmlformats.org/drawingml/2006/main" w="14288">
            <a:solidFill>
              <a:srgbClr val="E76F51"/>
            </a:solidFill>
            <a:prstDash val="solid"/>
          </a:ln>
        </p:spPr>
      </p:sp>
      <p:sp>
        <p:nvSpPr>
          <p:cNvPr id="14" name="">
            <a:extLst xmlns:a="http://schemas.openxmlformats.org/drawingml/2006/main">
              <a:ext uri="{FF2B5EF4-FFF2-40B4-BE49-F238E27FC236}">
                <a16:creationId xmlns:a16="http://schemas.microsoft.com/office/drawing/2014/main" id="{6FFD63FC-BD9C-4237-9C6C-06BC61F811CA}"/>
              </a:ext>
            </a:extLst>
          </p:cNvPr>
          <p:cNvSpPr>
            <a:spLocks xmlns:a="http://schemas.openxmlformats.org/drawingml/2006/main" noGrp="1"/>
          </p:cNvSpPr>
          <p:nvPr/>
        </p:nvSpPr>
        <p:spPr>
          <a:xfrm xmlns:a="http://schemas.openxmlformats.org/drawingml/2006/main">
            <a:off x="1162050" y="3524250"/>
            <a:ext cx="419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Ordinary-list backend</a:t>
            </a:r>
          </a:p>
        </p:txBody>
      </p:sp>
      <p:sp>
        <p:nvSpPr>
          <p:cNvPr id="15" name="">
            <a:extLst xmlns:a="http://schemas.openxmlformats.org/drawingml/2006/main">
              <a:ext uri="{FF2B5EF4-FFF2-40B4-BE49-F238E27FC236}">
                <a16:creationId xmlns:a16="http://schemas.microsoft.com/office/drawing/2014/main" id="{42EB2AFC-16F8-4A95-8B74-81A56859C3F4}"/>
              </a:ext>
            </a:extLst>
          </p:cNvPr>
          <p:cNvSpPr>
            <a:spLocks xmlns:a="http://schemas.openxmlformats.org/drawingml/2006/main" noGrp="1"/>
          </p:cNvSpPr>
          <p:nvPr/>
        </p:nvSpPr>
        <p:spPr>
          <a:xfrm xmlns:a="http://schemas.openxmlformats.org/drawingml/2006/main">
            <a:off x="1162050" y="394335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CURRENT VALIDATED BASELINE</a:t>
            </a:r>
          </a:p>
        </p:txBody>
      </p:sp>
      <p:sp>
        <p:nvSpPr>
          <p:cNvPr id="16" name="">
            <a:extLst xmlns:a="http://schemas.openxmlformats.org/drawingml/2006/main">
              <a:ext uri="{FF2B5EF4-FFF2-40B4-BE49-F238E27FC236}">
                <a16:creationId xmlns:a16="http://schemas.microsoft.com/office/drawing/2014/main" id="{9AA89899-1490-4740-947A-325B7E7966CC}"/>
              </a:ext>
            </a:extLst>
          </p:cNvPr>
          <p:cNvSpPr>
            <a:spLocks xmlns:a="http://schemas.openxmlformats.org/drawingml/2006/main" noGrp="1"/>
          </p:cNvSpPr>
          <p:nvPr/>
        </p:nvSpPr>
        <p:spPr>
          <a:xfrm xmlns:a="http://schemas.openxmlformats.org/drawingml/2006/main">
            <a:off x="1352550" y="4400550"/>
            <a:ext cx="3810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ordinary Python lists</a:t>
            </a:r>
          </a:p>
          <a:p xmlns:a="http://schemas.openxmlformats.org/drawingml/2006/main">
            <a:pPr algn="ctr">
              <a:lnSpc>
                <a:spcPct val="105000"/>
              </a:lnSpc>
              <a:buNone/>
              <a:defRPr sz="1425" b="0" i="0">
                <a:solidFill>
                  <a:srgbClr val="243B53"/>
                </a:solidFill>
              </a:defRPr>
            </a:pPr>
            <a:r>
              <a:rPr sz="1425" b="0" i="0">
                <a:solidFill>
                  <a:srgbClr val="243B53"/>
                </a:solidFill>
              </a:rPr>
              <a:t>archived correctness and timing evidence</a:t>
            </a:r>
          </a:p>
        </p:txBody>
      </p:sp>
      <p:sp>
        <p:nvSpPr>
          <p:cNvPr id="17" name="">
            <a:extLst xmlns:a="http://schemas.openxmlformats.org/drawingml/2006/main">
              <a:ext uri="{FF2B5EF4-FFF2-40B4-BE49-F238E27FC236}">
                <a16:creationId xmlns:a16="http://schemas.microsoft.com/office/drawing/2014/main" id="{8CA36DE0-9C95-4FBC-9A43-32BE0C6B31C7}"/>
              </a:ext>
            </a:extLst>
          </p:cNvPr>
          <p:cNvSpPr>
            <a:spLocks xmlns:a="http://schemas.openxmlformats.org/drawingml/2006/main" noGrp="1"/>
          </p:cNvSpPr>
          <p:nvPr/>
        </p:nvSpPr>
        <p:spPr>
          <a:xfrm xmlns:a="http://schemas.openxmlformats.org/drawingml/2006/main">
            <a:off x="6838950" y="3524250"/>
            <a:ext cx="419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Finger-tree backend</a:t>
            </a:r>
          </a:p>
        </p:txBody>
      </p:sp>
      <p:sp>
        <p:nvSpPr>
          <p:cNvPr id="18" name="">
            <a:extLst xmlns:a="http://schemas.openxmlformats.org/drawingml/2006/main">
              <a:ext uri="{FF2B5EF4-FFF2-40B4-BE49-F238E27FC236}">
                <a16:creationId xmlns:a16="http://schemas.microsoft.com/office/drawing/2014/main" id="{B4AE3366-D17D-4F3A-B896-A93F09C77D5E}"/>
              </a:ext>
            </a:extLst>
          </p:cNvPr>
          <p:cNvSpPr>
            <a:spLocks xmlns:a="http://schemas.openxmlformats.org/drawingml/2006/main" noGrp="1"/>
          </p:cNvSpPr>
          <p:nvPr/>
        </p:nvSpPr>
        <p:spPr>
          <a:xfrm xmlns:a="http://schemas.openxmlformats.org/drawingml/2006/main">
            <a:off x="6838950" y="394335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PROPOSED EXTENSION</a:t>
            </a:r>
          </a:p>
        </p:txBody>
      </p:sp>
      <p:sp>
        <p:nvSpPr>
          <p:cNvPr id="19" name="">
            <a:extLst xmlns:a="http://schemas.openxmlformats.org/drawingml/2006/main">
              <a:ext uri="{FF2B5EF4-FFF2-40B4-BE49-F238E27FC236}">
                <a16:creationId xmlns:a16="http://schemas.microsoft.com/office/drawing/2014/main" id="{C800B2BA-984B-4949-9A91-B883199A8520}"/>
              </a:ext>
            </a:extLst>
          </p:cNvPr>
          <p:cNvSpPr>
            <a:spLocks xmlns:a="http://schemas.openxmlformats.org/drawingml/2006/main" noGrp="1"/>
          </p:cNvSpPr>
          <p:nvPr/>
        </p:nvSpPr>
        <p:spPr>
          <a:xfrm xmlns:a="http://schemas.openxmlformats.org/drawingml/2006/main">
            <a:off x="7029450" y="4400550"/>
            <a:ext cx="3810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semantic-equivalence target</a:t>
            </a:r>
          </a:p>
          <a:p xmlns:a="http://schemas.openxmlformats.org/drawingml/2006/main">
            <a:pPr algn="ctr">
              <a:lnSpc>
                <a:spcPct val="105000"/>
              </a:lnSpc>
              <a:buNone/>
              <a:defRPr sz="1425" b="0" i="0">
                <a:solidFill>
                  <a:srgbClr val="243B53"/>
                </a:solidFill>
              </a:defRPr>
            </a:pPr>
            <a:r>
              <a:rPr sz="1425" b="0" i="0">
                <a:solidFill>
                  <a:srgbClr val="243B53"/>
                </a:solidFill>
              </a:rPr>
              <a:t>new validation and experiment version</a:t>
            </a:r>
          </a:p>
        </p:txBody>
      </p:sp>
      <p:sp>
        <p:nvSpPr>
          <p:cNvPr id="20" name="">
            <a:extLst xmlns:a="http://schemas.openxmlformats.org/drawingml/2006/main">
              <a:ext uri="{FF2B5EF4-FFF2-40B4-BE49-F238E27FC236}">
                <a16:creationId xmlns:a16="http://schemas.microsoft.com/office/drawing/2014/main" id="{195127F6-876D-48DC-9B66-04DE488B0025}"/>
              </a:ext>
            </a:extLst>
          </p:cNvPr>
          <p:cNvSpPr>
            <a:spLocks xmlns:a="http://schemas.openxmlformats.org/drawingml/2006/main" noGrp="1"/>
          </p:cNvSpPr>
          <p:nvPr/>
        </p:nvSpPr>
        <p:spPr>
          <a:xfrm xmlns:a="http://schemas.openxmlformats.org/drawingml/2006/main">
            <a:off x="1657350" y="5429250"/>
            <a:ext cx="8877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238"/>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Efficient tree splitting alone is insufficient if ownership transfer still scans and</a:t>
            </a:r>
          </a:p>
          <a:p xmlns:a="http://schemas.openxmlformats.org/drawingml/2006/main">
            <a:pPr algn="ctr">
              <a:lnSpc>
                <a:spcPct val="105000"/>
              </a:lnSpc>
              <a:buNone/>
              <a:defRPr sz="1875" b="1" i="0">
                <a:solidFill>
                  <a:srgbClr val="102A43"/>
                </a:solidFill>
              </a:defRPr>
            </a:pPr>
            <a:r>
              <a:rPr sz="1875" b="1" i="0">
                <a:solidFill>
                  <a:srgbClr val="102A43"/>
                </a:solidFill>
              </a:rPr>
              <a:t>rebinds every item.</a:t>
            </a:r>
          </a:p>
        </p:txBody>
      </p:sp>
      <p:cxnSp>
        <p:nvCxnSpPr>
          <p:cNvPr id="44" name=""/>
          <p:cNvCxnSpPr>
            <a:stCxn xmlns:a="http://schemas.openxmlformats.org/drawingml/2006/main" id="7" idx="3"/>
            <a:endCxn xmlns:a="http://schemas.openxmlformats.org/drawingml/2006/main" id="9" idx="1"/>
          </p:cNvCxnSpPr>
          <p:nvPr/>
        </p:nvCxnSpPr>
        <p:spPr>
          <a:xfrm xmlns:a="http://schemas.openxmlformats.org/drawingml/2006/main">
            <a:off x="3657600" y="1866900"/>
            <a:ext cx="1104900" cy="0"/>
          </a:xfrm>
          <a:prstGeom xmlns:a="http://schemas.openxmlformats.org/drawingml/2006/main" prst="straightConnector1">
            <a:avLst/>
          </a:prstGeom>
          <a:ln xmlns:a="http://schemas.openxmlformats.org/drawingml/2006/main" w="19050">
            <a:solidFill>
              <a:srgbClr val="2A9D8F"/>
            </a:solidFill>
            <a:prstDash val="solid"/>
            <a:tailEnd type="arrow" w="med" len="med"/>
          </a:ln>
        </p:spPr>
      </p:cxnSp>
      <p:cxnSp>
        <p:nvCxnSpPr>
          <p:cNvPr id="45" name=""/>
          <p:cNvCxnSpPr>
            <a:stCxn xmlns:a="http://schemas.openxmlformats.org/drawingml/2006/main" id="9" idx="2"/>
            <a:endCxn xmlns:a="http://schemas.openxmlformats.org/drawingml/2006/main" id="12" idx="0"/>
          </p:cNvCxnSpPr>
          <p:nvPr/>
        </p:nvCxnSpPr>
        <p:spPr>
          <a:xfrm xmlns:a="http://schemas.openxmlformats.org/drawingml/2006/main" flipH="1">
            <a:off x="3257550" y="2324100"/>
            <a:ext cx="4772025" cy="1028700"/>
          </a:xfrm>
          <a:prstGeom xmlns:a="http://schemas.openxmlformats.org/drawingml/2006/main" prst="bentConnector4">
            <a:avLst>
              <a:gd name="adj1" fmla="val 0"/>
              <a:gd name="adj2" fmla="val 50000"/>
            </a:avLst>
          </a:prstGeom>
          <a:ln xmlns:a="http://schemas.openxmlformats.org/drawingml/2006/main" w="19050">
            <a:solidFill>
              <a:srgbClr val="2A9D8F"/>
            </a:solidFill>
            <a:prstDash val="solid"/>
            <a:tailEnd type="arrow" w="med" len="med"/>
          </a:ln>
        </p:spPr>
      </p:cxnSp>
      <p:cxnSp>
        <p:nvCxnSpPr>
          <p:cNvPr id="46" name=""/>
          <p:cNvCxnSpPr>
            <a:stCxn xmlns:a="http://schemas.openxmlformats.org/drawingml/2006/main" id="9" idx="2"/>
            <a:endCxn xmlns:a="http://schemas.openxmlformats.org/drawingml/2006/main" id="13" idx="0"/>
          </p:cNvCxnSpPr>
          <p:nvPr/>
        </p:nvCxnSpPr>
        <p:spPr>
          <a:xfrm xmlns:a="http://schemas.openxmlformats.org/drawingml/2006/main">
            <a:off x="8029575" y="2324100"/>
            <a:ext cx="904875" cy="1028700"/>
          </a:xfrm>
          <a:prstGeom xmlns:a="http://schemas.openxmlformats.org/drawingml/2006/main" prst="bentConnector4">
            <a:avLst>
              <a:gd name="adj1" fmla="val 0"/>
              <a:gd name="adj2" fmla="val 50000"/>
            </a:avLst>
          </a:prstGeom>
          <a:ln xmlns:a="http://schemas.openxmlformats.org/drawingml/2006/main" w="19050">
            <a:solidFill>
              <a:srgbClr val="E76F51"/>
            </a:solidFill>
            <a:prstDash val="solid"/>
            <a:tailEnd type="arrow" w="med" len="med"/>
          </a:ln>
        </p:spPr>
      </p:cxnSp>
    </p:spTree>
    <p:extLst>
      <p:ext uri="{BB962C8B-B14F-4D97-AF65-F5344CB8AC3E}">
        <p14:creationId xmlns:p14="http://schemas.microsoft.com/office/powerpoint/2010/main" val="15912018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2026-09-07T12:00:45.9940000Z</dcterms:created>
  <dcterms:modified xsi:type="dcterms:W3CDTF">2026-09-07T12:00:45.9940000Z</dcterms:modified>
</coreProperties>
</file>