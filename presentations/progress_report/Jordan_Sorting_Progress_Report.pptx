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358f7ff4be142c0" /><Relationship Type="http://schemas.openxmlformats.org/officeDocument/2006/relationships/extended-properties" Target="/docProps/app.xml" Id="Rb97fd3bbbfda4184" /><Relationship Type="http://schemas.openxmlformats.org/officeDocument/2006/relationships/officeDocument" Target="/ppt/presentation.xml" Id="R35e797691c02436e" /></Relationships>
</file>

<file path=ppt/presentation.xml><?xml version="1.0" encoding="utf-8"?>
<p:presentation xmlns:p="http://schemas.openxmlformats.org/presentationml/2006/main">
  <p:sldMasterIdLst>
    <p:sldMasterId xmlns:r="http://schemas.openxmlformats.org/officeDocument/2006/relationships" id="2147483648" r:id="Rffcb73d5744847c4"/>
  </p:sldMasterIdLst>
  <p:notesMasterIdLst>
    <p:notesMasterId xmlns:r="http://schemas.openxmlformats.org/officeDocument/2006/relationships" r:id="Rdaf0279db9724c11"/>
  </p:notesMasterIdLst>
  <p:sldIdLst>
    <p:sldId xmlns:r="http://schemas.openxmlformats.org/officeDocument/2006/relationships" id="256" r:id="R091559a851a54154"/>
    <p:sldId xmlns:r="http://schemas.openxmlformats.org/officeDocument/2006/relationships" id="257" r:id="Rf54ca9c4947c4d35"/>
    <p:sldId xmlns:r="http://schemas.openxmlformats.org/officeDocument/2006/relationships" id="258" r:id="R39acb045f55b45a9"/>
    <p:sldId xmlns:r="http://schemas.openxmlformats.org/officeDocument/2006/relationships" id="259" r:id="R70f8bd117c954142"/>
    <p:sldId xmlns:r="http://schemas.openxmlformats.org/officeDocument/2006/relationships" id="260" r:id="R12996cfff8454641"/>
    <p:sldId xmlns:r="http://schemas.openxmlformats.org/officeDocument/2006/relationships" id="261" r:id="R51fe2a65683a4796"/>
    <p:sldId xmlns:r="http://schemas.openxmlformats.org/officeDocument/2006/relationships" id="262" r:id="Rb43bdd9bbef54f12"/>
    <p:sldId xmlns:r="http://schemas.openxmlformats.org/officeDocument/2006/relationships" id="263" r:id="R02740598af2d4bde"/>
    <p:sldId xmlns:r="http://schemas.openxmlformats.org/officeDocument/2006/relationships" id="264" r:id="Rf436749b5673423e"/>
    <p:sldId xmlns:r="http://schemas.openxmlformats.org/officeDocument/2006/relationships" id="265" r:id="Rf0159b35f50846b7"/>
    <p:sldId xmlns:r="http://schemas.openxmlformats.org/officeDocument/2006/relationships" id="266" r:id="R4b53fd132a9f4e32"/>
    <p:sldId xmlns:r="http://schemas.openxmlformats.org/officeDocument/2006/relationships" id="267" r:id="R76417807934e4862"/>
    <p:sldId xmlns:r="http://schemas.openxmlformats.org/officeDocument/2006/relationships" id="268" r:id="R2baf029cf6e944a3"/>
    <p:sldId xmlns:r="http://schemas.openxmlformats.org/officeDocument/2006/relationships" id="269" r:id="R052d307871034e4c"/>
    <p:sldId xmlns:r="http://schemas.openxmlformats.org/officeDocument/2006/relationships" id="270" r:id="Ra113c64e79e744eb"/>
    <p:sldId xmlns:r="http://schemas.openxmlformats.org/officeDocument/2006/relationships" id="271" r:id="R3eda88b4525b4fc6"/>
    <p:sldId xmlns:r="http://schemas.openxmlformats.org/officeDocument/2006/relationships" id="272" r:id="R2117ce2269174d20"/>
    <p:sldId xmlns:r="http://schemas.openxmlformats.org/officeDocument/2006/relationships" id="273" r:id="R96cbb1b7d8464aa4"/>
    <p:sldId xmlns:r="http://schemas.openxmlformats.org/officeDocument/2006/relationships" id="274" r:id="R5ff8bb78a2754c9a"/>
    <p:sldId xmlns:r="http://schemas.openxmlformats.org/officeDocument/2006/relationships" id="275" r:id="R0c98ac862c1448fc"/>
    <p:sldId xmlns:r="http://schemas.openxmlformats.org/officeDocument/2006/relationships" id="276" r:id="R70b7c321d14949e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c6d7f98280247b5" /><Relationship Type="http://schemas.openxmlformats.org/officeDocument/2006/relationships/slideMaster" Target="/ppt/slideMasters/slideMaster1.xml" Id="Rffcb73d5744847c4" /><Relationship Type="http://schemas.openxmlformats.org/officeDocument/2006/relationships/notesMaster" Target="/ppt/notesMasters/notesMaster1.xml" Id="Rdaf0279db9724c11" /><Relationship Type="http://schemas.openxmlformats.org/officeDocument/2006/relationships/presProps" Target="/ppt/presProps.xml" Id="R02be3c7f35084103" /><Relationship Type="http://schemas.openxmlformats.org/officeDocument/2006/relationships/tableStyles" Target="/ppt/tableStyles.xml" Id="R45ccc3f414ae462f" /><Relationship Type="http://schemas.openxmlformats.org/officeDocument/2006/relationships/slide" Target="/ppt/slides/slide1.xml" Id="R091559a851a54154" /><Relationship Type="http://schemas.openxmlformats.org/officeDocument/2006/relationships/slide" Target="/ppt/slides/slide2.xml" Id="Rf54ca9c4947c4d35" /><Relationship Type="http://schemas.openxmlformats.org/officeDocument/2006/relationships/slide" Target="/ppt/slides/slide3.xml" Id="R39acb045f55b45a9" /><Relationship Type="http://schemas.openxmlformats.org/officeDocument/2006/relationships/slide" Target="/ppt/slides/slide4.xml" Id="R70f8bd117c954142" /><Relationship Type="http://schemas.openxmlformats.org/officeDocument/2006/relationships/slide" Target="/ppt/slides/slide5.xml" Id="R12996cfff8454641" /><Relationship Type="http://schemas.openxmlformats.org/officeDocument/2006/relationships/slide" Target="/ppt/slides/slide6.xml" Id="R51fe2a65683a4796" /><Relationship Type="http://schemas.openxmlformats.org/officeDocument/2006/relationships/slide" Target="/ppt/slides/slide7.xml" Id="Rb43bdd9bbef54f12" /><Relationship Type="http://schemas.openxmlformats.org/officeDocument/2006/relationships/slide" Target="/ppt/slides/slide8.xml" Id="R02740598af2d4bde" /><Relationship Type="http://schemas.openxmlformats.org/officeDocument/2006/relationships/slide" Target="/ppt/slides/slide9.xml" Id="Rf436749b5673423e" /><Relationship Type="http://schemas.openxmlformats.org/officeDocument/2006/relationships/slide" Target="/ppt/slides/slide10.xml" Id="Rf0159b35f50846b7" /><Relationship Type="http://schemas.openxmlformats.org/officeDocument/2006/relationships/slide" Target="/ppt/slides/slide11.xml" Id="R4b53fd132a9f4e32" /><Relationship Type="http://schemas.openxmlformats.org/officeDocument/2006/relationships/slide" Target="/ppt/slides/slide12.xml" Id="R76417807934e4862" /><Relationship Type="http://schemas.openxmlformats.org/officeDocument/2006/relationships/slide" Target="/ppt/slides/slide13.xml" Id="R2baf029cf6e944a3" /><Relationship Type="http://schemas.openxmlformats.org/officeDocument/2006/relationships/slide" Target="/ppt/slides/slide14.xml" Id="R052d307871034e4c" /><Relationship Type="http://schemas.openxmlformats.org/officeDocument/2006/relationships/slide" Target="/ppt/slides/slide15.xml" Id="Ra113c64e79e744eb" /><Relationship Type="http://schemas.openxmlformats.org/officeDocument/2006/relationships/slide" Target="/ppt/slides/slide16.xml" Id="R3eda88b4525b4fc6" /><Relationship Type="http://schemas.openxmlformats.org/officeDocument/2006/relationships/slide" Target="/ppt/slides/slide17.xml" Id="R2117ce2269174d20" /><Relationship Type="http://schemas.openxmlformats.org/officeDocument/2006/relationships/slide" Target="/ppt/slides/slide18.xml" Id="R96cbb1b7d8464aa4" /><Relationship Type="http://schemas.openxmlformats.org/officeDocument/2006/relationships/slide" Target="/ppt/slides/slide19.xml" Id="R5ff8bb78a2754c9a" /><Relationship Type="http://schemas.openxmlformats.org/officeDocument/2006/relationships/slide" Target="/ppt/slides/slide20.xml" Id="R0c98ac862c1448fc" /><Relationship Type="http://schemas.openxmlformats.org/officeDocument/2006/relationships/slide" Target="/ppt/slides/slide21.xml" Id="R70b7c321d14949e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6b0a2c045314dd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c0c7e03663e4938" /><Relationship Type="http://schemas.openxmlformats.org/officeDocument/2006/relationships/notesMaster" Target="/ppt/notesMasters/notesMaster1.xml" Id="Rcdaf303eca384638" /></Relationships>
</file>

<file path=ppt/notesSlides/_rels/notesSlide2.xml.rels>&#65279;<?xml version="1.0" encoding="utf-8"?><Relationships xmlns="http://schemas.openxmlformats.org/package/2006/relationships"><Relationship Type="http://schemas.openxmlformats.org/officeDocument/2006/relationships/slide" Target="/ppt/slides/slide2.xml" Id="Rdedb2b2cf1654611" /><Relationship Type="http://schemas.openxmlformats.org/officeDocument/2006/relationships/notesMaster" Target="/ppt/notesMasters/notesMaster1.xml" Id="R7441ed3262974886" /></Relationships>
</file>

<file path=ppt/notesSlides/_rels/notesSlide3.xml.rels>&#65279;<?xml version="1.0" encoding="utf-8"?><Relationships xmlns="http://schemas.openxmlformats.org/package/2006/relationships"><Relationship Type="http://schemas.openxmlformats.org/officeDocument/2006/relationships/slide" Target="/ppt/slides/slide3.xml" Id="Rffa462426ad043df" /><Relationship Type="http://schemas.openxmlformats.org/officeDocument/2006/relationships/notesMaster" Target="/ppt/notesMasters/notesMaster1.xml" Id="R55d5c9155c0347a8" /></Relationships>
</file>

<file path=ppt/notesSlides/_rels/notesSlide4.xml.rels>&#65279;<?xml version="1.0" encoding="utf-8"?><Relationships xmlns="http://schemas.openxmlformats.org/package/2006/relationships"><Relationship Type="http://schemas.openxmlformats.org/officeDocument/2006/relationships/slide" Target="/ppt/slides/slide4.xml" Id="R85808f4cdb26467c" /><Relationship Type="http://schemas.openxmlformats.org/officeDocument/2006/relationships/notesMaster" Target="/ppt/notesMasters/notesMaster1.xml" Id="Rbb574dad43804812" /></Relationships>
</file>

<file path=ppt/notesSlides/_rels/notesSlide5.xml.rels>&#65279;<?xml version="1.0" encoding="utf-8"?><Relationships xmlns="http://schemas.openxmlformats.org/package/2006/relationships"><Relationship Type="http://schemas.openxmlformats.org/officeDocument/2006/relationships/slide" Target="/ppt/slides/slide5.xml" Id="R74ac6b7ed84642f4" /><Relationship Type="http://schemas.openxmlformats.org/officeDocument/2006/relationships/notesMaster" Target="/ppt/notesMasters/notesMaster1.xml" Id="Rbcba8d9551a340b6" /></Relationships>
</file>

<file path=ppt/notesSlides/_rels/notesSlide6.xml.rels>&#65279;<?xml version="1.0" encoding="utf-8"?><Relationships xmlns="http://schemas.openxmlformats.org/package/2006/relationships"><Relationship Type="http://schemas.openxmlformats.org/officeDocument/2006/relationships/slide" Target="/ppt/slides/slide6.xml" Id="R1e8a268934214ca6" /><Relationship Type="http://schemas.openxmlformats.org/officeDocument/2006/relationships/notesMaster" Target="/ppt/notesMasters/notesMaster1.xml" Id="R80b488f8aa414c16" /></Relationships>
</file>

<file path=ppt/notesSlides/_rels/notesSlide7.xml.rels>&#65279;<?xml version="1.0" encoding="utf-8"?><Relationships xmlns="http://schemas.openxmlformats.org/package/2006/relationships"><Relationship Type="http://schemas.openxmlformats.org/officeDocument/2006/relationships/slide" Target="/ppt/slides/slide7.xml" Id="R82e033e97f4a4ed5" /><Relationship Type="http://schemas.openxmlformats.org/officeDocument/2006/relationships/notesMaster" Target="/ppt/notesMasters/notesMaster1.xml" Id="Rb76af85c30cc4242" /></Relationships>
</file>

<file path=ppt/notesSlides/_rels/notesSlide8.xml.rels>&#65279;<?xml version="1.0" encoding="utf-8"?><Relationships xmlns="http://schemas.openxmlformats.org/package/2006/relationships"><Relationship Type="http://schemas.openxmlformats.org/officeDocument/2006/relationships/slide" Target="/ppt/slides/slide8.xml" Id="R99549ebecda24aa4" /><Relationship Type="http://schemas.openxmlformats.org/officeDocument/2006/relationships/notesMaster" Target="/ppt/notesMasters/notesMaster1.xml" Id="R239d9efbee714da3" /></Relationships>
</file>

<file path=ppt/notesSlides/_rels/notesSlide9.xml.rels>&#65279;<?xml version="1.0" encoding="utf-8"?><Relationships xmlns="http://schemas.openxmlformats.org/package/2006/relationships"><Relationship Type="http://schemas.openxmlformats.org/officeDocument/2006/relationships/slide" Target="/ppt/slides/slide9.xml" Id="R750f7d4f3b764148" /><Relationship Type="http://schemas.openxmlformats.org/officeDocument/2006/relationships/notesMaster" Target="/ppt/notesMasters/notesMaster1.xml" Id="R7c1046deb6c4429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c0db29d292d407d" /><Relationship Type="http://schemas.openxmlformats.org/officeDocument/2006/relationships/notesMaster" Target="/ppt/notesMasters/notesMaster1.xml" Id="R22256df71b9e4f3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4fdc54f4bac4814" /><Relationship Type="http://schemas.openxmlformats.org/officeDocument/2006/relationships/notesMaster" Target="/ppt/notesMasters/notesMaster1.xml" Id="Rf2bedd7b0dc14b8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d0e4d3e94d34486" /><Relationship Type="http://schemas.openxmlformats.org/officeDocument/2006/relationships/notesMaster" Target="/ppt/notesMasters/notesMaster1.xml" Id="Rba0c915a5355490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5df573bcc1f40a4" /><Relationship Type="http://schemas.openxmlformats.org/officeDocument/2006/relationships/notesMaster" Target="/ppt/notesMasters/notesMaster1.xml" Id="R559ef1b0eadc416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1b23da45ac8415f" /><Relationship Type="http://schemas.openxmlformats.org/officeDocument/2006/relationships/notesMaster" Target="/ppt/notesMasters/notesMaster1.xml" Id="R696a697de991471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48abe7018e04d91" /><Relationship Type="http://schemas.openxmlformats.org/officeDocument/2006/relationships/notesMaster" Target="/ppt/notesMasters/notesMaster1.xml" Id="R3e8061c20ef748d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22884b645094af4" /><Relationship Type="http://schemas.openxmlformats.org/officeDocument/2006/relationships/notesMaster" Target="/ppt/notesMasters/notesMaster1.xml" Id="Rc6430d5bfd0a450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0cbbc5c32034edd" /><Relationship Type="http://schemas.openxmlformats.org/officeDocument/2006/relationships/notesMaster" Target="/ppt/notesMasters/notesMaster1.xml" Id="R0a948d59fa26498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722bafbc3884661" /><Relationship Type="http://schemas.openxmlformats.org/officeDocument/2006/relationships/notesMaster" Target="/ppt/notesMasters/notesMaster1.xml" Id="Rcee76e9a240b493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f58aa018b274add" /><Relationship Type="http://schemas.openxmlformats.org/officeDocument/2006/relationships/notesMaster" Target="/ppt/notesMasters/notesMaster1.xml" Id="R1fba82993797444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9b5c7c7c94b4dfc" /><Relationship Type="http://schemas.openxmlformats.org/officeDocument/2006/relationships/notesMaster" Target="/ppt/notesMasters/notesMaster1.xml" Id="R4397f8a51146474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e479bd954854f8e" /><Relationship Type="http://schemas.openxmlformats.org/officeDocument/2006/relationships/notesMaster" Target="/ppt/notesMasters/notesMaster1.xml" Id="R836947859c40448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Good afternoon. This presentation gives an update on my master's thesis on the executable reconstruction of Simplified Jordan Sorting. In the previous seminar report, I focused mainly on the structural framework: rank intervals, upper and lower pair families, family trees, and an oracle-backed reference implementation. The central question since then has been whether the dynamic procedure described in the paper can be turned into an executable and auditable implementation using ordinary Python lists. Today I will show how that gap was addressed, how correctness and evidence integrity were checked, and what the formal experiment shows under clearly defined timing scopes.</a:t>
            </a:r>
          </a:p>
          <a:p xmlns:a="http://schemas.openxmlformats.org/drawingml/2006/main">
            <a:r>
              <a:t/>
            </a:r>
          </a:p>
          <a:p xmlns:a="http://schemas.openxmlformats.org/drawingml/2006/main">
            <a:r>
              <a:t>[Sources]</a:t>
            </a:r>
          </a:p>
          <a:p xmlns:a="http://schemas.openxmlformats.org/drawingml/2006/main">
            <a:r>
              <a:t>- thesis/frontmatter/abstract.tex</a:t>
            </a:r>
          </a:p>
          <a:p xmlns:a="http://schemas.openxmlformats.org/drawingml/2006/main">
            <a:r>
              <a:t>- thesis/chapters/introduction.tex</a:t>
            </a:r>
          </a:p>
          <a:p xmlns:a="http://schemas.openxmlformats.org/drawingml/2006/main">
            <a:r>
              <a:t>- thesis/figures/jordan_sorting_problem.pdf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previous report established a useful static baseline. It represented the input by rank intervals, separated the upper and lower pair families, reconstructed their laminar family trees, and computed structural metrics. It also used an oracle to validate inputs and to provide a reference output. That framework explained why intervals within each family are nested or disjoint, but it did not yet execute the dynamic Jordan-sorting procedure. In particular, it did not maintain the processed prefix while new points were inserted, split sibling lists or transfer ownership, or recover the final output from the algorithm's own maintained state. So the main gap was not another static data model. It was the transition from a structural description to a sequence of safe dynamic updates.</a:t>
            </a:r>
          </a:p>
          <a:p xmlns:a="http://schemas.openxmlformats.org/drawingml/2006/main">
            <a:r>
              <a:t/>
            </a:r>
          </a:p>
          <a:p xmlns:a="http://schemas.openxmlformats.org/drawingml/2006/main">
            <a:r>
              <a:t>[Sources]</a:t>
            </a:r>
          </a:p>
          <a:p xmlns:a="http://schemas.openxmlformats.org/drawingml/2006/main">
            <a:r>
              <a:t>- thesis/chapters/background.tex</a:t>
            </a:r>
          </a:p>
          <a:p xmlns:a="http://schemas.openxmlformats.org/drawingml/2006/main">
            <a:r>
              <a:t>- thesis/chapters/implementation.tex</a:t>
            </a:r>
          </a:p>
          <a:p xmlns:a="http://schemas.openxmlformats.org/drawingml/2006/main">
            <a:r>
              <a:t>- Hoffmann et al. (1986), doi:10.1016/S0019-9958(86)80033-X</a:t>
            </a:r>
          </a:p>
          <a:p xmlns:a="http://schemas.openxmlformats.org/drawingml/2006/main">
            <a:r>
              <a:t>- Fung et al. (1990), doi:10.1016/0020-0190(90)90111-A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organized that transition into four connected work packages. First, I stabilized the scope by separating valid-input sorting from recognition and from the specialized backend required for the historical linear-time bound. Second, I reconstructed the paper-facing Step 1, Step 2, and Step 3 control flow as executable code. Third, I added state invariants, ownership checks, transactional updates, deterministic replay, and bounded validation. Fourth, only after the implementation and validation boundaries were stable, I carried out an initial formal evaluation under a pre-specified protocol. The result is a stable implementation baseline using ordinary lists. The distinction is important: this is an executable reconstruction of the control flow, not an implementation of the specialized data structures required for the historical linear-time bound.</a:t>
            </a:r>
          </a:p>
          <a:p xmlns:a="http://schemas.openxmlformats.org/drawingml/2006/main">
            <a:r>
              <a:t/>
            </a:r>
          </a:p>
          <a:p xmlns:a="http://schemas.openxmlformats.org/drawingml/2006/main">
            <a:r>
              <a:t>[Sources]</a:t>
            </a:r>
          </a:p>
          <a:p xmlns:a="http://schemas.openxmlformats.org/drawingml/2006/main">
            <a:r>
              <a:t>- thesis/chapters/introduction.tex</a:t>
            </a:r>
          </a:p>
          <a:p xmlns:a="http://schemas.openxmlformats.org/drawingml/2006/main">
            <a:r>
              <a:t>- thesis/chapters/implementation.tex</a:t>
            </a:r>
          </a:p>
          <a:p xmlns:a="http://schemas.openxmlformats.org/drawingml/2006/main">
            <a:r>
              <a:t>- thesis/chapters/methodology.tex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scope changed in a deliberate way as the implementation became more precise. Earlier planning combined several adjacent questions: generation of valid and invalid inputs, static family trees, recognition, a broad reference evaluation, and possible work on the theoretical backend. The current research scope is narrower and technically clearer. The thesis reconstructs the 1990 sorting procedure for inputs that have already been certified as valid. It compares three concrete calls: Python sort, the complete oracle-backed reference pipeline, and the reconstructed paper core. Recognition remains outside the formal experiment, and the backend remains ordinary Python lists. This refinement keeps the study focused on a single, defensible implementation and evaluation question. This ordinary-list implementation remains the validated baseline. Following the supervisor's suggestion, I am also investigating whether the sibling-list representation can be replaced by a finger-tree backend without changing the paper-facing control flow.</a:t>
            </a:r>
          </a:p>
          <a:p xmlns:a="http://schemas.openxmlformats.org/drawingml/2006/main">
            <a:r>
              <a:t/>
            </a:r>
          </a:p>
          <a:p xmlns:a="http://schemas.openxmlformats.org/drawingml/2006/main">
            <a:r>
              <a:t>[Sources]</a:t>
            </a:r>
          </a:p>
          <a:p xmlns:a="http://schemas.openxmlformats.org/drawingml/2006/main">
            <a:r>
              <a:t>- thesis/chapters/introduction.tex</a:t>
            </a:r>
          </a:p>
          <a:p xmlns:a="http://schemas.openxmlformats.org/drawingml/2006/main">
            <a:r>
              <a:t>- thesis/chapters/limitations.tex</a:t>
            </a:r>
          </a:p>
          <a:p xmlns:a="http://schemas.openxmlformats.org/drawingml/2006/main">
            <a:r>
              <a:t>- thesis/chapters/methodology.tex</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leads to three research questions. The first, and primary technical question, is whether an ordinary-list reconstruction can recover the correct sorted order from its own maintained state for oracle-certified valid inputs. The second question concerns observed runtime behavior: how does the paper core, when called on a pre-certified input, behave relative to Python sort and the complete reference pipeline under the timing scope defined for each call? The third question is exploratory. It asks which descriptive relationships appear between input structure, checked operation counters, and runtime. These distinctions matter throughout the presentation. The first question is about executable reconstruction and bounded correctness evidence. The second is about measurements under different timing scopes, not a general performance claim. The third is descriptive rather than causal.</a:t>
            </a:r>
          </a:p>
          <a:p xmlns:a="http://schemas.openxmlformats.org/drawingml/2006/main">
            <a:r>
              <a:t/>
            </a:r>
          </a:p>
          <a:p xmlns:a="http://schemas.openxmlformats.org/drawingml/2006/main">
            <a:r>
              <a:t>[Sources]</a:t>
            </a:r>
          </a:p>
          <a:p xmlns:a="http://schemas.openxmlformats.org/drawingml/2006/main">
            <a:r>
              <a:t>- thesis/chapters/introduction.tex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discussing the control flow, I need to separate the roles of the oracle, the reference pipeline, and the paper core. The oracle has two external roles. Before the paper call, it establishes the valid-input precondition. After the call, its expected sorted order is used for comparison. By contrast, the reference pipeline intentionally uses the complete oracle result, including the sorted output, together with family trees and structural information. The ordinary-list paper core receives the original sequence under a certified precondition. It runs Step 1, Step 2, and Step 3, maintains its own partial sorted order and sibling-list state, and returns the order reconstructed from that state. The dashed box on the right is deliberately outside the core: output comparison happens only after the call. Therefore, the expected answer is shared, but the output provenance is not. The oracle-derived sorted list is never passed into the paper core and never determines its return value. This lets correctness be checked without giving the implementation its answer.</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thesis/chapters/methodology.tex</a:t>
            </a:r>
          </a:p>
          <a:p xmlns:a="http://schemas.openxmlformats.org/drawingml/2006/main">
            <a:r>
              <a:t>- src/paper_jordan.py</a:t>
            </a:r>
          </a:p>
          <a:p xmlns:a="http://schemas.openxmlformats.org/drawingml/2006/main">
            <a:r>
              <a:t>- src/simplified_jordan.py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executable reconstruction has one main control-flow skeleton. After ordering the first three points, every new point is processed through Step 1, Step 2, and Step 3. Step 1 identifies the predecessor-side boundary. Step 2 identifies the successor-side boundary. Step 3(a) inserts the new pair, Step 3(b) performs any required sibling-list split and ownership transfer, and Step 3(c) inserts the new point into the maintained sorted order. Step 1 always computes the predecessor-side boundary A-i, and Step 2 always computes the successor-side boundary B-i. The reflection appears in Step 3: an increasing iteration uses A-i for Step 3(a) and B-i for Step 3(b), while a decreasing iteration uses them in the opposite roles. The evidence categories are shown separately below. The 1990 paper explicitly describes the increasing case, while the decreasing case is reconstructed by reflection. Two local details require executable clarification: selecting the geometric endpoint and handling the odd-index z-one output anchor. This distinction makes clear what is directly stated, what is symmetric reconstruction, and what is an operational clarification.</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thesis/chapters/implementation.tex</a:t>
            </a:r>
          </a:p>
          <a:p xmlns:a="http://schemas.openxmlformats.org/drawingml/2006/main">
            <a:r>
              <a:t>- Fung et al. (1990), doi:10.1016/0020-0190(90)90111-A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clarification concerns the endpoint used in Step 3(c). Consider the valid prefix shown here: three, two, one, four. The acquired pair is P-two, stored as the curve-order pair three, two. A mechanical reading might treat the second stored element, two, as the insertion anchor. That choice produces one, two, four, three, which is not sorted on the axis. The reason is that curve order and axis order are different concepts. The pair is stored according to traversal along the curve, while Step 3(c) needs the geometric extreme on the axis. For this example, the correct geometric endpoint is three, and inserting four after three produces the correct order: one, two, three, four. In the reflected control flow, the orientation determines which geometric extreme is used: the increasing case uses the right endpoint, while the decreasing case uses the left endpoint. That is different from asking which element happens to appear second in the stored pair. The executable rule is therefore to choose the geometric extreme, not simply the second stored endpoint. I treat this as a reconstruction clarification rather than attributing the rule directly to the 1990 paper. Without it, the maintained order fails on valid inputs.</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src/paper_jordan.py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clarification is the odd-index z-one anomaly. Here the valid prefix is one, two, three, four, six, seven, zero. On this decreasing iteration, the ordinary geometric base anchor is z-two, whose value is two. If the new point zero is inserted immediately before that anchor, the result is one, zero, two, three, four, six, seven. That leaves z-one, whose value is one, on the wrong side of the new point. Here, zero is smaller than z-one, which is smaller than the original anchor. Under this odd-index condition, the required correction changes the output anchor from z-two to z-one. Inserting zero before z-one gives the correct axis order: zero, one, two, three, four, six, seven. It is important not to merge this with the predecessor and successor boundary adjustment. They are two separate decisions. One selects the boundary pair used by the family update; the other selects the output anchor used to update the maintained order. Keeping those responsibilities separate was necessary for the maintained order to remain correct.</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thesis/figures/step3c_anchor_z1_anomaly.pdf</a:t>
            </a:r>
          </a:p>
          <a:p xmlns:a="http://schemas.openxmlformats.org/drawingml/2006/main">
            <a:r>
              <a:t>- Hoffmann et al. (1986), p. 175, doi:10.1016/S0019-9958(86)80033-X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Correct insertion is only one part of the state problem. Every finite pair must also have one parent and one sibling-list owner. The left-hand diagram shows the local transaction. Before a split, an existing owner controls a sibling list that contains a retained segment and a segment that will be acquired. After the split, the existing owner keeps the retained segment, while the new owner receives the acquired nonempty segment. Only the transferred segment is rebound. The implementation therefore treats split and transfer as a transaction: save the affected state, execute the split, publish the ownership transfer, check local postconditions, and roll back if any check fails. The checks also reject invalid split boundaries and inconsistent ownership state. The maintained state includes the sorted processed prefix and the upper and lower pair families. Because the backend uses ordinary lists, scanning, copying, slicing, and ownership rebinding remain concrete costs. The transaction protects correctness, but ordinary lists do not provide the update bounds required by the historical linear-time analysis.</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thesis/figures/family_sibling_structure.pdf</a:t>
            </a:r>
          </a:p>
          <a:p xmlns:a="http://schemas.openxmlformats.org/drawingml/2006/main">
            <a:r>
              <a:t>- src/paper_jordan.py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validation strategy has two distinct sides. On the left are implementation and state checks. Focused regression cases exercise known edge conditions. Bounded exhaustive validation covers 2,074 oracle-valid permutations through size eight. Checked-state audits inspect the complete maintained state, including parent chains, ownership, list registries, split pairs, and the recovered output. Same-core deterministic replay checks deterministic consistency of the resulting state. Replay is not a second independent Jordan-sorting implementation; it is a consistency check over the same core. On the right is evidence integrity and reproducibility. The formal experiment used a pre-specified protocol, a manifest-bound archive, schema and schedule checks, row-count checks, summary recomputation, and hash verification. A separate evidence-contract validator regenerates the expected cases, recomputes the relevant summaries, and verifies the archive. These layers support different claims. Together they provide bounded correctness evidence and a reproducible evidence chain, but they do not constitute a mathematical proof for every Jordan sequence.</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thesis/chapters/methodology.tex</a:t>
            </a:r>
          </a:p>
          <a:p xmlns:a="http://schemas.openxmlformats.org/drawingml/2006/main">
            <a:r>
              <a:t>- docs/thesis/latex_final_audit.md</a:t>
            </a:r>
          </a:p>
          <a:p xmlns:a="http://schemas.openxmlformats.org/drawingml/2006/main">
            <a:r>
              <a:t>- experiments/validate_week12_formal_sorting_outputs.py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formal experiment was designed so that the paper timing boundary is visible. The protocol contains five input sizes, twelve exact cases per size, three algorithms, and twenty measured calls per case-algorithm cell. That produces 3,600 measured rows. Each exact case is generated once, certified once, and receives one checked-state audit before timing. Each case-algorithm cell receives five warm-up calls followed by twenty measured calls. The schedule is deterministic and rotates algorithm positions across measured rounds. Each timed call receives a fresh input list. For the paper algorithm, certification and the checked-state audit are outside the timer, while the minimal paper-core call on a pre-certified input is inside. Importantly, output recovery from the maintained partial order remains inside that paper call. Runner-level normalization and comparison occur after timing. The comparison pipelines do not have identical timing scopes. Python timing covers the complete sorting call. Reference timing includes its complete oracle-backed pipeline. This is why the paper/reference value later in the presentation is called a pipeline-scope ratio. It describes the recorded experiment, but it is not a like-for-like end-to-end speedup. After measurement, the runner aggregates the rows, writes the manifest-bound archive, and validates the evidence contract.</a:t>
            </a:r>
          </a:p>
          <a:p xmlns:a="http://schemas.openxmlformats.org/drawingml/2006/main">
            <a:r>
              <a:t/>
            </a:r>
          </a:p>
          <a:p xmlns:a="http://schemas.openxmlformats.org/drawingml/2006/main">
            <a:r>
              <a:t>[Sources]</a:t>
            </a:r>
          </a:p>
          <a:p xmlns:a="http://schemas.openxmlformats.org/drawingml/2006/main">
            <a:r>
              <a:t>- thesis/chapters/methodology.tex</a:t>
            </a:r>
          </a:p>
          <a:p xmlns:a="http://schemas.openxmlformats.org/drawingml/2006/main">
            <a:r>
              <a:t>- thesis/figures/formal_experiment_pipeline.pdf</a:t>
            </a:r>
          </a:p>
          <a:p xmlns:a="http://schemas.openxmlformats.org/drawingml/2006/main">
            <a:r>
              <a:t>- results/runs/week12_formal_sorting_v1__run001/config.json</a:t>
            </a:r>
          </a:p>
          <a:p xmlns:a="http://schemas.openxmlformats.org/drawingml/2006/main">
            <a:r>
              <a:t>- results/runs/week12_formal_sorting_v1__run001/manifest.json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sixty cases in the formal experiment passed the relevant checks. The archive contains 3,600 measured rows; all 60 case-level checked-state audits passed; and no correctness errors were recorded. Each case was oracle-certified before timing, and every measured call returned the expected output. The distinction between rows and audits matters. There were sixty audits, one for each exact case; the audit result is then associated with that case's timing rows. There were not 3,600 independent audits. These results provide empirical correctness evidence for the controlled valid cases in the protocol. They do not evaluate recognition of arbitrary inputs, and they do not prove correctness for all Jordan sequences.</a:t>
            </a:r>
          </a:p>
          <a:p xmlns:a="http://schemas.openxmlformats.org/drawingml/2006/main">
            <a:r>
              <a:t/>
            </a:r>
          </a:p>
          <a:p xmlns:a="http://schemas.openxmlformats.org/drawingml/2006/main">
            <a:r>
              <a:t>[Sources]</a:t>
            </a:r>
          </a:p>
          <a:p xmlns:a="http://schemas.openxmlformats.org/drawingml/2006/main">
            <a:r>
              <a:t>- thesis/chapters/results.tex</a:t>
            </a:r>
          </a:p>
          <a:p xmlns:a="http://schemas.openxmlformats.org/drawingml/2006/main">
            <a:r>
              <a:t>- results/runs/week12_formal_sorting_v1__run001/raw.csv</a:t>
            </a:r>
          </a:p>
          <a:p xmlns:a="http://schemas.openxmlformats.org/drawingml/2006/main">
            <a:r>
              <a:t>- results/runs/week12_formal_sorting_v1__run001/case_audit.csv</a:t>
            </a:r>
          </a:p>
          <a:p xmlns:a="http://schemas.openxmlformats.org/drawingml/2006/main">
            <a:r>
              <a:t>- results/runs/week12_formal_sorting_v1__run001/validation_report.json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main runtime pattern is the decrease in the median exact-case paper/reference ratio across the five tested sizes. The ratio is first computed within each exact case by dividing the paper median by the reference median; those case ratios are then summarized with equal case weight. At size thirty-two, the median ratio is 3.226, so the paper call is larger than the reference call under the defined timing scopes. It falls to 2.202 at size 64 and to 1.351 at size 128. At size 256 it is 0.851, and at size 512 it is 0.567. The observed crossover therefore lies between the tested sizes 128 and 256. This is a finite empirical pattern, not an asymptotic claim. It also does not mean that the paper implementation is universally faster, because the numerator and denominator represent different pipelines. The reference call includes oracle-backed work, while the paper call starts from a certified valid input and times only the minimal core. Python sort, shown in the backup material, still has the lowest median call time at every tested size.</a:t>
            </a:r>
          </a:p>
          <a:p xmlns:a="http://schemas.openxmlformats.org/drawingml/2006/main">
            <a:r>
              <a:t/>
            </a:r>
          </a:p>
          <a:p xmlns:a="http://schemas.openxmlformats.org/drawingml/2006/main">
            <a:r>
              <a:t>[Sources]</a:t>
            </a:r>
          </a:p>
          <a:p xmlns:a="http://schemas.openxmlformats.org/drawingml/2006/main">
            <a:r>
              <a:t>- thesis/chapters/results.tex</a:t>
            </a:r>
          </a:p>
          <a:p xmlns:a="http://schemas.openxmlformats.org/drawingml/2006/main">
            <a:r>
              <a:t>- results/runs/week12_formal_sorting_v1__run001/case_summary.csv</a:t>
            </a:r>
          </a:p>
          <a:p xmlns:a="http://schemas.openxmlformats.org/drawingml/2006/main">
            <a:r>
              <a:t>- docs/analysis/week12_runtime_ratios.csv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evidence supports four bounded conclusions. The ordinary-list reconstruction is executable. It recovers output from maintained state rather than from the oracle result. It returned correct output on every evaluated valid case, and its runtime observations are reproducible under the defined timing scopes. Four stronger conclusions are not established: this is not a linear-time implementation, five sizes do not determine asymptotic complexity, recognition of arbitrary inputs was not evaluated, and the paper/reference ratio is not a like-for-like end-to-end speedup. The limitations on this slide apply to the ordinary-list evidence reported today. A future finger-tree backend would require its own correctness validation, complexity analysis, and experimental evidence.</a:t>
            </a:r>
          </a:p>
          <a:p xmlns:a="http://schemas.openxmlformats.org/drawingml/2006/main">
            <a:r>
              <a:t/>
            </a:r>
          </a:p>
          <a:p xmlns:a="http://schemas.openxmlformats.org/drawingml/2006/main">
            <a:r>
              <a:t>[Sources]</a:t>
            </a:r>
          </a:p>
          <a:p xmlns:a="http://schemas.openxmlformats.org/drawingml/2006/main">
            <a:r>
              <a:t>- thesis/chapters/limitations.tex</a:t>
            </a:r>
          </a:p>
          <a:p xmlns:a="http://schemas.openxmlformats.org/drawingml/2006/main">
            <a:r>
              <a:t>- thesis/chapters/conclusion.tex</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validated baseline now gives a controlled starting point for a finger-tree extension. The executable ordinary-list reconstruction has stabilized, its output is recovered from maintained state, state and ownership validation is in place, and the formal evidence has been archived. The archived ordinary-list experiment remains the fixed baseline and will not be overwritten. If the finger-tree backend becomes thesis-facing, it will receive a separate source version, validation pass, and experiment rather than reusing the existing results. The first goal is a semantically equivalent backend that passes differential and Jordan-sorting correctness tests. A stronger complexity claim would require an additional argument that splitting, boundary insertion, and ownership handling satisfy the operation bounds used by the historical analysis. I would therefore welcome guidance on whether the extension should target the historical heterogeneous finger tree or an equivalent backend with the required list operations, and whether semantic equivalence plus experimental comparison is sufficient or an amortized operation-bound argument is also expected.</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thesis/chapters/limitations.tex</a:t>
            </a:r>
          </a:p>
          <a:p xmlns:a="http://schemas.openxmlformats.org/drawingml/2006/main">
            <a:r>
              <a:t>- thesis/README.md</a:t>
            </a:r>
          </a:p>
          <a:p xmlns:a="http://schemas.openxmlformats.org/drawingml/2006/main">
            <a:r>
              <a:t>- Fung et al. (1990), doi:10.1016/0020-0190(90)90111-A</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exact runtimes are requested, this backup slide reports the median call times for all three algorithms. The values belong to one recorded Apple M4 and CPython 3.12.4 execution. The logarithmic scale makes the Python values visible beside the reference and paper values. These absolute times should not be generalized to other environments.</a:t>
            </a:r>
          </a:p>
          <a:p xmlns:a="http://schemas.openxmlformats.org/drawingml/2006/main">
            <a:r>
              <a:t/>
            </a:r>
          </a:p>
          <a:p xmlns:a="http://schemas.openxmlformats.org/drawingml/2006/main">
            <a:r>
              <a:t>[Sources]</a:t>
            </a:r>
          </a:p>
          <a:p xmlns:a="http://schemas.openxmlformats.org/drawingml/2006/main">
            <a:r>
              <a:t>- thesis/chapters/results.tex</a:t>
            </a:r>
          </a:p>
          <a:p xmlns:a="http://schemas.openxmlformats.org/drawingml/2006/main">
            <a:r>
              <a:t>- results/runs/week12_formal_sorting_v1__run001/case_summary.csv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answers the output-provenance question directly. The reference pipeline returns oracle_result sorted. The paper core returns state.partial_order.to_list. Certification precedes the paper call and comparison follows it, so neither operation supplies the paper core's return value.</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src/paper_jordan.py</a:t>
            </a:r>
          </a:p>
          <a:p xmlns:a="http://schemas.openxmlformats.org/drawingml/2006/main">
            <a:r>
              <a:t>- src/simplified_jordan.py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inventory summarizes the bounded validation evidence: repository tests, exhaustive valid permutations through size eight, fixed generated cases, formal case-level checked-state audits, and a formal evidence archive that passed evidence-contract validation. These checks are complementary; none is a universal proof.</a:t>
            </a:r>
          </a:p>
          <a:p xmlns:a="http://schemas.openxmlformats.org/drawingml/2006/main">
            <a:r>
              <a:t/>
            </a:r>
          </a:p>
          <a:p xmlns:a="http://schemas.openxmlformats.org/drawingml/2006/main">
            <a:r>
              <a:t>[Sources]</a:t>
            </a:r>
          </a:p>
          <a:p xmlns:a="http://schemas.openxmlformats.org/drawingml/2006/main">
            <a:r>
              <a:t>- docs/thesis/latex_final_audit.md</a:t>
            </a:r>
          </a:p>
          <a:p xmlns:a="http://schemas.openxmlformats.org/drawingml/2006/main">
            <a:r>
              <a:t>- experiments/validate_paper_algorithm.py</a:t>
            </a:r>
          </a:p>
          <a:p xmlns:a="http://schemas.openxmlformats.org/drawingml/2006/main">
            <a:r>
              <a:t>- results/runs/week12_formal_sorting_v1__run001/validation_report.json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summarizes the reflected local choices. Step 1 always selects the predecessor-side boundary A-i, and Step 2 always selects the successor-side boundary B-i. Step 3 reflects how those boundaries are used. Increasing iterations acquire the left split side and use the rightmost child and right endpoint; decreasing iterations mirror those choices.</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thesis/chapters/implementation.tex</a:t>
            </a:r>
          </a:p>
          <a:p xmlns:a="http://schemas.openxmlformats.org/drawingml/2006/main">
            <a:r>
              <a:t>- Fung et al. (1990), doi:10.1016/0020-0190(90)90111-A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proposed boundary keeps the paper-facing Step 1, Step 2, and Step 3 control flow above a small sibling-list interface. The current ordinary-list backend remains the validated baseline. A finger-tree backend would be a separate implementation of the same semantic operations: singleton creation, boundary insertion, split, extreme-child access, ownership preservation, and stable handles. The exact data-structure target—either the historical heterogeneous finger tree or an equivalently efficient backend—remains to be agreed with the supervisor. The main risk is that efficient tree splitting is not enough by itself. If ownership transfer still scans the acquired segment and rebinds every item, the backend may not satisfy the operation bounds needed by the historical analysis. The first milestone is therefore semantic equivalence and differential correctness; any complexity claim requires a separate proof-level argument.</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thesis/chapters/limitations.tex</a:t>
            </a:r>
          </a:p>
          <a:p xmlns:a="http://schemas.openxmlformats.org/drawingml/2006/main">
            <a:r>
              <a:t>- Fung et al. (1990), doi:10.1016/0020-0190(90)90111-A</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1b34639bf3c428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de71071fca34695" /><Relationship Type="http://schemas.openxmlformats.org/officeDocument/2006/relationships/slideLayout" Target="/ppt/slideLayouts/slideLayout1.xml" Id="R9b62ff4d6865415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b62ff4d6865415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d25f627ed084edb" /><Relationship Type="http://schemas.openxmlformats.org/officeDocument/2006/relationships/image" Target="/ppt/media/image.png" Id="Ra48e9c5ba7234883" /><Relationship Type="http://schemas.openxmlformats.org/officeDocument/2006/relationships/notesSlide" Target="/ppt/notesSlides/notesSlide1.xml" Id="R8bd355e2a2a043c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a4a02186a37440b" /><Relationship Type="http://schemas.openxmlformats.org/officeDocument/2006/relationships/notesSlide" Target="/ppt/notesSlides/notesSlide2.xml" Id="Rd4b1820064f84d4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554843536934a9e" /><Relationship Type="http://schemas.openxmlformats.org/officeDocument/2006/relationships/notesSlide" Target="/ppt/notesSlides/notesSlide3.xml" Id="R4338d11929b1430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c9834ee704848e4" /><Relationship Type="http://schemas.openxmlformats.org/officeDocument/2006/relationships/notesSlide" Target="/ppt/notesSlides/notesSlide4.xml" Id="Rfcf48302118641c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ca3fca843c94b33" /><Relationship Type="http://schemas.openxmlformats.org/officeDocument/2006/relationships/notesSlide" Target="/ppt/notesSlides/notesSlide5.xml" Id="Rbd70ce4616c9406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f6610fc7f524028" /><Relationship Type="http://schemas.openxmlformats.org/officeDocument/2006/relationships/notesSlide" Target="/ppt/notesSlides/notesSlide6.xml" Id="Rcd88e28acea24f7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94542a38b92433e" /><Relationship Type="http://schemas.openxmlformats.org/officeDocument/2006/relationships/notesSlide" Target="/ppt/notesSlides/notesSlide7.xml" Id="Re0b8223e3e7043e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303b0d119494637" /><Relationship Type="http://schemas.openxmlformats.org/officeDocument/2006/relationships/notesSlide" Target="/ppt/notesSlides/notesSlide8.xml" Id="Rbd68741f7803433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fd55fff3d4541a2" /><Relationship Type="http://schemas.openxmlformats.org/officeDocument/2006/relationships/notesSlide" Target="/ppt/notesSlides/notesSlide9.xml" Id="R0d973f66251c409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ba5b8a94b46470d" /><Relationship Type="http://schemas.openxmlformats.org/officeDocument/2006/relationships/notesSlide" Target="/ppt/notesSlides/notesSlide10.xml" Id="R917970233ed342d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1341ccb00a443bb" /><Relationship Type="http://schemas.openxmlformats.org/officeDocument/2006/relationships/notesSlide" Target="/ppt/notesSlides/notesSlide11.xml" Id="R8566d19366d6415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fc39a23a2e948e5" /><Relationship Type="http://schemas.openxmlformats.org/officeDocument/2006/relationships/notesSlide" Target="/ppt/notesSlides/notesSlide12.xml" Id="Rfebe7d01027e4ab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f9cc7e391934c5e" /><Relationship Type="http://schemas.openxmlformats.org/officeDocument/2006/relationships/notesSlide" Target="/ppt/notesSlides/notesSlide13.xml" Id="Reefeca48092a4e2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6deaf1f9be84091" /><Relationship Type="http://schemas.openxmlformats.org/officeDocument/2006/relationships/chart" Target="/ppt/slides/charts/chart1.xml" Id="R5d33f325175b4e01" /><Relationship Type="http://schemas.openxmlformats.org/officeDocument/2006/relationships/notesSlide" Target="/ppt/notesSlides/notesSlide14.xml" Id="R031bc78abbc945b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dc3ce1aef494288" /><Relationship Type="http://schemas.openxmlformats.org/officeDocument/2006/relationships/notesSlide" Target="/ppt/notesSlides/notesSlide15.xml" Id="Rc186271fdea14a8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eb3edfbba144427" /><Relationship Type="http://schemas.openxmlformats.org/officeDocument/2006/relationships/notesSlide" Target="/ppt/notesSlides/notesSlide16.xml" Id="R6c423b0809bb472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951f095c64e4e3d" /><Relationship Type="http://schemas.openxmlformats.org/officeDocument/2006/relationships/image" Target="/ppt/media/image2.png" Id="R7668b85e9f834fc0" /><Relationship Type="http://schemas.openxmlformats.org/officeDocument/2006/relationships/notesSlide" Target="/ppt/notesSlides/notesSlide17.xml" Id="R717a59757ca64ee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1944d07a3fd446b" /><Relationship Type="http://schemas.openxmlformats.org/officeDocument/2006/relationships/notesSlide" Target="/ppt/notesSlides/notesSlide18.xml" Id="Rf13cddadca064a0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8be36ba35224508" /><Relationship Type="http://schemas.openxmlformats.org/officeDocument/2006/relationships/notesSlide" Target="/ppt/notesSlides/notesSlide19.xml" Id="R68975a4fd62840a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23a75f21d3d4db8" /><Relationship Type="http://schemas.openxmlformats.org/officeDocument/2006/relationships/notesSlide" Target="/ppt/notesSlides/notesSlide20.xml" Id="R21e156ee26934a0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848fa59fea5d44d8" /><Relationship Type="http://schemas.openxmlformats.org/officeDocument/2006/relationships/notesSlide" Target="/ppt/notesSlides/notesSlide21.xml" Id="R2fb64107a94e4b77" /></Relationships>
</file>

<file path=ppt/slides/charts/chart1.xml><?xml version="1.0" encoding="utf-8"?>
<c:chartSpace xmlns:c="http://schemas.openxmlformats.org/drawingml/2006/chart">
  <c:lang val="en-US"/>
  <c:chart>
    <c:plotArea>
      <c:lineChart>
        <c:grouping val="standard"/>
        <c:varyColors val="0"/>
        <c:ser>
          <c:idx val="0"/>
          <c:order val="0"/>
          <c:tx>
            <c:v>paper/reference</c:v>
          </c:tx>
          <c:spPr>
            <a:ln xmlns:a="http://schemas.openxmlformats.org/drawingml/2006/main" w="38100">
              <a:solidFill>
                <a:srgbClr val="2A9D8F"/>
              </a:solidFill>
              <a:prstDash val="solid"/>
            </a:ln>
          </c:spPr>
          <c:marker>
            <c:symbol val="circle"/>
            <c:size val="9"/>
            <c:spPr>
              <a:solidFill xmlns:a="http://schemas.openxmlformats.org/drawingml/2006/main">
                <a:srgbClr val="2A9D8F"/>
              </a:solidFill>
            </c:spPr>
          </c:marker>
          <c:cat>
            <c:numLit>
              <c:formatCode>General</c:formatCode>
              <c:ptCount val="5"/>
              <c:pt idx="0">
                <c:v>32</c:v>
              </c:pt>
              <c:pt idx="1">
                <c:v>64</c:v>
              </c:pt>
              <c:pt idx="2">
                <c:v>128</c:v>
              </c:pt>
              <c:pt idx="3">
                <c:v>256</c:v>
              </c:pt>
              <c:pt idx="4">
                <c:v>512</c:v>
              </c:pt>
            </c:numLit>
          </c:cat>
          <c:val>
            <c:numLit>
              <c:formatCode>0.0</c:formatCode>
              <c:ptCount val="5"/>
              <c:pt idx="0">
                <c:v>3.22642</c:v>
              </c:pt>
              <c:pt idx="1">
                <c:v>2.202394</c:v>
              </c:pt>
              <c:pt idx="2">
                <c:v>1.351064</c:v>
              </c:pt>
              <c:pt idx="3">
                <c:v>0.850597</c:v>
              </c:pt>
              <c:pt idx="4">
                <c:v>0.567187</c:v>
              </c:pt>
            </c:numLit>
          </c:val>
          <c:smooth val="0"/>
        </c:ser>
        <c:ser>
          <c:idx val="1"/>
          <c:order val="1"/>
          <c:tx>
            <c:v>ratio = 1</c:v>
          </c:tx>
          <c:spPr>
            <a:ln xmlns:a="http://schemas.openxmlformats.org/drawingml/2006/main" w="19050">
              <a:solidFill>
                <a:srgbClr val="E76F51"/>
              </a:solidFill>
              <a:prstDash val="dash"/>
            </a:ln>
          </c:spPr>
          <c:marker>
            <c:symbol val="none"/>
          </c:marker>
          <c:cat>
            <c:numLit>
              <c:formatCode>General</c:formatCode>
              <c:ptCount val="5"/>
              <c:pt idx="0">
                <c:v>32</c:v>
              </c:pt>
              <c:pt idx="1">
                <c:v>64</c:v>
              </c:pt>
              <c:pt idx="2">
                <c:v>128</c:v>
              </c:pt>
              <c:pt idx="3">
                <c:v>256</c:v>
              </c:pt>
              <c:pt idx="4">
                <c:v>512</c:v>
              </c:pt>
            </c:numLit>
          </c:cat>
          <c:val>
            <c:numLit>
              <c:formatCode>0.0</c:formatCode>
              <c:ptCount val="5"/>
              <c:pt idx="0">
                <c:v>1</c:v>
              </c:pt>
              <c:pt idx="1">
                <c:v>1</c:v>
              </c:pt>
              <c:pt idx="2">
                <c:v>1</c:v>
              </c:pt>
              <c:pt idx="3">
                <c:v>1</c:v>
              </c:pt>
              <c:pt idx="4">
                <c:v>1</c:v>
              </c:pt>
            </c:numLit>
          </c:val>
          <c:smooth val="0"/>
        </c:ser>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125">
                    <a:solidFill>
                      <a:srgbClr val="52606D"/>
                    </a:solidFill>
                  </a:rPr>
                  <a:t>input size n</a:t>
                </a:r>
              </a:p>
            </c:rich>
          </c:tx>
          <c:overlay val="0"/>
          <c:txPr>
            <a:bodyPr xmlns:a="http://schemas.openxmlformats.org/drawingml/2006/main" anchorCtr="1"/>
            <a:lstStyle xmlns:a="http://schemas.openxmlformats.org/drawingml/2006/main"/>
            <a:p xmlns:a="http://schemas.openxmlformats.org/drawingml/2006/main">
              <a:pPr>
                <a:defRPr sz="1125">
                  <a:solidFill>
                    <a:srgbClr val="52606D"/>
                  </a:solidFill>
                </a:defRPr>
              </a:pPr>
            </a:p>
          </c:txPr>
        </c:title>
        <c:numFmt formatCode="General"/>
        <c:majorTickMark val="none"/>
        <c:minorTickMark val="none"/>
        <c:spPr>
          <a:ln xmlns:a="http://schemas.openxmlformats.org/drawingml/2006/main" w="9525">
            <a:solidFill>
              <a:srgbClr val="D9E2EC"/>
            </a:solidFill>
            <a:prstDash val="solid"/>
          </a:ln>
        </c:spPr>
        <c:txPr>
          <a:bodyPr xmlns:a="http://schemas.openxmlformats.org/drawingml/2006/main" anchorCtr="1"/>
          <a:lstStyle xmlns:a="http://schemas.openxmlformats.org/drawingml/2006/main"/>
          <a:p xmlns:a="http://schemas.openxmlformats.org/drawingml/2006/main">
            <a:pPr>
              <a:defRPr sz="1125">
                <a:solidFill>
                  <a:srgbClr val="52606D"/>
                </a:solidFill>
              </a:defRPr>
            </a:pPr>
          </a:p>
        </c:txPr>
        <c:crossAx val="48672768"/>
      </c:catAx>
      <c:valAx>
        <c:axId val="48672768"/>
        <c:scaling>
          <c:orientation val="minMax"/>
          <c:max val="3.5"/>
          <c:min val="0"/>
        </c:scaling>
        <c:delete val="0"/>
        <c:axPos val="l"/>
        <c:majorGridlines>
          <c:spPr>
            <a:ln xmlns:a="http://schemas.openxmlformats.org/drawingml/2006/main" w="9525">
              <a:solidFill>
                <a:srgbClr val="E6EDF3"/>
              </a:solidFill>
              <a:prstDash val="solid"/>
            </a:ln>
          </c:spPr>
        </c:majorGridlines>
        <c:title>
          <c:tx>
            <c:rich>
              <a:bodyPr xmlns:a="http://schemas.openxmlformats.org/drawingml/2006/main"/>
              <a:lstStyle xmlns:a="http://schemas.openxmlformats.org/drawingml/2006/main"/>
              <a:p xmlns:a="http://schemas.openxmlformats.org/drawingml/2006/main">
                <a:r>
                  <a:rPr sz="1125">
                    <a:solidFill>
                      <a:srgbClr val="52606D"/>
                    </a:solidFill>
                  </a:rPr>
                  <a:t>median exact-case ratio</a:t>
                </a:r>
              </a:p>
            </c:rich>
          </c:tx>
          <c:overlay val="0"/>
          <c:txPr>
            <a:bodyPr xmlns:a="http://schemas.openxmlformats.org/drawingml/2006/main" anchorCtr="1"/>
            <a:lstStyle xmlns:a="http://schemas.openxmlformats.org/drawingml/2006/main"/>
            <a:p xmlns:a="http://schemas.openxmlformats.org/drawingml/2006/main">
              <a:pPr>
                <a:defRPr sz="1125">
                  <a:solidFill>
                    <a:srgbClr val="52606D"/>
                  </a:solidFill>
                </a:defRPr>
              </a:pPr>
            </a:p>
          </c:txPr>
        </c:title>
        <c:numFmt formatCode="0.0"/>
        <c:majorTickMark val="none"/>
        <c:minorTickMark val="none"/>
        <c:spPr>
          <a:ln xmlns:a="http://schemas.openxmlformats.org/drawingml/2006/main" w="9525">
            <a:solidFill>
              <a:srgbClr val="D9E2EC"/>
            </a:solidFill>
            <a:prstDash val="solid"/>
          </a:ln>
        </c:spPr>
        <c:txPr>
          <a:bodyPr xmlns:a="http://schemas.openxmlformats.org/drawingml/2006/main" anchorCtr="1"/>
          <a:lstStyle xmlns:a="http://schemas.openxmlformats.org/drawingml/2006/main"/>
          <a:p xmlns:a="http://schemas.openxmlformats.org/drawingml/2006/main">
            <a:pPr>
              <a:defRPr sz="1050">
                <a:solidFill>
                  <a:srgbClr val="52606D"/>
                </a:solidFill>
              </a:defRPr>
            </a:pPr>
          </a:p>
        </c:txPr>
        <c:crossAx val="48650112"/>
        <c:crossBetween val="between"/>
        <c:majorUnit val="0.5"/>
      </c:valAx>
      <c:spPr>
        <a:solidFill xmlns:a="http://schemas.openxmlformats.org/drawingml/2006/main">
          <a:srgbClr val="FFFFFF"/>
        </a:solidFill>
        <a:ln xmlns:a="http://schemas.openxmlformats.org/drawingml/2006/main" w="9525">
          <a:solidFill>
            <a:srgbClr val="D9E2EC"/>
          </a:solid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125">
              <a:solidFill>
                <a:srgbClr val="52606D"/>
              </a:solidFill>
            </a:defRPr>
          </a:pPr>
        </a:p>
      </c:txPr>
    </c:legend>
    <c:plotVisOnly val="1"/>
  </c:chart>
  <c:spPr>
    <a:solidFill xmlns:a="http://schemas.openxmlformats.org/drawingml/2006/main">
      <a:srgbClr val="FFFFFF"/>
    </a:solidFill>
    <a:ln xmlns:a="http://schemas.openxmlformats.org/drawingml/2006/main" w="9525">
      <a:solidFill>
        <a:srgbClr val="D9E2EC"/>
      </a:solidFill>
      <a:prstDash val="solid"/>
    </a:ln>
  </c:spPr>
</c:chartSpace>
</file>

<file path=ppt/slides/slide1.xml><?xml version="1.0" encoding="utf-8"?>
<p:sld xmlns:p="http://schemas.openxmlformats.org/presentationml/2006/main">
  <p:cSld>
    <p:bg>
      <p:bgPr>
        <a:solidFill xmlns:a="http://schemas.openxmlformats.org/drawingml/2006/main">
          <a:srgbClr val="102A43"/>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EDC5DA2-3E39-468E-B4AF-FB7CD9A873C3}"/>
              </a:ext>
            </a:extLst>
          </p:cNvPr>
          <p:cNvSpPr>
            <a:spLocks xmlns:a="http://schemas.openxmlformats.org/drawingml/2006/main" noGrp="1"/>
          </p:cNvSpPr>
          <p:nvPr/>
        </p:nvSpPr>
        <p:spPr>
          <a:xfrm xmlns:a="http://schemas.openxmlformats.org/drawingml/2006/main">
            <a:off x="7239000" y="0"/>
            <a:ext cx="4953000" cy="6858000"/>
          </a:xfrm>
          <a:prstGeom xmlns:a="http://schemas.openxmlformats.org/drawingml/2006/main" prst="rect">
            <a:avLst/>
          </a:prstGeom>
          <a:solidFill xmlns:a="http://schemas.openxmlformats.org/drawingml/2006/main">
            <a:srgbClr val="FFFFFF"/>
          </a:solidFill>
          <a:ln xmlns:a="http://schemas.openxmlformats.org/drawingml/2006/main" w="11430">
            <a:solidFill>
              <a:srgbClr val="FFFFFF"/>
            </a:solidFill>
            <a:prstDash val="solid"/>
          </a:ln>
        </p:spPr>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a48e9c5ba7234883"/>
          <a:stretch xmlns:a="http://schemas.openxmlformats.org/drawingml/2006/main"/>
        </p:blipFill>
        <p:spPr>
          <a:xfrm xmlns:a="http://schemas.openxmlformats.org/drawingml/2006/main">
            <a:off x="7334250" y="1695818"/>
            <a:ext cx="4667250" cy="2666263"/>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8323668F-9159-471B-83F8-74C9EF3198D8}"/>
              </a:ext>
            </a:extLst>
          </p:cNvPr>
          <p:cNvSpPr>
            <a:spLocks xmlns:a="http://schemas.openxmlformats.org/drawingml/2006/main" noGrp="1"/>
          </p:cNvSpPr>
          <p:nvPr/>
        </p:nvSpPr>
        <p:spPr>
          <a:xfrm xmlns:a="http://schemas.openxmlformats.org/drawingml/2006/main">
            <a:off x="685800" y="666750"/>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050" b="1" i="0">
                <a:solidFill>
                  <a:srgbClr val="2A9D8F"/>
                </a:solidFill>
              </a:defRPr>
            </a:pPr>
            <a:r>
              <a:rPr sz="1050" b="1" i="0">
                <a:solidFill>
                  <a:srgbClr val="2A9D8F"/>
                </a:solidFill>
              </a:rPr>
              <a:t>MASTER'S THESIS PROGRESS REPORT</a:t>
            </a:r>
          </a:p>
        </p:txBody>
      </p:sp>
      <p:sp>
        <p:nvSpPr>
          <p:cNvPr id="4" name="">
            <a:extLst xmlns:a="http://schemas.openxmlformats.org/drawingml/2006/main">
              <a:ext uri="{FF2B5EF4-FFF2-40B4-BE49-F238E27FC236}">
                <a16:creationId xmlns:a16="http://schemas.microsoft.com/office/drawing/2014/main" id="{2D4B6215-5D29-4D70-B820-A001698CD033}"/>
              </a:ext>
            </a:extLst>
          </p:cNvPr>
          <p:cNvSpPr>
            <a:spLocks xmlns:a="http://schemas.openxmlformats.org/drawingml/2006/main" noGrp="1"/>
          </p:cNvSpPr>
          <p:nvPr/>
        </p:nvSpPr>
        <p:spPr>
          <a:xfrm xmlns:a="http://schemas.openxmlformats.org/drawingml/2006/main">
            <a:off x="685800" y="1219200"/>
            <a:ext cx="5905500"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2000"/>
              </a:lnSpc>
              <a:buNone/>
              <a:defRPr sz="3750" b="1" i="0">
                <a:solidFill>
                  <a:srgbClr val="FFFFFF"/>
                </a:solidFill>
              </a:defRPr>
            </a:pPr>
            <a:r>
              <a:rPr sz="3750" b="1" i="0">
                <a:solidFill>
                  <a:srgbClr val="FFFFFF"/>
                </a:solidFill>
              </a:rPr>
              <a:t>Progress on the Executable Reconstruction of Simplified Jordan Sorting</a:t>
            </a:r>
          </a:p>
        </p:txBody>
      </p:sp>
      <p:sp>
        <p:nvSpPr>
          <p:cNvPr id="5" name="">
            <a:extLst xmlns:a="http://schemas.openxmlformats.org/drawingml/2006/main">
              <a:ext uri="{FF2B5EF4-FFF2-40B4-BE49-F238E27FC236}">
                <a16:creationId xmlns:a16="http://schemas.microsoft.com/office/drawing/2014/main" id="{C6F75352-07CF-4387-B45B-86202AC13B47}"/>
              </a:ext>
            </a:extLst>
          </p:cNvPr>
          <p:cNvSpPr>
            <a:spLocks xmlns:a="http://schemas.openxmlformats.org/drawingml/2006/main" noGrp="1"/>
          </p:cNvSpPr>
          <p:nvPr/>
        </p:nvSpPr>
        <p:spPr>
          <a:xfrm xmlns:a="http://schemas.openxmlformats.org/drawingml/2006/main">
            <a:off x="723900" y="3857625"/>
            <a:ext cx="5334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0" i="0">
                <a:solidFill>
                  <a:srgbClr val="D9EAF2"/>
                </a:solidFill>
              </a:defRPr>
            </a:pPr>
            <a:r>
              <a:rPr sz="1800" b="0" i="0">
                <a:solidFill>
                  <a:srgbClr val="D9EAF2"/>
                </a:solidFill>
              </a:rPr>
              <a:t>Implementation, validation, and formal experimental evidence</a:t>
            </a:r>
          </a:p>
        </p:txBody>
      </p:sp>
      <p:sp>
        <p:nvSpPr>
          <p:cNvPr id="6" name="">
            <a:extLst xmlns:a="http://schemas.openxmlformats.org/drawingml/2006/main">
              <a:ext uri="{FF2B5EF4-FFF2-40B4-BE49-F238E27FC236}">
                <a16:creationId xmlns:a16="http://schemas.microsoft.com/office/drawing/2014/main" id="{FE645AE1-B738-412B-B717-4A013DC90A14}"/>
              </a:ext>
            </a:extLst>
          </p:cNvPr>
          <p:cNvSpPr>
            <a:spLocks xmlns:a="http://schemas.openxmlformats.org/drawingml/2006/main" noGrp="1"/>
          </p:cNvSpPr>
          <p:nvPr/>
        </p:nvSpPr>
        <p:spPr>
          <a:xfrm xmlns:a="http://schemas.openxmlformats.org/drawingml/2006/main">
            <a:off x="723900" y="4838700"/>
            <a:ext cx="1428750" cy="9525"/>
          </a:xfrm>
          <a:prstGeom xmlns:a="http://schemas.openxmlformats.org/drawingml/2006/main" prst="line">
            <a:avLst/>
          </a:prstGeom>
          <a:noFill xmlns:a="http://schemas.openxmlformats.org/drawingml/2006/main"/>
          <a:ln xmlns:a="http://schemas.openxmlformats.org/drawingml/2006/main" w="47625">
            <a:solidFill>
              <a:srgbClr val="E76F51"/>
            </a:solidFill>
            <a:prstDash val="solid"/>
          </a:ln>
        </p:spPr>
      </p:sp>
      <p:sp>
        <p:nvSpPr>
          <p:cNvPr id="7" name="">
            <a:extLst xmlns:a="http://schemas.openxmlformats.org/drawingml/2006/main">
              <a:ext uri="{FF2B5EF4-FFF2-40B4-BE49-F238E27FC236}">
                <a16:creationId xmlns:a16="http://schemas.microsoft.com/office/drawing/2014/main" id="{28865454-8AEA-40CE-A283-B994C2BD6AD3}"/>
              </a:ext>
            </a:extLst>
          </p:cNvPr>
          <p:cNvSpPr>
            <a:spLocks xmlns:a="http://schemas.openxmlformats.org/drawingml/2006/main" noGrp="1"/>
          </p:cNvSpPr>
          <p:nvPr/>
        </p:nvSpPr>
        <p:spPr>
          <a:xfrm xmlns:a="http://schemas.openxmlformats.org/drawingml/2006/main">
            <a:off x="723900" y="5086350"/>
            <a:ext cx="590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275" b="0" i="0">
                <a:solidFill>
                  <a:srgbClr val="BCCCDC"/>
                </a:solidFill>
              </a:defRPr>
            </a:pPr>
            <a:r>
              <a:rPr sz="1275" b="0" i="0">
                <a:solidFill>
                  <a:srgbClr val="BCCCDC"/>
                </a:solidFill>
              </a:rPr>
              <a:t>Research Seminar  |  Freie Universität Berlin  |  September 2026</a:t>
            </a:r>
          </a:p>
        </p:txBody>
      </p:sp>
      <p:sp>
        <p:nvSpPr>
          <p:cNvPr id="8" name="">
            <a:extLst xmlns:a="http://schemas.openxmlformats.org/drawingml/2006/main">
              <a:ext uri="{FF2B5EF4-FFF2-40B4-BE49-F238E27FC236}">
                <a16:creationId xmlns:a16="http://schemas.microsoft.com/office/drawing/2014/main" id="{40AE0B78-71EB-4F9D-A607-5F45E7C1CF37}"/>
              </a:ext>
            </a:extLst>
          </p:cNvPr>
          <p:cNvSpPr>
            <a:spLocks xmlns:a="http://schemas.openxmlformats.org/drawingml/2006/main" noGrp="1"/>
          </p:cNvSpPr>
          <p:nvPr/>
        </p:nvSpPr>
        <p:spPr>
          <a:xfrm xmlns:a="http://schemas.openxmlformats.org/drawingml/2006/main">
            <a:off x="11010900" y="6477000"/>
            <a:ext cx="7048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r">
              <a:lnSpc>
                <a:spcPct val="105000"/>
              </a:lnSpc>
              <a:buNone/>
              <a:defRPr sz="825" b="0" i="0">
                <a:solidFill>
                  <a:srgbClr val="7B8794"/>
                </a:solidFill>
              </a:defRPr>
            </a:pPr>
            <a:r>
              <a:rPr sz="825" b="0" i="0">
                <a:solidFill>
                  <a:srgbClr val="7B8794"/>
                </a:solidFill>
              </a:rPr>
              <a:t>1 / 16</a:t>
            </a:r>
          </a:p>
        </p:txBody>
      </p:sp>
    </p:spTree>
    <p:extLst>
      <p:ext uri="{BB962C8B-B14F-4D97-AF65-F5344CB8AC3E}">
        <p14:creationId xmlns:p14="http://schemas.microsoft.com/office/powerpoint/2010/main" val="742920433"/>
      </p:ext>
    </p:extLst>
  </p:cSld>
</p:sld>
</file>

<file path=ppt/slides/slide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0A362742-044E-4AC8-8F5A-1D012AA6B753}"/>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CONTEXT</a:t>
            </a:r>
          </a:p>
        </p:txBody>
      </p:sp>
      <p:sp>
        <p:nvSpPr>
          <p:cNvPr id="2" name="">
            <a:extLst xmlns:a="http://schemas.openxmlformats.org/drawingml/2006/main">
              <a:ext uri="{FF2B5EF4-FFF2-40B4-BE49-F238E27FC236}">
                <a16:creationId xmlns:a16="http://schemas.microsoft.com/office/drawing/2014/main" id="{81BCD880-9BD5-40BD-ADE0-CA279C20F5FF}"/>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The previous report established a static structural baseline</a:t>
            </a:r>
          </a:p>
        </p:txBody>
      </p:sp>
      <p:sp>
        <p:nvSpPr>
          <p:cNvPr id="3" name="">
            <a:extLst xmlns:a="http://schemas.openxmlformats.org/drawingml/2006/main">
              <a:ext uri="{FF2B5EF4-FFF2-40B4-BE49-F238E27FC236}">
                <a16:creationId xmlns:a16="http://schemas.microsoft.com/office/drawing/2014/main" id="{7A1B2EB3-447A-4C83-8D6E-CDEC1BA6EC28}"/>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0FCF905C-FDF6-4402-9792-DB0F3A4ED020}"/>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8B1243C3-4EAC-4300-AF23-B9981D6D0FAA}"/>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BFA87330-7C29-4EFF-9B97-A959282E2FD2}"/>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2 / 16</a:t>
            </a:r>
          </a:p>
        </p:txBody>
      </p:sp>
      <p:sp>
        <p:nvSpPr>
          <p:cNvPr id="7" name="">
            <a:extLst xmlns:a="http://schemas.openxmlformats.org/drawingml/2006/main">
              <a:ext uri="{FF2B5EF4-FFF2-40B4-BE49-F238E27FC236}">
                <a16:creationId xmlns:a16="http://schemas.microsoft.com/office/drawing/2014/main" id="{5F62BDE9-C5E2-4B77-A8AC-9F429BDE3607}"/>
              </a:ext>
            </a:extLst>
          </p:cNvPr>
          <p:cNvSpPr>
            <a:spLocks xmlns:a="http://schemas.openxmlformats.org/drawingml/2006/main" noGrp="1"/>
          </p:cNvSpPr>
          <p:nvPr/>
        </p:nvSpPr>
        <p:spPr>
          <a:xfrm xmlns:a="http://schemas.openxmlformats.org/drawingml/2006/main">
            <a:off x="895350" y="142875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2A9D8F"/>
                </a:solidFill>
              </a:defRPr>
            </a:pPr>
            <a:r>
              <a:rPr sz="1125" b="1" i="0">
                <a:solidFill>
                  <a:srgbClr val="2A9D8F"/>
                </a:solidFill>
              </a:rPr>
              <a:t>PREVIOUS BASELINE</a:t>
            </a:r>
          </a:p>
        </p:txBody>
      </p:sp>
      <p:sp>
        <p:nvSpPr>
          <p:cNvPr id="8" name="">
            <a:extLst xmlns:a="http://schemas.openxmlformats.org/drawingml/2006/main">
              <a:ext uri="{FF2B5EF4-FFF2-40B4-BE49-F238E27FC236}">
                <a16:creationId xmlns:a16="http://schemas.microsoft.com/office/drawing/2014/main" id="{E1AFFA78-BFD3-424F-924D-B8A312AF7407}"/>
              </a:ext>
            </a:extLst>
          </p:cNvPr>
          <p:cNvSpPr>
            <a:spLocks xmlns:a="http://schemas.openxmlformats.org/drawingml/2006/main" noGrp="1"/>
          </p:cNvSpPr>
          <p:nvPr/>
        </p:nvSpPr>
        <p:spPr>
          <a:xfrm xmlns:a="http://schemas.openxmlformats.org/drawingml/2006/main">
            <a:off x="895350" y="1762125"/>
            <a:ext cx="3714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4383"/>
          </a:bodyPr>
          <a:lstStyle xmlns:a="http://schemas.openxmlformats.org/drawingml/2006/main"/>
          <a:p xmlns:a="http://schemas.openxmlformats.org/drawingml/2006/main">
            <a:pPr algn="l">
              <a:lnSpc>
                <a:spcPct val="105000"/>
              </a:lnSpc>
              <a:buNone/>
              <a:defRPr sz="2025" b="1" i="0">
                <a:solidFill>
                  <a:srgbClr val="102A43"/>
                </a:solidFill>
              </a:defRPr>
            </a:pPr>
            <a:r>
              <a:rPr sz="2025" b="1" i="0">
                <a:solidFill>
                  <a:srgbClr val="102A43"/>
                </a:solidFill>
              </a:rPr>
              <a:t>Structural reference framework</a:t>
            </a:r>
          </a:p>
        </p:txBody>
      </p:sp>
      <p:sp>
        <p:nvSpPr>
          <p:cNvPr id="9" name="">
            <a:extLst xmlns:a="http://schemas.openxmlformats.org/drawingml/2006/main">
              <a:ext uri="{FF2B5EF4-FFF2-40B4-BE49-F238E27FC236}">
                <a16:creationId xmlns:a16="http://schemas.microsoft.com/office/drawing/2014/main" id="{02B0CF09-F9FF-41EA-BFDF-9F75BCB30926}"/>
              </a:ext>
            </a:extLst>
          </p:cNvPr>
          <p:cNvSpPr>
            <a:spLocks xmlns:a="http://schemas.openxmlformats.org/drawingml/2006/main" noGrp="1"/>
          </p:cNvSpPr>
          <p:nvPr/>
        </p:nvSpPr>
        <p:spPr>
          <a:xfrm xmlns:a="http://schemas.openxmlformats.org/drawingml/2006/main">
            <a:off x="971550" y="24574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0" name="">
            <a:extLst xmlns:a="http://schemas.openxmlformats.org/drawingml/2006/main">
              <a:ext uri="{FF2B5EF4-FFF2-40B4-BE49-F238E27FC236}">
                <a16:creationId xmlns:a16="http://schemas.microsoft.com/office/drawing/2014/main" id="{F9F1F6F4-D130-4F60-8F8D-62077D57FB08}"/>
              </a:ext>
            </a:extLst>
          </p:cNvPr>
          <p:cNvSpPr>
            <a:spLocks xmlns:a="http://schemas.openxmlformats.org/drawingml/2006/main" noGrp="1"/>
          </p:cNvSpPr>
          <p:nvPr/>
        </p:nvSpPr>
        <p:spPr>
          <a:xfrm xmlns:a="http://schemas.openxmlformats.org/drawingml/2006/main">
            <a:off x="1181100" y="23812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rank-interval abstraction</a:t>
            </a:r>
          </a:p>
        </p:txBody>
      </p:sp>
      <p:sp>
        <p:nvSpPr>
          <p:cNvPr id="11" name="">
            <a:extLst xmlns:a="http://schemas.openxmlformats.org/drawingml/2006/main">
              <a:ext uri="{FF2B5EF4-FFF2-40B4-BE49-F238E27FC236}">
                <a16:creationId xmlns:a16="http://schemas.microsoft.com/office/drawing/2014/main" id="{068364A6-A65B-4E01-8CF9-E3FB0669E10D}"/>
              </a:ext>
            </a:extLst>
          </p:cNvPr>
          <p:cNvSpPr>
            <a:spLocks xmlns:a="http://schemas.openxmlformats.org/drawingml/2006/main" noGrp="1"/>
          </p:cNvSpPr>
          <p:nvPr/>
        </p:nvSpPr>
        <p:spPr>
          <a:xfrm xmlns:a="http://schemas.openxmlformats.org/drawingml/2006/main">
            <a:off x="971550" y="29527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2" name="">
            <a:extLst xmlns:a="http://schemas.openxmlformats.org/drawingml/2006/main">
              <a:ext uri="{FF2B5EF4-FFF2-40B4-BE49-F238E27FC236}">
                <a16:creationId xmlns:a16="http://schemas.microsoft.com/office/drawing/2014/main" id="{45F89DF8-23FD-4D85-B04F-8038726B4160}"/>
              </a:ext>
            </a:extLst>
          </p:cNvPr>
          <p:cNvSpPr>
            <a:spLocks xmlns:a="http://schemas.openxmlformats.org/drawingml/2006/main" noGrp="1"/>
          </p:cNvSpPr>
          <p:nvPr/>
        </p:nvSpPr>
        <p:spPr>
          <a:xfrm xmlns:a="http://schemas.openxmlformats.org/drawingml/2006/main">
            <a:off x="1181100" y="28765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upper and lower families</a:t>
            </a:r>
          </a:p>
        </p:txBody>
      </p:sp>
      <p:sp>
        <p:nvSpPr>
          <p:cNvPr id="13" name="">
            <a:extLst xmlns:a="http://schemas.openxmlformats.org/drawingml/2006/main">
              <a:ext uri="{FF2B5EF4-FFF2-40B4-BE49-F238E27FC236}">
                <a16:creationId xmlns:a16="http://schemas.microsoft.com/office/drawing/2014/main" id="{030880D6-43AC-4FD7-A0DE-9CA8CA397F60}"/>
              </a:ext>
            </a:extLst>
          </p:cNvPr>
          <p:cNvSpPr>
            <a:spLocks xmlns:a="http://schemas.openxmlformats.org/drawingml/2006/main" noGrp="1"/>
          </p:cNvSpPr>
          <p:nvPr/>
        </p:nvSpPr>
        <p:spPr>
          <a:xfrm xmlns:a="http://schemas.openxmlformats.org/drawingml/2006/main">
            <a:off x="971550" y="34480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4" name="">
            <a:extLst xmlns:a="http://schemas.openxmlformats.org/drawingml/2006/main">
              <a:ext uri="{FF2B5EF4-FFF2-40B4-BE49-F238E27FC236}">
                <a16:creationId xmlns:a16="http://schemas.microsoft.com/office/drawing/2014/main" id="{85498F38-3B52-416A-A7F9-4A98618703DD}"/>
              </a:ext>
            </a:extLst>
          </p:cNvPr>
          <p:cNvSpPr>
            <a:spLocks xmlns:a="http://schemas.openxmlformats.org/drawingml/2006/main" noGrp="1"/>
          </p:cNvSpPr>
          <p:nvPr/>
        </p:nvSpPr>
        <p:spPr>
          <a:xfrm xmlns:a="http://schemas.openxmlformats.org/drawingml/2006/main">
            <a:off x="1181100" y="33718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family trees and structural metrics</a:t>
            </a:r>
          </a:p>
        </p:txBody>
      </p:sp>
      <p:sp>
        <p:nvSpPr>
          <p:cNvPr id="15" name="">
            <a:extLst xmlns:a="http://schemas.openxmlformats.org/drawingml/2006/main">
              <a:ext uri="{FF2B5EF4-FFF2-40B4-BE49-F238E27FC236}">
                <a16:creationId xmlns:a16="http://schemas.microsoft.com/office/drawing/2014/main" id="{E997A16C-96B6-4C1C-90BF-64577D1E8F19}"/>
              </a:ext>
            </a:extLst>
          </p:cNvPr>
          <p:cNvSpPr>
            <a:spLocks xmlns:a="http://schemas.openxmlformats.org/drawingml/2006/main" noGrp="1"/>
          </p:cNvSpPr>
          <p:nvPr/>
        </p:nvSpPr>
        <p:spPr>
          <a:xfrm xmlns:a="http://schemas.openxmlformats.org/drawingml/2006/main">
            <a:off x="971550" y="39433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6" name="">
            <a:extLst xmlns:a="http://schemas.openxmlformats.org/drawingml/2006/main">
              <a:ext uri="{FF2B5EF4-FFF2-40B4-BE49-F238E27FC236}">
                <a16:creationId xmlns:a16="http://schemas.microsoft.com/office/drawing/2014/main" id="{155289B4-30C1-4DAC-9962-DDA850C7FA5C}"/>
              </a:ext>
            </a:extLst>
          </p:cNvPr>
          <p:cNvSpPr>
            <a:spLocks xmlns:a="http://schemas.openxmlformats.org/drawingml/2006/main" noGrp="1"/>
          </p:cNvSpPr>
          <p:nvPr/>
        </p:nvSpPr>
        <p:spPr>
          <a:xfrm xmlns:a="http://schemas.openxmlformats.org/drawingml/2006/main">
            <a:off x="1181100" y="38671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oracle-backed validation</a:t>
            </a:r>
          </a:p>
        </p:txBody>
      </p:sp>
      <p:sp>
        <p:nvSpPr>
          <p:cNvPr id="17" name="">
            <a:extLst xmlns:a="http://schemas.openxmlformats.org/drawingml/2006/main">
              <a:ext uri="{FF2B5EF4-FFF2-40B4-BE49-F238E27FC236}">
                <a16:creationId xmlns:a16="http://schemas.microsoft.com/office/drawing/2014/main" id="{CFA1EFCF-91E5-48C6-84A4-3EF806F2239A}"/>
              </a:ext>
            </a:extLst>
          </p:cNvPr>
          <p:cNvSpPr>
            <a:spLocks xmlns:a="http://schemas.openxmlformats.org/drawingml/2006/main" noGrp="1"/>
          </p:cNvSpPr>
          <p:nvPr/>
        </p:nvSpPr>
        <p:spPr>
          <a:xfrm xmlns:a="http://schemas.openxmlformats.org/drawingml/2006/main">
            <a:off x="5219700" y="2971800"/>
            <a:ext cx="1143000" cy="552450"/>
          </a:xfrm>
          <a:prstGeom xmlns:a="http://schemas.openxmlformats.org/drawingml/2006/main" prst="roundRect">
            <a:avLst>
              <a:gd name="adj" fmla="val 50000"/>
            </a:avLst>
          </a:prstGeom>
          <a:solidFill xmlns:a="http://schemas.openxmlformats.org/drawingml/2006/main">
            <a:srgbClr val="EAF1F8"/>
          </a:solidFill>
          <a:ln xmlns:a="http://schemas.openxmlformats.org/drawingml/2006/main" w="11430">
            <a:solidFill>
              <a:srgbClr val="102A43"/>
            </a:solidFill>
            <a:prstDash val="solid"/>
          </a:ln>
        </p:spPr>
      </p:sp>
      <p:sp>
        <p:nvSpPr>
          <p:cNvPr id="18" name="">
            <a:extLst xmlns:a="http://schemas.openxmlformats.org/drawingml/2006/main">
              <a:ext uri="{FF2B5EF4-FFF2-40B4-BE49-F238E27FC236}">
                <a16:creationId xmlns:a16="http://schemas.microsoft.com/office/drawing/2014/main" id="{0B3C049C-0DBB-40B6-9CA3-A487017DA414}"/>
              </a:ext>
            </a:extLst>
          </p:cNvPr>
          <p:cNvSpPr>
            <a:spLocks xmlns:a="http://schemas.openxmlformats.org/drawingml/2006/main" noGrp="1"/>
          </p:cNvSpPr>
          <p:nvPr/>
        </p:nvSpPr>
        <p:spPr>
          <a:xfrm xmlns:a="http://schemas.openxmlformats.org/drawingml/2006/main">
            <a:off x="5238750" y="3028950"/>
            <a:ext cx="11049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static</a:t>
            </a:r>
          </a:p>
        </p:txBody>
      </p:sp>
      <p:sp>
        <p:nvSpPr>
          <p:cNvPr id="19" name="">
            <a:extLst xmlns:a="http://schemas.openxmlformats.org/drawingml/2006/main">
              <a:ext uri="{FF2B5EF4-FFF2-40B4-BE49-F238E27FC236}">
                <a16:creationId xmlns:a16="http://schemas.microsoft.com/office/drawing/2014/main" id="{E547C528-A24D-4C4C-BF67-28859C247B28}"/>
              </a:ext>
            </a:extLst>
          </p:cNvPr>
          <p:cNvSpPr>
            <a:spLocks xmlns:a="http://schemas.openxmlformats.org/drawingml/2006/main" noGrp="1"/>
          </p:cNvSpPr>
          <p:nvPr/>
        </p:nvSpPr>
        <p:spPr>
          <a:xfrm xmlns:a="http://schemas.openxmlformats.org/drawingml/2006/main">
            <a:off x="6334125" y="2981325"/>
            <a:ext cx="666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2850" b="1" i="0">
                <a:solidFill>
                  <a:srgbClr val="E76F51"/>
                </a:solidFill>
              </a:defRPr>
            </a:pPr>
            <a:r>
              <a:rPr sz="2850" b="1" i="0">
                <a:solidFill>
                  <a:srgbClr val="E76F51"/>
                </a:solidFill>
              </a:rPr>
              <a:t>→</a:t>
            </a:r>
          </a:p>
        </p:txBody>
      </p:sp>
      <p:sp>
        <p:nvSpPr>
          <p:cNvPr id="20" name="">
            <a:extLst xmlns:a="http://schemas.openxmlformats.org/drawingml/2006/main">
              <a:ext uri="{FF2B5EF4-FFF2-40B4-BE49-F238E27FC236}">
                <a16:creationId xmlns:a16="http://schemas.microsoft.com/office/drawing/2014/main" id="{30C90BE5-FB89-47AB-A42F-0E86A55F6964}"/>
              </a:ext>
            </a:extLst>
          </p:cNvPr>
          <p:cNvSpPr>
            <a:spLocks xmlns:a="http://schemas.openxmlformats.org/drawingml/2006/main" noGrp="1"/>
          </p:cNvSpPr>
          <p:nvPr/>
        </p:nvSpPr>
        <p:spPr>
          <a:xfrm xmlns:a="http://schemas.openxmlformats.org/drawingml/2006/main">
            <a:off x="6953250" y="2971800"/>
            <a:ext cx="1238250" cy="552450"/>
          </a:xfrm>
          <a:prstGeom xmlns:a="http://schemas.openxmlformats.org/drawingml/2006/main" prst="roundRect">
            <a:avLst>
              <a:gd name="adj" fmla="val 50000"/>
            </a:avLst>
          </a:prstGeom>
          <a:solidFill xmlns:a="http://schemas.openxmlformats.org/drawingml/2006/main">
            <a:srgbClr val="E8F5F3"/>
          </a:solidFill>
          <a:ln xmlns:a="http://schemas.openxmlformats.org/drawingml/2006/main" w="11430">
            <a:solidFill>
              <a:srgbClr val="2A9D8F"/>
            </a:solidFill>
            <a:prstDash val="solid"/>
          </a:ln>
        </p:spPr>
      </p:sp>
      <p:sp>
        <p:nvSpPr>
          <p:cNvPr id="21" name="">
            <a:extLst xmlns:a="http://schemas.openxmlformats.org/drawingml/2006/main">
              <a:ext uri="{FF2B5EF4-FFF2-40B4-BE49-F238E27FC236}">
                <a16:creationId xmlns:a16="http://schemas.microsoft.com/office/drawing/2014/main" id="{288C5C20-5E3F-47E3-8741-0FE2B9226644}"/>
              </a:ext>
            </a:extLst>
          </p:cNvPr>
          <p:cNvSpPr>
            <a:spLocks xmlns:a="http://schemas.openxmlformats.org/drawingml/2006/main" noGrp="1"/>
          </p:cNvSpPr>
          <p:nvPr/>
        </p:nvSpPr>
        <p:spPr>
          <a:xfrm xmlns:a="http://schemas.openxmlformats.org/drawingml/2006/main">
            <a:off x="6991350" y="3028950"/>
            <a:ext cx="11620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dynamic</a:t>
            </a:r>
          </a:p>
        </p:txBody>
      </p:sp>
      <p:sp>
        <p:nvSpPr>
          <p:cNvPr id="22" name="">
            <a:extLst xmlns:a="http://schemas.openxmlformats.org/drawingml/2006/main">
              <a:ext uri="{FF2B5EF4-FFF2-40B4-BE49-F238E27FC236}">
                <a16:creationId xmlns:a16="http://schemas.microsoft.com/office/drawing/2014/main" id="{B87DFF45-C213-4193-AF25-45C8936690AA}"/>
              </a:ext>
            </a:extLst>
          </p:cNvPr>
          <p:cNvSpPr>
            <a:spLocks xmlns:a="http://schemas.openxmlformats.org/drawingml/2006/main" noGrp="1"/>
          </p:cNvSpPr>
          <p:nvPr/>
        </p:nvSpPr>
        <p:spPr>
          <a:xfrm xmlns:a="http://schemas.openxmlformats.org/drawingml/2006/main">
            <a:off x="8572500" y="142875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E76F51"/>
                </a:solidFill>
              </a:defRPr>
            </a:pPr>
            <a:r>
              <a:rPr sz="1125" b="1" i="0">
                <a:solidFill>
                  <a:srgbClr val="E76F51"/>
                </a:solidFill>
              </a:rPr>
              <a:t>OPEN IMPLEMENTATION GAP</a:t>
            </a:r>
          </a:p>
        </p:txBody>
      </p:sp>
      <p:sp>
        <p:nvSpPr>
          <p:cNvPr id="23" name="">
            <a:extLst xmlns:a="http://schemas.openxmlformats.org/drawingml/2006/main">
              <a:ext uri="{FF2B5EF4-FFF2-40B4-BE49-F238E27FC236}">
                <a16:creationId xmlns:a16="http://schemas.microsoft.com/office/drawing/2014/main" id="{1A371705-7359-496C-B88A-E515241D81CE}"/>
              </a:ext>
            </a:extLst>
          </p:cNvPr>
          <p:cNvSpPr>
            <a:spLocks xmlns:a="http://schemas.openxmlformats.org/drawingml/2006/main" noGrp="1"/>
          </p:cNvSpPr>
          <p:nvPr/>
        </p:nvSpPr>
        <p:spPr>
          <a:xfrm xmlns:a="http://schemas.openxmlformats.org/drawingml/2006/main">
            <a:off x="8572500" y="1762125"/>
            <a:ext cx="2857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7002"/>
          </a:bodyPr>
          <a:lstStyle xmlns:a="http://schemas.openxmlformats.org/drawingml/2006/main"/>
          <a:p xmlns:a="http://schemas.openxmlformats.org/drawingml/2006/main">
            <a:pPr algn="l">
              <a:lnSpc>
                <a:spcPct val="105000"/>
              </a:lnSpc>
              <a:buNone/>
              <a:defRPr sz="2025" b="1" i="0">
                <a:solidFill>
                  <a:srgbClr val="102A43"/>
                </a:solidFill>
              </a:defRPr>
            </a:pPr>
            <a:r>
              <a:rPr sz="2025" b="1" i="0">
                <a:solidFill>
                  <a:srgbClr val="102A43"/>
                </a:solidFill>
              </a:rPr>
              <a:t>Executable dynamic reconstruction</a:t>
            </a:r>
          </a:p>
        </p:txBody>
      </p:sp>
      <p:sp>
        <p:nvSpPr>
          <p:cNvPr id="24" name="">
            <a:extLst xmlns:a="http://schemas.openxmlformats.org/drawingml/2006/main">
              <a:ext uri="{FF2B5EF4-FFF2-40B4-BE49-F238E27FC236}">
                <a16:creationId xmlns:a16="http://schemas.microsoft.com/office/drawing/2014/main" id="{9CB59D9F-D512-4837-9642-8B13074ADBFC}"/>
              </a:ext>
            </a:extLst>
          </p:cNvPr>
          <p:cNvSpPr>
            <a:spLocks xmlns:a="http://schemas.openxmlformats.org/drawingml/2006/main" noGrp="1"/>
          </p:cNvSpPr>
          <p:nvPr/>
        </p:nvSpPr>
        <p:spPr>
          <a:xfrm xmlns:a="http://schemas.openxmlformats.org/drawingml/2006/main">
            <a:off x="8648700" y="26479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5" name="">
            <a:extLst xmlns:a="http://schemas.openxmlformats.org/drawingml/2006/main">
              <a:ext uri="{FF2B5EF4-FFF2-40B4-BE49-F238E27FC236}">
                <a16:creationId xmlns:a16="http://schemas.microsoft.com/office/drawing/2014/main" id="{DD4EADDA-EEDC-4FE3-95CC-9FCB64EBDFBA}"/>
              </a:ext>
            </a:extLst>
          </p:cNvPr>
          <p:cNvSpPr>
            <a:spLocks xmlns:a="http://schemas.openxmlformats.org/drawingml/2006/main" noGrp="1"/>
          </p:cNvSpPr>
          <p:nvPr/>
        </p:nvSpPr>
        <p:spPr>
          <a:xfrm xmlns:a="http://schemas.openxmlformats.org/drawingml/2006/main">
            <a:off x="8858250" y="25717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Step 1/2/3 control flow</a:t>
            </a:r>
          </a:p>
        </p:txBody>
      </p:sp>
      <p:sp>
        <p:nvSpPr>
          <p:cNvPr id="26" name="">
            <a:extLst xmlns:a="http://schemas.openxmlformats.org/drawingml/2006/main">
              <a:ext uri="{FF2B5EF4-FFF2-40B4-BE49-F238E27FC236}">
                <a16:creationId xmlns:a16="http://schemas.microsoft.com/office/drawing/2014/main" id="{57298F5F-D6AA-4D4D-B47F-66B19B20B26D}"/>
              </a:ext>
            </a:extLst>
          </p:cNvPr>
          <p:cNvSpPr>
            <a:spLocks xmlns:a="http://schemas.openxmlformats.org/drawingml/2006/main" noGrp="1"/>
          </p:cNvSpPr>
          <p:nvPr/>
        </p:nvSpPr>
        <p:spPr>
          <a:xfrm xmlns:a="http://schemas.openxmlformats.org/drawingml/2006/main">
            <a:off x="8648700" y="31432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7" name="">
            <a:extLst xmlns:a="http://schemas.openxmlformats.org/drawingml/2006/main">
              <a:ext uri="{FF2B5EF4-FFF2-40B4-BE49-F238E27FC236}">
                <a16:creationId xmlns:a16="http://schemas.microsoft.com/office/drawing/2014/main" id="{59F49B7B-A2DD-41E0-B305-BECC296FE742}"/>
              </a:ext>
            </a:extLst>
          </p:cNvPr>
          <p:cNvSpPr>
            <a:spLocks xmlns:a="http://schemas.openxmlformats.org/drawingml/2006/main" noGrp="1"/>
          </p:cNvSpPr>
          <p:nvPr/>
        </p:nvSpPr>
        <p:spPr>
          <a:xfrm xmlns:a="http://schemas.openxmlformats.org/drawingml/2006/main">
            <a:off x="8858250" y="30670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5833"/>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sibling-list insertion and splitting</a:t>
            </a:r>
          </a:p>
        </p:txBody>
      </p:sp>
      <p:sp>
        <p:nvSpPr>
          <p:cNvPr id="28" name="">
            <a:extLst xmlns:a="http://schemas.openxmlformats.org/drawingml/2006/main">
              <a:ext uri="{FF2B5EF4-FFF2-40B4-BE49-F238E27FC236}">
                <a16:creationId xmlns:a16="http://schemas.microsoft.com/office/drawing/2014/main" id="{9A171684-9AAD-4552-AD72-4C02477C8DA0}"/>
              </a:ext>
            </a:extLst>
          </p:cNvPr>
          <p:cNvSpPr>
            <a:spLocks xmlns:a="http://schemas.openxmlformats.org/drawingml/2006/main" noGrp="1"/>
          </p:cNvSpPr>
          <p:nvPr/>
        </p:nvSpPr>
        <p:spPr>
          <a:xfrm xmlns:a="http://schemas.openxmlformats.org/drawingml/2006/main">
            <a:off x="8648700" y="36385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9" name="">
            <a:extLst xmlns:a="http://schemas.openxmlformats.org/drawingml/2006/main">
              <a:ext uri="{FF2B5EF4-FFF2-40B4-BE49-F238E27FC236}">
                <a16:creationId xmlns:a16="http://schemas.microsoft.com/office/drawing/2014/main" id="{BFD91FCE-B1DD-49DC-85B5-7DDC4019FE41}"/>
              </a:ext>
            </a:extLst>
          </p:cNvPr>
          <p:cNvSpPr>
            <a:spLocks xmlns:a="http://schemas.openxmlformats.org/drawingml/2006/main" noGrp="1"/>
          </p:cNvSpPr>
          <p:nvPr/>
        </p:nvSpPr>
        <p:spPr>
          <a:xfrm xmlns:a="http://schemas.openxmlformats.org/drawingml/2006/main">
            <a:off x="8858250" y="35623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ownership transfer</a:t>
            </a:r>
          </a:p>
        </p:txBody>
      </p:sp>
      <p:sp>
        <p:nvSpPr>
          <p:cNvPr id="30" name="">
            <a:extLst xmlns:a="http://schemas.openxmlformats.org/drawingml/2006/main">
              <a:ext uri="{FF2B5EF4-FFF2-40B4-BE49-F238E27FC236}">
                <a16:creationId xmlns:a16="http://schemas.microsoft.com/office/drawing/2014/main" id="{D11D810B-1867-4744-9B01-269773B572F6}"/>
              </a:ext>
            </a:extLst>
          </p:cNvPr>
          <p:cNvSpPr>
            <a:spLocks xmlns:a="http://schemas.openxmlformats.org/drawingml/2006/main" noGrp="1"/>
          </p:cNvSpPr>
          <p:nvPr/>
        </p:nvSpPr>
        <p:spPr>
          <a:xfrm xmlns:a="http://schemas.openxmlformats.org/drawingml/2006/main">
            <a:off x="8648700" y="41338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31" name="">
            <a:extLst xmlns:a="http://schemas.openxmlformats.org/drawingml/2006/main">
              <a:ext uri="{FF2B5EF4-FFF2-40B4-BE49-F238E27FC236}">
                <a16:creationId xmlns:a16="http://schemas.microsoft.com/office/drawing/2014/main" id="{BB28ED78-BE8A-4934-A966-FD935710DF41}"/>
              </a:ext>
            </a:extLst>
          </p:cNvPr>
          <p:cNvSpPr>
            <a:spLocks xmlns:a="http://schemas.openxmlformats.org/drawingml/2006/main" noGrp="1"/>
          </p:cNvSpPr>
          <p:nvPr/>
        </p:nvSpPr>
        <p:spPr>
          <a:xfrm xmlns:a="http://schemas.openxmlformats.org/drawingml/2006/main">
            <a:off x="8858250" y="40576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5833"/>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output recovery from maintained state</a:t>
            </a:r>
          </a:p>
        </p:txBody>
      </p:sp>
      <p:sp>
        <p:nvSpPr>
          <p:cNvPr id="32" name="">
            <a:extLst xmlns:a="http://schemas.openxmlformats.org/drawingml/2006/main">
              <a:ext uri="{FF2B5EF4-FFF2-40B4-BE49-F238E27FC236}">
                <a16:creationId xmlns:a16="http://schemas.microsoft.com/office/drawing/2014/main" id="{3A90240D-BD5A-4606-B543-44B4B4CE8682}"/>
              </a:ext>
            </a:extLst>
          </p:cNvPr>
          <p:cNvSpPr>
            <a:spLocks xmlns:a="http://schemas.openxmlformats.org/drawingml/2006/main" noGrp="1"/>
          </p:cNvSpPr>
          <p:nvPr/>
        </p:nvSpPr>
        <p:spPr>
          <a:xfrm xmlns:a="http://schemas.openxmlformats.org/drawingml/2006/main">
            <a:off x="895350" y="5572125"/>
            <a:ext cx="10534650" cy="514350"/>
          </a:xfrm>
          <a:prstGeom xmlns:a="http://schemas.openxmlformats.org/drawingml/2006/main" prst="roundRect">
            <a:avLst>
              <a:gd name="adj" fmla="val 11111"/>
            </a:avLst>
          </a:prstGeom>
          <a:solidFill xmlns:a="http://schemas.openxmlformats.org/drawingml/2006/main">
            <a:srgbClr val="102A43"/>
          </a:solidFill>
          <a:ln xmlns:a="http://schemas.openxmlformats.org/drawingml/2006/main" w="11430">
            <a:solidFill>
              <a:srgbClr val="102A43"/>
            </a:solidFill>
            <a:prstDash val="solid"/>
          </a:ln>
        </p:spPr>
      </p:sp>
      <p:sp>
        <p:nvSpPr>
          <p:cNvPr id="33" name="">
            <a:extLst xmlns:a="http://schemas.openxmlformats.org/drawingml/2006/main">
              <a:ext uri="{FF2B5EF4-FFF2-40B4-BE49-F238E27FC236}">
                <a16:creationId xmlns:a16="http://schemas.microsoft.com/office/drawing/2014/main" id="{D9DF5D3C-CEF2-42C4-BEE4-E14C4CE38055}"/>
              </a:ext>
            </a:extLst>
          </p:cNvPr>
          <p:cNvSpPr>
            <a:spLocks xmlns:a="http://schemas.openxmlformats.org/drawingml/2006/main" noGrp="1"/>
          </p:cNvSpPr>
          <p:nvPr/>
        </p:nvSpPr>
        <p:spPr>
          <a:xfrm xmlns:a="http://schemas.openxmlformats.org/drawingml/2006/main">
            <a:off x="1066800" y="5619750"/>
            <a:ext cx="10191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75" b="1" i="0">
                <a:solidFill>
                  <a:srgbClr val="FFFFFF"/>
                </a:solidFill>
              </a:defRPr>
            </a:pPr>
            <a:r>
              <a:rPr sz="1575" b="1" i="0">
                <a:solidFill>
                  <a:srgbClr val="FFFFFF"/>
                </a:solidFill>
              </a:rPr>
              <a:t>Family trees explain nesting; executable Jordan sorting requires dynamic updates.</a:t>
            </a:r>
          </a:p>
        </p:txBody>
      </p:sp>
    </p:spTree>
    <p:extLst>
      <p:ext uri="{BB962C8B-B14F-4D97-AF65-F5344CB8AC3E}">
        <p14:creationId xmlns:p14="http://schemas.microsoft.com/office/powerpoint/2010/main" val="1393534835"/>
      </p:ext>
    </p:extLst>
  </p:cSld>
</p:sld>
</file>

<file path=ppt/slides/slide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0FD6B1E4-A231-4E15-8B9C-D72CBEA52959}"/>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PROGRESS</a:t>
            </a:r>
          </a:p>
        </p:txBody>
      </p:sp>
      <p:sp>
        <p:nvSpPr>
          <p:cNvPr id="2" name="">
            <a:extLst xmlns:a="http://schemas.openxmlformats.org/drawingml/2006/main">
              <a:ext uri="{FF2B5EF4-FFF2-40B4-BE49-F238E27FC236}">
                <a16:creationId xmlns:a16="http://schemas.microsoft.com/office/drawing/2014/main" id="{D085F66D-912E-4BBA-9263-F2D07247681D}"/>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Four work packages addressed the main implementation gap</a:t>
            </a:r>
          </a:p>
        </p:txBody>
      </p:sp>
      <p:sp>
        <p:nvSpPr>
          <p:cNvPr id="3" name="">
            <a:extLst xmlns:a="http://schemas.openxmlformats.org/drawingml/2006/main">
              <a:ext uri="{FF2B5EF4-FFF2-40B4-BE49-F238E27FC236}">
                <a16:creationId xmlns:a16="http://schemas.microsoft.com/office/drawing/2014/main" id="{831A98B8-8130-44AD-BC61-93F3410EB1F9}"/>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B36127E0-A20C-4149-BE5C-E629CD2A4E63}"/>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119777E0-AD19-4CF7-8A9C-2E8C4B25394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5DBADEA6-15A1-473F-9B73-4826C73505D6}"/>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3 / 16</a:t>
            </a:r>
          </a:p>
        </p:txBody>
      </p:sp>
      <p:sp>
        <p:nvSpPr>
          <p:cNvPr id="7" name="">
            <a:extLst xmlns:a="http://schemas.openxmlformats.org/drawingml/2006/main">
              <a:ext uri="{FF2B5EF4-FFF2-40B4-BE49-F238E27FC236}">
                <a16:creationId xmlns:a16="http://schemas.microsoft.com/office/drawing/2014/main" id="{378D0AF7-7077-48A2-9FD2-BE5F4661412F}"/>
              </a:ext>
            </a:extLst>
          </p:cNvPr>
          <p:cNvSpPr>
            <a:spLocks xmlns:a="http://schemas.openxmlformats.org/drawingml/2006/main" noGrp="1"/>
          </p:cNvSpPr>
          <p:nvPr/>
        </p:nvSpPr>
        <p:spPr>
          <a:xfrm xmlns:a="http://schemas.openxmlformats.org/drawingml/2006/main">
            <a:off x="723900"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102A43"/>
                </a:solidFill>
              </a:defRPr>
            </a:pPr>
            <a:r>
              <a:rPr sz="3000" b="1" i="0">
                <a:solidFill>
                  <a:srgbClr val="102A43"/>
                </a:solidFill>
              </a:rPr>
              <a:t>01</a:t>
            </a:r>
          </a:p>
        </p:txBody>
      </p:sp>
      <p:sp>
        <p:nvSpPr>
          <p:cNvPr id="8" name="">
            <a:extLst xmlns:a="http://schemas.openxmlformats.org/drawingml/2006/main">
              <a:ext uri="{FF2B5EF4-FFF2-40B4-BE49-F238E27FC236}">
                <a16:creationId xmlns:a16="http://schemas.microsoft.com/office/drawing/2014/main" id="{6D6FCEB5-C9A1-4E0F-A6EE-8339747FD042}"/>
              </a:ext>
            </a:extLst>
          </p:cNvPr>
          <p:cNvSpPr>
            <a:spLocks xmlns:a="http://schemas.openxmlformats.org/drawingml/2006/main" noGrp="1"/>
          </p:cNvSpPr>
          <p:nvPr/>
        </p:nvSpPr>
        <p:spPr>
          <a:xfrm xmlns:a="http://schemas.openxmlformats.org/drawingml/2006/main">
            <a:off x="723900" y="2209800"/>
            <a:ext cx="1952625" cy="9525"/>
          </a:xfrm>
          <a:prstGeom xmlns:a="http://schemas.openxmlformats.org/drawingml/2006/main" prst="line">
            <a:avLst/>
          </a:prstGeom>
          <a:noFill xmlns:a="http://schemas.openxmlformats.org/drawingml/2006/main"/>
          <a:ln xmlns:a="http://schemas.openxmlformats.org/drawingml/2006/main" w="38100">
            <a:solidFill>
              <a:srgbClr val="102A43"/>
            </a:solidFill>
            <a:prstDash val="solid"/>
          </a:ln>
        </p:spPr>
      </p:sp>
      <p:sp>
        <p:nvSpPr>
          <p:cNvPr id="9" name="">
            <a:extLst xmlns:a="http://schemas.openxmlformats.org/drawingml/2006/main">
              <a:ext uri="{FF2B5EF4-FFF2-40B4-BE49-F238E27FC236}">
                <a16:creationId xmlns:a16="http://schemas.microsoft.com/office/drawing/2014/main" id="{478209F2-A6E8-4F92-98B0-A54784EA26CB}"/>
              </a:ext>
            </a:extLst>
          </p:cNvPr>
          <p:cNvSpPr>
            <a:spLocks xmlns:a="http://schemas.openxmlformats.org/drawingml/2006/main" noGrp="1"/>
          </p:cNvSpPr>
          <p:nvPr/>
        </p:nvSpPr>
        <p:spPr>
          <a:xfrm xmlns:a="http://schemas.openxmlformats.org/drawingml/2006/main">
            <a:off x="723900"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Scope stabilization</a:t>
            </a:r>
          </a:p>
        </p:txBody>
      </p:sp>
      <p:sp>
        <p:nvSpPr>
          <p:cNvPr id="10" name="">
            <a:extLst xmlns:a="http://schemas.openxmlformats.org/drawingml/2006/main">
              <a:ext uri="{FF2B5EF4-FFF2-40B4-BE49-F238E27FC236}">
                <a16:creationId xmlns:a16="http://schemas.microsoft.com/office/drawing/2014/main" id="{87BE209A-FBD9-4FFD-9D88-77A37B0C8E56}"/>
              </a:ext>
            </a:extLst>
          </p:cNvPr>
          <p:cNvSpPr>
            <a:spLocks xmlns:a="http://schemas.openxmlformats.org/drawingml/2006/main" noGrp="1"/>
          </p:cNvSpPr>
          <p:nvPr/>
        </p:nvSpPr>
        <p:spPr>
          <a:xfrm xmlns:a="http://schemas.openxmlformats.org/drawingml/2006/main">
            <a:off x="723900" y="3333750"/>
            <a:ext cx="2152650" cy="1619250"/>
          </a:xfrm>
          <a:prstGeom xmlns:a="http://schemas.openxmlformats.org/drawingml/2006/main" prst="roundRect">
            <a:avLst>
              <a:gd name="adj" fmla="val 4706"/>
            </a:avLst>
          </a:prstGeom>
          <a:solidFill xmlns:a="http://schemas.openxmlformats.org/drawingml/2006/main">
            <a:srgbClr val="EAF1F8"/>
          </a:solidFill>
          <a:ln xmlns:a="http://schemas.openxmlformats.org/drawingml/2006/main" w="11430">
            <a:solidFill>
              <a:srgbClr val="EAF1F8"/>
            </a:solidFill>
            <a:prstDash val="solid"/>
          </a:ln>
        </p:spPr>
      </p:sp>
      <p:sp>
        <p:nvSpPr>
          <p:cNvPr id="11" name="">
            <a:extLst xmlns:a="http://schemas.openxmlformats.org/drawingml/2006/main">
              <a:ext uri="{FF2B5EF4-FFF2-40B4-BE49-F238E27FC236}">
                <a16:creationId xmlns:a16="http://schemas.microsoft.com/office/drawing/2014/main" id="{18CD97CD-9BD3-492C-9BE8-CB669B73EEBC}"/>
              </a:ext>
            </a:extLst>
          </p:cNvPr>
          <p:cNvSpPr>
            <a:spLocks xmlns:a="http://schemas.openxmlformats.org/drawingml/2006/main" noGrp="1"/>
          </p:cNvSpPr>
          <p:nvPr/>
        </p:nvSpPr>
        <p:spPr>
          <a:xfrm xmlns:a="http://schemas.openxmlformats.org/drawingml/2006/main">
            <a:off x="857250"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Separated valid-input sorting, recognition, and theoretical-backend claims</a:t>
            </a:r>
          </a:p>
        </p:txBody>
      </p:sp>
      <p:sp>
        <p:nvSpPr>
          <p:cNvPr id="12" name="">
            <a:extLst xmlns:a="http://schemas.openxmlformats.org/drawingml/2006/main">
              <a:ext uri="{FF2B5EF4-FFF2-40B4-BE49-F238E27FC236}">
                <a16:creationId xmlns:a16="http://schemas.microsoft.com/office/drawing/2014/main" id="{12EB6D81-D309-4B99-B964-EED775B69477}"/>
              </a:ext>
            </a:extLst>
          </p:cNvPr>
          <p:cNvSpPr>
            <a:spLocks xmlns:a="http://schemas.openxmlformats.org/drawingml/2006/main" noGrp="1"/>
          </p:cNvSpPr>
          <p:nvPr/>
        </p:nvSpPr>
        <p:spPr>
          <a:xfrm xmlns:a="http://schemas.openxmlformats.org/drawingml/2006/main">
            <a:off x="3533775"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2A9D8F"/>
                </a:solidFill>
              </a:defRPr>
            </a:pPr>
            <a:r>
              <a:rPr sz="3000" b="1" i="0">
                <a:solidFill>
                  <a:srgbClr val="2A9D8F"/>
                </a:solidFill>
              </a:rPr>
              <a:t>02</a:t>
            </a:r>
          </a:p>
        </p:txBody>
      </p:sp>
      <p:sp>
        <p:nvSpPr>
          <p:cNvPr id="13" name="">
            <a:extLst xmlns:a="http://schemas.openxmlformats.org/drawingml/2006/main">
              <a:ext uri="{FF2B5EF4-FFF2-40B4-BE49-F238E27FC236}">
                <a16:creationId xmlns:a16="http://schemas.microsoft.com/office/drawing/2014/main" id="{C4299C70-D088-453C-B36F-8A96DEE5CB1B}"/>
              </a:ext>
            </a:extLst>
          </p:cNvPr>
          <p:cNvSpPr>
            <a:spLocks xmlns:a="http://schemas.openxmlformats.org/drawingml/2006/main" noGrp="1"/>
          </p:cNvSpPr>
          <p:nvPr/>
        </p:nvSpPr>
        <p:spPr>
          <a:xfrm xmlns:a="http://schemas.openxmlformats.org/drawingml/2006/main">
            <a:off x="3533775" y="2209800"/>
            <a:ext cx="1952625" cy="9525"/>
          </a:xfrm>
          <a:prstGeom xmlns:a="http://schemas.openxmlformats.org/drawingml/2006/main" prst="line">
            <a:avLst/>
          </a:prstGeom>
          <a:noFill xmlns:a="http://schemas.openxmlformats.org/drawingml/2006/main"/>
          <a:ln xmlns:a="http://schemas.openxmlformats.org/drawingml/2006/main" w="38100">
            <a:solidFill>
              <a:srgbClr val="2A9D8F"/>
            </a:solidFill>
            <a:prstDash val="solid"/>
          </a:ln>
        </p:spPr>
      </p:sp>
      <p:sp>
        <p:nvSpPr>
          <p:cNvPr id="14" name="">
            <a:extLst xmlns:a="http://schemas.openxmlformats.org/drawingml/2006/main">
              <a:ext uri="{FF2B5EF4-FFF2-40B4-BE49-F238E27FC236}">
                <a16:creationId xmlns:a16="http://schemas.microsoft.com/office/drawing/2014/main" id="{E85E1F06-F7A3-40B5-A68B-AE9772CD97DB}"/>
              </a:ext>
            </a:extLst>
          </p:cNvPr>
          <p:cNvSpPr>
            <a:spLocks xmlns:a="http://schemas.openxmlformats.org/drawingml/2006/main" noGrp="1"/>
          </p:cNvSpPr>
          <p:nvPr/>
        </p:nvSpPr>
        <p:spPr>
          <a:xfrm xmlns:a="http://schemas.openxmlformats.org/drawingml/2006/main">
            <a:off x="3533775"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Executable reconstruction</a:t>
            </a:r>
          </a:p>
        </p:txBody>
      </p:sp>
      <p:sp>
        <p:nvSpPr>
          <p:cNvPr id="15" name="">
            <a:extLst xmlns:a="http://schemas.openxmlformats.org/drawingml/2006/main">
              <a:ext uri="{FF2B5EF4-FFF2-40B4-BE49-F238E27FC236}">
                <a16:creationId xmlns:a16="http://schemas.microsoft.com/office/drawing/2014/main" id="{52BAF208-637A-4EDA-9201-3BF79C6DE458}"/>
              </a:ext>
            </a:extLst>
          </p:cNvPr>
          <p:cNvSpPr>
            <a:spLocks xmlns:a="http://schemas.openxmlformats.org/drawingml/2006/main" noGrp="1"/>
          </p:cNvSpPr>
          <p:nvPr/>
        </p:nvSpPr>
        <p:spPr>
          <a:xfrm xmlns:a="http://schemas.openxmlformats.org/drawingml/2006/main">
            <a:off x="3533775" y="3333750"/>
            <a:ext cx="2152650" cy="1619250"/>
          </a:xfrm>
          <a:prstGeom xmlns:a="http://schemas.openxmlformats.org/drawingml/2006/main" prst="roundRect">
            <a:avLst>
              <a:gd name="adj" fmla="val 4706"/>
            </a:avLst>
          </a:prstGeom>
          <a:solidFill xmlns:a="http://schemas.openxmlformats.org/drawingml/2006/main">
            <a:srgbClr val="E8F5F3"/>
          </a:solidFill>
          <a:ln xmlns:a="http://schemas.openxmlformats.org/drawingml/2006/main" w="11430">
            <a:solidFill>
              <a:srgbClr val="E8F5F3"/>
            </a:solidFill>
            <a:prstDash val="solid"/>
          </a:ln>
        </p:spPr>
      </p:sp>
      <p:sp>
        <p:nvSpPr>
          <p:cNvPr id="16" name="">
            <a:extLst xmlns:a="http://schemas.openxmlformats.org/drawingml/2006/main">
              <a:ext uri="{FF2B5EF4-FFF2-40B4-BE49-F238E27FC236}">
                <a16:creationId xmlns:a16="http://schemas.microsoft.com/office/drawing/2014/main" id="{196A541F-43AE-4324-8656-0F1FEE844724}"/>
              </a:ext>
            </a:extLst>
          </p:cNvPr>
          <p:cNvSpPr>
            <a:spLocks xmlns:a="http://schemas.openxmlformats.org/drawingml/2006/main" noGrp="1"/>
          </p:cNvSpPr>
          <p:nvPr/>
        </p:nvSpPr>
        <p:spPr>
          <a:xfrm xmlns:a="http://schemas.openxmlformats.org/drawingml/2006/main">
            <a:off x="3667125"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Implemented the paper-facing Step 1/2/3 control flow</a:t>
            </a:r>
          </a:p>
        </p:txBody>
      </p:sp>
      <p:sp>
        <p:nvSpPr>
          <p:cNvPr id="17" name="">
            <a:extLst xmlns:a="http://schemas.openxmlformats.org/drawingml/2006/main">
              <a:ext uri="{FF2B5EF4-FFF2-40B4-BE49-F238E27FC236}">
                <a16:creationId xmlns:a16="http://schemas.microsoft.com/office/drawing/2014/main" id="{1025F10D-CB17-4B3A-911D-184FCFFCD828}"/>
              </a:ext>
            </a:extLst>
          </p:cNvPr>
          <p:cNvSpPr>
            <a:spLocks xmlns:a="http://schemas.openxmlformats.org/drawingml/2006/main" noGrp="1"/>
          </p:cNvSpPr>
          <p:nvPr/>
        </p:nvSpPr>
        <p:spPr>
          <a:xfrm xmlns:a="http://schemas.openxmlformats.org/drawingml/2006/main">
            <a:off x="6343650"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E76F51"/>
                </a:solidFill>
              </a:defRPr>
            </a:pPr>
            <a:r>
              <a:rPr sz="3000" b="1" i="0">
                <a:solidFill>
                  <a:srgbClr val="E76F51"/>
                </a:solidFill>
              </a:rPr>
              <a:t>03</a:t>
            </a:r>
          </a:p>
        </p:txBody>
      </p:sp>
      <p:sp>
        <p:nvSpPr>
          <p:cNvPr id="18" name="">
            <a:extLst xmlns:a="http://schemas.openxmlformats.org/drawingml/2006/main">
              <a:ext uri="{FF2B5EF4-FFF2-40B4-BE49-F238E27FC236}">
                <a16:creationId xmlns:a16="http://schemas.microsoft.com/office/drawing/2014/main" id="{6C792548-680A-4727-AD5E-BA6B262E36D0}"/>
              </a:ext>
            </a:extLst>
          </p:cNvPr>
          <p:cNvSpPr>
            <a:spLocks xmlns:a="http://schemas.openxmlformats.org/drawingml/2006/main" noGrp="1"/>
          </p:cNvSpPr>
          <p:nvPr/>
        </p:nvSpPr>
        <p:spPr>
          <a:xfrm xmlns:a="http://schemas.openxmlformats.org/drawingml/2006/main">
            <a:off x="6343650" y="2209800"/>
            <a:ext cx="1952625" cy="9525"/>
          </a:xfrm>
          <a:prstGeom xmlns:a="http://schemas.openxmlformats.org/drawingml/2006/main" prst="line">
            <a:avLst/>
          </a:prstGeom>
          <a:noFill xmlns:a="http://schemas.openxmlformats.org/drawingml/2006/main"/>
          <a:ln xmlns:a="http://schemas.openxmlformats.org/drawingml/2006/main" w="38100">
            <a:solidFill>
              <a:srgbClr val="E76F51"/>
            </a:solidFill>
            <a:prstDash val="solid"/>
          </a:ln>
        </p:spPr>
      </p:sp>
      <p:sp>
        <p:nvSpPr>
          <p:cNvPr id="19" name="">
            <a:extLst xmlns:a="http://schemas.openxmlformats.org/drawingml/2006/main">
              <a:ext uri="{FF2B5EF4-FFF2-40B4-BE49-F238E27FC236}">
                <a16:creationId xmlns:a16="http://schemas.microsoft.com/office/drawing/2014/main" id="{86694E27-D2E0-4A75-B3D0-DD70DA6DAFE6}"/>
              </a:ext>
            </a:extLst>
          </p:cNvPr>
          <p:cNvSpPr>
            <a:spLocks xmlns:a="http://schemas.openxmlformats.org/drawingml/2006/main" noGrp="1"/>
          </p:cNvSpPr>
          <p:nvPr/>
        </p:nvSpPr>
        <p:spPr>
          <a:xfrm xmlns:a="http://schemas.openxmlformats.org/drawingml/2006/main">
            <a:off x="6343650"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9573"/>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State and correctness controls</a:t>
            </a:r>
          </a:p>
        </p:txBody>
      </p:sp>
      <p:sp>
        <p:nvSpPr>
          <p:cNvPr id="20" name="">
            <a:extLst xmlns:a="http://schemas.openxmlformats.org/drawingml/2006/main">
              <a:ext uri="{FF2B5EF4-FFF2-40B4-BE49-F238E27FC236}">
                <a16:creationId xmlns:a16="http://schemas.microsoft.com/office/drawing/2014/main" id="{238C650E-13DA-4241-9DC3-88D7341D7E19}"/>
              </a:ext>
            </a:extLst>
          </p:cNvPr>
          <p:cNvSpPr>
            <a:spLocks xmlns:a="http://schemas.openxmlformats.org/drawingml/2006/main" noGrp="1"/>
          </p:cNvSpPr>
          <p:nvPr/>
        </p:nvSpPr>
        <p:spPr>
          <a:xfrm xmlns:a="http://schemas.openxmlformats.org/drawingml/2006/main">
            <a:off x="6343650" y="3333750"/>
            <a:ext cx="2152650" cy="1619250"/>
          </a:xfrm>
          <a:prstGeom xmlns:a="http://schemas.openxmlformats.org/drawingml/2006/main" prst="roundRect">
            <a:avLst>
              <a:gd name="adj" fmla="val 4706"/>
            </a:avLst>
          </a:prstGeom>
          <a:solidFill xmlns:a="http://schemas.openxmlformats.org/drawingml/2006/main">
            <a:srgbClr val="FCEEEA"/>
          </a:solidFill>
          <a:ln xmlns:a="http://schemas.openxmlformats.org/drawingml/2006/main" w="11430">
            <a:solidFill>
              <a:srgbClr val="FCEEEA"/>
            </a:solidFill>
            <a:prstDash val="solid"/>
          </a:ln>
        </p:spPr>
      </p:sp>
      <p:sp>
        <p:nvSpPr>
          <p:cNvPr id="21" name="">
            <a:extLst xmlns:a="http://schemas.openxmlformats.org/drawingml/2006/main">
              <a:ext uri="{FF2B5EF4-FFF2-40B4-BE49-F238E27FC236}">
                <a16:creationId xmlns:a16="http://schemas.microsoft.com/office/drawing/2014/main" id="{B24AB1D7-D7EC-432E-B988-626B2401A0FE}"/>
              </a:ext>
            </a:extLst>
          </p:cNvPr>
          <p:cNvSpPr>
            <a:spLocks xmlns:a="http://schemas.openxmlformats.org/drawingml/2006/main" noGrp="1"/>
          </p:cNvSpPr>
          <p:nvPr/>
        </p:nvSpPr>
        <p:spPr>
          <a:xfrm xmlns:a="http://schemas.openxmlformats.org/drawingml/2006/main">
            <a:off x="6477000"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Added ownership invariants, transactional updates, and replay</a:t>
            </a:r>
          </a:p>
        </p:txBody>
      </p:sp>
      <p:sp>
        <p:nvSpPr>
          <p:cNvPr id="22" name="">
            <a:extLst xmlns:a="http://schemas.openxmlformats.org/drawingml/2006/main">
              <a:ext uri="{FF2B5EF4-FFF2-40B4-BE49-F238E27FC236}">
                <a16:creationId xmlns:a16="http://schemas.microsoft.com/office/drawing/2014/main" id="{562B4FFE-45EC-4C29-A542-EC09F7B861AC}"/>
              </a:ext>
            </a:extLst>
          </p:cNvPr>
          <p:cNvSpPr>
            <a:spLocks xmlns:a="http://schemas.openxmlformats.org/drawingml/2006/main" noGrp="1"/>
          </p:cNvSpPr>
          <p:nvPr/>
        </p:nvSpPr>
        <p:spPr>
          <a:xfrm xmlns:a="http://schemas.openxmlformats.org/drawingml/2006/main">
            <a:off x="9153525"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52606D"/>
                </a:solidFill>
              </a:defRPr>
            </a:pPr>
            <a:r>
              <a:rPr sz="3000" b="1" i="0">
                <a:solidFill>
                  <a:srgbClr val="52606D"/>
                </a:solidFill>
              </a:rPr>
              <a:t>04</a:t>
            </a:r>
          </a:p>
        </p:txBody>
      </p:sp>
      <p:sp>
        <p:nvSpPr>
          <p:cNvPr id="23" name="">
            <a:extLst xmlns:a="http://schemas.openxmlformats.org/drawingml/2006/main">
              <a:ext uri="{FF2B5EF4-FFF2-40B4-BE49-F238E27FC236}">
                <a16:creationId xmlns:a16="http://schemas.microsoft.com/office/drawing/2014/main" id="{772B6E6E-DF3F-4913-ABFC-D04F33EC07F8}"/>
              </a:ext>
            </a:extLst>
          </p:cNvPr>
          <p:cNvSpPr>
            <a:spLocks xmlns:a="http://schemas.openxmlformats.org/drawingml/2006/main" noGrp="1"/>
          </p:cNvSpPr>
          <p:nvPr/>
        </p:nvSpPr>
        <p:spPr>
          <a:xfrm xmlns:a="http://schemas.openxmlformats.org/drawingml/2006/main">
            <a:off x="9153525" y="2209800"/>
            <a:ext cx="1952625" cy="9525"/>
          </a:xfrm>
          <a:prstGeom xmlns:a="http://schemas.openxmlformats.org/drawingml/2006/main" prst="line">
            <a:avLst/>
          </a:prstGeom>
          <a:noFill xmlns:a="http://schemas.openxmlformats.org/drawingml/2006/main"/>
          <a:ln xmlns:a="http://schemas.openxmlformats.org/drawingml/2006/main" w="38100">
            <a:solidFill>
              <a:srgbClr val="52606D"/>
            </a:solidFill>
            <a:prstDash val="solid"/>
          </a:ln>
        </p:spPr>
      </p:sp>
      <p:sp>
        <p:nvSpPr>
          <p:cNvPr id="24" name="">
            <a:extLst xmlns:a="http://schemas.openxmlformats.org/drawingml/2006/main">
              <a:ext uri="{FF2B5EF4-FFF2-40B4-BE49-F238E27FC236}">
                <a16:creationId xmlns:a16="http://schemas.microsoft.com/office/drawing/2014/main" id="{79E2296A-43F9-4538-9567-CD758498ABFD}"/>
              </a:ext>
            </a:extLst>
          </p:cNvPr>
          <p:cNvSpPr>
            <a:spLocks xmlns:a="http://schemas.openxmlformats.org/drawingml/2006/main" noGrp="1"/>
          </p:cNvSpPr>
          <p:nvPr/>
        </p:nvSpPr>
        <p:spPr>
          <a:xfrm xmlns:a="http://schemas.openxmlformats.org/drawingml/2006/main">
            <a:off x="9153525"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Initial formal evaluation</a:t>
            </a:r>
          </a:p>
        </p:txBody>
      </p:sp>
      <p:sp>
        <p:nvSpPr>
          <p:cNvPr id="25" name="">
            <a:extLst xmlns:a="http://schemas.openxmlformats.org/drawingml/2006/main">
              <a:ext uri="{FF2B5EF4-FFF2-40B4-BE49-F238E27FC236}">
                <a16:creationId xmlns:a16="http://schemas.microsoft.com/office/drawing/2014/main" id="{B04AFE3A-C5B0-4EC7-A293-04DBAEF14D34}"/>
              </a:ext>
            </a:extLst>
          </p:cNvPr>
          <p:cNvSpPr>
            <a:spLocks xmlns:a="http://schemas.openxmlformats.org/drawingml/2006/main" noGrp="1"/>
          </p:cNvSpPr>
          <p:nvPr/>
        </p:nvSpPr>
        <p:spPr>
          <a:xfrm xmlns:a="http://schemas.openxmlformats.org/drawingml/2006/main">
            <a:off x="9153525" y="3333750"/>
            <a:ext cx="2152650" cy="1619250"/>
          </a:xfrm>
          <a:prstGeom xmlns:a="http://schemas.openxmlformats.org/drawingml/2006/main" prst="roundRect">
            <a:avLst>
              <a:gd name="adj" fmla="val 4706"/>
            </a:avLst>
          </a:prstGeom>
          <a:solidFill xmlns:a="http://schemas.openxmlformats.org/drawingml/2006/main">
            <a:srgbClr val="EDF2F7"/>
          </a:solidFill>
          <a:ln xmlns:a="http://schemas.openxmlformats.org/drawingml/2006/main" w="11430">
            <a:solidFill>
              <a:srgbClr val="EDF2F7"/>
            </a:solidFill>
            <a:prstDash val="solid"/>
          </a:ln>
        </p:spPr>
      </p:sp>
      <p:sp>
        <p:nvSpPr>
          <p:cNvPr id="26" name="">
            <a:extLst xmlns:a="http://schemas.openxmlformats.org/drawingml/2006/main">
              <a:ext uri="{FF2B5EF4-FFF2-40B4-BE49-F238E27FC236}">
                <a16:creationId xmlns:a16="http://schemas.microsoft.com/office/drawing/2014/main" id="{CF38AE6F-F45D-40FD-9D2B-A598D4EDC2B7}"/>
              </a:ext>
            </a:extLst>
          </p:cNvPr>
          <p:cNvSpPr>
            <a:spLocks xmlns:a="http://schemas.openxmlformats.org/drawingml/2006/main" noGrp="1"/>
          </p:cNvSpPr>
          <p:nvPr/>
        </p:nvSpPr>
        <p:spPr>
          <a:xfrm xmlns:a="http://schemas.openxmlformats.org/drawingml/2006/main">
            <a:off x="9286875"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Executed a fixed valid-input sorting experiment</a:t>
            </a:r>
          </a:p>
        </p:txBody>
      </p:sp>
      <p:sp>
        <p:nvSpPr>
          <p:cNvPr id="27" name="">
            <a:extLst xmlns:a="http://schemas.openxmlformats.org/drawingml/2006/main">
              <a:ext uri="{FF2B5EF4-FFF2-40B4-BE49-F238E27FC236}">
                <a16:creationId xmlns:a16="http://schemas.microsoft.com/office/drawing/2014/main" id="{97A248F1-E0C5-401C-9AEF-7CE8064A14AF}"/>
              </a:ext>
            </a:extLst>
          </p:cNvPr>
          <p:cNvSpPr>
            <a:spLocks xmlns:a="http://schemas.openxmlformats.org/drawingml/2006/main" noGrp="1"/>
          </p:cNvSpPr>
          <p:nvPr/>
        </p:nvSpPr>
        <p:spPr>
          <a:xfrm xmlns:a="http://schemas.openxmlformats.org/drawingml/2006/main">
            <a:off x="1238250" y="5524500"/>
            <a:ext cx="971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7989"/>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The outcome is a stable ordinary-list research baseline, not the historical linear-time backend.</a:t>
            </a:r>
          </a:p>
        </p:txBody>
      </p:sp>
    </p:spTree>
    <p:extLst>
      <p:ext uri="{BB962C8B-B14F-4D97-AF65-F5344CB8AC3E}">
        <p14:creationId xmlns:p14="http://schemas.microsoft.com/office/powerpoint/2010/main" val="1304713572"/>
      </p:ext>
    </p:extLst>
  </p:cSld>
</p:sld>
</file>

<file path=ppt/slides/slide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52F318AE-3622-4267-AA01-97528BE48821}"/>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SCOPE</a:t>
            </a:r>
          </a:p>
        </p:txBody>
      </p:sp>
      <p:sp>
        <p:nvSpPr>
          <p:cNvPr id="2" name="">
            <a:extLst xmlns:a="http://schemas.openxmlformats.org/drawingml/2006/main">
              <a:ext uri="{FF2B5EF4-FFF2-40B4-BE49-F238E27FC236}">
                <a16:creationId xmlns:a16="http://schemas.microsoft.com/office/drawing/2014/main" id="{D145DC16-1176-4F19-9CC7-E9ED92DFE3B8}"/>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3532"/>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The thesis now isolates valid-input sorting from two adjacent questions</a:t>
            </a:r>
          </a:p>
        </p:txBody>
      </p:sp>
      <p:sp>
        <p:nvSpPr>
          <p:cNvPr id="3" name="">
            <a:extLst xmlns:a="http://schemas.openxmlformats.org/drawingml/2006/main">
              <a:ext uri="{FF2B5EF4-FFF2-40B4-BE49-F238E27FC236}">
                <a16:creationId xmlns:a16="http://schemas.microsoft.com/office/drawing/2014/main" id="{4103E4C8-99ED-432D-ADD9-9581CC18805B}"/>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620E19A2-F1E5-4F24-842B-B59653C5B692}"/>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5C516E1E-F536-4DC9-9FBA-45D15EA87477}"/>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159E2D07-7621-4F0D-8AD5-0A6AFC8FA6AC}"/>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4 / 16</a:t>
            </a:r>
          </a:p>
        </p:txBody>
      </p:sp>
      <p:sp>
        <p:nvSpPr>
          <p:cNvPr id="7" name="">
            <a:extLst xmlns:a="http://schemas.openxmlformats.org/drawingml/2006/main">
              <a:ext uri="{FF2B5EF4-FFF2-40B4-BE49-F238E27FC236}">
                <a16:creationId xmlns:a16="http://schemas.microsoft.com/office/drawing/2014/main" id="{E303C055-F97C-4057-9F4F-F05D51A35FB3}"/>
              </a:ext>
            </a:extLst>
          </p:cNvPr>
          <p:cNvSpPr>
            <a:spLocks xmlns:a="http://schemas.openxmlformats.org/drawingml/2006/main" noGrp="1"/>
          </p:cNvSpPr>
          <p:nvPr/>
        </p:nvSpPr>
        <p:spPr>
          <a:xfrm xmlns:a="http://schemas.openxmlformats.org/drawingml/2006/main">
            <a:off x="723900" y="1447800"/>
            <a:ext cx="4953000" cy="3905250"/>
          </a:xfrm>
          <a:prstGeom xmlns:a="http://schemas.openxmlformats.org/drawingml/2006/main" prst="roundRect">
            <a:avLst>
              <a:gd name="adj" fmla="val 1951"/>
            </a:avLst>
          </a:prstGeom>
          <a:solidFill xmlns:a="http://schemas.openxmlformats.org/drawingml/2006/main">
            <a:srgbClr val="FFFFFF"/>
          </a:solidFill>
          <a:ln xmlns:a="http://schemas.openxmlformats.org/drawingml/2006/main" w="11430">
            <a:solidFill>
              <a:srgbClr val="D9E2EC"/>
            </a:solidFill>
            <a:prstDash val="solid"/>
          </a:ln>
        </p:spPr>
      </p:sp>
      <p:sp>
        <p:nvSpPr>
          <p:cNvPr id="8" name="">
            <a:extLst xmlns:a="http://schemas.openxmlformats.org/drawingml/2006/main">
              <a:ext uri="{FF2B5EF4-FFF2-40B4-BE49-F238E27FC236}">
                <a16:creationId xmlns:a16="http://schemas.microsoft.com/office/drawing/2014/main" id="{760773F1-1512-48DB-9CBF-CF8D06464C3A}"/>
              </a:ext>
            </a:extLst>
          </p:cNvPr>
          <p:cNvSpPr>
            <a:spLocks xmlns:a="http://schemas.openxmlformats.org/drawingml/2006/main" noGrp="1"/>
          </p:cNvSpPr>
          <p:nvPr/>
        </p:nvSpPr>
        <p:spPr>
          <a:xfrm xmlns:a="http://schemas.openxmlformats.org/drawingml/2006/main">
            <a:off x="6515100" y="1447800"/>
            <a:ext cx="4953000" cy="3905250"/>
          </a:xfrm>
          <a:prstGeom xmlns:a="http://schemas.openxmlformats.org/drawingml/2006/main" prst="roundRect">
            <a:avLst>
              <a:gd name="adj" fmla="val 1951"/>
            </a:avLst>
          </a:prstGeom>
          <a:solidFill xmlns:a="http://schemas.openxmlformats.org/drawingml/2006/main">
            <a:srgbClr val="FFFFFF"/>
          </a:solidFill>
          <a:ln xmlns:a="http://schemas.openxmlformats.org/drawingml/2006/main" w="19050">
            <a:solidFill>
              <a:srgbClr val="2A9D8F"/>
            </a:solidFill>
            <a:prstDash val="solid"/>
          </a:ln>
        </p:spPr>
      </p:sp>
      <p:sp>
        <p:nvSpPr>
          <p:cNvPr id="9" name="">
            <a:extLst xmlns:a="http://schemas.openxmlformats.org/drawingml/2006/main">
              <a:ext uri="{FF2B5EF4-FFF2-40B4-BE49-F238E27FC236}">
                <a16:creationId xmlns:a16="http://schemas.microsoft.com/office/drawing/2014/main" id="{99E7A2D6-74B7-4BD0-BD11-15F8F9D72F2C}"/>
              </a:ext>
            </a:extLst>
          </p:cNvPr>
          <p:cNvSpPr>
            <a:spLocks xmlns:a="http://schemas.openxmlformats.org/drawingml/2006/main" noGrp="1"/>
          </p:cNvSpPr>
          <p:nvPr/>
        </p:nvSpPr>
        <p:spPr>
          <a:xfrm xmlns:a="http://schemas.openxmlformats.org/drawingml/2006/main">
            <a:off x="952500" y="1676400"/>
            <a:ext cx="447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52606D"/>
                </a:solidFill>
              </a:defRPr>
            </a:pPr>
            <a:r>
              <a:rPr sz="1875" b="1" i="0">
                <a:solidFill>
                  <a:srgbClr val="52606D"/>
                </a:solidFill>
              </a:rPr>
              <a:t>Earlier planning emphasis</a:t>
            </a:r>
          </a:p>
        </p:txBody>
      </p:sp>
      <p:sp>
        <p:nvSpPr>
          <p:cNvPr id="10" name="">
            <a:extLst xmlns:a="http://schemas.openxmlformats.org/drawingml/2006/main">
              <a:ext uri="{FF2B5EF4-FFF2-40B4-BE49-F238E27FC236}">
                <a16:creationId xmlns:a16="http://schemas.microsoft.com/office/drawing/2014/main" id="{BB26C17B-0798-49A8-BB54-AD3586ADCE71}"/>
              </a:ext>
            </a:extLst>
          </p:cNvPr>
          <p:cNvSpPr>
            <a:spLocks xmlns:a="http://schemas.openxmlformats.org/drawingml/2006/main" noGrp="1"/>
          </p:cNvSpPr>
          <p:nvPr/>
        </p:nvSpPr>
        <p:spPr>
          <a:xfrm xmlns:a="http://schemas.openxmlformats.org/drawingml/2006/main">
            <a:off x="6743700" y="1676400"/>
            <a:ext cx="447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2A9D8F"/>
                </a:solidFill>
              </a:defRPr>
            </a:pPr>
            <a:r>
              <a:rPr sz="1875" b="1" i="0">
                <a:solidFill>
                  <a:srgbClr val="2A9D8F"/>
                </a:solidFill>
              </a:rPr>
              <a:t>Current research scope</a:t>
            </a:r>
          </a:p>
        </p:txBody>
      </p:sp>
      <p:sp>
        <p:nvSpPr>
          <p:cNvPr id="11" name="">
            <a:extLst xmlns:a="http://schemas.openxmlformats.org/drawingml/2006/main">
              <a:ext uri="{FF2B5EF4-FFF2-40B4-BE49-F238E27FC236}">
                <a16:creationId xmlns:a16="http://schemas.microsoft.com/office/drawing/2014/main" id="{3876CCA4-AB28-43AF-8334-717D67916EAA}"/>
              </a:ext>
            </a:extLst>
          </p:cNvPr>
          <p:cNvSpPr>
            <a:spLocks xmlns:a="http://schemas.openxmlformats.org/drawingml/2006/main" noGrp="1"/>
          </p:cNvSpPr>
          <p:nvPr/>
        </p:nvSpPr>
        <p:spPr>
          <a:xfrm xmlns:a="http://schemas.openxmlformats.org/drawingml/2006/main">
            <a:off x="971550" y="2266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General structural framework</a:t>
            </a:r>
          </a:p>
        </p:txBody>
      </p:sp>
      <p:sp>
        <p:nvSpPr>
          <p:cNvPr id="12" name="">
            <a:extLst xmlns:a="http://schemas.openxmlformats.org/drawingml/2006/main">
              <a:ext uri="{FF2B5EF4-FFF2-40B4-BE49-F238E27FC236}">
                <a16:creationId xmlns:a16="http://schemas.microsoft.com/office/drawing/2014/main" id="{AB5BDA41-4674-4993-A237-59A702FE596F}"/>
              </a:ext>
            </a:extLst>
          </p:cNvPr>
          <p:cNvSpPr>
            <a:spLocks xmlns:a="http://schemas.openxmlformats.org/drawingml/2006/main" noGrp="1"/>
          </p:cNvSpPr>
          <p:nvPr/>
        </p:nvSpPr>
        <p:spPr>
          <a:xfrm xmlns:a="http://schemas.openxmlformats.org/drawingml/2006/main">
            <a:off x="5810250" y="22669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13" name="">
            <a:extLst xmlns:a="http://schemas.openxmlformats.org/drawingml/2006/main">
              <a:ext uri="{FF2B5EF4-FFF2-40B4-BE49-F238E27FC236}">
                <a16:creationId xmlns:a16="http://schemas.microsoft.com/office/drawing/2014/main" id="{EF69B4D3-311C-471F-B85D-276BD9989F90}"/>
              </a:ext>
            </a:extLst>
          </p:cNvPr>
          <p:cNvSpPr>
            <a:spLocks xmlns:a="http://schemas.openxmlformats.org/drawingml/2006/main" noGrp="1"/>
          </p:cNvSpPr>
          <p:nvPr/>
        </p:nvSpPr>
        <p:spPr>
          <a:xfrm xmlns:a="http://schemas.openxmlformats.org/drawingml/2006/main">
            <a:off x="6762750" y="2266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1" i="0">
                <a:solidFill>
                  <a:srgbClr val="243B53"/>
                </a:solidFill>
              </a:defRPr>
            </a:pPr>
            <a:r>
              <a:rPr sz="1350" b="1" i="0">
                <a:solidFill>
                  <a:srgbClr val="243B53"/>
                </a:solidFill>
              </a:rPr>
              <a:t>Executable reconstruction of the 1990 procedure</a:t>
            </a:r>
          </a:p>
        </p:txBody>
      </p:sp>
      <p:sp>
        <p:nvSpPr>
          <p:cNvPr id="14" name="">
            <a:extLst xmlns:a="http://schemas.openxmlformats.org/drawingml/2006/main">
              <a:ext uri="{FF2B5EF4-FFF2-40B4-BE49-F238E27FC236}">
                <a16:creationId xmlns:a16="http://schemas.microsoft.com/office/drawing/2014/main" id="{DA078E77-BA75-4104-B577-20A062D505C5}"/>
              </a:ext>
            </a:extLst>
          </p:cNvPr>
          <p:cNvSpPr>
            <a:spLocks xmlns:a="http://schemas.openxmlformats.org/drawingml/2006/main" noGrp="1"/>
          </p:cNvSpPr>
          <p:nvPr/>
        </p:nvSpPr>
        <p:spPr>
          <a:xfrm xmlns:a="http://schemas.openxmlformats.org/drawingml/2006/main">
            <a:off x="971550" y="2743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Valid and invalid generators</a:t>
            </a:r>
          </a:p>
        </p:txBody>
      </p:sp>
      <p:sp>
        <p:nvSpPr>
          <p:cNvPr id="15" name="">
            <a:extLst xmlns:a="http://schemas.openxmlformats.org/drawingml/2006/main">
              <a:ext uri="{FF2B5EF4-FFF2-40B4-BE49-F238E27FC236}">
                <a16:creationId xmlns:a16="http://schemas.microsoft.com/office/drawing/2014/main" id="{6807E0E0-6770-4DD0-BF2F-4535874DD28B}"/>
              </a:ext>
            </a:extLst>
          </p:cNvPr>
          <p:cNvSpPr>
            <a:spLocks xmlns:a="http://schemas.openxmlformats.org/drawingml/2006/main" noGrp="1"/>
          </p:cNvSpPr>
          <p:nvPr/>
        </p:nvSpPr>
        <p:spPr>
          <a:xfrm xmlns:a="http://schemas.openxmlformats.org/drawingml/2006/main">
            <a:off x="5810250" y="274320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16" name="">
            <a:extLst xmlns:a="http://schemas.openxmlformats.org/drawingml/2006/main">
              <a:ext uri="{FF2B5EF4-FFF2-40B4-BE49-F238E27FC236}">
                <a16:creationId xmlns:a16="http://schemas.microsoft.com/office/drawing/2014/main" id="{5D9550AF-7DB3-4355-8CE7-9A55FC2F4AD4}"/>
              </a:ext>
            </a:extLst>
          </p:cNvPr>
          <p:cNvSpPr>
            <a:spLocks xmlns:a="http://schemas.openxmlformats.org/drawingml/2006/main" noGrp="1"/>
          </p:cNvSpPr>
          <p:nvPr/>
        </p:nvSpPr>
        <p:spPr>
          <a:xfrm xmlns:a="http://schemas.openxmlformats.org/drawingml/2006/main">
            <a:off x="6762750" y="2743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Oracle-certified valid-input sorting</a:t>
            </a:r>
          </a:p>
        </p:txBody>
      </p:sp>
      <p:sp>
        <p:nvSpPr>
          <p:cNvPr id="17" name="">
            <a:extLst xmlns:a="http://schemas.openxmlformats.org/drawingml/2006/main">
              <a:ext uri="{FF2B5EF4-FFF2-40B4-BE49-F238E27FC236}">
                <a16:creationId xmlns:a16="http://schemas.microsoft.com/office/drawing/2014/main" id="{9799E871-73D4-4EA5-9D5A-0AC523280263}"/>
              </a:ext>
            </a:extLst>
          </p:cNvPr>
          <p:cNvSpPr>
            <a:spLocks xmlns:a="http://schemas.openxmlformats.org/drawingml/2006/main" noGrp="1"/>
          </p:cNvSpPr>
          <p:nvPr/>
        </p:nvSpPr>
        <p:spPr>
          <a:xfrm xmlns:a="http://schemas.openxmlformats.org/drawingml/2006/main">
            <a:off x="971550" y="32194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Static family trees</a:t>
            </a:r>
          </a:p>
        </p:txBody>
      </p:sp>
      <p:sp>
        <p:nvSpPr>
          <p:cNvPr id="18" name="">
            <a:extLst xmlns:a="http://schemas.openxmlformats.org/drawingml/2006/main">
              <a:ext uri="{FF2B5EF4-FFF2-40B4-BE49-F238E27FC236}">
                <a16:creationId xmlns:a16="http://schemas.microsoft.com/office/drawing/2014/main" id="{8B7C64E0-27D5-4483-A394-76314982B754}"/>
              </a:ext>
            </a:extLst>
          </p:cNvPr>
          <p:cNvSpPr>
            <a:spLocks xmlns:a="http://schemas.openxmlformats.org/drawingml/2006/main" noGrp="1"/>
          </p:cNvSpPr>
          <p:nvPr/>
        </p:nvSpPr>
        <p:spPr>
          <a:xfrm xmlns:a="http://schemas.openxmlformats.org/drawingml/2006/main">
            <a:off x="5810250" y="32194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19" name="">
            <a:extLst xmlns:a="http://schemas.openxmlformats.org/drawingml/2006/main">
              <a:ext uri="{FF2B5EF4-FFF2-40B4-BE49-F238E27FC236}">
                <a16:creationId xmlns:a16="http://schemas.microsoft.com/office/drawing/2014/main" id="{FCEA6422-D148-407F-9009-77585F4561DA}"/>
              </a:ext>
            </a:extLst>
          </p:cNvPr>
          <p:cNvSpPr>
            <a:spLocks xmlns:a="http://schemas.openxmlformats.org/drawingml/2006/main" noGrp="1"/>
          </p:cNvSpPr>
          <p:nvPr/>
        </p:nvSpPr>
        <p:spPr>
          <a:xfrm xmlns:a="http://schemas.openxmlformats.org/drawingml/2006/main">
            <a:off x="6762750" y="32194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1" i="0">
                <a:solidFill>
                  <a:srgbClr val="243B53"/>
                </a:solidFill>
              </a:defRPr>
            </a:pPr>
            <a:r>
              <a:rPr sz="1350" b="1" i="0">
                <a:solidFill>
                  <a:srgbClr val="243B53"/>
                </a:solidFill>
              </a:rPr>
              <a:t>Dynamic sibling-list state</a:t>
            </a:r>
          </a:p>
        </p:txBody>
      </p:sp>
      <p:sp>
        <p:nvSpPr>
          <p:cNvPr id="20" name="">
            <a:extLst xmlns:a="http://schemas.openxmlformats.org/drawingml/2006/main">
              <a:ext uri="{FF2B5EF4-FFF2-40B4-BE49-F238E27FC236}">
                <a16:creationId xmlns:a16="http://schemas.microsoft.com/office/drawing/2014/main" id="{32CCE46F-6ADF-4AF1-ACEA-3A0CA92AE150}"/>
              </a:ext>
            </a:extLst>
          </p:cNvPr>
          <p:cNvSpPr>
            <a:spLocks xmlns:a="http://schemas.openxmlformats.org/drawingml/2006/main" noGrp="1"/>
          </p:cNvSpPr>
          <p:nvPr/>
        </p:nvSpPr>
        <p:spPr>
          <a:xfrm xmlns:a="http://schemas.openxmlformats.org/drawingml/2006/main">
            <a:off x="971550" y="36957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Broad reference evaluation</a:t>
            </a:r>
          </a:p>
        </p:txBody>
      </p:sp>
      <p:sp>
        <p:nvSpPr>
          <p:cNvPr id="21" name="">
            <a:extLst xmlns:a="http://schemas.openxmlformats.org/drawingml/2006/main">
              <a:ext uri="{FF2B5EF4-FFF2-40B4-BE49-F238E27FC236}">
                <a16:creationId xmlns:a16="http://schemas.microsoft.com/office/drawing/2014/main" id="{EFD8E478-A84E-4D80-B549-FEC46FBC1208}"/>
              </a:ext>
            </a:extLst>
          </p:cNvPr>
          <p:cNvSpPr>
            <a:spLocks xmlns:a="http://schemas.openxmlformats.org/drawingml/2006/main" noGrp="1"/>
          </p:cNvSpPr>
          <p:nvPr/>
        </p:nvSpPr>
        <p:spPr>
          <a:xfrm xmlns:a="http://schemas.openxmlformats.org/drawingml/2006/main">
            <a:off x="5810250" y="369570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22" name="">
            <a:extLst xmlns:a="http://schemas.openxmlformats.org/drawingml/2006/main">
              <a:ext uri="{FF2B5EF4-FFF2-40B4-BE49-F238E27FC236}">
                <a16:creationId xmlns:a16="http://schemas.microsoft.com/office/drawing/2014/main" id="{512CE13A-B8E5-4939-806E-7B14B7FCF322}"/>
              </a:ext>
            </a:extLst>
          </p:cNvPr>
          <p:cNvSpPr>
            <a:spLocks xmlns:a="http://schemas.openxmlformats.org/drawingml/2006/main" noGrp="1"/>
          </p:cNvSpPr>
          <p:nvPr/>
        </p:nvSpPr>
        <p:spPr>
          <a:xfrm xmlns:a="http://schemas.openxmlformats.org/drawingml/2006/main">
            <a:off x="6762750" y="36957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Paper core, reference pipeline, Python sort</a:t>
            </a:r>
          </a:p>
        </p:txBody>
      </p:sp>
      <p:sp>
        <p:nvSpPr>
          <p:cNvPr id="23" name="">
            <a:extLst xmlns:a="http://schemas.openxmlformats.org/drawingml/2006/main">
              <a:ext uri="{FF2B5EF4-FFF2-40B4-BE49-F238E27FC236}">
                <a16:creationId xmlns:a16="http://schemas.microsoft.com/office/drawing/2014/main" id="{21FD751D-49EA-4303-9592-7FD267EE258C}"/>
              </a:ext>
            </a:extLst>
          </p:cNvPr>
          <p:cNvSpPr>
            <a:spLocks xmlns:a="http://schemas.openxmlformats.org/drawingml/2006/main" noGrp="1"/>
          </p:cNvSpPr>
          <p:nvPr/>
        </p:nvSpPr>
        <p:spPr>
          <a:xfrm xmlns:a="http://schemas.openxmlformats.org/drawingml/2006/main">
            <a:off x="971550" y="4171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Recognition as a possible experiment</a:t>
            </a:r>
          </a:p>
        </p:txBody>
      </p:sp>
      <p:sp>
        <p:nvSpPr>
          <p:cNvPr id="24" name="">
            <a:extLst xmlns:a="http://schemas.openxmlformats.org/drawingml/2006/main">
              <a:ext uri="{FF2B5EF4-FFF2-40B4-BE49-F238E27FC236}">
                <a16:creationId xmlns:a16="http://schemas.microsoft.com/office/drawing/2014/main" id="{5080754F-013C-4FFE-AFE5-A679731AF94F}"/>
              </a:ext>
            </a:extLst>
          </p:cNvPr>
          <p:cNvSpPr>
            <a:spLocks xmlns:a="http://schemas.openxmlformats.org/drawingml/2006/main" noGrp="1"/>
          </p:cNvSpPr>
          <p:nvPr/>
        </p:nvSpPr>
        <p:spPr>
          <a:xfrm xmlns:a="http://schemas.openxmlformats.org/drawingml/2006/main">
            <a:off x="5810250" y="41719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25" name="">
            <a:extLst xmlns:a="http://schemas.openxmlformats.org/drawingml/2006/main">
              <a:ext uri="{FF2B5EF4-FFF2-40B4-BE49-F238E27FC236}">
                <a16:creationId xmlns:a16="http://schemas.microsoft.com/office/drawing/2014/main" id="{B3FA48AB-8AB5-4FDB-B999-A68275FBCA76}"/>
              </a:ext>
            </a:extLst>
          </p:cNvPr>
          <p:cNvSpPr>
            <a:spLocks xmlns:a="http://schemas.openxmlformats.org/drawingml/2006/main" noGrp="1"/>
          </p:cNvSpPr>
          <p:nvPr/>
        </p:nvSpPr>
        <p:spPr>
          <a:xfrm xmlns:a="http://schemas.openxmlformats.org/drawingml/2006/main">
            <a:off x="6762750" y="4171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Recognition remains separate</a:t>
            </a:r>
          </a:p>
        </p:txBody>
      </p:sp>
      <p:sp>
        <p:nvSpPr>
          <p:cNvPr id="26" name="">
            <a:extLst xmlns:a="http://schemas.openxmlformats.org/drawingml/2006/main">
              <a:ext uri="{FF2B5EF4-FFF2-40B4-BE49-F238E27FC236}">
                <a16:creationId xmlns:a16="http://schemas.microsoft.com/office/drawing/2014/main" id="{B7AFE1CE-808E-4A07-B139-E42680CE5036}"/>
              </a:ext>
            </a:extLst>
          </p:cNvPr>
          <p:cNvSpPr>
            <a:spLocks xmlns:a="http://schemas.openxmlformats.org/drawingml/2006/main" noGrp="1"/>
          </p:cNvSpPr>
          <p:nvPr/>
        </p:nvSpPr>
        <p:spPr>
          <a:xfrm xmlns:a="http://schemas.openxmlformats.org/drawingml/2006/main">
            <a:off x="971550" y="4648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Theoretical backend implementation</a:t>
            </a:r>
          </a:p>
        </p:txBody>
      </p:sp>
      <p:sp>
        <p:nvSpPr>
          <p:cNvPr id="27" name="">
            <a:extLst xmlns:a="http://schemas.openxmlformats.org/drawingml/2006/main">
              <a:ext uri="{FF2B5EF4-FFF2-40B4-BE49-F238E27FC236}">
                <a16:creationId xmlns:a16="http://schemas.microsoft.com/office/drawing/2014/main" id="{3B9557D3-DBBD-480F-91A0-6240F769BD65}"/>
              </a:ext>
            </a:extLst>
          </p:cNvPr>
          <p:cNvSpPr>
            <a:spLocks xmlns:a="http://schemas.openxmlformats.org/drawingml/2006/main" noGrp="1"/>
          </p:cNvSpPr>
          <p:nvPr/>
        </p:nvSpPr>
        <p:spPr>
          <a:xfrm xmlns:a="http://schemas.openxmlformats.org/drawingml/2006/main">
            <a:off x="5810250" y="464820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28" name="">
            <a:extLst xmlns:a="http://schemas.openxmlformats.org/drawingml/2006/main">
              <a:ext uri="{FF2B5EF4-FFF2-40B4-BE49-F238E27FC236}">
                <a16:creationId xmlns:a16="http://schemas.microsoft.com/office/drawing/2014/main" id="{6D3599A3-0688-4316-A486-9C84F27777E1}"/>
              </a:ext>
            </a:extLst>
          </p:cNvPr>
          <p:cNvSpPr>
            <a:spLocks xmlns:a="http://schemas.openxmlformats.org/drawingml/2006/main" noGrp="1"/>
          </p:cNvSpPr>
          <p:nvPr/>
        </p:nvSpPr>
        <p:spPr>
          <a:xfrm xmlns:a="http://schemas.openxmlformats.org/drawingml/2006/main">
            <a:off x="6762750" y="4648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Ordinary-list backend as the validated baseline</a:t>
            </a:r>
          </a:p>
        </p:txBody>
      </p:sp>
      <p:sp>
        <p:nvSpPr>
          <p:cNvPr id="29" name="">
            <a:extLst xmlns:a="http://schemas.openxmlformats.org/drawingml/2006/main">
              <a:ext uri="{FF2B5EF4-FFF2-40B4-BE49-F238E27FC236}">
                <a16:creationId xmlns:a16="http://schemas.microsoft.com/office/drawing/2014/main" id="{A633A87F-2E67-4111-ADB9-9794E2D51EE4}"/>
              </a:ext>
            </a:extLst>
          </p:cNvPr>
          <p:cNvSpPr>
            <a:spLocks xmlns:a="http://schemas.openxmlformats.org/drawingml/2006/main" noGrp="1"/>
          </p:cNvSpPr>
          <p:nvPr/>
        </p:nvSpPr>
        <p:spPr>
          <a:xfrm xmlns:a="http://schemas.openxmlformats.org/drawingml/2006/main">
            <a:off x="1143000" y="5505450"/>
            <a:ext cx="9906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The current evidence remains bound to the ordinary-list baseline; a finger-tree backend is being investigated as a separate extension.</a:t>
            </a:r>
          </a:p>
        </p:txBody>
      </p:sp>
    </p:spTree>
    <p:extLst>
      <p:ext uri="{BB962C8B-B14F-4D97-AF65-F5344CB8AC3E}">
        <p14:creationId xmlns:p14="http://schemas.microsoft.com/office/powerpoint/2010/main" val="971398733"/>
      </p:ext>
    </p:extLst>
  </p:cSld>
</p:sld>
</file>

<file path=ppt/slides/slide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2696AA8B-0D34-4866-AF2A-5E88FDCD54C6}"/>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RESEARCH QUESTIONS</a:t>
            </a:r>
          </a:p>
        </p:txBody>
      </p:sp>
      <p:sp>
        <p:nvSpPr>
          <p:cNvPr id="2" name="">
            <a:extLst xmlns:a="http://schemas.openxmlformats.org/drawingml/2006/main">
              <a:ext uri="{FF2B5EF4-FFF2-40B4-BE49-F238E27FC236}">
                <a16:creationId xmlns:a16="http://schemas.microsoft.com/office/drawing/2014/main" id="{210F4E8B-35E7-4137-83A5-A98E79772FC5}"/>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0096"/>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Three questions connect reconstruction, measurement, and interpretation</a:t>
            </a:r>
          </a:p>
        </p:txBody>
      </p:sp>
      <p:sp>
        <p:nvSpPr>
          <p:cNvPr id="3" name="">
            <a:extLst xmlns:a="http://schemas.openxmlformats.org/drawingml/2006/main">
              <a:ext uri="{FF2B5EF4-FFF2-40B4-BE49-F238E27FC236}">
                <a16:creationId xmlns:a16="http://schemas.microsoft.com/office/drawing/2014/main" id="{55958D2B-BD92-4A2F-8CC0-E52EB02341F6}"/>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D8D5DD7A-4D1E-4056-A401-21A0D33C319A}"/>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B7B4DC87-00E7-494F-ADDC-6A25C146BA92}"/>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A56576AD-4C00-44D8-AAE9-18CCC98E399F}"/>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5 / 16</a:t>
            </a:r>
          </a:p>
        </p:txBody>
      </p:sp>
      <p:sp>
        <p:nvSpPr>
          <p:cNvPr id="7" name="">
            <a:extLst xmlns:a="http://schemas.openxmlformats.org/drawingml/2006/main">
              <a:ext uri="{FF2B5EF4-FFF2-40B4-BE49-F238E27FC236}">
                <a16:creationId xmlns:a16="http://schemas.microsoft.com/office/drawing/2014/main" id="{07AB87D4-CB18-4F7F-B04D-05B099F378A4}"/>
              </a:ext>
            </a:extLst>
          </p:cNvPr>
          <p:cNvSpPr>
            <a:spLocks xmlns:a="http://schemas.openxmlformats.org/drawingml/2006/main" noGrp="1"/>
          </p:cNvSpPr>
          <p:nvPr/>
        </p:nvSpPr>
        <p:spPr>
          <a:xfrm xmlns:a="http://schemas.openxmlformats.org/drawingml/2006/main">
            <a:off x="723900" y="1485900"/>
            <a:ext cx="10744200" cy="1200150"/>
          </a:xfrm>
          <a:prstGeom xmlns:a="http://schemas.openxmlformats.org/drawingml/2006/main" prst="roundRect">
            <a:avLst>
              <a:gd name="adj" fmla="val 6349"/>
            </a:avLst>
          </a:prstGeom>
          <a:solidFill xmlns:a="http://schemas.openxmlformats.org/drawingml/2006/main">
            <a:srgbClr val="E8F5F3"/>
          </a:solidFill>
          <a:ln xmlns:a="http://schemas.openxmlformats.org/drawingml/2006/main" w="11430">
            <a:solidFill>
              <a:srgbClr val="E8F5F3"/>
            </a:solidFill>
            <a:prstDash val="solid"/>
          </a:ln>
        </p:spPr>
      </p:sp>
      <p:sp>
        <p:nvSpPr>
          <p:cNvPr id="8" name="">
            <a:extLst xmlns:a="http://schemas.openxmlformats.org/drawingml/2006/main">
              <a:ext uri="{FF2B5EF4-FFF2-40B4-BE49-F238E27FC236}">
                <a16:creationId xmlns:a16="http://schemas.microsoft.com/office/drawing/2014/main" id="{5066FC97-A780-4B7D-B60C-9E81D2695C88}"/>
              </a:ext>
            </a:extLst>
          </p:cNvPr>
          <p:cNvSpPr>
            <a:spLocks xmlns:a="http://schemas.openxmlformats.org/drawingml/2006/main" noGrp="1"/>
          </p:cNvSpPr>
          <p:nvPr/>
        </p:nvSpPr>
        <p:spPr>
          <a:xfrm xmlns:a="http://schemas.openxmlformats.org/drawingml/2006/main">
            <a:off x="914400" y="1657350"/>
            <a:ext cx="114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2100" b="1" i="0">
                <a:solidFill>
                  <a:srgbClr val="2A9D8F"/>
                </a:solidFill>
              </a:defRPr>
            </a:pPr>
            <a:r>
              <a:rPr sz="2100" b="1" i="0">
                <a:solidFill>
                  <a:srgbClr val="2A9D8F"/>
                </a:solidFill>
              </a:rPr>
              <a:t>RQ1</a:t>
            </a:r>
          </a:p>
        </p:txBody>
      </p:sp>
      <p:sp>
        <p:nvSpPr>
          <p:cNvPr id="9" name="">
            <a:extLst xmlns:a="http://schemas.openxmlformats.org/drawingml/2006/main">
              <a:ext uri="{FF2B5EF4-FFF2-40B4-BE49-F238E27FC236}">
                <a16:creationId xmlns:a16="http://schemas.microsoft.com/office/drawing/2014/main" id="{63B0726F-7047-41F7-93C0-C597614949AC}"/>
              </a:ext>
            </a:extLst>
          </p:cNvPr>
          <p:cNvSpPr>
            <a:spLocks xmlns:a="http://schemas.openxmlformats.org/drawingml/2006/main" noGrp="1"/>
          </p:cNvSpPr>
          <p:nvPr/>
        </p:nvSpPr>
        <p:spPr>
          <a:xfrm xmlns:a="http://schemas.openxmlformats.org/drawingml/2006/main">
            <a:off x="2152650" y="161925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Executable reconstruction and correctness</a:t>
            </a:r>
          </a:p>
        </p:txBody>
      </p:sp>
      <p:sp>
        <p:nvSpPr>
          <p:cNvPr id="10" name="">
            <a:extLst xmlns:a="http://schemas.openxmlformats.org/drawingml/2006/main">
              <a:ext uri="{FF2B5EF4-FFF2-40B4-BE49-F238E27FC236}">
                <a16:creationId xmlns:a16="http://schemas.microsoft.com/office/drawing/2014/main" id="{46A6B270-BC10-41A8-BC08-92E28D9D12D6}"/>
              </a:ext>
            </a:extLst>
          </p:cNvPr>
          <p:cNvSpPr>
            <a:spLocks xmlns:a="http://schemas.openxmlformats.org/drawingml/2006/main" noGrp="1"/>
          </p:cNvSpPr>
          <p:nvPr/>
        </p:nvSpPr>
        <p:spPr>
          <a:xfrm xmlns:a="http://schemas.openxmlformats.org/drawingml/2006/main">
            <a:off x="2152650" y="2057400"/>
            <a:ext cx="8858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Can an ordinary-list reconstruction recover sorted order from maintained state for oracle-certified valid inputs?</a:t>
            </a:r>
          </a:p>
        </p:txBody>
      </p:sp>
      <p:sp>
        <p:nvSpPr>
          <p:cNvPr id="11" name="">
            <a:extLst xmlns:a="http://schemas.openxmlformats.org/drawingml/2006/main">
              <a:ext uri="{FF2B5EF4-FFF2-40B4-BE49-F238E27FC236}">
                <a16:creationId xmlns:a16="http://schemas.microsoft.com/office/drawing/2014/main" id="{5297AE26-B889-42FF-BE65-025DDBD972F2}"/>
              </a:ext>
            </a:extLst>
          </p:cNvPr>
          <p:cNvSpPr>
            <a:spLocks xmlns:a="http://schemas.openxmlformats.org/drawingml/2006/main" noGrp="1"/>
          </p:cNvSpPr>
          <p:nvPr/>
        </p:nvSpPr>
        <p:spPr>
          <a:xfrm xmlns:a="http://schemas.openxmlformats.org/drawingml/2006/main">
            <a:off x="8477250" y="1647825"/>
            <a:ext cx="2571750" cy="285750"/>
          </a:xfrm>
          <a:prstGeom xmlns:a="http://schemas.openxmlformats.org/drawingml/2006/main" prst="roundRect">
            <a:avLst>
              <a:gd name="adj" fmla="val 20000"/>
            </a:avLst>
          </a:prstGeom>
          <a:solidFill xmlns:a="http://schemas.openxmlformats.org/drawingml/2006/main">
            <a:srgbClr val="2A9D8F"/>
          </a:solidFill>
          <a:ln xmlns:a="http://schemas.openxmlformats.org/drawingml/2006/main" w="11430">
            <a:solidFill>
              <a:srgbClr val="2A9D8F"/>
            </a:solidFill>
            <a:prstDash val="solid"/>
          </a:ln>
        </p:spPr>
      </p:sp>
      <p:sp>
        <p:nvSpPr>
          <p:cNvPr id="12" name="">
            <a:extLst xmlns:a="http://schemas.openxmlformats.org/drawingml/2006/main">
              <a:ext uri="{FF2B5EF4-FFF2-40B4-BE49-F238E27FC236}">
                <a16:creationId xmlns:a16="http://schemas.microsoft.com/office/drawing/2014/main" id="{38B92742-4C40-4EAF-B2E8-C3734B5D4165}"/>
              </a:ext>
            </a:extLst>
          </p:cNvPr>
          <p:cNvSpPr>
            <a:spLocks xmlns:a="http://schemas.openxmlformats.org/drawingml/2006/main" noGrp="1"/>
          </p:cNvSpPr>
          <p:nvPr/>
        </p:nvSpPr>
        <p:spPr>
          <a:xfrm xmlns:a="http://schemas.openxmlformats.org/drawingml/2006/main">
            <a:off x="8477250" y="165735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975" b="1" i="0">
                <a:solidFill>
                  <a:srgbClr val="FFFFFF"/>
                </a:solidFill>
              </a:defRPr>
            </a:pPr>
            <a:r>
              <a:rPr sz="975" b="1" i="0">
                <a:solidFill>
                  <a:srgbClr val="FFFFFF"/>
                </a:solidFill>
              </a:rPr>
              <a:t>PRIMARY TECHNICAL QUESTION</a:t>
            </a:r>
          </a:p>
        </p:txBody>
      </p:sp>
      <p:sp>
        <p:nvSpPr>
          <p:cNvPr id="13" name="">
            <a:extLst xmlns:a="http://schemas.openxmlformats.org/drawingml/2006/main">
              <a:ext uri="{FF2B5EF4-FFF2-40B4-BE49-F238E27FC236}">
                <a16:creationId xmlns:a16="http://schemas.microsoft.com/office/drawing/2014/main" id="{9C5C2EAB-B6D6-42AA-AEE2-F623B0A30E7C}"/>
              </a:ext>
            </a:extLst>
          </p:cNvPr>
          <p:cNvSpPr>
            <a:spLocks xmlns:a="http://schemas.openxmlformats.org/drawingml/2006/main" noGrp="1"/>
          </p:cNvSpPr>
          <p:nvPr/>
        </p:nvSpPr>
        <p:spPr>
          <a:xfrm xmlns:a="http://schemas.openxmlformats.org/drawingml/2006/main">
            <a:off x="723900" y="2990850"/>
            <a:ext cx="10744200" cy="1200150"/>
          </a:xfrm>
          <a:prstGeom xmlns:a="http://schemas.openxmlformats.org/drawingml/2006/main" prst="roundRect">
            <a:avLst>
              <a:gd name="adj" fmla="val 6349"/>
            </a:avLst>
          </a:prstGeom>
          <a:solidFill xmlns:a="http://schemas.openxmlformats.org/drawingml/2006/main">
            <a:srgbClr val="FCEEEA"/>
          </a:solidFill>
          <a:ln xmlns:a="http://schemas.openxmlformats.org/drawingml/2006/main" w="11430">
            <a:solidFill>
              <a:srgbClr val="FCEEEA"/>
            </a:solidFill>
            <a:prstDash val="solid"/>
          </a:ln>
        </p:spPr>
      </p:sp>
      <p:sp>
        <p:nvSpPr>
          <p:cNvPr id="14" name="">
            <a:extLst xmlns:a="http://schemas.openxmlformats.org/drawingml/2006/main">
              <a:ext uri="{FF2B5EF4-FFF2-40B4-BE49-F238E27FC236}">
                <a16:creationId xmlns:a16="http://schemas.microsoft.com/office/drawing/2014/main" id="{D31A758E-8627-4696-A94D-1BBD291D6E56}"/>
              </a:ext>
            </a:extLst>
          </p:cNvPr>
          <p:cNvSpPr>
            <a:spLocks xmlns:a="http://schemas.openxmlformats.org/drawingml/2006/main" noGrp="1"/>
          </p:cNvSpPr>
          <p:nvPr/>
        </p:nvSpPr>
        <p:spPr>
          <a:xfrm xmlns:a="http://schemas.openxmlformats.org/drawingml/2006/main">
            <a:off x="914400" y="3162300"/>
            <a:ext cx="114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2100" b="1" i="0">
                <a:solidFill>
                  <a:srgbClr val="E76F51"/>
                </a:solidFill>
              </a:defRPr>
            </a:pPr>
            <a:r>
              <a:rPr sz="2100" b="1" i="0">
                <a:solidFill>
                  <a:srgbClr val="E76F51"/>
                </a:solidFill>
              </a:rPr>
              <a:t>RQ2</a:t>
            </a:r>
          </a:p>
        </p:txBody>
      </p:sp>
      <p:sp>
        <p:nvSpPr>
          <p:cNvPr id="15" name="">
            <a:extLst xmlns:a="http://schemas.openxmlformats.org/drawingml/2006/main">
              <a:ext uri="{FF2B5EF4-FFF2-40B4-BE49-F238E27FC236}">
                <a16:creationId xmlns:a16="http://schemas.microsoft.com/office/drawing/2014/main" id="{87545659-C37F-4D99-8D10-8414CB51DE60}"/>
              </a:ext>
            </a:extLst>
          </p:cNvPr>
          <p:cNvSpPr>
            <a:spLocks xmlns:a="http://schemas.openxmlformats.org/drawingml/2006/main" noGrp="1"/>
          </p:cNvSpPr>
          <p:nvPr/>
        </p:nvSpPr>
        <p:spPr>
          <a:xfrm xmlns:a="http://schemas.openxmlformats.org/drawingml/2006/main">
            <a:off x="2152650" y="312420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Observed runtime behavior</a:t>
            </a:r>
          </a:p>
        </p:txBody>
      </p:sp>
      <p:sp>
        <p:nvSpPr>
          <p:cNvPr id="16" name="">
            <a:extLst xmlns:a="http://schemas.openxmlformats.org/drawingml/2006/main">
              <a:ext uri="{FF2B5EF4-FFF2-40B4-BE49-F238E27FC236}">
                <a16:creationId xmlns:a16="http://schemas.microsoft.com/office/drawing/2014/main" id="{15938F32-87AD-4383-80AB-28699487650C}"/>
              </a:ext>
            </a:extLst>
          </p:cNvPr>
          <p:cNvSpPr>
            <a:spLocks xmlns:a="http://schemas.openxmlformats.org/drawingml/2006/main" noGrp="1"/>
          </p:cNvSpPr>
          <p:nvPr/>
        </p:nvSpPr>
        <p:spPr>
          <a:xfrm xmlns:a="http://schemas.openxmlformats.org/drawingml/2006/main">
            <a:off x="2152650" y="3562350"/>
            <a:ext cx="8858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How does the paper core behave on pre-certified inputs relative to Python sort and the complete reference pipeline under different timing scopes?</a:t>
            </a:r>
          </a:p>
        </p:txBody>
      </p:sp>
      <p:sp>
        <p:nvSpPr>
          <p:cNvPr id="17" name="">
            <a:extLst xmlns:a="http://schemas.openxmlformats.org/drawingml/2006/main">
              <a:ext uri="{FF2B5EF4-FFF2-40B4-BE49-F238E27FC236}">
                <a16:creationId xmlns:a16="http://schemas.microsoft.com/office/drawing/2014/main" id="{CD99D20B-84FC-4C48-9183-30511458817C}"/>
              </a:ext>
            </a:extLst>
          </p:cNvPr>
          <p:cNvSpPr>
            <a:spLocks xmlns:a="http://schemas.openxmlformats.org/drawingml/2006/main" noGrp="1"/>
          </p:cNvSpPr>
          <p:nvPr/>
        </p:nvSpPr>
        <p:spPr>
          <a:xfrm xmlns:a="http://schemas.openxmlformats.org/drawingml/2006/main">
            <a:off x="723900" y="4495800"/>
            <a:ext cx="10744200" cy="1200150"/>
          </a:xfrm>
          <a:prstGeom xmlns:a="http://schemas.openxmlformats.org/drawingml/2006/main" prst="roundRect">
            <a:avLst>
              <a:gd name="adj" fmla="val 6349"/>
            </a:avLst>
          </a:prstGeom>
          <a:solidFill xmlns:a="http://schemas.openxmlformats.org/drawingml/2006/main">
            <a:srgbClr val="EDF2F7"/>
          </a:solidFill>
          <a:ln xmlns:a="http://schemas.openxmlformats.org/drawingml/2006/main" w="11430">
            <a:solidFill>
              <a:srgbClr val="EDF2F7"/>
            </a:solidFill>
            <a:prstDash val="solid"/>
          </a:ln>
        </p:spPr>
      </p:sp>
      <p:sp>
        <p:nvSpPr>
          <p:cNvPr id="18" name="">
            <a:extLst xmlns:a="http://schemas.openxmlformats.org/drawingml/2006/main">
              <a:ext uri="{FF2B5EF4-FFF2-40B4-BE49-F238E27FC236}">
                <a16:creationId xmlns:a16="http://schemas.microsoft.com/office/drawing/2014/main" id="{BAC8E8AE-82A6-4CEA-A72C-F61511EF09D2}"/>
              </a:ext>
            </a:extLst>
          </p:cNvPr>
          <p:cNvSpPr>
            <a:spLocks xmlns:a="http://schemas.openxmlformats.org/drawingml/2006/main" noGrp="1"/>
          </p:cNvSpPr>
          <p:nvPr/>
        </p:nvSpPr>
        <p:spPr>
          <a:xfrm xmlns:a="http://schemas.openxmlformats.org/drawingml/2006/main">
            <a:off x="914400" y="4667250"/>
            <a:ext cx="114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2100" b="1" i="0">
                <a:solidFill>
                  <a:srgbClr val="52606D"/>
                </a:solidFill>
              </a:defRPr>
            </a:pPr>
            <a:r>
              <a:rPr sz="2100" b="1" i="0">
                <a:solidFill>
                  <a:srgbClr val="52606D"/>
                </a:solidFill>
              </a:rPr>
              <a:t>RQ3</a:t>
            </a:r>
          </a:p>
        </p:txBody>
      </p:sp>
      <p:sp>
        <p:nvSpPr>
          <p:cNvPr id="19" name="">
            <a:extLst xmlns:a="http://schemas.openxmlformats.org/drawingml/2006/main">
              <a:ext uri="{FF2B5EF4-FFF2-40B4-BE49-F238E27FC236}">
                <a16:creationId xmlns:a16="http://schemas.microsoft.com/office/drawing/2014/main" id="{50CFF05A-4EF3-49A5-9234-D69742D341E8}"/>
              </a:ext>
            </a:extLst>
          </p:cNvPr>
          <p:cNvSpPr>
            <a:spLocks xmlns:a="http://schemas.openxmlformats.org/drawingml/2006/main" noGrp="1"/>
          </p:cNvSpPr>
          <p:nvPr/>
        </p:nvSpPr>
        <p:spPr>
          <a:xfrm xmlns:a="http://schemas.openxmlformats.org/drawingml/2006/main">
            <a:off x="2152650" y="462915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Structure and implementation cost</a:t>
            </a:r>
          </a:p>
        </p:txBody>
      </p:sp>
      <p:sp>
        <p:nvSpPr>
          <p:cNvPr id="20" name="">
            <a:extLst xmlns:a="http://schemas.openxmlformats.org/drawingml/2006/main">
              <a:ext uri="{FF2B5EF4-FFF2-40B4-BE49-F238E27FC236}">
                <a16:creationId xmlns:a16="http://schemas.microsoft.com/office/drawing/2014/main" id="{C6651EC1-CECE-473D-A122-ABC2BA248836}"/>
              </a:ext>
            </a:extLst>
          </p:cNvPr>
          <p:cNvSpPr>
            <a:spLocks xmlns:a="http://schemas.openxmlformats.org/drawingml/2006/main" noGrp="1"/>
          </p:cNvSpPr>
          <p:nvPr/>
        </p:nvSpPr>
        <p:spPr>
          <a:xfrm xmlns:a="http://schemas.openxmlformats.org/drawingml/2006/main">
            <a:off x="2152650" y="5067300"/>
            <a:ext cx="8858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What descriptive relationships appear between input structure, checked operation counters, and runtime?</a:t>
            </a:r>
          </a:p>
        </p:txBody>
      </p:sp>
    </p:spTree>
    <p:extLst>
      <p:ext uri="{BB962C8B-B14F-4D97-AF65-F5344CB8AC3E}">
        <p14:creationId xmlns:p14="http://schemas.microsoft.com/office/powerpoint/2010/main" val="853640589"/>
      </p:ext>
    </p:extLst>
  </p:cSld>
</p:sld>
</file>

<file path=ppt/slides/slide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553513A1-1C3E-482C-BD7C-A8060D3D72F1}"/>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ARCHITECTURE</a:t>
            </a:r>
          </a:p>
        </p:txBody>
      </p:sp>
      <p:sp>
        <p:nvSpPr>
          <p:cNvPr id="2" name="">
            <a:extLst xmlns:a="http://schemas.openxmlformats.org/drawingml/2006/main">
              <a:ext uri="{FF2B5EF4-FFF2-40B4-BE49-F238E27FC236}">
                <a16:creationId xmlns:a16="http://schemas.microsoft.com/office/drawing/2014/main" id="{C34501FC-538A-4F48-B9EC-F94462348E87}"/>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The oracle, reference pipeline, and paper core have distinct roles</a:t>
            </a:r>
          </a:p>
        </p:txBody>
      </p:sp>
      <p:sp>
        <p:nvSpPr>
          <p:cNvPr id="3" name="">
            <a:extLst xmlns:a="http://schemas.openxmlformats.org/drawingml/2006/main">
              <a:ext uri="{FF2B5EF4-FFF2-40B4-BE49-F238E27FC236}">
                <a16:creationId xmlns:a16="http://schemas.microsoft.com/office/drawing/2014/main" id="{5A0FCC08-9C09-4B24-94E4-14FFB0B7BAAD}"/>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ED8D4F52-7CAE-439F-BBBD-270240E881FC}"/>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58DF154B-E434-4908-8B49-86DB0BF3C35A}"/>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C6FC0FBF-03EE-4458-ACC3-1C93213691F1}"/>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6 / 16</a:t>
            </a:r>
          </a:p>
        </p:txBody>
      </p:sp>
      <p:sp>
        <p:nvSpPr>
          <p:cNvPr id="7" name="">
            <a:extLst xmlns:a="http://schemas.openxmlformats.org/drawingml/2006/main">
              <a:ext uri="{FF2B5EF4-FFF2-40B4-BE49-F238E27FC236}">
                <a16:creationId xmlns:a16="http://schemas.microsoft.com/office/drawing/2014/main" id="{72116CD6-02D1-4B9A-B4C2-0C9A89BC7823}"/>
              </a:ext>
            </a:extLst>
          </p:cNvPr>
          <p:cNvSpPr>
            <a:spLocks xmlns:a="http://schemas.openxmlformats.org/drawingml/2006/main" noGrp="1"/>
          </p:cNvSpPr>
          <p:nvPr/>
        </p:nvSpPr>
        <p:spPr>
          <a:xfrm xmlns:a="http://schemas.openxmlformats.org/drawingml/2006/main">
            <a:off x="4238625" y="1352550"/>
            <a:ext cx="3714750" cy="876300"/>
          </a:xfrm>
          <a:prstGeom xmlns:a="http://schemas.openxmlformats.org/drawingml/2006/main" prst="roundRect">
            <a:avLst>
              <a:gd name="adj" fmla="val 8696"/>
            </a:avLst>
          </a:prstGeom>
          <a:solidFill xmlns:a="http://schemas.openxmlformats.org/drawingml/2006/main">
            <a:srgbClr val="EAF1F8"/>
          </a:solidFill>
          <a:ln xmlns:a="http://schemas.openxmlformats.org/drawingml/2006/main" w="19050">
            <a:solidFill>
              <a:srgbClr val="102A43"/>
            </a:solidFill>
            <a:prstDash val="solid"/>
          </a:ln>
        </p:spPr>
      </p:sp>
      <p:sp>
        <p:nvSpPr>
          <p:cNvPr id="8" name="">
            <a:extLst xmlns:a="http://schemas.openxmlformats.org/drawingml/2006/main">
              <a:ext uri="{FF2B5EF4-FFF2-40B4-BE49-F238E27FC236}">
                <a16:creationId xmlns:a16="http://schemas.microsoft.com/office/drawing/2014/main" id="{E24A2232-815A-46A4-BFBD-817DBFE76348}"/>
              </a:ext>
            </a:extLst>
          </p:cNvPr>
          <p:cNvSpPr>
            <a:spLocks xmlns:a="http://schemas.openxmlformats.org/drawingml/2006/main" noGrp="1"/>
          </p:cNvSpPr>
          <p:nvPr/>
        </p:nvSpPr>
        <p:spPr>
          <a:xfrm xmlns:a="http://schemas.openxmlformats.org/drawingml/2006/main">
            <a:off x="4429125" y="148590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5238"/>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Certification oracle</a:t>
            </a:r>
          </a:p>
        </p:txBody>
      </p:sp>
      <p:sp>
        <p:nvSpPr>
          <p:cNvPr id="9" name="">
            <a:extLst xmlns:a="http://schemas.openxmlformats.org/drawingml/2006/main">
              <a:ext uri="{FF2B5EF4-FFF2-40B4-BE49-F238E27FC236}">
                <a16:creationId xmlns:a16="http://schemas.microsoft.com/office/drawing/2014/main" id="{25F6DB7D-734D-4B07-A388-DC00AE7A6F3B}"/>
              </a:ext>
            </a:extLst>
          </p:cNvPr>
          <p:cNvSpPr>
            <a:spLocks xmlns:a="http://schemas.openxmlformats.org/drawingml/2006/main" noGrp="1"/>
          </p:cNvSpPr>
          <p:nvPr/>
        </p:nvSpPr>
        <p:spPr>
          <a:xfrm xmlns:a="http://schemas.openxmlformats.org/drawingml/2006/main">
            <a:off x="4429125" y="1847850"/>
            <a:ext cx="333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7002"/>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validity + expected sorted order</a:t>
            </a:r>
          </a:p>
        </p:txBody>
      </p:sp>
      <p:sp>
        <p:nvSpPr>
          <p:cNvPr id="10" name="">
            <a:extLst xmlns:a="http://schemas.openxmlformats.org/drawingml/2006/main">
              <a:ext uri="{FF2B5EF4-FFF2-40B4-BE49-F238E27FC236}">
                <a16:creationId xmlns:a16="http://schemas.microsoft.com/office/drawing/2014/main" id="{07F7A07C-B6B1-4121-8405-43B95B16EC30}"/>
              </a:ext>
            </a:extLst>
          </p:cNvPr>
          <p:cNvSpPr>
            <a:spLocks xmlns:a="http://schemas.openxmlformats.org/drawingml/2006/main" noGrp="1"/>
          </p:cNvSpPr>
          <p:nvPr/>
        </p:nvSpPr>
        <p:spPr>
          <a:xfrm xmlns:a="http://schemas.openxmlformats.org/drawingml/2006/main">
            <a:off x="876300" y="3105150"/>
            <a:ext cx="4333875" cy="1809750"/>
          </a:xfrm>
          <a:prstGeom xmlns:a="http://schemas.openxmlformats.org/drawingml/2006/main" prst="roundRect">
            <a:avLst>
              <a:gd name="adj" fmla="val 4211"/>
            </a:avLst>
          </a:prstGeom>
          <a:solidFill xmlns:a="http://schemas.openxmlformats.org/drawingml/2006/main">
            <a:srgbClr val="FCEEEA"/>
          </a:solidFill>
          <a:ln xmlns:a="http://schemas.openxmlformats.org/drawingml/2006/main" w="19050">
            <a:solidFill>
              <a:srgbClr val="E76F51"/>
            </a:solidFill>
            <a:prstDash val="solid"/>
          </a:ln>
        </p:spPr>
      </p:sp>
      <p:sp>
        <p:nvSpPr>
          <p:cNvPr id="11" name="">
            <a:extLst xmlns:a="http://schemas.openxmlformats.org/drawingml/2006/main">
              <a:ext uri="{FF2B5EF4-FFF2-40B4-BE49-F238E27FC236}">
                <a16:creationId xmlns:a16="http://schemas.microsoft.com/office/drawing/2014/main" id="{2D5102F6-92A2-4C58-ACD9-FC50647657E0}"/>
              </a:ext>
            </a:extLst>
          </p:cNvPr>
          <p:cNvSpPr>
            <a:spLocks xmlns:a="http://schemas.openxmlformats.org/drawingml/2006/main" noGrp="1"/>
          </p:cNvSpPr>
          <p:nvPr/>
        </p:nvSpPr>
        <p:spPr>
          <a:xfrm xmlns:a="http://schemas.openxmlformats.org/drawingml/2006/main">
            <a:off x="6981825" y="3105150"/>
            <a:ext cx="4333875" cy="1809750"/>
          </a:xfrm>
          <a:prstGeom xmlns:a="http://schemas.openxmlformats.org/drawingml/2006/main" prst="roundRect">
            <a:avLst>
              <a:gd name="adj" fmla="val 4211"/>
            </a:avLst>
          </a:prstGeom>
          <a:solidFill xmlns:a="http://schemas.openxmlformats.org/drawingml/2006/main">
            <a:srgbClr val="E8F5F3"/>
          </a:solidFill>
          <a:ln xmlns:a="http://schemas.openxmlformats.org/drawingml/2006/main" w="19050">
            <a:solidFill>
              <a:srgbClr val="2A9D8F"/>
            </a:solidFill>
            <a:prstDash val="solid"/>
          </a:ln>
        </p:spPr>
      </p:sp>
      <p:cxnSp>
        <p:nvCxnSpPr>
          <p:cNvPr id="134" name=""/>
          <p:cNvCxnSpPr>
            <a:stCxn xmlns:a="http://schemas.openxmlformats.org/drawingml/2006/main" id="7" idx="2"/>
            <a:endCxn xmlns:a="http://schemas.openxmlformats.org/drawingml/2006/main" id="10" idx="0"/>
          </p:cNvCxnSpPr>
          <p:nvPr/>
        </p:nvCxnSpPr>
        <p:spPr>
          <a:xfrm xmlns:a="http://schemas.openxmlformats.org/drawingml/2006/main" flipH="1">
            <a:off x="3043238" y="2228850"/>
            <a:ext cx="3052763" cy="876300"/>
          </a:xfrm>
          <a:prstGeom xmlns:a="http://schemas.openxmlformats.org/drawingml/2006/main" prst="bentConnector4">
            <a:avLst>
              <a:gd name="adj1" fmla="val 0"/>
              <a:gd name="adj2" fmla="val 50000"/>
            </a:avLst>
          </a:prstGeom>
          <a:ln xmlns:a="http://schemas.openxmlformats.org/drawingml/2006/main" w="19050">
            <a:solidFill>
              <a:srgbClr val="52606D"/>
            </a:solidFill>
            <a:prstDash val="solid"/>
            <a:tailEnd type="arrow" w="med" len="med"/>
          </a:ln>
        </p:spPr>
      </p:cxnSp>
      <p:cxnSp>
        <p:nvCxnSpPr>
          <p:cNvPr id="135" name=""/>
          <p:cNvCxnSpPr>
            <a:stCxn xmlns:a="http://schemas.openxmlformats.org/drawingml/2006/main" id="7" idx="2"/>
            <a:endCxn xmlns:a="http://schemas.openxmlformats.org/drawingml/2006/main" id="11" idx="0"/>
          </p:cNvCxnSpPr>
          <p:nvPr/>
        </p:nvCxnSpPr>
        <p:spPr>
          <a:xfrm xmlns:a="http://schemas.openxmlformats.org/drawingml/2006/main">
            <a:off x="6096000" y="2228850"/>
            <a:ext cx="3052763" cy="876300"/>
          </a:xfrm>
          <a:prstGeom xmlns:a="http://schemas.openxmlformats.org/drawingml/2006/main" prst="bentConnector4">
            <a:avLst>
              <a:gd name="adj1" fmla="val 0"/>
              <a:gd name="adj2" fmla="val 50000"/>
            </a:avLst>
          </a:prstGeom>
          <a:ln xmlns:a="http://schemas.openxmlformats.org/drawingml/2006/main" w="19050">
            <a:solidFill>
              <a:srgbClr val="52606D"/>
            </a:solidFill>
            <a:prstDash val="solid"/>
            <a:tailEnd type="arrow" w="med" len="med"/>
          </a:ln>
        </p:spPr>
      </p:cxnSp>
      <p:sp>
        <p:nvSpPr>
          <p:cNvPr id="14" name="">
            <a:extLst xmlns:a="http://schemas.openxmlformats.org/drawingml/2006/main">
              <a:ext uri="{FF2B5EF4-FFF2-40B4-BE49-F238E27FC236}">
                <a16:creationId xmlns:a16="http://schemas.microsoft.com/office/drawing/2014/main" id="{A35F4D6F-5B6D-4722-8269-FFF0089F4309}"/>
              </a:ext>
            </a:extLst>
          </p:cNvPr>
          <p:cNvSpPr>
            <a:spLocks xmlns:a="http://schemas.openxmlformats.org/drawingml/2006/main" noGrp="1"/>
          </p:cNvSpPr>
          <p:nvPr/>
        </p:nvSpPr>
        <p:spPr>
          <a:xfrm xmlns:a="http://schemas.openxmlformats.org/drawingml/2006/main">
            <a:off x="1352550" y="2419350"/>
            <a:ext cx="3390900" cy="457200"/>
          </a:xfrm>
          <a:prstGeom xmlns:a="http://schemas.openxmlformats.org/drawingml/2006/main" prst="roundRect">
            <a:avLst>
              <a:gd name="adj" fmla="val 12500"/>
            </a:avLst>
          </a:prstGeom>
          <a:solidFill xmlns:a="http://schemas.openxmlformats.org/drawingml/2006/main">
            <a:srgbClr val="FFFFFF"/>
          </a:solidFill>
          <a:ln xmlns:a="http://schemas.openxmlformats.org/drawingml/2006/main" w="11430">
            <a:solidFill>
              <a:srgbClr val="E76F51"/>
            </a:solidFill>
            <a:prstDash val="solid"/>
          </a:ln>
        </p:spPr>
      </p:sp>
      <p:sp>
        <p:nvSpPr>
          <p:cNvPr id="15" name="">
            <a:extLst xmlns:a="http://schemas.openxmlformats.org/drawingml/2006/main">
              <a:ext uri="{FF2B5EF4-FFF2-40B4-BE49-F238E27FC236}">
                <a16:creationId xmlns:a16="http://schemas.microsoft.com/office/drawing/2014/main" id="{9C2F6867-E342-42EC-B2E7-57C667998440}"/>
              </a:ext>
            </a:extLst>
          </p:cNvPr>
          <p:cNvSpPr>
            <a:spLocks xmlns:a="http://schemas.openxmlformats.org/drawingml/2006/main" noGrp="1"/>
          </p:cNvSpPr>
          <p:nvPr/>
        </p:nvSpPr>
        <p:spPr>
          <a:xfrm xmlns:a="http://schemas.openxmlformats.org/drawingml/2006/main">
            <a:off x="1485900" y="2476500"/>
            <a:ext cx="3124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E76F51"/>
                </a:solidFill>
              </a:defRPr>
            </a:pPr>
            <a:r>
              <a:rPr sz="1275" b="1" i="0">
                <a:solidFill>
                  <a:srgbClr val="E76F51"/>
                </a:solidFill>
              </a:rPr>
              <a:t>oracle result, including sorted output</a:t>
            </a:r>
          </a:p>
        </p:txBody>
      </p:sp>
      <p:sp>
        <p:nvSpPr>
          <p:cNvPr id="16" name="">
            <a:extLst xmlns:a="http://schemas.openxmlformats.org/drawingml/2006/main">
              <a:ext uri="{FF2B5EF4-FFF2-40B4-BE49-F238E27FC236}">
                <a16:creationId xmlns:a16="http://schemas.microsoft.com/office/drawing/2014/main" id="{39F36BCD-E452-44FD-A859-D416437E09F0}"/>
              </a:ext>
            </a:extLst>
          </p:cNvPr>
          <p:cNvSpPr>
            <a:spLocks xmlns:a="http://schemas.openxmlformats.org/drawingml/2006/main" noGrp="1"/>
          </p:cNvSpPr>
          <p:nvPr/>
        </p:nvSpPr>
        <p:spPr>
          <a:xfrm xmlns:a="http://schemas.openxmlformats.org/drawingml/2006/main">
            <a:off x="7448550" y="2419350"/>
            <a:ext cx="3390900" cy="457200"/>
          </a:xfrm>
          <a:prstGeom xmlns:a="http://schemas.openxmlformats.org/drawingml/2006/main" prst="roundRect">
            <a:avLst>
              <a:gd name="adj" fmla="val 12500"/>
            </a:avLst>
          </a:prstGeom>
          <a:solidFill xmlns:a="http://schemas.openxmlformats.org/drawingml/2006/main">
            <a:srgbClr val="FFFFFF"/>
          </a:solidFill>
          <a:ln xmlns:a="http://schemas.openxmlformats.org/drawingml/2006/main" w="11430">
            <a:solidFill>
              <a:srgbClr val="2A9D8F"/>
            </a:solidFill>
            <a:prstDash val="solid"/>
          </a:ln>
        </p:spPr>
      </p:sp>
      <p:sp>
        <p:nvSpPr>
          <p:cNvPr id="17" name="">
            <a:extLst xmlns:a="http://schemas.openxmlformats.org/drawingml/2006/main">
              <a:ext uri="{FF2B5EF4-FFF2-40B4-BE49-F238E27FC236}">
                <a16:creationId xmlns:a16="http://schemas.microsoft.com/office/drawing/2014/main" id="{3FB882ED-38CD-4EB1-8A6D-2649989B7919}"/>
              </a:ext>
            </a:extLst>
          </p:cNvPr>
          <p:cNvSpPr>
            <a:spLocks xmlns:a="http://schemas.openxmlformats.org/drawingml/2006/main" noGrp="1"/>
          </p:cNvSpPr>
          <p:nvPr/>
        </p:nvSpPr>
        <p:spPr>
          <a:xfrm xmlns:a="http://schemas.openxmlformats.org/drawingml/2006/main">
            <a:off x="7581900" y="2476500"/>
            <a:ext cx="3124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A9D8F"/>
                </a:solidFill>
              </a:defRPr>
            </a:pPr>
            <a:r>
              <a:rPr sz="1275" b="1" i="0">
                <a:solidFill>
                  <a:srgbClr val="2A9D8F"/>
                </a:solidFill>
              </a:rPr>
              <a:t>valid-input certification only</a:t>
            </a:r>
          </a:p>
        </p:txBody>
      </p:sp>
      <p:sp>
        <p:nvSpPr>
          <p:cNvPr id="18" name="">
            <a:extLst xmlns:a="http://schemas.openxmlformats.org/drawingml/2006/main">
              <a:ext uri="{FF2B5EF4-FFF2-40B4-BE49-F238E27FC236}">
                <a16:creationId xmlns:a16="http://schemas.microsoft.com/office/drawing/2014/main" id="{4C337CE9-C27E-4BCA-B52D-B29584866347}"/>
              </a:ext>
            </a:extLst>
          </p:cNvPr>
          <p:cNvSpPr>
            <a:spLocks xmlns:a="http://schemas.openxmlformats.org/drawingml/2006/main" noGrp="1"/>
          </p:cNvSpPr>
          <p:nvPr/>
        </p:nvSpPr>
        <p:spPr>
          <a:xfrm xmlns:a="http://schemas.openxmlformats.org/drawingml/2006/main">
            <a:off x="1104900" y="3276600"/>
            <a:ext cx="3857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746"/>
          </a:bodyPr>
          <a:lstStyle xmlns:a="http://schemas.openxmlformats.org/drawingml/2006/main"/>
          <a:p xmlns:a="http://schemas.openxmlformats.org/drawingml/2006/main">
            <a:pPr algn="ctr">
              <a:lnSpc>
                <a:spcPct val="105000"/>
              </a:lnSpc>
              <a:buNone/>
              <a:defRPr sz="1875" b="1" i="0">
                <a:solidFill>
                  <a:srgbClr val="E76F51"/>
                </a:solidFill>
              </a:defRPr>
            </a:pPr>
            <a:r>
              <a:rPr sz="1875" b="1" i="0">
                <a:solidFill>
                  <a:srgbClr val="E76F51"/>
                </a:solidFill>
              </a:rPr>
              <a:t>Oracle-backed reference pipeline</a:t>
            </a:r>
          </a:p>
        </p:txBody>
      </p:sp>
      <p:sp>
        <p:nvSpPr>
          <p:cNvPr id="19" name="">
            <a:extLst xmlns:a="http://schemas.openxmlformats.org/drawingml/2006/main">
              <a:ext uri="{FF2B5EF4-FFF2-40B4-BE49-F238E27FC236}">
                <a16:creationId xmlns:a16="http://schemas.microsoft.com/office/drawing/2014/main" id="{491B0796-1157-4237-ACA1-38D1F02EE668}"/>
              </a:ext>
            </a:extLst>
          </p:cNvPr>
          <p:cNvSpPr>
            <a:spLocks xmlns:a="http://schemas.openxmlformats.org/drawingml/2006/main" noGrp="1"/>
          </p:cNvSpPr>
          <p:nvPr/>
        </p:nvSpPr>
        <p:spPr>
          <a:xfrm xmlns:a="http://schemas.openxmlformats.org/drawingml/2006/main">
            <a:off x="1200150" y="3848100"/>
            <a:ext cx="3667125"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family trees</a:t>
            </a:r>
          </a:p>
          <a:p xmlns:a="http://schemas.openxmlformats.org/drawingml/2006/main">
            <a:pPr algn="ctr">
              <a:lnSpc>
                <a:spcPct val="105000"/>
              </a:lnSpc>
              <a:buNone/>
              <a:defRPr sz="1500" b="0" i="0">
                <a:solidFill>
                  <a:srgbClr val="243B53"/>
                </a:solidFill>
              </a:defRPr>
            </a:pPr>
            <a:r>
              <a:rPr sz="1500" b="0" i="0">
                <a:solidFill>
                  <a:srgbClr val="243B53"/>
                </a:solidFill>
              </a:rPr>
              <a:t>structural information</a:t>
            </a:r>
          </a:p>
          <a:p xmlns:a="http://schemas.openxmlformats.org/drawingml/2006/main">
            <a:pPr algn="ctr">
              <a:lnSpc>
                <a:spcPct val="105000"/>
              </a:lnSpc>
              <a:buNone/>
              <a:defRPr sz="1500" b="0" i="0">
                <a:solidFill>
                  <a:srgbClr val="243B53"/>
                </a:solidFill>
              </a:defRPr>
            </a:pPr>
            <a:r>
              <a:rPr sz="1500" b="0" i="0">
                <a:solidFill>
                  <a:srgbClr val="243B53"/>
                </a:solidFill>
              </a:rPr>
              <a:t>oracle-derived output</a:t>
            </a:r>
          </a:p>
        </p:txBody>
      </p:sp>
      <p:sp>
        <p:nvSpPr>
          <p:cNvPr id="20" name="">
            <a:extLst xmlns:a="http://schemas.openxmlformats.org/drawingml/2006/main">
              <a:ext uri="{FF2B5EF4-FFF2-40B4-BE49-F238E27FC236}">
                <a16:creationId xmlns:a16="http://schemas.microsoft.com/office/drawing/2014/main" id="{96D8283A-3CC6-4ADD-B482-A4709DD1A151}"/>
              </a:ext>
            </a:extLst>
          </p:cNvPr>
          <p:cNvSpPr>
            <a:spLocks xmlns:a="http://schemas.openxmlformats.org/drawingml/2006/main" noGrp="1"/>
          </p:cNvSpPr>
          <p:nvPr/>
        </p:nvSpPr>
        <p:spPr>
          <a:xfrm xmlns:a="http://schemas.openxmlformats.org/drawingml/2006/main">
            <a:off x="7210425" y="3276600"/>
            <a:ext cx="3857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75" b="1" i="0">
                <a:solidFill>
                  <a:srgbClr val="2A9D8F"/>
                </a:solidFill>
              </a:defRPr>
            </a:pPr>
            <a:r>
              <a:rPr sz="1875" b="1" i="0">
                <a:solidFill>
                  <a:srgbClr val="2A9D8F"/>
                </a:solidFill>
              </a:rPr>
              <a:t>Paper ordinary-list core</a:t>
            </a:r>
          </a:p>
        </p:txBody>
      </p:sp>
      <p:sp>
        <p:nvSpPr>
          <p:cNvPr id="21" name="">
            <a:extLst xmlns:a="http://schemas.openxmlformats.org/drawingml/2006/main">
              <a:ext uri="{FF2B5EF4-FFF2-40B4-BE49-F238E27FC236}">
                <a16:creationId xmlns:a16="http://schemas.microsoft.com/office/drawing/2014/main" id="{06805D31-501E-4272-B422-DE1F397CA305}"/>
              </a:ext>
            </a:extLst>
          </p:cNvPr>
          <p:cNvSpPr>
            <a:spLocks xmlns:a="http://schemas.openxmlformats.org/drawingml/2006/main" noGrp="1"/>
          </p:cNvSpPr>
          <p:nvPr/>
        </p:nvSpPr>
        <p:spPr>
          <a:xfrm xmlns:a="http://schemas.openxmlformats.org/drawingml/2006/main">
            <a:off x="7334250" y="3810000"/>
            <a:ext cx="3619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0" i="0">
                <a:solidFill>
                  <a:srgbClr val="243B53"/>
                </a:solidFill>
              </a:defRPr>
            </a:pPr>
            <a:r>
              <a:rPr sz="1350" b="0" i="0">
                <a:solidFill>
                  <a:srgbClr val="243B53"/>
                </a:solidFill>
              </a:rPr>
              <a:t>input sequence + certified precondition</a:t>
            </a:r>
          </a:p>
          <a:p xmlns:a="http://schemas.openxmlformats.org/drawingml/2006/main">
            <a:pPr algn="ctr">
              <a:lnSpc>
                <a:spcPct val="105000"/>
              </a:lnSpc>
              <a:buNone/>
              <a:defRPr sz="1350" b="0" i="0">
                <a:solidFill>
                  <a:srgbClr val="243B53"/>
                </a:solidFill>
              </a:defRPr>
            </a:pPr>
            <a:r>
              <a:rPr sz="1350" b="0" i="0">
                <a:solidFill>
                  <a:srgbClr val="243B53"/>
                </a:solidFill>
              </a:rPr>
              <a:t>Step 1/2/3 and maintained state</a:t>
            </a:r>
          </a:p>
          <a:p xmlns:a="http://schemas.openxmlformats.org/drawingml/2006/main">
            <a:pPr algn="ctr">
              <a:lnSpc>
                <a:spcPct val="105000"/>
              </a:lnSpc>
              <a:buNone/>
              <a:defRPr sz="1350" b="0" i="0">
                <a:solidFill>
                  <a:srgbClr val="243B53"/>
                </a:solidFill>
              </a:defRPr>
            </a:pPr>
            <a:r>
              <a:rPr sz="1350" b="0" i="0">
                <a:solidFill>
                  <a:srgbClr val="243B53"/>
                </a:solidFill>
              </a:rPr>
              <a:t>output recovered from state</a:t>
            </a:r>
          </a:p>
        </p:txBody>
      </p:sp>
      <p:sp>
        <p:nvSpPr>
          <p:cNvPr id="22" name="">
            <a:extLst xmlns:a="http://schemas.openxmlformats.org/drawingml/2006/main">
              <a:ext uri="{FF2B5EF4-FFF2-40B4-BE49-F238E27FC236}">
                <a16:creationId xmlns:a16="http://schemas.microsoft.com/office/drawing/2014/main" id="{95DA3D0E-F32A-46BE-8869-9DE21FDF5661}"/>
              </a:ext>
            </a:extLst>
          </p:cNvPr>
          <p:cNvSpPr>
            <a:spLocks xmlns:a="http://schemas.openxmlformats.org/drawingml/2006/main" noGrp="1"/>
          </p:cNvSpPr>
          <p:nvPr/>
        </p:nvSpPr>
        <p:spPr>
          <a:xfrm xmlns:a="http://schemas.openxmlformats.org/drawingml/2006/main">
            <a:off x="8172450" y="5010150"/>
            <a:ext cx="2724150" cy="34290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1430">
            <a:solidFill>
              <a:srgbClr val="52606D"/>
            </a:solidFill>
            <a:prstDash val="dash"/>
          </a:ln>
        </p:spPr>
      </p:sp>
      <p:sp>
        <p:nvSpPr>
          <p:cNvPr id="23" name="">
            <a:extLst xmlns:a="http://schemas.openxmlformats.org/drawingml/2006/main">
              <a:ext uri="{FF2B5EF4-FFF2-40B4-BE49-F238E27FC236}">
                <a16:creationId xmlns:a16="http://schemas.microsoft.com/office/drawing/2014/main" id="{F9752283-6628-4DAE-92BF-6BF61D3D2091}"/>
              </a:ext>
            </a:extLst>
          </p:cNvPr>
          <p:cNvSpPr>
            <a:spLocks xmlns:a="http://schemas.openxmlformats.org/drawingml/2006/main" noGrp="1"/>
          </p:cNvSpPr>
          <p:nvPr/>
        </p:nvSpPr>
        <p:spPr>
          <a:xfrm xmlns:a="http://schemas.openxmlformats.org/drawingml/2006/main">
            <a:off x="8267700" y="5057775"/>
            <a:ext cx="2533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1" i="0">
                <a:solidFill>
                  <a:srgbClr val="52606D"/>
                </a:solidFill>
              </a:defRPr>
            </a:pPr>
            <a:r>
              <a:rPr sz="1200" b="1" i="0">
                <a:solidFill>
                  <a:srgbClr val="52606D"/>
                </a:solidFill>
              </a:rPr>
              <a:t>post-call output comparison</a:t>
            </a:r>
          </a:p>
        </p:txBody>
      </p:sp>
      <p:cxnSp>
        <p:nvCxnSpPr>
          <p:cNvPr id="146" name=""/>
          <p:cNvCxnSpPr>
            <a:stCxn xmlns:a="http://schemas.openxmlformats.org/drawingml/2006/main" id="11" idx="2"/>
            <a:endCxn xmlns:a="http://schemas.openxmlformats.org/drawingml/2006/main" id="22" idx="0"/>
          </p:cNvCxnSpPr>
          <p:nvPr/>
        </p:nvCxnSpPr>
        <p:spPr>
          <a:xfrm xmlns:a="http://schemas.openxmlformats.org/drawingml/2006/main">
            <a:off x="9148763" y="4914900"/>
            <a:ext cx="385763" cy="95250"/>
          </a:xfrm>
          <a:prstGeom xmlns:a="http://schemas.openxmlformats.org/drawingml/2006/main" prst="straightConnector1">
            <a:avLst/>
          </a:prstGeom>
          <a:ln xmlns:a="http://schemas.openxmlformats.org/drawingml/2006/main" w="14288">
            <a:solidFill>
              <a:srgbClr val="52606D"/>
            </a:solidFill>
            <a:prstDash val="dash"/>
            <a:tailEnd type="arrow" w="sm" len="sm"/>
          </a:ln>
        </p:spPr>
      </p:cxnSp>
      <p:sp>
        <p:nvSpPr>
          <p:cNvPr id="25" name="">
            <a:extLst xmlns:a="http://schemas.openxmlformats.org/drawingml/2006/main">
              <a:ext uri="{FF2B5EF4-FFF2-40B4-BE49-F238E27FC236}">
                <a16:creationId xmlns:a16="http://schemas.microsoft.com/office/drawing/2014/main" id="{23B3F306-1DA3-4F6B-8029-A9F73A573103}"/>
              </a:ext>
            </a:extLst>
          </p:cNvPr>
          <p:cNvSpPr>
            <a:spLocks xmlns:a="http://schemas.openxmlformats.org/drawingml/2006/main" noGrp="1"/>
          </p:cNvSpPr>
          <p:nvPr/>
        </p:nvSpPr>
        <p:spPr>
          <a:xfrm xmlns:a="http://schemas.openxmlformats.org/drawingml/2006/main">
            <a:off x="1257300" y="5543550"/>
            <a:ext cx="9677400" cy="514350"/>
          </a:xfrm>
          <a:prstGeom xmlns:a="http://schemas.openxmlformats.org/drawingml/2006/main" prst="roundRect">
            <a:avLst>
              <a:gd name="adj" fmla="val 11111"/>
            </a:avLst>
          </a:prstGeom>
          <a:solidFill xmlns:a="http://schemas.openxmlformats.org/drawingml/2006/main">
            <a:srgbClr val="102A43"/>
          </a:solidFill>
          <a:ln xmlns:a="http://schemas.openxmlformats.org/drawingml/2006/main" w="11430">
            <a:solidFill>
              <a:srgbClr val="102A43"/>
            </a:solidFill>
            <a:prstDash val="solid"/>
          </a:ln>
        </p:spPr>
      </p:sp>
      <p:sp>
        <p:nvSpPr>
          <p:cNvPr id="26" name="">
            <a:extLst xmlns:a="http://schemas.openxmlformats.org/drawingml/2006/main">
              <a:ext uri="{FF2B5EF4-FFF2-40B4-BE49-F238E27FC236}">
                <a16:creationId xmlns:a16="http://schemas.microsoft.com/office/drawing/2014/main" id="{F75EC7D9-E8CA-485F-A501-395B6D6BC25A}"/>
              </a:ext>
            </a:extLst>
          </p:cNvPr>
          <p:cNvSpPr>
            <a:spLocks xmlns:a="http://schemas.openxmlformats.org/drawingml/2006/main" noGrp="1"/>
          </p:cNvSpPr>
          <p:nvPr/>
        </p:nvSpPr>
        <p:spPr>
          <a:xfrm xmlns:a="http://schemas.openxmlformats.org/drawingml/2006/main">
            <a:off x="1428750" y="5610225"/>
            <a:ext cx="9334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FFFFFF"/>
                </a:solidFill>
              </a:defRPr>
            </a:pPr>
            <a:r>
              <a:rPr sz="1350" b="1" i="0">
                <a:solidFill>
                  <a:srgbClr val="FFFFFF"/>
                </a:solidFill>
              </a:rPr>
              <a:t>Certification before the paper call  |  comparison after the call  |  oracle-sorted output never enters the paper core</a:t>
            </a:r>
          </a:p>
        </p:txBody>
      </p:sp>
    </p:spTree>
    <p:extLst>
      <p:ext uri="{BB962C8B-B14F-4D97-AF65-F5344CB8AC3E}">
        <p14:creationId xmlns:p14="http://schemas.microsoft.com/office/powerpoint/2010/main" val="747055694"/>
      </p:ext>
    </p:extLst>
  </p:cSld>
</p:sld>
</file>

<file path=ppt/slides/slide7.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69E70D4B-765E-48F5-A7EB-90D46A1D92EF}"/>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RECONSTRUCTION</a:t>
            </a:r>
          </a:p>
        </p:txBody>
      </p:sp>
      <p:sp>
        <p:nvSpPr>
          <p:cNvPr id="2" name="">
            <a:extLst xmlns:a="http://schemas.openxmlformats.org/drawingml/2006/main">
              <a:ext uri="{FF2B5EF4-FFF2-40B4-BE49-F238E27FC236}">
                <a16:creationId xmlns:a16="http://schemas.microsoft.com/office/drawing/2014/main" id="{1A2A54F6-5758-4BC2-8B9A-8EAAA4F9931C}"/>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3596"/>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One Step 1/2/3 control flow supports a reflected decreasing orientation</a:t>
            </a:r>
          </a:p>
        </p:txBody>
      </p:sp>
      <p:sp>
        <p:nvSpPr>
          <p:cNvPr id="3" name="">
            <a:extLst xmlns:a="http://schemas.openxmlformats.org/drawingml/2006/main">
              <a:ext uri="{FF2B5EF4-FFF2-40B4-BE49-F238E27FC236}">
                <a16:creationId xmlns:a16="http://schemas.microsoft.com/office/drawing/2014/main" id="{1C833EB7-46A9-41E4-A147-FB08F5E34A8C}"/>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5DF899DA-9EB7-4D3E-8828-35DFF97E6DCD}"/>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1EC6AAA2-3554-49A2-8B4A-1CFFF2A44F0E}"/>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3489E690-82F5-42D3-909E-8E27111D66C7}"/>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7 / 16</a:t>
            </a:r>
          </a:p>
        </p:txBody>
      </p:sp>
      <p:sp>
        <p:nvSpPr>
          <p:cNvPr id="7" name="">
            <a:extLst xmlns:a="http://schemas.openxmlformats.org/drawingml/2006/main">
              <a:ext uri="{FF2B5EF4-FFF2-40B4-BE49-F238E27FC236}">
                <a16:creationId xmlns:a16="http://schemas.microsoft.com/office/drawing/2014/main" id="{10001FE6-F2C2-49F4-A681-9FD59D6C55F4}"/>
              </a:ext>
            </a:extLst>
          </p:cNvPr>
          <p:cNvSpPr>
            <a:spLocks xmlns:a="http://schemas.openxmlformats.org/drawingml/2006/main" noGrp="1"/>
          </p:cNvSpPr>
          <p:nvPr/>
        </p:nvSpPr>
        <p:spPr>
          <a:xfrm xmlns:a="http://schemas.openxmlformats.org/drawingml/2006/main">
            <a:off x="8191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8" name="">
            <a:extLst xmlns:a="http://schemas.openxmlformats.org/drawingml/2006/main">
              <a:ext uri="{FF2B5EF4-FFF2-40B4-BE49-F238E27FC236}">
                <a16:creationId xmlns:a16="http://schemas.microsoft.com/office/drawing/2014/main" id="{F7D4DC5F-2ED7-4523-86B4-032DFAE8DFB7}"/>
              </a:ext>
            </a:extLst>
          </p:cNvPr>
          <p:cNvSpPr>
            <a:spLocks xmlns:a="http://schemas.openxmlformats.org/drawingml/2006/main" noGrp="1"/>
          </p:cNvSpPr>
          <p:nvPr/>
        </p:nvSpPr>
        <p:spPr>
          <a:xfrm xmlns:a="http://schemas.openxmlformats.org/drawingml/2006/main">
            <a:off x="8953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Initialize</a:t>
            </a:r>
          </a:p>
        </p:txBody>
      </p:sp>
      <p:sp>
        <p:nvSpPr>
          <p:cNvPr id="9" name="">
            <a:extLst xmlns:a="http://schemas.openxmlformats.org/drawingml/2006/main">
              <a:ext uri="{FF2B5EF4-FFF2-40B4-BE49-F238E27FC236}">
                <a16:creationId xmlns:a16="http://schemas.microsoft.com/office/drawing/2014/main" id="{A9D7B850-B5AC-4327-8D2E-4CB284441822}"/>
              </a:ext>
            </a:extLst>
          </p:cNvPr>
          <p:cNvSpPr>
            <a:spLocks xmlns:a="http://schemas.openxmlformats.org/drawingml/2006/main" noGrp="1"/>
          </p:cNvSpPr>
          <p:nvPr/>
        </p:nvSpPr>
        <p:spPr>
          <a:xfrm xmlns:a="http://schemas.openxmlformats.org/drawingml/2006/main">
            <a:off x="9144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order z₁, z₂, z₃</a:t>
            </a:r>
          </a:p>
        </p:txBody>
      </p:sp>
      <p:sp>
        <p:nvSpPr>
          <p:cNvPr id="10" name="">
            <a:extLst xmlns:a="http://schemas.openxmlformats.org/drawingml/2006/main">
              <a:ext uri="{FF2B5EF4-FFF2-40B4-BE49-F238E27FC236}">
                <a16:creationId xmlns:a16="http://schemas.microsoft.com/office/drawing/2014/main" id="{74F1CD79-FA11-4118-B6DB-FCD655313547}"/>
              </a:ext>
            </a:extLst>
          </p:cNvPr>
          <p:cNvSpPr>
            <a:spLocks xmlns:a="http://schemas.openxmlformats.org/drawingml/2006/main" noGrp="1"/>
          </p:cNvSpPr>
          <p:nvPr/>
        </p:nvSpPr>
        <p:spPr>
          <a:xfrm xmlns:a="http://schemas.openxmlformats.org/drawingml/2006/main">
            <a:off x="29527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11" name="">
            <a:extLst xmlns:a="http://schemas.openxmlformats.org/drawingml/2006/main">
              <a:ext uri="{FF2B5EF4-FFF2-40B4-BE49-F238E27FC236}">
                <a16:creationId xmlns:a16="http://schemas.microsoft.com/office/drawing/2014/main" id="{37254231-658D-40EE-BEFF-61D0AB80F85A}"/>
              </a:ext>
            </a:extLst>
          </p:cNvPr>
          <p:cNvSpPr>
            <a:spLocks xmlns:a="http://schemas.openxmlformats.org/drawingml/2006/main" noGrp="1"/>
          </p:cNvSpPr>
          <p:nvPr/>
        </p:nvSpPr>
        <p:spPr>
          <a:xfrm xmlns:a="http://schemas.openxmlformats.org/drawingml/2006/main">
            <a:off x="30289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1</a:t>
            </a:r>
          </a:p>
        </p:txBody>
      </p:sp>
      <p:sp>
        <p:nvSpPr>
          <p:cNvPr id="12" name="">
            <a:extLst xmlns:a="http://schemas.openxmlformats.org/drawingml/2006/main">
              <a:ext uri="{FF2B5EF4-FFF2-40B4-BE49-F238E27FC236}">
                <a16:creationId xmlns:a16="http://schemas.microsoft.com/office/drawing/2014/main" id="{CB667A1A-A2DC-4163-82DE-B532DE4FEA39}"/>
              </a:ext>
            </a:extLst>
          </p:cNvPr>
          <p:cNvSpPr>
            <a:spLocks xmlns:a="http://schemas.openxmlformats.org/drawingml/2006/main" noGrp="1"/>
          </p:cNvSpPr>
          <p:nvPr/>
        </p:nvSpPr>
        <p:spPr>
          <a:xfrm xmlns:a="http://schemas.openxmlformats.org/drawingml/2006/main">
            <a:off x="30480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79722"/>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predecessor-side boundary</a:t>
            </a:r>
          </a:p>
        </p:txBody>
      </p:sp>
      <p:sp>
        <p:nvSpPr>
          <p:cNvPr id="13" name="">
            <a:extLst xmlns:a="http://schemas.openxmlformats.org/drawingml/2006/main">
              <a:ext uri="{FF2B5EF4-FFF2-40B4-BE49-F238E27FC236}">
                <a16:creationId xmlns:a16="http://schemas.microsoft.com/office/drawing/2014/main" id="{7DC98B44-3D75-4AB8-9F8C-CCE48A099DCD}"/>
              </a:ext>
            </a:extLst>
          </p:cNvPr>
          <p:cNvSpPr>
            <a:spLocks xmlns:a="http://schemas.openxmlformats.org/drawingml/2006/main" noGrp="1"/>
          </p:cNvSpPr>
          <p:nvPr/>
        </p:nvSpPr>
        <p:spPr>
          <a:xfrm xmlns:a="http://schemas.openxmlformats.org/drawingml/2006/main">
            <a:off x="50863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14" name="">
            <a:extLst xmlns:a="http://schemas.openxmlformats.org/drawingml/2006/main">
              <a:ext uri="{FF2B5EF4-FFF2-40B4-BE49-F238E27FC236}">
                <a16:creationId xmlns:a16="http://schemas.microsoft.com/office/drawing/2014/main" id="{9CC581FE-077D-4F1C-AC2C-CF264DD4FDCB}"/>
              </a:ext>
            </a:extLst>
          </p:cNvPr>
          <p:cNvSpPr>
            <a:spLocks xmlns:a="http://schemas.openxmlformats.org/drawingml/2006/main" noGrp="1"/>
          </p:cNvSpPr>
          <p:nvPr/>
        </p:nvSpPr>
        <p:spPr>
          <a:xfrm xmlns:a="http://schemas.openxmlformats.org/drawingml/2006/main">
            <a:off x="51625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2</a:t>
            </a:r>
          </a:p>
        </p:txBody>
      </p:sp>
      <p:sp>
        <p:nvSpPr>
          <p:cNvPr id="15" name="">
            <a:extLst xmlns:a="http://schemas.openxmlformats.org/drawingml/2006/main">
              <a:ext uri="{FF2B5EF4-FFF2-40B4-BE49-F238E27FC236}">
                <a16:creationId xmlns:a16="http://schemas.microsoft.com/office/drawing/2014/main" id="{41B66F2E-BDBC-4AC2-BBFA-B3CB4B0C83FB}"/>
              </a:ext>
            </a:extLst>
          </p:cNvPr>
          <p:cNvSpPr>
            <a:spLocks xmlns:a="http://schemas.openxmlformats.org/drawingml/2006/main" noGrp="1"/>
          </p:cNvSpPr>
          <p:nvPr/>
        </p:nvSpPr>
        <p:spPr>
          <a:xfrm xmlns:a="http://schemas.openxmlformats.org/drawingml/2006/main">
            <a:off x="51816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6391"/>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successor-side boundary</a:t>
            </a:r>
          </a:p>
        </p:txBody>
      </p:sp>
      <p:sp>
        <p:nvSpPr>
          <p:cNvPr id="16" name="">
            <a:extLst xmlns:a="http://schemas.openxmlformats.org/drawingml/2006/main">
              <a:ext uri="{FF2B5EF4-FFF2-40B4-BE49-F238E27FC236}">
                <a16:creationId xmlns:a16="http://schemas.microsoft.com/office/drawing/2014/main" id="{3F2EE600-C198-4F7A-A68A-E9D75DBDCD1D}"/>
              </a:ext>
            </a:extLst>
          </p:cNvPr>
          <p:cNvSpPr>
            <a:spLocks xmlns:a="http://schemas.openxmlformats.org/drawingml/2006/main" noGrp="1"/>
          </p:cNvSpPr>
          <p:nvPr/>
        </p:nvSpPr>
        <p:spPr>
          <a:xfrm xmlns:a="http://schemas.openxmlformats.org/drawingml/2006/main">
            <a:off x="72199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17" name="">
            <a:extLst xmlns:a="http://schemas.openxmlformats.org/drawingml/2006/main">
              <a:ext uri="{FF2B5EF4-FFF2-40B4-BE49-F238E27FC236}">
                <a16:creationId xmlns:a16="http://schemas.microsoft.com/office/drawing/2014/main" id="{8479F2B8-8DD4-435C-8EDD-EB28BF9BF9AB}"/>
              </a:ext>
            </a:extLst>
          </p:cNvPr>
          <p:cNvSpPr>
            <a:spLocks xmlns:a="http://schemas.openxmlformats.org/drawingml/2006/main" noGrp="1"/>
          </p:cNvSpPr>
          <p:nvPr/>
        </p:nvSpPr>
        <p:spPr>
          <a:xfrm xmlns:a="http://schemas.openxmlformats.org/drawingml/2006/main">
            <a:off x="72961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3(a)</a:t>
            </a:r>
          </a:p>
        </p:txBody>
      </p:sp>
      <p:sp>
        <p:nvSpPr>
          <p:cNvPr id="18" name="">
            <a:extLst xmlns:a="http://schemas.openxmlformats.org/drawingml/2006/main">
              <a:ext uri="{FF2B5EF4-FFF2-40B4-BE49-F238E27FC236}">
                <a16:creationId xmlns:a16="http://schemas.microsoft.com/office/drawing/2014/main" id="{3570035A-50AA-417B-A98D-FCE671A07057}"/>
              </a:ext>
            </a:extLst>
          </p:cNvPr>
          <p:cNvSpPr>
            <a:spLocks xmlns:a="http://schemas.openxmlformats.org/drawingml/2006/main" noGrp="1"/>
          </p:cNvSpPr>
          <p:nvPr/>
        </p:nvSpPr>
        <p:spPr>
          <a:xfrm xmlns:a="http://schemas.openxmlformats.org/drawingml/2006/main">
            <a:off x="73152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insert new pair</a:t>
            </a:r>
          </a:p>
        </p:txBody>
      </p:sp>
      <p:sp>
        <p:nvSpPr>
          <p:cNvPr id="19" name="">
            <a:extLst xmlns:a="http://schemas.openxmlformats.org/drawingml/2006/main">
              <a:ext uri="{FF2B5EF4-FFF2-40B4-BE49-F238E27FC236}">
                <a16:creationId xmlns:a16="http://schemas.microsoft.com/office/drawing/2014/main" id="{7C5D222A-E0ED-48B6-9FB5-B290AD2D1325}"/>
              </a:ext>
            </a:extLst>
          </p:cNvPr>
          <p:cNvSpPr>
            <a:spLocks xmlns:a="http://schemas.openxmlformats.org/drawingml/2006/main" noGrp="1"/>
          </p:cNvSpPr>
          <p:nvPr/>
        </p:nvSpPr>
        <p:spPr>
          <a:xfrm xmlns:a="http://schemas.openxmlformats.org/drawingml/2006/main">
            <a:off x="93535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20" name="">
            <a:extLst xmlns:a="http://schemas.openxmlformats.org/drawingml/2006/main">
              <a:ext uri="{FF2B5EF4-FFF2-40B4-BE49-F238E27FC236}">
                <a16:creationId xmlns:a16="http://schemas.microsoft.com/office/drawing/2014/main" id="{4334D7A9-489C-45B6-AC02-142FFD2833F2}"/>
              </a:ext>
            </a:extLst>
          </p:cNvPr>
          <p:cNvSpPr>
            <a:spLocks xmlns:a="http://schemas.openxmlformats.org/drawingml/2006/main" noGrp="1"/>
          </p:cNvSpPr>
          <p:nvPr/>
        </p:nvSpPr>
        <p:spPr>
          <a:xfrm xmlns:a="http://schemas.openxmlformats.org/drawingml/2006/main">
            <a:off x="94297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3(b)</a:t>
            </a:r>
          </a:p>
        </p:txBody>
      </p:sp>
      <p:sp>
        <p:nvSpPr>
          <p:cNvPr id="21" name="">
            <a:extLst xmlns:a="http://schemas.openxmlformats.org/drawingml/2006/main">
              <a:ext uri="{FF2B5EF4-FFF2-40B4-BE49-F238E27FC236}">
                <a16:creationId xmlns:a16="http://schemas.microsoft.com/office/drawing/2014/main" id="{27F75B6E-4F4F-4BD9-B3A7-02CAA4971D1E}"/>
              </a:ext>
            </a:extLst>
          </p:cNvPr>
          <p:cNvSpPr>
            <a:spLocks xmlns:a="http://schemas.openxmlformats.org/drawingml/2006/main" noGrp="1"/>
          </p:cNvSpPr>
          <p:nvPr/>
        </p:nvSpPr>
        <p:spPr>
          <a:xfrm xmlns:a="http://schemas.openxmlformats.org/drawingml/2006/main">
            <a:off x="94488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split + transfer</a:t>
            </a:r>
          </a:p>
        </p:txBody>
      </p:sp>
      <p:sp>
        <p:nvSpPr>
          <p:cNvPr id="22" name="">
            <a:extLst xmlns:a="http://schemas.openxmlformats.org/drawingml/2006/main">
              <a:ext uri="{FF2B5EF4-FFF2-40B4-BE49-F238E27FC236}">
                <a16:creationId xmlns:a16="http://schemas.microsoft.com/office/drawing/2014/main" id="{8A953881-AECB-4245-977A-16D59F358D3F}"/>
              </a:ext>
            </a:extLst>
          </p:cNvPr>
          <p:cNvSpPr>
            <a:spLocks xmlns:a="http://schemas.openxmlformats.org/drawingml/2006/main" noGrp="1"/>
          </p:cNvSpPr>
          <p:nvPr/>
        </p:nvSpPr>
        <p:spPr>
          <a:xfrm xmlns:a="http://schemas.openxmlformats.org/drawingml/2006/main">
            <a:off x="4762500" y="3009900"/>
            <a:ext cx="2667000" cy="838200"/>
          </a:xfrm>
          <a:prstGeom xmlns:a="http://schemas.openxmlformats.org/drawingml/2006/main" prst="roundRect">
            <a:avLst>
              <a:gd name="adj" fmla="val 9091"/>
            </a:avLst>
          </a:prstGeom>
          <a:solidFill xmlns:a="http://schemas.openxmlformats.org/drawingml/2006/main">
            <a:srgbClr val="EAF1F8"/>
          </a:solidFill>
          <a:ln xmlns:a="http://schemas.openxmlformats.org/drawingml/2006/main" w="19050">
            <a:solidFill>
              <a:srgbClr val="52606D"/>
            </a:solidFill>
            <a:prstDash val="solid"/>
          </a:ln>
        </p:spPr>
      </p:sp>
      <p:sp>
        <p:nvSpPr>
          <p:cNvPr id="23" name="">
            <a:extLst xmlns:a="http://schemas.openxmlformats.org/drawingml/2006/main">
              <a:ext uri="{FF2B5EF4-FFF2-40B4-BE49-F238E27FC236}">
                <a16:creationId xmlns:a16="http://schemas.microsoft.com/office/drawing/2014/main" id="{A740470C-6025-4B76-96C3-2D45D22A325D}"/>
              </a:ext>
            </a:extLst>
          </p:cNvPr>
          <p:cNvSpPr>
            <a:spLocks xmlns:a="http://schemas.openxmlformats.org/drawingml/2006/main" noGrp="1"/>
          </p:cNvSpPr>
          <p:nvPr/>
        </p:nvSpPr>
        <p:spPr>
          <a:xfrm xmlns:a="http://schemas.openxmlformats.org/drawingml/2006/main">
            <a:off x="4838700" y="3105150"/>
            <a:ext cx="2514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3(c)</a:t>
            </a:r>
          </a:p>
        </p:txBody>
      </p:sp>
      <p:sp>
        <p:nvSpPr>
          <p:cNvPr id="24" name="">
            <a:extLst xmlns:a="http://schemas.openxmlformats.org/drawingml/2006/main">
              <a:ext uri="{FF2B5EF4-FFF2-40B4-BE49-F238E27FC236}">
                <a16:creationId xmlns:a16="http://schemas.microsoft.com/office/drawing/2014/main" id="{49FD8DA1-5C9F-43A1-BA1C-BA86D1E06265}"/>
              </a:ext>
            </a:extLst>
          </p:cNvPr>
          <p:cNvSpPr>
            <a:spLocks xmlns:a="http://schemas.openxmlformats.org/drawingml/2006/main" noGrp="1"/>
          </p:cNvSpPr>
          <p:nvPr/>
        </p:nvSpPr>
        <p:spPr>
          <a:xfrm xmlns:a="http://schemas.openxmlformats.org/drawingml/2006/main">
            <a:off x="4857750" y="3409950"/>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2722"/>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insert new point into maintained order</a:t>
            </a:r>
          </a:p>
        </p:txBody>
      </p:sp>
      <p:cxnSp>
        <p:nvCxnSpPr>
          <p:cNvPr id="180" name=""/>
          <p:cNvCxnSpPr>
            <a:stCxn xmlns:a="http://schemas.openxmlformats.org/drawingml/2006/main" id="7" idx="3"/>
            <a:endCxn xmlns:a="http://schemas.openxmlformats.org/drawingml/2006/main" id="10" idx="1"/>
          </p:cNvCxnSpPr>
          <p:nvPr/>
        </p:nvCxnSpPr>
        <p:spPr>
          <a:xfrm xmlns:a="http://schemas.openxmlformats.org/drawingml/2006/main">
            <a:off x="25717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181" name=""/>
          <p:cNvCxnSpPr>
            <a:stCxn xmlns:a="http://schemas.openxmlformats.org/drawingml/2006/main" id="10" idx="3"/>
            <a:endCxn xmlns:a="http://schemas.openxmlformats.org/drawingml/2006/main" id="13" idx="1"/>
          </p:cNvCxnSpPr>
          <p:nvPr/>
        </p:nvCxnSpPr>
        <p:spPr>
          <a:xfrm xmlns:a="http://schemas.openxmlformats.org/drawingml/2006/main">
            <a:off x="47053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182" name=""/>
          <p:cNvCxnSpPr>
            <a:stCxn xmlns:a="http://schemas.openxmlformats.org/drawingml/2006/main" id="13" idx="3"/>
            <a:endCxn xmlns:a="http://schemas.openxmlformats.org/drawingml/2006/main" id="16" idx="1"/>
          </p:cNvCxnSpPr>
          <p:nvPr/>
        </p:nvCxnSpPr>
        <p:spPr>
          <a:xfrm xmlns:a="http://schemas.openxmlformats.org/drawingml/2006/main">
            <a:off x="68389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183" name=""/>
          <p:cNvCxnSpPr>
            <a:stCxn xmlns:a="http://schemas.openxmlformats.org/drawingml/2006/main" id="16" idx="3"/>
            <a:endCxn xmlns:a="http://schemas.openxmlformats.org/drawingml/2006/main" id="19" idx="1"/>
          </p:cNvCxnSpPr>
          <p:nvPr/>
        </p:nvCxnSpPr>
        <p:spPr>
          <a:xfrm xmlns:a="http://schemas.openxmlformats.org/drawingml/2006/main">
            <a:off x="89725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184" name=""/>
          <p:cNvCxnSpPr>
            <a:stCxn xmlns:a="http://schemas.openxmlformats.org/drawingml/2006/main" id="19" idx="2"/>
            <a:endCxn xmlns:a="http://schemas.openxmlformats.org/drawingml/2006/main" id="22" idx="0"/>
          </p:cNvCxnSpPr>
          <p:nvPr/>
        </p:nvCxnSpPr>
        <p:spPr>
          <a:xfrm xmlns:a="http://schemas.openxmlformats.org/drawingml/2006/main" flipH="1">
            <a:off x="6096000" y="2419350"/>
            <a:ext cx="4133850" cy="590550"/>
          </a:xfrm>
          <a:prstGeom xmlns:a="http://schemas.openxmlformats.org/drawingml/2006/main" prst="bentConnector4">
            <a:avLst>
              <a:gd name="adj1" fmla="val 0"/>
              <a:gd name="adj2" fmla="val 50000"/>
            </a:avLst>
          </a:prstGeom>
          <a:ln xmlns:a="http://schemas.openxmlformats.org/drawingml/2006/main" w="19050">
            <a:solidFill>
              <a:srgbClr val="52606D"/>
            </a:solidFill>
            <a:prstDash val="solid"/>
            <a:tailEnd type="arrow" w="med" len="med"/>
          </a:ln>
        </p:spPr>
      </p:cxnSp>
      <p:sp>
        <p:nvSpPr>
          <p:cNvPr id="30" name="">
            <a:extLst xmlns:a="http://schemas.openxmlformats.org/drawingml/2006/main">
              <a:ext uri="{FF2B5EF4-FFF2-40B4-BE49-F238E27FC236}">
                <a16:creationId xmlns:a16="http://schemas.microsoft.com/office/drawing/2014/main" id="{7C405428-7FD7-4F00-AFAF-70AFFE9C97A3}"/>
              </a:ext>
            </a:extLst>
          </p:cNvPr>
          <p:cNvSpPr>
            <a:spLocks xmlns:a="http://schemas.openxmlformats.org/drawingml/2006/main" noGrp="1"/>
          </p:cNvSpPr>
          <p:nvPr/>
        </p:nvSpPr>
        <p:spPr>
          <a:xfrm xmlns:a="http://schemas.openxmlformats.org/drawingml/2006/main">
            <a:off x="781050" y="4476750"/>
            <a:ext cx="3105150" cy="1066800"/>
          </a:xfrm>
          <a:prstGeom xmlns:a="http://schemas.openxmlformats.org/drawingml/2006/main" prst="roundRect">
            <a:avLst>
              <a:gd name="adj" fmla="val 7143"/>
            </a:avLst>
          </a:prstGeom>
          <a:solidFill xmlns:a="http://schemas.openxmlformats.org/drawingml/2006/main">
            <a:srgbClr val="EAF1F8"/>
          </a:solidFill>
          <a:ln xmlns:a="http://schemas.openxmlformats.org/drawingml/2006/main" w="14288">
            <a:solidFill>
              <a:srgbClr val="102A43"/>
            </a:solidFill>
            <a:prstDash val="solid"/>
          </a:ln>
        </p:spPr>
      </p:sp>
      <p:sp>
        <p:nvSpPr>
          <p:cNvPr id="31" name="">
            <a:extLst xmlns:a="http://schemas.openxmlformats.org/drawingml/2006/main">
              <a:ext uri="{FF2B5EF4-FFF2-40B4-BE49-F238E27FC236}">
                <a16:creationId xmlns:a16="http://schemas.microsoft.com/office/drawing/2014/main" id="{340F1DA9-0141-4CAF-8DD6-05CB795E6562}"/>
              </a:ext>
            </a:extLst>
          </p:cNvPr>
          <p:cNvSpPr>
            <a:spLocks xmlns:a="http://schemas.openxmlformats.org/drawingml/2006/main" noGrp="1"/>
          </p:cNvSpPr>
          <p:nvPr/>
        </p:nvSpPr>
        <p:spPr>
          <a:xfrm xmlns:a="http://schemas.openxmlformats.org/drawingml/2006/main">
            <a:off x="914400" y="4610100"/>
            <a:ext cx="2838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1" i="0">
                <a:solidFill>
                  <a:srgbClr val="102A43"/>
                </a:solidFill>
              </a:defRPr>
            </a:pPr>
            <a:r>
              <a:rPr sz="1425" b="1" i="0">
                <a:solidFill>
                  <a:srgbClr val="102A43"/>
                </a:solidFill>
              </a:rPr>
              <a:t>Explicit source rule</a:t>
            </a:r>
          </a:p>
        </p:txBody>
      </p:sp>
      <p:sp>
        <p:nvSpPr>
          <p:cNvPr id="32" name="">
            <a:extLst xmlns:a="http://schemas.openxmlformats.org/drawingml/2006/main">
              <a:ext uri="{FF2B5EF4-FFF2-40B4-BE49-F238E27FC236}">
                <a16:creationId xmlns:a16="http://schemas.microsoft.com/office/drawing/2014/main" id="{14D04A91-4054-4559-870F-109187CF43DF}"/>
              </a:ext>
            </a:extLst>
          </p:cNvPr>
          <p:cNvSpPr>
            <a:spLocks xmlns:a="http://schemas.openxmlformats.org/drawingml/2006/main" noGrp="1"/>
          </p:cNvSpPr>
          <p:nvPr/>
        </p:nvSpPr>
        <p:spPr>
          <a:xfrm xmlns:a="http://schemas.openxmlformats.org/drawingml/2006/main">
            <a:off x="952500" y="50101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Increasing Step 1/2/3 structure</a:t>
            </a:r>
          </a:p>
        </p:txBody>
      </p:sp>
      <p:sp>
        <p:nvSpPr>
          <p:cNvPr id="33" name="">
            <a:extLst xmlns:a="http://schemas.openxmlformats.org/drawingml/2006/main">
              <a:ext uri="{FF2B5EF4-FFF2-40B4-BE49-F238E27FC236}">
                <a16:creationId xmlns:a16="http://schemas.microsoft.com/office/drawing/2014/main" id="{84D3A541-28CE-4981-90B7-19D2BBE82413}"/>
              </a:ext>
            </a:extLst>
          </p:cNvPr>
          <p:cNvSpPr>
            <a:spLocks xmlns:a="http://schemas.openxmlformats.org/drawingml/2006/main" noGrp="1"/>
          </p:cNvSpPr>
          <p:nvPr/>
        </p:nvSpPr>
        <p:spPr>
          <a:xfrm xmlns:a="http://schemas.openxmlformats.org/drawingml/2006/main">
            <a:off x="4257675" y="4476750"/>
            <a:ext cx="3105150" cy="1066800"/>
          </a:xfrm>
          <a:prstGeom xmlns:a="http://schemas.openxmlformats.org/drawingml/2006/main" prst="roundRect">
            <a:avLst>
              <a:gd name="adj" fmla="val 7143"/>
            </a:avLst>
          </a:prstGeom>
          <a:solidFill xmlns:a="http://schemas.openxmlformats.org/drawingml/2006/main">
            <a:srgbClr val="E8F5F3"/>
          </a:solidFill>
          <a:ln xmlns:a="http://schemas.openxmlformats.org/drawingml/2006/main" w="14288">
            <a:solidFill>
              <a:srgbClr val="2A9D8F"/>
            </a:solidFill>
            <a:prstDash val="solid"/>
          </a:ln>
        </p:spPr>
      </p:sp>
      <p:sp>
        <p:nvSpPr>
          <p:cNvPr id="34" name="">
            <a:extLst xmlns:a="http://schemas.openxmlformats.org/drawingml/2006/main">
              <a:ext uri="{FF2B5EF4-FFF2-40B4-BE49-F238E27FC236}">
                <a16:creationId xmlns:a16="http://schemas.microsoft.com/office/drawing/2014/main" id="{32B1C363-921C-4E7F-8076-35E0EA55D505}"/>
              </a:ext>
            </a:extLst>
          </p:cNvPr>
          <p:cNvSpPr>
            <a:spLocks xmlns:a="http://schemas.openxmlformats.org/drawingml/2006/main" noGrp="1"/>
          </p:cNvSpPr>
          <p:nvPr/>
        </p:nvSpPr>
        <p:spPr>
          <a:xfrm xmlns:a="http://schemas.openxmlformats.org/drawingml/2006/main">
            <a:off x="4391025" y="4610100"/>
            <a:ext cx="2838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1" i="0">
                <a:solidFill>
                  <a:srgbClr val="2A9D8F"/>
                </a:solidFill>
              </a:defRPr>
            </a:pPr>
            <a:r>
              <a:rPr sz="1425" b="1" i="0">
                <a:solidFill>
                  <a:srgbClr val="2A9D8F"/>
                </a:solidFill>
              </a:rPr>
              <a:t>Symmetric reconstruction</a:t>
            </a:r>
          </a:p>
        </p:txBody>
      </p:sp>
      <p:sp>
        <p:nvSpPr>
          <p:cNvPr id="35" name="">
            <a:extLst xmlns:a="http://schemas.openxmlformats.org/drawingml/2006/main">
              <a:ext uri="{FF2B5EF4-FFF2-40B4-BE49-F238E27FC236}">
                <a16:creationId xmlns:a16="http://schemas.microsoft.com/office/drawing/2014/main" id="{E6297597-E023-4881-8322-DA479642E6B1}"/>
              </a:ext>
            </a:extLst>
          </p:cNvPr>
          <p:cNvSpPr>
            <a:spLocks xmlns:a="http://schemas.openxmlformats.org/drawingml/2006/main" noGrp="1"/>
          </p:cNvSpPr>
          <p:nvPr/>
        </p:nvSpPr>
        <p:spPr>
          <a:xfrm xmlns:a="http://schemas.openxmlformats.org/drawingml/2006/main">
            <a:off x="4429125" y="50101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Reflected decreasing orientation</a:t>
            </a:r>
          </a:p>
        </p:txBody>
      </p:sp>
      <p:sp>
        <p:nvSpPr>
          <p:cNvPr id="36" name="">
            <a:extLst xmlns:a="http://schemas.openxmlformats.org/drawingml/2006/main">
              <a:ext uri="{FF2B5EF4-FFF2-40B4-BE49-F238E27FC236}">
                <a16:creationId xmlns:a16="http://schemas.microsoft.com/office/drawing/2014/main" id="{0DFAD539-AD61-4FFB-A799-111B673C33EC}"/>
              </a:ext>
            </a:extLst>
          </p:cNvPr>
          <p:cNvSpPr>
            <a:spLocks xmlns:a="http://schemas.openxmlformats.org/drawingml/2006/main" noGrp="1"/>
          </p:cNvSpPr>
          <p:nvPr/>
        </p:nvSpPr>
        <p:spPr>
          <a:xfrm xmlns:a="http://schemas.openxmlformats.org/drawingml/2006/main">
            <a:off x="7734300" y="4476750"/>
            <a:ext cx="3105150" cy="1066800"/>
          </a:xfrm>
          <a:prstGeom xmlns:a="http://schemas.openxmlformats.org/drawingml/2006/main" prst="roundRect">
            <a:avLst>
              <a:gd name="adj" fmla="val 7143"/>
            </a:avLst>
          </a:prstGeom>
          <a:solidFill xmlns:a="http://schemas.openxmlformats.org/drawingml/2006/main">
            <a:srgbClr val="FCEEEA"/>
          </a:solidFill>
          <a:ln xmlns:a="http://schemas.openxmlformats.org/drawingml/2006/main" w="14288">
            <a:solidFill>
              <a:srgbClr val="E76F51"/>
            </a:solidFill>
            <a:prstDash val="solid"/>
          </a:ln>
        </p:spPr>
      </p:sp>
      <p:sp>
        <p:nvSpPr>
          <p:cNvPr id="37" name="">
            <a:extLst xmlns:a="http://schemas.openxmlformats.org/drawingml/2006/main">
              <a:ext uri="{FF2B5EF4-FFF2-40B4-BE49-F238E27FC236}">
                <a16:creationId xmlns:a16="http://schemas.microsoft.com/office/drawing/2014/main" id="{26A7B894-AC1A-4299-BE0E-6933FE0E237B}"/>
              </a:ext>
            </a:extLst>
          </p:cNvPr>
          <p:cNvSpPr>
            <a:spLocks xmlns:a="http://schemas.openxmlformats.org/drawingml/2006/main" noGrp="1"/>
          </p:cNvSpPr>
          <p:nvPr/>
        </p:nvSpPr>
        <p:spPr>
          <a:xfrm xmlns:a="http://schemas.openxmlformats.org/drawingml/2006/main">
            <a:off x="7867650" y="4610100"/>
            <a:ext cx="2838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1" i="0">
                <a:solidFill>
                  <a:srgbClr val="E76F51"/>
                </a:solidFill>
              </a:defRPr>
            </a:pPr>
            <a:r>
              <a:rPr sz="1425" b="1" i="0">
                <a:solidFill>
                  <a:srgbClr val="E76F51"/>
                </a:solidFill>
              </a:rPr>
              <a:t>Executable clarifications</a:t>
            </a:r>
          </a:p>
        </p:txBody>
      </p:sp>
      <p:sp>
        <p:nvSpPr>
          <p:cNvPr id="38" name="">
            <a:extLst xmlns:a="http://schemas.openxmlformats.org/drawingml/2006/main">
              <a:ext uri="{FF2B5EF4-FFF2-40B4-BE49-F238E27FC236}">
                <a16:creationId xmlns:a16="http://schemas.microsoft.com/office/drawing/2014/main" id="{4A4D39E8-1E50-4E64-9D8B-906E0A658D1B}"/>
              </a:ext>
            </a:extLst>
          </p:cNvPr>
          <p:cNvSpPr>
            <a:spLocks xmlns:a="http://schemas.openxmlformats.org/drawingml/2006/main" noGrp="1"/>
          </p:cNvSpPr>
          <p:nvPr/>
        </p:nvSpPr>
        <p:spPr>
          <a:xfrm xmlns:a="http://schemas.openxmlformats.org/drawingml/2006/main">
            <a:off x="7905750" y="50101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8702"/>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Geometric endpoint and odd-index z₁ anchor</a:t>
            </a:r>
          </a:p>
        </p:txBody>
      </p:sp>
      <p:sp>
        <p:nvSpPr>
          <p:cNvPr id="39" name="">
            <a:extLst xmlns:a="http://schemas.openxmlformats.org/drawingml/2006/main">
              <a:ext uri="{FF2B5EF4-FFF2-40B4-BE49-F238E27FC236}">
                <a16:creationId xmlns:a16="http://schemas.microsoft.com/office/drawing/2014/main" id="{AC214E00-70DE-4F4D-85F4-1C7B7390CE5A}"/>
              </a:ext>
            </a:extLst>
          </p:cNvPr>
          <p:cNvSpPr>
            <a:spLocks xmlns:a="http://schemas.openxmlformats.org/drawingml/2006/main" noGrp="1"/>
          </p:cNvSpPr>
          <p:nvPr/>
        </p:nvSpPr>
        <p:spPr>
          <a:xfrm xmlns:a="http://schemas.openxmlformats.org/drawingml/2006/main">
            <a:off x="1485900" y="5772150"/>
            <a:ext cx="9220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The colors describe reconstruction evidence, not ownership of individual algorithm steps.</a:t>
            </a:r>
          </a:p>
        </p:txBody>
      </p:sp>
    </p:spTree>
    <p:extLst>
      <p:ext uri="{BB962C8B-B14F-4D97-AF65-F5344CB8AC3E}">
        <p14:creationId xmlns:p14="http://schemas.microsoft.com/office/powerpoint/2010/main" val="1142159284"/>
      </p:ext>
    </p:extLst>
  </p:cSld>
</p:sld>
</file>

<file path=ppt/slides/slide8.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CCE383A7-F913-488A-95AF-609423FAE80D}"/>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RECONSTRUCTION ISSUE I</a:t>
            </a:r>
          </a:p>
        </p:txBody>
      </p:sp>
      <p:sp>
        <p:nvSpPr>
          <p:cNvPr id="2" name="">
            <a:extLst xmlns:a="http://schemas.openxmlformats.org/drawingml/2006/main">
              <a:ext uri="{FF2B5EF4-FFF2-40B4-BE49-F238E27FC236}">
                <a16:creationId xmlns:a16="http://schemas.microsoft.com/office/drawing/2014/main" id="{E19DBA0E-3899-494A-916E-33FFE813632B}"/>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5546"/>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Step 3(c) uses the geometric extreme, not the second stored endpoint</a:t>
            </a:r>
          </a:p>
        </p:txBody>
      </p:sp>
      <p:sp>
        <p:nvSpPr>
          <p:cNvPr id="3" name="">
            <a:extLst xmlns:a="http://schemas.openxmlformats.org/drawingml/2006/main">
              <a:ext uri="{FF2B5EF4-FFF2-40B4-BE49-F238E27FC236}">
                <a16:creationId xmlns:a16="http://schemas.microsoft.com/office/drawing/2014/main" id="{A3B0F2EF-DE1B-4E8A-AF94-FF31D5AB2E77}"/>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48A969B9-4AE9-48A6-96F0-55D5AA4F395E}"/>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B755296E-FB68-464E-B3E4-59F45E5C350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A6050405-280A-49BB-BD17-62DCC8DE0B29}"/>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8 / 16</a:t>
            </a:r>
          </a:p>
        </p:txBody>
      </p:sp>
      <p:sp>
        <p:nvSpPr>
          <p:cNvPr id="7" name="">
            <a:extLst xmlns:a="http://schemas.openxmlformats.org/drawingml/2006/main">
              <a:ext uri="{FF2B5EF4-FFF2-40B4-BE49-F238E27FC236}">
                <a16:creationId xmlns:a16="http://schemas.microsoft.com/office/drawing/2014/main" id="{21E53D60-E8E4-4957-8B63-270E14379DD7}"/>
              </a:ext>
            </a:extLst>
          </p:cNvPr>
          <p:cNvSpPr>
            <a:spLocks xmlns:a="http://schemas.openxmlformats.org/drawingml/2006/main" noGrp="1"/>
          </p:cNvSpPr>
          <p:nvPr/>
        </p:nvSpPr>
        <p:spPr>
          <a:xfrm xmlns:a="http://schemas.openxmlformats.org/drawingml/2006/main">
            <a:off x="800100" y="148590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200" b="1" i="0">
                <a:solidFill>
                  <a:srgbClr val="7B8794"/>
                </a:solidFill>
              </a:defRPr>
            </a:pPr>
            <a:r>
              <a:rPr sz="1200" b="1" i="0">
                <a:solidFill>
                  <a:srgbClr val="7B8794"/>
                </a:solidFill>
              </a:rPr>
              <a:t>Input prefix</a:t>
            </a:r>
          </a:p>
        </p:txBody>
      </p:sp>
      <p:sp>
        <p:nvSpPr>
          <p:cNvPr id="8" name="">
            <a:extLst xmlns:a="http://schemas.openxmlformats.org/drawingml/2006/main">
              <a:ext uri="{FF2B5EF4-FFF2-40B4-BE49-F238E27FC236}">
                <a16:creationId xmlns:a16="http://schemas.microsoft.com/office/drawing/2014/main" id="{65415A9B-A7D3-4AA8-AC00-9A85CA7B96DC}"/>
              </a:ext>
            </a:extLst>
          </p:cNvPr>
          <p:cNvSpPr>
            <a:spLocks xmlns:a="http://schemas.openxmlformats.org/drawingml/2006/main" noGrp="1"/>
          </p:cNvSpPr>
          <p:nvPr/>
        </p:nvSpPr>
        <p:spPr>
          <a:xfrm xmlns:a="http://schemas.openxmlformats.org/drawingml/2006/main">
            <a:off x="800100" y="179070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2400" b="1" i="0">
                <a:solidFill>
                  <a:srgbClr val="102A43"/>
                </a:solidFill>
              </a:defRPr>
            </a:pPr>
            <a:r>
              <a:rPr sz="2400" b="1" i="0">
                <a:solidFill>
                  <a:srgbClr val="102A43"/>
                </a:solidFill>
              </a:rPr>
              <a:t>(3, 2, 1, 4)</a:t>
            </a:r>
          </a:p>
        </p:txBody>
      </p:sp>
      <p:sp>
        <p:nvSpPr>
          <p:cNvPr id="9" name="">
            <a:extLst xmlns:a="http://schemas.openxmlformats.org/drawingml/2006/main">
              <a:ext uri="{FF2B5EF4-FFF2-40B4-BE49-F238E27FC236}">
                <a16:creationId xmlns:a16="http://schemas.microsoft.com/office/drawing/2014/main" id="{B6239380-915E-4561-BEEA-AC075C2A3AAA}"/>
              </a:ext>
            </a:extLst>
          </p:cNvPr>
          <p:cNvSpPr>
            <a:spLocks xmlns:a="http://schemas.openxmlformats.org/drawingml/2006/main" noGrp="1"/>
          </p:cNvSpPr>
          <p:nvPr/>
        </p:nvSpPr>
        <p:spPr>
          <a:xfrm xmlns:a="http://schemas.openxmlformats.org/drawingml/2006/main">
            <a:off x="800100" y="241935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200" b="1" i="0">
                <a:solidFill>
                  <a:srgbClr val="7B8794"/>
                </a:solidFill>
              </a:defRPr>
            </a:pPr>
            <a:r>
              <a:rPr sz="1200" b="1" i="0">
                <a:solidFill>
                  <a:srgbClr val="7B8794"/>
                </a:solidFill>
              </a:rPr>
              <a:t>Acquired pair</a:t>
            </a:r>
          </a:p>
        </p:txBody>
      </p:sp>
      <p:sp>
        <p:nvSpPr>
          <p:cNvPr id="10" name="">
            <a:extLst xmlns:a="http://schemas.openxmlformats.org/drawingml/2006/main">
              <a:ext uri="{FF2B5EF4-FFF2-40B4-BE49-F238E27FC236}">
                <a16:creationId xmlns:a16="http://schemas.microsoft.com/office/drawing/2014/main" id="{7CAD6038-96A5-4B26-8CA3-4DA4F6005278}"/>
              </a:ext>
            </a:extLst>
          </p:cNvPr>
          <p:cNvSpPr>
            <a:spLocks xmlns:a="http://schemas.openxmlformats.org/drawingml/2006/main" noGrp="1"/>
          </p:cNvSpPr>
          <p:nvPr/>
        </p:nvSpPr>
        <p:spPr>
          <a:xfrm xmlns:a="http://schemas.openxmlformats.org/drawingml/2006/main">
            <a:off x="800100" y="272415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2250" b="1" i="0">
                <a:solidFill>
                  <a:srgbClr val="E76F51"/>
                </a:solidFill>
              </a:defRPr>
            </a:pPr>
            <a:r>
              <a:rPr sz="2250" b="1" i="0">
                <a:solidFill>
                  <a:srgbClr val="E76F51"/>
                </a:solidFill>
              </a:rPr>
              <a:t>P₂ = (3, 2)</a:t>
            </a:r>
          </a:p>
        </p:txBody>
      </p:sp>
      <p:sp>
        <p:nvSpPr>
          <p:cNvPr id="11" name="">
            <a:extLst xmlns:a="http://schemas.openxmlformats.org/drawingml/2006/main">
              <a:ext uri="{FF2B5EF4-FFF2-40B4-BE49-F238E27FC236}">
                <a16:creationId xmlns:a16="http://schemas.microsoft.com/office/drawing/2014/main" id="{E6893848-4EA1-4632-9EDD-5C8ED3055AF7}"/>
              </a:ext>
            </a:extLst>
          </p:cNvPr>
          <p:cNvSpPr>
            <a:spLocks xmlns:a="http://schemas.openxmlformats.org/drawingml/2006/main" noGrp="1"/>
          </p:cNvSpPr>
          <p:nvPr/>
        </p:nvSpPr>
        <p:spPr>
          <a:xfrm xmlns:a="http://schemas.openxmlformats.org/drawingml/2006/main">
            <a:off x="3905250" y="2400300"/>
            <a:ext cx="6477000" cy="9525"/>
          </a:xfrm>
          <a:prstGeom xmlns:a="http://schemas.openxmlformats.org/drawingml/2006/main" prst="line">
            <a:avLst/>
          </a:prstGeom>
          <a:noFill xmlns:a="http://schemas.openxmlformats.org/drawingml/2006/main"/>
          <a:ln xmlns:a="http://schemas.openxmlformats.org/drawingml/2006/main" w="28575">
            <a:solidFill>
              <a:srgbClr val="52606D"/>
            </a:solidFill>
            <a:prstDash val="solid"/>
          </a:ln>
        </p:spPr>
      </p:sp>
      <p:sp>
        <p:nvSpPr>
          <p:cNvPr id="12" name="">
            <a:extLst xmlns:a="http://schemas.openxmlformats.org/drawingml/2006/main">
              <a:ext uri="{FF2B5EF4-FFF2-40B4-BE49-F238E27FC236}">
                <a16:creationId xmlns:a16="http://schemas.microsoft.com/office/drawing/2014/main" id="{3BC2E166-56E6-4955-AEF7-D8BD2BCDD75F}"/>
              </a:ext>
            </a:extLst>
          </p:cNvPr>
          <p:cNvSpPr>
            <a:spLocks xmlns:a="http://schemas.openxmlformats.org/drawingml/2006/main" noGrp="1"/>
          </p:cNvSpPr>
          <p:nvPr/>
        </p:nvSpPr>
        <p:spPr>
          <a:xfrm xmlns:a="http://schemas.openxmlformats.org/drawingml/2006/main">
            <a:off x="4095750" y="2209800"/>
            <a:ext cx="381000" cy="381000"/>
          </a:xfrm>
          <a:prstGeom xmlns:a="http://schemas.openxmlformats.org/drawingml/2006/main" prst="ellipse">
            <a:avLst/>
          </a:prstGeom>
          <a:solidFill xmlns:a="http://schemas.openxmlformats.org/drawingml/2006/main">
            <a:srgbClr val="FFFFFF"/>
          </a:solidFill>
          <a:ln xmlns:a="http://schemas.openxmlformats.org/drawingml/2006/main" w="19050">
            <a:solidFill>
              <a:srgbClr val="52606D"/>
            </a:solidFill>
            <a:prstDash val="solid"/>
          </a:ln>
        </p:spPr>
      </p:sp>
      <p:sp>
        <p:nvSpPr>
          <p:cNvPr id="13" name="">
            <a:extLst xmlns:a="http://schemas.openxmlformats.org/drawingml/2006/main">
              <a:ext uri="{FF2B5EF4-FFF2-40B4-BE49-F238E27FC236}">
                <a16:creationId xmlns:a16="http://schemas.microsoft.com/office/drawing/2014/main" id="{7111C24A-7FF1-4B0B-B430-9224D658B2BE}"/>
              </a:ext>
            </a:extLst>
          </p:cNvPr>
          <p:cNvSpPr>
            <a:spLocks xmlns:a="http://schemas.openxmlformats.org/drawingml/2006/main" noGrp="1"/>
          </p:cNvSpPr>
          <p:nvPr/>
        </p:nvSpPr>
        <p:spPr>
          <a:xfrm xmlns:a="http://schemas.openxmlformats.org/drawingml/2006/main">
            <a:off x="4095750"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1</a:t>
            </a:r>
          </a:p>
        </p:txBody>
      </p:sp>
      <p:sp>
        <p:nvSpPr>
          <p:cNvPr id="14" name="">
            <a:extLst xmlns:a="http://schemas.openxmlformats.org/drawingml/2006/main">
              <a:ext uri="{FF2B5EF4-FFF2-40B4-BE49-F238E27FC236}">
                <a16:creationId xmlns:a16="http://schemas.microsoft.com/office/drawing/2014/main" id="{2B9EC00E-2784-4050-99DB-563F4C05866A}"/>
              </a:ext>
            </a:extLst>
          </p:cNvPr>
          <p:cNvSpPr>
            <a:spLocks xmlns:a="http://schemas.openxmlformats.org/drawingml/2006/main" noGrp="1"/>
          </p:cNvSpPr>
          <p:nvPr/>
        </p:nvSpPr>
        <p:spPr>
          <a:xfrm xmlns:a="http://schemas.openxmlformats.org/drawingml/2006/main">
            <a:off x="6048375" y="2209800"/>
            <a:ext cx="381000" cy="381000"/>
          </a:xfrm>
          <a:prstGeom xmlns:a="http://schemas.openxmlformats.org/drawingml/2006/main" prst="ellipse">
            <a:avLst/>
          </a:prstGeom>
          <a:solidFill xmlns:a="http://schemas.openxmlformats.org/drawingml/2006/main">
            <a:srgbClr val="FCEEEA"/>
          </a:solidFill>
          <a:ln xmlns:a="http://schemas.openxmlformats.org/drawingml/2006/main" w="19050">
            <a:solidFill>
              <a:srgbClr val="E76F51"/>
            </a:solidFill>
            <a:prstDash val="solid"/>
          </a:ln>
        </p:spPr>
      </p:sp>
      <p:sp>
        <p:nvSpPr>
          <p:cNvPr id="15" name="">
            <a:extLst xmlns:a="http://schemas.openxmlformats.org/drawingml/2006/main">
              <a:ext uri="{FF2B5EF4-FFF2-40B4-BE49-F238E27FC236}">
                <a16:creationId xmlns:a16="http://schemas.microsoft.com/office/drawing/2014/main" id="{809756AC-3369-4AF0-9446-6F945401A8FC}"/>
              </a:ext>
            </a:extLst>
          </p:cNvPr>
          <p:cNvSpPr>
            <a:spLocks xmlns:a="http://schemas.openxmlformats.org/drawingml/2006/main" noGrp="1"/>
          </p:cNvSpPr>
          <p:nvPr/>
        </p:nvSpPr>
        <p:spPr>
          <a:xfrm xmlns:a="http://schemas.openxmlformats.org/drawingml/2006/main">
            <a:off x="6048375"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2</a:t>
            </a:r>
          </a:p>
        </p:txBody>
      </p:sp>
      <p:sp>
        <p:nvSpPr>
          <p:cNvPr id="16" name="">
            <a:extLst xmlns:a="http://schemas.openxmlformats.org/drawingml/2006/main">
              <a:ext uri="{FF2B5EF4-FFF2-40B4-BE49-F238E27FC236}">
                <a16:creationId xmlns:a16="http://schemas.microsoft.com/office/drawing/2014/main" id="{DC96F826-BD8E-4E37-8F52-3D136B923139}"/>
              </a:ext>
            </a:extLst>
          </p:cNvPr>
          <p:cNvSpPr>
            <a:spLocks xmlns:a="http://schemas.openxmlformats.org/drawingml/2006/main" noGrp="1"/>
          </p:cNvSpPr>
          <p:nvPr/>
        </p:nvSpPr>
        <p:spPr>
          <a:xfrm xmlns:a="http://schemas.openxmlformats.org/drawingml/2006/main">
            <a:off x="8001000" y="2209800"/>
            <a:ext cx="381000" cy="381000"/>
          </a:xfrm>
          <a:prstGeom xmlns:a="http://schemas.openxmlformats.org/drawingml/2006/main" prst="ellipse">
            <a:avLst/>
          </a:prstGeom>
          <a:solidFill xmlns:a="http://schemas.openxmlformats.org/drawingml/2006/main">
            <a:srgbClr val="E8F5F3"/>
          </a:solidFill>
          <a:ln xmlns:a="http://schemas.openxmlformats.org/drawingml/2006/main" w="19050">
            <a:solidFill>
              <a:srgbClr val="2A9D8F"/>
            </a:solidFill>
            <a:prstDash val="solid"/>
          </a:ln>
        </p:spPr>
      </p:sp>
      <p:sp>
        <p:nvSpPr>
          <p:cNvPr id="17" name="">
            <a:extLst xmlns:a="http://schemas.openxmlformats.org/drawingml/2006/main">
              <a:ext uri="{FF2B5EF4-FFF2-40B4-BE49-F238E27FC236}">
                <a16:creationId xmlns:a16="http://schemas.microsoft.com/office/drawing/2014/main" id="{43D694F8-B45D-4AD4-92C4-96397E53A327}"/>
              </a:ext>
            </a:extLst>
          </p:cNvPr>
          <p:cNvSpPr>
            <a:spLocks xmlns:a="http://schemas.openxmlformats.org/drawingml/2006/main" noGrp="1"/>
          </p:cNvSpPr>
          <p:nvPr/>
        </p:nvSpPr>
        <p:spPr>
          <a:xfrm xmlns:a="http://schemas.openxmlformats.org/drawingml/2006/main">
            <a:off x="8001000"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3</a:t>
            </a:r>
          </a:p>
        </p:txBody>
      </p:sp>
      <p:sp>
        <p:nvSpPr>
          <p:cNvPr id="18" name="">
            <a:extLst xmlns:a="http://schemas.openxmlformats.org/drawingml/2006/main">
              <a:ext uri="{FF2B5EF4-FFF2-40B4-BE49-F238E27FC236}">
                <a16:creationId xmlns:a16="http://schemas.microsoft.com/office/drawing/2014/main" id="{72430165-32F7-4702-823B-6AE6E2DA9D68}"/>
              </a:ext>
            </a:extLst>
          </p:cNvPr>
          <p:cNvSpPr>
            <a:spLocks xmlns:a="http://schemas.openxmlformats.org/drawingml/2006/main" noGrp="1"/>
          </p:cNvSpPr>
          <p:nvPr/>
        </p:nvSpPr>
        <p:spPr>
          <a:xfrm xmlns:a="http://schemas.openxmlformats.org/drawingml/2006/main">
            <a:off x="9953625" y="2209800"/>
            <a:ext cx="381000" cy="381000"/>
          </a:xfrm>
          <a:prstGeom xmlns:a="http://schemas.openxmlformats.org/drawingml/2006/main" prst="ellipse">
            <a:avLst/>
          </a:prstGeom>
          <a:solidFill xmlns:a="http://schemas.openxmlformats.org/drawingml/2006/main">
            <a:srgbClr val="FFFFFF"/>
          </a:solidFill>
          <a:ln xmlns:a="http://schemas.openxmlformats.org/drawingml/2006/main" w="19050">
            <a:solidFill>
              <a:srgbClr val="52606D"/>
            </a:solidFill>
            <a:prstDash val="solid"/>
          </a:ln>
        </p:spPr>
      </p:sp>
      <p:sp>
        <p:nvSpPr>
          <p:cNvPr id="19" name="">
            <a:extLst xmlns:a="http://schemas.openxmlformats.org/drawingml/2006/main">
              <a:ext uri="{FF2B5EF4-FFF2-40B4-BE49-F238E27FC236}">
                <a16:creationId xmlns:a16="http://schemas.microsoft.com/office/drawing/2014/main" id="{C5F2A0AC-1B40-4C79-9A57-1427DEDFFF01}"/>
              </a:ext>
            </a:extLst>
          </p:cNvPr>
          <p:cNvSpPr>
            <a:spLocks xmlns:a="http://schemas.openxmlformats.org/drawingml/2006/main" noGrp="1"/>
          </p:cNvSpPr>
          <p:nvPr/>
        </p:nvSpPr>
        <p:spPr>
          <a:xfrm xmlns:a="http://schemas.openxmlformats.org/drawingml/2006/main">
            <a:off x="9953625"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4</a:t>
            </a:r>
          </a:p>
        </p:txBody>
      </p:sp>
      <p:sp>
        <p:nvSpPr>
          <p:cNvPr id="20" name="">
            <a:extLst xmlns:a="http://schemas.openxmlformats.org/drawingml/2006/main">
              <a:ext uri="{FF2B5EF4-FFF2-40B4-BE49-F238E27FC236}">
                <a16:creationId xmlns:a16="http://schemas.microsoft.com/office/drawing/2014/main" id="{0FE76C16-6441-4A8A-9899-EBBFEB2F596B}"/>
              </a:ext>
            </a:extLst>
          </p:cNvPr>
          <p:cNvSpPr>
            <a:spLocks xmlns:a="http://schemas.openxmlformats.org/drawingml/2006/main" noGrp="1"/>
          </p:cNvSpPr>
          <p:nvPr/>
        </p:nvSpPr>
        <p:spPr>
          <a:xfrm xmlns:a="http://schemas.openxmlformats.org/drawingml/2006/main">
            <a:off x="6858000" y="158115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stored direction 3 → 2</a:t>
            </a:r>
          </a:p>
        </p:txBody>
      </p:sp>
      <p:sp>
        <p:nvSpPr>
          <p:cNvPr id="21" name="">
            <a:extLst xmlns:a="http://schemas.openxmlformats.org/drawingml/2006/main">
              <a:ext uri="{FF2B5EF4-FFF2-40B4-BE49-F238E27FC236}">
                <a16:creationId xmlns:a16="http://schemas.microsoft.com/office/drawing/2014/main" id="{937C9BE1-613A-46DD-A30C-76A9A7E855F1}"/>
              </a:ext>
            </a:extLst>
          </p:cNvPr>
          <p:cNvSpPr>
            <a:spLocks xmlns:a="http://schemas.openxmlformats.org/drawingml/2006/main" noGrp="1"/>
          </p:cNvSpPr>
          <p:nvPr/>
        </p:nvSpPr>
        <p:spPr>
          <a:xfrm xmlns:a="http://schemas.openxmlformats.org/drawingml/2006/main">
            <a:off x="6153150" y="272415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200" b="0" i="0">
                <a:solidFill>
                  <a:srgbClr val="7B8794"/>
                </a:solidFill>
              </a:defRPr>
            </a:pPr>
            <a:r>
              <a:rPr sz="1200" b="0" i="0">
                <a:solidFill>
                  <a:srgbClr val="7B8794"/>
                </a:solidFill>
              </a:rPr>
              <a:t>geometric axis</a:t>
            </a:r>
          </a:p>
        </p:txBody>
      </p:sp>
      <p:sp>
        <p:nvSpPr>
          <p:cNvPr id="22" name="">
            <a:extLst xmlns:a="http://schemas.openxmlformats.org/drawingml/2006/main">
              <a:ext uri="{FF2B5EF4-FFF2-40B4-BE49-F238E27FC236}">
                <a16:creationId xmlns:a16="http://schemas.microsoft.com/office/drawing/2014/main" id="{E98A5A4F-1C56-4F78-8191-DC6AEDE16280}"/>
              </a:ext>
            </a:extLst>
          </p:cNvPr>
          <p:cNvSpPr>
            <a:spLocks xmlns:a="http://schemas.openxmlformats.org/drawingml/2006/main" noGrp="1"/>
          </p:cNvSpPr>
          <p:nvPr/>
        </p:nvSpPr>
        <p:spPr>
          <a:xfrm xmlns:a="http://schemas.openxmlformats.org/drawingml/2006/main">
            <a:off x="3943350" y="3409950"/>
            <a:ext cx="3143250" cy="1466850"/>
          </a:xfrm>
          <a:prstGeom xmlns:a="http://schemas.openxmlformats.org/drawingml/2006/main" prst="roundRect">
            <a:avLst>
              <a:gd name="adj" fmla="val 5195"/>
            </a:avLst>
          </a:prstGeom>
          <a:solidFill xmlns:a="http://schemas.openxmlformats.org/drawingml/2006/main">
            <a:srgbClr val="FCEEEA"/>
          </a:solidFill>
          <a:ln xmlns:a="http://schemas.openxmlformats.org/drawingml/2006/main" w="19050">
            <a:solidFill>
              <a:srgbClr val="E76F51"/>
            </a:solidFill>
            <a:prstDash val="solid"/>
          </a:ln>
        </p:spPr>
      </p:sp>
      <p:sp>
        <p:nvSpPr>
          <p:cNvPr id="23" name="">
            <a:extLst xmlns:a="http://schemas.openxmlformats.org/drawingml/2006/main">
              <a:ext uri="{FF2B5EF4-FFF2-40B4-BE49-F238E27FC236}">
                <a16:creationId xmlns:a16="http://schemas.microsoft.com/office/drawing/2014/main" id="{EF403E8E-447B-4D79-9544-9BAFB38E585D}"/>
              </a:ext>
            </a:extLst>
          </p:cNvPr>
          <p:cNvSpPr>
            <a:spLocks xmlns:a="http://schemas.openxmlformats.org/drawingml/2006/main" noGrp="1"/>
          </p:cNvSpPr>
          <p:nvPr/>
        </p:nvSpPr>
        <p:spPr>
          <a:xfrm xmlns:a="http://schemas.openxmlformats.org/drawingml/2006/main">
            <a:off x="4152900" y="3562350"/>
            <a:ext cx="2724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725" b="1" i="0">
                <a:solidFill>
                  <a:srgbClr val="E76F51"/>
                </a:solidFill>
              </a:defRPr>
            </a:pPr>
            <a:r>
              <a:rPr sz="1725" b="1" i="0">
                <a:solidFill>
                  <a:srgbClr val="E76F51"/>
                </a:solidFill>
              </a:rPr>
              <a:t>Curve-order endpoint</a:t>
            </a:r>
          </a:p>
        </p:txBody>
      </p:sp>
      <p:sp>
        <p:nvSpPr>
          <p:cNvPr id="24" name="">
            <a:extLst xmlns:a="http://schemas.openxmlformats.org/drawingml/2006/main">
              <a:ext uri="{FF2B5EF4-FFF2-40B4-BE49-F238E27FC236}">
                <a16:creationId xmlns:a16="http://schemas.microsoft.com/office/drawing/2014/main" id="{E81191B0-139D-457B-AAC4-70D118214B36}"/>
              </a:ext>
            </a:extLst>
          </p:cNvPr>
          <p:cNvSpPr>
            <a:spLocks xmlns:a="http://schemas.openxmlformats.org/drawingml/2006/main" noGrp="1"/>
          </p:cNvSpPr>
          <p:nvPr/>
        </p:nvSpPr>
        <p:spPr>
          <a:xfrm xmlns:a="http://schemas.openxmlformats.org/drawingml/2006/main">
            <a:off x="4171950" y="3981450"/>
            <a:ext cx="2686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anchor = 2</a:t>
            </a:r>
          </a:p>
          <a:p xmlns:a="http://schemas.openxmlformats.org/drawingml/2006/main">
            <a:pPr algn="ctr">
              <a:lnSpc>
                <a:spcPct val="105000"/>
              </a:lnSpc>
              <a:buNone/>
              <a:defRPr sz="1500" b="0" i="0">
                <a:solidFill>
                  <a:srgbClr val="243B53"/>
                </a:solidFill>
              </a:defRPr>
            </a:pPr>
            <a:r>
              <a:rPr sz="1500" b="0" i="0">
                <a:solidFill>
                  <a:srgbClr val="243B53"/>
                </a:solidFill>
              </a:rPr>
              <a:t>result: [1, 2, 4, 3]</a:t>
            </a:r>
          </a:p>
        </p:txBody>
      </p:sp>
      <p:sp>
        <p:nvSpPr>
          <p:cNvPr id="25" name="">
            <a:extLst xmlns:a="http://schemas.openxmlformats.org/drawingml/2006/main">
              <a:ext uri="{FF2B5EF4-FFF2-40B4-BE49-F238E27FC236}">
                <a16:creationId xmlns:a16="http://schemas.microsoft.com/office/drawing/2014/main" id="{5C4F382E-3146-4F5F-9CE8-AF308F94D143}"/>
              </a:ext>
            </a:extLst>
          </p:cNvPr>
          <p:cNvSpPr>
            <a:spLocks xmlns:a="http://schemas.openxmlformats.org/drawingml/2006/main" noGrp="1"/>
          </p:cNvSpPr>
          <p:nvPr/>
        </p:nvSpPr>
        <p:spPr>
          <a:xfrm xmlns:a="http://schemas.openxmlformats.org/drawingml/2006/main">
            <a:off x="7524750" y="3409950"/>
            <a:ext cx="3143250" cy="1466850"/>
          </a:xfrm>
          <a:prstGeom xmlns:a="http://schemas.openxmlformats.org/drawingml/2006/main" prst="roundRect">
            <a:avLst>
              <a:gd name="adj" fmla="val 5195"/>
            </a:avLst>
          </a:prstGeom>
          <a:solidFill xmlns:a="http://schemas.openxmlformats.org/drawingml/2006/main">
            <a:srgbClr val="E8F5F3"/>
          </a:solidFill>
          <a:ln xmlns:a="http://schemas.openxmlformats.org/drawingml/2006/main" w="19050">
            <a:solidFill>
              <a:srgbClr val="2A9D8F"/>
            </a:solidFill>
            <a:prstDash val="solid"/>
          </a:ln>
        </p:spPr>
      </p:sp>
      <p:sp>
        <p:nvSpPr>
          <p:cNvPr id="26" name="">
            <a:extLst xmlns:a="http://schemas.openxmlformats.org/drawingml/2006/main">
              <a:ext uri="{FF2B5EF4-FFF2-40B4-BE49-F238E27FC236}">
                <a16:creationId xmlns:a16="http://schemas.microsoft.com/office/drawing/2014/main" id="{3C7EC42E-392D-4F65-A3F3-9315170E3C79}"/>
              </a:ext>
            </a:extLst>
          </p:cNvPr>
          <p:cNvSpPr>
            <a:spLocks xmlns:a="http://schemas.openxmlformats.org/drawingml/2006/main" noGrp="1"/>
          </p:cNvSpPr>
          <p:nvPr/>
        </p:nvSpPr>
        <p:spPr>
          <a:xfrm xmlns:a="http://schemas.openxmlformats.org/drawingml/2006/main">
            <a:off x="7734300" y="3562350"/>
            <a:ext cx="2724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725" b="1" i="0">
                <a:solidFill>
                  <a:srgbClr val="2A9D8F"/>
                </a:solidFill>
              </a:defRPr>
            </a:pPr>
            <a:r>
              <a:rPr sz="1725" b="1" i="0">
                <a:solidFill>
                  <a:srgbClr val="2A9D8F"/>
                </a:solidFill>
              </a:rPr>
              <a:t>Geometric endpoint</a:t>
            </a:r>
          </a:p>
        </p:txBody>
      </p:sp>
      <p:sp>
        <p:nvSpPr>
          <p:cNvPr id="27" name="">
            <a:extLst xmlns:a="http://schemas.openxmlformats.org/drawingml/2006/main">
              <a:ext uri="{FF2B5EF4-FFF2-40B4-BE49-F238E27FC236}">
                <a16:creationId xmlns:a16="http://schemas.microsoft.com/office/drawing/2014/main" id="{F93F37AD-79F9-4A70-AD7A-10E756344CD8}"/>
              </a:ext>
            </a:extLst>
          </p:cNvPr>
          <p:cNvSpPr>
            <a:spLocks xmlns:a="http://schemas.openxmlformats.org/drawingml/2006/main" noGrp="1"/>
          </p:cNvSpPr>
          <p:nvPr/>
        </p:nvSpPr>
        <p:spPr>
          <a:xfrm xmlns:a="http://schemas.openxmlformats.org/drawingml/2006/main">
            <a:off x="7753350" y="3981450"/>
            <a:ext cx="2686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anchor = 3</a:t>
            </a:r>
          </a:p>
          <a:p xmlns:a="http://schemas.openxmlformats.org/drawingml/2006/main">
            <a:pPr algn="ctr">
              <a:lnSpc>
                <a:spcPct val="105000"/>
              </a:lnSpc>
              <a:buNone/>
              <a:defRPr sz="1500" b="0" i="0">
                <a:solidFill>
                  <a:srgbClr val="243B53"/>
                </a:solidFill>
              </a:defRPr>
            </a:pPr>
            <a:r>
              <a:rPr sz="1500" b="0" i="0">
                <a:solidFill>
                  <a:srgbClr val="243B53"/>
                </a:solidFill>
              </a:rPr>
              <a:t>result: [1, 2, 3, 4]</a:t>
            </a:r>
          </a:p>
        </p:txBody>
      </p:sp>
      <p:sp>
        <p:nvSpPr>
          <p:cNvPr id="28" name="">
            <a:extLst xmlns:a="http://schemas.openxmlformats.org/drawingml/2006/main">
              <a:ext uri="{FF2B5EF4-FFF2-40B4-BE49-F238E27FC236}">
                <a16:creationId xmlns:a16="http://schemas.microsoft.com/office/drawing/2014/main" id="{DFB12942-6C0D-4E81-A618-09D53DD743D3}"/>
              </a:ext>
            </a:extLst>
          </p:cNvPr>
          <p:cNvSpPr>
            <a:spLocks xmlns:a="http://schemas.openxmlformats.org/drawingml/2006/main" noGrp="1"/>
          </p:cNvSpPr>
          <p:nvPr/>
        </p:nvSpPr>
        <p:spPr>
          <a:xfrm xmlns:a="http://schemas.openxmlformats.org/drawingml/2006/main">
            <a:off x="3714750" y="531495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2A9D8F"/>
                </a:solidFill>
              </a:defRPr>
            </a:pPr>
            <a:r>
              <a:rPr sz="1875" b="1" i="0">
                <a:solidFill>
                  <a:srgbClr val="2A9D8F"/>
                </a:solidFill>
              </a:rPr>
              <a:t>Executable rule: choose the geometric extreme.</a:t>
            </a:r>
          </a:p>
        </p:txBody>
      </p:sp>
      <p:sp>
        <p:nvSpPr>
          <p:cNvPr id="29" name="">
            <a:extLst xmlns:a="http://schemas.openxmlformats.org/drawingml/2006/main">
              <a:ext uri="{FF2B5EF4-FFF2-40B4-BE49-F238E27FC236}">
                <a16:creationId xmlns:a16="http://schemas.microsoft.com/office/drawing/2014/main" id="{F3DD4F1F-0A53-4E77-A0A9-F8FD773DB138}"/>
              </a:ext>
            </a:extLst>
          </p:cNvPr>
          <p:cNvSpPr>
            <a:spLocks xmlns:a="http://schemas.openxmlformats.org/drawingml/2006/main" noGrp="1"/>
          </p:cNvSpPr>
          <p:nvPr/>
        </p:nvSpPr>
        <p:spPr>
          <a:xfrm xmlns:a="http://schemas.openxmlformats.org/drawingml/2006/main">
            <a:off x="3714750" y="581025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Recorded as a reconstruction clarification, not as a verbatim 1990-paper rule.</a:t>
            </a:r>
          </a:p>
        </p:txBody>
      </p:sp>
    </p:spTree>
    <p:extLst>
      <p:ext uri="{BB962C8B-B14F-4D97-AF65-F5344CB8AC3E}">
        <p14:creationId xmlns:p14="http://schemas.microsoft.com/office/powerpoint/2010/main" val="1982929980"/>
      </p:ext>
    </p:extLst>
  </p:cSld>
</p:sld>
</file>

<file path=ppt/slides/slide9.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3CF6A973-080F-4157-AB1A-9A4E6542E6C7}"/>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RECONSTRUCTION ISSUE II</a:t>
            </a:r>
          </a:p>
        </p:txBody>
      </p:sp>
      <p:sp>
        <p:nvSpPr>
          <p:cNvPr id="2" name="">
            <a:extLst xmlns:a="http://schemas.openxmlformats.org/drawingml/2006/main">
              <a:ext uri="{FF2B5EF4-FFF2-40B4-BE49-F238E27FC236}">
                <a16:creationId xmlns:a16="http://schemas.microsoft.com/office/drawing/2014/main" id="{7CFCFE4B-AE96-4E4E-A951-F3252282CBE2}"/>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Odd iterations require a separate z₁ output-anchor correction</a:t>
            </a:r>
          </a:p>
        </p:txBody>
      </p:sp>
      <p:sp>
        <p:nvSpPr>
          <p:cNvPr id="3" name="">
            <a:extLst xmlns:a="http://schemas.openxmlformats.org/drawingml/2006/main">
              <a:ext uri="{FF2B5EF4-FFF2-40B4-BE49-F238E27FC236}">
                <a16:creationId xmlns:a16="http://schemas.microsoft.com/office/drawing/2014/main" id="{18AD95B6-D297-44A3-8BA4-6874F17C3BE6}"/>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DDC22834-9CD9-418E-81BE-345C0F898C51}"/>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020A6172-5EC5-4AFF-B0D5-BD0CD60D5A32}"/>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F776F8BE-0539-4AB2-843A-0BD7B2C0676A}"/>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9 / 16</a:t>
            </a:r>
          </a:p>
        </p:txBody>
      </p:sp>
      <p:sp>
        <p:nvSpPr>
          <p:cNvPr id="7" name="">
            <a:extLst xmlns:a="http://schemas.openxmlformats.org/drawingml/2006/main">
              <a:ext uri="{FF2B5EF4-FFF2-40B4-BE49-F238E27FC236}">
                <a16:creationId xmlns:a16="http://schemas.microsoft.com/office/drawing/2014/main" id="{68F795D3-62E6-4A90-96B1-16726182B014}"/>
              </a:ext>
            </a:extLst>
          </p:cNvPr>
          <p:cNvSpPr>
            <a:spLocks xmlns:a="http://schemas.openxmlformats.org/drawingml/2006/main" noGrp="1"/>
          </p:cNvSpPr>
          <p:nvPr/>
        </p:nvSpPr>
        <p:spPr>
          <a:xfrm xmlns:a="http://schemas.openxmlformats.org/drawingml/2006/main">
            <a:off x="685800" y="1428750"/>
            <a:ext cx="7239000" cy="1866900"/>
          </a:xfrm>
          <a:prstGeom xmlns:a="http://schemas.openxmlformats.org/drawingml/2006/main" prst="roundRect">
            <a:avLst>
              <a:gd name="adj" fmla="val 4082"/>
            </a:avLst>
          </a:prstGeom>
          <a:solidFill xmlns:a="http://schemas.openxmlformats.org/drawingml/2006/main">
            <a:srgbClr val="FFFFFF"/>
          </a:solidFill>
          <a:ln xmlns:a="http://schemas.openxmlformats.org/drawingml/2006/main" w="14288">
            <a:solidFill>
              <a:srgbClr val="E76F51"/>
            </a:solidFill>
            <a:prstDash val="solid"/>
          </a:ln>
        </p:spPr>
      </p:sp>
      <p:sp>
        <p:nvSpPr>
          <p:cNvPr id="8" name="">
            <a:extLst xmlns:a="http://schemas.openxmlformats.org/drawingml/2006/main">
              <a:ext uri="{FF2B5EF4-FFF2-40B4-BE49-F238E27FC236}">
                <a16:creationId xmlns:a16="http://schemas.microsoft.com/office/drawing/2014/main" id="{8D296615-DF7C-4A5F-B754-082AF81D1221}"/>
              </a:ext>
            </a:extLst>
          </p:cNvPr>
          <p:cNvSpPr>
            <a:spLocks xmlns:a="http://schemas.openxmlformats.org/drawingml/2006/main" noGrp="1"/>
          </p:cNvSpPr>
          <p:nvPr/>
        </p:nvSpPr>
        <p:spPr>
          <a:xfrm xmlns:a="http://schemas.openxmlformats.org/drawingml/2006/main">
            <a:off x="914400" y="1600200"/>
            <a:ext cx="678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1" i="0">
                <a:solidFill>
                  <a:srgbClr val="E76F51"/>
                </a:solidFill>
              </a:defRPr>
            </a:pPr>
            <a:r>
              <a:rPr sz="1725" b="1" i="0">
                <a:solidFill>
                  <a:srgbClr val="E76F51"/>
                </a:solidFill>
              </a:rPr>
              <a:t>Ordinary geometric base anchor = z₂ = 2</a:t>
            </a:r>
          </a:p>
        </p:txBody>
      </p:sp>
      <p:sp>
        <p:nvSpPr>
          <p:cNvPr id="9" name="">
            <a:extLst xmlns:a="http://schemas.openxmlformats.org/drawingml/2006/main">
              <a:ext uri="{FF2B5EF4-FFF2-40B4-BE49-F238E27FC236}">
                <a16:creationId xmlns:a16="http://schemas.microsoft.com/office/drawing/2014/main" id="{FE643176-DE51-4230-90B4-D34531A749C7}"/>
              </a:ext>
            </a:extLst>
          </p:cNvPr>
          <p:cNvSpPr>
            <a:spLocks xmlns:a="http://schemas.openxmlformats.org/drawingml/2006/main" noGrp="1"/>
          </p:cNvSpPr>
          <p:nvPr/>
        </p:nvSpPr>
        <p:spPr>
          <a:xfrm xmlns:a="http://schemas.openxmlformats.org/drawingml/2006/main">
            <a:off x="1009650" y="2190750"/>
            <a:ext cx="1352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new point 0</a:t>
            </a:r>
          </a:p>
        </p:txBody>
      </p:sp>
      <p:sp>
        <p:nvSpPr>
          <p:cNvPr id="10" name="">
            <a:extLst xmlns:a="http://schemas.openxmlformats.org/drawingml/2006/main">
              <a:ext uri="{FF2B5EF4-FFF2-40B4-BE49-F238E27FC236}">
                <a16:creationId xmlns:a16="http://schemas.microsoft.com/office/drawing/2014/main" id="{65523251-645B-4BEF-A13F-12A485E1BCE5}"/>
              </a:ext>
            </a:extLst>
          </p:cNvPr>
          <p:cNvSpPr>
            <a:spLocks xmlns:a="http://schemas.openxmlformats.org/drawingml/2006/main" noGrp="1"/>
          </p:cNvSpPr>
          <p:nvPr/>
        </p:nvSpPr>
        <p:spPr>
          <a:xfrm xmlns:a="http://schemas.openxmlformats.org/drawingml/2006/main">
            <a:off x="2362200" y="215265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E76F51"/>
                </a:solidFill>
              </a:defRPr>
            </a:pPr>
            <a:r>
              <a:rPr sz="2100" b="1" i="0">
                <a:solidFill>
                  <a:srgbClr val="E76F51"/>
                </a:solidFill>
              </a:rPr>
              <a:t>→</a:t>
            </a:r>
          </a:p>
        </p:txBody>
      </p:sp>
      <p:sp>
        <p:nvSpPr>
          <p:cNvPr id="11" name="">
            <a:extLst xmlns:a="http://schemas.openxmlformats.org/drawingml/2006/main">
              <a:ext uri="{FF2B5EF4-FFF2-40B4-BE49-F238E27FC236}">
                <a16:creationId xmlns:a16="http://schemas.microsoft.com/office/drawing/2014/main" id="{890BF5D7-368C-41D7-8AB5-6BAEC8D0DE8C}"/>
              </a:ext>
            </a:extLst>
          </p:cNvPr>
          <p:cNvSpPr>
            <a:spLocks xmlns:a="http://schemas.openxmlformats.org/drawingml/2006/main" noGrp="1"/>
          </p:cNvSpPr>
          <p:nvPr/>
        </p:nvSpPr>
        <p:spPr>
          <a:xfrm xmlns:a="http://schemas.openxmlformats.org/drawingml/2006/main">
            <a:off x="2971800" y="2190750"/>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insert before 2</a:t>
            </a:r>
          </a:p>
        </p:txBody>
      </p:sp>
      <p:sp>
        <p:nvSpPr>
          <p:cNvPr id="12" name="">
            <a:extLst xmlns:a="http://schemas.openxmlformats.org/drawingml/2006/main">
              <a:ext uri="{FF2B5EF4-FFF2-40B4-BE49-F238E27FC236}">
                <a16:creationId xmlns:a16="http://schemas.microsoft.com/office/drawing/2014/main" id="{CA5507A9-13B6-4924-8083-C5D32B8EE51B}"/>
              </a:ext>
            </a:extLst>
          </p:cNvPr>
          <p:cNvSpPr>
            <a:spLocks xmlns:a="http://schemas.openxmlformats.org/drawingml/2006/main" noGrp="1"/>
          </p:cNvSpPr>
          <p:nvPr/>
        </p:nvSpPr>
        <p:spPr>
          <a:xfrm xmlns:a="http://schemas.openxmlformats.org/drawingml/2006/main">
            <a:off x="4591050" y="215265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E76F51"/>
                </a:solidFill>
              </a:defRPr>
            </a:pPr>
            <a:r>
              <a:rPr sz="2100" b="1" i="0">
                <a:solidFill>
                  <a:srgbClr val="E76F51"/>
                </a:solidFill>
              </a:rPr>
              <a:t>→</a:t>
            </a:r>
          </a:p>
        </p:txBody>
      </p:sp>
      <p:sp>
        <p:nvSpPr>
          <p:cNvPr id="13" name="">
            <a:extLst xmlns:a="http://schemas.openxmlformats.org/drawingml/2006/main">
              <a:ext uri="{FF2B5EF4-FFF2-40B4-BE49-F238E27FC236}">
                <a16:creationId xmlns:a16="http://schemas.microsoft.com/office/drawing/2014/main" id="{673FEF22-9FD9-4F79-B872-39473489CDBE}"/>
              </a:ext>
            </a:extLst>
          </p:cNvPr>
          <p:cNvSpPr>
            <a:spLocks xmlns:a="http://schemas.openxmlformats.org/drawingml/2006/main" noGrp="1"/>
          </p:cNvSpPr>
          <p:nvPr/>
        </p:nvSpPr>
        <p:spPr>
          <a:xfrm xmlns:a="http://schemas.openxmlformats.org/drawingml/2006/main">
            <a:off x="5219700" y="2190750"/>
            <a:ext cx="2343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75" b="1" i="0">
                <a:solidFill>
                  <a:srgbClr val="243B53"/>
                </a:solidFill>
              </a:defRPr>
            </a:pPr>
            <a:r>
              <a:rPr sz="1575" b="1" i="0">
                <a:solidFill>
                  <a:srgbClr val="243B53"/>
                </a:solidFill>
              </a:rPr>
              <a:t>1, 0, 2, 3, 4, 6, 7</a:t>
            </a:r>
          </a:p>
        </p:txBody>
      </p:sp>
      <p:sp>
        <p:nvSpPr>
          <p:cNvPr id="14" name="">
            <a:extLst xmlns:a="http://schemas.openxmlformats.org/drawingml/2006/main">
              <a:ext uri="{FF2B5EF4-FFF2-40B4-BE49-F238E27FC236}">
                <a16:creationId xmlns:a16="http://schemas.microsoft.com/office/drawing/2014/main" id="{09F5B03A-5E82-41FE-AA07-74E7CAC8DAF6}"/>
              </a:ext>
            </a:extLst>
          </p:cNvPr>
          <p:cNvSpPr>
            <a:spLocks xmlns:a="http://schemas.openxmlformats.org/drawingml/2006/main" noGrp="1"/>
          </p:cNvSpPr>
          <p:nvPr/>
        </p:nvSpPr>
        <p:spPr>
          <a:xfrm xmlns:a="http://schemas.openxmlformats.org/drawingml/2006/main">
            <a:off x="1104900" y="2762250"/>
            <a:ext cx="638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0" i="0">
                <a:solidFill>
                  <a:srgbClr val="52606D"/>
                </a:solidFill>
              </a:defRPr>
            </a:pPr>
            <a:r>
              <a:rPr sz="1425" b="0" i="0">
                <a:solidFill>
                  <a:srgbClr val="52606D"/>
                </a:solidFill>
              </a:rPr>
              <a:t>z₁ = 1 remains on the wrong side of the new point.</a:t>
            </a:r>
          </a:p>
        </p:txBody>
      </p:sp>
      <p:sp>
        <p:nvSpPr>
          <p:cNvPr id="15" name="">
            <a:extLst xmlns:a="http://schemas.openxmlformats.org/drawingml/2006/main">
              <a:ext uri="{FF2B5EF4-FFF2-40B4-BE49-F238E27FC236}">
                <a16:creationId xmlns:a16="http://schemas.microsoft.com/office/drawing/2014/main" id="{7AAE0A43-4793-41A3-8F86-646FEAE207CA}"/>
              </a:ext>
            </a:extLst>
          </p:cNvPr>
          <p:cNvSpPr>
            <a:spLocks xmlns:a="http://schemas.openxmlformats.org/drawingml/2006/main" noGrp="1"/>
          </p:cNvSpPr>
          <p:nvPr/>
        </p:nvSpPr>
        <p:spPr>
          <a:xfrm xmlns:a="http://schemas.openxmlformats.org/drawingml/2006/main">
            <a:off x="685800" y="3543300"/>
            <a:ext cx="7239000" cy="1866900"/>
          </a:xfrm>
          <a:prstGeom xmlns:a="http://schemas.openxmlformats.org/drawingml/2006/main" prst="roundRect">
            <a:avLst>
              <a:gd name="adj" fmla="val 4082"/>
            </a:avLst>
          </a:prstGeom>
          <a:solidFill xmlns:a="http://schemas.openxmlformats.org/drawingml/2006/main">
            <a:srgbClr val="E8F5F3"/>
          </a:solidFill>
          <a:ln xmlns:a="http://schemas.openxmlformats.org/drawingml/2006/main" w="19050">
            <a:solidFill>
              <a:srgbClr val="2A9D8F"/>
            </a:solidFill>
            <a:prstDash val="solid"/>
          </a:ln>
        </p:spPr>
      </p:sp>
      <p:sp>
        <p:nvSpPr>
          <p:cNvPr id="16" name="">
            <a:extLst xmlns:a="http://schemas.openxmlformats.org/drawingml/2006/main">
              <a:ext uri="{FF2B5EF4-FFF2-40B4-BE49-F238E27FC236}">
                <a16:creationId xmlns:a16="http://schemas.microsoft.com/office/drawing/2014/main" id="{2974F43F-027D-4F03-9DF0-8B806B2FFC45}"/>
              </a:ext>
            </a:extLst>
          </p:cNvPr>
          <p:cNvSpPr>
            <a:spLocks xmlns:a="http://schemas.openxmlformats.org/drawingml/2006/main" noGrp="1"/>
          </p:cNvSpPr>
          <p:nvPr/>
        </p:nvSpPr>
        <p:spPr>
          <a:xfrm xmlns:a="http://schemas.openxmlformats.org/drawingml/2006/main">
            <a:off x="914400" y="3714750"/>
            <a:ext cx="678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1" i="0">
                <a:solidFill>
                  <a:srgbClr val="2A9D8F"/>
                </a:solidFill>
              </a:defRPr>
            </a:pPr>
            <a:r>
              <a:rPr sz="1725" b="1" i="0">
                <a:solidFill>
                  <a:srgbClr val="2A9D8F"/>
                </a:solidFill>
              </a:rPr>
              <a:t>Corrected output anchor = z₁ = 1</a:t>
            </a:r>
          </a:p>
        </p:txBody>
      </p:sp>
      <p:sp>
        <p:nvSpPr>
          <p:cNvPr id="17" name="">
            <a:extLst xmlns:a="http://schemas.openxmlformats.org/drawingml/2006/main">
              <a:ext uri="{FF2B5EF4-FFF2-40B4-BE49-F238E27FC236}">
                <a16:creationId xmlns:a16="http://schemas.microsoft.com/office/drawing/2014/main" id="{0AA5D21A-357F-494A-AE57-95FFB35D6F26}"/>
              </a:ext>
            </a:extLst>
          </p:cNvPr>
          <p:cNvSpPr>
            <a:spLocks xmlns:a="http://schemas.openxmlformats.org/drawingml/2006/main" noGrp="1"/>
          </p:cNvSpPr>
          <p:nvPr/>
        </p:nvSpPr>
        <p:spPr>
          <a:xfrm xmlns:a="http://schemas.openxmlformats.org/drawingml/2006/main">
            <a:off x="1009650" y="4305300"/>
            <a:ext cx="1352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new point 0</a:t>
            </a:r>
          </a:p>
        </p:txBody>
      </p:sp>
      <p:sp>
        <p:nvSpPr>
          <p:cNvPr id="18" name="">
            <a:extLst xmlns:a="http://schemas.openxmlformats.org/drawingml/2006/main">
              <a:ext uri="{FF2B5EF4-FFF2-40B4-BE49-F238E27FC236}">
                <a16:creationId xmlns:a16="http://schemas.microsoft.com/office/drawing/2014/main" id="{F56629F8-2880-4947-ADCF-424A40E6FCAA}"/>
              </a:ext>
            </a:extLst>
          </p:cNvPr>
          <p:cNvSpPr>
            <a:spLocks xmlns:a="http://schemas.openxmlformats.org/drawingml/2006/main" noGrp="1"/>
          </p:cNvSpPr>
          <p:nvPr/>
        </p:nvSpPr>
        <p:spPr>
          <a:xfrm xmlns:a="http://schemas.openxmlformats.org/drawingml/2006/main">
            <a:off x="2362200" y="426720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2A9D8F"/>
                </a:solidFill>
              </a:defRPr>
            </a:pPr>
            <a:r>
              <a:rPr sz="2100" b="1" i="0">
                <a:solidFill>
                  <a:srgbClr val="2A9D8F"/>
                </a:solidFill>
              </a:rPr>
              <a:t>→</a:t>
            </a:r>
          </a:p>
        </p:txBody>
      </p:sp>
      <p:sp>
        <p:nvSpPr>
          <p:cNvPr id="19" name="">
            <a:extLst xmlns:a="http://schemas.openxmlformats.org/drawingml/2006/main">
              <a:ext uri="{FF2B5EF4-FFF2-40B4-BE49-F238E27FC236}">
                <a16:creationId xmlns:a16="http://schemas.microsoft.com/office/drawing/2014/main" id="{C33638F6-AE44-4517-87D9-887F09762D18}"/>
              </a:ext>
            </a:extLst>
          </p:cNvPr>
          <p:cNvSpPr>
            <a:spLocks xmlns:a="http://schemas.openxmlformats.org/drawingml/2006/main" noGrp="1"/>
          </p:cNvSpPr>
          <p:nvPr/>
        </p:nvSpPr>
        <p:spPr>
          <a:xfrm xmlns:a="http://schemas.openxmlformats.org/drawingml/2006/main">
            <a:off x="2971800" y="4305300"/>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2A9D8F"/>
                </a:solidFill>
              </a:defRPr>
            </a:pPr>
            <a:r>
              <a:rPr sz="1500" b="1" i="0">
                <a:solidFill>
                  <a:srgbClr val="2A9D8F"/>
                </a:solidFill>
              </a:rPr>
              <a:t>insert before z₁</a:t>
            </a:r>
          </a:p>
        </p:txBody>
      </p:sp>
      <p:sp>
        <p:nvSpPr>
          <p:cNvPr id="20" name="">
            <a:extLst xmlns:a="http://schemas.openxmlformats.org/drawingml/2006/main">
              <a:ext uri="{FF2B5EF4-FFF2-40B4-BE49-F238E27FC236}">
                <a16:creationId xmlns:a16="http://schemas.microsoft.com/office/drawing/2014/main" id="{5E5CA889-3395-4F17-82F2-84B8920C34A7}"/>
              </a:ext>
            </a:extLst>
          </p:cNvPr>
          <p:cNvSpPr>
            <a:spLocks xmlns:a="http://schemas.openxmlformats.org/drawingml/2006/main" noGrp="1"/>
          </p:cNvSpPr>
          <p:nvPr/>
        </p:nvSpPr>
        <p:spPr>
          <a:xfrm xmlns:a="http://schemas.openxmlformats.org/drawingml/2006/main">
            <a:off x="4591050" y="426720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2A9D8F"/>
                </a:solidFill>
              </a:defRPr>
            </a:pPr>
            <a:r>
              <a:rPr sz="2100" b="1" i="0">
                <a:solidFill>
                  <a:srgbClr val="2A9D8F"/>
                </a:solidFill>
              </a:rPr>
              <a:t>→</a:t>
            </a:r>
          </a:p>
        </p:txBody>
      </p:sp>
      <p:sp>
        <p:nvSpPr>
          <p:cNvPr id="21" name="">
            <a:extLst xmlns:a="http://schemas.openxmlformats.org/drawingml/2006/main">
              <a:ext uri="{FF2B5EF4-FFF2-40B4-BE49-F238E27FC236}">
                <a16:creationId xmlns:a16="http://schemas.microsoft.com/office/drawing/2014/main" id="{245C9C8C-F163-49EA-8829-5E9EB7C355AB}"/>
              </a:ext>
            </a:extLst>
          </p:cNvPr>
          <p:cNvSpPr>
            <a:spLocks xmlns:a="http://schemas.openxmlformats.org/drawingml/2006/main" noGrp="1"/>
          </p:cNvSpPr>
          <p:nvPr/>
        </p:nvSpPr>
        <p:spPr>
          <a:xfrm xmlns:a="http://schemas.openxmlformats.org/drawingml/2006/main">
            <a:off x="5219700" y="4305300"/>
            <a:ext cx="2343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75" b="1" i="0">
                <a:solidFill>
                  <a:srgbClr val="243B53"/>
                </a:solidFill>
              </a:defRPr>
            </a:pPr>
            <a:r>
              <a:rPr sz="1575" b="1" i="0">
                <a:solidFill>
                  <a:srgbClr val="243B53"/>
                </a:solidFill>
              </a:rPr>
              <a:t>0, 1, 2, 3, 4, 6, 7</a:t>
            </a:r>
          </a:p>
        </p:txBody>
      </p:sp>
      <p:sp>
        <p:nvSpPr>
          <p:cNvPr id="22" name="">
            <a:extLst xmlns:a="http://schemas.openxmlformats.org/drawingml/2006/main">
              <a:ext uri="{FF2B5EF4-FFF2-40B4-BE49-F238E27FC236}">
                <a16:creationId xmlns:a16="http://schemas.microsoft.com/office/drawing/2014/main" id="{71F48FC6-F188-4D5F-8260-087E1971F33B}"/>
              </a:ext>
            </a:extLst>
          </p:cNvPr>
          <p:cNvSpPr>
            <a:spLocks xmlns:a="http://schemas.openxmlformats.org/drawingml/2006/main" noGrp="1"/>
          </p:cNvSpPr>
          <p:nvPr/>
        </p:nvSpPr>
        <p:spPr>
          <a:xfrm xmlns:a="http://schemas.openxmlformats.org/drawingml/2006/main">
            <a:off x="1104900" y="4876800"/>
            <a:ext cx="638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0" i="0">
                <a:solidFill>
                  <a:srgbClr val="52606D"/>
                </a:solidFill>
              </a:defRPr>
            </a:pPr>
            <a:r>
              <a:rPr sz="1425" b="0" i="0">
                <a:solidFill>
                  <a:srgbClr val="52606D"/>
                </a:solidFill>
              </a:rPr>
              <a:t>The maintained partial order now matches the geometric axis order.</a:t>
            </a:r>
          </a:p>
        </p:txBody>
      </p:sp>
      <p:sp>
        <p:nvSpPr>
          <p:cNvPr id="23" name="">
            <a:extLst xmlns:a="http://schemas.openxmlformats.org/drawingml/2006/main">
              <a:ext uri="{FF2B5EF4-FFF2-40B4-BE49-F238E27FC236}">
                <a16:creationId xmlns:a16="http://schemas.microsoft.com/office/drawing/2014/main" id="{168A2150-7912-4755-B72E-D07BCC9C9D3B}"/>
              </a:ext>
            </a:extLst>
          </p:cNvPr>
          <p:cNvSpPr>
            <a:spLocks xmlns:a="http://schemas.openxmlformats.org/drawingml/2006/main" noGrp="1"/>
          </p:cNvSpPr>
          <p:nvPr/>
        </p:nvSpPr>
        <p:spPr>
          <a:xfrm xmlns:a="http://schemas.openxmlformats.org/drawingml/2006/main">
            <a:off x="8286750" y="1524000"/>
            <a:ext cx="3143250" cy="156210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11430">
            <a:solidFill>
              <a:srgbClr val="D9E2EC"/>
            </a:solidFill>
            <a:prstDash val="solid"/>
          </a:ln>
        </p:spPr>
      </p:sp>
      <p:sp>
        <p:nvSpPr>
          <p:cNvPr id="24" name="">
            <a:extLst xmlns:a="http://schemas.openxmlformats.org/drawingml/2006/main">
              <a:ext uri="{FF2B5EF4-FFF2-40B4-BE49-F238E27FC236}">
                <a16:creationId xmlns:a16="http://schemas.microsoft.com/office/drawing/2014/main" id="{6702EF20-900F-4213-84A1-832499BC9913}"/>
              </a:ext>
            </a:extLst>
          </p:cNvPr>
          <p:cNvSpPr>
            <a:spLocks xmlns:a="http://schemas.openxmlformats.org/drawingml/2006/main" noGrp="1"/>
          </p:cNvSpPr>
          <p:nvPr/>
        </p:nvSpPr>
        <p:spPr>
          <a:xfrm xmlns:a="http://schemas.openxmlformats.org/drawingml/2006/main">
            <a:off x="8496300" y="1695450"/>
            <a:ext cx="2724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200" b="1" i="0">
                <a:solidFill>
                  <a:srgbClr val="7B8794"/>
                </a:solidFill>
              </a:defRPr>
            </a:pPr>
            <a:r>
              <a:rPr sz="1200" b="1" i="0">
                <a:solidFill>
                  <a:srgbClr val="7B8794"/>
                </a:solidFill>
              </a:rPr>
              <a:t>Valid prefix</a:t>
            </a:r>
          </a:p>
        </p:txBody>
      </p:sp>
      <p:sp>
        <p:nvSpPr>
          <p:cNvPr id="25" name="">
            <a:extLst xmlns:a="http://schemas.openxmlformats.org/drawingml/2006/main">
              <a:ext uri="{FF2B5EF4-FFF2-40B4-BE49-F238E27FC236}">
                <a16:creationId xmlns:a16="http://schemas.microsoft.com/office/drawing/2014/main" id="{C20C116E-979E-4610-BA2A-D59E9FD0A8C1}"/>
              </a:ext>
            </a:extLst>
          </p:cNvPr>
          <p:cNvSpPr>
            <a:spLocks xmlns:a="http://schemas.openxmlformats.org/drawingml/2006/main" noGrp="1"/>
          </p:cNvSpPr>
          <p:nvPr/>
        </p:nvSpPr>
        <p:spPr>
          <a:xfrm xmlns:a="http://schemas.openxmlformats.org/drawingml/2006/main">
            <a:off x="8496300" y="2000250"/>
            <a:ext cx="27241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75" b="1" i="0">
                <a:solidFill>
                  <a:srgbClr val="102A43"/>
                </a:solidFill>
              </a:defRPr>
            </a:pPr>
            <a:r>
              <a:rPr sz="1575" b="1" i="0">
                <a:solidFill>
                  <a:srgbClr val="102A43"/>
                </a:solidFill>
              </a:rPr>
              <a:t>(1, 2, 3, 4, 6, 7, 0)</a:t>
            </a:r>
          </a:p>
        </p:txBody>
      </p:sp>
      <p:sp>
        <p:nvSpPr>
          <p:cNvPr id="26" name="">
            <a:extLst xmlns:a="http://schemas.openxmlformats.org/drawingml/2006/main">
              <a:ext uri="{FF2B5EF4-FFF2-40B4-BE49-F238E27FC236}">
                <a16:creationId xmlns:a16="http://schemas.microsoft.com/office/drawing/2014/main" id="{4BF69F51-F926-4711-91A3-B6C40ADD4701}"/>
              </a:ext>
            </a:extLst>
          </p:cNvPr>
          <p:cNvSpPr>
            <a:spLocks xmlns:a="http://schemas.openxmlformats.org/drawingml/2006/main" noGrp="1"/>
          </p:cNvSpPr>
          <p:nvPr/>
        </p:nvSpPr>
        <p:spPr>
          <a:xfrm xmlns:a="http://schemas.openxmlformats.org/drawingml/2006/main">
            <a:off x="8496300" y="2552700"/>
            <a:ext cx="2724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9941"/>
          </a:bodyPr>
          <a:lstStyle xmlns:a="http://schemas.openxmlformats.org/drawingml/2006/main"/>
          <a:p xmlns:a="http://schemas.openxmlformats.org/drawingml/2006/main">
            <a:pPr algn="ctr">
              <a:lnSpc>
                <a:spcPct val="105000"/>
              </a:lnSpc>
              <a:buNone/>
              <a:defRPr sz="2025" b="1" i="0">
                <a:solidFill>
                  <a:srgbClr val="E76F51"/>
                </a:solidFill>
              </a:defRPr>
            </a:pPr>
            <a:r>
              <a:rPr sz="2025" b="1" i="0">
                <a:solidFill>
                  <a:srgbClr val="E76F51"/>
                </a:solidFill>
              </a:rPr>
              <a:t>0 &lt; z₁ &lt; 2</a:t>
            </a:r>
          </a:p>
        </p:txBody>
      </p:sp>
      <p:sp>
        <p:nvSpPr>
          <p:cNvPr id="27" name="">
            <a:extLst xmlns:a="http://schemas.openxmlformats.org/drawingml/2006/main">
              <a:ext uri="{FF2B5EF4-FFF2-40B4-BE49-F238E27FC236}">
                <a16:creationId xmlns:a16="http://schemas.microsoft.com/office/drawing/2014/main" id="{9A6E0AC0-56F6-4CB5-BD4A-7D2397EB68A7}"/>
              </a:ext>
            </a:extLst>
          </p:cNvPr>
          <p:cNvSpPr>
            <a:spLocks xmlns:a="http://schemas.openxmlformats.org/drawingml/2006/main" noGrp="1"/>
          </p:cNvSpPr>
          <p:nvPr/>
        </p:nvSpPr>
        <p:spPr>
          <a:xfrm xmlns:a="http://schemas.openxmlformats.org/drawingml/2006/main">
            <a:off x="8286750" y="3543300"/>
            <a:ext cx="3143250" cy="1657350"/>
          </a:xfrm>
          <a:prstGeom xmlns:a="http://schemas.openxmlformats.org/drawingml/2006/main" prst="roundRect">
            <a:avLst>
              <a:gd name="adj" fmla="val 4598"/>
            </a:avLst>
          </a:prstGeom>
          <a:solidFill xmlns:a="http://schemas.openxmlformats.org/drawingml/2006/main">
            <a:srgbClr val="FFFFFF"/>
          </a:solidFill>
          <a:ln xmlns:a="http://schemas.openxmlformats.org/drawingml/2006/main" w="14288">
            <a:solidFill>
              <a:srgbClr val="2A9D8F"/>
            </a:solidFill>
            <a:prstDash val="solid"/>
          </a:ln>
        </p:spPr>
      </p:sp>
      <p:sp>
        <p:nvSpPr>
          <p:cNvPr id="28" name="">
            <a:extLst xmlns:a="http://schemas.openxmlformats.org/drawingml/2006/main">
              <a:ext uri="{FF2B5EF4-FFF2-40B4-BE49-F238E27FC236}">
                <a16:creationId xmlns:a16="http://schemas.microsoft.com/office/drawing/2014/main" id="{57B78BF2-CBDF-44B6-B89A-DE809410698E}"/>
              </a:ext>
            </a:extLst>
          </p:cNvPr>
          <p:cNvSpPr>
            <a:spLocks xmlns:a="http://schemas.openxmlformats.org/drawingml/2006/main" noGrp="1"/>
          </p:cNvSpPr>
          <p:nvPr/>
        </p:nvSpPr>
        <p:spPr>
          <a:xfrm xmlns:a="http://schemas.openxmlformats.org/drawingml/2006/main">
            <a:off x="8496300" y="3714750"/>
            <a:ext cx="2724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650" b="1" i="0">
                <a:solidFill>
                  <a:srgbClr val="2A9D8F"/>
                </a:solidFill>
              </a:defRPr>
            </a:pPr>
            <a:r>
              <a:rPr sz="1650" b="1" i="0">
                <a:solidFill>
                  <a:srgbClr val="2A9D8F"/>
                </a:solidFill>
              </a:rPr>
              <a:t>Two separate decisions</a:t>
            </a:r>
          </a:p>
        </p:txBody>
      </p:sp>
      <p:sp>
        <p:nvSpPr>
          <p:cNvPr id="29" name="">
            <a:extLst xmlns:a="http://schemas.openxmlformats.org/drawingml/2006/main">
              <a:ext uri="{FF2B5EF4-FFF2-40B4-BE49-F238E27FC236}">
                <a16:creationId xmlns:a16="http://schemas.microsoft.com/office/drawing/2014/main" id="{8AE9331B-BC56-4DF5-9B5A-0C4E2E89E3B5}"/>
              </a:ext>
            </a:extLst>
          </p:cNvPr>
          <p:cNvSpPr>
            <a:spLocks xmlns:a="http://schemas.openxmlformats.org/drawingml/2006/main" noGrp="1"/>
          </p:cNvSpPr>
          <p:nvPr/>
        </p:nvSpPr>
        <p:spPr>
          <a:xfrm xmlns:a="http://schemas.openxmlformats.org/drawingml/2006/main">
            <a:off x="8572500" y="4114800"/>
            <a:ext cx="2571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boundary-pair selection</a:t>
            </a:r>
          </a:p>
          <a:p xmlns:a="http://schemas.openxmlformats.org/drawingml/2006/main">
            <a:pPr algn="ctr">
              <a:lnSpc>
                <a:spcPct val="105000"/>
              </a:lnSpc>
              <a:buNone/>
              <a:defRPr sz="1425" b="0" i="0">
                <a:solidFill>
                  <a:srgbClr val="243B53"/>
                </a:solidFill>
              </a:defRPr>
            </a:pPr>
            <a:r>
              <a:rPr sz="1425" b="0" i="0">
                <a:solidFill>
                  <a:srgbClr val="243B53"/>
                </a:solidFill>
              </a:rPr>
              <a:t>≠</a:t>
            </a:r>
          </a:p>
          <a:p xmlns:a="http://schemas.openxmlformats.org/drawingml/2006/main">
            <a:pPr algn="ctr">
              <a:lnSpc>
                <a:spcPct val="105000"/>
              </a:lnSpc>
              <a:buNone/>
              <a:defRPr sz="1425" b="0" i="0">
                <a:solidFill>
                  <a:srgbClr val="243B53"/>
                </a:solidFill>
              </a:defRPr>
            </a:pPr>
            <a:r>
              <a:rPr sz="1425" b="0" i="0">
                <a:solidFill>
                  <a:srgbClr val="243B53"/>
                </a:solidFill>
              </a:rPr>
              <a:t>output-anchor selection</a:t>
            </a:r>
          </a:p>
        </p:txBody>
      </p:sp>
      <p:sp>
        <p:nvSpPr>
          <p:cNvPr id="30" name="">
            <a:extLst xmlns:a="http://schemas.openxmlformats.org/drawingml/2006/main">
              <a:ext uri="{FF2B5EF4-FFF2-40B4-BE49-F238E27FC236}">
                <a16:creationId xmlns:a16="http://schemas.microsoft.com/office/drawing/2014/main" id="{C3D80F8D-7870-4865-9C85-B961F1F0A452}"/>
              </a:ext>
            </a:extLst>
          </p:cNvPr>
          <p:cNvSpPr>
            <a:spLocks xmlns:a="http://schemas.openxmlformats.org/drawingml/2006/main" noGrp="1"/>
          </p:cNvSpPr>
          <p:nvPr/>
        </p:nvSpPr>
        <p:spPr>
          <a:xfrm xmlns:a="http://schemas.openxmlformats.org/drawingml/2006/main">
            <a:off x="8229600" y="5524500"/>
            <a:ext cx="32575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8631"/>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This correction is separate from predecessor/successor boundary selection.</a:t>
            </a:r>
          </a:p>
        </p:txBody>
      </p:sp>
    </p:spTree>
    <p:extLst>
      <p:ext uri="{BB962C8B-B14F-4D97-AF65-F5344CB8AC3E}">
        <p14:creationId xmlns:p14="http://schemas.microsoft.com/office/powerpoint/2010/main" val="1882387075"/>
      </p:ext>
    </p:extLst>
  </p:cSld>
</p:sld>
</file>

<file path=ppt/slides/slide10.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3D54D596-F3FC-4A73-A1FC-1A5CCF237787}"/>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MAINTAINED STATE</a:t>
            </a:r>
          </a:p>
        </p:txBody>
      </p:sp>
      <p:sp>
        <p:nvSpPr>
          <p:cNvPr id="2" name="">
            <a:extLst xmlns:a="http://schemas.openxmlformats.org/drawingml/2006/main">
              <a:ext uri="{FF2B5EF4-FFF2-40B4-BE49-F238E27FC236}">
                <a16:creationId xmlns:a16="http://schemas.microsoft.com/office/drawing/2014/main" id="{477FCF6D-EC93-4D6E-9C5B-6EDD739E304A}"/>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6962"/>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Correct insertion also requires ownership-safe transactional updates</a:t>
            </a:r>
          </a:p>
        </p:txBody>
      </p:sp>
      <p:sp>
        <p:nvSpPr>
          <p:cNvPr id="3" name="">
            <a:extLst xmlns:a="http://schemas.openxmlformats.org/drawingml/2006/main">
              <a:ext uri="{FF2B5EF4-FFF2-40B4-BE49-F238E27FC236}">
                <a16:creationId xmlns:a16="http://schemas.microsoft.com/office/drawing/2014/main" id="{0394DA6C-4F11-44A2-A608-0700BD00728C}"/>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81D18BC9-5609-4C90-A01F-63AFFFAF1B90}"/>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B6C86AC6-A613-41F3-957D-C57F3AC1218B}"/>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E5C45411-DFBB-452D-A6A4-7415824BA96B}"/>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10 / 16</a:t>
            </a:r>
          </a:p>
        </p:txBody>
      </p:sp>
      <p:sp>
        <p:nvSpPr>
          <p:cNvPr id="7" name="">
            <a:extLst xmlns:a="http://schemas.openxmlformats.org/drawingml/2006/main">
              <a:ext uri="{FF2B5EF4-FFF2-40B4-BE49-F238E27FC236}">
                <a16:creationId xmlns:a16="http://schemas.microsoft.com/office/drawing/2014/main" id="{F36C93DA-0F5C-4879-BA19-131B281C8554}"/>
              </a:ext>
            </a:extLst>
          </p:cNvPr>
          <p:cNvSpPr>
            <a:spLocks xmlns:a="http://schemas.openxmlformats.org/drawingml/2006/main" noGrp="1"/>
          </p:cNvSpPr>
          <p:nvPr/>
        </p:nvSpPr>
        <p:spPr>
          <a:xfrm xmlns:a="http://schemas.openxmlformats.org/drawingml/2006/main">
            <a:off x="647700" y="1428750"/>
            <a:ext cx="6248400" cy="4000500"/>
          </a:xfrm>
          <a:prstGeom xmlns:a="http://schemas.openxmlformats.org/drawingml/2006/main" prst="roundRect">
            <a:avLst>
              <a:gd name="adj" fmla="val 1905"/>
            </a:avLst>
          </a:prstGeom>
          <a:solidFill xmlns:a="http://schemas.openxmlformats.org/drawingml/2006/main">
            <a:srgbClr val="FFFFFF"/>
          </a:solidFill>
          <a:ln xmlns:a="http://schemas.openxmlformats.org/drawingml/2006/main" w="11430">
            <a:solidFill>
              <a:srgbClr val="D9E2EC"/>
            </a:solidFill>
            <a:prstDash val="solid"/>
          </a:ln>
        </p:spPr>
      </p:sp>
      <p:sp>
        <p:nvSpPr>
          <p:cNvPr id="8" name="">
            <a:extLst xmlns:a="http://schemas.openxmlformats.org/drawingml/2006/main">
              <a:ext uri="{FF2B5EF4-FFF2-40B4-BE49-F238E27FC236}">
                <a16:creationId xmlns:a16="http://schemas.microsoft.com/office/drawing/2014/main" id="{B49465D2-25CD-496D-BCE7-767399FCE1B6}"/>
              </a:ext>
            </a:extLst>
          </p:cNvPr>
          <p:cNvSpPr>
            <a:spLocks xmlns:a="http://schemas.openxmlformats.org/drawingml/2006/main" noGrp="1"/>
          </p:cNvSpPr>
          <p:nvPr/>
        </p:nvSpPr>
        <p:spPr>
          <a:xfrm xmlns:a="http://schemas.openxmlformats.org/drawingml/2006/main">
            <a:off x="895350" y="1619250"/>
            <a:ext cx="5772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Local split and ownership transfer</a:t>
            </a:r>
          </a:p>
        </p:txBody>
      </p:sp>
      <p:sp>
        <p:nvSpPr>
          <p:cNvPr id="9" name="">
            <a:extLst xmlns:a="http://schemas.openxmlformats.org/drawingml/2006/main">
              <a:ext uri="{FF2B5EF4-FFF2-40B4-BE49-F238E27FC236}">
                <a16:creationId xmlns:a16="http://schemas.microsoft.com/office/drawing/2014/main" id="{5D51F7EE-91BE-4054-BF6D-F4316A710F6F}"/>
              </a:ext>
            </a:extLst>
          </p:cNvPr>
          <p:cNvSpPr>
            <a:spLocks xmlns:a="http://schemas.openxmlformats.org/drawingml/2006/main" noGrp="1"/>
          </p:cNvSpPr>
          <p:nvPr/>
        </p:nvSpPr>
        <p:spPr>
          <a:xfrm xmlns:a="http://schemas.openxmlformats.org/drawingml/2006/main">
            <a:off x="895350" y="2152650"/>
            <a:ext cx="876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350" b="1" i="0">
                <a:solidFill>
                  <a:srgbClr val="7B8794"/>
                </a:solidFill>
              </a:defRPr>
            </a:pPr>
            <a:r>
              <a:rPr sz="1350" b="1" i="0">
                <a:solidFill>
                  <a:srgbClr val="7B8794"/>
                </a:solidFill>
              </a:rPr>
              <a:t>Before</a:t>
            </a:r>
          </a:p>
        </p:txBody>
      </p:sp>
      <p:sp>
        <p:nvSpPr>
          <p:cNvPr id="10" name="">
            <a:extLst xmlns:a="http://schemas.openxmlformats.org/drawingml/2006/main">
              <a:ext uri="{FF2B5EF4-FFF2-40B4-BE49-F238E27FC236}">
                <a16:creationId xmlns:a16="http://schemas.microsoft.com/office/drawing/2014/main" id="{A163E281-28BB-485D-884C-D8787BF8667D}"/>
              </a:ext>
            </a:extLst>
          </p:cNvPr>
          <p:cNvSpPr>
            <a:spLocks xmlns:a="http://schemas.openxmlformats.org/drawingml/2006/main" noGrp="1"/>
          </p:cNvSpPr>
          <p:nvPr/>
        </p:nvSpPr>
        <p:spPr>
          <a:xfrm xmlns:a="http://schemas.openxmlformats.org/drawingml/2006/main">
            <a:off x="1847850" y="2076450"/>
            <a:ext cx="1562100" cy="495300"/>
          </a:xfrm>
          <a:prstGeom xmlns:a="http://schemas.openxmlformats.org/drawingml/2006/main" prst="roundRect">
            <a:avLst>
              <a:gd name="adj" fmla="val 11538"/>
            </a:avLst>
          </a:prstGeom>
          <a:solidFill xmlns:a="http://schemas.openxmlformats.org/drawingml/2006/main">
            <a:srgbClr val="EAF1F8"/>
          </a:solidFill>
          <a:ln xmlns:a="http://schemas.openxmlformats.org/drawingml/2006/main" w="14288">
            <a:solidFill>
              <a:srgbClr val="102A43"/>
            </a:solidFill>
            <a:prstDash val="solid"/>
          </a:ln>
        </p:spPr>
      </p:sp>
      <p:sp>
        <p:nvSpPr>
          <p:cNvPr id="11" name="">
            <a:extLst xmlns:a="http://schemas.openxmlformats.org/drawingml/2006/main">
              <a:ext uri="{FF2B5EF4-FFF2-40B4-BE49-F238E27FC236}">
                <a16:creationId xmlns:a16="http://schemas.microsoft.com/office/drawing/2014/main" id="{ACD30A88-415D-4A39-A1D5-6A863DB96BF4}"/>
              </a:ext>
            </a:extLst>
          </p:cNvPr>
          <p:cNvSpPr>
            <a:spLocks xmlns:a="http://schemas.openxmlformats.org/drawingml/2006/main" noGrp="1"/>
          </p:cNvSpPr>
          <p:nvPr/>
        </p:nvSpPr>
        <p:spPr>
          <a:xfrm xmlns:a="http://schemas.openxmlformats.org/drawingml/2006/main">
            <a:off x="1943100" y="2152650"/>
            <a:ext cx="1371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102A43"/>
                </a:solidFill>
              </a:defRPr>
            </a:pPr>
            <a:r>
              <a:rPr sz="1425" b="1" i="0">
                <a:solidFill>
                  <a:srgbClr val="102A43"/>
                </a:solidFill>
              </a:rPr>
              <a:t>existing owner</a:t>
            </a:r>
          </a:p>
        </p:txBody>
      </p:sp>
      <p:sp>
        <p:nvSpPr>
          <p:cNvPr id="12" name="">
            <a:extLst xmlns:a="http://schemas.openxmlformats.org/drawingml/2006/main">
              <a:ext uri="{FF2B5EF4-FFF2-40B4-BE49-F238E27FC236}">
                <a16:creationId xmlns:a16="http://schemas.microsoft.com/office/drawing/2014/main" id="{DACF3EBB-63DC-4662-B765-FA6019559907}"/>
              </a:ext>
            </a:extLst>
          </p:cNvPr>
          <p:cNvSpPr>
            <a:spLocks xmlns:a="http://schemas.openxmlformats.org/drawingml/2006/main" noGrp="1"/>
          </p:cNvSpPr>
          <p:nvPr/>
        </p:nvSpPr>
        <p:spPr>
          <a:xfrm xmlns:a="http://schemas.openxmlformats.org/drawingml/2006/main">
            <a:off x="3505200" y="2152650"/>
            <a:ext cx="666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owns</a:t>
            </a:r>
          </a:p>
        </p:txBody>
      </p:sp>
      <p:sp>
        <p:nvSpPr>
          <p:cNvPr id="13" name="">
            <a:extLst xmlns:a="http://schemas.openxmlformats.org/drawingml/2006/main">
              <a:ext uri="{FF2B5EF4-FFF2-40B4-BE49-F238E27FC236}">
                <a16:creationId xmlns:a16="http://schemas.microsoft.com/office/drawing/2014/main" id="{4902CE60-DC94-46C2-8C76-D816F56508FC}"/>
              </a:ext>
            </a:extLst>
          </p:cNvPr>
          <p:cNvSpPr>
            <a:spLocks xmlns:a="http://schemas.openxmlformats.org/drawingml/2006/main" noGrp="1"/>
          </p:cNvSpPr>
          <p:nvPr/>
        </p:nvSpPr>
        <p:spPr>
          <a:xfrm xmlns:a="http://schemas.openxmlformats.org/drawingml/2006/main">
            <a:off x="4248150" y="2019300"/>
            <a:ext cx="2095500" cy="609600"/>
          </a:xfrm>
          <a:prstGeom xmlns:a="http://schemas.openxmlformats.org/drawingml/2006/main" prst="roundRect">
            <a:avLst>
              <a:gd name="adj" fmla="val 9375"/>
            </a:avLst>
          </a:prstGeom>
          <a:solidFill xmlns:a="http://schemas.openxmlformats.org/drawingml/2006/main">
            <a:srgbClr val="FFFFFF"/>
          </a:solidFill>
          <a:ln xmlns:a="http://schemas.openxmlformats.org/drawingml/2006/main" w="11430">
            <a:solidFill>
              <a:srgbClr val="52606D"/>
            </a:solidFill>
            <a:prstDash val="solid"/>
          </a:ln>
        </p:spPr>
      </p:sp>
      <p:sp>
        <p:nvSpPr>
          <p:cNvPr id="14" name="">
            <a:extLst xmlns:a="http://schemas.openxmlformats.org/drawingml/2006/main">
              <a:ext uri="{FF2B5EF4-FFF2-40B4-BE49-F238E27FC236}">
                <a16:creationId xmlns:a16="http://schemas.microsoft.com/office/drawing/2014/main" id="{5859D152-056B-4C11-8EB8-DFC0C3C9F814}"/>
              </a:ext>
            </a:extLst>
          </p:cNvPr>
          <p:cNvSpPr>
            <a:spLocks xmlns:a="http://schemas.openxmlformats.org/drawingml/2006/main" noGrp="1"/>
          </p:cNvSpPr>
          <p:nvPr/>
        </p:nvSpPr>
        <p:spPr>
          <a:xfrm xmlns:a="http://schemas.openxmlformats.org/drawingml/2006/main">
            <a:off x="4362450" y="2114550"/>
            <a:ext cx="1866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43B53"/>
                </a:solidFill>
              </a:defRPr>
            </a:pPr>
            <a:r>
              <a:rPr sz="1350" b="1" i="0">
                <a:solidFill>
                  <a:srgbClr val="243B53"/>
                </a:solidFill>
              </a:rPr>
              <a:t>retained  |  acquired</a:t>
            </a:r>
          </a:p>
        </p:txBody>
      </p:sp>
      <p:sp>
        <p:nvSpPr>
          <p:cNvPr id="15" name="">
            <a:extLst xmlns:a="http://schemas.openxmlformats.org/drawingml/2006/main">
              <a:ext uri="{FF2B5EF4-FFF2-40B4-BE49-F238E27FC236}">
                <a16:creationId xmlns:a16="http://schemas.microsoft.com/office/drawing/2014/main" id="{45431B4B-9A17-4221-AD8C-1BEB98E9303F}"/>
              </a:ext>
            </a:extLst>
          </p:cNvPr>
          <p:cNvSpPr>
            <a:spLocks xmlns:a="http://schemas.openxmlformats.org/drawingml/2006/main" noGrp="1"/>
          </p:cNvSpPr>
          <p:nvPr/>
        </p:nvSpPr>
        <p:spPr>
          <a:xfrm xmlns:a="http://schemas.openxmlformats.org/drawingml/2006/main">
            <a:off x="2514600" y="2876550"/>
            <a:ext cx="238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split + transfer</a:t>
            </a:r>
          </a:p>
        </p:txBody>
      </p:sp>
      <p:sp>
        <p:nvSpPr>
          <p:cNvPr id="16" name="">
            <a:extLst xmlns:a="http://schemas.openxmlformats.org/drawingml/2006/main">
              <a:ext uri="{FF2B5EF4-FFF2-40B4-BE49-F238E27FC236}">
                <a16:creationId xmlns:a16="http://schemas.microsoft.com/office/drawing/2014/main" id="{FAE9284A-398F-401D-A999-BD3FCA0AB5D1}"/>
              </a:ext>
            </a:extLst>
          </p:cNvPr>
          <p:cNvSpPr>
            <a:spLocks xmlns:a="http://schemas.openxmlformats.org/drawingml/2006/main" noGrp="1"/>
          </p:cNvSpPr>
          <p:nvPr/>
        </p:nvSpPr>
        <p:spPr>
          <a:xfrm xmlns:a="http://schemas.openxmlformats.org/drawingml/2006/main">
            <a:off x="3371850" y="3200400"/>
            <a:ext cx="685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371"/>
          </a:bodyPr>
          <a:lstStyle xmlns:a="http://schemas.openxmlformats.org/drawingml/2006/main"/>
          <a:p xmlns:a="http://schemas.openxmlformats.org/drawingml/2006/main">
            <a:pPr algn="ctr">
              <a:lnSpc>
                <a:spcPct val="105000"/>
              </a:lnSpc>
              <a:buNone/>
              <a:defRPr sz="2550" b="1" i="0">
                <a:solidFill>
                  <a:srgbClr val="E76F51"/>
                </a:solidFill>
              </a:defRPr>
            </a:pPr>
            <a:r>
              <a:rPr sz="2550" b="1" i="0">
                <a:solidFill>
                  <a:srgbClr val="E76F51"/>
                </a:solidFill>
              </a:rPr>
              <a:t>↓</a:t>
            </a:r>
          </a:p>
        </p:txBody>
      </p:sp>
      <p:sp>
        <p:nvSpPr>
          <p:cNvPr id="17" name="">
            <a:extLst xmlns:a="http://schemas.openxmlformats.org/drawingml/2006/main">
              <a:ext uri="{FF2B5EF4-FFF2-40B4-BE49-F238E27FC236}">
                <a16:creationId xmlns:a16="http://schemas.microsoft.com/office/drawing/2014/main" id="{B7D8B432-D260-41B6-A877-3F9ACC71CD31}"/>
              </a:ext>
            </a:extLst>
          </p:cNvPr>
          <p:cNvSpPr>
            <a:spLocks xmlns:a="http://schemas.openxmlformats.org/drawingml/2006/main" noGrp="1"/>
          </p:cNvSpPr>
          <p:nvPr/>
        </p:nvSpPr>
        <p:spPr>
          <a:xfrm xmlns:a="http://schemas.openxmlformats.org/drawingml/2006/main">
            <a:off x="895350" y="3714750"/>
            <a:ext cx="876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350" b="1" i="0">
                <a:solidFill>
                  <a:srgbClr val="7B8794"/>
                </a:solidFill>
              </a:defRPr>
            </a:pPr>
            <a:r>
              <a:rPr sz="1350" b="1" i="0">
                <a:solidFill>
                  <a:srgbClr val="7B8794"/>
                </a:solidFill>
              </a:rPr>
              <a:t>After</a:t>
            </a:r>
          </a:p>
        </p:txBody>
      </p:sp>
      <p:sp>
        <p:nvSpPr>
          <p:cNvPr id="18" name="">
            <a:extLst xmlns:a="http://schemas.openxmlformats.org/drawingml/2006/main">
              <a:ext uri="{FF2B5EF4-FFF2-40B4-BE49-F238E27FC236}">
                <a16:creationId xmlns:a16="http://schemas.microsoft.com/office/drawing/2014/main" id="{D3ECBD11-8C86-4339-B5B7-B73689788870}"/>
              </a:ext>
            </a:extLst>
          </p:cNvPr>
          <p:cNvSpPr>
            <a:spLocks xmlns:a="http://schemas.openxmlformats.org/drawingml/2006/main" noGrp="1"/>
          </p:cNvSpPr>
          <p:nvPr/>
        </p:nvSpPr>
        <p:spPr>
          <a:xfrm xmlns:a="http://schemas.openxmlformats.org/drawingml/2006/main">
            <a:off x="1847850" y="3638550"/>
            <a:ext cx="1562100" cy="495300"/>
          </a:xfrm>
          <a:prstGeom xmlns:a="http://schemas.openxmlformats.org/drawingml/2006/main" prst="roundRect">
            <a:avLst>
              <a:gd name="adj" fmla="val 11538"/>
            </a:avLst>
          </a:prstGeom>
          <a:solidFill xmlns:a="http://schemas.openxmlformats.org/drawingml/2006/main">
            <a:srgbClr val="EAF1F8"/>
          </a:solidFill>
          <a:ln xmlns:a="http://schemas.openxmlformats.org/drawingml/2006/main" w="14288">
            <a:solidFill>
              <a:srgbClr val="102A43"/>
            </a:solidFill>
            <a:prstDash val="solid"/>
          </a:ln>
        </p:spPr>
      </p:sp>
      <p:sp>
        <p:nvSpPr>
          <p:cNvPr id="19" name="">
            <a:extLst xmlns:a="http://schemas.openxmlformats.org/drawingml/2006/main">
              <a:ext uri="{FF2B5EF4-FFF2-40B4-BE49-F238E27FC236}">
                <a16:creationId xmlns:a16="http://schemas.microsoft.com/office/drawing/2014/main" id="{B9349E29-D777-41D0-AA9F-E5038E590A15}"/>
              </a:ext>
            </a:extLst>
          </p:cNvPr>
          <p:cNvSpPr>
            <a:spLocks xmlns:a="http://schemas.openxmlformats.org/drawingml/2006/main" noGrp="1"/>
          </p:cNvSpPr>
          <p:nvPr/>
        </p:nvSpPr>
        <p:spPr>
          <a:xfrm xmlns:a="http://schemas.openxmlformats.org/drawingml/2006/main">
            <a:off x="1943100" y="3714750"/>
            <a:ext cx="1371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102A43"/>
                </a:solidFill>
              </a:defRPr>
            </a:pPr>
            <a:r>
              <a:rPr sz="1425" b="1" i="0">
                <a:solidFill>
                  <a:srgbClr val="102A43"/>
                </a:solidFill>
              </a:rPr>
              <a:t>existing owner</a:t>
            </a:r>
          </a:p>
        </p:txBody>
      </p:sp>
      <p:sp>
        <p:nvSpPr>
          <p:cNvPr id="20" name="">
            <a:extLst xmlns:a="http://schemas.openxmlformats.org/drawingml/2006/main">
              <a:ext uri="{FF2B5EF4-FFF2-40B4-BE49-F238E27FC236}">
                <a16:creationId xmlns:a16="http://schemas.microsoft.com/office/drawing/2014/main" id="{500E3BA3-F2E8-4169-BC8F-B6DB1C98FDD9}"/>
              </a:ext>
            </a:extLst>
          </p:cNvPr>
          <p:cNvSpPr>
            <a:spLocks xmlns:a="http://schemas.openxmlformats.org/drawingml/2006/main" noGrp="1"/>
          </p:cNvSpPr>
          <p:nvPr/>
        </p:nvSpPr>
        <p:spPr>
          <a:xfrm xmlns:a="http://schemas.openxmlformats.org/drawingml/2006/main">
            <a:off x="3476625" y="3714750"/>
            <a:ext cx="514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00" b="1" i="0">
                <a:solidFill>
                  <a:srgbClr val="52606D"/>
                </a:solidFill>
              </a:defRPr>
            </a:pPr>
            <a:r>
              <a:rPr sz="1800" b="1" i="0">
                <a:solidFill>
                  <a:srgbClr val="52606D"/>
                </a:solidFill>
              </a:rPr>
              <a:t>→</a:t>
            </a:r>
          </a:p>
        </p:txBody>
      </p:sp>
      <p:sp>
        <p:nvSpPr>
          <p:cNvPr id="21" name="">
            <a:extLst xmlns:a="http://schemas.openxmlformats.org/drawingml/2006/main">
              <a:ext uri="{FF2B5EF4-FFF2-40B4-BE49-F238E27FC236}">
                <a16:creationId xmlns:a16="http://schemas.microsoft.com/office/drawing/2014/main" id="{9B0BE661-EB07-42E1-85D3-2B909787CEA3}"/>
              </a:ext>
            </a:extLst>
          </p:cNvPr>
          <p:cNvSpPr>
            <a:spLocks xmlns:a="http://schemas.openxmlformats.org/drawingml/2006/main" noGrp="1"/>
          </p:cNvSpPr>
          <p:nvPr/>
        </p:nvSpPr>
        <p:spPr>
          <a:xfrm xmlns:a="http://schemas.openxmlformats.org/drawingml/2006/main">
            <a:off x="4038600" y="3638550"/>
            <a:ext cx="1390650" cy="495300"/>
          </a:xfrm>
          <a:prstGeom xmlns:a="http://schemas.openxmlformats.org/drawingml/2006/main" prst="roundRect">
            <a:avLst>
              <a:gd name="adj" fmla="val 11538"/>
            </a:avLst>
          </a:prstGeom>
          <a:solidFill xmlns:a="http://schemas.openxmlformats.org/drawingml/2006/main">
            <a:srgbClr val="FFFFFF"/>
          </a:solidFill>
          <a:ln xmlns:a="http://schemas.openxmlformats.org/drawingml/2006/main" w="11430">
            <a:solidFill>
              <a:srgbClr val="102A43"/>
            </a:solidFill>
            <a:prstDash val="solid"/>
          </a:ln>
        </p:spPr>
      </p:sp>
      <p:sp>
        <p:nvSpPr>
          <p:cNvPr id="22" name="">
            <a:extLst xmlns:a="http://schemas.openxmlformats.org/drawingml/2006/main">
              <a:ext uri="{FF2B5EF4-FFF2-40B4-BE49-F238E27FC236}">
                <a16:creationId xmlns:a16="http://schemas.microsoft.com/office/drawing/2014/main" id="{4102A7DA-47BA-49B1-A585-34CFDF8E89D9}"/>
              </a:ext>
            </a:extLst>
          </p:cNvPr>
          <p:cNvSpPr>
            <a:spLocks xmlns:a="http://schemas.openxmlformats.org/drawingml/2006/main" noGrp="1"/>
          </p:cNvSpPr>
          <p:nvPr/>
        </p:nvSpPr>
        <p:spPr>
          <a:xfrm xmlns:a="http://schemas.openxmlformats.org/drawingml/2006/main">
            <a:off x="4133850" y="3714750"/>
            <a:ext cx="1200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retained</a:t>
            </a:r>
          </a:p>
        </p:txBody>
      </p:sp>
      <p:sp>
        <p:nvSpPr>
          <p:cNvPr id="23" name="">
            <a:extLst xmlns:a="http://schemas.openxmlformats.org/drawingml/2006/main">
              <a:ext uri="{FF2B5EF4-FFF2-40B4-BE49-F238E27FC236}">
                <a16:creationId xmlns:a16="http://schemas.microsoft.com/office/drawing/2014/main" id="{F9385BF9-8906-4B47-8B2C-5EE4C5FEC89E}"/>
              </a:ext>
            </a:extLst>
          </p:cNvPr>
          <p:cNvSpPr>
            <a:spLocks xmlns:a="http://schemas.openxmlformats.org/drawingml/2006/main" noGrp="1"/>
          </p:cNvSpPr>
          <p:nvPr/>
        </p:nvSpPr>
        <p:spPr>
          <a:xfrm xmlns:a="http://schemas.openxmlformats.org/drawingml/2006/main">
            <a:off x="1847850" y="4381500"/>
            <a:ext cx="1562100" cy="495300"/>
          </a:xfrm>
          <a:prstGeom xmlns:a="http://schemas.openxmlformats.org/drawingml/2006/main" prst="roundRect">
            <a:avLst>
              <a:gd name="adj" fmla="val 11538"/>
            </a:avLst>
          </a:prstGeom>
          <a:solidFill xmlns:a="http://schemas.openxmlformats.org/drawingml/2006/main">
            <a:srgbClr val="E8F5F3"/>
          </a:solidFill>
          <a:ln xmlns:a="http://schemas.openxmlformats.org/drawingml/2006/main" w="14288">
            <a:solidFill>
              <a:srgbClr val="2A9D8F"/>
            </a:solidFill>
            <a:prstDash val="solid"/>
          </a:ln>
        </p:spPr>
      </p:sp>
      <p:sp>
        <p:nvSpPr>
          <p:cNvPr id="24" name="">
            <a:extLst xmlns:a="http://schemas.openxmlformats.org/drawingml/2006/main">
              <a:ext uri="{FF2B5EF4-FFF2-40B4-BE49-F238E27FC236}">
                <a16:creationId xmlns:a16="http://schemas.microsoft.com/office/drawing/2014/main" id="{6ECC0A65-BACA-4FAA-8EFD-C3708C8CE1A2}"/>
              </a:ext>
            </a:extLst>
          </p:cNvPr>
          <p:cNvSpPr>
            <a:spLocks xmlns:a="http://schemas.openxmlformats.org/drawingml/2006/main" noGrp="1"/>
          </p:cNvSpPr>
          <p:nvPr/>
        </p:nvSpPr>
        <p:spPr>
          <a:xfrm xmlns:a="http://schemas.openxmlformats.org/drawingml/2006/main">
            <a:off x="1943100" y="4457700"/>
            <a:ext cx="1371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2A9D8F"/>
                </a:solidFill>
              </a:defRPr>
            </a:pPr>
            <a:r>
              <a:rPr sz="1425" b="1" i="0">
                <a:solidFill>
                  <a:srgbClr val="2A9D8F"/>
                </a:solidFill>
              </a:rPr>
              <a:t>new owner</a:t>
            </a:r>
          </a:p>
        </p:txBody>
      </p:sp>
      <p:sp>
        <p:nvSpPr>
          <p:cNvPr id="25" name="">
            <a:extLst xmlns:a="http://schemas.openxmlformats.org/drawingml/2006/main">
              <a:ext uri="{FF2B5EF4-FFF2-40B4-BE49-F238E27FC236}">
                <a16:creationId xmlns:a16="http://schemas.microsoft.com/office/drawing/2014/main" id="{EBFE5D5D-90C7-407D-BFD6-5920C7AC1BC3}"/>
              </a:ext>
            </a:extLst>
          </p:cNvPr>
          <p:cNvSpPr>
            <a:spLocks xmlns:a="http://schemas.openxmlformats.org/drawingml/2006/main" noGrp="1"/>
          </p:cNvSpPr>
          <p:nvPr/>
        </p:nvSpPr>
        <p:spPr>
          <a:xfrm xmlns:a="http://schemas.openxmlformats.org/drawingml/2006/main">
            <a:off x="3476625" y="4457700"/>
            <a:ext cx="514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00" b="1" i="0">
                <a:solidFill>
                  <a:srgbClr val="2A9D8F"/>
                </a:solidFill>
              </a:defRPr>
            </a:pPr>
            <a:r>
              <a:rPr sz="1800" b="1" i="0">
                <a:solidFill>
                  <a:srgbClr val="2A9D8F"/>
                </a:solidFill>
              </a:rPr>
              <a:t>→</a:t>
            </a:r>
          </a:p>
        </p:txBody>
      </p:sp>
      <p:sp>
        <p:nvSpPr>
          <p:cNvPr id="26" name="">
            <a:extLst xmlns:a="http://schemas.openxmlformats.org/drawingml/2006/main">
              <a:ext uri="{FF2B5EF4-FFF2-40B4-BE49-F238E27FC236}">
                <a16:creationId xmlns:a16="http://schemas.microsoft.com/office/drawing/2014/main" id="{8E244710-A9E2-445F-A1D3-6556F15A6CFB}"/>
              </a:ext>
            </a:extLst>
          </p:cNvPr>
          <p:cNvSpPr>
            <a:spLocks xmlns:a="http://schemas.openxmlformats.org/drawingml/2006/main" noGrp="1"/>
          </p:cNvSpPr>
          <p:nvPr/>
        </p:nvSpPr>
        <p:spPr>
          <a:xfrm xmlns:a="http://schemas.openxmlformats.org/drawingml/2006/main">
            <a:off x="4038600" y="4381500"/>
            <a:ext cx="1390650" cy="495300"/>
          </a:xfrm>
          <a:prstGeom xmlns:a="http://schemas.openxmlformats.org/drawingml/2006/main" prst="roundRect">
            <a:avLst>
              <a:gd name="adj" fmla="val 11538"/>
            </a:avLst>
          </a:prstGeom>
          <a:solidFill xmlns:a="http://schemas.openxmlformats.org/drawingml/2006/main">
            <a:srgbClr val="E8F5F3"/>
          </a:solidFill>
          <a:ln xmlns:a="http://schemas.openxmlformats.org/drawingml/2006/main" w="11430">
            <a:solidFill>
              <a:srgbClr val="2A9D8F"/>
            </a:solidFill>
            <a:prstDash val="solid"/>
          </a:ln>
        </p:spPr>
      </p:sp>
      <p:sp>
        <p:nvSpPr>
          <p:cNvPr id="27" name="">
            <a:extLst xmlns:a="http://schemas.openxmlformats.org/drawingml/2006/main">
              <a:ext uri="{FF2B5EF4-FFF2-40B4-BE49-F238E27FC236}">
                <a16:creationId xmlns:a16="http://schemas.microsoft.com/office/drawing/2014/main" id="{8CEE874C-7992-44D2-8DB2-3165DB6F06D2}"/>
              </a:ext>
            </a:extLst>
          </p:cNvPr>
          <p:cNvSpPr>
            <a:spLocks xmlns:a="http://schemas.openxmlformats.org/drawingml/2006/main" noGrp="1"/>
          </p:cNvSpPr>
          <p:nvPr/>
        </p:nvSpPr>
        <p:spPr>
          <a:xfrm xmlns:a="http://schemas.openxmlformats.org/drawingml/2006/main">
            <a:off x="4133850" y="4457700"/>
            <a:ext cx="1200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acquired</a:t>
            </a:r>
          </a:p>
        </p:txBody>
      </p:sp>
      <p:sp>
        <p:nvSpPr>
          <p:cNvPr id="28" name="">
            <a:extLst xmlns:a="http://schemas.openxmlformats.org/drawingml/2006/main">
              <a:ext uri="{FF2B5EF4-FFF2-40B4-BE49-F238E27FC236}">
                <a16:creationId xmlns:a16="http://schemas.microsoft.com/office/drawing/2014/main" id="{D8987646-95D9-4F43-9D1A-738A6E720593}"/>
              </a:ext>
            </a:extLst>
          </p:cNvPr>
          <p:cNvSpPr>
            <a:spLocks xmlns:a="http://schemas.openxmlformats.org/drawingml/2006/main" noGrp="1"/>
          </p:cNvSpPr>
          <p:nvPr/>
        </p:nvSpPr>
        <p:spPr>
          <a:xfrm xmlns:a="http://schemas.openxmlformats.org/drawingml/2006/main">
            <a:off x="1143000" y="5010150"/>
            <a:ext cx="525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Only the acquired nonempty segment is rebound.</a:t>
            </a:r>
          </a:p>
        </p:txBody>
      </p:sp>
      <p:sp>
        <p:nvSpPr>
          <p:cNvPr id="29" name="">
            <a:extLst xmlns:a="http://schemas.openxmlformats.org/drawingml/2006/main">
              <a:ext uri="{FF2B5EF4-FFF2-40B4-BE49-F238E27FC236}">
                <a16:creationId xmlns:a16="http://schemas.microsoft.com/office/drawing/2014/main" id="{567A850A-FEA6-4F95-82C1-D0C5A43B61BA}"/>
              </a:ext>
            </a:extLst>
          </p:cNvPr>
          <p:cNvSpPr>
            <a:spLocks xmlns:a="http://schemas.openxmlformats.org/drawingml/2006/main" noGrp="1"/>
          </p:cNvSpPr>
          <p:nvPr/>
        </p:nvSpPr>
        <p:spPr>
          <a:xfrm xmlns:a="http://schemas.openxmlformats.org/drawingml/2006/main">
            <a:off x="7286625" y="1447800"/>
            <a:ext cx="3714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102A43"/>
                </a:solidFill>
              </a:defRPr>
            </a:pPr>
            <a:r>
              <a:rPr sz="1875" b="1" i="0">
                <a:solidFill>
                  <a:srgbClr val="102A43"/>
                </a:solidFill>
              </a:rPr>
              <a:t>Maintained state</a:t>
            </a:r>
          </a:p>
        </p:txBody>
      </p:sp>
      <p:sp>
        <p:nvSpPr>
          <p:cNvPr id="30" name="">
            <a:extLst xmlns:a="http://schemas.openxmlformats.org/drawingml/2006/main">
              <a:ext uri="{FF2B5EF4-FFF2-40B4-BE49-F238E27FC236}">
                <a16:creationId xmlns:a16="http://schemas.microsoft.com/office/drawing/2014/main" id="{266CC3D7-1DD3-4D89-9541-8857EDF0F390}"/>
              </a:ext>
            </a:extLst>
          </p:cNvPr>
          <p:cNvSpPr>
            <a:spLocks xmlns:a="http://schemas.openxmlformats.org/drawingml/2006/main" noGrp="1"/>
          </p:cNvSpPr>
          <p:nvPr/>
        </p:nvSpPr>
        <p:spPr>
          <a:xfrm xmlns:a="http://schemas.openxmlformats.org/drawingml/2006/main">
            <a:off x="7334250" y="2028825"/>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1" name="">
            <a:extLst xmlns:a="http://schemas.openxmlformats.org/drawingml/2006/main">
              <a:ext uri="{FF2B5EF4-FFF2-40B4-BE49-F238E27FC236}">
                <a16:creationId xmlns:a16="http://schemas.microsoft.com/office/drawing/2014/main" id="{8DA84FAF-62D9-4897-AC5A-ACA28917EF08}"/>
              </a:ext>
            </a:extLst>
          </p:cNvPr>
          <p:cNvSpPr>
            <a:spLocks xmlns:a="http://schemas.openxmlformats.org/drawingml/2006/main" noGrp="1"/>
          </p:cNvSpPr>
          <p:nvPr/>
        </p:nvSpPr>
        <p:spPr>
          <a:xfrm xmlns:a="http://schemas.openxmlformats.org/drawingml/2006/main">
            <a:off x="7543800" y="1952625"/>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sorted processed prefix</a:t>
            </a:r>
          </a:p>
        </p:txBody>
      </p:sp>
      <p:sp>
        <p:nvSpPr>
          <p:cNvPr id="32" name="">
            <a:extLst xmlns:a="http://schemas.openxmlformats.org/drawingml/2006/main">
              <a:ext uri="{FF2B5EF4-FFF2-40B4-BE49-F238E27FC236}">
                <a16:creationId xmlns:a16="http://schemas.microsoft.com/office/drawing/2014/main" id="{835896D2-2C4F-41C8-BAF4-1134F8E048A5}"/>
              </a:ext>
            </a:extLst>
          </p:cNvPr>
          <p:cNvSpPr>
            <a:spLocks xmlns:a="http://schemas.openxmlformats.org/drawingml/2006/main" noGrp="1"/>
          </p:cNvSpPr>
          <p:nvPr/>
        </p:nvSpPr>
        <p:spPr>
          <a:xfrm xmlns:a="http://schemas.openxmlformats.org/drawingml/2006/main">
            <a:off x="7334250" y="24574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3" name="">
            <a:extLst xmlns:a="http://schemas.openxmlformats.org/drawingml/2006/main">
              <a:ext uri="{FF2B5EF4-FFF2-40B4-BE49-F238E27FC236}">
                <a16:creationId xmlns:a16="http://schemas.microsoft.com/office/drawing/2014/main" id="{2F46D843-9631-4F02-A360-427C96AEB78A}"/>
              </a:ext>
            </a:extLst>
          </p:cNvPr>
          <p:cNvSpPr>
            <a:spLocks xmlns:a="http://schemas.openxmlformats.org/drawingml/2006/main" noGrp="1"/>
          </p:cNvSpPr>
          <p:nvPr/>
        </p:nvSpPr>
        <p:spPr>
          <a:xfrm xmlns:a="http://schemas.openxmlformats.org/drawingml/2006/main">
            <a:off x="7543800" y="2381250"/>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upper and lower pair families</a:t>
            </a:r>
          </a:p>
        </p:txBody>
      </p:sp>
      <p:sp>
        <p:nvSpPr>
          <p:cNvPr id="34" name="">
            <a:extLst xmlns:a="http://schemas.openxmlformats.org/drawingml/2006/main">
              <a:ext uri="{FF2B5EF4-FFF2-40B4-BE49-F238E27FC236}">
                <a16:creationId xmlns:a16="http://schemas.microsoft.com/office/drawing/2014/main" id="{8B935E46-309E-4A8D-AC80-E752527565C3}"/>
              </a:ext>
            </a:extLst>
          </p:cNvPr>
          <p:cNvSpPr>
            <a:spLocks xmlns:a="http://schemas.openxmlformats.org/drawingml/2006/main" noGrp="1"/>
          </p:cNvSpPr>
          <p:nvPr/>
        </p:nvSpPr>
        <p:spPr>
          <a:xfrm xmlns:a="http://schemas.openxmlformats.org/drawingml/2006/main">
            <a:off x="7334250" y="2886075"/>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5" name="">
            <a:extLst xmlns:a="http://schemas.openxmlformats.org/drawingml/2006/main">
              <a:ext uri="{FF2B5EF4-FFF2-40B4-BE49-F238E27FC236}">
                <a16:creationId xmlns:a16="http://schemas.microsoft.com/office/drawing/2014/main" id="{5439712C-0C7D-48E0-90B1-9F6CAE188F32}"/>
              </a:ext>
            </a:extLst>
          </p:cNvPr>
          <p:cNvSpPr>
            <a:spLocks xmlns:a="http://schemas.openxmlformats.org/drawingml/2006/main" noGrp="1"/>
          </p:cNvSpPr>
          <p:nvPr/>
        </p:nvSpPr>
        <p:spPr>
          <a:xfrm xmlns:a="http://schemas.openxmlformats.org/drawingml/2006/main">
            <a:off x="7543800" y="2809875"/>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one parent per finite pair</a:t>
            </a:r>
          </a:p>
        </p:txBody>
      </p:sp>
      <p:sp>
        <p:nvSpPr>
          <p:cNvPr id="36" name="">
            <a:extLst xmlns:a="http://schemas.openxmlformats.org/drawingml/2006/main">
              <a:ext uri="{FF2B5EF4-FFF2-40B4-BE49-F238E27FC236}">
                <a16:creationId xmlns:a16="http://schemas.microsoft.com/office/drawing/2014/main" id="{5B71E1E7-EF31-4DA0-8572-5055F0925075}"/>
              </a:ext>
            </a:extLst>
          </p:cNvPr>
          <p:cNvSpPr>
            <a:spLocks xmlns:a="http://schemas.openxmlformats.org/drawingml/2006/main" noGrp="1"/>
          </p:cNvSpPr>
          <p:nvPr/>
        </p:nvSpPr>
        <p:spPr>
          <a:xfrm xmlns:a="http://schemas.openxmlformats.org/drawingml/2006/main">
            <a:off x="7334250" y="331470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7" name="">
            <a:extLst xmlns:a="http://schemas.openxmlformats.org/drawingml/2006/main">
              <a:ext uri="{FF2B5EF4-FFF2-40B4-BE49-F238E27FC236}">
                <a16:creationId xmlns:a16="http://schemas.microsoft.com/office/drawing/2014/main" id="{78FDCB1C-A2A8-420D-B6F0-2E879BE8DE05}"/>
              </a:ext>
            </a:extLst>
          </p:cNvPr>
          <p:cNvSpPr>
            <a:spLocks xmlns:a="http://schemas.openxmlformats.org/drawingml/2006/main" noGrp="1"/>
          </p:cNvSpPr>
          <p:nvPr/>
        </p:nvSpPr>
        <p:spPr>
          <a:xfrm xmlns:a="http://schemas.openxmlformats.org/drawingml/2006/main">
            <a:off x="7543800" y="3238500"/>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one sibling-list owner per finite pair</a:t>
            </a:r>
          </a:p>
        </p:txBody>
      </p:sp>
      <p:sp>
        <p:nvSpPr>
          <p:cNvPr id="38" name="">
            <a:extLst xmlns:a="http://schemas.openxmlformats.org/drawingml/2006/main">
              <a:ext uri="{FF2B5EF4-FFF2-40B4-BE49-F238E27FC236}">
                <a16:creationId xmlns:a16="http://schemas.microsoft.com/office/drawing/2014/main" id="{FD4B7B86-E31E-46AB-97EA-DCA8219024DA}"/>
              </a:ext>
            </a:extLst>
          </p:cNvPr>
          <p:cNvSpPr>
            <a:spLocks xmlns:a="http://schemas.openxmlformats.org/drawingml/2006/main" noGrp="1"/>
          </p:cNvSpPr>
          <p:nvPr/>
        </p:nvSpPr>
        <p:spPr>
          <a:xfrm xmlns:a="http://schemas.openxmlformats.org/drawingml/2006/main">
            <a:off x="7286625" y="3886200"/>
            <a:ext cx="3714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2A9D8F"/>
                </a:solidFill>
              </a:defRPr>
            </a:pPr>
            <a:r>
              <a:rPr sz="1875" b="1" i="0">
                <a:solidFill>
                  <a:srgbClr val="2A9D8F"/>
                </a:solidFill>
              </a:rPr>
              <a:t>Transactional update</a:t>
            </a:r>
          </a:p>
        </p:txBody>
      </p:sp>
      <p:sp>
        <p:nvSpPr>
          <p:cNvPr id="39" name="">
            <a:extLst xmlns:a="http://schemas.openxmlformats.org/drawingml/2006/main">
              <a:ext uri="{FF2B5EF4-FFF2-40B4-BE49-F238E27FC236}">
                <a16:creationId xmlns:a16="http://schemas.microsoft.com/office/drawing/2014/main" id="{A5787EC4-D154-4689-8A22-9C7E53D50665}"/>
              </a:ext>
            </a:extLst>
          </p:cNvPr>
          <p:cNvSpPr>
            <a:spLocks xmlns:a="http://schemas.openxmlformats.org/drawingml/2006/main" noGrp="1"/>
          </p:cNvSpPr>
          <p:nvPr/>
        </p:nvSpPr>
        <p:spPr>
          <a:xfrm xmlns:a="http://schemas.openxmlformats.org/drawingml/2006/main">
            <a:off x="7334250" y="4324350"/>
            <a:ext cx="3905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save state  →  split  →  transfer  →</a:t>
            </a:r>
          </a:p>
          <a:p xmlns:a="http://schemas.openxmlformats.org/drawingml/2006/main">
            <a:pPr algn="ctr">
              <a:lnSpc>
                <a:spcPct val="105000"/>
              </a:lnSpc>
              <a:buNone/>
              <a:defRPr sz="1500" b="0" i="0">
                <a:solidFill>
                  <a:srgbClr val="243B53"/>
                </a:solidFill>
              </a:defRPr>
            </a:pPr>
            <a:r>
              <a:rPr sz="1500" b="0" i="0">
                <a:solidFill>
                  <a:srgbClr val="243B53"/>
                </a:solidFill>
              </a:rPr>
              <a:t>check postconditions  →  roll back on failure</a:t>
            </a:r>
          </a:p>
        </p:txBody>
      </p:sp>
      <p:sp>
        <p:nvSpPr>
          <p:cNvPr id="40" name="">
            <a:extLst xmlns:a="http://schemas.openxmlformats.org/drawingml/2006/main">
              <a:ext uri="{FF2B5EF4-FFF2-40B4-BE49-F238E27FC236}">
                <a16:creationId xmlns:a16="http://schemas.microsoft.com/office/drawing/2014/main" id="{9F2CFA9C-D15D-450B-B18C-C165D2649F3A}"/>
              </a:ext>
            </a:extLst>
          </p:cNvPr>
          <p:cNvSpPr>
            <a:spLocks xmlns:a="http://schemas.openxmlformats.org/drawingml/2006/main" noGrp="1"/>
          </p:cNvSpPr>
          <p:nvPr/>
        </p:nvSpPr>
        <p:spPr>
          <a:xfrm xmlns:a="http://schemas.openxmlformats.org/drawingml/2006/main">
            <a:off x="1066800" y="5715000"/>
            <a:ext cx="10058400" cy="476250"/>
          </a:xfrm>
          <a:prstGeom xmlns:a="http://schemas.openxmlformats.org/drawingml/2006/main" prst="roundRect">
            <a:avLst>
              <a:gd name="adj" fmla="val 12000"/>
            </a:avLst>
          </a:prstGeom>
          <a:solidFill xmlns:a="http://schemas.openxmlformats.org/drawingml/2006/main">
            <a:srgbClr val="FCEEEA"/>
          </a:solidFill>
          <a:ln xmlns:a="http://schemas.openxmlformats.org/drawingml/2006/main" w="11430">
            <a:solidFill>
              <a:srgbClr val="E76F51"/>
            </a:solidFill>
            <a:prstDash val="solid"/>
          </a:ln>
        </p:spPr>
      </p:sp>
      <p:sp>
        <p:nvSpPr>
          <p:cNvPr id="41" name="">
            <a:extLst xmlns:a="http://schemas.openxmlformats.org/drawingml/2006/main">
              <a:ext uri="{FF2B5EF4-FFF2-40B4-BE49-F238E27FC236}">
                <a16:creationId xmlns:a16="http://schemas.microsoft.com/office/drawing/2014/main" id="{8C3B5AEA-72D8-4C34-AE28-C75B02285D04}"/>
              </a:ext>
            </a:extLst>
          </p:cNvPr>
          <p:cNvSpPr>
            <a:spLocks xmlns:a="http://schemas.openxmlformats.org/drawingml/2006/main" noGrp="1"/>
          </p:cNvSpPr>
          <p:nvPr/>
        </p:nvSpPr>
        <p:spPr>
          <a:xfrm xmlns:a="http://schemas.openxmlformats.org/drawingml/2006/main">
            <a:off x="1219200" y="5762625"/>
            <a:ext cx="9753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Ordinary lists expose scanning, copying, slicing, and ownership rebinding as concrete costs.</a:t>
            </a:r>
          </a:p>
        </p:txBody>
      </p:sp>
    </p:spTree>
    <p:extLst>
      <p:ext uri="{BB962C8B-B14F-4D97-AF65-F5344CB8AC3E}">
        <p14:creationId xmlns:p14="http://schemas.microsoft.com/office/powerpoint/2010/main" val="543944524"/>
      </p:ext>
    </p:extLst>
  </p:cSld>
</p:sld>
</file>

<file path=ppt/slides/slide1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8319BA47-7323-4840-A7FC-5AACE79E3D79}"/>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VALIDATION</a:t>
            </a:r>
          </a:p>
        </p:txBody>
      </p:sp>
      <p:sp>
        <p:nvSpPr>
          <p:cNvPr id="2" name="">
            <a:extLst xmlns:a="http://schemas.openxmlformats.org/drawingml/2006/main">
              <a:ext uri="{FF2B5EF4-FFF2-40B4-BE49-F238E27FC236}">
                <a16:creationId xmlns:a16="http://schemas.microsoft.com/office/drawing/2014/main" id="{887EE91A-A99E-44AF-9B4E-608AFECE9B81}"/>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Validation spans implementation state and evidence integrity</a:t>
            </a:r>
          </a:p>
        </p:txBody>
      </p:sp>
      <p:sp>
        <p:nvSpPr>
          <p:cNvPr id="3" name="">
            <a:extLst xmlns:a="http://schemas.openxmlformats.org/drawingml/2006/main">
              <a:ext uri="{FF2B5EF4-FFF2-40B4-BE49-F238E27FC236}">
                <a16:creationId xmlns:a16="http://schemas.microsoft.com/office/drawing/2014/main" id="{85443379-36FE-4595-A17D-C25932295797}"/>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71B242C3-A016-4572-BDD0-E3E27DB46AB4}"/>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4E3C1336-EA23-4F7D-8EDA-5D1A379931EF}"/>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EB5C3392-5B82-404A-8238-3C0D70363B85}"/>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11 / 16</a:t>
            </a:r>
          </a:p>
        </p:txBody>
      </p:sp>
      <p:sp>
        <p:nvSpPr>
          <p:cNvPr id="7" name="">
            <a:extLst xmlns:a="http://schemas.openxmlformats.org/drawingml/2006/main">
              <a:ext uri="{FF2B5EF4-FFF2-40B4-BE49-F238E27FC236}">
                <a16:creationId xmlns:a16="http://schemas.microsoft.com/office/drawing/2014/main" id="{E213557C-438B-4912-9E93-02F2C3B8E1AB}"/>
              </a:ext>
            </a:extLst>
          </p:cNvPr>
          <p:cNvSpPr>
            <a:spLocks xmlns:a="http://schemas.openxmlformats.org/drawingml/2006/main" noGrp="1"/>
          </p:cNvSpPr>
          <p:nvPr/>
        </p:nvSpPr>
        <p:spPr>
          <a:xfrm xmlns:a="http://schemas.openxmlformats.org/drawingml/2006/main">
            <a:off x="876300" y="1504950"/>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2A9D8F"/>
                </a:solidFill>
              </a:defRPr>
            </a:pPr>
            <a:r>
              <a:rPr sz="1125" b="1" i="0">
                <a:solidFill>
                  <a:srgbClr val="2A9D8F"/>
                </a:solidFill>
              </a:rPr>
              <a:t>IMPLEMENTATION AND STATE VALIDATION</a:t>
            </a:r>
          </a:p>
        </p:txBody>
      </p:sp>
      <p:sp>
        <p:nvSpPr>
          <p:cNvPr id="8" name="">
            <a:extLst xmlns:a="http://schemas.openxmlformats.org/drawingml/2006/main">
              <a:ext uri="{FF2B5EF4-FFF2-40B4-BE49-F238E27FC236}">
                <a16:creationId xmlns:a16="http://schemas.microsoft.com/office/drawing/2014/main" id="{C2757D5B-7A88-4F7A-B010-57A2C555FBF2}"/>
              </a:ext>
            </a:extLst>
          </p:cNvPr>
          <p:cNvSpPr>
            <a:spLocks xmlns:a="http://schemas.openxmlformats.org/drawingml/2006/main" noGrp="1"/>
          </p:cNvSpPr>
          <p:nvPr/>
        </p:nvSpPr>
        <p:spPr>
          <a:xfrm xmlns:a="http://schemas.openxmlformats.org/drawingml/2006/main">
            <a:off x="6934200" y="1504950"/>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E76F51"/>
                </a:solidFill>
              </a:defRPr>
            </a:pPr>
            <a:r>
              <a:rPr sz="1125" b="1" i="0">
                <a:solidFill>
                  <a:srgbClr val="E76F51"/>
                </a:solidFill>
              </a:rPr>
              <a:t>EVIDENCE INTEGRITY AND REPRODUCIBILITY</a:t>
            </a:r>
          </a:p>
        </p:txBody>
      </p:sp>
      <p:sp>
        <p:nvSpPr>
          <p:cNvPr id="9" name="">
            <a:extLst xmlns:a="http://schemas.openxmlformats.org/drawingml/2006/main">
              <a:ext uri="{FF2B5EF4-FFF2-40B4-BE49-F238E27FC236}">
                <a16:creationId xmlns:a16="http://schemas.microsoft.com/office/drawing/2014/main" id="{ED06CB57-9841-4BEA-80FB-2A26E0DE0527}"/>
              </a:ext>
            </a:extLst>
          </p:cNvPr>
          <p:cNvSpPr>
            <a:spLocks xmlns:a="http://schemas.openxmlformats.org/drawingml/2006/main" noGrp="1"/>
          </p:cNvSpPr>
          <p:nvPr/>
        </p:nvSpPr>
        <p:spPr>
          <a:xfrm xmlns:a="http://schemas.openxmlformats.org/drawingml/2006/main">
            <a:off x="838200" y="1924050"/>
            <a:ext cx="4476750" cy="609600"/>
          </a:xfrm>
          <a:prstGeom xmlns:a="http://schemas.openxmlformats.org/drawingml/2006/main" prst="roundRect">
            <a:avLst>
              <a:gd name="adj" fmla="val 10938"/>
            </a:avLst>
          </a:prstGeom>
          <a:solidFill xmlns:a="http://schemas.openxmlformats.org/drawingml/2006/main">
            <a:srgbClr val="E8F5F3"/>
          </a:solidFill>
          <a:ln xmlns:a="http://schemas.openxmlformats.org/drawingml/2006/main" w="11430">
            <a:solidFill>
              <a:srgbClr val="2A9D8F"/>
            </a:solidFill>
            <a:prstDash val="solid"/>
          </a:ln>
        </p:spPr>
      </p:sp>
      <p:sp>
        <p:nvSpPr>
          <p:cNvPr id="10" name="">
            <a:extLst xmlns:a="http://schemas.openxmlformats.org/drawingml/2006/main">
              <a:ext uri="{FF2B5EF4-FFF2-40B4-BE49-F238E27FC236}">
                <a16:creationId xmlns:a16="http://schemas.microsoft.com/office/drawing/2014/main" id="{3D601CF1-9398-4518-8CCF-0913AD699491}"/>
              </a:ext>
            </a:extLst>
          </p:cNvPr>
          <p:cNvSpPr>
            <a:spLocks xmlns:a="http://schemas.openxmlformats.org/drawingml/2006/main" noGrp="1"/>
          </p:cNvSpPr>
          <p:nvPr/>
        </p:nvSpPr>
        <p:spPr>
          <a:xfrm xmlns:a="http://schemas.openxmlformats.org/drawingml/2006/main">
            <a:off x="990600" y="20002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Focused regression cases</a:t>
            </a:r>
          </a:p>
        </p:txBody>
      </p:sp>
      <p:sp>
        <p:nvSpPr>
          <p:cNvPr id="11" name="">
            <a:extLst xmlns:a="http://schemas.openxmlformats.org/drawingml/2006/main">
              <a:ext uri="{FF2B5EF4-FFF2-40B4-BE49-F238E27FC236}">
                <a16:creationId xmlns:a16="http://schemas.microsoft.com/office/drawing/2014/main" id="{0CADD423-AB34-4710-AF0D-66E7347884AF}"/>
              </a:ext>
            </a:extLst>
          </p:cNvPr>
          <p:cNvSpPr>
            <a:spLocks xmlns:a="http://schemas.openxmlformats.org/drawingml/2006/main" noGrp="1"/>
          </p:cNvSpPr>
          <p:nvPr/>
        </p:nvSpPr>
        <p:spPr>
          <a:xfrm xmlns:a="http://schemas.openxmlformats.org/drawingml/2006/main">
            <a:off x="6877050" y="1924050"/>
            <a:ext cx="4476750" cy="609600"/>
          </a:xfrm>
          <a:prstGeom xmlns:a="http://schemas.openxmlformats.org/drawingml/2006/main" prst="roundRect">
            <a:avLst>
              <a:gd name="adj" fmla="val 10938"/>
            </a:avLst>
          </a:prstGeom>
          <a:solidFill xmlns:a="http://schemas.openxmlformats.org/drawingml/2006/main">
            <a:srgbClr val="FCEEEA"/>
          </a:solidFill>
          <a:ln xmlns:a="http://schemas.openxmlformats.org/drawingml/2006/main" w="11430">
            <a:solidFill>
              <a:srgbClr val="E76F51"/>
            </a:solidFill>
            <a:prstDash val="solid"/>
          </a:ln>
        </p:spPr>
      </p:sp>
      <p:sp>
        <p:nvSpPr>
          <p:cNvPr id="12" name="">
            <a:extLst xmlns:a="http://schemas.openxmlformats.org/drawingml/2006/main">
              <a:ext uri="{FF2B5EF4-FFF2-40B4-BE49-F238E27FC236}">
                <a16:creationId xmlns:a16="http://schemas.microsoft.com/office/drawing/2014/main" id="{F1018C57-28E1-4440-B72D-290612D4465B}"/>
              </a:ext>
            </a:extLst>
          </p:cNvPr>
          <p:cNvSpPr>
            <a:spLocks xmlns:a="http://schemas.openxmlformats.org/drawingml/2006/main" noGrp="1"/>
          </p:cNvSpPr>
          <p:nvPr/>
        </p:nvSpPr>
        <p:spPr>
          <a:xfrm xmlns:a="http://schemas.openxmlformats.org/drawingml/2006/main">
            <a:off x="7029450" y="20002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Pre-specified protocol</a:t>
            </a:r>
          </a:p>
        </p:txBody>
      </p:sp>
      <p:sp>
        <p:nvSpPr>
          <p:cNvPr id="13" name="">
            <a:extLst xmlns:a="http://schemas.openxmlformats.org/drawingml/2006/main">
              <a:ext uri="{FF2B5EF4-FFF2-40B4-BE49-F238E27FC236}">
                <a16:creationId xmlns:a16="http://schemas.microsoft.com/office/drawing/2014/main" id="{1F9B8142-6A54-4023-BCCE-7D86A8090582}"/>
              </a:ext>
            </a:extLst>
          </p:cNvPr>
          <p:cNvSpPr>
            <a:spLocks xmlns:a="http://schemas.openxmlformats.org/drawingml/2006/main" noGrp="1"/>
          </p:cNvSpPr>
          <p:nvPr/>
        </p:nvSpPr>
        <p:spPr>
          <a:xfrm xmlns:a="http://schemas.openxmlformats.org/drawingml/2006/main">
            <a:off x="2724150" y="2505075"/>
            <a:ext cx="685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7326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a:t>
            </a:r>
          </a:p>
        </p:txBody>
      </p:sp>
      <p:sp>
        <p:nvSpPr>
          <p:cNvPr id="14" name="">
            <a:extLst xmlns:a="http://schemas.openxmlformats.org/drawingml/2006/main">
              <a:ext uri="{FF2B5EF4-FFF2-40B4-BE49-F238E27FC236}">
                <a16:creationId xmlns:a16="http://schemas.microsoft.com/office/drawing/2014/main" id="{EEF6E43E-1B53-40BA-AA8F-250FDD8691FD}"/>
              </a:ext>
            </a:extLst>
          </p:cNvPr>
          <p:cNvSpPr>
            <a:spLocks xmlns:a="http://schemas.openxmlformats.org/drawingml/2006/main" noGrp="1"/>
          </p:cNvSpPr>
          <p:nvPr/>
        </p:nvSpPr>
        <p:spPr>
          <a:xfrm xmlns:a="http://schemas.openxmlformats.org/drawingml/2006/main">
            <a:off x="8763000" y="2505075"/>
            <a:ext cx="685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7326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15" name="">
            <a:extLst xmlns:a="http://schemas.openxmlformats.org/drawingml/2006/main">
              <a:ext uri="{FF2B5EF4-FFF2-40B4-BE49-F238E27FC236}">
                <a16:creationId xmlns:a16="http://schemas.microsoft.com/office/drawing/2014/main" id="{64D2361B-060F-4D25-88E6-89E535297AEE}"/>
              </a:ext>
            </a:extLst>
          </p:cNvPr>
          <p:cNvSpPr>
            <a:spLocks xmlns:a="http://schemas.openxmlformats.org/drawingml/2006/main" noGrp="1"/>
          </p:cNvSpPr>
          <p:nvPr/>
        </p:nvSpPr>
        <p:spPr>
          <a:xfrm xmlns:a="http://schemas.openxmlformats.org/drawingml/2006/main">
            <a:off x="838200" y="2800350"/>
            <a:ext cx="4476750" cy="781050"/>
          </a:xfrm>
          <a:prstGeom xmlns:a="http://schemas.openxmlformats.org/drawingml/2006/main" prst="roundRect">
            <a:avLst>
              <a:gd name="adj" fmla="val 8537"/>
            </a:avLst>
          </a:prstGeom>
          <a:solidFill xmlns:a="http://schemas.openxmlformats.org/drawingml/2006/main">
            <a:srgbClr val="E8F5F3"/>
          </a:solidFill>
          <a:ln xmlns:a="http://schemas.openxmlformats.org/drawingml/2006/main" w="11430">
            <a:solidFill>
              <a:srgbClr val="2A9D8F"/>
            </a:solidFill>
            <a:prstDash val="solid"/>
          </a:ln>
        </p:spPr>
      </p:sp>
      <p:sp>
        <p:nvSpPr>
          <p:cNvPr id="16" name="">
            <a:extLst xmlns:a="http://schemas.openxmlformats.org/drawingml/2006/main">
              <a:ext uri="{FF2B5EF4-FFF2-40B4-BE49-F238E27FC236}">
                <a16:creationId xmlns:a16="http://schemas.microsoft.com/office/drawing/2014/main" id="{6F4B3F2D-0EED-4CE1-83A9-02DB0E003E4C}"/>
              </a:ext>
            </a:extLst>
          </p:cNvPr>
          <p:cNvSpPr>
            <a:spLocks xmlns:a="http://schemas.openxmlformats.org/drawingml/2006/main" noGrp="1"/>
          </p:cNvSpPr>
          <p:nvPr/>
        </p:nvSpPr>
        <p:spPr>
          <a:xfrm xmlns:a="http://schemas.openxmlformats.org/drawingml/2006/main">
            <a:off x="990600" y="2876550"/>
            <a:ext cx="41719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43B53"/>
                </a:solidFill>
              </a:defRPr>
            </a:pPr>
            <a:r>
              <a:rPr sz="1350" b="1" i="0">
                <a:solidFill>
                  <a:srgbClr val="243B53"/>
                </a:solidFill>
              </a:rPr>
              <a:t>Bounded exhaustive validation</a:t>
            </a:r>
          </a:p>
          <a:p xmlns:a="http://schemas.openxmlformats.org/drawingml/2006/main">
            <a:pPr algn="ctr">
              <a:lnSpc>
                <a:spcPct val="105000"/>
              </a:lnSpc>
              <a:buNone/>
              <a:defRPr sz="1350" b="1" i="0">
                <a:solidFill>
                  <a:srgbClr val="243B53"/>
                </a:solidFill>
              </a:defRPr>
            </a:pPr>
            <a:r>
              <a:rPr sz="1350" b="1" i="0">
                <a:solidFill>
                  <a:srgbClr val="243B53"/>
                </a:solidFill>
              </a:rPr>
              <a:t>2,074 oracle-valid permutations, n ≤ 8</a:t>
            </a:r>
          </a:p>
        </p:txBody>
      </p:sp>
      <p:sp>
        <p:nvSpPr>
          <p:cNvPr id="17" name="">
            <a:extLst xmlns:a="http://schemas.openxmlformats.org/drawingml/2006/main">
              <a:ext uri="{FF2B5EF4-FFF2-40B4-BE49-F238E27FC236}">
                <a16:creationId xmlns:a16="http://schemas.microsoft.com/office/drawing/2014/main" id="{FDA845BD-3B9E-4C5C-A54E-6C9929D5C2F4}"/>
              </a:ext>
            </a:extLst>
          </p:cNvPr>
          <p:cNvSpPr>
            <a:spLocks xmlns:a="http://schemas.openxmlformats.org/drawingml/2006/main" noGrp="1"/>
          </p:cNvSpPr>
          <p:nvPr/>
        </p:nvSpPr>
        <p:spPr>
          <a:xfrm xmlns:a="http://schemas.openxmlformats.org/drawingml/2006/main">
            <a:off x="6877050" y="2800350"/>
            <a:ext cx="4476750" cy="609600"/>
          </a:xfrm>
          <a:prstGeom xmlns:a="http://schemas.openxmlformats.org/drawingml/2006/main" prst="roundRect">
            <a:avLst>
              <a:gd name="adj" fmla="val 10938"/>
            </a:avLst>
          </a:prstGeom>
          <a:solidFill xmlns:a="http://schemas.openxmlformats.org/drawingml/2006/main">
            <a:srgbClr val="FCEEEA"/>
          </a:solidFill>
          <a:ln xmlns:a="http://schemas.openxmlformats.org/drawingml/2006/main" w="11430">
            <a:solidFill>
              <a:srgbClr val="E76F51"/>
            </a:solidFill>
            <a:prstDash val="solid"/>
          </a:ln>
        </p:spPr>
      </p:sp>
      <p:sp>
        <p:nvSpPr>
          <p:cNvPr id="18" name="">
            <a:extLst xmlns:a="http://schemas.openxmlformats.org/drawingml/2006/main">
              <a:ext uri="{FF2B5EF4-FFF2-40B4-BE49-F238E27FC236}">
                <a16:creationId xmlns:a16="http://schemas.microsoft.com/office/drawing/2014/main" id="{15E88922-4C23-4B23-AB96-289A85274274}"/>
              </a:ext>
            </a:extLst>
          </p:cNvPr>
          <p:cNvSpPr>
            <a:spLocks xmlns:a="http://schemas.openxmlformats.org/drawingml/2006/main" noGrp="1"/>
          </p:cNvSpPr>
          <p:nvPr/>
        </p:nvSpPr>
        <p:spPr>
          <a:xfrm xmlns:a="http://schemas.openxmlformats.org/drawingml/2006/main">
            <a:off x="7029450" y="28765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Manifest-bound archive</a:t>
            </a:r>
          </a:p>
        </p:txBody>
      </p:sp>
      <p:sp>
        <p:nvSpPr>
          <p:cNvPr id="19" name="">
            <a:extLst xmlns:a="http://schemas.openxmlformats.org/drawingml/2006/main">
              <a:ext uri="{FF2B5EF4-FFF2-40B4-BE49-F238E27FC236}">
                <a16:creationId xmlns:a16="http://schemas.microsoft.com/office/drawing/2014/main" id="{714FF898-2FA2-4322-829A-4A8948FEC094}"/>
              </a:ext>
            </a:extLst>
          </p:cNvPr>
          <p:cNvSpPr>
            <a:spLocks xmlns:a="http://schemas.openxmlformats.org/drawingml/2006/main" noGrp="1"/>
          </p:cNvSpPr>
          <p:nvPr/>
        </p:nvSpPr>
        <p:spPr>
          <a:xfrm xmlns:a="http://schemas.openxmlformats.org/drawingml/2006/main">
            <a:off x="2724150" y="3552825"/>
            <a:ext cx="685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7326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a:t>
            </a:r>
          </a:p>
        </p:txBody>
      </p:sp>
      <p:sp>
        <p:nvSpPr>
          <p:cNvPr id="20" name="">
            <a:extLst xmlns:a="http://schemas.openxmlformats.org/drawingml/2006/main">
              <a:ext uri="{FF2B5EF4-FFF2-40B4-BE49-F238E27FC236}">
                <a16:creationId xmlns:a16="http://schemas.microsoft.com/office/drawing/2014/main" id="{316E73D2-3E6F-43D0-9DBD-E263708E60EF}"/>
              </a:ext>
            </a:extLst>
          </p:cNvPr>
          <p:cNvSpPr>
            <a:spLocks xmlns:a="http://schemas.openxmlformats.org/drawingml/2006/main" noGrp="1"/>
          </p:cNvSpPr>
          <p:nvPr/>
        </p:nvSpPr>
        <p:spPr>
          <a:xfrm xmlns:a="http://schemas.openxmlformats.org/drawingml/2006/main">
            <a:off x="8763000" y="3381375"/>
            <a:ext cx="685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7326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21" name="">
            <a:extLst xmlns:a="http://schemas.openxmlformats.org/drawingml/2006/main">
              <a:ext uri="{FF2B5EF4-FFF2-40B4-BE49-F238E27FC236}">
                <a16:creationId xmlns:a16="http://schemas.microsoft.com/office/drawing/2014/main" id="{CCE030A7-93DA-4ED0-A3FB-A295E17FB8CF}"/>
              </a:ext>
            </a:extLst>
          </p:cNvPr>
          <p:cNvSpPr>
            <a:spLocks xmlns:a="http://schemas.openxmlformats.org/drawingml/2006/main" noGrp="1"/>
          </p:cNvSpPr>
          <p:nvPr/>
        </p:nvSpPr>
        <p:spPr>
          <a:xfrm xmlns:a="http://schemas.openxmlformats.org/drawingml/2006/main">
            <a:off x="838200" y="3829050"/>
            <a:ext cx="4476750" cy="609600"/>
          </a:xfrm>
          <a:prstGeom xmlns:a="http://schemas.openxmlformats.org/drawingml/2006/main" prst="roundRect">
            <a:avLst>
              <a:gd name="adj" fmla="val 10938"/>
            </a:avLst>
          </a:prstGeom>
          <a:solidFill xmlns:a="http://schemas.openxmlformats.org/drawingml/2006/main">
            <a:srgbClr val="E8F5F3"/>
          </a:solidFill>
          <a:ln xmlns:a="http://schemas.openxmlformats.org/drawingml/2006/main" w="11430">
            <a:solidFill>
              <a:srgbClr val="2A9D8F"/>
            </a:solidFill>
            <a:prstDash val="solid"/>
          </a:ln>
        </p:spPr>
      </p:sp>
      <p:sp>
        <p:nvSpPr>
          <p:cNvPr id="22" name="">
            <a:extLst xmlns:a="http://schemas.openxmlformats.org/drawingml/2006/main">
              <a:ext uri="{FF2B5EF4-FFF2-40B4-BE49-F238E27FC236}">
                <a16:creationId xmlns:a16="http://schemas.microsoft.com/office/drawing/2014/main" id="{A8A1CCD9-DB2A-4D62-8452-8565060AA5AE}"/>
              </a:ext>
            </a:extLst>
          </p:cNvPr>
          <p:cNvSpPr>
            <a:spLocks xmlns:a="http://schemas.openxmlformats.org/drawingml/2006/main" noGrp="1"/>
          </p:cNvSpPr>
          <p:nvPr/>
        </p:nvSpPr>
        <p:spPr>
          <a:xfrm xmlns:a="http://schemas.openxmlformats.org/drawingml/2006/main">
            <a:off x="990600" y="39052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Checked-state audits</a:t>
            </a:r>
          </a:p>
        </p:txBody>
      </p:sp>
      <p:sp>
        <p:nvSpPr>
          <p:cNvPr id="23" name="">
            <a:extLst xmlns:a="http://schemas.openxmlformats.org/drawingml/2006/main">
              <a:ext uri="{FF2B5EF4-FFF2-40B4-BE49-F238E27FC236}">
                <a16:creationId xmlns:a16="http://schemas.microsoft.com/office/drawing/2014/main" id="{25E47573-43D2-4B72-98C3-BD3F15DC1C30}"/>
              </a:ext>
            </a:extLst>
          </p:cNvPr>
          <p:cNvSpPr>
            <a:spLocks xmlns:a="http://schemas.openxmlformats.org/drawingml/2006/main" noGrp="1"/>
          </p:cNvSpPr>
          <p:nvPr/>
        </p:nvSpPr>
        <p:spPr>
          <a:xfrm xmlns:a="http://schemas.openxmlformats.org/drawingml/2006/main">
            <a:off x="6877050" y="3829050"/>
            <a:ext cx="4476750" cy="781050"/>
          </a:xfrm>
          <a:prstGeom xmlns:a="http://schemas.openxmlformats.org/drawingml/2006/main" prst="roundRect">
            <a:avLst>
              <a:gd name="adj" fmla="val 8537"/>
            </a:avLst>
          </a:prstGeom>
          <a:solidFill xmlns:a="http://schemas.openxmlformats.org/drawingml/2006/main">
            <a:srgbClr val="FCEEEA"/>
          </a:solidFill>
          <a:ln xmlns:a="http://schemas.openxmlformats.org/drawingml/2006/main" w="11430">
            <a:solidFill>
              <a:srgbClr val="E76F51"/>
            </a:solidFill>
            <a:prstDash val="solid"/>
          </a:ln>
        </p:spPr>
      </p:sp>
      <p:sp>
        <p:nvSpPr>
          <p:cNvPr id="24" name="">
            <a:extLst xmlns:a="http://schemas.openxmlformats.org/drawingml/2006/main">
              <a:ext uri="{FF2B5EF4-FFF2-40B4-BE49-F238E27FC236}">
                <a16:creationId xmlns:a16="http://schemas.microsoft.com/office/drawing/2014/main" id="{86BFADAA-B675-47AC-81E1-48934210F1B8}"/>
              </a:ext>
            </a:extLst>
          </p:cNvPr>
          <p:cNvSpPr>
            <a:spLocks xmlns:a="http://schemas.openxmlformats.org/drawingml/2006/main" noGrp="1"/>
          </p:cNvSpPr>
          <p:nvPr/>
        </p:nvSpPr>
        <p:spPr>
          <a:xfrm xmlns:a="http://schemas.openxmlformats.org/drawingml/2006/main">
            <a:off x="7029450" y="3905250"/>
            <a:ext cx="41719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43B53"/>
                </a:solidFill>
              </a:defRPr>
            </a:pPr>
            <a:r>
              <a:rPr sz="1350" b="1" i="0">
                <a:solidFill>
                  <a:srgbClr val="243B53"/>
                </a:solidFill>
              </a:rPr>
              <a:t>Schema, schedule, count, and hash checks</a:t>
            </a:r>
          </a:p>
        </p:txBody>
      </p:sp>
      <p:sp>
        <p:nvSpPr>
          <p:cNvPr id="25" name="">
            <a:extLst xmlns:a="http://schemas.openxmlformats.org/drawingml/2006/main">
              <a:ext uri="{FF2B5EF4-FFF2-40B4-BE49-F238E27FC236}">
                <a16:creationId xmlns:a16="http://schemas.microsoft.com/office/drawing/2014/main" id="{7DFE2EFF-ABD4-4A6B-9E6F-66103C41F441}"/>
              </a:ext>
            </a:extLst>
          </p:cNvPr>
          <p:cNvSpPr>
            <a:spLocks xmlns:a="http://schemas.openxmlformats.org/drawingml/2006/main" noGrp="1"/>
          </p:cNvSpPr>
          <p:nvPr/>
        </p:nvSpPr>
        <p:spPr>
          <a:xfrm xmlns:a="http://schemas.openxmlformats.org/drawingml/2006/main">
            <a:off x="2724150" y="4410075"/>
            <a:ext cx="685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7326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a:t>
            </a:r>
          </a:p>
        </p:txBody>
      </p:sp>
      <p:sp>
        <p:nvSpPr>
          <p:cNvPr id="26" name="">
            <a:extLst xmlns:a="http://schemas.openxmlformats.org/drawingml/2006/main">
              <a:ext uri="{FF2B5EF4-FFF2-40B4-BE49-F238E27FC236}">
                <a16:creationId xmlns:a16="http://schemas.microsoft.com/office/drawing/2014/main" id="{DCDBB88E-9897-4AC7-A8D8-2D0C358C8D1F}"/>
              </a:ext>
            </a:extLst>
          </p:cNvPr>
          <p:cNvSpPr>
            <a:spLocks xmlns:a="http://schemas.openxmlformats.org/drawingml/2006/main" noGrp="1"/>
          </p:cNvSpPr>
          <p:nvPr/>
        </p:nvSpPr>
        <p:spPr>
          <a:xfrm xmlns:a="http://schemas.openxmlformats.org/drawingml/2006/main">
            <a:off x="8763000" y="4581525"/>
            <a:ext cx="685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7326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27" name="">
            <a:extLst xmlns:a="http://schemas.openxmlformats.org/drawingml/2006/main">
              <a:ext uri="{FF2B5EF4-FFF2-40B4-BE49-F238E27FC236}">
                <a16:creationId xmlns:a16="http://schemas.microsoft.com/office/drawing/2014/main" id="{AD7B6672-FB8F-4AD3-AEC9-93B198A09C17}"/>
              </a:ext>
            </a:extLst>
          </p:cNvPr>
          <p:cNvSpPr>
            <a:spLocks xmlns:a="http://schemas.openxmlformats.org/drawingml/2006/main" noGrp="1"/>
          </p:cNvSpPr>
          <p:nvPr/>
        </p:nvSpPr>
        <p:spPr>
          <a:xfrm xmlns:a="http://schemas.openxmlformats.org/drawingml/2006/main">
            <a:off x="838200" y="4705350"/>
            <a:ext cx="4476750" cy="609600"/>
          </a:xfrm>
          <a:prstGeom xmlns:a="http://schemas.openxmlformats.org/drawingml/2006/main" prst="roundRect">
            <a:avLst>
              <a:gd name="adj" fmla="val 10938"/>
            </a:avLst>
          </a:prstGeom>
          <a:solidFill xmlns:a="http://schemas.openxmlformats.org/drawingml/2006/main">
            <a:srgbClr val="E8F5F3"/>
          </a:solidFill>
          <a:ln xmlns:a="http://schemas.openxmlformats.org/drawingml/2006/main" w="11430">
            <a:solidFill>
              <a:srgbClr val="2A9D8F"/>
            </a:solidFill>
            <a:prstDash val="solid"/>
          </a:ln>
        </p:spPr>
      </p:sp>
      <p:sp>
        <p:nvSpPr>
          <p:cNvPr id="28" name="">
            <a:extLst xmlns:a="http://schemas.openxmlformats.org/drawingml/2006/main">
              <a:ext uri="{FF2B5EF4-FFF2-40B4-BE49-F238E27FC236}">
                <a16:creationId xmlns:a16="http://schemas.microsoft.com/office/drawing/2014/main" id="{B7C750BD-53D1-4D53-BD62-DC088761E3B6}"/>
              </a:ext>
            </a:extLst>
          </p:cNvPr>
          <p:cNvSpPr>
            <a:spLocks xmlns:a="http://schemas.openxmlformats.org/drawingml/2006/main" noGrp="1"/>
          </p:cNvSpPr>
          <p:nvPr/>
        </p:nvSpPr>
        <p:spPr>
          <a:xfrm xmlns:a="http://schemas.openxmlformats.org/drawingml/2006/main">
            <a:off x="990600" y="47815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Same-core deterministic replay</a:t>
            </a:r>
          </a:p>
        </p:txBody>
      </p:sp>
      <p:sp>
        <p:nvSpPr>
          <p:cNvPr id="29" name="">
            <a:extLst xmlns:a="http://schemas.openxmlformats.org/drawingml/2006/main">
              <a:ext uri="{FF2B5EF4-FFF2-40B4-BE49-F238E27FC236}">
                <a16:creationId xmlns:a16="http://schemas.microsoft.com/office/drawing/2014/main" id="{C6F30508-B3A6-45F6-9BF9-5D173C37226A}"/>
              </a:ext>
            </a:extLst>
          </p:cNvPr>
          <p:cNvSpPr>
            <a:spLocks xmlns:a="http://schemas.openxmlformats.org/drawingml/2006/main" noGrp="1"/>
          </p:cNvSpPr>
          <p:nvPr/>
        </p:nvSpPr>
        <p:spPr>
          <a:xfrm xmlns:a="http://schemas.openxmlformats.org/drawingml/2006/main">
            <a:off x="6877050" y="4705350"/>
            <a:ext cx="4476750" cy="609600"/>
          </a:xfrm>
          <a:prstGeom xmlns:a="http://schemas.openxmlformats.org/drawingml/2006/main" prst="roundRect">
            <a:avLst>
              <a:gd name="adj" fmla="val 10938"/>
            </a:avLst>
          </a:prstGeom>
          <a:solidFill xmlns:a="http://schemas.openxmlformats.org/drawingml/2006/main">
            <a:srgbClr val="FCEEEA"/>
          </a:solidFill>
          <a:ln xmlns:a="http://schemas.openxmlformats.org/drawingml/2006/main" w="11430">
            <a:solidFill>
              <a:srgbClr val="E76F51"/>
            </a:solidFill>
            <a:prstDash val="solid"/>
          </a:ln>
        </p:spPr>
      </p:sp>
      <p:sp>
        <p:nvSpPr>
          <p:cNvPr id="30" name="">
            <a:extLst xmlns:a="http://schemas.openxmlformats.org/drawingml/2006/main">
              <a:ext uri="{FF2B5EF4-FFF2-40B4-BE49-F238E27FC236}">
                <a16:creationId xmlns:a16="http://schemas.microsoft.com/office/drawing/2014/main" id="{E7B8475D-8C0B-4AA1-BEC3-4C095858B15D}"/>
              </a:ext>
            </a:extLst>
          </p:cNvPr>
          <p:cNvSpPr>
            <a:spLocks xmlns:a="http://schemas.openxmlformats.org/drawingml/2006/main" noGrp="1"/>
          </p:cNvSpPr>
          <p:nvPr/>
        </p:nvSpPr>
        <p:spPr>
          <a:xfrm xmlns:a="http://schemas.openxmlformats.org/drawingml/2006/main">
            <a:off x="7029450" y="47815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Separate evidence-contract validation</a:t>
            </a:r>
          </a:p>
        </p:txBody>
      </p:sp>
      <p:sp>
        <p:nvSpPr>
          <p:cNvPr id="31" name="">
            <a:extLst xmlns:a="http://schemas.openxmlformats.org/drawingml/2006/main">
              <a:ext uri="{FF2B5EF4-FFF2-40B4-BE49-F238E27FC236}">
                <a16:creationId xmlns:a16="http://schemas.microsoft.com/office/drawing/2014/main" id="{7EAE8468-4E2A-4C66-9B7E-530B391F22B0}"/>
              </a:ext>
            </a:extLst>
          </p:cNvPr>
          <p:cNvSpPr>
            <a:spLocks xmlns:a="http://schemas.openxmlformats.org/drawingml/2006/main" noGrp="1"/>
          </p:cNvSpPr>
          <p:nvPr/>
        </p:nvSpPr>
        <p:spPr>
          <a:xfrm xmlns:a="http://schemas.openxmlformats.org/drawingml/2006/main">
            <a:off x="1333500" y="5810250"/>
            <a:ext cx="952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75" b="1" i="0">
                <a:solidFill>
                  <a:srgbClr val="102A43"/>
                </a:solidFill>
              </a:defRPr>
            </a:pPr>
            <a:r>
              <a:rPr sz="1575" b="1" i="0">
                <a:solidFill>
                  <a:srgbClr val="102A43"/>
                </a:solidFill>
              </a:rPr>
              <a:t>Together: bounded correctness evidence and a reproducible evidence chain—not a universal proof.</a:t>
            </a:r>
          </a:p>
        </p:txBody>
      </p:sp>
    </p:spTree>
    <p:extLst>
      <p:ext uri="{BB962C8B-B14F-4D97-AF65-F5344CB8AC3E}">
        <p14:creationId xmlns:p14="http://schemas.microsoft.com/office/powerpoint/2010/main" val="674746864"/>
      </p:ext>
    </p:extLst>
  </p:cSld>
</p:sld>
</file>

<file path=ppt/slides/slide1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7513CB37-DA34-4751-88AB-218061CF302E}"/>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EXPERIMENTAL METHOD</a:t>
            </a:r>
          </a:p>
        </p:txBody>
      </p:sp>
      <p:sp>
        <p:nvSpPr>
          <p:cNvPr id="2" name="">
            <a:extLst xmlns:a="http://schemas.openxmlformats.org/drawingml/2006/main">
              <a:ext uri="{FF2B5EF4-FFF2-40B4-BE49-F238E27FC236}">
                <a16:creationId xmlns:a16="http://schemas.microsoft.com/office/drawing/2014/main" id="{85AEC88A-EFF0-43DA-A58E-B87C1A40FABC}"/>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1421"/>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The formal experiment keeps certification and audit outside paper timing</a:t>
            </a:r>
          </a:p>
        </p:txBody>
      </p:sp>
      <p:sp>
        <p:nvSpPr>
          <p:cNvPr id="3" name="">
            <a:extLst xmlns:a="http://schemas.openxmlformats.org/drawingml/2006/main">
              <a:ext uri="{FF2B5EF4-FFF2-40B4-BE49-F238E27FC236}">
                <a16:creationId xmlns:a16="http://schemas.microsoft.com/office/drawing/2014/main" id="{32DAE531-EA4D-4099-BF4B-3F1A3F9B49C3}"/>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F14BA395-BE0A-4CEB-AD20-FBD5B0CB1AF6}"/>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6CB9FA0F-BB4F-4BCF-89E1-B0BD76709AAA}"/>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CB40EB72-74A2-4179-85E3-779D64FC2848}"/>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12 / 16</a:t>
            </a:r>
          </a:p>
        </p:txBody>
      </p:sp>
      <p:sp>
        <p:nvSpPr>
          <p:cNvPr id="7" name="">
            <a:extLst xmlns:a="http://schemas.openxmlformats.org/drawingml/2006/main">
              <a:ext uri="{FF2B5EF4-FFF2-40B4-BE49-F238E27FC236}">
                <a16:creationId xmlns:a16="http://schemas.microsoft.com/office/drawing/2014/main" id="{626BBE21-D32F-40B1-B05A-4D23DEF22A96}"/>
              </a:ext>
            </a:extLst>
          </p:cNvPr>
          <p:cNvSpPr>
            <a:spLocks xmlns:a="http://schemas.openxmlformats.org/drawingml/2006/main" noGrp="1"/>
          </p:cNvSpPr>
          <p:nvPr/>
        </p:nvSpPr>
        <p:spPr>
          <a:xfrm xmlns:a="http://schemas.openxmlformats.org/drawingml/2006/main">
            <a:off x="723900" y="1409700"/>
            <a:ext cx="10744200" cy="781050"/>
          </a:xfrm>
          <a:prstGeom xmlns:a="http://schemas.openxmlformats.org/drawingml/2006/main" prst="roundRect">
            <a:avLst>
              <a:gd name="adj" fmla="val 9756"/>
            </a:avLst>
          </a:prstGeom>
          <a:solidFill xmlns:a="http://schemas.openxmlformats.org/drawingml/2006/main">
            <a:srgbClr val="102A43"/>
          </a:solidFill>
          <a:ln xmlns:a="http://schemas.openxmlformats.org/drawingml/2006/main" w="11430">
            <a:solidFill>
              <a:srgbClr val="102A43"/>
            </a:solidFill>
            <a:prstDash val="solid"/>
          </a:ln>
        </p:spPr>
      </p:sp>
      <p:sp>
        <p:nvSpPr>
          <p:cNvPr id="8" name="">
            <a:extLst xmlns:a="http://schemas.openxmlformats.org/drawingml/2006/main">
              <a:ext uri="{FF2B5EF4-FFF2-40B4-BE49-F238E27FC236}">
                <a16:creationId xmlns:a16="http://schemas.microsoft.com/office/drawing/2014/main" id="{AFE1E696-1EAA-44AC-9EBE-349DBC716246}"/>
              </a:ext>
            </a:extLst>
          </p:cNvPr>
          <p:cNvSpPr>
            <a:spLocks xmlns:a="http://schemas.openxmlformats.org/drawingml/2006/main" noGrp="1"/>
          </p:cNvSpPr>
          <p:nvPr/>
        </p:nvSpPr>
        <p:spPr>
          <a:xfrm xmlns:a="http://schemas.openxmlformats.org/drawingml/2006/main">
            <a:off x="933450" y="1504950"/>
            <a:ext cx="69342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FFFFFF"/>
                </a:solidFill>
              </a:defRPr>
            </a:pPr>
            <a:r>
              <a:rPr sz="1725" b="1" i="0">
                <a:solidFill>
                  <a:srgbClr val="FFFFFF"/>
                </a:solidFill>
              </a:rPr>
              <a:t>5 sizes  ×  12 cases  ×  3 algorithms  ×  20 calls</a:t>
            </a:r>
          </a:p>
        </p:txBody>
      </p:sp>
      <p:sp>
        <p:nvSpPr>
          <p:cNvPr id="9" name="">
            <a:extLst xmlns:a="http://schemas.openxmlformats.org/drawingml/2006/main">
              <a:ext uri="{FF2B5EF4-FFF2-40B4-BE49-F238E27FC236}">
                <a16:creationId xmlns:a16="http://schemas.microsoft.com/office/drawing/2014/main" id="{61CF5983-0D24-409A-8414-E26BB58AEB54}"/>
              </a:ext>
            </a:extLst>
          </p:cNvPr>
          <p:cNvSpPr>
            <a:spLocks xmlns:a="http://schemas.openxmlformats.org/drawingml/2006/main" noGrp="1"/>
          </p:cNvSpPr>
          <p:nvPr/>
        </p:nvSpPr>
        <p:spPr>
          <a:xfrm xmlns:a="http://schemas.openxmlformats.org/drawingml/2006/main">
            <a:off x="8096250" y="1504950"/>
            <a:ext cx="3105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2A9D8F"/>
                </a:solidFill>
              </a:defRPr>
            </a:pPr>
            <a:r>
              <a:rPr sz="1875" b="1" i="0">
                <a:solidFill>
                  <a:srgbClr val="2A9D8F"/>
                </a:solidFill>
              </a:rPr>
              <a:t>3,600 measured rows</a:t>
            </a:r>
          </a:p>
        </p:txBody>
      </p:sp>
      <p:sp>
        <p:nvSpPr>
          <p:cNvPr id="10" name="">
            <a:extLst xmlns:a="http://schemas.openxmlformats.org/drawingml/2006/main">
              <a:ext uri="{FF2B5EF4-FFF2-40B4-BE49-F238E27FC236}">
                <a16:creationId xmlns:a16="http://schemas.microsoft.com/office/drawing/2014/main" id="{3F9F505A-199E-43D8-8C96-B3679D183978}"/>
              </a:ext>
            </a:extLst>
          </p:cNvPr>
          <p:cNvSpPr>
            <a:spLocks xmlns:a="http://schemas.openxmlformats.org/drawingml/2006/main" noGrp="1"/>
          </p:cNvSpPr>
          <p:nvPr/>
        </p:nvSpPr>
        <p:spPr>
          <a:xfrm xmlns:a="http://schemas.openxmlformats.org/drawingml/2006/main">
            <a:off x="7048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1" name="">
            <a:extLst xmlns:a="http://schemas.openxmlformats.org/drawingml/2006/main">
              <a:ext uri="{FF2B5EF4-FFF2-40B4-BE49-F238E27FC236}">
                <a16:creationId xmlns:a16="http://schemas.microsoft.com/office/drawing/2014/main" id="{FBF02961-B189-4A46-AD65-366F3E87D773}"/>
              </a:ext>
            </a:extLst>
          </p:cNvPr>
          <p:cNvSpPr>
            <a:spLocks xmlns:a="http://schemas.openxmlformats.org/drawingml/2006/main" noGrp="1"/>
          </p:cNvSpPr>
          <p:nvPr/>
        </p:nvSpPr>
        <p:spPr>
          <a:xfrm xmlns:a="http://schemas.openxmlformats.org/drawingml/2006/main">
            <a:off x="7810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Generate</a:t>
            </a:r>
          </a:p>
        </p:txBody>
      </p:sp>
      <p:sp>
        <p:nvSpPr>
          <p:cNvPr id="12" name="">
            <a:extLst xmlns:a="http://schemas.openxmlformats.org/drawingml/2006/main">
              <a:ext uri="{FF2B5EF4-FFF2-40B4-BE49-F238E27FC236}">
                <a16:creationId xmlns:a16="http://schemas.microsoft.com/office/drawing/2014/main" id="{DBB2E503-6EF9-497C-A58F-2C1CEE7A666B}"/>
              </a:ext>
            </a:extLst>
          </p:cNvPr>
          <p:cNvSpPr>
            <a:spLocks xmlns:a="http://schemas.openxmlformats.org/drawingml/2006/main" noGrp="1"/>
          </p:cNvSpPr>
          <p:nvPr/>
        </p:nvSpPr>
        <p:spPr>
          <a:xfrm xmlns:a="http://schemas.openxmlformats.org/drawingml/2006/main">
            <a:off x="22669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3" name="">
            <a:extLst xmlns:a="http://schemas.openxmlformats.org/drawingml/2006/main">
              <a:ext uri="{FF2B5EF4-FFF2-40B4-BE49-F238E27FC236}">
                <a16:creationId xmlns:a16="http://schemas.microsoft.com/office/drawing/2014/main" id="{BEE9872B-EE64-402E-B56B-32C93B1FC8E0}"/>
              </a:ext>
            </a:extLst>
          </p:cNvPr>
          <p:cNvSpPr>
            <a:spLocks xmlns:a="http://schemas.openxmlformats.org/drawingml/2006/main" noGrp="1"/>
          </p:cNvSpPr>
          <p:nvPr/>
        </p:nvSpPr>
        <p:spPr>
          <a:xfrm xmlns:a="http://schemas.openxmlformats.org/drawingml/2006/main">
            <a:off x="23431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Certify</a:t>
            </a:r>
          </a:p>
        </p:txBody>
      </p:sp>
      <p:sp>
        <p:nvSpPr>
          <p:cNvPr id="14" name="">
            <a:extLst xmlns:a="http://schemas.openxmlformats.org/drawingml/2006/main">
              <a:ext uri="{FF2B5EF4-FFF2-40B4-BE49-F238E27FC236}">
                <a16:creationId xmlns:a16="http://schemas.microsoft.com/office/drawing/2014/main" id="{2405ABC9-E819-410D-BE60-05CED788AC92}"/>
              </a:ext>
            </a:extLst>
          </p:cNvPr>
          <p:cNvSpPr>
            <a:spLocks xmlns:a="http://schemas.openxmlformats.org/drawingml/2006/main" noGrp="1"/>
          </p:cNvSpPr>
          <p:nvPr/>
        </p:nvSpPr>
        <p:spPr>
          <a:xfrm xmlns:a="http://schemas.openxmlformats.org/drawingml/2006/main">
            <a:off x="38290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5" name="">
            <a:extLst xmlns:a="http://schemas.openxmlformats.org/drawingml/2006/main">
              <a:ext uri="{FF2B5EF4-FFF2-40B4-BE49-F238E27FC236}">
                <a16:creationId xmlns:a16="http://schemas.microsoft.com/office/drawing/2014/main" id="{23C06668-2780-45A9-B13D-2EEECD0C7712}"/>
              </a:ext>
            </a:extLst>
          </p:cNvPr>
          <p:cNvSpPr>
            <a:spLocks xmlns:a="http://schemas.openxmlformats.org/drawingml/2006/main" noGrp="1"/>
          </p:cNvSpPr>
          <p:nvPr/>
        </p:nvSpPr>
        <p:spPr>
          <a:xfrm xmlns:a="http://schemas.openxmlformats.org/drawingml/2006/main">
            <a:off x="39052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125" b="1" i="0">
                <a:solidFill>
                  <a:srgbClr val="102A43"/>
                </a:solidFill>
              </a:defRPr>
            </a:pPr>
            <a:r>
              <a:rPr sz="1125" b="1" i="0">
                <a:solidFill>
                  <a:srgbClr val="102A43"/>
                </a:solidFill>
              </a:rPr>
              <a:t>Checked-state</a:t>
            </a:r>
          </a:p>
          <a:p xmlns:a="http://schemas.openxmlformats.org/drawingml/2006/main">
            <a:pPr algn="ctr">
              <a:lnSpc>
                <a:spcPct val="105000"/>
              </a:lnSpc>
              <a:buNone/>
              <a:defRPr sz="1125" b="1" i="0">
                <a:solidFill>
                  <a:srgbClr val="102A43"/>
                </a:solidFill>
              </a:defRPr>
            </a:pPr>
            <a:r>
              <a:rPr sz="1125" b="1" i="0">
                <a:solidFill>
                  <a:srgbClr val="102A43"/>
                </a:solidFill>
              </a:rPr>
              <a:t>audit</a:t>
            </a:r>
          </a:p>
        </p:txBody>
      </p:sp>
      <p:sp>
        <p:nvSpPr>
          <p:cNvPr id="16" name="">
            <a:extLst xmlns:a="http://schemas.openxmlformats.org/drawingml/2006/main">
              <a:ext uri="{FF2B5EF4-FFF2-40B4-BE49-F238E27FC236}">
                <a16:creationId xmlns:a16="http://schemas.microsoft.com/office/drawing/2014/main" id="{0D9768F3-4760-4F54-9AB5-831EDA8033A8}"/>
              </a:ext>
            </a:extLst>
          </p:cNvPr>
          <p:cNvSpPr>
            <a:spLocks xmlns:a="http://schemas.openxmlformats.org/drawingml/2006/main" noGrp="1"/>
          </p:cNvSpPr>
          <p:nvPr/>
        </p:nvSpPr>
        <p:spPr>
          <a:xfrm xmlns:a="http://schemas.openxmlformats.org/drawingml/2006/main">
            <a:off x="53911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7" name="">
            <a:extLst xmlns:a="http://schemas.openxmlformats.org/drawingml/2006/main">
              <a:ext uri="{FF2B5EF4-FFF2-40B4-BE49-F238E27FC236}">
                <a16:creationId xmlns:a16="http://schemas.microsoft.com/office/drawing/2014/main" id="{D470E525-8303-4625-9FFA-98198A5DFF99}"/>
              </a:ext>
            </a:extLst>
          </p:cNvPr>
          <p:cNvSpPr>
            <a:spLocks xmlns:a="http://schemas.openxmlformats.org/drawingml/2006/main" noGrp="1"/>
          </p:cNvSpPr>
          <p:nvPr/>
        </p:nvSpPr>
        <p:spPr>
          <a:xfrm xmlns:a="http://schemas.openxmlformats.org/drawingml/2006/main">
            <a:off x="54673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Warm-up</a:t>
            </a:r>
          </a:p>
        </p:txBody>
      </p:sp>
      <p:sp>
        <p:nvSpPr>
          <p:cNvPr id="18" name="">
            <a:extLst xmlns:a="http://schemas.openxmlformats.org/drawingml/2006/main">
              <a:ext uri="{FF2B5EF4-FFF2-40B4-BE49-F238E27FC236}">
                <a16:creationId xmlns:a16="http://schemas.microsoft.com/office/drawing/2014/main" id="{7671190D-773E-4E3B-A490-F55133B097B6}"/>
              </a:ext>
            </a:extLst>
          </p:cNvPr>
          <p:cNvSpPr>
            <a:spLocks xmlns:a="http://schemas.openxmlformats.org/drawingml/2006/main" noGrp="1"/>
          </p:cNvSpPr>
          <p:nvPr/>
        </p:nvSpPr>
        <p:spPr>
          <a:xfrm xmlns:a="http://schemas.openxmlformats.org/drawingml/2006/main">
            <a:off x="6953250" y="2647950"/>
            <a:ext cx="1295400" cy="781050"/>
          </a:xfrm>
          <a:prstGeom xmlns:a="http://schemas.openxmlformats.org/drawingml/2006/main" prst="roundRect">
            <a:avLst>
              <a:gd name="adj" fmla="val 8537"/>
            </a:avLst>
          </a:prstGeom>
          <a:solidFill xmlns:a="http://schemas.openxmlformats.org/drawingml/2006/main">
            <a:srgbClr val="FCEEEA"/>
          </a:solidFill>
          <a:ln xmlns:a="http://schemas.openxmlformats.org/drawingml/2006/main" w="19050">
            <a:solidFill>
              <a:srgbClr val="E76F51"/>
            </a:solidFill>
            <a:prstDash val="solid"/>
          </a:ln>
        </p:spPr>
      </p:sp>
      <p:sp>
        <p:nvSpPr>
          <p:cNvPr id="19" name="">
            <a:extLst xmlns:a="http://schemas.openxmlformats.org/drawingml/2006/main">
              <a:ext uri="{FF2B5EF4-FFF2-40B4-BE49-F238E27FC236}">
                <a16:creationId xmlns:a16="http://schemas.microsoft.com/office/drawing/2014/main" id="{28965313-1BE3-40BE-8873-B0B89494FEE3}"/>
              </a:ext>
            </a:extLst>
          </p:cNvPr>
          <p:cNvSpPr>
            <a:spLocks xmlns:a="http://schemas.openxmlformats.org/drawingml/2006/main" noGrp="1"/>
          </p:cNvSpPr>
          <p:nvPr/>
        </p:nvSpPr>
        <p:spPr>
          <a:xfrm xmlns:a="http://schemas.openxmlformats.org/drawingml/2006/main">
            <a:off x="70294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E76F51"/>
                </a:solidFill>
              </a:defRPr>
            </a:pPr>
            <a:r>
              <a:rPr sz="1350" b="1" i="0">
                <a:solidFill>
                  <a:srgbClr val="E76F51"/>
                </a:solidFill>
              </a:rPr>
              <a:t>Measure</a:t>
            </a:r>
          </a:p>
        </p:txBody>
      </p:sp>
      <p:sp>
        <p:nvSpPr>
          <p:cNvPr id="20" name="">
            <a:extLst xmlns:a="http://schemas.openxmlformats.org/drawingml/2006/main">
              <a:ext uri="{FF2B5EF4-FFF2-40B4-BE49-F238E27FC236}">
                <a16:creationId xmlns:a16="http://schemas.microsoft.com/office/drawing/2014/main" id="{50A879CC-45EC-4C47-A508-523E31749C8A}"/>
              </a:ext>
            </a:extLst>
          </p:cNvPr>
          <p:cNvSpPr>
            <a:spLocks xmlns:a="http://schemas.openxmlformats.org/drawingml/2006/main" noGrp="1"/>
          </p:cNvSpPr>
          <p:nvPr/>
        </p:nvSpPr>
        <p:spPr>
          <a:xfrm xmlns:a="http://schemas.openxmlformats.org/drawingml/2006/main">
            <a:off x="85153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21" name="">
            <a:extLst xmlns:a="http://schemas.openxmlformats.org/drawingml/2006/main">
              <a:ext uri="{FF2B5EF4-FFF2-40B4-BE49-F238E27FC236}">
                <a16:creationId xmlns:a16="http://schemas.microsoft.com/office/drawing/2014/main" id="{77D9F07F-BD45-407B-8B8F-65CD2DF7A598}"/>
              </a:ext>
            </a:extLst>
          </p:cNvPr>
          <p:cNvSpPr>
            <a:spLocks xmlns:a="http://schemas.openxmlformats.org/drawingml/2006/main" noGrp="1"/>
          </p:cNvSpPr>
          <p:nvPr/>
        </p:nvSpPr>
        <p:spPr>
          <a:xfrm xmlns:a="http://schemas.openxmlformats.org/drawingml/2006/main">
            <a:off x="85915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Aggregate</a:t>
            </a:r>
          </a:p>
        </p:txBody>
      </p:sp>
      <p:sp>
        <p:nvSpPr>
          <p:cNvPr id="22" name="">
            <a:extLst xmlns:a="http://schemas.openxmlformats.org/drawingml/2006/main">
              <a:ext uri="{FF2B5EF4-FFF2-40B4-BE49-F238E27FC236}">
                <a16:creationId xmlns:a16="http://schemas.microsoft.com/office/drawing/2014/main" id="{A5928DA0-978E-4180-86B2-6711DBDC4120}"/>
              </a:ext>
            </a:extLst>
          </p:cNvPr>
          <p:cNvSpPr>
            <a:spLocks xmlns:a="http://schemas.openxmlformats.org/drawingml/2006/main" noGrp="1"/>
          </p:cNvSpPr>
          <p:nvPr/>
        </p:nvSpPr>
        <p:spPr>
          <a:xfrm xmlns:a="http://schemas.openxmlformats.org/drawingml/2006/main">
            <a:off x="100774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23" name="">
            <a:extLst xmlns:a="http://schemas.openxmlformats.org/drawingml/2006/main">
              <a:ext uri="{FF2B5EF4-FFF2-40B4-BE49-F238E27FC236}">
                <a16:creationId xmlns:a16="http://schemas.microsoft.com/office/drawing/2014/main" id="{22ECAB2A-9BC3-43EB-A0B9-25728678A069}"/>
              </a:ext>
            </a:extLst>
          </p:cNvPr>
          <p:cNvSpPr>
            <a:spLocks xmlns:a="http://schemas.openxmlformats.org/drawingml/2006/main" noGrp="1"/>
          </p:cNvSpPr>
          <p:nvPr/>
        </p:nvSpPr>
        <p:spPr>
          <a:xfrm xmlns:a="http://schemas.openxmlformats.org/drawingml/2006/main">
            <a:off x="101536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Validate</a:t>
            </a:r>
          </a:p>
          <a:p xmlns:a="http://schemas.openxmlformats.org/drawingml/2006/main">
            <a:pPr algn="ctr">
              <a:lnSpc>
                <a:spcPct val="105000"/>
              </a:lnSpc>
              <a:buNone/>
              <a:defRPr sz="1350" b="1" i="0">
                <a:solidFill>
                  <a:srgbClr val="102A43"/>
                </a:solidFill>
              </a:defRPr>
            </a:pPr>
            <a:r>
              <a:rPr sz="1350" b="1" i="0">
                <a:solidFill>
                  <a:srgbClr val="102A43"/>
                </a:solidFill>
              </a:rPr>
              <a:t>and archive</a:t>
            </a:r>
          </a:p>
        </p:txBody>
      </p:sp>
      <p:cxnSp>
        <p:nvCxnSpPr>
          <p:cNvPr id="181" name=""/>
          <p:cNvCxnSpPr>
            <a:stCxn xmlns:a="http://schemas.openxmlformats.org/drawingml/2006/main" id="10" idx="3"/>
            <a:endCxn xmlns:a="http://schemas.openxmlformats.org/drawingml/2006/main" id="12" idx="1"/>
          </p:cNvCxnSpPr>
          <p:nvPr/>
        </p:nvCxnSpPr>
        <p:spPr>
          <a:xfrm xmlns:a="http://schemas.openxmlformats.org/drawingml/2006/main">
            <a:off x="20002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182" name=""/>
          <p:cNvCxnSpPr>
            <a:stCxn xmlns:a="http://schemas.openxmlformats.org/drawingml/2006/main" id="12" idx="3"/>
            <a:endCxn xmlns:a="http://schemas.openxmlformats.org/drawingml/2006/main" id="14" idx="1"/>
          </p:cNvCxnSpPr>
          <p:nvPr/>
        </p:nvCxnSpPr>
        <p:spPr>
          <a:xfrm xmlns:a="http://schemas.openxmlformats.org/drawingml/2006/main">
            <a:off x="35623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183" name=""/>
          <p:cNvCxnSpPr>
            <a:stCxn xmlns:a="http://schemas.openxmlformats.org/drawingml/2006/main" id="14" idx="3"/>
            <a:endCxn xmlns:a="http://schemas.openxmlformats.org/drawingml/2006/main" id="16" idx="1"/>
          </p:cNvCxnSpPr>
          <p:nvPr/>
        </p:nvCxnSpPr>
        <p:spPr>
          <a:xfrm xmlns:a="http://schemas.openxmlformats.org/drawingml/2006/main">
            <a:off x="51244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184" name=""/>
          <p:cNvCxnSpPr>
            <a:stCxn xmlns:a="http://schemas.openxmlformats.org/drawingml/2006/main" id="16" idx="3"/>
            <a:endCxn xmlns:a="http://schemas.openxmlformats.org/drawingml/2006/main" id="18" idx="1"/>
          </p:cNvCxnSpPr>
          <p:nvPr/>
        </p:nvCxnSpPr>
        <p:spPr>
          <a:xfrm xmlns:a="http://schemas.openxmlformats.org/drawingml/2006/main">
            <a:off x="66865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185" name=""/>
          <p:cNvCxnSpPr>
            <a:stCxn xmlns:a="http://schemas.openxmlformats.org/drawingml/2006/main" id="18" idx="3"/>
            <a:endCxn xmlns:a="http://schemas.openxmlformats.org/drawingml/2006/main" id="20" idx="1"/>
          </p:cNvCxnSpPr>
          <p:nvPr/>
        </p:nvCxnSpPr>
        <p:spPr>
          <a:xfrm xmlns:a="http://schemas.openxmlformats.org/drawingml/2006/main">
            <a:off x="82486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186" name=""/>
          <p:cNvCxnSpPr>
            <a:stCxn xmlns:a="http://schemas.openxmlformats.org/drawingml/2006/main" id="20" idx="3"/>
            <a:endCxn xmlns:a="http://schemas.openxmlformats.org/drawingml/2006/main" id="22" idx="1"/>
          </p:cNvCxnSpPr>
          <p:nvPr/>
        </p:nvCxnSpPr>
        <p:spPr>
          <a:xfrm xmlns:a="http://schemas.openxmlformats.org/drawingml/2006/main">
            <a:off x="98107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sp>
        <p:nvSpPr>
          <p:cNvPr id="30" name="">
            <a:extLst xmlns:a="http://schemas.openxmlformats.org/drawingml/2006/main">
              <a:ext uri="{FF2B5EF4-FFF2-40B4-BE49-F238E27FC236}">
                <a16:creationId xmlns:a16="http://schemas.microsoft.com/office/drawing/2014/main" id="{E202C37E-C549-473E-A259-B150B9D5699E}"/>
              </a:ext>
            </a:extLst>
          </p:cNvPr>
          <p:cNvSpPr>
            <a:spLocks xmlns:a="http://schemas.openxmlformats.org/drawingml/2006/main" noGrp="1"/>
          </p:cNvSpPr>
          <p:nvPr/>
        </p:nvSpPr>
        <p:spPr>
          <a:xfrm xmlns:a="http://schemas.openxmlformats.org/drawingml/2006/main">
            <a:off x="723900" y="3905250"/>
            <a:ext cx="3219450" cy="990600"/>
          </a:xfrm>
          <a:prstGeom xmlns:a="http://schemas.openxmlformats.org/drawingml/2006/main" prst="roundRect">
            <a:avLst>
              <a:gd name="adj" fmla="val 7692"/>
            </a:avLst>
          </a:prstGeom>
          <a:solidFill xmlns:a="http://schemas.openxmlformats.org/drawingml/2006/main">
            <a:srgbClr val="E8F5F3"/>
          </a:solidFill>
          <a:ln xmlns:a="http://schemas.openxmlformats.org/drawingml/2006/main" w="14288">
            <a:solidFill>
              <a:srgbClr val="2A9D8F"/>
            </a:solidFill>
            <a:prstDash val="solid"/>
          </a:ln>
        </p:spPr>
      </p:sp>
      <p:sp>
        <p:nvSpPr>
          <p:cNvPr id="31" name="">
            <a:extLst xmlns:a="http://schemas.openxmlformats.org/drawingml/2006/main">
              <a:ext uri="{FF2B5EF4-FFF2-40B4-BE49-F238E27FC236}">
                <a16:creationId xmlns:a16="http://schemas.microsoft.com/office/drawing/2014/main" id="{71205807-069E-4ACF-9BFA-CA4F68F8C2CA}"/>
              </a:ext>
            </a:extLst>
          </p:cNvPr>
          <p:cNvSpPr>
            <a:spLocks xmlns:a="http://schemas.openxmlformats.org/drawingml/2006/main" noGrp="1"/>
          </p:cNvSpPr>
          <p:nvPr/>
        </p:nvSpPr>
        <p:spPr>
          <a:xfrm xmlns:a="http://schemas.openxmlformats.org/drawingml/2006/main">
            <a:off x="876300" y="4038600"/>
            <a:ext cx="2914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Certification outside paper timing</a:t>
            </a:r>
          </a:p>
        </p:txBody>
      </p:sp>
      <p:sp>
        <p:nvSpPr>
          <p:cNvPr id="32" name="">
            <a:extLst xmlns:a="http://schemas.openxmlformats.org/drawingml/2006/main">
              <a:ext uri="{FF2B5EF4-FFF2-40B4-BE49-F238E27FC236}">
                <a16:creationId xmlns:a16="http://schemas.microsoft.com/office/drawing/2014/main" id="{BF133856-D029-46CA-A7C4-21C4CC1287FF}"/>
              </a:ext>
            </a:extLst>
          </p:cNvPr>
          <p:cNvSpPr>
            <a:spLocks xmlns:a="http://schemas.openxmlformats.org/drawingml/2006/main" noGrp="1"/>
          </p:cNvSpPr>
          <p:nvPr/>
        </p:nvSpPr>
        <p:spPr>
          <a:xfrm xmlns:a="http://schemas.openxmlformats.org/drawingml/2006/main">
            <a:off x="895350" y="4495800"/>
            <a:ext cx="2876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valid-input precondition</a:t>
            </a:r>
          </a:p>
        </p:txBody>
      </p:sp>
      <p:sp>
        <p:nvSpPr>
          <p:cNvPr id="33" name="">
            <a:extLst xmlns:a="http://schemas.openxmlformats.org/drawingml/2006/main">
              <a:ext uri="{FF2B5EF4-FFF2-40B4-BE49-F238E27FC236}">
                <a16:creationId xmlns:a16="http://schemas.microsoft.com/office/drawing/2014/main" id="{1C4ED589-E1D5-4A8C-A2F1-E0CE9E4CD3BA}"/>
              </a:ext>
            </a:extLst>
          </p:cNvPr>
          <p:cNvSpPr>
            <a:spLocks xmlns:a="http://schemas.openxmlformats.org/drawingml/2006/main" noGrp="1"/>
          </p:cNvSpPr>
          <p:nvPr/>
        </p:nvSpPr>
        <p:spPr>
          <a:xfrm xmlns:a="http://schemas.openxmlformats.org/drawingml/2006/main">
            <a:off x="4248150" y="3905250"/>
            <a:ext cx="3219450" cy="990600"/>
          </a:xfrm>
          <a:prstGeom xmlns:a="http://schemas.openxmlformats.org/drawingml/2006/main" prst="roundRect">
            <a:avLst>
              <a:gd name="adj" fmla="val 7692"/>
            </a:avLst>
          </a:prstGeom>
          <a:solidFill xmlns:a="http://schemas.openxmlformats.org/drawingml/2006/main">
            <a:srgbClr val="E8F5F3"/>
          </a:solidFill>
          <a:ln xmlns:a="http://schemas.openxmlformats.org/drawingml/2006/main" w="14288">
            <a:solidFill>
              <a:srgbClr val="2A9D8F"/>
            </a:solidFill>
            <a:prstDash val="solid"/>
          </a:ln>
        </p:spPr>
      </p:sp>
      <p:sp>
        <p:nvSpPr>
          <p:cNvPr id="34" name="">
            <a:extLst xmlns:a="http://schemas.openxmlformats.org/drawingml/2006/main">
              <a:ext uri="{FF2B5EF4-FFF2-40B4-BE49-F238E27FC236}">
                <a16:creationId xmlns:a16="http://schemas.microsoft.com/office/drawing/2014/main" id="{0D56A79E-3C0E-40C2-A0F8-E56B1B95AF68}"/>
              </a:ext>
            </a:extLst>
          </p:cNvPr>
          <p:cNvSpPr>
            <a:spLocks xmlns:a="http://schemas.openxmlformats.org/drawingml/2006/main" noGrp="1"/>
          </p:cNvSpPr>
          <p:nvPr/>
        </p:nvSpPr>
        <p:spPr>
          <a:xfrm xmlns:a="http://schemas.openxmlformats.org/drawingml/2006/main">
            <a:off x="4400550" y="4038600"/>
            <a:ext cx="2914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3774"/>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Checked-state audit outside paper timing</a:t>
            </a:r>
          </a:p>
        </p:txBody>
      </p:sp>
      <p:sp>
        <p:nvSpPr>
          <p:cNvPr id="35" name="">
            <a:extLst xmlns:a="http://schemas.openxmlformats.org/drawingml/2006/main">
              <a:ext uri="{FF2B5EF4-FFF2-40B4-BE49-F238E27FC236}">
                <a16:creationId xmlns:a16="http://schemas.microsoft.com/office/drawing/2014/main" id="{A7E6967C-C3F2-4372-A6A3-72ECC81B1DF3}"/>
              </a:ext>
            </a:extLst>
          </p:cNvPr>
          <p:cNvSpPr>
            <a:spLocks xmlns:a="http://schemas.openxmlformats.org/drawingml/2006/main" noGrp="1"/>
          </p:cNvSpPr>
          <p:nvPr/>
        </p:nvSpPr>
        <p:spPr>
          <a:xfrm xmlns:a="http://schemas.openxmlformats.org/drawingml/2006/main">
            <a:off x="4419600" y="4495800"/>
            <a:ext cx="2876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one audit per exact case</a:t>
            </a:r>
          </a:p>
        </p:txBody>
      </p:sp>
      <p:sp>
        <p:nvSpPr>
          <p:cNvPr id="36" name="">
            <a:extLst xmlns:a="http://schemas.openxmlformats.org/drawingml/2006/main">
              <a:ext uri="{FF2B5EF4-FFF2-40B4-BE49-F238E27FC236}">
                <a16:creationId xmlns:a16="http://schemas.microsoft.com/office/drawing/2014/main" id="{31DE5C6B-DECE-4C66-8AA9-9F946F9D6EF8}"/>
              </a:ext>
            </a:extLst>
          </p:cNvPr>
          <p:cNvSpPr>
            <a:spLocks xmlns:a="http://schemas.openxmlformats.org/drawingml/2006/main" noGrp="1"/>
          </p:cNvSpPr>
          <p:nvPr/>
        </p:nvSpPr>
        <p:spPr>
          <a:xfrm xmlns:a="http://schemas.openxmlformats.org/drawingml/2006/main">
            <a:off x="7772400" y="3905250"/>
            <a:ext cx="3219450" cy="990600"/>
          </a:xfrm>
          <a:prstGeom xmlns:a="http://schemas.openxmlformats.org/drawingml/2006/main" prst="roundRect">
            <a:avLst>
              <a:gd name="adj" fmla="val 7692"/>
            </a:avLst>
          </a:prstGeom>
          <a:solidFill xmlns:a="http://schemas.openxmlformats.org/drawingml/2006/main">
            <a:srgbClr val="FCEEEA"/>
          </a:solidFill>
          <a:ln xmlns:a="http://schemas.openxmlformats.org/drawingml/2006/main" w="14288">
            <a:solidFill>
              <a:srgbClr val="E76F51"/>
            </a:solidFill>
            <a:prstDash val="solid"/>
          </a:ln>
        </p:spPr>
      </p:sp>
      <p:sp>
        <p:nvSpPr>
          <p:cNvPr id="37" name="">
            <a:extLst xmlns:a="http://schemas.openxmlformats.org/drawingml/2006/main">
              <a:ext uri="{FF2B5EF4-FFF2-40B4-BE49-F238E27FC236}">
                <a16:creationId xmlns:a16="http://schemas.microsoft.com/office/drawing/2014/main" id="{C8434034-BDB1-4C52-AED5-C22E5C76D413}"/>
              </a:ext>
            </a:extLst>
          </p:cNvPr>
          <p:cNvSpPr>
            <a:spLocks xmlns:a="http://schemas.openxmlformats.org/drawingml/2006/main" noGrp="1"/>
          </p:cNvSpPr>
          <p:nvPr/>
        </p:nvSpPr>
        <p:spPr>
          <a:xfrm xmlns:a="http://schemas.openxmlformats.org/drawingml/2006/main">
            <a:off x="7924800" y="4038600"/>
            <a:ext cx="2914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E76F51"/>
                </a:solidFill>
              </a:defRPr>
            </a:pPr>
            <a:r>
              <a:rPr sz="1350" b="1" i="0">
                <a:solidFill>
                  <a:srgbClr val="E76F51"/>
                </a:solidFill>
              </a:rPr>
              <a:t>Minimal paper call inside timing</a:t>
            </a:r>
          </a:p>
        </p:txBody>
      </p:sp>
      <p:sp>
        <p:nvSpPr>
          <p:cNvPr id="38" name="">
            <a:extLst xmlns:a="http://schemas.openxmlformats.org/drawingml/2006/main">
              <a:ext uri="{FF2B5EF4-FFF2-40B4-BE49-F238E27FC236}">
                <a16:creationId xmlns:a16="http://schemas.microsoft.com/office/drawing/2014/main" id="{8DDFCE0F-57C8-4CB7-AB36-B0DAF29A725F}"/>
              </a:ext>
            </a:extLst>
          </p:cNvPr>
          <p:cNvSpPr>
            <a:spLocks xmlns:a="http://schemas.openxmlformats.org/drawingml/2006/main" noGrp="1"/>
          </p:cNvSpPr>
          <p:nvPr/>
        </p:nvSpPr>
        <p:spPr>
          <a:xfrm xmlns:a="http://schemas.openxmlformats.org/drawingml/2006/main">
            <a:off x="7943850" y="4495800"/>
            <a:ext cx="2876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output recovery remains timed</a:t>
            </a:r>
          </a:p>
        </p:txBody>
      </p:sp>
      <p:sp>
        <p:nvSpPr>
          <p:cNvPr id="39" name="">
            <a:extLst xmlns:a="http://schemas.openxmlformats.org/drawingml/2006/main">
              <a:ext uri="{FF2B5EF4-FFF2-40B4-BE49-F238E27FC236}">
                <a16:creationId xmlns:a16="http://schemas.microsoft.com/office/drawing/2014/main" id="{E0190A84-3B4B-4B68-96A0-2BA5EDE180FB}"/>
              </a:ext>
            </a:extLst>
          </p:cNvPr>
          <p:cNvSpPr>
            <a:spLocks xmlns:a="http://schemas.openxmlformats.org/drawingml/2006/main" noGrp="1"/>
          </p:cNvSpPr>
          <p:nvPr/>
        </p:nvSpPr>
        <p:spPr>
          <a:xfrm xmlns:a="http://schemas.openxmlformats.org/drawingml/2006/main">
            <a:off x="1143000" y="5124450"/>
            <a:ext cx="990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Reference timing includes its complete oracle-backed pipeline; Python timing covers its complete sorting call.</a:t>
            </a:r>
          </a:p>
        </p:txBody>
      </p:sp>
      <p:sp>
        <p:nvSpPr>
          <p:cNvPr id="40" name="">
            <a:extLst xmlns:a="http://schemas.openxmlformats.org/drawingml/2006/main">
              <a:ext uri="{FF2B5EF4-FFF2-40B4-BE49-F238E27FC236}">
                <a16:creationId xmlns:a16="http://schemas.microsoft.com/office/drawing/2014/main" id="{FFCCBD22-FAAE-4FBE-B581-D26DB2E213F8}"/>
              </a:ext>
            </a:extLst>
          </p:cNvPr>
          <p:cNvSpPr>
            <a:spLocks xmlns:a="http://schemas.openxmlformats.org/drawingml/2006/main" noGrp="1"/>
          </p:cNvSpPr>
          <p:nvPr/>
        </p:nvSpPr>
        <p:spPr>
          <a:xfrm xmlns:a="http://schemas.openxmlformats.org/drawingml/2006/main">
            <a:off x="2019300" y="5581650"/>
            <a:ext cx="8153400" cy="495300"/>
          </a:xfrm>
          <a:prstGeom xmlns:a="http://schemas.openxmlformats.org/drawingml/2006/main" prst="roundRect">
            <a:avLst>
              <a:gd name="adj" fmla="val 11538"/>
            </a:avLst>
          </a:prstGeom>
          <a:solidFill xmlns:a="http://schemas.openxmlformats.org/drawingml/2006/main">
            <a:srgbClr val="FCEEEA"/>
          </a:solidFill>
          <a:ln xmlns:a="http://schemas.openxmlformats.org/drawingml/2006/main" w="14288">
            <a:solidFill>
              <a:srgbClr val="E76F51"/>
            </a:solidFill>
            <a:prstDash val="solid"/>
          </a:ln>
        </p:spPr>
      </p:sp>
      <p:sp>
        <p:nvSpPr>
          <p:cNvPr id="41" name="">
            <a:extLst xmlns:a="http://schemas.openxmlformats.org/drawingml/2006/main">
              <a:ext uri="{FF2B5EF4-FFF2-40B4-BE49-F238E27FC236}">
                <a16:creationId xmlns:a16="http://schemas.microsoft.com/office/drawing/2014/main" id="{E9570EB9-4BFA-43BC-BD53-C33383E763D5}"/>
              </a:ext>
            </a:extLst>
          </p:cNvPr>
          <p:cNvSpPr>
            <a:spLocks xmlns:a="http://schemas.openxmlformats.org/drawingml/2006/main" noGrp="1"/>
          </p:cNvSpPr>
          <p:nvPr/>
        </p:nvSpPr>
        <p:spPr>
          <a:xfrm xmlns:a="http://schemas.openxmlformats.org/drawingml/2006/main">
            <a:off x="2190750" y="5638800"/>
            <a:ext cx="781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E76F51"/>
                </a:solidFill>
              </a:defRPr>
            </a:pPr>
            <a:r>
              <a:rPr sz="1350" b="1" i="0">
                <a:solidFill>
                  <a:srgbClr val="E76F51"/>
                </a:solidFill>
              </a:rPr>
              <a:t>Paper/reference is a pipeline-scope ratio, not a like-for-like end-to-end speedup.</a:t>
            </a:r>
          </a:p>
        </p:txBody>
      </p:sp>
    </p:spTree>
    <p:extLst>
      <p:ext uri="{BB962C8B-B14F-4D97-AF65-F5344CB8AC3E}">
        <p14:creationId xmlns:p14="http://schemas.microsoft.com/office/powerpoint/2010/main" val="579321941"/>
      </p:ext>
    </p:extLst>
  </p:cSld>
</p:sld>
</file>

<file path=ppt/slides/slide1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D2F618C5-8E2E-47EE-B3D6-8F8EE276C0BA}"/>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RESULTS</a:t>
            </a:r>
          </a:p>
        </p:txBody>
      </p:sp>
      <p:sp>
        <p:nvSpPr>
          <p:cNvPr id="2" name="">
            <a:extLst xmlns:a="http://schemas.openxmlformats.org/drawingml/2006/main">
              <a:ext uri="{FF2B5EF4-FFF2-40B4-BE49-F238E27FC236}">
                <a16:creationId xmlns:a16="http://schemas.microsoft.com/office/drawing/2014/main" id="{9AF14AC5-B546-4912-BC78-A1FC5EBC3E38}"/>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5235"/>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Every pre-specified formal case passed certification, audit, and output checks</a:t>
            </a:r>
          </a:p>
        </p:txBody>
      </p:sp>
      <p:sp>
        <p:nvSpPr>
          <p:cNvPr id="3" name="">
            <a:extLst xmlns:a="http://schemas.openxmlformats.org/drawingml/2006/main">
              <a:ext uri="{FF2B5EF4-FFF2-40B4-BE49-F238E27FC236}">
                <a16:creationId xmlns:a16="http://schemas.microsoft.com/office/drawing/2014/main" id="{263EBB64-9700-4695-A3FF-27D283CF1A06}"/>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004E14B0-2FAF-4AE3-A373-198079B3A143}"/>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BA425ADC-C883-4EF3-9401-274BCEAA7BEA}"/>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4DFC0480-C3E3-4650-A8DD-CA1DCC6F9124}"/>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13 / 16</a:t>
            </a:r>
          </a:p>
        </p:txBody>
      </p:sp>
      <p:sp>
        <p:nvSpPr>
          <p:cNvPr id="7" name="">
            <a:extLst xmlns:a="http://schemas.openxmlformats.org/drawingml/2006/main">
              <a:ext uri="{FF2B5EF4-FFF2-40B4-BE49-F238E27FC236}">
                <a16:creationId xmlns:a16="http://schemas.microsoft.com/office/drawing/2014/main" id="{272472BF-5158-474D-8AAA-F81CBD39FB02}"/>
              </a:ext>
            </a:extLst>
          </p:cNvPr>
          <p:cNvSpPr>
            <a:spLocks xmlns:a="http://schemas.openxmlformats.org/drawingml/2006/main" noGrp="1"/>
          </p:cNvSpPr>
          <p:nvPr/>
        </p:nvSpPr>
        <p:spPr>
          <a:xfrm xmlns:a="http://schemas.openxmlformats.org/drawingml/2006/main">
            <a:off x="723900" y="1619250"/>
            <a:ext cx="2381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3600" b="1" i="0">
                <a:solidFill>
                  <a:srgbClr val="102A43"/>
                </a:solidFill>
              </a:defRPr>
            </a:pPr>
            <a:r>
              <a:rPr sz="3600" b="1" i="0">
                <a:solidFill>
                  <a:srgbClr val="102A43"/>
                </a:solidFill>
              </a:rPr>
              <a:t>60</a:t>
            </a:r>
          </a:p>
        </p:txBody>
      </p:sp>
      <p:sp>
        <p:nvSpPr>
          <p:cNvPr id="8" name="">
            <a:extLst xmlns:a="http://schemas.openxmlformats.org/drawingml/2006/main">
              <a:ext uri="{FF2B5EF4-FFF2-40B4-BE49-F238E27FC236}">
                <a16:creationId xmlns:a16="http://schemas.microsoft.com/office/drawing/2014/main" id="{6607EB4D-D72A-402F-8A5A-ED9A30B5DE70}"/>
              </a:ext>
            </a:extLst>
          </p:cNvPr>
          <p:cNvSpPr>
            <a:spLocks xmlns:a="http://schemas.openxmlformats.org/drawingml/2006/main" noGrp="1"/>
          </p:cNvSpPr>
          <p:nvPr/>
        </p:nvSpPr>
        <p:spPr>
          <a:xfrm xmlns:a="http://schemas.openxmlformats.org/drawingml/2006/main">
            <a:off x="762000" y="2266950"/>
            <a:ext cx="2305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exact cases</a:t>
            </a:r>
          </a:p>
        </p:txBody>
      </p:sp>
      <p:sp>
        <p:nvSpPr>
          <p:cNvPr id="9" name="">
            <a:extLst xmlns:a="http://schemas.openxmlformats.org/drawingml/2006/main">
              <a:ext uri="{FF2B5EF4-FFF2-40B4-BE49-F238E27FC236}">
                <a16:creationId xmlns:a16="http://schemas.microsoft.com/office/drawing/2014/main" id="{9FDD1D4F-BD28-4837-BECB-F3D4E447D3F9}"/>
              </a:ext>
            </a:extLst>
          </p:cNvPr>
          <p:cNvSpPr>
            <a:spLocks xmlns:a="http://schemas.openxmlformats.org/drawingml/2006/main" noGrp="1"/>
          </p:cNvSpPr>
          <p:nvPr/>
        </p:nvSpPr>
        <p:spPr>
          <a:xfrm xmlns:a="http://schemas.openxmlformats.org/drawingml/2006/main">
            <a:off x="3467100" y="1619250"/>
            <a:ext cx="2381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3600" b="1" i="0">
                <a:solidFill>
                  <a:srgbClr val="2A9D8F"/>
                </a:solidFill>
              </a:defRPr>
            </a:pPr>
            <a:r>
              <a:rPr sz="3600" b="1" i="0">
                <a:solidFill>
                  <a:srgbClr val="2A9D8F"/>
                </a:solidFill>
              </a:rPr>
              <a:t>3,600</a:t>
            </a:r>
          </a:p>
        </p:txBody>
      </p:sp>
      <p:sp>
        <p:nvSpPr>
          <p:cNvPr id="10" name="">
            <a:extLst xmlns:a="http://schemas.openxmlformats.org/drawingml/2006/main">
              <a:ext uri="{FF2B5EF4-FFF2-40B4-BE49-F238E27FC236}">
                <a16:creationId xmlns:a16="http://schemas.microsoft.com/office/drawing/2014/main" id="{5BA4207D-A418-4BD8-BAFE-8C086ED3106A}"/>
              </a:ext>
            </a:extLst>
          </p:cNvPr>
          <p:cNvSpPr>
            <a:spLocks xmlns:a="http://schemas.openxmlformats.org/drawingml/2006/main" noGrp="1"/>
          </p:cNvSpPr>
          <p:nvPr/>
        </p:nvSpPr>
        <p:spPr>
          <a:xfrm xmlns:a="http://schemas.openxmlformats.org/drawingml/2006/main">
            <a:off x="3505200" y="2266950"/>
            <a:ext cx="2305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measured rows</a:t>
            </a:r>
          </a:p>
        </p:txBody>
      </p:sp>
      <p:sp>
        <p:nvSpPr>
          <p:cNvPr id="11" name="">
            <a:extLst xmlns:a="http://schemas.openxmlformats.org/drawingml/2006/main">
              <a:ext uri="{FF2B5EF4-FFF2-40B4-BE49-F238E27FC236}">
                <a16:creationId xmlns:a16="http://schemas.microsoft.com/office/drawing/2014/main" id="{3E5453A3-709A-4440-9EB8-1541C07C257D}"/>
              </a:ext>
            </a:extLst>
          </p:cNvPr>
          <p:cNvSpPr>
            <a:spLocks xmlns:a="http://schemas.openxmlformats.org/drawingml/2006/main" noGrp="1"/>
          </p:cNvSpPr>
          <p:nvPr/>
        </p:nvSpPr>
        <p:spPr>
          <a:xfrm xmlns:a="http://schemas.openxmlformats.org/drawingml/2006/main">
            <a:off x="6210300" y="1619250"/>
            <a:ext cx="2381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3600" b="1" i="0">
                <a:solidFill>
                  <a:srgbClr val="E76F51"/>
                </a:solidFill>
              </a:defRPr>
            </a:pPr>
            <a:r>
              <a:rPr sz="3600" b="1" i="0">
                <a:solidFill>
                  <a:srgbClr val="E76F51"/>
                </a:solidFill>
              </a:rPr>
              <a:t>60 / 60</a:t>
            </a:r>
          </a:p>
        </p:txBody>
      </p:sp>
      <p:sp>
        <p:nvSpPr>
          <p:cNvPr id="12" name="">
            <a:extLst xmlns:a="http://schemas.openxmlformats.org/drawingml/2006/main">
              <a:ext uri="{FF2B5EF4-FFF2-40B4-BE49-F238E27FC236}">
                <a16:creationId xmlns:a16="http://schemas.microsoft.com/office/drawing/2014/main" id="{C4BF964A-9181-4337-8BF7-2F2E7A7571C6}"/>
              </a:ext>
            </a:extLst>
          </p:cNvPr>
          <p:cNvSpPr>
            <a:spLocks xmlns:a="http://schemas.openxmlformats.org/drawingml/2006/main" noGrp="1"/>
          </p:cNvSpPr>
          <p:nvPr/>
        </p:nvSpPr>
        <p:spPr>
          <a:xfrm xmlns:a="http://schemas.openxmlformats.org/drawingml/2006/main">
            <a:off x="6248400" y="2266950"/>
            <a:ext cx="2305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checked-state audits passed</a:t>
            </a:r>
          </a:p>
        </p:txBody>
      </p:sp>
      <p:sp>
        <p:nvSpPr>
          <p:cNvPr id="13" name="">
            <a:extLst xmlns:a="http://schemas.openxmlformats.org/drawingml/2006/main">
              <a:ext uri="{FF2B5EF4-FFF2-40B4-BE49-F238E27FC236}">
                <a16:creationId xmlns:a16="http://schemas.microsoft.com/office/drawing/2014/main" id="{0DE862D5-AC9C-4049-B0F4-3EAAC0B06A2E}"/>
              </a:ext>
            </a:extLst>
          </p:cNvPr>
          <p:cNvSpPr>
            <a:spLocks xmlns:a="http://schemas.openxmlformats.org/drawingml/2006/main" noGrp="1"/>
          </p:cNvSpPr>
          <p:nvPr/>
        </p:nvSpPr>
        <p:spPr>
          <a:xfrm xmlns:a="http://schemas.openxmlformats.org/drawingml/2006/main">
            <a:off x="8953500" y="1619250"/>
            <a:ext cx="2381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3600" b="1" i="0">
                <a:solidFill>
                  <a:srgbClr val="1F8A70"/>
                </a:solidFill>
              </a:defRPr>
            </a:pPr>
            <a:r>
              <a:rPr sz="3600" b="1" i="0">
                <a:solidFill>
                  <a:srgbClr val="1F8A70"/>
                </a:solidFill>
              </a:rPr>
              <a:t>0</a:t>
            </a:r>
          </a:p>
        </p:txBody>
      </p:sp>
      <p:sp>
        <p:nvSpPr>
          <p:cNvPr id="14" name="">
            <a:extLst xmlns:a="http://schemas.openxmlformats.org/drawingml/2006/main">
              <a:ext uri="{FF2B5EF4-FFF2-40B4-BE49-F238E27FC236}">
                <a16:creationId xmlns:a16="http://schemas.microsoft.com/office/drawing/2014/main" id="{B3177758-FA1F-4460-AC5C-E809461338DF}"/>
              </a:ext>
            </a:extLst>
          </p:cNvPr>
          <p:cNvSpPr>
            <a:spLocks xmlns:a="http://schemas.openxmlformats.org/drawingml/2006/main" noGrp="1"/>
          </p:cNvSpPr>
          <p:nvPr/>
        </p:nvSpPr>
        <p:spPr>
          <a:xfrm xmlns:a="http://schemas.openxmlformats.org/drawingml/2006/main">
            <a:off x="8991600" y="2266950"/>
            <a:ext cx="2305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recorded correctness errors</a:t>
            </a:r>
          </a:p>
        </p:txBody>
      </p:sp>
      <p:sp>
        <p:nvSpPr>
          <p:cNvPr id="15" name="">
            <a:extLst xmlns:a="http://schemas.openxmlformats.org/drawingml/2006/main">
              <a:ext uri="{FF2B5EF4-FFF2-40B4-BE49-F238E27FC236}">
                <a16:creationId xmlns:a16="http://schemas.microsoft.com/office/drawing/2014/main" id="{A3925198-3B5D-4E88-9FD8-B38F42274E3D}"/>
              </a:ext>
            </a:extLst>
          </p:cNvPr>
          <p:cNvSpPr>
            <a:spLocks xmlns:a="http://schemas.openxmlformats.org/drawingml/2006/main" noGrp="1"/>
          </p:cNvSpPr>
          <p:nvPr/>
        </p:nvSpPr>
        <p:spPr>
          <a:xfrm xmlns:a="http://schemas.openxmlformats.org/drawingml/2006/main">
            <a:off x="723900" y="3067050"/>
            <a:ext cx="10744200" cy="9525"/>
          </a:xfrm>
          <a:prstGeom xmlns:a="http://schemas.openxmlformats.org/drawingml/2006/main" prst="line">
            <a:avLst/>
          </a:prstGeom>
          <a:noFill xmlns:a="http://schemas.openxmlformats.org/drawingml/2006/main"/>
          <a:ln xmlns:a="http://schemas.openxmlformats.org/drawingml/2006/main" w="19050">
            <a:solidFill>
              <a:srgbClr val="D9E2EC"/>
            </a:solidFill>
            <a:prstDash val="solid"/>
          </a:ln>
        </p:spPr>
      </p:sp>
      <p:sp>
        <p:nvSpPr>
          <p:cNvPr id="16" name="">
            <a:extLst xmlns:a="http://schemas.openxmlformats.org/drawingml/2006/main">
              <a:ext uri="{FF2B5EF4-FFF2-40B4-BE49-F238E27FC236}">
                <a16:creationId xmlns:a16="http://schemas.microsoft.com/office/drawing/2014/main" id="{25FAB753-788B-4413-A600-2E60A4D64DEA}"/>
              </a:ext>
            </a:extLst>
          </p:cNvPr>
          <p:cNvSpPr>
            <a:spLocks xmlns:a="http://schemas.openxmlformats.org/drawingml/2006/main" noGrp="1"/>
          </p:cNvSpPr>
          <p:nvPr/>
        </p:nvSpPr>
        <p:spPr>
          <a:xfrm xmlns:a="http://schemas.openxmlformats.org/drawingml/2006/main">
            <a:off x="1524000" y="3429000"/>
            <a:ext cx="9144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2250" b="1" i="0">
                <a:solidFill>
                  <a:srgbClr val="102A43"/>
                </a:solidFill>
              </a:defRPr>
            </a:pPr>
            <a:r>
              <a:rPr sz="2250" b="1" i="0">
                <a:solidFill>
                  <a:srgbClr val="102A43"/>
                </a:solidFill>
              </a:rPr>
              <a:t>Every case was oracle-certified before timing.</a:t>
            </a:r>
          </a:p>
        </p:txBody>
      </p:sp>
      <p:sp>
        <p:nvSpPr>
          <p:cNvPr id="17" name="">
            <a:extLst xmlns:a="http://schemas.openxmlformats.org/drawingml/2006/main">
              <a:ext uri="{FF2B5EF4-FFF2-40B4-BE49-F238E27FC236}">
                <a16:creationId xmlns:a16="http://schemas.microsoft.com/office/drawing/2014/main" id="{6910ACE7-8FA2-47FB-8F49-BF141E218B7E}"/>
              </a:ext>
            </a:extLst>
          </p:cNvPr>
          <p:cNvSpPr>
            <a:spLocks xmlns:a="http://schemas.openxmlformats.org/drawingml/2006/main" noGrp="1"/>
          </p:cNvSpPr>
          <p:nvPr/>
        </p:nvSpPr>
        <p:spPr>
          <a:xfrm xmlns:a="http://schemas.openxmlformats.org/drawingml/2006/main">
            <a:off x="1581150" y="4362450"/>
            <a:ext cx="9029700" cy="1066800"/>
          </a:xfrm>
          <a:prstGeom xmlns:a="http://schemas.openxmlformats.org/drawingml/2006/main" prst="roundRect">
            <a:avLst>
              <a:gd name="adj" fmla="val 7143"/>
            </a:avLst>
          </a:prstGeom>
          <a:solidFill xmlns:a="http://schemas.openxmlformats.org/drawingml/2006/main">
            <a:srgbClr val="EAF1F8"/>
          </a:solidFill>
          <a:ln xmlns:a="http://schemas.openxmlformats.org/drawingml/2006/main" w="14288">
            <a:solidFill>
              <a:srgbClr val="102A43"/>
            </a:solidFill>
            <a:prstDash val="solid"/>
          </a:ln>
        </p:spPr>
      </p:sp>
      <p:sp>
        <p:nvSpPr>
          <p:cNvPr id="18" name="">
            <a:extLst xmlns:a="http://schemas.openxmlformats.org/drawingml/2006/main">
              <a:ext uri="{FF2B5EF4-FFF2-40B4-BE49-F238E27FC236}">
                <a16:creationId xmlns:a16="http://schemas.microsoft.com/office/drawing/2014/main" id="{5E685324-0F96-428C-9D51-A8E26B8D630A}"/>
              </a:ext>
            </a:extLst>
          </p:cNvPr>
          <p:cNvSpPr>
            <a:spLocks xmlns:a="http://schemas.openxmlformats.org/drawingml/2006/main" noGrp="1"/>
          </p:cNvSpPr>
          <p:nvPr/>
        </p:nvSpPr>
        <p:spPr>
          <a:xfrm xmlns:a="http://schemas.openxmlformats.org/drawingml/2006/main">
            <a:off x="1847850" y="4533900"/>
            <a:ext cx="8496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650" b="0" i="0">
                <a:solidFill>
                  <a:srgbClr val="243B53"/>
                </a:solidFill>
              </a:defRPr>
            </a:pPr>
            <a:r>
              <a:rPr sz="1650" b="0" i="0">
                <a:solidFill>
                  <a:srgbClr val="243B53"/>
                </a:solidFill>
              </a:rPr>
              <a:t>All 3,600 rows belong to 60 exact cases; each case received one untimed checked-state audit before timing.</a:t>
            </a:r>
          </a:p>
        </p:txBody>
      </p:sp>
      <p:sp>
        <p:nvSpPr>
          <p:cNvPr id="19" name="">
            <a:extLst xmlns:a="http://schemas.openxmlformats.org/drawingml/2006/main">
              <a:ext uri="{FF2B5EF4-FFF2-40B4-BE49-F238E27FC236}">
                <a16:creationId xmlns:a16="http://schemas.microsoft.com/office/drawing/2014/main" id="{535FA943-A04F-436F-BE58-8B224C8E365B}"/>
              </a:ext>
            </a:extLst>
          </p:cNvPr>
          <p:cNvSpPr>
            <a:spLocks xmlns:a="http://schemas.openxmlformats.org/drawingml/2006/main" noGrp="1"/>
          </p:cNvSpPr>
          <p:nvPr/>
        </p:nvSpPr>
        <p:spPr>
          <a:xfrm xmlns:a="http://schemas.openxmlformats.org/drawingml/2006/main">
            <a:off x="1485900" y="5734050"/>
            <a:ext cx="9220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E76F51"/>
                </a:solidFill>
              </a:defRPr>
            </a:pPr>
            <a:r>
              <a:rPr sz="1425" b="1" i="0">
                <a:solidFill>
                  <a:srgbClr val="E76F51"/>
                </a:solidFill>
              </a:rPr>
              <a:t>Evidence for controlled valid cases, not recognition evidence and not a proof for all Jordan sequences.</a:t>
            </a:r>
          </a:p>
        </p:txBody>
      </p:sp>
    </p:spTree>
    <p:extLst>
      <p:ext uri="{BB962C8B-B14F-4D97-AF65-F5344CB8AC3E}">
        <p14:creationId xmlns:p14="http://schemas.microsoft.com/office/powerpoint/2010/main" val="633270109"/>
      </p:ext>
    </p:extLst>
  </p:cSld>
</p:sld>
</file>

<file path=ppt/slides/slide1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F9024E2-BC7E-421E-A918-A7A3090D0392}"/>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RESULTS</a:t>
            </a:r>
          </a:p>
        </p:txBody>
      </p:sp>
      <p:sp>
        <p:nvSpPr>
          <p:cNvPr id="2" name="">
            <a:extLst xmlns:a="http://schemas.openxmlformats.org/drawingml/2006/main">
              <a:ext uri="{FF2B5EF4-FFF2-40B4-BE49-F238E27FC236}">
                <a16:creationId xmlns:a16="http://schemas.microsoft.com/office/drawing/2014/main" id="{4638B7AC-ACBC-4792-8BBB-94198C84853E}"/>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The paper/reference ratio decreases across the five tested sizes</a:t>
            </a:r>
          </a:p>
        </p:txBody>
      </p:sp>
      <p:sp>
        <p:nvSpPr>
          <p:cNvPr id="3" name="">
            <a:extLst xmlns:a="http://schemas.openxmlformats.org/drawingml/2006/main">
              <a:ext uri="{FF2B5EF4-FFF2-40B4-BE49-F238E27FC236}">
                <a16:creationId xmlns:a16="http://schemas.microsoft.com/office/drawing/2014/main" id="{05E4509C-23BE-4BC0-B4A3-902578197F0C}"/>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5EA896B0-434D-46C8-98A3-1F51D3C55852}"/>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65BEA2DB-0DDC-4BDB-A9DC-8EA4147D59FB}"/>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3C4826FA-B7C4-4F55-9343-BA076408AF11}"/>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14 / 16</a:t>
            </a:r>
          </a:p>
        </p:txBody>
      </p:sp>
      <p:graphicFrame>
        <p:nvGraphicFramePr>
          <p:cNvPr id="27" name="Chart"/>
          <p:cNvGraphicFramePr/>
          <p:nvPr/>
        </p:nvGraphicFramePr>
        <p:xfrm>
          <a:off xmlns:a="http://schemas.openxmlformats.org/drawingml/2006/main" x="647700" y="1409700"/>
          <a:ext xmlns:a="http://schemas.openxmlformats.org/drawingml/2006/main" cx="6858000" cy="4095750"/>
        </p:xfrm>
        <a:graphic xmlns:a="http://schemas.openxmlformats.org/drawingml/2006/main">
          <a:graphicData uri="http://schemas.openxmlformats.org/drawingml/2006/chart">
            <c:chart xmlns:r="http://schemas.openxmlformats.org/officeDocument/2006/relationships" xmlns:c="http://schemas.openxmlformats.org/drawingml/2006/chart" r:id="R5d33f325175b4e01"/>
          </a:graphicData>
        </a:graphic>
      </p:graphicFrame>
      <p:sp>
        <p:nvSpPr>
          <p:cNvPr id="8" name="">
            <a:extLst xmlns:a="http://schemas.openxmlformats.org/drawingml/2006/main">
              <a:ext uri="{FF2B5EF4-FFF2-40B4-BE49-F238E27FC236}">
                <a16:creationId xmlns:a16="http://schemas.microsoft.com/office/drawing/2014/main" id="{4543DFB3-6032-4EE7-A8E5-E7EB0EF44CD7}"/>
              </a:ext>
            </a:extLst>
          </p:cNvPr>
          <p:cNvSpPr>
            <a:spLocks xmlns:a="http://schemas.openxmlformats.org/drawingml/2006/main" noGrp="1"/>
          </p:cNvSpPr>
          <p:nvPr/>
        </p:nvSpPr>
        <p:spPr>
          <a:xfrm xmlns:a="http://schemas.openxmlformats.org/drawingml/2006/main">
            <a:off x="7905750" y="1524000"/>
            <a:ext cx="3333750" cy="990600"/>
          </a:xfrm>
          <a:prstGeom xmlns:a="http://schemas.openxmlformats.org/drawingml/2006/main" prst="roundRect">
            <a:avLst>
              <a:gd name="adj" fmla="val 7692"/>
            </a:avLst>
          </a:prstGeom>
          <a:solidFill xmlns:a="http://schemas.openxmlformats.org/drawingml/2006/main">
            <a:srgbClr val="E8F5F3"/>
          </a:solidFill>
          <a:ln xmlns:a="http://schemas.openxmlformats.org/drawingml/2006/main" w="11430">
            <a:solidFill>
              <a:srgbClr val="2A9D8F"/>
            </a:solidFill>
            <a:prstDash val="solid"/>
          </a:ln>
        </p:spPr>
      </p:sp>
      <p:sp>
        <p:nvSpPr>
          <p:cNvPr id="9" name="">
            <a:extLst xmlns:a="http://schemas.openxmlformats.org/drawingml/2006/main">
              <a:ext uri="{FF2B5EF4-FFF2-40B4-BE49-F238E27FC236}">
                <a16:creationId xmlns:a16="http://schemas.microsoft.com/office/drawing/2014/main" id="{21B1C30F-2E01-43DF-8C75-71DD049BE661}"/>
              </a:ext>
            </a:extLst>
          </p:cNvPr>
          <p:cNvSpPr>
            <a:spLocks xmlns:a="http://schemas.openxmlformats.org/drawingml/2006/main" noGrp="1"/>
          </p:cNvSpPr>
          <p:nvPr/>
        </p:nvSpPr>
        <p:spPr>
          <a:xfrm xmlns:a="http://schemas.openxmlformats.org/drawingml/2006/main">
            <a:off x="8096250" y="1638300"/>
            <a:ext cx="1200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850" b="1" i="0">
                <a:solidFill>
                  <a:srgbClr val="2A9D8F"/>
                </a:solidFill>
              </a:defRPr>
            </a:pPr>
            <a:r>
              <a:rPr sz="2850" b="1" i="0">
                <a:solidFill>
                  <a:srgbClr val="2A9D8F"/>
                </a:solidFill>
              </a:rPr>
              <a:t>3.226</a:t>
            </a:r>
          </a:p>
        </p:txBody>
      </p:sp>
      <p:sp>
        <p:nvSpPr>
          <p:cNvPr id="10" name="">
            <a:extLst xmlns:a="http://schemas.openxmlformats.org/drawingml/2006/main">
              <a:ext uri="{FF2B5EF4-FFF2-40B4-BE49-F238E27FC236}">
                <a16:creationId xmlns:a16="http://schemas.microsoft.com/office/drawing/2014/main" id="{6998DE55-0D9E-447F-A52D-42DCB35861DF}"/>
              </a:ext>
            </a:extLst>
          </p:cNvPr>
          <p:cNvSpPr>
            <a:spLocks xmlns:a="http://schemas.openxmlformats.org/drawingml/2006/main" noGrp="1"/>
          </p:cNvSpPr>
          <p:nvPr/>
        </p:nvSpPr>
        <p:spPr>
          <a:xfrm xmlns:a="http://schemas.openxmlformats.org/drawingml/2006/main">
            <a:off x="9334500" y="1752600"/>
            <a:ext cx="1676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500" b="0" i="0">
                <a:solidFill>
                  <a:srgbClr val="243B53"/>
                </a:solidFill>
              </a:defRPr>
            </a:pPr>
            <a:r>
              <a:rPr sz="1500" b="0" i="0">
                <a:solidFill>
                  <a:srgbClr val="243B53"/>
                </a:solidFill>
              </a:rPr>
              <a:t>at n = 32</a:t>
            </a:r>
          </a:p>
        </p:txBody>
      </p:sp>
      <p:sp>
        <p:nvSpPr>
          <p:cNvPr id="11" name="">
            <a:extLst xmlns:a="http://schemas.openxmlformats.org/drawingml/2006/main">
              <a:ext uri="{FF2B5EF4-FFF2-40B4-BE49-F238E27FC236}">
                <a16:creationId xmlns:a16="http://schemas.microsoft.com/office/drawing/2014/main" id="{8CA81198-8D25-4B06-8E6E-0CB38F26E8CA}"/>
              </a:ext>
            </a:extLst>
          </p:cNvPr>
          <p:cNvSpPr>
            <a:spLocks xmlns:a="http://schemas.openxmlformats.org/drawingml/2006/main" noGrp="1"/>
          </p:cNvSpPr>
          <p:nvPr/>
        </p:nvSpPr>
        <p:spPr>
          <a:xfrm xmlns:a="http://schemas.openxmlformats.org/drawingml/2006/main">
            <a:off x="7905750" y="2686050"/>
            <a:ext cx="3333750" cy="990600"/>
          </a:xfrm>
          <a:prstGeom xmlns:a="http://schemas.openxmlformats.org/drawingml/2006/main" prst="roundRect">
            <a:avLst>
              <a:gd name="adj" fmla="val 7692"/>
            </a:avLst>
          </a:prstGeom>
          <a:solidFill xmlns:a="http://schemas.openxmlformats.org/drawingml/2006/main">
            <a:srgbClr val="FCEEEA"/>
          </a:solidFill>
          <a:ln xmlns:a="http://schemas.openxmlformats.org/drawingml/2006/main" w="11430">
            <a:solidFill>
              <a:srgbClr val="E76F51"/>
            </a:solidFill>
            <a:prstDash val="solid"/>
          </a:ln>
        </p:spPr>
      </p:sp>
      <p:sp>
        <p:nvSpPr>
          <p:cNvPr id="12" name="">
            <a:extLst xmlns:a="http://schemas.openxmlformats.org/drawingml/2006/main">
              <a:ext uri="{FF2B5EF4-FFF2-40B4-BE49-F238E27FC236}">
                <a16:creationId xmlns:a16="http://schemas.microsoft.com/office/drawing/2014/main" id="{646AC3B2-0203-45C6-9F04-DDA21FC24C2C}"/>
              </a:ext>
            </a:extLst>
          </p:cNvPr>
          <p:cNvSpPr>
            <a:spLocks xmlns:a="http://schemas.openxmlformats.org/drawingml/2006/main" noGrp="1"/>
          </p:cNvSpPr>
          <p:nvPr/>
        </p:nvSpPr>
        <p:spPr>
          <a:xfrm xmlns:a="http://schemas.openxmlformats.org/drawingml/2006/main">
            <a:off x="8096250" y="2800350"/>
            <a:ext cx="1200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850" b="1" i="0">
                <a:solidFill>
                  <a:srgbClr val="E76F51"/>
                </a:solidFill>
              </a:defRPr>
            </a:pPr>
            <a:r>
              <a:rPr sz="2850" b="1" i="0">
                <a:solidFill>
                  <a:srgbClr val="E76F51"/>
                </a:solidFill>
              </a:rPr>
              <a:t>0.567</a:t>
            </a:r>
          </a:p>
        </p:txBody>
      </p:sp>
      <p:sp>
        <p:nvSpPr>
          <p:cNvPr id="13" name="">
            <a:extLst xmlns:a="http://schemas.openxmlformats.org/drawingml/2006/main">
              <a:ext uri="{FF2B5EF4-FFF2-40B4-BE49-F238E27FC236}">
                <a16:creationId xmlns:a16="http://schemas.microsoft.com/office/drawing/2014/main" id="{DF70CD2E-9ED9-4A39-8AEA-0D7813CB89B4}"/>
              </a:ext>
            </a:extLst>
          </p:cNvPr>
          <p:cNvSpPr>
            <a:spLocks xmlns:a="http://schemas.openxmlformats.org/drawingml/2006/main" noGrp="1"/>
          </p:cNvSpPr>
          <p:nvPr/>
        </p:nvSpPr>
        <p:spPr>
          <a:xfrm xmlns:a="http://schemas.openxmlformats.org/drawingml/2006/main">
            <a:off x="9334500" y="2914650"/>
            <a:ext cx="1676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500" b="0" i="0">
                <a:solidFill>
                  <a:srgbClr val="243B53"/>
                </a:solidFill>
              </a:defRPr>
            </a:pPr>
            <a:r>
              <a:rPr sz="1500" b="0" i="0">
                <a:solidFill>
                  <a:srgbClr val="243B53"/>
                </a:solidFill>
              </a:rPr>
              <a:t>at n = 512</a:t>
            </a:r>
          </a:p>
        </p:txBody>
      </p:sp>
      <p:sp>
        <p:nvSpPr>
          <p:cNvPr id="14" name="">
            <a:extLst xmlns:a="http://schemas.openxmlformats.org/drawingml/2006/main">
              <a:ext uri="{FF2B5EF4-FFF2-40B4-BE49-F238E27FC236}">
                <a16:creationId xmlns:a16="http://schemas.microsoft.com/office/drawing/2014/main" id="{EA85DF50-7041-4223-86FE-33A2D7DA3FFB}"/>
              </a:ext>
            </a:extLst>
          </p:cNvPr>
          <p:cNvSpPr>
            <a:spLocks xmlns:a="http://schemas.openxmlformats.org/drawingml/2006/main" noGrp="1"/>
          </p:cNvSpPr>
          <p:nvPr/>
        </p:nvSpPr>
        <p:spPr>
          <a:xfrm xmlns:a="http://schemas.openxmlformats.org/drawingml/2006/main">
            <a:off x="7905750" y="3981450"/>
            <a:ext cx="3333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02A43"/>
            </a:solidFill>
            <a:prstDash val="solid"/>
          </a:ln>
        </p:spPr>
      </p:sp>
      <p:sp>
        <p:nvSpPr>
          <p:cNvPr id="15" name="">
            <a:extLst xmlns:a="http://schemas.openxmlformats.org/drawingml/2006/main">
              <a:ext uri="{FF2B5EF4-FFF2-40B4-BE49-F238E27FC236}">
                <a16:creationId xmlns:a16="http://schemas.microsoft.com/office/drawing/2014/main" id="{0B46C1C1-EF2E-4B90-A50A-7FEC475990D6}"/>
              </a:ext>
            </a:extLst>
          </p:cNvPr>
          <p:cNvSpPr>
            <a:spLocks xmlns:a="http://schemas.openxmlformats.org/drawingml/2006/main" noGrp="1"/>
          </p:cNvSpPr>
          <p:nvPr/>
        </p:nvSpPr>
        <p:spPr>
          <a:xfrm xmlns:a="http://schemas.openxmlformats.org/drawingml/2006/main">
            <a:off x="8096250" y="411480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ctr">
              <a:lnSpc>
                <a:spcPct val="105000"/>
              </a:lnSpc>
              <a:buNone/>
              <a:defRPr sz="1800" b="1" i="0">
                <a:solidFill>
                  <a:srgbClr val="102A43"/>
                </a:solidFill>
              </a:defRPr>
            </a:pPr>
            <a:r>
              <a:rPr sz="1800" b="1" i="0">
                <a:solidFill>
                  <a:srgbClr val="102A43"/>
                </a:solidFill>
              </a:rPr>
              <a:t>Observed crossover</a:t>
            </a:r>
          </a:p>
        </p:txBody>
      </p:sp>
      <p:sp>
        <p:nvSpPr>
          <p:cNvPr id="16" name="">
            <a:extLst xmlns:a="http://schemas.openxmlformats.org/drawingml/2006/main">
              <a:ext uri="{FF2B5EF4-FFF2-40B4-BE49-F238E27FC236}">
                <a16:creationId xmlns:a16="http://schemas.microsoft.com/office/drawing/2014/main" id="{299B3E80-E1E6-4904-983B-18F5950AFF2E}"/>
              </a:ext>
            </a:extLst>
          </p:cNvPr>
          <p:cNvSpPr>
            <a:spLocks xmlns:a="http://schemas.openxmlformats.org/drawingml/2006/main" noGrp="1"/>
          </p:cNvSpPr>
          <p:nvPr/>
        </p:nvSpPr>
        <p:spPr>
          <a:xfrm xmlns:a="http://schemas.openxmlformats.org/drawingml/2006/main">
            <a:off x="8115300" y="4533900"/>
            <a:ext cx="2914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between tested sizes 128 and 256</a:t>
            </a:r>
          </a:p>
        </p:txBody>
      </p:sp>
      <p:sp>
        <p:nvSpPr>
          <p:cNvPr id="17" name="">
            <a:extLst xmlns:a="http://schemas.openxmlformats.org/drawingml/2006/main">
              <a:ext uri="{FF2B5EF4-FFF2-40B4-BE49-F238E27FC236}">
                <a16:creationId xmlns:a16="http://schemas.microsoft.com/office/drawing/2014/main" id="{91FCFDCA-B2A3-4DE1-A0E9-D5AD66CCD266}"/>
              </a:ext>
            </a:extLst>
          </p:cNvPr>
          <p:cNvSpPr>
            <a:spLocks xmlns:a="http://schemas.openxmlformats.org/drawingml/2006/main" noGrp="1"/>
          </p:cNvSpPr>
          <p:nvPr/>
        </p:nvSpPr>
        <p:spPr>
          <a:xfrm xmlns:a="http://schemas.openxmlformats.org/drawingml/2006/main">
            <a:off x="7810500" y="5391150"/>
            <a:ext cx="3543300" cy="647700"/>
          </a:xfrm>
          <a:prstGeom xmlns:a="http://schemas.openxmlformats.org/drawingml/2006/main" prst="roundRect">
            <a:avLst>
              <a:gd name="adj" fmla="val 8824"/>
            </a:avLst>
          </a:prstGeom>
          <a:solidFill xmlns:a="http://schemas.openxmlformats.org/drawingml/2006/main">
            <a:srgbClr val="102A43"/>
          </a:solidFill>
          <a:ln xmlns:a="http://schemas.openxmlformats.org/drawingml/2006/main" w="11430">
            <a:solidFill>
              <a:srgbClr val="102A43"/>
            </a:solidFill>
            <a:prstDash val="solid"/>
          </a:ln>
        </p:spPr>
      </p:sp>
      <p:sp>
        <p:nvSpPr>
          <p:cNvPr id="18" name="">
            <a:extLst xmlns:a="http://schemas.openxmlformats.org/drawingml/2006/main">
              <a:ext uri="{FF2B5EF4-FFF2-40B4-BE49-F238E27FC236}">
                <a16:creationId xmlns:a16="http://schemas.microsoft.com/office/drawing/2014/main" id="{2E1AFA51-13FB-47AB-BE23-FD3E1B919571}"/>
              </a:ext>
            </a:extLst>
          </p:cNvPr>
          <p:cNvSpPr>
            <a:spLocks xmlns:a="http://schemas.openxmlformats.org/drawingml/2006/main" noGrp="1"/>
          </p:cNvSpPr>
          <p:nvPr/>
        </p:nvSpPr>
        <p:spPr>
          <a:xfrm xmlns:a="http://schemas.openxmlformats.org/drawingml/2006/main">
            <a:off x="7981950" y="5486400"/>
            <a:ext cx="3200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FFFFFF"/>
                </a:solidFill>
              </a:defRPr>
            </a:pPr>
            <a:r>
              <a:rPr sz="1275" b="1" i="0">
                <a:solidFill>
                  <a:srgbClr val="FFFFFF"/>
                </a:solidFill>
              </a:rPr>
              <a:t>five sizes  |  ordinary lists  |  different timed scopes</a:t>
            </a:r>
          </a:p>
        </p:txBody>
      </p:sp>
    </p:spTree>
    <p:extLst>
      <p:ext uri="{BB962C8B-B14F-4D97-AF65-F5344CB8AC3E}">
        <p14:creationId xmlns:p14="http://schemas.microsoft.com/office/powerpoint/2010/main" val="1152694150"/>
      </p:ext>
    </p:extLst>
  </p:cSld>
</p:sld>
</file>

<file path=ppt/slides/slide1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2DA3F62F-CF26-4DDA-85E3-2C743974A5FF}"/>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INTERPRETATION</a:t>
            </a:r>
          </a:p>
        </p:txBody>
      </p:sp>
      <p:sp>
        <p:nvSpPr>
          <p:cNvPr id="2" name="">
            <a:extLst xmlns:a="http://schemas.openxmlformats.org/drawingml/2006/main">
              <a:ext uri="{FF2B5EF4-FFF2-40B4-BE49-F238E27FC236}">
                <a16:creationId xmlns:a16="http://schemas.microsoft.com/office/drawing/2014/main" id="{4C0B9F2B-ED66-459E-9299-0A273B965256}"/>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7349"/>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Evidence supports a bounded reconstruction, not a linear-time claim</a:t>
            </a:r>
          </a:p>
        </p:txBody>
      </p:sp>
      <p:sp>
        <p:nvSpPr>
          <p:cNvPr id="3" name="">
            <a:extLst xmlns:a="http://schemas.openxmlformats.org/drawingml/2006/main">
              <a:ext uri="{FF2B5EF4-FFF2-40B4-BE49-F238E27FC236}">
                <a16:creationId xmlns:a16="http://schemas.microsoft.com/office/drawing/2014/main" id="{C0222F51-51C4-4FD8-AA24-24F7B67846D7}"/>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75CAF263-2F5B-478A-9689-F6F309D5B557}"/>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D32F05FB-58DC-4BCA-A728-256A6AFFC487}"/>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418BBFBA-0FA7-4699-B755-31DB7E824495}"/>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15 / 16</a:t>
            </a:r>
          </a:p>
        </p:txBody>
      </p:sp>
      <p:sp>
        <p:nvSpPr>
          <p:cNvPr id="7" name="">
            <a:extLst xmlns:a="http://schemas.openxmlformats.org/drawingml/2006/main">
              <a:ext uri="{FF2B5EF4-FFF2-40B4-BE49-F238E27FC236}">
                <a16:creationId xmlns:a16="http://schemas.microsoft.com/office/drawing/2014/main" id="{D15F2E63-7ABA-457A-9805-B7097F3A9A0E}"/>
              </a:ext>
            </a:extLst>
          </p:cNvPr>
          <p:cNvSpPr>
            <a:spLocks xmlns:a="http://schemas.openxmlformats.org/drawingml/2006/main" noGrp="1"/>
          </p:cNvSpPr>
          <p:nvPr/>
        </p:nvSpPr>
        <p:spPr>
          <a:xfrm xmlns:a="http://schemas.openxmlformats.org/drawingml/2006/main">
            <a:off x="742950" y="1447800"/>
            <a:ext cx="5105400" cy="3848100"/>
          </a:xfrm>
          <a:prstGeom xmlns:a="http://schemas.openxmlformats.org/drawingml/2006/main" prst="roundRect">
            <a:avLst>
              <a:gd name="adj" fmla="val 1980"/>
            </a:avLst>
          </a:prstGeom>
          <a:solidFill xmlns:a="http://schemas.openxmlformats.org/drawingml/2006/main">
            <a:srgbClr val="E8F5F3"/>
          </a:solidFill>
          <a:ln xmlns:a="http://schemas.openxmlformats.org/drawingml/2006/main" w="19050">
            <a:solidFill>
              <a:srgbClr val="2A9D8F"/>
            </a:solidFill>
            <a:prstDash val="solid"/>
          </a:ln>
        </p:spPr>
      </p:sp>
      <p:sp>
        <p:nvSpPr>
          <p:cNvPr id="8" name="">
            <a:extLst xmlns:a="http://schemas.openxmlformats.org/drawingml/2006/main">
              <a:ext uri="{FF2B5EF4-FFF2-40B4-BE49-F238E27FC236}">
                <a16:creationId xmlns:a16="http://schemas.microsoft.com/office/drawing/2014/main" id="{D461065A-9010-42DC-B6B1-0640A5D5BC30}"/>
              </a:ext>
            </a:extLst>
          </p:cNvPr>
          <p:cNvSpPr>
            <a:spLocks xmlns:a="http://schemas.openxmlformats.org/drawingml/2006/main" noGrp="1"/>
          </p:cNvSpPr>
          <p:nvPr/>
        </p:nvSpPr>
        <p:spPr>
          <a:xfrm xmlns:a="http://schemas.openxmlformats.org/drawingml/2006/main">
            <a:off x="6343650" y="1447800"/>
            <a:ext cx="5105400" cy="3848100"/>
          </a:xfrm>
          <a:prstGeom xmlns:a="http://schemas.openxmlformats.org/drawingml/2006/main" prst="roundRect">
            <a:avLst>
              <a:gd name="adj" fmla="val 1980"/>
            </a:avLst>
          </a:prstGeom>
          <a:solidFill xmlns:a="http://schemas.openxmlformats.org/drawingml/2006/main">
            <a:srgbClr val="FCEEEA"/>
          </a:solidFill>
          <a:ln xmlns:a="http://schemas.openxmlformats.org/drawingml/2006/main" w="19050">
            <a:solidFill>
              <a:srgbClr val="E76F51"/>
            </a:solidFill>
            <a:prstDash val="solid"/>
          </a:ln>
        </p:spPr>
      </p:sp>
      <p:sp>
        <p:nvSpPr>
          <p:cNvPr id="9" name="">
            <a:extLst xmlns:a="http://schemas.openxmlformats.org/drawingml/2006/main">
              <a:ext uri="{FF2B5EF4-FFF2-40B4-BE49-F238E27FC236}">
                <a16:creationId xmlns:a16="http://schemas.microsoft.com/office/drawing/2014/main" id="{F63B3CE2-88CA-4363-AFA4-64B66100F081}"/>
              </a:ext>
            </a:extLst>
          </p:cNvPr>
          <p:cNvSpPr>
            <a:spLocks xmlns:a="http://schemas.openxmlformats.org/drawingml/2006/main" noGrp="1"/>
          </p:cNvSpPr>
          <p:nvPr/>
        </p:nvSpPr>
        <p:spPr>
          <a:xfrm xmlns:a="http://schemas.openxmlformats.org/drawingml/2006/main">
            <a:off x="1009650" y="1695450"/>
            <a:ext cx="4572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Supported by the current evidence</a:t>
            </a:r>
          </a:p>
        </p:txBody>
      </p:sp>
      <p:sp>
        <p:nvSpPr>
          <p:cNvPr id="10" name="">
            <a:extLst xmlns:a="http://schemas.openxmlformats.org/drawingml/2006/main">
              <a:ext uri="{FF2B5EF4-FFF2-40B4-BE49-F238E27FC236}">
                <a16:creationId xmlns:a16="http://schemas.microsoft.com/office/drawing/2014/main" id="{A488945C-8D1A-46D4-935E-50A02653B83B}"/>
              </a:ext>
            </a:extLst>
          </p:cNvPr>
          <p:cNvSpPr>
            <a:spLocks xmlns:a="http://schemas.openxmlformats.org/drawingml/2006/main" noGrp="1"/>
          </p:cNvSpPr>
          <p:nvPr/>
        </p:nvSpPr>
        <p:spPr>
          <a:xfrm xmlns:a="http://schemas.openxmlformats.org/drawingml/2006/main">
            <a:off x="6610350" y="1695450"/>
            <a:ext cx="4572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Not established</a:t>
            </a:r>
          </a:p>
        </p:txBody>
      </p:sp>
      <p:sp>
        <p:nvSpPr>
          <p:cNvPr id="11" name="">
            <a:extLst xmlns:a="http://schemas.openxmlformats.org/drawingml/2006/main">
              <a:ext uri="{FF2B5EF4-FFF2-40B4-BE49-F238E27FC236}">
                <a16:creationId xmlns:a16="http://schemas.microsoft.com/office/drawing/2014/main" id="{091AF135-79D3-49DD-BAA5-0517C6C82893}"/>
              </a:ext>
            </a:extLst>
          </p:cNvPr>
          <p:cNvSpPr>
            <a:spLocks xmlns:a="http://schemas.openxmlformats.org/drawingml/2006/main" noGrp="1"/>
          </p:cNvSpPr>
          <p:nvPr/>
        </p:nvSpPr>
        <p:spPr>
          <a:xfrm xmlns:a="http://schemas.openxmlformats.org/drawingml/2006/main">
            <a:off x="1066800" y="247650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2" name="">
            <a:extLst xmlns:a="http://schemas.openxmlformats.org/drawingml/2006/main">
              <a:ext uri="{FF2B5EF4-FFF2-40B4-BE49-F238E27FC236}">
                <a16:creationId xmlns:a16="http://schemas.microsoft.com/office/drawing/2014/main" id="{243DDF7A-B57D-460C-85A3-F17FFB9A3A0C}"/>
              </a:ext>
            </a:extLst>
          </p:cNvPr>
          <p:cNvSpPr>
            <a:spLocks xmlns:a="http://schemas.openxmlformats.org/drawingml/2006/main" noGrp="1"/>
          </p:cNvSpPr>
          <p:nvPr/>
        </p:nvSpPr>
        <p:spPr>
          <a:xfrm xmlns:a="http://schemas.openxmlformats.org/drawingml/2006/main">
            <a:off x="1276350" y="2400300"/>
            <a:ext cx="41338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executable ordinary-list reconstruction</a:t>
            </a:r>
          </a:p>
        </p:txBody>
      </p:sp>
      <p:sp>
        <p:nvSpPr>
          <p:cNvPr id="13" name="">
            <a:extLst xmlns:a="http://schemas.openxmlformats.org/drawingml/2006/main">
              <a:ext uri="{FF2B5EF4-FFF2-40B4-BE49-F238E27FC236}">
                <a16:creationId xmlns:a16="http://schemas.microsoft.com/office/drawing/2014/main" id="{E8387360-41FA-4298-92C5-3845EF7CED8F}"/>
              </a:ext>
            </a:extLst>
          </p:cNvPr>
          <p:cNvSpPr>
            <a:spLocks xmlns:a="http://schemas.openxmlformats.org/drawingml/2006/main" noGrp="1"/>
          </p:cNvSpPr>
          <p:nvPr/>
        </p:nvSpPr>
        <p:spPr>
          <a:xfrm xmlns:a="http://schemas.openxmlformats.org/drawingml/2006/main">
            <a:off x="1066800" y="31051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4" name="">
            <a:extLst xmlns:a="http://schemas.openxmlformats.org/drawingml/2006/main">
              <a:ext uri="{FF2B5EF4-FFF2-40B4-BE49-F238E27FC236}">
                <a16:creationId xmlns:a16="http://schemas.microsoft.com/office/drawing/2014/main" id="{8F436BDE-292F-443B-9202-6A9C86ECE2B7}"/>
              </a:ext>
            </a:extLst>
          </p:cNvPr>
          <p:cNvSpPr>
            <a:spLocks xmlns:a="http://schemas.openxmlformats.org/drawingml/2006/main" noGrp="1"/>
          </p:cNvSpPr>
          <p:nvPr/>
        </p:nvSpPr>
        <p:spPr>
          <a:xfrm xmlns:a="http://schemas.openxmlformats.org/drawingml/2006/main">
            <a:off x="1276350" y="3028950"/>
            <a:ext cx="41338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output recovery from maintained state</a:t>
            </a:r>
          </a:p>
        </p:txBody>
      </p:sp>
      <p:sp>
        <p:nvSpPr>
          <p:cNvPr id="15" name="">
            <a:extLst xmlns:a="http://schemas.openxmlformats.org/drawingml/2006/main">
              <a:ext uri="{FF2B5EF4-FFF2-40B4-BE49-F238E27FC236}">
                <a16:creationId xmlns:a16="http://schemas.microsoft.com/office/drawing/2014/main" id="{78DF8471-699C-4DD1-BDA4-5EFAE03AE8FB}"/>
              </a:ext>
            </a:extLst>
          </p:cNvPr>
          <p:cNvSpPr>
            <a:spLocks xmlns:a="http://schemas.openxmlformats.org/drawingml/2006/main" noGrp="1"/>
          </p:cNvSpPr>
          <p:nvPr/>
        </p:nvSpPr>
        <p:spPr>
          <a:xfrm xmlns:a="http://schemas.openxmlformats.org/drawingml/2006/main">
            <a:off x="1066800" y="373380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6" name="">
            <a:extLst xmlns:a="http://schemas.openxmlformats.org/drawingml/2006/main">
              <a:ext uri="{FF2B5EF4-FFF2-40B4-BE49-F238E27FC236}">
                <a16:creationId xmlns:a16="http://schemas.microsoft.com/office/drawing/2014/main" id="{713A7B7C-CABE-4847-8B5C-9D7291D6F01E}"/>
              </a:ext>
            </a:extLst>
          </p:cNvPr>
          <p:cNvSpPr>
            <a:spLocks xmlns:a="http://schemas.openxmlformats.org/drawingml/2006/main" noGrp="1"/>
          </p:cNvSpPr>
          <p:nvPr/>
        </p:nvSpPr>
        <p:spPr>
          <a:xfrm xmlns:a="http://schemas.openxmlformats.org/drawingml/2006/main">
            <a:off x="1276350" y="3657600"/>
            <a:ext cx="41338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correctness on evaluated valid cases</a:t>
            </a:r>
          </a:p>
        </p:txBody>
      </p:sp>
      <p:sp>
        <p:nvSpPr>
          <p:cNvPr id="17" name="">
            <a:extLst xmlns:a="http://schemas.openxmlformats.org/drawingml/2006/main">
              <a:ext uri="{FF2B5EF4-FFF2-40B4-BE49-F238E27FC236}">
                <a16:creationId xmlns:a16="http://schemas.microsoft.com/office/drawing/2014/main" id="{09076827-D6DB-4F15-B27A-830F95F20DC3}"/>
              </a:ext>
            </a:extLst>
          </p:cNvPr>
          <p:cNvSpPr>
            <a:spLocks xmlns:a="http://schemas.openxmlformats.org/drawingml/2006/main" noGrp="1"/>
          </p:cNvSpPr>
          <p:nvPr/>
        </p:nvSpPr>
        <p:spPr>
          <a:xfrm xmlns:a="http://schemas.openxmlformats.org/drawingml/2006/main">
            <a:off x="1066800" y="43624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8" name="">
            <a:extLst xmlns:a="http://schemas.openxmlformats.org/drawingml/2006/main">
              <a:ext uri="{FF2B5EF4-FFF2-40B4-BE49-F238E27FC236}">
                <a16:creationId xmlns:a16="http://schemas.microsoft.com/office/drawing/2014/main" id="{A70D107B-1145-43F5-A816-07919A6B0D37}"/>
              </a:ext>
            </a:extLst>
          </p:cNvPr>
          <p:cNvSpPr>
            <a:spLocks xmlns:a="http://schemas.openxmlformats.org/drawingml/2006/main" noGrp="1"/>
          </p:cNvSpPr>
          <p:nvPr/>
        </p:nvSpPr>
        <p:spPr>
          <a:xfrm xmlns:a="http://schemas.openxmlformats.org/drawingml/2006/main">
            <a:off x="1276350" y="4286250"/>
            <a:ext cx="41338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reproducible runtime observations under fixed scopes</a:t>
            </a:r>
          </a:p>
        </p:txBody>
      </p:sp>
      <p:sp>
        <p:nvSpPr>
          <p:cNvPr id="19" name="">
            <a:extLst xmlns:a="http://schemas.openxmlformats.org/drawingml/2006/main">
              <a:ext uri="{FF2B5EF4-FFF2-40B4-BE49-F238E27FC236}">
                <a16:creationId xmlns:a16="http://schemas.microsoft.com/office/drawing/2014/main" id="{5A89C5A8-51D9-40B5-8E5C-60D495BF0BF9}"/>
              </a:ext>
            </a:extLst>
          </p:cNvPr>
          <p:cNvSpPr>
            <a:spLocks xmlns:a="http://schemas.openxmlformats.org/drawingml/2006/main" noGrp="1"/>
          </p:cNvSpPr>
          <p:nvPr/>
        </p:nvSpPr>
        <p:spPr>
          <a:xfrm xmlns:a="http://schemas.openxmlformats.org/drawingml/2006/main">
            <a:off x="6667500" y="247650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0" name="">
            <a:extLst xmlns:a="http://schemas.openxmlformats.org/drawingml/2006/main">
              <a:ext uri="{FF2B5EF4-FFF2-40B4-BE49-F238E27FC236}">
                <a16:creationId xmlns:a16="http://schemas.microsoft.com/office/drawing/2014/main" id="{E6F9BA62-7963-43CB-97EA-13F38A210371}"/>
              </a:ext>
            </a:extLst>
          </p:cNvPr>
          <p:cNvSpPr>
            <a:spLocks xmlns:a="http://schemas.openxmlformats.org/drawingml/2006/main" noGrp="1"/>
          </p:cNvSpPr>
          <p:nvPr/>
        </p:nvSpPr>
        <p:spPr>
          <a:xfrm xmlns:a="http://schemas.openxmlformats.org/drawingml/2006/main">
            <a:off x="6877050" y="2400300"/>
            <a:ext cx="41338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linear-time implementation</a:t>
            </a:r>
          </a:p>
        </p:txBody>
      </p:sp>
      <p:sp>
        <p:nvSpPr>
          <p:cNvPr id="21" name="">
            <a:extLst xmlns:a="http://schemas.openxmlformats.org/drawingml/2006/main">
              <a:ext uri="{FF2B5EF4-FFF2-40B4-BE49-F238E27FC236}">
                <a16:creationId xmlns:a16="http://schemas.microsoft.com/office/drawing/2014/main" id="{7E9635E4-96E3-4C3F-8E68-5184FC520B8C}"/>
              </a:ext>
            </a:extLst>
          </p:cNvPr>
          <p:cNvSpPr>
            <a:spLocks xmlns:a="http://schemas.openxmlformats.org/drawingml/2006/main" noGrp="1"/>
          </p:cNvSpPr>
          <p:nvPr/>
        </p:nvSpPr>
        <p:spPr>
          <a:xfrm xmlns:a="http://schemas.openxmlformats.org/drawingml/2006/main">
            <a:off x="6667500" y="31051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2" name="">
            <a:extLst xmlns:a="http://schemas.openxmlformats.org/drawingml/2006/main">
              <a:ext uri="{FF2B5EF4-FFF2-40B4-BE49-F238E27FC236}">
                <a16:creationId xmlns:a16="http://schemas.microsoft.com/office/drawing/2014/main" id="{5F1AA781-D403-46C5-AAEB-F50659EED59D}"/>
              </a:ext>
            </a:extLst>
          </p:cNvPr>
          <p:cNvSpPr>
            <a:spLocks xmlns:a="http://schemas.openxmlformats.org/drawingml/2006/main" noGrp="1"/>
          </p:cNvSpPr>
          <p:nvPr/>
        </p:nvSpPr>
        <p:spPr>
          <a:xfrm xmlns:a="http://schemas.openxmlformats.org/drawingml/2006/main">
            <a:off x="6877050" y="3028950"/>
            <a:ext cx="41338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asymptotic complexity</a:t>
            </a:r>
          </a:p>
        </p:txBody>
      </p:sp>
      <p:sp>
        <p:nvSpPr>
          <p:cNvPr id="23" name="">
            <a:extLst xmlns:a="http://schemas.openxmlformats.org/drawingml/2006/main">
              <a:ext uri="{FF2B5EF4-FFF2-40B4-BE49-F238E27FC236}">
                <a16:creationId xmlns:a16="http://schemas.microsoft.com/office/drawing/2014/main" id="{2159F660-67E2-48F1-A787-E1D39FB7B704}"/>
              </a:ext>
            </a:extLst>
          </p:cNvPr>
          <p:cNvSpPr>
            <a:spLocks xmlns:a="http://schemas.openxmlformats.org/drawingml/2006/main" noGrp="1"/>
          </p:cNvSpPr>
          <p:nvPr/>
        </p:nvSpPr>
        <p:spPr>
          <a:xfrm xmlns:a="http://schemas.openxmlformats.org/drawingml/2006/main">
            <a:off x="6667500" y="373380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4" name="">
            <a:extLst xmlns:a="http://schemas.openxmlformats.org/drawingml/2006/main">
              <a:ext uri="{FF2B5EF4-FFF2-40B4-BE49-F238E27FC236}">
                <a16:creationId xmlns:a16="http://schemas.microsoft.com/office/drawing/2014/main" id="{C67C8EDD-55B5-4AFA-8F9F-F8E86D34BC78}"/>
              </a:ext>
            </a:extLst>
          </p:cNvPr>
          <p:cNvSpPr>
            <a:spLocks xmlns:a="http://schemas.openxmlformats.org/drawingml/2006/main" noGrp="1"/>
          </p:cNvSpPr>
          <p:nvPr/>
        </p:nvSpPr>
        <p:spPr>
          <a:xfrm xmlns:a="http://schemas.openxmlformats.org/drawingml/2006/main">
            <a:off x="6877050" y="3657600"/>
            <a:ext cx="41338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arbitrary-input recognition</a:t>
            </a:r>
          </a:p>
        </p:txBody>
      </p:sp>
      <p:sp>
        <p:nvSpPr>
          <p:cNvPr id="25" name="">
            <a:extLst xmlns:a="http://schemas.openxmlformats.org/drawingml/2006/main">
              <a:ext uri="{FF2B5EF4-FFF2-40B4-BE49-F238E27FC236}">
                <a16:creationId xmlns:a16="http://schemas.microsoft.com/office/drawing/2014/main" id="{ACA589B4-4853-4C1A-A937-6942E283D934}"/>
              </a:ext>
            </a:extLst>
          </p:cNvPr>
          <p:cNvSpPr>
            <a:spLocks xmlns:a="http://schemas.openxmlformats.org/drawingml/2006/main" noGrp="1"/>
          </p:cNvSpPr>
          <p:nvPr/>
        </p:nvSpPr>
        <p:spPr>
          <a:xfrm xmlns:a="http://schemas.openxmlformats.org/drawingml/2006/main">
            <a:off x="6667500" y="43624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6" name="">
            <a:extLst xmlns:a="http://schemas.openxmlformats.org/drawingml/2006/main">
              <a:ext uri="{FF2B5EF4-FFF2-40B4-BE49-F238E27FC236}">
                <a16:creationId xmlns:a16="http://schemas.microsoft.com/office/drawing/2014/main" id="{1265F424-0F9D-47F8-9F86-CD67BE6E07E9}"/>
              </a:ext>
            </a:extLst>
          </p:cNvPr>
          <p:cNvSpPr>
            <a:spLocks xmlns:a="http://schemas.openxmlformats.org/drawingml/2006/main" noGrp="1"/>
          </p:cNvSpPr>
          <p:nvPr/>
        </p:nvSpPr>
        <p:spPr>
          <a:xfrm xmlns:a="http://schemas.openxmlformats.org/drawingml/2006/main">
            <a:off x="6877050" y="4286250"/>
            <a:ext cx="41338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like-for-like end-to-end speedup</a:t>
            </a:r>
          </a:p>
        </p:txBody>
      </p:sp>
      <p:sp>
        <p:nvSpPr>
          <p:cNvPr id="27" name="">
            <a:extLst xmlns:a="http://schemas.openxmlformats.org/drawingml/2006/main">
              <a:ext uri="{FF2B5EF4-FFF2-40B4-BE49-F238E27FC236}">
                <a16:creationId xmlns:a16="http://schemas.microsoft.com/office/drawing/2014/main" id="{1A3FEA0E-998C-4010-80D6-2FF023C0AA24}"/>
              </a:ext>
            </a:extLst>
          </p:cNvPr>
          <p:cNvSpPr>
            <a:spLocks xmlns:a="http://schemas.openxmlformats.org/drawingml/2006/main" noGrp="1"/>
          </p:cNvSpPr>
          <p:nvPr/>
        </p:nvSpPr>
        <p:spPr>
          <a:xfrm xmlns:a="http://schemas.openxmlformats.org/drawingml/2006/main">
            <a:off x="1428750" y="5486400"/>
            <a:ext cx="933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Structural relationships remain descriptive. A finger-tree backend is not yet part of the validated baseline.</a:t>
            </a:r>
          </a:p>
        </p:txBody>
      </p:sp>
      <p:sp>
        <p:nvSpPr>
          <p:cNvPr id="28" name="">
            <a:extLst xmlns:a="http://schemas.openxmlformats.org/drawingml/2006/main">
              <a:ext uri="{FF2B5EF4-FFF2-40B4-BE49-F238E27FC236}">
                <a16:creationId xmlns:a16="http://schemas.microsoft.com/office/drawing/2014/main" id="{3379034E-4414-43E5-9649-A0D78344D050}"/>
              </a:ext>
            </a:extLst>
          </p:cNvPr>
          <p:cNvSpPr>
            <a:spLocks xmlns:a="http://schemas.openxmlformats.org/drawingml/2006/main" noGrp="1"/>
          </p:cNvSpPr>
          <p:nvPr/>
        </p:nvSpPr>
        <p:spPr>
          <a:xfrm xmlns:a="http://schemas.openxmlformats.org/drawingml/2006/main">
            <a:off x="1428750" y="5867400"/>
            <a:ext cx="933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75" b="1" i="0">
                <a:solidFill>
                  <a:srgbClr val="102A43"/>
                </a:solidFill>
              </a:defRPr>
            </a:pPr>
            <a:r>
              <a:rPr sz="1575" b="1" i="0">
                <a:solidFill>
                  <a:srgbClr val="102A43"/>
                </a:solidFill>
              </a:rPr>
              <a:t>The reported conclusions remain specific to the ordinary-list baseline.</a:t>
            </a:r>
          </a:p>
        </p:txBody>
      </p:sp>
    </p:spTree>
    <p:extLst>
      <p:ext uri="{BB962C8B-B14F-4D97-AF65-F5344CB8AC3E}">
        <p14:creationId xmlns:p14="http://schemas.microsoft.com/office/powerpoint/2010/main" val="1162292552"/>
      </p:ext>
    </p:extLst>
  </p:cSld>
</p:sld>
</file>

<file path=ppt/slides/slide1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167844E2-53DC-42E9-8647-FFD6FF040053}"/>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MILESTONE</a:t>
            </a:r>
          </a:p>
        </p:txBody>
      </p:sp>
      <p:sp>
        <p:nvSpPr>
          <p:cNvPr id="2" name="">
            <a:extLst xmlns:a="http://schemas.openxmlformats.org/drawingml/2006/main">
              <a:ext uri="{FF2B5EF4-FFF2-40B4-BE49-F238E27FC236}">
                <a16:creationId xmlns:a16="http://schemas.microsoft.com/office/drawing/2014/main" id="{FEFA9BCD-7F39-4B1A-81A1-44B9EC826D64}"/>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79151"/>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The validated baseline provides a controlled basis for a scoped finger-tree extension</a:t>
            </a:r>
          </a:p>
        </p:txBody>
      </p:sp>
      <p:sp>
        <p:nvSpPr>
          <p:cNvPr id="3" name="">
            <a:extLst xmlns:a="http://schemas.openxmlformats.org/drawingml/2006/main">
              <a:ext uri="{FF2B5EF4-FFF2-40B4-BE49-F238E27FC236}">
                <a16:creationId xmlns:a16="http://schemas.microsoft.com/office/drawing/2014/main" id="{75043D4A-1D16-434E-A3F5-228E7E039220}"/>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4F597A85-3CED-4A2B-AEA9-69DFB2A91568}"/>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36394242-DFB9-46DF-9F8D-63F24D49363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FB26C982-71E2-4178-BCC1-D129787DC2F9}"/>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16 / 16</a:t>
            </a:r>
          </a:p>
        </p:txBody>
      </p:sp>
      <p:sp>
        <p:nvSpPr>
          <p:cNvPr id="7" name="">
            <a:extLst xmlns:a="http://schemas.openxmlformats.org/drawingml/2006/main">
              <a:ext uri="{FF2B5EF4-FFF2-40B4-BE49-F238E27FC236}">
                <a16:creationId xmlns:a16="http://schemas.microsoft.com/office/drawing/2014/main" id="{D1381D98-B273-4148-BC1F-732F1880792D}"/>
              </a:ext>
            </a:extLst>
          </p:cNvPr>
          <p:cNvSpPr>
            <a:spLocks xmlns:a="http://schemas.openxmlformats.org/drawingml/2006/main" noGrp="1"/>
          </p:cNvSpPr>
          <p:nvPr/>
        </p:nvSpPr>
        <p:spPr>
          <a:xfrm xmlns:a="http://schemas.openxmlformats.org/drawingml/2006/main">
            <a:off x="838200" y="1504950"/>
            <a:ext cx="447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2A9D8F"/>
                </a:solidFill>
              </a:defRPr>
            </a:pPr>
            <a:r>
              <a:rPr sz="1125" b="1" i="0">
                <a:solidFill>
                  <a:srgbClr val="2A9D8F"/>
                </a:solidFill>
              </a:rPr>
              <a:t>VALIDATED BASELINE</a:t>
            </a:r>
          </a:p>
        </p:txBody>
      </p:sp>
      <p:sp>
        <p:nvSpPr>
          <p:cNvPr id="8" name="">
            <a:extLst xmlns:a="http://schemas.openxmlformats.org/drawingml/2006/main">
              <a:ext uri="{FF2B5EF4-FFF2-40B4-BE49-F238E27FC236}">
                <a16:creationId xmlns:a16="http://schemas.microsoft.com/office/drawing/2014/main" id="{A7692A19-E969-495F-BC2D-2B7577BAFC54}"/>
              </a:ext>
            </a:extLst>
          </p:cNvPr>
          <p:cNvSpPr>
            <a:spLocks xmlns:a="http://schemas.openxmlformats.org/drawingml/2006/main" noGrp="1"/>
          </p:cNvSpPr>
          <p:nvPr/>
        </p:nvSpPr>
        <p:spPr>
          <a:xfrm xmlns:a="http://schemas.openxmlformats.org/drawingml/2006/main">
            <a:off x="6877050" y="1504950"/>
            <a:ext cx="447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E76F51"/>
                </a:solidFill>
              </a:defRPr>
            </a:pPr>
            <a:r>
              <a:rPr sz="1125" b="1" i="0">
                <a:solidFill>
                  <a:srgbClr val="E76F51"/>
                </a:solidFill>
              </a:rPr>
              <a:t>FINGER-TREE EXTENSION</a:t>
            </a:r>
          </a:p>
        </p:txBody>
      </p:sp>
      <p:sp>
        <p:nvSpPr>
          <p:cNvPr id="9" name="">
            <a:extLst xmlns:a="http://schemas.openxmlformats.org/drawingml/2006/main">
              <a:ext uri="{FF2B5EF4-FFF2-40B4-BE49-F238E27FC236}">
                <a16:creationId xmlns:a16="http://schemas.microsoft.com/office/drawing/2014/main" id="{22E94FFF-8F4C-4029-9F9A-705AA33F87D4}"/>
              </a:ext>
            </a:extLst>
          </p:cNvPr>
          <p:cNvSpPr>
            <a:spLocks xmlns:a="http://schemas.openxmlformats.org/drawingml/2006/main" noGrp="1"/>
          </p:cNvSpPr>
          <p:nvPr/>
        </p:nvSpPr>
        <p:spPr>
          <a:xfrm xmlns:a="http://schemas.openxmlformats.org/drawingml/2006/main">
            <a:off x="895350" y="205740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0" name="">
            <a:extLst xmlns:a="http://schemas.openxmlformats.org/drawingml/2006/main">
              <a:ext uri="{FF2B5EF4-FFF2-40B4-BE49-F238E27FC236}">
                <a16:creationId xmlns:a16="http://schemas.microsoft.com/office/drawing/2014/main" id="{09D824BA-589D-4ABC-9A76-1F3FDDB8C5FB}"/>
              </a:ext>
            </a:extLst>
          </p:cNvPr>
          <p:cNvSpPr>
            <a:spLocks xmlns:a="http://schemas.openxmlformats.org/drawingml/2006/main" noGrp="1"/>
          </p:cNvSpPr>
          <p:nvPr/>
        </p:nvSpPr>
        <p:spPr>
          <a:xfrm xmlns:a="http://schemas.openxmlformats.org/drawingml/2006/main">
            <a:off x="1104900" y="1981200"/>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75" b="0" i="0">
                <a:solidFill>
                  <a:srgbClr val="243B53"/>
                </a:solidFill>
              </a:defRPr>
            </a:pPr>
            <a:r>
              <a:rPr sz="1575" b="0" i="0">
                <a:solidFill>
                  <a:srgbClr val="243B53"/>
                </a:solidFill>
              </a:rPr>
              <a:t>executable ordinary-list reconstruction</a:t>
            </a:r>
          </a:p>
        </p:txBody>
      </p:sp>
      <p:sp>
        <p:nvSpPr>
          <p:cNvPr id="11" name="">
            <a:extLst xmlns:a="http://schemas.openxmlformats.org/drawingml/2006/main">
              <a:ext uri="{FF2B5EF4-FFF2-40B4-BE49-F238E27FC236}">
                <a16:creationId xmlns:a16="http://schemas.microsoft.com/office/drawing/2014/main" id="{09115D28-2166-4E97-84BC-C47FBE5FE95A}"/>
              </a:ext>
            </a:extLst>
          </p:cNvPr>
          <p:cNvSpPr>
            <a:spLocks xmlns:a="http://schemas.openxmlformats.org/drawingml/2006/main" noGrp="1"/>
          </p:cNvSpPr>
          <p:nvPr/>
        </p:nvSpPr>
        <p:spPr>
          <a:xfrm xmlns:a="http://schemas.openxmlformats.org/drawingml/2006/main">
            <a:off x="895350" y="26860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2" name="">
            <a:extLst xmlns:a="http://schemas.openxmlformats.org/drawingml/2006/main">
              <a:ext uri="{FF2B5EF4-FFF2-40B4-BE49-F238E27FC236}">
                <a16:creationId xmlns:a16="http://schemas.microsoft.com/office/drawing/2014/main" id="{E55EFC05-BD2E-4DF6-96B3-9EB7625E3293}"/>
              </a:ext>
            </a:extLst>
          </p:cNvPr>
          <p:cNvSpPr>
            <a:spLocks xmlns:a="http://schemas.openxmlformats.org/drawingml/2006/main" noGrp="1"/>
          </p:cNvSpPr>
          <p:nvPr/>
        </p:nvSpPr>
        <p:spPr>
          <a:xfrm xmlns:a="http://schemas.openxmlformats.org/drawingml/2006/main">
            <a:off x="1104900" y="2609850"/>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75" b="0" i="0">
                <a:solidFill>
                  <a:srgbClr val="243B53"/>
                </a:solidFill>
              </a:defRPr>
            </a:pPr>
            <a:r>
              <a:rPr sz="1575" b="0" i="0">
                <a:solidFill>
                  <a:srgbClr val="243B53"/>
                </a:solidFill>
              </a:rPr>
              <a:t>output recovered from maintained state</a:t>
            </a:r>
          </a:p>
        </p:txBody>
      </p:sp>
      <p:sp>
        <p:nvSpPr>
          <p:cNvPr id="13" name="">
            <a:extLst xmlns:a="http://schemas.openxmlformats.org/drawingml/2006/main">
              <a:ext uri="{FF2B5EF4-FFF2-40B4-BE49-F238E27FC236}">
                <a16:creationId xmlns:a16="http://schemas.microsoft.com/office/drawing/2014/main" id="{5E5D569D-0C53-4AA0-90C6-841E9BCEE907}"/>
              </a:ext>
            </a:extLst>
          </p:cNvPr>
          <p:cNvSpPr>
            <a:spLocks xmlns:a="http://schemas.openxmlformats.org/drawingml/2006/main" noGrp="1"/>
          </p:cNvSpPr>
          <p:nvPr/>
        </p:nvSpPr>
        <p:spPr>
          <a:xfrm xmlns:a="http://schemas.openxmlformats.org/drawingml/2006/main">
            <a:off x="895350" y="331470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4" name="">
            <a:extLst xmlns:a="http://schemas.openxmlformats.org/drawingml/2006/main">
              <a:ext uri="{FF2B5EF4-FFF2-40B4-BE49-F238E27FC236}">
                <a16:creationId xmlns:a16="http://schemas.microsoft.com/office/drawing/2014/main" id="{41562512-AD2B-42F9-9FDF-B0A74A663E47}"/>
              </a:ext>
            </a:extLst>
          </p:cNvPr>
          <p:cNvSpPr>
            <a:spLocks xmlns:a="http://schemas.openxmlformats.org/drawingml/2006/main" noGrp="1"/>
          </p:cNvSpPr>
          <p:nvPr/>
        </p:nvSpPr>
        <p:spPr>
          <a:xfrm xmlns:a="http://schemas.openxmlformats.org/drawingml/2006/main">
            <a:off x="1104900" y="3238500"/>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75" b="0" i="0">
                <a:solidFill>
                  <a:srgbClr val="243B53"/>
                </a:solidFill>
              </a:defRPr>
            </a:pPr>
            <a:r>
              <a:rPr sz="1575" b="0" i="0">
                <a:solidFill>
                  <a:srgbClr val="243B53"/>
                </a:solidFill>
              </a:rPr>
              <a:t>state and ownership validation</a:t>
            </a:r>
          </a:p>
        </p:txBody>
      </p:sp>
      <p:sp>
        <p:nvSpPr>
          <p:cNvPr id="15" name="">
            <a:extLst xmlns:a="http://schemas.openxmlformats.org/drawingml/2006/main">
              <a:ext uri="{FF2B5EF4-FFF2-40B4-BE49-F238E27FC236}">
                <a16:creationId xmlns:a16="http://schemas.microsoft.com/office/drawing/2014/main" id="{339414E3-BC16-488F-A44C-4B174082552D}"/>
              </a:ext>
            </a:extLst>
          </p:cNvPr>
          <p:cNvSpPr>
            <a:spLocks xmlns:a="http://schemas.openxmlformats.org/drawingml/2006/main" noGrp="1"/>
          </p:cNvSpPr>
          <p:nvPr/>
        </p:nvSpPr>
        <p:spPr>
          <a:xfrm xmlns:a="http://schemas.openxmlformats.org/drawingml/2006/main">
            <a:off x="895350" y="39433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6" name="">
            <a:extLst xmlns:a="http://schemas.openxmlformats.org/drawingml/2006/main">
              <a:ext uri="{FF2B5EF4-FFF2-40B4-BE49-F238E27FC236}">
                <a16:creationId xmlns:a16="http://schemas.microsoft.com/office/drawing/2014/main" id="{3B85E4AB-D846-4465-A2C3-A12DDF3323D5}"/>
              </a:ext>
            </a:extLst>
          </p:cNvPr>
          <p:cNvSpPr>
            <a:spLocks xmlns:a="http://schemas.openxmlformats.org/drawingml/2006/main" noGrp="1"/>
          </p:cNvSpPr>
          <p:nvPr/>
        </p:nvSpPr>
        <p:spPr>
          <a:xfrm xmlns:a="http://schemas.openxmlformats.org/drawingml/2006/main">
            <a:off x="1104900" y="3867150"/>
            <a:ext cx="4438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75" b="0" i="0">
                <a:solidFill>
                  <a:srgbClr val="243B53"/>
                </a:solidFill>
              </a:defRPr>
            </a:pPr>
            <a:r>
              <a:rPr sz="1575" b="0" i="0">
                <a:solidFill>
                  <a:srgbClr val="243B53"/>
                </a:solidFill>
              </a:rPr>
              <a:t>archived ordinary-list formal evidence</a:t>
            </a:r>
          </a:p>
        </p:txBody>
      </p:sp>
      <p:sp>
        <p:nvSpPr>
          <p:cNvPr id="17" name="">
            <a:extLst xmlns:a="http://schemas.openxmlformats.org/drawingml/2006/main">
              <a:ext uri="{FF2B5EF4-FFF2-40B4-BE49-F238E27FC236}">
                <a16:creationId xmlns:a16="http://schemas.microsoft.com/office/drawing/2014/main" id="{FCDA597A-AC8A-4A56-991A-17B6D75BA1E5}"/>
              </a:ext>
            </a:extLst>
          </p:cNvPr>
          <p:cNvSpPr>
            <a:spLocks xmlns:a="http://schemas.openxmlformats.org/drawingml/2006/main" noGrp="1"/>
          </p:cNvSpPr>
          <p:nvPr/>
        </p:nvSpPr>
        <p:spPr>
          <a:xfrm xmlns:a="http://schemas.openxmlformats.org/drawingml/2006/main">
            <a:off x="6934200" y="20002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18" name="">
            <a:extLst xmlns:a="http://schemas.openxmlformats.org/drawingml/2006/main">
              <a:ext uri="{FF2B5EF4-FFF2-40B4-BE49-F238E27FC236}">
                <a16:creationId xmlns:a16="http://schemas.microsoft.com/office/drawing/2014/main" id="{18B92819-C01A-4581-A66C-6DED016E6902}"/>
              </a:ext>
            </a:extLst>
          </p:cNvPr>
          <p:cNvSpPr>
            <a:spLocks xmlns:a="http://schemas.openxmlformats.org/drawingml/2006/main" noGrp="1"/>
          </p:cNvSpPr>
          <p:nvPr/>
        </p:nvSpPr>
        <p:spPr>
          <a:xfrm xmlns:a="http://schemas.openxmlformats.org/drawingml/2006/main">
            <a:off x="7143750" y="1924050"/>
            <a:ext cx="43053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extract a backend-independent interface</a:t>
            </a:r>
          </a:p>
        </p:txBody>
      </p:sp>
      <p:sp>
        <p:nvSpPr>
          <p:cNvPr id="19" name="">
            <a:extLst xmlns:a="http://schemas.openxmlformats.org/drawingml/2006/main">
              <a:ext uri="{FF2B5EF4-FFF2-40B4-BE49-F238E27FC236}">
                <a16:creationId xmlns:a16="http://schemas.microsoft.com/office/drawing/2014/main" id="{9C2025DB-2761-4C0C-AF4E-01942F377E13}"/>
              </a:ext>
            </a:extLst>
          </p:cNvPr>
          <p:cNvSpPr>
            <a:spLocks xmlns:a="http://schemas.openxmlformats.org/drawingml/2006/main" noGrp="1"/>
          </p:cNvSpPr>
          <p:nvPr/>
        </p:nvSpPr>
        <p:spPr>
          <a:xfrm xmlns:a="http://schemas.openxmlformats.org/drawingml/2006/main">
            <a:off x="6934200" y="2543175"/>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0" name="">
            <a:extLst xmlns:a="http://schemas.openxmlformats.org/drawingml/2006/main">
              <a:ext uri="{FF2B5EF4-FFF2-40B4-BE49-F238E27FC236}">
                <a16:creationId xmlns:a16="http://schemas.microsoft.com/office/drawing/2014/main" id="{4500892D-EDA7-4832-95BB-229219DF6C86}"/>
              </a:ext>
            </a:extLst>
          </p:cNvPr>
          <p:cNvSpPr>
            <a:spLocks xmlns:a="http://schemas.openxmlformats.org/drawingml/2006/main" noGrp="1"/>
          </p:cNvSpPr>
          <p:nvPr/>
        </p:nvSpPr>
        <p:spPr>
          <a:xfrm xmlns:a="http://schemas.openxmlformats.org/drawingml/2006/main">
            <a:off x="7143750" y="2466975"/>
            <a:ext cx="43053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implement a finger-tree sibling-list backend</a:t>
            </a:r>
          </a:p>
        </p:txBody>
      </p:sp>
      <p:sp>
        <p:nvSpPr>
          <p:cNvPr id="21" name="">
            <a:extLst xmlns:a="http://schemas.openxmlformats.org/drawingml/2006/main">
              <a:ext uri="{FF2B5EF4-FFF2-40B4-BE49-F238E27FC236}">
                <a16:creationId xmlns:a16="http://schemas.microsoft.com/office/drawing/2014/main" id="{DD9FD031-63B6-4C90-9C7D-B235A311B0D1}"/>
              </a:ext>
            </a:extLst>
          </p:cNvPr>
          <p:cNvSpPr>
            <a:spLocks xmlns:a="http://schemas.openxmlformats.org/drawingml/2006/main" noGrp="1"/>
          </p:cNvSpPr>
          <p:nvPr/>
        </p:nvSpPr>
        <p:spPr>
          <a:xfrm xmlns:a="http://schemas.openxmlformats.org/drawingml/2006/main">
            <a:off x="6934200" y="308610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2" name="">
            <a:extLst xmlns:a="http://schemas.openxmlformats.org/drawingml/2006/main">
              <a:ext uri="{FF2B5EF4-FFF2-40B4-BE49-F238E27FC236}">
                <a16:creationId xmlns:a16="http://schemas.microsoft.com/office/drawing/2014/main" id="{4B3042B2-BA08-4ADF-B27D-40278FF94EB1}"/>
              </a:ext>
            </a:extLst>
          </p:cNvPr>
          <p:cNvSpPr>
            <a:spLocks xmlns:a="http://schemas.openxmlformats.org/drawingml/2006/main" noGrp="1"/>
          </p:cNvSpPr>
          <p:nvPr/>
        </p:nvSpPr>
        <p:spPr>
          <a:xfrm xmlns:a="http://schemas.openxmlformats.org/drawingml/2006/main">
            <a:off x="7143750" y="3009900"/>
            <a:ext cx="43053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compare it with the ordinary-list baseline</a:t>
            </a:r>
          </a:p>
        </p:txBody>
      </p:sp>
      <p:sp>
        <p:nvSpPr>
          <p:cNvPr id="23" name="">
            <a:extLst xmlns:a="http://schemas.openxmlformats.org/drawingml/2006/main">
              <a:ext uri="{FF2B5EF4-FFF2-40B4-BE49-F238E27FC236}">
                <a16:creationId xmlns:a16="http://schemas.microsoft.com/office/drawing/2014/main" id="{30435D58-F95E-479A-B97E-D8943A645A01}"/>
              </a:ext>
            </a:extLst>
          </p:cNvPr>
          <p:cNvSpPr>
            <a:spLocks xmlns:a="http://schemas.openxmlformats.org/drawingml/2006/main" noGrp="1"/>
          </p:cNvSpPr>
          <p:nvPr/>
        </p:nvSpPr>
        <p:spPr>
          <a:xfrm xmlns:a="http://schemas.openxmlformats.org/drawingml/2006/main">
            <a:off x="6934200" y="3629025"/>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4" name="">
            <a:extLst xmlns:a="http://schemas.openxmlformats.org/drawingml/2006/main">
              <a:ext uri="{FF2B5EF4-FFF2-40B4-BE49-F238E27FC236}">
                <a16:creationId xmlns:a16="http://schemas.microsoft.com/office/drawing/2014/main" id="{C89683B0-A2B8-4F21-AF89-5491F8066A09}"/>
              </a:ext>
            </a:extLst>
          </p:cNvPr>
          <p:cNvSpPr>
            <a:spLocks xmlns:a="http://schemas.openxmlformats.org/drawingml/2006/main" noGrp="1"/>
          </p:cNvSpPr>
          <p:nvPr/>
        </p:nvSpPr>
        <p:spPr>
          <a:xfrm xmlns:a="http://schemas.openxmlformats.org/drawingml/2006/main">
            <a:off x="7143750" y="3552825"/>
            <a:ext cx="43053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assess whether required operation bounds can be justified</a:t>
            </a:r>
          </a:p>
        </p:txBody>
      </p:sp>
      <p:sp>
        <p:nvSpPr>
          <p:cNvPr id="27" name="">
            <a:extLst xmlns:a="http://schemas.openxmlformats.org/drawingml/2006/main">
              <a:ext uri="{FF2B5EF4-FFF2-40B4-BE49-F238E27FC236}">
                <a16:creationId xmlns:a16="http://schemas.microsoft.com/office/drawing/2014/main" id="{257731E9-311C-43D4-BDD6-9216AA21AAD9}"/>
              </a:ext>
            </a:extLst>
          </p:cNvPr>
          <p:cNvSpPr>
            <a:spLocks xmlns:a="http://schemas.openxmlformats.org/drawingml/2006/main" noGrp="1"/>
          </p:cNvSpPr>
          <p:nvPr/>
        </p:nvSpPr>
        <p:spPr>
          <a:xfrm xmlns:a="http://schemas.openxmlformats.org/drawingml/2006/main">
            <a:off x="876300" y="4953000"/>
            <a:ext cx="10439400" cy="1066800"/>
          </a:xfrm>
          <a:prstGeom xmlns:a="http://schemas.openxmlformats.org/drawingml/2006/main" prst="roundRect">
            <a:avLst>
              <a:gd name="adj" fmla="val 7143"/>
            </a:avLst>
          </a:prstGeom>
          <a:solidFill xmlns:a="http://schemas.openxmlformats.org/drawingml/2006/main">
            <a:srgbClr val="102A43"/>
          </a:solidFill>
          <a:ln xmlns:a="http://schemas.openxmlformats.org/drawingml/2006/main" w="11430">
            <a:solidFill>
              <a:srgbClr val="102A43"/>
            </a:solidFill>
            <a:prstDash val="solid"/>
          </a:ln>
        </p:spPr>
      </p:sp>
      <p:sp>
        <p:nvSpPr>
          <p:cNvPr id="28" name="">
            <a:extLst xmlns:a="http://schemas.openxmlformats.org/drawingml/2006/main">
              <a:ext uri="{FF2B5EF4-FFF2-40B4-BE49-F238E27FC236}">
                <a16:creationId xmlns:a16="http://schemas.microsoft.com/office/drawing/2014/main" id="{8779671C-6EC3-4DF7-9795-EB682AF75EFD}"/>
              </a:ext>
            </a:extLst>
          </p:cNvPr>
          <p:cNvSpPr>
            <a:spLocks xmlns:a="http://schemas.openxmlformats.org/drawingml/2006/main" noGrp="1"/>
          </p:cNvSpPr>
          <p:nvPr/>
        </p:nvSpPr>
        <p:spPr>
          <a:xfrm xmlns:a="http://schemas.openxmlformats.org/drawingml/2006/main">
            <a:off x="1143000" y="514350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8261"/>
          </a:bodyPr>
          <a:lstStyle xmlns:a="http://schemas.openxmlformats.org/drawingml/2006/main"/>
          <a:p xmlns:a="http://schemas.openxmlformats.org/drawingml/2006/main">
            <a:pPr algn="l">
              <a:lnSpc>
                <a:spcPct val="105000"/>
              </a:lnSpc>
              <a:buNone/>
              <a:defRPr sz="1575" b="1" i="0">
                <a:solidFill>
                  <a:srgbClr val="2A9D8F"/>
                </a:solidFill>
              </a:defRPr>
            </a:pPr>
            <a:r>
              <a:rPr sz="1575" b="1" i="0">
                <a:solidFill>
                  <a:srgbClr val="2A9D8F"/>
                </a:solidFill>
              </a:rPr>
              <a:t>Discussion</a:t>
            </a:r>
          </a:p>
        </p:txBody>
      </p:sp>
      <p:sp>
        <p:nvSpPr>
          <p:cNvPr id="29" name="">
            <a:extLst xmlns:a="http://schemas.openxmlformats.org/drawingml/2006/main">
              <a:ext uri="{FF2B5EF4-FFF2-40B4-BE49-F238E27FC236}">
                <a16:creationId xmlns:a16="http://schemas.microsoft.com/office/drawing/2014/main" id="{0F597526-2092-4671-B4F7-40C604C4DD0D}"/>
              </a:ext>
            </a:extLst>
          </p:cNvPr>
          <p:cNvSpPr>
            <a:spLocks xmlns:a="http://schemas.openxmlformats.org/drawingml/2006/main" noGrp="1"/>
          </p:cNvSpPr>
          <p:nvPr/>
        </p:nvSpPr>
        <p:spPr>
          <a:xfrm xmlns:a="http://schemas.openxmlformats.org/drawingml/2006/main">
            <a:off x="2743200" y="5010150"/>
            <a:ext cx="82105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7302"/>
          </a:bodyPr>
          <a:lstStyle xmlns:a="http://schemas.openxmlformats.org/drawingml/2006/main"/>
          <a:p xmlns:a="http://schemas.openxmlformats.org/drawingml/2006/main">
            <a:pPr algn="l">
              <a:lnSpc>
                <a:spcPct val="105000"/>
              </a:lnSpc>
              <a:buNone/>
              <a:defRPr sz="1500" b="0" i="0">
                <a:solidFill>
                  <a:srgbClr val="FFFFFF"/>
                </a:solidFill>
              </a:defRPr>
            </a:pPr>
            <a:r>
              <a:rPr sz="1500" b="0" i="0">
                <a:solidFill>
                  <a:srgbClr val="FFFFFF"/>
                </a:solidFill>
              </a:rPr>
              <a:t>1. Should the extension target the historical heterogeneous finger tree specifically, or an equivalent backend supporting the required list operations?</a:t>
            </a:r>
          </a:p>
          <a:p xmlns:a="http://schemas.openxmlformats.org/drawingml/2006/main">
            <a:pPr algn="l">
              <a:lnSpc>
                <a:spcPct val="105000"/>
              </a:lnSpc>
              <a:buNone/>
              <a:defRPr sz="1500" b="0" i="0">
                <a:solidFill>
                  <a:srgbClr val="FFFFFF"/>
                </a:solidFill>
              </a:defRPr>
            </a:pPr>
            <a:r>
              <a:rPr sz="1500" b="0" i="0">
                <a:solidFill>
                  <a:srgbClr val="FFFFFF"/>
                </a:solidFill>
              </a:rPr>
              <a:t>2. Is semantic equivalence plus an experimental comparison sufficient, or should the thesis also include an amortized operation-bound argument?</a:t>
            </a:r>
          </a:p>
        </p:txBody>
      </p:sp>
      <p:sp>
        <p:nvSpPr>
          <p:cNvPr id="31" name="">
            <a:extLst xmlns:a="http://schemas.openxmlformats.org/drawingml/2006/main">
              <a:ext uri="{FF2B5EF4-FFF2-40B4-BE49-F238E27FC236}">
                <a16:creationId xmlns:a16="http://schemas.microsoft.com/office/drawing/2014/main" id="{B1AC985E-9DF8-4ACD-B6B6-EA8ACF4F1A50}"/>
              </a:ext>
            </a:extLst>
          </p:cNvPr>
          <p:cNvSpPr>
            <a:spLocks xmlns:a="http://schemas.openxmlformats.org/drawingml/2006/main" noGrp="1"/>
          </p:cNvSpPr>
          <p:nvPr/>
        </p:nvSpPr>
        <p:spPr>
          <a:xfrm xmlns:a="http://schemas.openxmlformats.org/drawingml/2006/main">
            <a:off x="876300" y="4610100"/>
            <a:ext cx="10439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0000"/>
              </a:lnSpc>
              <a:buNone/>
              <a:defRPr sz="1050" b="0">
                <a:solidFill>
                  <a:srgbClr val="52606D"/>
                </a:solidFill>
              </a:defRPr>
            </a:pPr>
            <a:r>
              <a:rPr sz="1050" b="0">
                <a:solidFill>
                  <a:srgbClr val="52606D"/>
                </a:solidFill>
              </a:rPr>
              <a:t>The existing ordinary-list evidence remains read-only; finger-tree results require a separate validation and experiment version.</a:t>
            </a:r>
          </a:p>
        </p:txBody>
      </p:sp>
    </p:spTree>
    <p:extLst>
      <p:ext uri="{BB962C8B-B14F-4D97-AF65-F5344CB8AC3E}">
        <p14:creationId xmlns:p14="http://schemas.microsoft.com/office/powerpoint/2010/main" val="1557979965"/>
      </p:ext>
    </p:extLst>
  </p:cSld>
</p:sld>
</file>

<file path=ppt/slides/slide17.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65" name="">
            <a:extLst xmlns:a="http://schemas.openxmlformats.org/drawingml/2006/main">
              <a:ext uri="{FF2B5EF4-FFF2-40B4-BE49-F238E27FC236}">
                <a16:creationId xmlns:a16="http://schemas.microsoft.com/office/drawing/2014/main" id="{9B2B517D-41E5-40E3-9D0D-097621E381DD}"/>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A</a:t>
            </a:r>
          </a:p>
        </p:txBody>
      </p:sp>
      <p:sp>
        <p:nvSpPr>
          <p:cNvPr id="2" name="">
            <a:extLst xmlns:a="http://schemas.openxmlformats.org/drawingml/2006/main">
              <a:ext uri="{FF2B5EF4-FFF2-40B4-BE49-F238E27FC236}">
                <a16:creationId xmlns:a16="http://schemas.microsoft.com/office/drawing/2014/main" id="{863BC046-FF05-4EDB-9663-B4B171D98C6B}"/>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Median runtime by size under the recorded call scopes</a:t>
            </a:r>
          </a:p>
        </p:txBody>
      </p:sp>
      <p:sp>
        <p:nvSpPr>
          <p:cNvPr id="3" name="">
            <a:extLst xmlns:a="http://schemas.openxmlformats.org/drawingml/2006/main">
              <a:ext uri="{FF2B5EF4-FFF2-40B4-BE49-F238E27FC236}">
                <a16:creationId xmlns:a16="http://schemas.microsoft.com/office/drawing/2014/main" id="{1C4DB0D4-A667-4DE7-8D7E-9D57D5C7FA29}"/>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4E2EB034-0430-48E7-9D0D-D254F84DEF2A}"/>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97463A7D-76FD-45E8-B002-CF79F77F2532}"/>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ED73A389-E8E8-4255-8207-35E92079D25E}"/>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A</a:t>
            </a:r>
          </a:p>
        </p:txBody>
      </p:sp>
      <p:pic>
        <p:nvPicPr>
          <p:cNvPr id="73" name=""/>
          <p:cNvPicPr>
            <a:picLocks xmlns:a="http://schemas.openxmlformats.org/drawingml/2006/main" noChangeAspect="1"/>
          </p:cNvPicPr>
          <p:nvPr/>
        </p:nvPicPr>
        <p:blipFill>
          <a:blip xmlns:r="http://schemas.openxmlformats.org/officeDocument/2006/relationships" xmlns:a="http://schemas.openxmlformats.org/drawingml/2006/main" r:embed="R7668b85e9f834fc0"/>
          <a:stretch xmlns:a="http://schemas.openxmlformats.org/drawingml/2006/main"/>
        </p:blipFill>
        <p:spPr>
          <a:xfrm xmlns:a="http://schemas.openxmlformats.org/drawingml/2006/main">
            <a:off x="628650" y="1749972"/>
            <a:ext cx="6858000" cy="351045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C3A44C31-B259-4317-B828-6A78599E4E7C}"/>
              </a:ext>
            </a:extLst>
          </p:cNvPr>
          <p:cNvSpPr>
            <a:spLocks xmlns:a="http://schemas.openxmlformats.org/drawingml/2006/main" noGrp="1"/>
          </p:cNvSpPr>
          <p:nvPr/>
        </p:nvSpPr>
        <p:spPr>
          <a:xfrm xmlns:a="http://schemas.openxmlformats.org/drawingml/2006/main">
            <a:off x="628650" y="1562100"/>
            <a:ext cx="6858000" cy="476250"/>
          </a:xfrm>
          <a:prstGeom xmlns:a="http://schemas.openxmlformats.org/drawingml/2006/main" prst="rect">
            <a:avLst/>
          </a:prstGeom>
          <a:solidFill xmlns:a="http://schemas.openxmlformats.org/drawingml/2006/main">
            <a:srgbClr val="FFFFFF"/>
          </a:solidFill>
          <a:ln xmlns:a="http://schemas.openxmlformats.org/drawingml/2006/main" w="11430">
            <a:solidFill>
              <a:srgbClr val="FFFFFF"/>
            </a:solidFill>
            <a:prstDash val="solid"/>
          </a:ln>
        </p:spPr>
      </p:sp>
      <p:sp>
        <p:nvSpPr>
          <p:cNvPr id="9" name="">
            <a:extLst xmlns:a="http://schemas.openxmlformats.org/drawingml/2006/main">
              <a:ext uri="{FF2B5EF4-FFF2-40B4-BE49-F238E27FC236}">
                <a16:creationId xmlns:a16="http://schemas.microsoft.com/office/drawing/2014/main" id="{4A8AB0D0-15DC-4AB3-85EB-30EF5DBCF405}"/>
              </a:ext>
            </a:extLst>
          </p:cNvPr>
          <p:cNvSpPr>
            <a:spLocks xmlns:a="http://schemas.openxmlformats.org/drawingml/2006/main" noGrp="1"/>
          </p:cNvSpPr>
          <p:nvPr/>
        </p:nvSpPr>
        <p:spPr>
          <a:xfrm xmlns:a="http://schemas.openxmlformats.org/drawingml/2006/main">
            <a:off x="6000750" y="2057400"/>
            <a:ext cx="1447800" cy="1123950"/>
          </a:xfrm>
          <a:prstGeom xmlns:a="http://schemas.openxmlformats.org/drawingml/2006/main" prst="rect">
            <a:avLst/>
          </a:prstGeom>
          <a:solidFill xmlns:a="http://schemas.openxmlformats.org/drawingml/2006/main">
            <a:srgbClr val="FFFFFF"/>
          </a:solidFill>
          <a:ln xmlns:a="http://schemas.openxmlformats.org/drawingml/2006/main" w="11430">
            <a:solidFill>
              <a:srgbClr val="FFFFFF"/>
            </a:solidFill>
            <a:prstDash val="solid"/>
          </a:ln>
        </p:spPr>
      </p:sp>
      <p:sp>
        <p:nvSpPr>
          <p:cNvPr id="10" name="">
            <a:extLst xmlns:a="http://schemas.openxmlformats.org/drawingml/2006/main">
              <a:ext uri="{FF2B5EF4-FFF2-40B4-BE49-F238E27FC236}">
                <a16:creationId xmlns:a16="http://schemas.microsoft.com/office/drawing/2014/main" id="{514586B2-3148-4921-A4FF-EC61C934D885}"/>
              </a:ext>
            </a:extLst>
          </p:cNvPr>
          <p:cNvSpPr>
            <a:spLocks xmlns:a="http://schemas.openxmlformats.org/drawingml/2006/main" noGrp="1"/>
          </p:cNvSpPr>
          <p:nvPr/>
        </p:nvSpPr>
        <p:spPr>
          <a:xfrm xmlns:a="http://schemas.openxmlformats.org/drawingml/2006/main">
            <a:off x="6153150" y="2266950"/>
            <a:ext cx="228600" cy="9525"/>
          </a:xfrm>
          <a:prstGeom xmlns:a="http://schemas.openxmlformats.org/drawingml/2006/main" prst="line">
            <a:avLst/>
          </a:prstGeom>
          <a:noFill xmlns:a="http://schemas.openxmlformats.org/drawingml/2006/main"/>
          <a:ln xmlns:a="http://schemas.openxmlformats.org/drawingml/2006/main" w="28575">
            <a:solidFill>
              <a:srgbClr val="1F8A70"/>
            </a:solidFill>
            <a:prstDash val="solid"/>
          </a:ln>
        </p:spPr>
      </p:sp>
      <p:sp>
        <p:nvSpPr>
          <p:cNvPr id="11" name="">
            <a:extLst xmlns:a="http://schemas.openxmlformats.org/drawingml/2006/main">
              <a:ext uri="{FF2B5EF4-FFF2-40B4-BE49-F238E27FC236}">
                <a16:creationId xmlns:a16="http://schemas.microsoft.com/office/drawing/2014/main" id="{62F34482-CB89-48F1-B2F6-3B3335B8459D}"/>
              </a:ext>
            </a:extLst>
          </p:cNvPr>
          <p:cNvSpPr>
            <a:spLocks xmlns:a="http://schemas.openxmlformats.org/drawingml/2006/main" noGrp="1"/>
          </p:cNvSpPr>
          <p:nvPr/>
        </p:nvSpPr>
        <p:spPr>
          <a:xfrm xmlns:a="http://schemas.openxmlformats.org/drawingml/2006/main">
            <a:off x="6477000" y="2143125"/>
            <a:ext cx="895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75" b="0" i="0">
                <a:solidFill>
                  <a:srgbClr val="243B53"/>
                </a:solidFill>
              </a:defRPr>
            </a:pPr>
            <a:r>
              <a:rPr sz="975" b="0" i="0">
                <a:solidFill>
                  <a:srgbClr val="243B53"/>
                </a:solidFill>
              </a:rPr>
              <a:t>Python sort</a:t>
            </a:r>
          </a:p>
        </p:txBody>
      </p:sp>
      <p:sp>
        <p:nvSpPr>
          <p:cNvPr id="12" name="">
            <a:extLst xmlns:a="http://schemas.openxmlformats.org/drawingml/2006/main">
              <a:ext uri="{FF2B5EF4-FFF2-40B4-BE49-F238E27FC236}">
                <a16:creationId xmlns:a16="http://schemas.microsoft.com/office/drawing/2014/main" id="{02CEC2CC-E646-47D0-AAB6-27DF8B106DE7}"/>
              </a:ext>
            </a:extLst>
          </p:cNvPr>
          <p:cNvSpPr>
            <a:spLocks xmlns:a="http://schemas.openxmlformats.org/drawingml/2006/main" noGrp="1"/>
          </p:cNvSpPr>
          <p:nvPr/>
        </p:nvSpPr>
        <p:spPr>
          <a:xfrm xmlns:a="http://schemas.openxmlformats.org/drawingml/2006/main">
            <a:off x="6153150" y="2609850"/>
            <a:ext cx="228600" cy="9525"/>
          </a:xfrm>
          <a:prstGeom xmlns:a="http://schemas.openxmlformats.org/drawingml/2006/main" prst="line">
            <a:avLst/>
          </a:prstGeom>
          <a:noFill xmlns:a="http://schemas.openxmlformats.org/drawingml/2006/main"/>
          <a:ln xmlns:a="http://schemas.openxmlformats.org/drawingml/2006/main" w="28575">
            <a:solidFill>
              <a:srgbClr val="2E75B6"/>
            </a:solidFill>
            <a:prstDash val="solid"/>
          </a:ln>
        </p:spPr>
      </p:sp>
      <p:sp>
        <p:nvSpPr>
          <p:cNvPr id="13" name="">
            <a:extLst xmlns:a="http://schemas.openxmlformats.org/drawingml/2006/main">
              <a:ext uri="{FF2B5EF4-FFF2-40B4-BE49-F238E27FC236}">
                <a16:creationId xmlns:a16="http://schemas.microsoft.com/office/drawing/2014/main" id="{F789AEB0-71FB-423B-809B-3C361131C2F1}"/>
              </a:ext>
            </a:extLst>
          </p:cNvPr>
          <p:cNvSpPr>
            <a:spLocks xmlns:a="http://schemas.openxmlformats.org/drawingml/2006/main" noGrp="1"/>
          </p:cNvSpPr>
          <p:nvPr/>
        </p:nvSpPr>
        <p:spPr>
          <a:xfrm xmlns:a="http://schemas.openxmlformats.org/drawingml/2006/main">
            <a:off x="6477000" y="2486025"/>
            <a:ext cx="933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3681"/>
          </a:bodyPr>
          <a:lstStyle xmlns:a="http://schemas.openxmlformats.org/drawingml/2006/main"/>
          <a:p xmlns:a="http://schemas.openxmlformats.org/drawingml/2006/main">
            <a:pPr algn="l">
              <a:lnSpc>
                <a:spcPct val="105000"/>
              </a:lnSpc>
              <a:buNone/>
              <a:defRPr sz="975" b="0" i="0">
                <a:solidFill>
                  <a:srgbClr val="243B53"/>
                </a:solidFill>
              </a:defRPr>
            </a:pPr>
            <a:r>
              <a:rPr sz="975" b="0" i="0">
                <a:solidFill>
                  <a:srgbClr val="243B53"/>
                </a:solidFill>
              </a:rPr>
              <a:t>Reference pipeline</a:t>
            </a:r>
          </a:p>
        </p:txBody>
      </p:sp>
      <p:sp>
        <p:nvSpPr>
          <p:cNvPr id="14" name="">
            <a:extLst xmlns:a="http://schemas.openxmlformats.org/drawingml/2006/main">
              <a:ext uri="{FF2B5EF4-FFF2-40B4-BE49-F238E27FC236}">
                <a16:creationId xmlns:a16="http://schemas.microsoft.com/office/drawing/2014/main" id="{864C5F5D-342A-40BE-B937-D6C5CFE28A1E}"/>
              </a:ext>
            </a:extLst>
          </p:cNvPr>
          <p:cNvSpPr>
            <a:spLocks xmlns:a="http://schemas.openxmlformats.org/drawingml/2006/main" noGrp="1"/>
          </p:cNvSpPr>
          <p:nvPr/>
        </p:nvSpPr>
        <p:spPr>
          <a:xfrm xmlns:a="http://schemas.openxmlformats.org/drawingml/2006/main">
            <a:off x="6153150" y="2952750"/>
            <a:ext cx="2286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15" name="">
            <a:extLst xmlns:a="http://schemas.openxmlformats.org/drawingml/2006/main">
              <a:ext uri="{FF2B5EF4-FFF2-40B4-BE49-F238E27FC236}">
                <a16:creationId xmlns:a16="http://schemas.microsoft.com/office/drawing/2014/main" id="{17C697CD-8579-4681-B84D-1C1579D71165}"/>
              </a:ext>
            </a:extLst>
          </p:cNvPr>
          <p:cNvSpPr>
            <a:spLocks xmlns:a="http://schemas.openxmlformats.org/drawingml/2006/main" noGrp="1"/>
          </p:cNvSpPr>
          <p:nvPr/>
        </p:nvSpPr>
        <p:spPr>
          <a:xfrm xmlns:a="http://schemas.openxmlformats.org/drawingml/2006/main">
            <a:off x="6477000" y="2828925"/>
            <a:ext cx="9334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2593"/>
          </a:bodyPr>
          <a:lstStyle xmlns:a="http://schemas.openxmlformats.org/drawingml/2006/main"/>
          <a:p xmlns:a="http://schemas.openxmlformats.org/drawingml/2006/main">
            <a:pPr algn="l">
              <a:lnSpc>
                <a:spcPct val="105000"/>
              </a:lnSpc>
              <a:buNone/>
              <a:defRPr sz="900" b="0" i="0">
                <a:solidFill>
                  <a:srgbClr val="243B53"/>
                </a:solidFill>
              </a:defRPr>
            </a:pPr>
            <a:r>
              <a:rPr sz="900" b="0" i="0">
                <a:solidFill>
                  <a:srgbClr val="243B53"/>
                </a:solidFill>
              </a:rPr>
              <a:t>Paper ordinary-list core</a:t>
            </a:r>
          </a:p>
        </p:txBody>
      </p:sp>
      <p:sp>
        <p:nvSpPr>
          <p:cNvPr id="16" name="">
            <a:extLst xmlns:a="http://schemas.openxmlformats.org/drawingml/2006/main">
              <a:ext uri="{FF2B5EF4-FFF2-40B4-BE49-F238E27FC236}">
                <a16:creationId xmlns:a16="http://schemas.microsoft.com/office/drawing/2014/main" id="{30D6E617-4BC7-4C5D-BA2D-0EDC40FDA4CE}"/>
              </a:ext>
            </a:extLst>
          </p:cNvPr>
          <p:cNvSpPr>
            <a:spLocks xmlns:a="http://schemas.openxmlformats.org/drawingml/2006/main" noGrp="1"/>
          </p:cNvSpPr>
          <p:nvPr/>
        </p:nvSpPr>
        <p:spPr>
          <a:xfrm xmlns:a="http://schemas.openxmlformats.org/drawingml/2006/main">
            <a:off x="7772400" y="1638300"/>
            <a:ext cx="66675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17" name="">
            <a:extLst xmlns:a="http://schemas.openxmlformats.org/drawingml/2006/main">
              <a:ext uri="{FF2B5EF4-FFF2-40B4-BE49-F238E27FC236}">
                <a16:creationId xmlns:a16="http://schemas.microsoft.com/office/drawing/2014/main" id="{8373DE3F-B459-4F7E-ACD0-3FFDB1DFA21F}"/>
              </a:ext>
            </a:extLst>
          </p:cNvPr>
          <p:cNvSpPr>
            <a:spLocks xmlns:a="http://schemas.openxmlformats.org/drawingml/2006/main" noGrp="1"/>
          </p:cNvSpPr>
          <p:nvPr/>
        </p:nvSpPr>
        <p:spPr>
          <a:xfrm xmlns:a="http://schemas.openxmlformats.org/drawingml/2006/main">
            <a:off x="7791450" y="1676400"/>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n</a:t>
            </a:r>
          </a:p>
        </p:txBody>
      </p:sp>
      <p:sp>
        <p:nvSpPr>
          <p:cNvPr id="18" name="">
            <a:extLst xmlns:a="http://schemas.openxmlformats.org/drawingml/2006/main">
              <a:ext uri="{FF2B5EF4-FFF2-40B4-BE49-F238E27FC236}">
                <a16:creationId xmlns:a16="http://schemas.microsoft.com/office/drawing/2014/main" id="{4A95A237-2259-46F9-8C6F-6351D91316CA}"/>
              </a:ext>
            </a:extLst>
          </p:cNvPr>
          <p:cNvSpPr>
            <a:spLocks xmlns:a="http://schemas.openxmlformats.org/drawingml/2006/main" noGrp="1"/>
          </p:cNvSpPr>
          <p:nvPr/>
        </p:nvSpPr>
        <p:spPr>
          <a:xfrm xmlns:a="http://schemas.openxmlformats.org/drawingml/2006/main">
            <a:off x="8439150" y="1638300"/>
            <a:ext cx="106680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19" name="">
            <a:extLst xmlns:a="http://schemas.openxmlformats.org/drawingml/2006/main">
              <a:ext uri="{FF2B5EF4-FFF2-40B4-BE49-F238E27FC236}">
                <a16:creationId xmlns:a16="http://schemas.microsoft.com/office/drawing/2014/main" id="{8A9E5D38-1716-4682-8CB6-6980D31075F2}"/>
              </a:ext>
            </a:extLst>
          </p:cNvPr>
          <p:cNvSpPr>
            <a:spLocks xmlns:a="http://schemas.openxmlformats.org/drawingml/2006/main" noGrp="1"/>
          </p:cNvSpPr>
          <p:nvPr/>
        </p:nvSpPr>
        <p:spPr>
          <a:xfrm xmlns:a="http://schemas.openxmlformats.org/drawingml/2006/main">
            <a:off x="8458200" y="16764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Python (ms)</a:t>
            </a:r>
          </a:p>
        </p:txBody>
      </p:sp>
      <p:sp>
        <p:nvSpPr>
          <p:cNvPr id="20" name="">
            <a:extLst xmlns:a="http://schemas.openxmlformats.org/drawingml/2006/main">
              <a:ext uri="{FF2B5EF4-FFF2-40B4-BE49-F238E27FC236}">
                <a16:creationId xmlns:a16="http://schemas.microsoft.com/office/drawing/2014/main" id="{D3F63841-0CF1-4316-9B45-B61A13E15DFA}"/>
              </a:ext>
            </a:extLst>
          </p:cNvPr>
          <p:cNvSpPr>
            <a:spLocks xmlns:a="http://schemas.openxmlformats.org/drawingml/2006/main" noGrp="1"/>
          </p:cNvSpPr>
          <p:nvPr/>
        </p:nvSpPr>
        <p:spPr>
          <a:xfrm xmlns:a="http://schemas.openxmlformats.org/drawingml/2006/main">
            <a:off x="9505950" y="1638300"/>
            <a:ext cx="121920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21" name="">
            <a:extLst xmlns:a="http://schemas.openxmlformats.org/drawingml/2006/main">
              <a:ext uri="{FF2B5EF4-FFF2-40B4-BE49-F238E27FC236}">
                <a16:creationId xmlns:a16="http://schemas.microsoft.com/office/drawing/2014/main" id="{6C5781A7-4887-4773-8E5F-147B54F23E0B}"/>
              </a:ext>
            </a:extLst>
          </p:cNvPr>
          <p:cNvSpPr>
            <a:spLocks xmlns:a="http://schemas.openxmlformats.org/drawingml/2006/main" noGrp="1"/>
          </p:cNvSpPr>
          <p:nvPr/>
        </p:nvSpPr>
        <p:spPr>
          <a:xfrm xmlns:a="http://schemas.openxmlformats.org/drawingml/2006/main">
            <a:off x="9525000" y="1676400"/>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Reference (ms)</a:t>
            </a:r>
          </a:p>
        </p:txBody>
      </p:sp>
      <p:sp>
        <p:nvSpPr>
          <p:cNvPr id="22" name="">
            <a:extLst xmlns:a="http://schemas.openxmlformats.org/drawingml/2006/main">
              <a:ext uri="{FF2B5EF4-FFF2-40B4-BE49-F238E27FC236}">
                <a16:creationId xmlns:a16="http://schemas.microsoft.com/office/drawing/2014/main" id="{D47EB678-1276-4DB1-9671-9984A22F0609}"/>
              </a:ext>
            </a:extLst>
          </p:cNvPr>
          <p:cNvSpPr>
            <a:spLocks xmlns:a="http://schemas.openxmlformats.org/drawingml/2006/main" noGrp="1"/>
          </p:cNvSpPr>
          <p:nvPr/>
        </p:nvSpPr>
        <p:spPr>
          <a:xfrm xmlns:a="http://schemas.openxmlformats.org/drawingml/2006/main">
            <a:off x="10725150" y="1638300"/>
            <a:ext cx="106680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23" name="">
            <a:extLst xmlns:a="http://schemas.openxmlformats.org/drawingml/2006/main">
              <a:ext uri="{FF2B5EF4-FFF2-40B4-BE49-F238E27FC236}">
                <a16:creationId xmlns:a16="http://schemas.microsoft.com/office/drawing/2014/main" id="{5895A12B-AA56-4490-BE73-ABDE2B8BBD26}"/>
              </a:ext>
            </a:extLst>
          </p:cNvPr>
          <p:cNvSpPr>
            <a:spLocks xmlns:a="http://schemas.openxmlformats.org/drawingml/2006/main" noGrp="1"/>
          </p:cNvSpPr>
          <p:nvPr/>
        </p:nvSpPr>
        <p:spPr>
          <a:xfrm xmlns:a="http://schemas.openxmlformats.org/drawingml/2006/main">
            <a:off x="10744200" y="16764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Paper (ms)</a:t>
            </a:r>
          </a:p>
        </p:txBody>
      </p:sp>
      <p:sp>
        <p:nvSpPr>
          <p:cNvPr id="24" name="">
            <a:extLst xmlns:a="http://schemas.openxmlformats.org/drawingml/2006/main">
              <a:ext uri="{FF2B5EF4-FFF2-40B4-BE49-F238E27FC236}">
                <a16:creationId xmlns:a16="http://schemas.microsoft.com/office/drawing/2014/main" id="{158B0C0F-11E6-480C-BFEF-F0A1B08D1BA0}"/>
              </a:ext>
            </a:extLst>
          </p:cNvPr>
          <p:cNvSpPr>
            <a:spLocks xmlns:a="http://schemas.openxmlformats.org/drawingml/2006/main" noGrp="1"/>
          </p:cNvSpPr>
          <p:nvPr/>
        </p:nvSpPr>
        <p:spPr>
          <a:xfrm xmlns:a="http://schemas.openxmlformats.org/drawingml/2006/main">
            <a:off x="7772400" y="2162175"/>
            <a:ext cx="66675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5" name="">
            <a:extLst xmlns:a="http://schemas.openxmlformats.org/drawingml/2006/main">
              <a:ext uri="{FF2B5EF4-FFF2-40B4-BE49-F238E27FC236}">
                <a16:creationId xmlns:a16="http://schemas.microsoft.com/office/drawing/2014/main" id="{B3F666A2-9ED1-4597-8CF0-70E5CA6A2251}"/>
              </a:ext>
            </a:extLst>
          </p:cNvPr>
          <p:cNvSpPr>
            <a:spLocks xmlns:a="http://schemas.openxmlformats.org/drawingml/2006/main" noGrp="1"/>
          </p:cNvSpPr>
          <p:nvPr/>
        </p:nvSpPr>
        <p:spPr>
          <a:xfrm xmlns:a="http://schemas.openxmlformats.org/drawingml/2006/main">
            <a:off x="7791450" y="2200275"/>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32</a:t>
            </a:r>
          </a:p>
        </p:txBody>
      </p:sp>
      <p:sp>
        <p:nvSpPr>
          <p:cNvPr id="26" name="">
            <a:extLst xmlns:a="http://schemas.openxmlformats.org/drawingml/2006/main">
              <a:ext uri="{FF2B5EF4-FFF2-40B4-BE49-F238E27FC236}">
                <a16:creationId xmlns:a16="http://schemas.microsoft.com/office/drawing/2014/main" id="{6329C158-12E3-474F-91A9-963BDAE9AC17}"/>
              </a:ext>
            </a:extLst>
          </p:cNvPr>
          <p:cNvSpPr>
            <a:spLocks xmlns:a="http://schemas.openxmlformats.org/drawingml/2006/main" noGrp="1"/>
          </p:cNvSpPr>
          <p:nvPr/>
        </p:nvSpPr>
        <p:spPr>
          <a:xfrm xmlns:a="http://schemas.openxmlformats.org/drawingml/2006/main">
            <a:off x="8439150" y="21621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7" name="">
            <a:extLst xmlns:a="http://schemas.openxmlformats.org/drawingml/2006/main">
              <a:ext uri="{FF2B5EF4-FFF2-40B4-BE49-F238E27FC236}">
                <a16:creationId xmlns:a16="http://schemas.microsoft.com/office/drawing/2014/main" id="{1956542D-08F7-4F93-BE46-F41C302BD127}"/>
              </a:ext>
            </a:extLst>
          </p:cNvPr>
          <p:cNvSpPr>
            <a:spLocks xmlns:a="http://schemas.openxmlformats.org/drawingml/2006/main" noGrp="1"/>
          </p:cNvSpPr>
          <p:nvPr/>
        </p:nvSpPr>
        <p:spPr>
          <a:xfrm xmlns:a="http://schemas.openxmlformats.org/drawingml/2006/main">
            <a:off x="8458200" y="22002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0.000791</a:t>
            </a:r>
          </a:p>
        </p:txBody>
      </p:sp>
      <p:sp>
        <p:nvSpPr>
          <p:cNvPr id="28" name="">
            <a:extLst xmlns:a="http://schemas.openxmlformats.org/drawingml/2006/main">
              <a:ext uri="{FF2B5EF4-FFF2-40B4-BE49-F238E27FC236}">
                <a16:creationId xmlns:a16="http://schemas.microsoft.com/office/drawing/2014/main" id="{E14F5268-F9F9-4796-8175-16327F4308C9}"/>
              </a:ext>
            </a:extLst>
          </p:cNvPr>
          <p:cNvSpPr>
            <a:spLocks xmlns:a="http://schemas.openxmlformats.org/drawingml/2006/main" noGrp="1"/>
          </p:cNvSpPr>
          <p:nvPr/>
        </p:nvSpPr>
        <p:spPr>
          <a:xfrm xmlns:a="http://schemas.openxmlformats.org/drawingml/2006/main">
            <a:off x="9505950" y="2162175"/>
            <a:ext cx="12192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9" name="">
            <a:extLst xmlns:a="http://schemas.openxmlformats.org/drawingml/2006/main">
              <a:ext uri="{FF2B5EF4-FFF2-40B4-BE49-F238E27FC236}">
                <a16:creationId xmlns:a16="http://schemas.microsoft.com/office/drawing/2014/main" id="{E9DAE3EC-C846-4C59-BAAE-F07094A795D5}"/>
              </a:ext>
            </a:extLst>
          </p:cNvPr>
          <p:cNvSpPr>
            <a:spLocks xmlns:a="http://schemas.openxmlformats.org/drawingml/2006/main" noGrp="1"/>
          </p:cNvSpPr>
          <p:nvPr/>
        </p:nvSpPr>
        <p:spPr>
          <a:xfrm xmlns:a="http://schemas.openxmlformats.org/drawingml/2006/main">
            <a:off x="9525000" y="2200275"/>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0.181177</a:t>
            </a:r>
          </a:p>
        </p:txBody>
      </p:sp>
      <p:sp>
        <p:nvSpPr>
          <p:cNvPr id="30" name="">
            <a:extLst xmlns:a="http://schemas.openxmlformats.org/drawingml/2006/main">
              <a:ext uri="{FF2B5EF4-FFF2-40B4-BE49-F238E27FC236}">
                <a16:creationId xmlns:a16="http://schemas.microsoft.com/office/drawing/2014/main" id="{A884F09B-4C35-4AC3-9D4E-9BA6AB3A6D18}"/>
              </a:ext>
            </a:extLst>
          </p:cNvPr>
          <p:cNvSpPr>
            <a:spLocks xmlns:a="http://schemas.openxmlformats.org/drawingml/2006/main" noGrp="1"/>
          </p:cNvSpPr>
          <p:nvPr/>
        </p:nvSpPr>
        <p:spPr>
          <a:xfrm xmlns:a="http://schemas.openxmlformats.org/drawingml/2006/main">
            <a:off x="10725150" y="21621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31" name="">
            <a:extLst xmlns:a="http://schemas.openxmlformats.org/drawingml/2006/main">
              <a:ext uri="{FF2B5EF4-FFF2-40B4-BE49-F238E27FC236}">
                <a16:creationId xmlns:a16="http://schemas.microsoft.com/office/drawing/2014/main" id="{735B14CB-7285-4036-9ECD-A49963E03EF4}"/>
              </a:ext>
            </a:extLst>
          </p:cNvPr>
          <p:cNvSpPr>
            <a:spLocks xmlns:a="http://schemas.openxmlformats.org/drawingml/2006/main" noGrp="1"/>
          </p:cNvSpPr>
          <p:nvPr/>
        </p:nvSpPr>
        <p:spPr>
          <a:xfrm xmlns:a="http://schemas.openxmlformats.org/drawingml/2006/main">
            <a:off x="10744200" y="22002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0.586906</a:t>
            </a:r>
          </a:p>
        </p:txBody>
      </p:sp>
      <p:sp>
        <p:nvSpPr>
          <p:cNvPr id="32" name="">
            <a:extLst xmlns:a="http://schemas.openxmlformats.org/drawingml/2006/main">
              <a:ext uri="{FF2B5EF4-FFF2-40B4-BE49-F238E27FC236}">
                <a16:creationId xmlns:a16="http://schemas.microsoft.com/office/drawing/2014/main" id="{D5736656-283D-4274-AC7C-9717A4B070EB}"/>
              </a:ext>
            </a:extLst>
          </p:cNvPr>
          <p:cNvSpPr>
            <a:spLocks xmlns:a="http://schemas.openxmlformats.org/drawingml/2006/main" noGrp="1"/>
          </p:cNvSpPr>
          <p:nvPr/>
        </p:nvSpPr>
        <p:spPr>
          <a:xfrm xmlns:a="http://schemas.openxmlformats.org/drawingml/2006/main">
            <a:off x="7772400" y="2686050"/>
            <a:ext cx="66675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3" name="">
            <a:extLst xmlns:a="http://schemas.openxmlformats.org/drawingml/2006/main">
              <a:ext uri="{FF2B5EF4-FFF2-40B4-BE49-F238E27FC236}">
                <a16:creationId xmlns:a16="http://schemas.microsoft.com/office/drawing/2014/main" id="{3B4D2BC3-7819-4865-AE2B-304333BDB60E}"/>
              </a:ext>
            </a:extLst>
          </p:cNvPr>
          <p:cNvSpPr>
            <a:spLocks xmlns:a="http://schemas.openxmlformats.org/drawingml/2006/main" noGrp="1"/>
          </p:cNvSpPr>
          <p:nvPr/>
        </p:nvSpPr>
        <p:spPr>
          <a:xfrm xmlns:a="http://schemas.openxmlformats.org/drawingml/2006/main">
            <a:off x="7791450" y="2724150"/>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64</a:t>
            </a:r>
          </a:p>
        </p:txBody>
      </p:sp>
      <p:sp>
        <p:nvSpPr>
          <p:cNvPr id="34" name="">
            <a:extLst xmlns:a="http://schemas.openxmlformats.org/drawingml/2006/main">
              <a:ext uri="{FF2B5EF4-FFF2-40B4-BE49-F238E27FC236}">
                <a16:creationId xmlns:a16="http://schemas.microsoft.com/office/drawing/2014/main" id="{3380E9C3-4D38-4B58-B667-8E5D57E9842D}"/>
              </a:ext>
            </a:extLst>
          </p:cNvPr>
          <p:cNvSpPr>
            <a:spLocks xmlns:a="http://schemas.openxmlformats.org/drawingml/2006/main" noGrp="1"/>
          </p:cNvSpPr>
          <p:nvPr/>
        </p:nvSpPr>
        <p:spPr>
          <a:xfrm xmlns:a="http://schemas.openxmlformats.org/drawingml/2006/main">
            <a:off x="8439150" y="268605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5" name="">
            <a:extLst xmlns:a="http://schemas.openxmlformats.org/drawingml/2006/main">
              <a:ext uri="{FF2B5EF4-FFF2-40B4-BE49-F238E27FC236}">
                <a16:creationId xmlns:a16="http://schemas.microsoft.com/office/drawing/2014/main" id="{7DA365D4-5F57-45B8-B055-12EC00D84630}"/>
              </a:ext>
            </a:extLst>
          </p:cNvPr>
          <p:cNvSpPr>
            <a:spLocks xmlns:a="http://schemas.openxmlformats.org/drawingml/2006/main" noGrp="1"/>
          </p:cNvSpPr>
          <p:nvPr/>
        </p:nvSpPr>
        <p:spPr>
          <a:xfrm xmlns:a="http://schemas.openxmlformats.org/drawingml/2006/main">
            <a:off x="8458200" y="272415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0.001417</a:t>
            </a:r>
          </a:p>
        </p:txBody>
      </p:sp>
      <p:sp>
        <p:nvSpPr>
          <p:cNvPr id="36" name="">
            <a:extLst xmlns:a="http://schemas.openxmlformats.org/drawingml/2006/main">
              <a:ext uri="{FF2B5EF4-FFF2-40B4-BE49-F238E27FC236}">
                <a16:creationId xmlns:a16="http://schemas.microsoft.com/office/drawing/2014/main" id="{48ECC511-FBF1-49BE-BE53-45AC3D594BC5}"/>
              </a:ext>
            </a:extLst>
          </p:cNvPr>
          <p:cNvSpPr>
            <a:spLocks xmlns:a="http://schemas.openxmlformats.org/drawingml/2006/main" noGrp="1"/>
          </p:cNvSpPr>
          <p:nvPr/>
        </p:nvSpPr>
        <p:spPr>
          <a:xfrm xmlns:a="http://schemas.openxmlformats.org/drawingml/2006/main">
            <a:off x="9505950" y="2686050"/>
            <a:ext cx="12192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7" name="">
            <a:extLst xmlns:a="http://schemas.openxmlformats.org/drawingml/2006/main">
              <a:ext uri="{FF2B5EF4-FFF2-40B4-BE49-F238E27FC236}">
                <a16:creationId xmlns:a16="http://schemas.microsoft.com/office/drawing/2014/main" id="{5C207546-34C0-47B0-8C54-12A84504C01C}"/>
              </a:ext>
            </a:extLst>
          </p:cNvPr>
          <p:cNvSpPr>
            <a:spLocks xmlns:a="http://schemas.openxmlformats.org/drawingml/2006/main" noGrp="1"/>
          </p:cNvSpPr>
          <p:nvPr/>
        </p:nvSpPr>
        <p:spPr>
          <a:xfrm xmlns:a="http://schemas.openxmlformats.org/drawingml/2006/main">
            <a:off x="9525000" y="2724150"/>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0.585667</a:t>
            </a:r>
          </a:p>
        </p:txBody>
      </p:sp>
      <p:sp>
        <p:nvSpPr>
          <p:cNvPr id="38" name="">
            <a:extLst xmlns:a="http://schemas.openxmlformats.org/drawingml/2006/main">
              <a:ext uri="{FF2B5EF4-FFF2-40B4-BE49-F238E27FC236}">
                <a16:creationId xmlns:a16="http://schemas.microsoft.com/office/drawing/2014/main" id="{1674B16B-E8E3-4D98-A385-2955EE505F6E}"/>
              </a:ext>
            </a:extLst>
          </p:cNvPr>
          <p:cNvSpPr>
            <a:spLocks xmlns:a="http://schemas.openxmlformats.org/drawingml/2006/main" noGrp="1"/>
          </p:cNvSpPr>
          <p:nvPr/>
        </p:nvSpPr>
        <p:spPr>
          <a:xfrm xmlns:a="http://schemas.openxmlformats.org/drawingml/2006/main">
            <a:off x="10725150" y="268605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9" name="">
            <a:extLst xmlns:a="http://schemas.openxmlformats.org/drawingml/2006/main">
              <a:ext uri="{FF2B5EF4-FFF2-40B4-BE49-F238E27FC236}">
                <a16:creationId xmlns:a16="http://schemas.microsoft.com/office/drawing/2014/main" id="{C7EAF5BE-1E82-4713-9F4A-93306127C44F}"/>
              </a:ext>
            </a:extLst>
          </p:cNvPr>
          <p:cNvSpPr>
            <a:spLocks xmlns:a="http://schemas.openxmlformats.org/drawingml/2006/main" noGrp="1"/>
          </p:cNvSpPr>
          <p:nvPr/>
        </p:nvSpPr>
        <p:spPr>
          <a:xfrm xmlns:a="http://schemas.openxmlformats.org/drawingml/2006/main">
            <a:off x="10744200" y="272415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1.282198</a:t>
            </a:r>
          </a:p>
        </p:txBody>
      </p:sp>
      <p:sp>
        <p:nvSpPr>
          <p:cNvPr id="40" name="">
            <a:extLst xmlns:a="http://schemas.openxmlformats.org/drawingml/2006/main">
              <a:ext uri="{FF2B5EF4-FFF2-40B4-BE49-F238E27FC236}">
                <a16:creationId xmlns:a16="http://schemas.microsoft.com/office/drawing/2014/main" id="{E6A308BE-A9B8-468C-833A-3D38C39A45AB}"/>
              </a:ext>
            </a:extLst>
          </p:cNvPr>
          <p:cNvSpPr>
            <a:spLocks xmlns:a="http://schemas.openxmlformats.org/drawingml/2006/main" noGrp="1"/>
          </p:cNvSpPr>
          <p:nvPr/>
        </p:nvSpPr>
        <p:spPr>
          <a:xfrm xmlns:a="http://schemas.openxmlformats.org/drawingml/2006/main">
            <a:off x="7772400" y="3209925"/>
            <a:ext cx="66675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1" name="">
            <a:extLst xmlns:a="http://schemas.openxmlformats.org/drawingml/2006/main">
              <a:ext uri="{FF2B5EF4-FFF2-40B4-BE49-F238E27FC236}">
                <a16:creationId xmlns:a16="http://schemas.microsoft.com/office/drawing/2014/main" id="{BE241944-3EC4-4062-98B9-E7855E614199}"/>
              </a:ext>
            </a:extLst>
          </p:cNvPr>
          <p:cNvSpPr>
            <a:spLocks xmlns:a="http://schemas.openxmlformats.org/drawingml/2006/main" noGrp="1"/>
          </p:cNvSpPr>
          <p:nvPr/>
        </p:nvSpPr>
        <p:spPr>
          <a:xfrm xmlns:a="http://schemas.openxmlformats.org/drawingml/2006/main">
            <a:off x="7791450" y="3248025"/>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128</a:t>
            </a:r>
          </a:p>
        </p:txBody>
      </p:sp>
      <p:sp>
        <p:nvSpPr>
          <p:cNvPr id="42" name="">
            <a:extLst xmlns:a="http://schemas.openxmlformats.org/drawingml/2006/main">
              <a:ext uri="{FF2B5EF4-FFF2-40B4-BE49-F238E27FC236}">
                <a16:creationId xmlns:a16="http://schemas.microsoft.com/office/drawing/2014/main" id="{AD5BDE3F-1DCA-4C72-A1CA-3027B449CA63}"/>
              </a:ext>
            </a:extLst>
          </p:cNvPr>
          <p:cNvSpPr>
            <a:spLocks xmlns:a="http://schemas.openxmlformats.org/drawingml/2006/main" noGrp="1"/>
          </p:cNvSpPr>
          <p:nvPr/>
        </p:nvSpPr>
        <p:spPr>
          <a:xfrm xmlns:a="http://schemas.openxmlformats.org/drawingml/2006/main">
            <a:off x="8439150" y="320992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3" name="">
            <a:extLst xmlns:a="http://schemas.openxmlformats.org/drawingml/2006/main">
              <a:ext uri="{FF2B5EF4-FFF2-40B4-BE49-F238E27FC236}">
                <a16:creationId xmlns:a16="http://schemas.microsoft.com/office/drawing/2014/main" id="{FB8B982D-9423-4D07-87CA-C66D33512702}"/>
              </a:ext>
            </a:extLst>
          </p:cNvPr>
          <p:cNvSpPr>
            <a:spLocks xmlns:a="http://schemas.openxmlformats.org/drawingml/2006/main" noGrp="1"/>
          </p:cNvSpPr>
          <p:nvPr/>
        </p:nvSpPr>
        <p:spPr>
          <a:xfrm xmlns:a="http://schemas.openxmlformats.org/drawingml/2006/main">
            <a:off x="8458200" y="324802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0.002635</a:t>
            </a:r>
          </a:p>
        </p:txBody>
      </p:sp>
      <p:sp>
        <p:nvSpPr>
          <p:cNvPr id="44" name="">
            <a:extLst xmlns:a="http://schemas.openxmlformats.org/drawingml/2006/main">
              <a:ext uri="{FF2B5EF4-FFF2-40B4-BE49-F238E27FC236}">
                <a16:creationId xmlns:a16="http://schemas.microsoft.com/office/drawing/2014/main" id="{E97E25E2-7DE5-41CD-94AE-DD0C07ACA771}"/>
              </a:ext>
            </a:extLst>
          </p:cNvPr>
          <p:cNvSpPr>
            <a:spLocks xmlns:a="http://schemas.openxmlformats.org/drawingml/2006/main" noGrp="1"/>
          </p:cNvSpPr>
          <p:nvPr/>
        </p:nvSpPr>
        <p:spPr>
          <a:xfrm xmlns:a="http://schemas.openxmlformats.org/drawingml/2006/main">
            <a:off x="9505950" y="3209925"/>
            <a:ext cx="12192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5" name="">
            <a:extLst xmlns:a="http://schemas.openxmlformats.org/drawingml/2006/main">
              <a:ext uri="{FF2B5EF4-FFF2-40B4-BE49-F238E27FC236}">
                <a16:creationId xmlns:a16="http://schemas.microsoft.com/office/drawing/2014/main" id="{9EE9D827-3449-4451-93A1-8D2A9A21D23D}"/>
              </a:ext>
            </a:extLst>
          </p:cNvPr>
          <p:cNvSpPr>
            <a:spLocks xmlns:a="http://schemas.openxmlformats.org/drawingml/2006/main" noGrp="1"/>
          </p:cNvSpPr>
          <p:nvPr/>
        </p:nvSpPr>
        <p:spPr>
          <a:xfrm xmlns:a="http://schemas.openxmlformats.org/drawingml/2006/main">
            <a:off x="9525000" y="3248025"/>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2.077959</a:t>
            </a:r>
          </a:p>
        </p:txBody>
      </p:sp>
      <p:sp>
        <p:nvSpPr>
          <p:cNvPr id="46" name="">
            <a:extLst xmlns:a="http://schemas.openxmlformats.org/drawingml/2006/main">
              <a:ext uri="{FF2B5EF4-FFF2-40B4-BE49-F238E27FC236}">
                <a16:creationId xmlns:a16="http://schemas.microsoft.com/office/drawing/2014/main" id="{500F3F59-B09A-4D0E-BAF0-5BF03DFD0BE1}"/>
              </a:ext>
            </a:extLst>
          </p:cNvPr>
          <p:cNvSpPr>
            <a:spLocks xmlns:a="http://schemas.openxmlformats.org/drawingml/2006/main" noGrp="1"/>
          </p:cNvSpPr>
          <p:nvPr/>
        </p:nvSpPr>
        <p:spPr>
          <a:xfrm xmlns:a="http://schemas.openxmlformats.org/drawingml/2006/main">
            <a:off x="10725150" y="320992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7" name="">
            <a:extLst xmlns:a="http://schemas.openxmlformats.org/drawingml/2006/main">
              <a:ext uri="{FF2B5EF4-FFF2-40B4-BE49-F238E27FC236}">
                <a16:creationId xmlns:a16="http://schemas.microsoft.com/office/drawing/2014/main" id="{B4D060B9-EC5B-4645-A703-E90717441F9E}"/>
              </a:ext>
            </a:extLst>
          </p:cNvPr>
          <p:cNvSpPr>
            <a:spLocks xmlns:a="http://schemas.openxmlformats.org/drawingml/2006/main" noGrp="1"/>
          </p:cNvSpPr>
          <p:nvPr/>
        </p:nvSpPr>
        <p:spPr>
          <a:xfrm xmlns:a="http://schemas.openxmlformats.org/drawingml/2006/main">
            <a:off x="10744200" y="324802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2.815083</a:t>
            </a:r>
          </a:p>
        </p:txBody>
      </p:sp>
      <p:sp>
        <p:nvSpPr>
          <p:cNvPr id="48" name="">
            <a:extLst xmlns:a="http://schemas.openxmlformats.org/drawingml/2006/main">
              <a:ext uri="{FF2B5EF4-FFF2-40B4-BE49-F238E27FC236}">
                <a16:creationId xmlns:a16="http://schemas.microsoft.com/office/drawing/2014/main" id="{136413F0-59C4-4CCF-BBAF-83B31887A971}"/>
              </a:ext>
            </a:extLst>
          </p:cNvPr>
          <p:cNvSpPr>
            <a:spLocks xmlns:a="http://schemas.openxmlformats.org/drawingml/2006/main" noGrp="1"/>
          </p:cNvSpPr>
          <p:nvPr/>
        </p:nvSpPr>
        <p:spPr>
          <a:xfrm xmlns:a="http://schemas.openxmlformats.org/drawingml/2006/main">
            <a:off x="7772400" y="3733800"/>
            <a:ext cx="66675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49" name="">
            <a:extLst xmlns:a="http://schemas.openxmlformats.org/drawingml/2006/main">
              <a:ext uri="{FF2B5EF4-FFF2-40B4-BE49-F238E27FC236}">
                <a16:creationId xmlns:a16="http://schemas.microsoft.com/office/drawing/2014/main" id="{C3B31B35-FDE1-45DC-83AA-DAAB6C78212A}"/>
              </a:ext>
            </a:extLst>
          </p:cNvPr>
          <p:cNvSpPr>
            <a:spLocks xmlns:a="http://schemas.openxmlformats.org/drawingml/2006/main" noGrp="1"/>
          </p:cNvSpPr>
          <p:nvPr/>
        </p:nvSpPr>
        <p:spPr>
          <a:xfrm xmlns:a="http://schemas.openxmlformats.org/drawingml/2006/main">
            <a:off x="7791450" y="3771900"/>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256</a:t>
            </a:r>
          </a:p>
        </p:txBody>
      </p:sp>
      <p:sp>
        <p:nvSpPr>
          <p:cNvPr id="50" name="">
            <a:extLst xmlns:a="http://schemas.openxmlformats.org/drawingml/2006/main">
              <a:ext uri="{FF2B5EF4-FFF2-40B4-BE49-F238E27FC236}">
                <a16:creationId xmlns:a16="http://schemas.microsoft.com/office/drawing/2014/main" id="{65F9DCC5-290F-431B-9919-98BDB06F121B}"/>
              </a:ext>
            </a:extLst>
          </p:cNvPr>
          <p:cNvSpPr>
            <a:spLocks xmlns:a="http://schemas.openxmlformats.org/drawingml/2006/main" noGrp="1"/>
          </p:cNvSpPr>
          <p:nvPr/>
        </p:nvSpPr>
        <p:spPr>
          <a:xfrm xmlns:a="http://schemas.openxmlformats.org/drawingml/2006/main">
            <a:off x="8439150" y="373380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51" name="">
            <a:extLst xmlns:a="http://schemas.openxmlformats.org/drawingml/2006/main">
              <a:ext uri="{FF2B5EF4-FFF2-40B4-BE49-F238E27FC236}">
                <a16:creationId xmlns:a16="http://schemas.microsoft.com/office/drawing/2014/main" id="{7430904F-6B2F-4DF0-AE79-BA390884BE78}"/>
              </a:ext>
            </a:extLst>
          </p:cNvPr>
          <p:cNvSpPr>
            <a:spLocks xmlns:a="http://schemas.openxmlformats.org/drawingml/2006/main" noGrp="1"/>
          </p:cNvSpPr>
          <p:nvPr/>
        </p:nvSpPr>
        <p:spPr>
          <a:xfrm xmlns:a="http://schemas.openxmlformats.org/drawingml/2006/main">
            <a:off x="8458200" y="37719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0.005208</a:t>
            </a:r>
          </a:p>
        </p:txBody>
      </p:sp>
      <p:sp>
        <p:nvSpPr>
          <p:cNvPr id="52" name="">
            <a:extLst xmlns:a="http://schemas.openxmlformats.org/drawingml/2006/main">
              <a:ext uri="{FF2B5EF4-FFF2-40B4-BE49-F238E27FC236}">
                <a16:creationId xmlns:a16="http://schemas.microsoft.com/office/drawing/2014/main" id="{F6B69384-531F-4B52-A64B-3AE85A3F4E87}"/>
              </a:ext>
            </a:extLst>
          </p:cNvPr>
          <p:cNvSpPr>
            <a:spLocks xmlns:a="http://schemas.openxmlformats.org/drawingml/2006/main" noGrp="1"/>
          </p:cNvSpPr>
          <p:nvPr/>
        </p:nvSpPr>
        <p:spPr>
          <a:xfrm xmlns:a="http://schemas.openxmlformats.org/drawingml/2006/main">
            <a:off x="9505950" y="3733800"/>
            <a:ext cx="12192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53" name="">
            <a:extLst xmlns:a="http://schemas.openxmlformats.org/drawingml/2006/main">
              <a:ext uri="{FF2B5EF4-FFF2-40B4-BE49-F238E27FC236}">
                <a16:creationId xmlns:a16="http://schemas.microsoft.com/office/drawing/2014/main" id="{02AA4890-D20D-4F73-BFE8-495A7EC91194}"/>
              </a:ext>
            </a:extLst>
          </p:cNvPr>
          <p:cNvSpPr>
            <a:spLocks xmlns:a="http://schemas.openxmlformats.org/drawingml/2006/main" noGrp="1"/>
          </p:cNvSpPr>
          <p:nvPr/>
        </p:nvSpPr>
        <p:spPr>
          <a:xfrm xmlns:a="http://schemas.openxmlformats.org/drawingml/2006/main">
            <a:off x="9525000" y="3771900"/>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7.929646</a:t>
            </a:r>
          </a:p>
        </p:txBody>
      </p:sp>
      <p:sp>
        <p:nvSpPr>
          <p:cNvPr id="54" name="">
            <a:extLst xmlns:a="http://schemas.openxmlformats.org/drawingml/2006/main">
              <a:ext uri="{FF2B5EF4-FFF2-40B4-BE49-F238E27FC236}">
                <a16:creationId xmlns:a16="http://schemas.microsoft.com/office/drawing/2014/main" id="{E87AFCD9-D805-45BA-B88C-9EB2A7F85E20}"/>
              </a:ext>
            </a:extLst>
          </p:cNvPr>
          <p:cNvSpPr>
            <a:spLocks xmlns:a="http://schemas.openxmlformats.org/drawingml/2006/main" noGrp="1"/>
          </p:cNvSpPr>
          <p:nvPr/>
        </p:nvSpPr>
        <p:spPr>
          <a:xfrm xmlns:a="http://schemas.openxmlformats.org/drawingml/2006/main">
            <a:off x="10725150" y="373380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55" name="">
            <a:extLst xmlns:a="http://schemas.openxmlformats.org/drawingml/2006/main">
              <a:ext uri="{FF2B5EF4-FFF2-40B4-BE49-F238E27FC236}">
                <a16:creationId xmlns:a16="http://schemas.microsoft.com/office/drawing/2014/main" id="{156E550A-A9A1-4A1B-BB2B-57C553750AFD}"/>
              </a:ext>
            </a:extLst>
          </p:cNvPr>
          <p:cNvSpPr>
            <a:spLocks xmlns:a="http://schemas.openxmlformats.org/drawingml/2006/main" noGrp="1"/>
          </p:cNvSpPr>
          <p:nvPr/>
        </p:nvSpPr>
        <p:spPr>
          <a:xfrm xmlns:a="http://schemas.openxmlformats.org/drawingml/2006/main">
            <a:off x="10744200" y="37719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6.721250</a:t>
            </a:r>
          </a:p>
        </p:txBody>
      </p:sp>
      <p:sp>
        <p:nvSpPr>
          <p:cNvPr id="56" name="">
            <a:extLst xmlns:a="http://schemas.openxmlformats.org/drawingml/2006/main">
              <a:ext uri="{FF2B5EF4-FFF2-40B4-BE49-F238E27FC236}">
                <a16:creationId xmlns:a16="http://schemas.microsoft.com/office/drawing/2014/main" id="{1BE10C66-72F2-4475-9242-ADAD0547845F}"/>
              </a:ext>
            </a:extLst>
          </p:cNvPr>
          <p:cNvSpPr>
            <a:spLocks xmlns:a="http://schemas.openxmlformats.org/drawingml/2006/main" noGrp="1"/>
          </p:cNvSpPr>
          <p:nvPr/>
        </p:nvSpPr>
        <p:spPr>
          <a:xfrm xmlns:a="http://schemas.openxmlformats.org/drawingml/2006/main">
            <a:off x="7772400" y="4257675"/>
            <a:ext cx="66675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7" name="">
            <a:extLst xmlns:a="http://schemas.openxmlformats.org/drawingml/2006/main">
              <a:ext uri="{FF2B5EF4-FFF2-40B4-BE49-F238E27FC236}">
                <a16:creationId xmlns:a16="http://schemas.microsoft.com/office/drawing/2014/main" id="{1117CCE5-FFBD-4CBB-81D4-237F37FA3BB1}"/>
              </a:ext>
            </a:extLst>
          </p:cNvPr>
          <p:cNvSpPr>
            <a:spLocks xmlns:a="http://schemas.openxmlformats.org/drawingml/2006/main" noGrp="1"/>
          </p:cNvSpPr>
          <p:nvPr/>
        </p:nvSpPr>
        <p:spPr>
          <a:xfrm xmlns:a="http://schemas.openxmlformats.org/drawingml/2006/main">
            <a:off x="7791450" y="4295775"/>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512</a:t>
            </a:r>
          </a:p>
        </p:txBody>
      </p:sp>
      <p:sp>
        <p:nvSpPr>
          <p:cNvPr id="58" name="">
            <a:extLst xmlns:a="http://schemas.openxmlformats.org/drawingml/2006/main">
              <a:ext uri="{FF2B5EF4-FFF2-40B4-BE49-F238E27FC236}">
                <a16:creationId xmlns:a16="http://schemas.microsoft.com/office/drawing/2014/main" id="{7803809A-596B-4916-AE6E-41D8E3D410AF}"/>
              </a:ext>
            </a:extLst>
          </p:cNvPr>
          <p:cNvSpPr>
            <a:spLocks xmlns:a="http://schemas.openxmlformats.org/drawingml/2006/main" noGrp="1"/>
          </p:cNvSpPr>
          <p:nvPr/>
        </p:nvSpPr>
        <p:spPr>
          <a:xfrm xmlns:a="http://schemas.openxmlformats.org/drawingml/2006/main">
            <a:off x="8439150" y="42576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9" name="">
            <a:extLst xmlns:a="http://schemas.openxmlformats.org/drawingml/2006/main">
              <a:ext uri="{FF2B5EF4-FFF2-40B4-BE49-F238E27FC236}">
                <a16:creationId xmlns:a16="http://schemas.microsoft.com/office/drawing/2014/main" id="{06D5D884-2437-4EC8-B83F-C41B856EC0E5}"/>
              </a:ext>
            </a:extLst>
          </p:cNvPr>
          <p:cNvSpPr>
            <a:spLocks xmlns:a="http://schemas.openxmlformats.org/drawingml/2006/main" noGrp="1"/>
          </p:cNvSpPr>
          <p:nvPr/>
        </p:nvSpPr>
        <p:spPr>
          <a:xfrm xmlns:a="http://schemas.openxmlformats.org/drawingml/2006/main">
            <a:off x="8458200" y="42957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0.010584</a:t>
            </a:r>
          </a:p>
        </p:txBody>
      </p:sp>
      <p:sp>
        <p:nvSpPr>
          <p:cNvPr id="60" name="">
            <a:extLst xmlns:a="http://schemas.openxmlformats.org/drawingml/2006/main">
              <a:ext uri="{FF2B5EF4-FFF2-40B4-BE49-F238E27FC236}">
                <a16:creationId xmlns:a16="http://schemas.microsoft.com/office/drawing/2014/main" id="{1CB7A4DC-EBB8-462C-A003-A74ADE80FDF5}"/>
              </a:ext>
            </a:extLst>
          </p:cNvPr>
          <p:cNvSpPr>
            <a:spLocks xmlns:a="http://schemas.openxmlformats.org/drawingml/2006/main" noGrp="1"/>
          </p:cNvSpPr>
          <p:nvPr/>
        </p:nvSpPr>
        <p:spPr>
          <a:xfrm xmlns:a="http://schemas.openxmlformats.org/drawingml/2006/main">
            <a:off x="9505950" y="4257675"/>
            <a:ext cx="12192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61" name="">
            <a:extLst xmlns:a="http://schemas.openxmlformats.org/drawingml/2006/main">
              <a:ext uri="{FF2B5EF4-FFF2-40B4-BE49-F238E27FC236}">
                <a16:creationId xmlns:a16="http://schemas.microsoft.com/office/drawing/2014/main" id="{FA4253A8-EC3C-4CB4-A285-DF19E5AB0C9C}"/>
              </a:ext>
            </a:extLst>
          </p:cNvPr>
          <p:cNvSpPr>
            <a:spLocks xmlns:a="http://schemas.openxmlformats.org/drawingml/2006/main" noGrp="1"/>
          </p:cNvSpPr>
          <p:nvPr/>
        </p:nvSpPr>
        <p:spPr>
          <a:xfrm xmlns:a="http://schemas.openxmlformats.org/drawingml/2006/main">
            <a:off x="9525000" y="4295775"/>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33.014458</a:t>
            </a:r>
          </a:p>
        </p:txBody>
      </p:sp>
      <p:sp>
        <p:nvSpPr>
          <p:cNvPr id="62" name="">
            <a:extLst xmlns:a="http://schemas.openxmlformats.org/drawingml/2006/main">
              <a:ext uri="{FF2B5EF4-FFF2-40B4-BE49-F238E27FC236}">
                <a16:creationId xmlns:a16="http://schemas.microsoft.com/office/drawing/2014/main" id="{E4F76E16-96DD-4B11-B3BE-955EEA69A52B}"/>
              </a:ext>
            </a:extLst>
          </p:cNvPr>
          <p:cNvSpPr>
            <a:spLocks xmlns:a="http://schemas.openxmlformats.org/drawingml/2006/main" noGrp="1"/>
          </p:cNvSpPr>
          <p:nvPr/>
        </p:nvSpPr>
        <p:spPr>
          <a:xfrm xmlns:a="http://schemas.openxmlformats.org/drawingml/2006/main">
            <a:off x="10725150" y="42576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63" name="">
            <a:extLst xmlns:a="http://schemas.openxmlformats.org/drawingml/2006/main">
              <a:ext uri="{FF2B5EF4-FFF2-40B4-BE49-F238E27FC236}">
                <a16:creationId xmlns:a16="http://schemas.microsoft.com/office/drawing/2014/main" id="{9B222E38-4575-4539-B558-200633B49312}"/>
              </a:ext>
            </a:extLst>
          </p:cNvPr>
          <p:cNvSpPr>
            <a:spLocks xmlns:a="http://schemas.openxmlformats.org/drawingml/2006/main" noGrp="1"/>
          </p:cNvSpPr>
          <p:nvPr/>
        </p:nvSpPr>
        <p:spPr>
          <a:xfrm xmlns:a="http://schemas.openxmlformats.org/drawingml/2006/main">
            <a:off x="10744200" y="42957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18.716687</a:t>
            </a:r>
          </a:p>
        </p:txBody>
      </p:sp>
      <p:sp>
        <p:nvSpPr>
          <p:cNvPr id="64" name="">
            <a:extLst xmlns:a="http://schemas.openxmlformats.org/drawingml/2006/main">
              <a:ext uri="{FF2B5EF4-FFF2-40B4-BE49-F238E27FC236}">
                <a16:creationId xmlns:a16="http://schemas.microsoft.com/office/drawing/2014/main" id="{73718E20-47AB-46C9-A310-510E0EC12371}"/>
              </a:ext>
            </a:extLst>
          </p:cNvPr>
          <p:cNvSpPr>
            <a:spLocks xmlns:a="http://schemas.openxmlformats.org/drawingml/2006/main" noGrp="1"/>
          </p:cNvSpPr>
          <p:nvPr/>
        </p:nvSpPr>
        <p:spPr>
          <a:xfrm xmlns:a="http://schemas.openxmlformats.org/drawingml/2006/main">
            <a:off x="7848600" y="5086350"/>
            <a:ext cx="3905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Absolute times belong to one recorded Apple M4 / CPython 3.12.4 execution.</a:t>
            </a:r>
          </a:p>
        </p:txBody>
      </p:sp>
    </p:spTree>
    <p:extLst>
      <p:ext uri="{BB962C8B-B14F-4D97-AF65-F5344CB8AC3E}">
        <p14:creationId xmlns:p14="http://schemas.microsoft.com/office/powerpoint/2010/main" val="750221354"/>
      </p:ext>
    </p:extLst>
  </p:cSld>
</p:sld>
</file>

<file path=ppt/slides/slide18.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0C9AE4B-9925-46EA-951B-BC124821AC5D}"/>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B</a:t>
            </a:r>
          </a:p>
        </p:txBody>
      </p:sp>
      <p:sp>
        <p:nvSpPr>
          <p:cNvPr id="2" name="">
            <a:extLst xmlns:a="http://schemas.openxmlformats.org/drawingml/2006/main">
              <a:ext uri="{FF2B5EF4-FFF2-40B4-BE49-F238E27FC236}">
                <a16:creationId xmlns:a16="http://schemas.microsoft.com/office/drawing/2014/main" id="{D22E7B57-B3EC-475B-818E-0266FF8B8682}"/>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Paper output is recovered from state, not from the oracle result</a:t>
            </a:r>
          </a:p>
        </p:txBody>
      </p:sp>
      <p:sp>
        <p:nvSpPr>
          <p:cNvPr id="3" name="">
            <a:extLst xmlns:a="http://schemas.openxmlformats.org/drawingml/2006/main">
              <a:ext uri="{FF2B5EF4-FFF2-40B4-BE49-F238E27FC236}">
                <a16:creationId xmlns:a16="http://schemas.microsoft.com/office/drawing/2014/main" id="{10D8CE44-CD3D-48F0-A973-1353C90B3E5C}"/>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F2DF309C-E064-4D75-9524-1D3B72D4EEF1}"/>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BAFBACEE-211D-4302-863B-8D51F8F7613A}"/>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784024CE-FE5D-4D44-9822-6F497706F7E9}"/>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B</a:t>
            </a:r>
          </a:p>
        </p:txBody>
      </p:sp>
      <p:sp>
        <p:nvSpPr>
          <p:cNvPr id="7" name="">
            <a:extLst xmlns:a="http://schemas.openxmlformats.org/drawingml/2006/main">
              <a:ext uri="{FF2B5EF4-FFF2-40B4-BE49-F238E27FC236}">
                <a16:creationId xmlns:a16="http://schemas.microsoft.com/office/drawing/2014/main" id="{0F90C888-9366-4ABD-8F21-88D90FDD4C75}"/>
              </a:ext>
            </a:extLst>
          </p:cNvPr>
          <p:cNvSpPr>
            <a:spLocks xmlns:a="http://schemas.openxmlformats.org/drawingml/2006/main" noGrp="1"/>
          </p:cNvSpPr>
          <p:nvPr/>
        </p:nvSpPr>
        <p:spPr>
          <a:xfrm xmlns:a="http://schemas.openxmlformats.org/drawingml/2006/main">
            <a:off x="971550" y="1543050"/>
            <a:ext cx="4095750" cy="3562350"/>
          </a:xfrm>
          <a:prstGeom xmlns:a="http://schemas.openxmlformats.org/drawingml/2006/main" prst="roundRect">
            <a:avLst>
              <a:gd name="adj" fmla="val 2139"/>
            </a:avLst>
          </a:prstGeom>
          <a:solidFill xmlns:a="http://schemas.openxmlformats.org/drawingml/2006/main">
            <a:srgbClr val="FCEEEA"/>
          </a:solidFill>
          <a:ln xmlns:a="http://schemas.openxmlformats.org/drawingml/2006/main" w="19050">
            <a:solidFill>
              <a:srgbClr val="E76F51"/>
            </a:solidFill>
            <a:prstDash val="solid"/>
          </a:ln>
        </p:spPr>
      </p:sp>
      <p:sp>
        <p:nvSpPr>
          <p:cNvPr id="8" name="">
            <a:extLst xmlns:a="http://schemas.openxmlformats.org/drawingml/2006/main">
              <a:ext uri="{FF2B5EF4-FFF2-40B4-BE49-F238E27FC236}">
                <a16:creationId xmlns:a16="http://schemas.microsoft.com/office/drawing/2014/main" id="{60F09B0C-7FE5-4AD1-8D74-B1CC22C7C17E}"/>
              </a:ext>
            </a:extLst>
          </p:cNvPr>
          <p:cNvSpPr>
            <a:spLocks xmlns:a="http://schemas.openxmlformats.org/drawingml/2006/main" noGrp="1"/>
          </p:cNvSpPr>
          <p:nvPr/>
        </p:nvSpPr>
        <p:spPr>
          <a:xfrm xmlns:a="http://schemas.openxmlformats.org/drawingml/2006/main">
            <a:off x="7124700" y="1543050"/>
            <a:ext cx="4095750" cy="3562350"/>
          </a:xfrm>
          <a:prstGeom xmlns:a="http://schemas.openxmlformats.org/drawingml/2006/main" prst="roundRect">
            <a:avLst>
              <a:gd name="adj" fmla="val 2139"/>
            </a:avLst>
          </a:prstGeom>
          <a:solidFill xmlns:a="http://schemas.openxmlformats.org/drawingml/2006/main">
            <a:srgbClr val="E8F5F3"/>
          </a:solidFill>
          <a:ln xmlns:a="http://schemas.openxmlformats.org/drawingml/2006/main" w="19050">
            <a:solidFill>
              <a:srgbClr val="2A9D8F"/>
            </a:solidFill>
            <a:prstDash val="solid"/>
          </a:ln>
        </p:spPr>
      </p:sp>
      <p:sp>
        <p:nvSpPr>
          <p:cNvPr id="9" name="">
            <a:extLst xmlns:a="http://schemas.openxmlformats.org/drawingml/2006/main">
              <a:ext uri="{FF2B5EF4-FFF2-40B4-BE49-F238E27FC236}">
                <a16:creationId xmlns:a16="http://schemas.microsoft.com/office/drawing/2014/main" id="{25BE259D-7A0F-4DF4-B7BB-581AC2D14744}"/>
              </a:ext>
            </a:extLst>
          </p:cNvPr>
          <p:cNvSpPr>
            <a:spLocks xmlns:a="http://schemas.openxmlformats.org/drawingml/2006/main" noGrp="1"/>
          </p:cNvSpPr>
          <p:nvPr/>
        </p:nvSpPr>
        <p:spPr>
          <a:xfrm xmlns:a="http://schemas.openxmlformats.org/drawingml/2006/main">
            <a:off x="1238250" y="179070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100" b="1" i="0">
                <a:solidFill>
                  <a:srgbClr val="E76F51"/>
                </a:solidFill>
              </a:defRPr>
            </a:pPr>
            <a:r>
              <a:rPr sz="2100" b="1" i="0">
                <a:solidFill>
                  <a:srgbClr val="E76F51"/>
                </a:solidFill>
              </a:rPr>
              <a:t>Reference pipeline</a:t>
            </a:r>
          </a:p>
        </p:txBody>
      </p:sp>
      <p:sp>
        <p:nvSpPr>
          <p:cNvPr id="10" name="">
            <a:extLst xmlns:a="http://schemas.openxmlformats.org/drawingml/2006/main">
              <a:ext uri="{FF2B5EF4-FFF2-40B4-BE49-F238E27FC236}">
                <a16:creationId xmlns:a16="http://schemas.microsoft.com/office/drawing/2014/main" id="{024F1AF1-1390-4D78-ABB7-6AD33A5F83A1}"/>
              </a:ext>
            </a:extLst>
          </p:cNvPr>
          <p:cNvSpPr>
            <a:spLocks xmlns:a="http://schemas.openxmlformats.org/drawingml/2006/main" noGrp="1"/>
          </p:cNvSpPr>
          <p:nvPr/>
        </p:nvSpPr>
        <p:spPr>
          <a:xfrm xmlns:a="http://schemas.openxmlformats.org/drawingml/2006/main">
            <a:off x="1238250" y="2571750"/>
            <a:ext cx="3562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oracle_result["sorted"]</a:t>
            </a:r>
          </a:p>
        </p:txBody>
      </p:sp>
      <p:sp>
        <p:nvSpPr>
          <p:cNvPr id="11" name="">
            <a:extLst xmlns:a="http://schemas.openxmlformats.org/drawingml/2006/main">
              <a:ext uri="{FF2B5EF4-FFF2-40B4-BE49-F238E27FC236}">
                <a16:creationId xmlns:a16="http://schemas.microsoft.com/office/drawing/2014/main" id="{79E18CF1-F088-4DA7-870F-6A74A10C45BF}"/>
              </a:ext>
            </a:extLst>
          </p:cNvPr>
          <p:cNvSpPr>
            <a:spLocks xmlns:a="http://schemas.openxmlformats.org/drawingml/2006/main" noGrp="1"/>
          </p:cNvSpPr>
          <p:nvPr/>
        </p:nvSpPr>
        <p:spPr>
          <a:xfrm xmlns:a="http://schemas.openxmlformats.org/drawingml/2006/main">
            <a:off x="1428750" y="3429000"/>
            <a:ext cx="31813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Oracle validation, structure, trace, and serializable result assembly are part of the reference call.</a:t>
            </a:r>
          </a:p>
        </p:txBody>
      </p:sp>
      <p:sp>
        <p:nvSpPr>
          <p:cNvPr id="12" name="">
            <a:extLst xmlns:a="http://schemas.openxmlformats.org/drawingml/2006/main">
              <a:ext uri="{FF2B5EF4-FFF2-40B4-BE49-F238E27FC236}">
                <a16:creationId xmlns:a16="http://schemas.microsoft.com/office/drawing/2014/main" id="{92EF39AA-1D93-42DC-A1A9-35E5AE0A63E0}"/>
              </a:ext>
            </a:extLst>
          </p:cNvPr>
          <p:cNvSpPr>
            <a:spLocks xmlns:a="http://schemas.openxmlformats.org/drawingml/2006/main" noGrp="1"/>
          </p:cNvSpPr>
          <p:nvPr/>
        </p:nvSpPr>
        <p:spPr>
          <a:xfrm xmlns:a="http://schemas.openxmlformats.org/drawingml/2006/main">
            <a:off x="7391400" y="179070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100" b="1" i="0">
                <a:solidFill>
                  <a:srgbClr val="2A9D8F"/>
                </a:solidFill>
              </a:defRPr>
            </a:pPr>
            <a:r>
              <a:rPr sz="2100" b="1" i="0">
                <a:solidFill>
                  <a:srgbClr val="2A9D8F"/>
                </a:solidFill>
              </a:rPr>
              <a:t>Paper core</a:t>
            </a:r>
          </a:p>
        </p:txBody>
      </p:sp>
      <p:sp>
        <p:nvSpPr>
          <p:cNvPr id="13" name="">
            <a:extLst xmlns:a="http://schemas.openxmlformats.org/drawingml/2006/main">
              <a:ext uri="{FF2B5EF4-FFF2-40B4-BE49-F238E27FC236}">
                <a16:creationId xmlns:a16="http://schemas.microsoft.com/office/drawing/2014/main" id="{1D9A468C-C306-4355-AD74-F8BAFDE003F0}"/>
              </a:ext>
            </a:extLst>
          </p:cNvPr>
          <p:cNvSpPr>
            <a:spLocks xmlns:a="http://schemas.openxmlformats.org/drawingml/2006/main" noGrp="1"/>
          </p:cNvSpPr>
          <p:nvPr/>
        </p:nvSpPr>
        <p:spPr>
          <a:xfrm xmlns:a="http://schemas.openxmlformats.org/drawingml/2006/main">
            <a:off x="7391400" y="2571750"/>
            <a:ext cx="3562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state.partial_order.to_list()</a:t>
            </a:r>
          </a:p>
        </p:txBody>
      </p:sp>
      <p:sp>
        <p:nvSpPr>
          <p:cNvPr id="14" name="">
            <a:extLst xmlns:a="http://schemas.openxmlformats.org/drawingml/2006/main">
              <a:ext uri="{FF2B5EF4-FFF2-40B4-BE49-F238E27FC236}">
                <a16:creationId xmlns:a16="http://schemas.microsoft.com/office/drawing/2014/main" id="{0ABDF933-025A-4C94-AAC7-B1F6CD5BE9A0}"/>
              </a:ext>
            </a:extLst>
          </p:cNvPr>
          <p:cNvSpPr>
            <a:spLocks xmlns:a="http://schemas.openxmlformats.org/drawingml/2006/main" noGrp="1"/>
          </p:cNvSpPr>
          <p:nvPr/>
        </p:nvSpPr>
        <p:spPr>
          <a:xfrm xmlns:a="http://schemas.openxmlformats.org/drawingml/2006/main">
            <a:off x="7581900" y="3352800"/>
            <a:ext cx="318135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Certification precedes the call. Output comparison follows it. Neither provides the paper core's return value.</a:t>
            </a:r>
          </a:p>
        </p:txBody>
      </p:sp>
      <p:sp>
        <p:nvSpPr>
          <p:cNvPr id="15" name="">
            <a:extLst xmlns:a="http://schemas.openxmlformats.org/drawingml/2006/main">
              <a:ext uri="{FF2B5EF4-FFF2-40B4-BE49-F238E27FC236}">
                <a16:creationId xmlns:a16="http://schemas.microsoft.com/office/drawing/2014/main" id="{2D15A69B-6196-4AB8-9E17-1AD7DA20F034}"/>
              </a:ext>
            </a:extLst>
          </p:cNvPr>
          <p:cNvSpPr>
            <a:spLocks xmlns:a="http://schemas.openxmlformats.org/drawingml/2006/main" noGrp="1"/>
          </p:cNvSpPr>
          <p:nvPr/>
        </p:nvSpPr>
        <p:spPr>
          <a:xfrm xmlns:a="http://schemas.openxmlformats.org/drawingml/2006/main">
            <a:off x="2190750" y="56197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Same expected answer, different output provenance.</a:t>
            </a:r>
          </a:p>
        </p:txBody>
      </p:sp>
    </p:spTree>
    <p:extLst>
      <p:ext uri="{BB962C8B-B14F-4D97-AF65-F5344CB8AC3E}">
        <p14:creationId xmlns:p14="http://schemas.microsoft.com/office/powerpoint/2010/main" val="2090903576"/>
      </p:ext>
    </p:extLst>
  </p:cSld>
</p:sld>
</file>

<file path=ppt/slides/slide19.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29D494A0-74EC-4B5B-BA7B-96DB032AC9B8}"/>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C</a:t>
            </a:r>
          </a:p>
        </p:txBody>
      </p:sp>
      <p:sp>
        <p:nvSpPr>
          <p:cNvPr id="2" name="">
            <a:extLst xmlns:a="http://schemas.openxmlformats.org/drawingml/2006/main">
              <a:ext uri="{FF2B5EF4-FFF2-40B4-BE49-F238E27FC236}">
                <a16:creationId xmlns:a16="http://schemas.microsoft.com/office/drawing/2014/main" id="{855CFF3D-BB45-4DD3-8C33-CC8BD51587AC}"/>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Validation summary for the current implementation baseline</a:t>
            </a:r>
          </a:p>
        </p:txBody>
      </p:sp>
      <p:sp>
        <p:nvSpPr>
          <p:cNvPr id="3" name="">
            <a:extLst xmlns:a="http://schemas.openxmlformats.org/drawingml/2006/main">
              <a:ext uri="{FF2B5EF4-FFF2-40B4-BE49-F238E27FC236}">
                <a16:creationId xmlns:a16="http://schemas.microsoft.com/office/drawing/2014/main" id="{35127CB2-0A03-4635-B30B-E4155963A8DF}"/>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AC676BC9-4E8B-4972-919C-6356405111EC}"/>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7A82BBF5-A2D5-49FE-B2C4-41BB86BED14D}"/>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4D163CBE-5FF4-42A7-831C-996AECF48C9B}"/>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C</a:t>
            </a:r>
          </a:p>
        </p:txBody>
      </p:sp>
      <p:sp>
        <p:nvSpPr>
          <p:cNvPr id="7" name="">
            <a:extLst xmlns:a="http://schemas.openxmlformats.org/drawingml/2006/main">
              <a:ext uri="{FF2B5EF4-FFF2-40B4-BE49-F238E27FC236}">
                <a16:creationId xmlns:a16="http://schemas.microsoft.com/office/drawing/2014/main" id="{395DA7AC-149E-47E1-971D-1E49E1A27C27}"/>
              </a:ext>
            </a:extLst>
          </p:cNvPr>
          <p:cNvSpPr>
            <a:spLocks xmlns:a="http://schemas.openxmlformats.org/drawingml/2006/main" noGrp="1"/>
          </p:cNvSpPr>
          <p:nvPr/>
        </p:nvSpPr>
        <p:spPr>
          <a:xfrm xmlns:a="http://schemas.openxmlformats.org/drawingml/2006/main">
            <a:off x="990600" y="15049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2A9D8F"/>
                </a:solidFill>
              </a:defRPr>
            </a:pPr>
            <a:r>
              <a:rPr sz="3150" b="1" i="0">
                <a:solidFill>
                  <a:srgbClr val="2A9D8F"/>
                </a:solidFill>
              </a:rPr>
              <a:t>537</a:t>
            </a:r>
          </a:p>
        </p:txBody>
      </p:sp>
      <p:sp>
        <p:nvSpPr>
          <p:cNvPr id="8" name="">
            <a:extLst xmlns:a="http://schemas.openxmlformats.org/drawingml/2006/main">
              <a:ext uri="{FF2B5EF4-FFF2-40B4-BE49-F238E27FC236}">
                <a16:creationId xmlns:a16="http://schemas.microsoft.com/office/drawing/2014/main" id="{7210DC31-6C1D-4EE9-A74A-AE285B8CF581}"/>
              </a:ext>
            </a:extLst>
          </p:cNvPr>
          <p:cNvSpPr>
            <a:spLocks xmlns:a="http://schemas.openxmlformats.org/drawingml/2006/main" noGrp="1"/>
          </p:cNvSpPr>
          <p:nvPr/>
        </p:nvSpPr>
        <p:spPr>
          <a:xfrm xmlns:a="http://schemas.openxmlformats.org/drawingml/2006/main">
            <a:off x="3676650" y="1619250"/>
            <a:ext cx="38100" cy="342900"/>
          </a:xfrm>
          <a:prstGeom xmlns:a="http://schemas.openxmlformats.org/drawingml/2006/main" prst="rect">
            <a:avLst/>
          </a:prstGeom>
          <a:solidFill xmlns:a="http://schemas.openxmlformats.org/drawingml/2006/main">
            <a:srgbClr val="2A9D8F"/>
          </a:solidFill>
          <a:ln xmlns:a="http://schemas.openxmlformats.org/drawingml/2006/main" w="11430">
            <a:solidFill>
              <a:srgbClr val="2A9D8F"/>
            </a:solidFill>
            <a:prstDash val="solid"/>
          </a:ln>
        </p:spPr>
      </p:sp>
      <p:sp>
        <p:nvSpPr>
          <p:cNvPr id="9" name="">
            <a:extLst xmlns:a="http://schemas.openxmlformats.org/drawingml/2006/main">
              <a:ext uri="{FF2B5EF4-FFF2-40B4-BE49-F238E27FC236}">
                <a16:creationId xmlns:a16="http://schemas.microsoft.com/office/drawing/2014/main" id="{FAC4CE24-49A5-46DD-A857-55E1CD755693}"/>
              </a:ext>
            </a:extLst>
          </p:cNvPr>
          <p:cNvSpPr>
            <a:spLocks xmlns:a="http://schemas.openxmlformats.org/drawingml/2006/main" noGrp="1"/>
          </p:cNvSpPr>
          <p:nvPr/>
        </p:nvSpPr>
        <p:spPr>
          <a:xfrm xmlns:a="http://schemas.openxmlformats.org/drawingml/2006/main">
            <a:off x="4000500" y="15049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repository tests</a:t>
            </a:r>
          </a:p>
        </p:txBody>
      </p:sp>
      <p:sp>
        <p:nvSpPr>
          <p:cNvPr id="10" name="">
            <a:extLst xmlns:a="http://schemas.openxmlformats.org/drawingml/2006/main">
              <a:ext uri="{FF2B5EF4-FFF2-40B4-BE49-F238E27FC236}">
                <a16:creationId xmlns:a16="http://schemas.microsoft.com/office/drawing/2014/main" id="{45EDC861-BE51-4F1C-8642-89EB6F7DF3A9}"/>
              </a:ext>
            </a:extLst>
          </p:cNvPr>
          <p:cNvSpPr>
            <a:spLocks xmlns:a="http://schemas.openxmlformats.org/drawingml/2006/main" noGrp="1"/>
          </p:cNvSpPr>
          <p:nvPr/>
        </p:nvSpPr>
        <p:spPr>
          <a:xfrm xmlns:a="http://schemas.openxmlformats.org/drawingml/2006/main">
            <a:off x="990600" y="23431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E76F51"/>
                </a:solidFill>
              </a:defRPr>
            </a:pPr>
            <a:r>
              <a:rPr sz="3150" b="1" i="0">
                <a:solidFill>
                  <a:srgbClr val="E76F51"/>
                </a:solidFill>
              </a:rPr>
              <a:t>2,074</a:t>
            </a:r>
          </a:p>
        </p:txBody>
      </p:sp>
      <p:sp>
        <p:nvSpPr>
          <p:cNvPr id="11" name="">
            <a:extLst xmlns:a="http://schemas.openxmlformats.org/drawingml/2006/main">
              <a:ext uri="{FF2B5EF4-FFF2-40B4-BE49-F238E27FC236}">
                <a16:creationId xmlns:a16="http://schemas.microsoft.com/office/drawing/2014/main" id="{CC1B7341-C235-450B-AF96-2247B64398B8}"/>
              </a:ext>
            </a:extLst>
          </p:cNvPr>
          <p:cNvSpPr>
            <a:spLocks xmlns:a="http://schemas.openxmlformats.org/drawingml/2006/main" noGrp="1"/>
          </p:cNvSpPr>
          <p:nvPr/>
        </p:nvSpPr>
        <p:spPr>
          <a:xfrm xmlns:a="http://schemas.openxmlformats.org/drawingml/2006/main">
            <a:off x="3676650" y="2457450"/>
            <a:ext cx="38100" cy="342900"/>
          </a:xfrm>
          <a:prstGeom xmlns:a="http://schemas.openxmlformats.org/drawingml/2006/main" prst="rect">
            <a:avLst/>
          </a:prstGeom>
          <a:solidFill xmlns:a="http://schemas.openxmlformats.org/drawingml/2006/main">
            <a:srgbClr val="E76F51"/>
          </a:solidFill>
          <a:ln xmlns:a="http://schemas.openxmlformats.org/drawingml/2006/main" w="11430">
            <a:solidFill>
              <a:srgbClr val="E76F51"/>
            </a:solidFill>
            <a:prstDash val="solid"/>
          </a:ln>
        </p:spPr>
      </p:sp>
      <p:sp>
        <p:nvSpPr>
          <p:cNvPr id="12" name="">
            <a:extLst xmlns:a="http://schemas.openxmlformats.org/drawingml/2006/main">
              <a:ext uri="{FF2B5EF4-FFF2-40B4-BE49-F238E27FC236}">
                <a16:creationId xmlns:a16="http://schemas.microsoft.com/office/drawing/2014/main" id="{7CECD67B-16C1-4656-BE08-387235125DC8}"/>
              </a:ext>
            </a:extLst>
          </p:cNvPr>
          <p:cNvSpPr>
            <a:spLocks xmlns:a="http://schemas.openxmlformats.org/drawingml/2006/main" noGrp="1"/>
          </p:cNvSpPr>
          <p:nvPr/>
        </p:nvSpPr>
        <p:spPr>
          <a:xfrm xmlns:a="http://schemas.openxmlformats.org/drawingml/2006/main">
            <a:off x="4000500" y="23431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bounded exhaustive valid permutations, n ≤ 8</a:t>
            </a:r>
          </a:p>
        </p:txBody>
      </p:sp>
      <p:sp>
        <p:nvSpPr>
          <p:cNvPr id="13" name="">
            <a:extLst xmlns:a="http://schemas.openxmlformats.org/drawingml/2006/main">
              <a:ext uri="{FF2B5EF4-FFF2-40B4-BE49-F238E27FC236}">
                <a16:creationId xmlns:a16="http://schemas.microsoft.com/office/drawing/2014/main" id="{CF338DAC-D4A4-4D9D-AC28-3691474AE19E}"/>
              </a:ext>
            </a:extLst>
          </p:cNvPr>
          <p:cNvSpPr>
            <a:spLocks xmlns:a="http://schemas.openxmlformats.org/drawingml/2006/main" noGrp="1"/>
          </p:cNvSpPr>
          <p:nvPr/>
        </p:nvSpPr>
        <p:spPr>
          <a:xfrm xmlns:a="http://schemas.openxmlformats.org/drawingml/2006/main">
            <a:off x="990600" y="31813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2A9D8F"/>
                </a:solidFill>
              </a:defRPr>
            </a:pPr>
            <a:r>
              <a:rPr sz="3150" b="1" i="0">
                <a:solidFill>
                  <a:srgbClr val="2A9D8F"/>
                </a:solidFill>
              </a:rPr>
              <a:t>48</a:t>
            </a:r>
          </a:p>
        </p:txBody>
      </p:sp>
      <p:sp>
        <p:nvSpPr>
          <p:cNvPr id="14" name="">
            <a:extLst xmlns:a="http://schemas.openxmlformats.org/drawingml/2006/main">
              <a:ext uri="{FF2B5EF4-FFF2-40B4-BE49-F238E27FC236}">
                <a16:creationId xmlns:a16="http://schemas.microsoft.com/office/drawing/2014/main" id="{A04FAF4D-902F-41A6-A57C-9F47D58B9B32}"/>
              </a:ext>
            </a:extLst>
          </p:cNvPr>
          <p:cNvSpPr>
            <a:spLocks xmlns:a="http://schemas.openxmlformats.org/drawingml/2006/main" noGrp="1"/>
          </p:cNvSpPr>
          <p:nvPr/>
        </p:nvSpPr>
        <p:spPr>
          <a:xfrm xmlns:a="http://schemas.openxmlformats.org/drawingml/2006/main">
            <a:off x="3676650" y="3295650"/>
            <a:ext cx="38100" cy="342900"/>
          </a:xfrm>
          <a:prstGeom xmlns:a="http://schemas.openxmlformats.org/drawingml/2006/main" prst="rect">
            <a:avLst/>
          </a:prstGeom>
          <a:solidFill xmlns:a="http://schemas.openxmlformats.org/drawingml/2006/main">
            <a:srgbClr val="2A9D8F"/>
          </a:solidFill>
          <a:ln xmlns:a="http://schemas.openxmlformats.org/drawingml/2006/main" w="11430">
            <a:solidFill>
              <a:srgbClr val="2A9D8F"/>
            </a:solidFill>
            <a:prstDash val="solid"/>
          </a:ln>
        </p:spPr>
      </p:sp>
      <p:sp>
        <p:nvSpPr>
          <p:cNvPr id="15" name="">
            <a:extLst xmlns:a="http://schemas.openxmlformats.org/drawingml/2006/main">
              <a:ext uri="{FF2B5EF4-FFF2-40B4-BE49-F238E27FC236}">
                <a16:creationId xmlns:a16="http://schemas.microsoft.com/office/drawing/2014/main" id="{2A03AA54-208F-438B-ADBD-6CDE7AB72EAC}"/>
              </a:ext>
            </a:extLst>
          </p:cNvPr>
          <p:cNvSpPr>
            <a:spLocks xmlns:a="http://schemas.openxmlformats.org/drawingml/2006/main" noGrp="1"/>
          </p:cNvSpPr>
          <p:nvPr/>
        </p:nvSpPr>
        <p:spPr>
          <a:xfrm xmlns:a="http://schemas.openxmlformats.org/drawingml/2006/main">
            <a:off x="4000500" y="31813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fixed generated cases</a:t>
            </a:r>
          </a:p>
        </p:txBody>
      </p:sp>
      <p:sp>
        <p:nvSpPr>
          <p:cNvPr id="16" name="">
            <a:extLst xmlns:a="http://schemas.openxmlformats.org/drawingml/2006/main">
              <a:ext uri="{FF2B5EF4-FFF2-40B4-BE49-F238E27FC236}">
                <a16:creationId xmlns:a16="http://schemas.microsoft.com/office/drawing/2014/main" id="{A5B65981-7906-4DB9-BD97-3A685A9F1411}"/>
              </a:ext>
            </a:extLst>
          </p:cNvPr>
          <p:cNvSpPr>
            <a:spLocks xmlns:a="http://schemas.openxmlformats.org/drawingml/2006/main" noGrp="1"/>
          </p:cNvSpPr>
          <p:nvPr/>
        </p:nvSpPr>
        <p:spPr>
          <a:xfrm xmlns:a="http://schemas.openxmlformats.org/drawingml/2006/main">
            <a:off x="990600" y="40195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E76F51"/>
                </a:solidFill>
              </a:defRPr>
            </a:pPr>
            <a:r>
              <a:rPr sz="3150" b="1" i="0">
                <a:solidFill>
                  <a:srgbClr val="E76F51"/>
                </a:solidFill>
              </a:rPr>
              <a:t>60</a:t>
            </a:r>
          </a:p>
        </p:txBody>
      </p:sp>
      <p:sp>
        <p:nvSpPr>
          <p:cNvPr id="17" name="">
            <a:extLst xmlns:a="http://schemas.openxmlformats.org/drawingml/2006/main">
              <a:ext uri="{FF2B5EF4-FFF2-40B4-BE49-F238E27FC236}">
                <a16:creationId xmlns:a16="http://schemas.microsoft.com/office/drawing/2014/main" id="{1D3C7035-C8DE-4DFB-AF6E-515A0AA132C4}"/>
              </a:ext>
            </a:extLst>
          </p:cNvPr>
          <p:cNvSpPr>
            <a:spLocks xmlns:a="http://schemas.openxmlformats.org/drawingml/2006/main" noGrp="1"/>
          </p:cNvSpPr>
          <p:nvPr/>
        </p:nvSpPr>
        <p:spPr>
          <a:xfrm xmlns:a="http://schemas.openxmlformats.org/drawingml/2006/main">
            <a:off x="3676650" y="4133850"/>
            <a:ext cx="38100" cy="342900"/>
          </a:xfrm>
          <a:prstGeom xmlns:a="http://schemas.openxmlformats.org/drawingml/2006/main" prst="rect">
            <a:avLst/>
          </a:prstGeom>
          <a:solidFill xmlns:a="http://schemas.openxmlformats.org/drawingml/2006/main">
            <a:srgbClr val="E76F51"/>
          </a:solidFill>
          <a:ln xmlns:a="http://schemas.openxmlformats.org/drawingml/2006/main" w="11430">
            <a:solidFill>
              <a:srgbClr val="E76F51"/>
            </a:solidFill>
            <a:prstDash val="solid"/>
          </a:ln>
        </p:spPr>
      </p:sp>
      <p:sp>
        <p:nvSpPr>
          <p:cNvPr id="18" name="">
            <a:extLst xmlns:a="http://schemas.openxmlformats.org/drawingml/2006/main">
              <a:ext uri="{FF2B5EF4-FFF2-40B4-BE49-F238E27FC236}">
                <a16:creationId xmlns:a16="http://schemas.microsoft.com/office/drawing/2014/main" id="{04CA3564-0CEE-4F74-BE68-D40F68E83399}"/>
              </a:ext>
            </a:extLst>
          </p:cNvPr>
          <p:cNvSpPr>
            <a:spLocks xmlns:a="http://schemas.openxmlformats.org/drawingml/2006/main" noGrp="1"/>
          </p:cNvSpPr>
          <p:nvPr/>
        </p:nvSpPr>
        <p:spPr>
          <a:xfrm xmlns:a="http://schemas.openxmlformats.org/drawingml/2006/main">
            <a:off x="4000500" y="40195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formal case-level checked-state audits</a:t>
            </a:r>
          </a:p>
        </p:txBody>
      </p:sp>
      <p:sp>
        <p:nvSpPr>
          <p:cNvPr id="19" name="">
            <a:extLst xmlns:a="http://schemas.openxmlformats.org/drawingml/2006/main">
              <a:ext uri="{FF2B5EF4-FFF2-40B4-BE49-F238E27FC236}">
                <a16:creationId xmlns:a16="http://schemas.microsoft.com/office/drawing/2014/main" id="{4EE8F01E-1674-4D36-94D9-BAC325C4EE99}"/>
              </a:ext>
            </a:extLst>
          </p:cNvPr>
          <p:cNvSpPr>
            <a:spLocks xmlns:a="http://schemas.openxmlformats.org/drawingml/2006/main" noGrp="1"/>
          </p:cNvSpPr>
          <p:nvPr/>
        </p:nvSpPr>
        <p:spPr>
          <a:xfrm xmlns:a="http://schemas.openxmlformats.org/drawingml/2006/main">
            <a:off x="990600" y="48577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2550" b="1" i="0">
                <a:solidFill>
                  <a:srgbClr val="2A9D8F"/>
                </a:solidFill>
              </a:defRPr>
            </a:pPr>
            <a:r>
              <a:rPr sz="2550" b="1" i="0">
                <a:solidFill>
                  <a:srgbClr val="2A9D8F"/>
                </a:solidFill>
              </a:rPr>
              <a:t>passed</a:t>
            </a:r>
          </a:p>
        </p:txBody>
      </p:sp>
      <p:sp>
        <p:nvSpPr>
          <p:cNvPr id="20" name="">
            <a:extLst xmlns:a="http://schemas.openxmlformats.org/drawingml/2006/main">
              <a:ext uri="{FF2B5EF4-FFF2-40B4-BE49-F238E27FC236}">
                <a16:creationId xmlns:a16="http://schemas.microsoft.com/office/drawing/2014/main" id="{46ADA90F-9A40-4401-ADAF-5E354B7B164C}"/>
              </a:ext>
            </a:extLst>
          </p:cNvPr>
          <p:cNvSpPr>
            <a:spLocks xmlns:a="http://schemas.openxmlformats.org/drawingml/2006/main" noGrp="1"/>
          </p:cNvSpPr>
          <p:nvPr/>
        </p:nvSpPr>
        <p:spPr>
          <a:xfrm xmlns:a="http://schemas.openxmlformats.org/drawingml/2006/main">
            <a:off x="3676650" y="4972050"/>
            <a:ext cx="38100" cy="342900"/>
          </a:xfrm>
          <a:prstGeom xmlns:a="http://schemas.openxmlformats.org/drawingml/2006/main" prst="rect">
            <a:avLst/>
          </a:prstGeom>
          <a:solidFill xmlns:a="http://schemas.openxmlformats.org/drawingml/2006/main">
            <a:srgbClr val="2A9D8F"/>
          </a:solidFill>
          <a:ln xmlns:a="http://schemas.openxmlformats.org/drawingml/2006/main" w="11430">
            <a:solidFill>
              <a:srgbClr val="2A9D8F"/>
            </a:solidFill>
            <a:prstDash val="solid"/>
          </a:ln>
        </p:spPr>
      </p:sp>
      <p:sp>
        <p:nvSpPr>
          <p:cNvPr id="21" name="">
            <a:extLst xmlns:a="http://schemas.openxmlformats.org/drawingml/2006/main">
              <a:ext uri="{FF2B5EF4-FFF2-40B4-BE49-F238E27FC236}">
                <a16:creationId xmlns:a16="http://schemas.microsoft.com/office/drawing/2014/main" id="{059B1ED8-0884-4B2F-BAC8-7EA82BFB2EB4}"/>
              </a:ext>
            </a:extLst>
          </p:cNvPr>
          <p:cNvSpPr>
            <a:spLocks xmlns:a="http://schemas.openxmlformats.org/drawingml/2006/main" noGrp="1"/>
          </p:cNvSpPr>
          <p:nvPr/>
        </p:nvSpPr>
        <p:spPr>
          <a:xfrm xmlns:a="http://schemas.openxmlformats.org/drawingml/2006/main">
            <a:off x="4000500" y="48577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formal evidence-contract validation</a:t>
            </a:r>
          </a:p>
        </p:txBody>
      </p:sp>
      <p:sp>
        <p:nvSpPr>
          <p:cNvPr id="22" name="">
            <a:extLst xmlns:a="http://schemas.openxmlformats.org/drawingml/2006/main">
              <a:ext uri="{FF2B5EF4-FFF2-40B4-BE49-F238E27FC236}">
                <a16:creationId xmlns:a16="http://schemas.microsoft.com/office/drawing/2014/main" id="{C9B2CE2B-1396-4BE1-9E16-4DF7E08EEB26}"/>
              </a:ext>
            </a:extLst>
          </p:cNvPr>
          <p:cNvSpPr>
            <a:spLocks xmlns:a="http://schemas.openxmlformats.org/drawingml/2006/main" noGrp="1"/>
          </p:cNvSpPr>
          <p:nvPr/>
        </p:nvSpPr>
        <p:spPr>
          <a:xfrm xmlns:a="http://schemas.openxmlformats.org/drawingml/2006/main">
            <a:off x="1866900" y="5810250"/>
            <a:ext cx="8458200" cy="457200"/>
          </a:xfrm>
          <a:prstGeom xmlns:a="http://schemas.openxmlformats.org/drawingml/2006/main" prst="roundRect">
            <a:avLst>
              <a:gd name="adj" fmla="val 12500"/>
            </a:avLst>
          </a:prstGeom>
          <a:solidFill xmlns:a="http://schemas.openxmlformats.org/drawingml/2006/main">
            <a:srgbClr val="FCEEEA"/>
          </a:solidFill>
          <a:ln xmlns:a="http://schemas.openxmlformats.org/drawingml/2006/main" w="11430">
            <a:solidFill>
              <a:srgbClr val="E76F51"/>
            </a:solidFill>
            <a:prstDash val="solid"/>
          </a:ln>
        </p:spPr>
      </p:sp>
      <p:sp>
        <p:nvSpPr>
          <p:cNvPr id="23" name="">
            <a:extLst xmlns:a="http://schemas.openxmlformats.org/drawingml/2006/main">
              <a:ext uri="{FF2B5EF4-FFF2-40B4-BE49-F238E27FC236}">
                <a16:creationId xmlns:a16="http://schemas.microsoft.com/office/drawing/2014/main" id="{8F8BBA16-4776-4554-9075-FE17B9E7860F}"/>
              </a:ext>
            </a:extLst>
          </p:cNvPr>
          <p:cNvSpPr>
            <a:spLocks xmlns:a="http://schemas.openxmlformats.org/drawingml/2006/main" noGrp="1"/>
          </p:cNvSpPr>
          <p:nvPr/>
        </p:nvSpPr>
        <p:spPr>
          <a:xfrm xmlns:a="http://schemas.openxmlformats.org/drawingml/2006/main">
            <a:off x="2057400" y="5848350"/>
            <a:ext cx="8077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Finite validation evidence is not a proof for every Jordan sequence.</a:t>
            </a:r>
          </a:p>
        </p:txBody>
      </p:sp>
    </p:spTree>
    <p:extLst>
      <p:ext uri="{BB962C8B-B14F-4D97-AF65-F5344CB8AC3E}">
        <p14:creationId xmlns:p14="http://schemas.microsoft.com/office/powerpoint/2010/main" val="689703409"/>
      </p:ext>
    </p:extLst>
  </p:cSld>
</p:sld>
</file>

<file path=ppt/slides/slide20.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56" name="">
            <a:extLst xmlns:a="http://schemas.openxmlformats.org/drawingml/2006/main">
              <a:ext uri="{FF2B5EF4-FFF2-40B4-BE49-F238E27FC236}">
                <a16:creationId xmlns:a16="http://schemas.microsoft.com/office/drawing/2014/main" id="{52B6CFDF-D4A8-41D2-9B41-E6B249AEEF49}"/>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D</a:t>
            </a:r>
          </a:p>
        </p:txBody>
      </p:sp>
      <p:sp>
        <p:nvSpPr>
          <p:cNvPr id="2" name="">
            <a:extLst xmlns:a="http://schemas.openxmlformats.org/drawingml/2006/main">
              <a:ext uri="{FF2B5EF4-FFF2-40B4-BE49-F238E27FC236}">
                <a16:creationId xmlns:a16="http://schemas.microsoft.com/office/drawing/2014/main" id="{6C7177C2-031C-4D32-A397-8593E38D9DC7}"/>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Increasing and decreasing iterations use reflected local choices</a:t>
            </a:r>
          </a:p>
        </p:txBody>
      </p:sp>
      <p:sp>
        <p:nvSpPr>
          <p:cNvPr id="3" name="">
            <a:extLst xmlns:a="http://schemas.openxmlformats.org/drawingml/2006/main">
              <a:ext uri="{FF2B5EF4-FFF2-40B4-BE49-F238E27FC236}">
                <a16:creationId xmlns:a16="http://schemas.microsoft.com/office/drawing/2014/main" id="{EB27807E-8682-4A11-8F03-6D917FEB7221}"/>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48947FE8-B9D9-405D-96CC-95BE27495AB6}"/>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8810B14D-6779-4663-BEFF-CA4E48E5BE80}"/>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76740A75-6D94-4E33-973B-B527B46C601A}"/>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D</a:t>
            </a:r>
          </a:p>
        </p:txBody>
      </p:sp>
      <p:sp>
        <p:nvSpPr>
          <p:cNvPr id="7" name="">
            <a:extLst xmlns:a="http://schemas.openxmlformats.org/drawingml/2006/main">
              <a:ext uri="{FF2B5EF4-FFF2-40B4-BE49-F238E27FC236}">
                <a16:creationId xmlns:a16="http://schemas.microsoft.com/office/drawing/2014/main" id="{C628746E-96ED-468B-A0CE-92A47817B969}"/>
              </a:ext>
            </a:extLst>
          </p:cNvPr>
          <p:cNvSpPr>
            <a:spLocks xmlns:a="http://schemas.openxmlformats.org/drawingml/2006/main" noGrp="1"/>
          </p:cNvSpPr>
          <p:nvPr/>
        </p:nvSpPr>
        <p:spPr>
          <a:xfrm xmlns:a="http://schemas.openxmlformats.org/drawingml/2006/main">
            <a:off x="876300" y="1466850"/>
            <a:ext cx="3314700" cy="495300"/>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8" name="">
            <a:extLst xmlns:a="http://schemas.openxmlformats.org/drawingml/2006/main">
              <a:ext uri="{FF2B5EF4-FFF2-40B4-BE49-F238E27FC236}">
                <a16:creationId xmlns:a16="http://schemas.microsoft.com/office/drawing/2014/main" id="{E75C39A0-D37A-4CBA-A61D-E27B74B912C8}"/>
              </a:ext>
            </a:extLst>
          </p:cNvPr>
          <p:cNvSpPr>
            <a:spLocks xmlns:a="http://schemas.openxmlformats.org/drawingml/2006/main" noGrp="1"/>
          </p:cNvSpPr>
          <p:nvPr/>
        </p:nvSpPr>
        <p:spPr>
          <a:xfrm xmlns:a="http://schemas.openxmlformats.org/drawingml/2006/main">
            <a:off x="952500" y="1524000"/>
            <a:ext cx="31623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FFFFFF"/>
                </a:solidFill>
              </a:defRPr>
            </a:pPr>
            <a:r>
              <a:rPr sz="1425" b="1" i="0">
                <a:solidFill>
                  <a:srgbClr val="FFFFFF"/>
                </a:solidFill>
              </a:rPr>
              <a:t>Control choice</a:t>
            </a:r>
          </a:p>
        </p:txBody>
      </p:sp>
      <p:sp>
        <p:nvSpPr>
          <p:cNvPr id="9" name="">
            <a:extLst xmlns:a="http://schemas.openxmlformats.org/drawingml/2006/main">
              <a:ext uri="{FF2B5EF4-FFF2-40B4-BE49-F238E27FC236}">
                <a16:creationId xmlns:a16="http://schemas.microsoft.com/office/drawing/2014/main" id="{CEF46803-D98B-4E3C-8471-A1353A3D315A}"/>
              </a:ext>
            </a:extLst>
          </p:cNvPr>
          <p:cNvSpPr>
            <a:spLocks xmlns:a="http://schemas.openxmlformats.org/drawingml/2006/main" noGrp="1"/>
          </p:cNvSpPr>
          <p:nvPr/>
        </p:nvSpPr>
        <p:spPr>
          <a:xfrm xmlns:a="http://schemas.openxmlformats.org/drawingml/2006/main">
            <a:off x="4191000" y="1466850"/>
            <a:ext cx="3295650" cy="495300"/>
          </a:xfrm>
          <a:prstGeom xmlns:a="http://schemas.openxmlformats.org/drawingml/2006/main" prst="rect">
            <a:avLst/>
          </a:prstGeom>
          <a:solidFill xmlns:a="http://schemas.openxmlformats.org/drawingml/2006/main">
            <a:srgbClr val="E8F5F3"/>
          </a:solidFill>
          <a:ln xmlns:a="http://schemas.openxmlformats.org/drawingml/2006/main" w="11430">
            <a:solidFill>
              <a:srgbClr val="D9E2EC"/>
            </a:solidFill>
            <a:prstDash val="solid"/>
          </a:ln>
        </p:spPr>
      </p:sp>
      <p:sp>
        <p:nvSpPr>
          <p:cNvPr id="10" name="">
            <a:extLst xmlns:a="http://schemas.openxmlformats.org/drawingml/2006/main">
              <a:ext uri="{FF2B5EF4-FFF2-40B4-BE49-F238E27FC236}">
                <a16:creationId xmlns:a16="http://schemas.microsoft.com/office/drawing/2014/main" id="{7DB500DE-8C7E-45E0-8E47-A2256D8E3E1C}"/>
              </a:ext>
            </a:extLst>
          </p:cNvPr>
          <p:cNvSpPr>
            <a:spLocks xmlns:a="http://schemas.openxmlformats.org/drawingml/2006/main" noGrp="1"/>
          </p:cNvSpPr>
          <p:nvPr/>
        </p:nvSpPr>
        <p:spPr>
          <a:xfrm xmlns:a="http://schemas.openxmlformats.org/drawingml/2006/main">
            <a:off x="4267200" y="152400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2A9D8F"/>
                </a:solidFill>
              </a:defRPr>
            </a:pPr>
            <a:r>
              <a:rPr sz="1425" b="1" i="0">
                <a:solidFill>
                  <a:srgbClr val="2A9D8F"/>
                </a:solidFill>
              </a:rPr>
              <a:t>Increasing orientation</a:t>
            </a:r>
          </a:p>
        </p:txBody>
      </p:sp>
      <p:sp>
        <p:nvSpPr>
          <p:cNvPr id="11" name="">
            <a:extLst xmlns:a="http://schemas.openxmlformats.org/drawingml/2006/main">
              <a:ext uri="{FF2B5EF4-FFF2-40B4-BE49-F238E27FC236}">
                <a16:creationId xmlns:a16="http://schemas.microsoft.com/office/drawing/2014/main" id="{E1307987-FDCF-4EB0-9B32-A8B7FA5E49E4}"/>
              </a:ext>
            </a:extLst>
          </p:cNvPr>
          <p:cNvSpPr>
            <a:spLocks xmlns:a="http://schemas.openxmlformats.org/drawingml/2006/main" noGrp="1"/>
          </p:cNvSpPr>
          <p:nvPr/>
        </p:nvSpPr>
        <p:spPr>
          <a:xfrm xmlns:a="http://schemas.openxmlformats.org/drawingml/2006/main">
            <a:off x="7486650" y="1466850"/>
            <a:ext cx="3752850" cy="495300"/>
          </a:xfrm>
          <a:prstGeom xmlns:a="http://schemas.openxmlformats.org/drawingml/2006/main" prst="rect">
            <a:avLst/>
          </a:prstGeom>
          <a:solidFill xmlns:a="http://schemas.openxmlformats.org/drawingml/2006/main">
            <a:srgbClr val="FCEEEA"/>
          </a:solidFill>
          <a:ln xmlns:a="http://schemas.openxmlformats.org/drawingml/2006/main" w="11430">
            <a:solidFill>
              <a:srgbClr val="D9E2EC"/>
            </a:solidFill>
            <a:prstDash val="solid"/>
          </a:ln>
        </p:spPr>
      </p:sp>
      <p:sp>
        <p:nvSpPr>
          <p:cNvPr id="12" name="">
            <a:extLst xmlns:a="http://schemas.openxmlformats.org/drawingml/2006/main">
              <a:ext uri="{FF2B5EF4-FFF2-40B4-BE49-F238E27FC236}">
                <a16:creationId xmlns:a16="http://schemas.microsoft.com/office/drawing/2014/main" id="{7345C7B2-172B-449D-9094-FE1DF4DC9153}"/>
              </a:ext>
            </a:extLst>
          </p:cNvPr>
          <p:cNvSpPr>
            <a:spLocks xmlns:a="http://schemas.openxmlformats.org/drawingml/2006/main" noGrp="1"/>
          </p:cNvSpPr>
          <p:nvPr/>
        </p:nvSpPr>
        <p:spPr>
          <a:xfrm xmlns:a="http://schemas.openxmlformats.org/drawingml/2006/main">
            <a:off x="7562850" y="1524000"/>
            <a:ext cx="3600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E76F51"/>
                </a:solidFill>
              </a:defRPr>
            </a:pPr>
            <a:r>
              <a:rPr sz="1425" b="1" i="0">
                <a:solidFill>
                  <a:srgbClr val="E76F51"/>
                </a:solidFill>
              </a:rPr>
              <a:t>Decreasing orientation</a:t>
            </a:r>
          </a:p>
        </p:txBody>
      </p:sp>
      <p:sp>
        <p:nvSpPr>
          <p:cNvPr id="13" name="">
            <a:extLst xmlns:a="http://schemas.openxmlformats.org/drawingml/2006/main">
              <a:ext uri="{FF2B5EF4-FFF2-40B4-BE49-F238E27FC236}">
                <a16:creationId xmlns:a16="http://schemas.microsoft.com/office/drawing/2014/main" id="{15510D0B-7CA2-4A3A-9827-7E4731590440}"/>
              </a:ext>
            </a:extLst>
          </p:cNvPr>
          <p:cNvSpPr>
            <a:spLocks xmlns:a="http://schemas.openxmlformats.org/drawingml/2006/main" noGrp="1"/>
          </p:cNvSpPr>
          <p:nvPr/>
        </p:nvSpPr>
        <p:spPr>
          <a:xfrm xmlns:a="http://schemas.openxmlformats.org/drawingml/2006/main">
            <a:off x="876300" y="19621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14" name="">
            <a:extLst xmlns:a="http://schemas.openxmlformats.org/drawingml/2006/main">
              <a:ext uri="{FF2B5EF4-FFF2-40B4-BE49-F238E27FC236}">
                <a16:creationId xmlns:a16="http://schemas.microsoft.com/office/drawing/2014/main" id="{771EF2B7-260D-4D7F-8FD3-4130725C91C8}"/>
              </a:ext>
            </a:extLst>
          </p:cNvPr>
          <p:cNvSpPr>
            <a:spLocks xmlns:a="http://schemas.openxmlformats.org/drawingml/2006/main" noGrp="1"/>
          </p:cNvSpPr>
          <p:nvPr/>
        </p:nvSpPr>
        <p:spPr>
          <a:xfrm xmlns:a="http://schemas.openxmlformats.org/drawingml/2006/main">
            <a:off x="952500" y="20193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Step 3(a) boundary</a:t>
            </a:r>
          </a:p>
        </p:txBody>
      </p:sp>
      <p:sp>
        <p:nvSpPr>
          <p:cNvPr id="15" name="">
            <a:extLst xmlns:a="http://schemas.openxmlformats.org/drawingml/2006/main">
              <a:ext uri="{FF2B5EF4-FFF2-40B4-BE49-F238E27FC236}">
                <a16:creationId xmlns:a16="http://schemas.microsoft.com/office/drawing/2014/main" id="{49123CB2-A646-423D-B185-6174952A5CD8}"/>
              </a:ext>
            </a:extLst>
          </p:cNvPr>
          <p:cNvSpPr>
            <a:spLocks xmlns:a="http://schemas.openxmlformats.org/drawingml/2006/main" noGrp="1"/>
          </p:cNvSpPr>
          <p:nvPr/>
        </p:nvSpPr>
        <p:spPr>
          <a:xfrm xmlns:a="http://schemas.openxmlformats.org/drawingml/2006/main">
            <a:off x="4191000" y="19621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16" name="">
            <a:extLst xmlns:a="http://schemas.openxmlformats.org/drawingml/2006/main">
              <a:ext uri="{FF2B5EF4-FFF2-40B4-BE49-F238E27FC236}">
                <a16:creationId xmlns:a16="http://schemas.microsoft.com/office/drawing/2014/main" id="{0314A370-FE95-4544-AEE8-2D7C77DE8406}"/>
              </a:ext>
            </a:extLst>
          </p:cNvPr>
          <p:cNvSpPr>
            <a:spLocks xmlns:a="http://schemas.openxmlformats.org/drawingml/2006/main" noGrp="1"/>
          </p:cNvSpPr>
          <p:nvPr/>
        </p:nvSpPr>
        <p:spPr>
          <a:xfrm xmlns:a="http://schemas.openxmlformats.org/drawingml/2006/main">
            <a:off x="4267200" y="20193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predecessor-side (Aᵢ)</a:t>
            </a:r>
          </a:p>
        </p:txBody>
      </p:sp>
      <p:sp>
        <p:nvSpPr>
          <p:cNvPr id="17" name="">
            <a:extLst xmlns:a="http://schemas.openxmlformats.org/drawingml/2006/main">
              <a:ext uri="{FF2B5EF4-FFF2-40B4-BE49-F238E27FC236}">
                <a16:creationId xmlns:a16="http://schemas.microsoft.com/office/drawing/2014/main" id="{3A5ED69A-0FB6-4D39-A22D-15FD926630CB}"/>
              </a:ext>
            </a:extLst>
          </p:cNvPr>
          <p:cNvSpPr>
            <a:spLocks xmlns:a="http://schemas.openxmlformats.org/drawingml/2006/main" noGrp="1"/>
          </p:cNvSpPr>
          <p:nvPr/>
        </p:nvSpPr>
        <p:spPr>
          <a:xfrm xmlns:a="http://schemas.openxmlformats.org/drawingml/2006/main">
            <a:off x="7486650" y="19621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18" name="">
            <a:extLst xmlns:a="http://schemas.openxmlformats.org/drawingml/2006/main">
              <a:ext uri="{FF2B5EF4-FFF2-40B4-BE49-F238E27FC236}">
                <a16:creationId xmlns:a16="http://schemas.microsoft.com/office/drawing/2014/main" id="{B1A5106A-853C-4E5E-B135-0B6A8760CF6D}"/>
              </a:ext>
            </a:extLst>
          </p:cNvPr>
          <p:cNvSpPr>
            <a:spLocks xmlns:a="http://schemas.openxmlformats.org/drawingml/2006/main" noGrp="1"/>
          </p:cNvSpPr>
          <p:nvPr/>
        </p:nvSpPr>
        <p:spPr>
          <a:xfrm xmlns:a="http://schemas.openxmlformats.org/drawingml/2006/main">
            <a:off x="7562850" y="20193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successor-side (Bᵢ)</a:t>
            </a:r>
          </a:p>
        </p:txBody>
      </p:sp>
      <p:sp>
        <p:nvSpPr>
          <p:cNvPr id="19" name="">
            <a:extLst xmlns:a="http://schemas.openxmlformats.org/drawingml/2006/main">
              <a:ext uri="{FF2B5EF4-FFF2-40B4-BE49-F238E27FC236}">
                <a16:creationId xmlns:a16="http://schemas.microsoft.com/office/drawing/2014/main" id="{F836C1E1-C4C0-4A43-8D35-F27399C17DF4}"/>
              </a:ext>
            </a:extLst>
          </p:cNvPr>
          <p:cNvSpPr>
            <a:spLocks xmlns:a="http://schemas.openxmlformats.org/drawingml/2006/main" noGrp="1"/>
          </p:cNvSpPr>
          <p:nvPr/>
        </p:nvSpPr>
        <p:spPr>
          <a:xfrm xmlns:a="http://schemas.openxmlformats.org/drawingml/2006/main">
            <a:off x="876300" y="2476500"/>
            <a:ext cx="331470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20" name="">
            <a:extLst xmlns:a="http://schemas.openxmlformats.org/drawingml/2006/main">
              <a:ext uri="{FF2B5EF4-FFF2-40B4-BE49-F238E27FC236}">
                <a16:creationId xmlns:a16="http://schemas.microsoft.com/office/drawing/2014/main" id="{4CA7C6E9-6666-4934-80AD-A400EA3AA36E}"/>
              </a:ext>
            </a:extLst>
          </p:cNvPr>
          <p:cNvSpPr>
            <a:spLocks xmlns:a="http://schemas.openxmlformats.org/drawingml/2006/main" noGrp="1"/>
          </p:cNvSpPr>
          <p:nvPr/>
        </p:nvSpPr>
        <p:spPr>
          <a:xfrm xmlns:a="http://schemas.openxmlformats.org/drawingml/2006/main">
            <a:off x="952500" y="253365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Boundary insertion</a:t>
            </a:r>
          </a:p>
        </p:txBody>
      </p:sp>
      <p:sp>
        <p:nvSpPr>
          <p:cNvPr id="21" name="">
            <a:extLst xmlns:a="http://schemas.openxmlformats.org/drawingml/2006/main">
              <a:ext uri="{FF2B5EF4-FFF2-40B4-BE49-F238E27FC236}">
                <a16:creationId xmlns:a16="http://schemas.microsoft.com/office/drawing/2014/main" id="{628E0320-91DC-4D37-9D18-DB6F171F71FB}"/>
              </a:ext>
            </a:extLst>
          </p:cNvPr>
          <p:cNvSpPr>
            <a:spLocks xmlns:a="http://schemas.openxmlformats.org/drawingml/2006/main" noGrp="1"/>
          </p:cNvSpPr>
          <p:nvPr/>
        </p:nvSpPr>
        <p:spPr>
          <a:xfrm xmlns:a="http://schemas.openxmlformats.org/drawingml/2006/main">
            <a:off x="4191000" y="2476500"/>
            <a:ext cx="32956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22" name="">
            <a:extLst xmlns:a="http://schemas.openxmlformats.org/drawingml/2006/main">
              <a:ext uri="{FF2B5EF4-FFF2-40B4-BE49-F238E27FC236}">
                <a16:creationId xmlns:a16="http://schemas.microsoft.com/office/drawing/2014/main" id="{34411EEA-B74C-4A62-B9AC-AB832F377C46}"/>
              </a:ext>
            </a:extLst>
          </p:cNvPr>
          <p:cNvSpPr>
            <a:spLocks xmlns:a="http://schemas.openxmlformats.org/drawingml/2006/main" noGrp="1"/>
          </p:cNvSpPr>
          <p:nvPr/>
        </p:nvSpPr>
        <p:spPr>
          <a:xfrm xmlns:a="http://schemas.openxmlformats.org/drawingml/2006/main">
            <a:off x="4267200" y="25336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after last sibling</a:t>
            </a:r>
          </a:p>
        </p:txBody>
      </p:sp>
      <p:sp>
        <p:nvSpPr>
          <p:cNvPr id="23" name="">
            <a:extLst xmlns:a="http://schemas.openxmlformats.org/drawingml/2006/main">
              <a:ext uri="{FF2B5EF4-FFF2-40B4-BE49-F238E27FC236}">
                <a16:creationId xmlns:a16="http://schemas.microsoft.com/office/drawing/2014/main" id="{C924A22B-D78B-4655-8D2E-6C26FCCF49C2}"/>
              </a:ext>
            </a:extLst>
          </p:cNvPr>
          <p:cNvSpPr>
            <a:spLocks xmlns:a="http://schemas.openxmlformats.org/drawingml/2006/main" noGrp="1"/>
          </p:cNvSpPr>
          <p:nvPr/>
        </p:nvSpPr>
        <p:spPr>
          <a:xfrm xmlns:a="http://schemas.openxmlformats.org/drawingml/2006/main">
            <a:off x="7486650" y="2476500"/>
            <a:ext cx="37528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24" name="">
            <a:extLst xmlns:a="http://schemas.openxmlformats.org/drawingml/2006/main">
              <a:ext uri="{FF2B5EF4-FFF2-40B4-BE49-F238E27FC236}">
                <a16:creationId xmlns:a16="http://schemas.microsoft.com/office/drawing/2014/main" id="{074DC159-275D-4884-9F77-75A5B433D08D}"/>
              </a:ext>
            </a:extLst>
          </p:cNvPr>
          <p:cNvSpPr>
            <a:spLocks xmlns:a="http://schemas.openxmlformats.org/drawingml/2006/main" noGrp="1"/>
          </p:cNvSpPr>
          <p:nvPr/>
        </p:nvSpPr>
        <p:spPr>
          <a:xfrm xmlns:a="http://schemas.openxmlformats.org/drawingml/2006/main">
            <a:off x="7562850" y="253365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before first sibling</a:t>
            </a:r>
          </a:p>
        </p:txBody>
      </p:sp>
      <p:sp>
        <p:nvSpPr>
          <p:cNvPr id="25" name="">
            <a:extLst xmlns:a="http://schemas.openxmlformats.org/drawingml/2006/main">
              <a:ext uri="{FF2B5EF4-FFF2-40B4-BE49-F238E27FC236}">
                <a16:creationId xmlns:a16="http://schemas.microsoft.com/office/drawing/2014/main" id="{1275F688-DBAB-4DD0-B7BB-93957127AA26}"/>
              </a:ext>
            </a:extLst>
          </p:cNvPr>
          <p:cNvSpPr>
            <a:spLocks xmlns:a="http://schemas.openxmlformats.org/drawingml/2006/main" noGrp="1"/>
          </p:cNvSpPr>
          <p:nvPr/>
        </p:nvSpPr>
        <p:spPr>
          <a:xfrm xmlns:a="http://schemas.openxmlformats.org/drawingml/2006/main">
            <a:off x="876300" y="29908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6" name="">
            <a:extLst xmlns:a="http://schemas.openxmlformats.org/drawingml/2006/main">
              <a:ext uri="{FF2B5EF4-FFF2-40B4-BE49-F238E27FC236}">
                <a16:creationId xmlns:a16="http://schemas.microsoft.com/office/drawing/2014/main" id="{D59C919B-5351-4601-9B99-117599F40884}"/>
              </a:ext>
            </a:extLst>
          </p:cNvPr>
          <p:cNvSpPr>
            <a:spLocks xmlns:a="http://schemas.openxmlformats.org/drawingml/2006/main" noGrp="1"/>
          </p:cNvSpPr>
          <p:nvPr/>
        </p:nvSpPr>
        <p:spPr>
          <a:xfrm xmlns:a="http://schemas.openxmlformats.org/drawingml/2006/main">
            <a:off x="952500" y="30480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Step 3(b) boundary</a:t>
            </a:r>
          </a:p>
        </p:txBody>
      </p:sp>
      <p:sp>
        <p:nvSpPr>
          <p:cNvPr id="27" name="">
            <a:extLst xmlns:a="http://schemas.openxmlformats.org/drawingml/2006/main">
              <a:ext uri="{FF2B5EF4-FFF2-40B4-BE49-F238E27FC236}">
                <a16:creationId xmlns:a16="http://schemas.microsoft.com/office/drawing/2014/main" id="{314BC948-1F2A-40D6-BCE8-3F5CCE01512E}"/>
              </a:ext>
            </a:extLst>
          </p:cNvPr>
          <p:cNvSpPr>
            <a:spLocks xmlns:a="http://schemas.openxmlformats.org/drawingml/2006/main" noGrp="1"/>
          </p:cNvSpPr>
          <p:nvPr/>
        </p:nvSpPr>
        <p:spPr>
          <a:xfrm xmlns:a="http://schemas.openxmlformats.org/drawingml/2006/main">
            <a:off x="4191000" y="29908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8" name="">
            <a:extLst xmlns:a="http://schemas.openxmlformats.org/drawingml/2006/main">
              <a:ext uri="{FF2B5EF4-FFF2-40B4-BE49-F238E27FC236}">
                <a16:creationId xmlns:a16="http://schemas.microsoft.com/office/drawing/2014/main" id="{4D3E9720-4AE1-4F80-B1A1-A7B4A3F0054E}"/>
              </a:ext>
            </a:extLst>
          </p:cNvPr>
          <p:cNvSpPr>
            <a:spLocks xmlns:a="http://schemas.openxmlformats.org/drawingml/2006/main" noGrp="1"/>
          </p:cNvSpPr>
          <p:nvPr/>
        </p:nvSpPr>
        <p:spPr>
          <a:xfrm xmlns:a="http://schemas.openxmlformats.org/drawingml/2006/main">
            <a:off x="4267200" y="30480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successor-side (Bᵢ)</a:t>
            </a:r>
          </a:p>
        </p:txBody>
      </p:sp>
      <p:sp>
        <p:nvSpPr>
          <p:cNvPr id="29" name="">
            <a:extLst xmlns:a="http://schemas.openxmlformats.org/drawingml/2006/main">
              <a:ext uri="{FF2B5EF4-FFF2-40B4-BE49-F238E27FC236}">
                <a16:creationId xmlns:a16="http://schemas.microsoft.com/office/drawing/2014/main" id="{9F3603C1-F6DC-4197-AC5C-BA338F99E73F}"/>
              </a:ext>
            </a:extLst>
          </p:cNvPr>
          <p:cNvSpPr>
            <a:spLocks xmlns:a="http://schemas.openxmlformats.org/drawingml/2006/main" noGrp="1"/>
          </p:cNvSpPr>
          <p:nvPr/>
        </p:nvSpPr>
        <p:spPr>
          <a:xfrm xmlns:a="http://schemas.openxmlformats.org/drawingml/2006/main">
            <a:off x="7486650" y="29908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30" name="">
            <a:extLst xmlns:a="http://schemas.openxmlformats.org/drawingml/2006/main">
              <a:ext uri="{FF2B5EF4-FFF2-40B4-BE49-F238E27FC236}">
                <a16:creationId xmlns:a16="http://schemas.microsoft.com/office/drawing/2014/main" id="{19285F2D-5CC6-46F7-96D7-C7CE67E63363}"/>
              </a:ext>
            </a:extLst>
          </p:cNvPr>
          <p:cNvSpPr>
            <a:spLocks xmlns:a="http://schemas.openxmlformats.org/drawingml/2006/main" noGrp="1"/>
          </p:cNvSpPr>
          <p:nvPr/>
        </p:nvSpPr>
        <p:spPr>
          <a:xfrm xmlns:a="http://schemas.openxmlformats.org/drawingml/2006/main">
            <a:off x="7562850" y="30480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predecessor-side (Aᵢ)</a:t>
            </a:r>
          </a:p>
        </p:txBody>
      </p:sp>
      <p:sp>
        <p:nvSpPr>
          <p:cNvPr id="31" name="">
            <a:extLst xmlns:a="http://schemas.openxmlformats.org/drawingml/2006/main">
              <a:ext uri="{FF2B5EF4-FFF2-40B4-BE49-F238E27FC236}">
                <a16:creationId xmlns:a16="http://schemas.microsoft.com/office/drawing/2014/main" id="{88E83526-11D7-4064-A05D-6BCA8DBC8D5C}"/>
              </a:ext>
            </a:extLst>
          </p:cNvPr>
          <p:cNvSpPr>
            <a:spLocks xmlns:a="http://schemas.openxmlformats.org/drawingml/2006/main" noGrp="1"/>
          </p:cNvSpPr>
          <p:nvPr/>
        </p:nvSpPr>
        <p:spPr>
          <a:xfrm xmlns:a="http://schemas.openxmlformats.org/drawingml/2006/main">
            <a:off x="876300" y="3505200"/>
            <a:ext cx="331470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32" name="">
            <a:extLst xmlns:a="http://schemas.openxmlformats.org/drawingml/2006/main">
              <a:ext uri="{FF2B5EF4-FFF2-40B4-BE49-F238E27FC236}">
                <a16:creationId xmlns:a16="http://schemas.microsoft.com/office/drawing/2014/main" id="{859C84C2-6296-4F87-9150-D64AC2520E5D}"/>
              </a:ext>
            </a:extLst>
          </p:cNvPr>
          <p:cNvSpPr>
            <a:spLocks xmlns:a="http://schemas.openxmlformats.org/drawingml/2006/main" noGrp="1"/>
          </p:cNvSpPr>
          <p:nvPr/>
        </p:nvSpPr>
        <p:spPr>
          <a:xfrm xmlns:a="http://schemas.openxmlformats.org/drawingml/2006/main">
            <a:off x="952500" y="356235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Acquired split side</a:t>
            </a:r>
          </a:p>
        </p:txBody>
      </p:sp>
      <p:sp>
        <p:nvSpPr>
          <p:cNvPr id="33" name="">
            <a:extLst xmlns:a="http://schemas.openxmlformats.org/drawingml/2006/main">
              <a:ext uri="{FF2B5EF4-FFF2-40B4-BE49-F238E27FC236}">
                <a16:creationId xmlns:a16="http://schemas.microsoft.com/office/drawing/2014/main" id="{8D965EAA-1218-49AE-A1CD-E43AA60D633B}"/>
              </a:ext>
            </a:extLst>
          </p:cNvPr>
          <p:cNvSpPr>
            <a:spLocks xmlns:a="http://schemas.openxmlformats.org/drawingml/2006/main" noGrp="1"/>
          </p:cNvSpPr>
          <p:nvPr/>
        </p:nvSpPr>
        <p:spPr>
          <a:xfrm xmlns:a="http://schemas.openxmlformats.org/drawingml/2006/main">
            <a:off x="4191000" y="3505200"/>
            <a:ext cx="32956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34" name="">
            <a:extLst xmlns:a="http://schemas.openxmlformats.org/drawingml/2006/main">
              <a:ext uri="{FF2B5EF4-FFF2-40B4-BE49-F238E27FC236}">
                <a16:creationId xmlns:a16="http://schemas.microsoft.com/office/drawing/2014/main" id="{01723DD0-4DF4-4A69-85AA-3297445DDD06}"/>
              </a:ext>
            </a:extLst>
          </p:cNvPr>
          <p:cNvSpPr>
            <a:spLocks xmlns:a="http://schemas.openxmlformats.org/drawingml/2006/main" noGrp="1"/>
          </p:cNvSpPr>
          <p:nvPr/>
        </p:nvSpPr>
        <p:spPr>
          <a:xfrm xmlns:a="http://schemas.openxmlformats.org/drawingml/2006/main">
            <a:off x="4267200" y="35623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left</a:t>
            </a:r>
          </a:p>
        </p:txBody>
      </p:sp>
      <p:sp>
        <p:nvSpPr>
          <p:cNvPr id="35" name="">
            <a:extLst xmlns:a="http://schemas.openxmlformats.org/drawingml/2006/main">
              <a:ext uri="{FF2B5EF4-FFF2-40B4-BE49-F238E27FC236}">
                <a16:creationId xmlns:a16="http://schemas.microsoft.com/office/drawing/2014/main" id="{99FEADDC-6020-4996-AF9D-BA88DC962F11}"/>
              </a:ext>
            </a:extLst>
          </p:cNvPr>
          <p:cNvSpPr>
            <a:spLocks xmlns:a="http://schemas.openxmlformats.org/drawingml/2006/main" noGrp="1"/>
          </p:cNvSpPr>
          <p:nvPr/>
        </p:nvSpPr>
        <p:spPr>
          <a:xfrm xmlns:a="http://schemas.openxmlformats.org/drawingml/2006/main">
            <a:off x="7486650" y="3505200"/>
            <a:ext cx="37528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36" name="">
            <a:extLst xmlns:a="http://schemas.openxmlformats.org/drawingml/2006/main">
              <a:ext uri="{FF2B5EF4-FFF2-40B4-BE49-F238E27FC236}">
                <a16:creationId xmlns:a16="http://schemas.microsoft.com/office/drawing/2014/main" id="{7F8963CD-F64A-4CDA-B91D-47F3A62FF024}"/>
              </a:ext>
            </a:extLst>
          </p:cNvPr>
          <p:cNvSpPr>
            <a:spLocks xmlns:a="http://schemas.openxmlformats.org/drawingml/2006/main" noGrp="1"/>
          </p:cNvSpPr>
          <p:nvPr/>
        </p:nvSpPr>
        <p:spPr>
          <a:xfrm xmlns:a="http://schemas.openxmlformats.org/drawingml/2006/main">
            <a:off x="7562850" y="356235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right</a:t>
            </a:r>
          </a:p>
        </p:txBody>
      </p:sp>
      <p:sp>
        <p:nvSpPr>
          <p:cNvPr id="37" name="">
            <a:extLst xmlns:a="http://schemas.openxmlformats.org/drawingml/2006/main">
              <a:ext uri="{FF2B5EF4-FFF2-40B4-BE49-F238E27FC236}">
                <a16:creationId xmlns:a16="http://schemas.microsoft.com/office/drawing/2014/main" id="{34E1F339-B5C7-4EE2-8EF1-3ECA0BF2F3F3}"/>
              </a:ext>
            </a:extLst>
          </p:cNvPr>
          <p:cNvSpPr>
            <a:spLocks xmlns:a="http://schemas.openxmlformats.org/drawingml/2006/main" noGrp="1"/>
          </p:cNvSpPr>
          <p:nvPr/>
        </p:nvSpPr>
        <p:spPr>
          <a:xfrm xmlns:a="http://schemas.openxmlformats.org/drawingml/2006/main">
            <a:off x="876300" y="40195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38" name="">
            <a:extLst xmlns:a="http://schemas.openxmlformats.org/drawingml/2006/main">
              <a:ext uri="{FF2B5EF4-FFF2-40B4-BE49-F238E27FC236}">
                <a16:creationId xmlns:a16="http://schemas.microsoft.com/office/drawing/2014/main" id="{7F78034E-3B72-4C75-A680-B89EE1FE7CB2}"/>
              </a:ext>
            </a:extLst>
          </p:cNvPr>
          <p:cNvSpPr>
            <a:spLocks xmlns:a="http://schemas.openxmlformats.org/drawingml/2006/main" noGrp="1"/>
          </p:cNvSpPr>
          <p:nvPr/>
        </p:nvSpPr>
        <p:spPr>
          <a:xfrm xmlns:a="http://schemas.openxmlformats.org/drawingml/2006/main">
            <a:off x="952500" y="40767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Child extreme</a:t>
            </a:r>
          </a:p>
        </p:txBody>
      </p:sp>
      <p:sp>
        <p:nvSpPr>
          <p:cNvPr id="39" name="">
            <a:extLst xmlns:a="http://schemas.openxmlformats.org/drawingml/2006/main">
              <a:ext uri="{FF2B5EF4-FFF2-40B4-BE49-F238E27FC236}">
                <a16:creationId xmlns:a16="http://schemas.microsoft.com/office/drawing/2014/main" id="{C4097186-6F0D-4BBE-B71D-986E6B4AABAF}"/>
              </a:ext>
            </a:extLst>
          </p:cNvPr>
          <p:cNvSpPr>
            <a:spLocks xmlns:a="http://schemas.openxmlformats.org/drawingml/2006/main" noGrp="1"/>
          </p:cNvSpPr>
          <p:nvPr/>
        </p:nvSpPr>
        <p:spPr>
          <a:xfrm xmlns:a="http://schemas.openxmlformats.org/drawingml/2006/main">
            <a:off x="4191000" y="40195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0" name="">
            <a:extLst xmlns:a="http://schemas.openxmlformats.org/drawingml/2006/main">
              <a:ext uri="{FF2B5EF4-FFF2-40B4-BE49-F238E27FC236}">
                <a16:creationId xmlns:a16="http://schemas.microsoft.com/office/drawing/2014/main" id="{1BD02B1E-093B-405E-97D1-957E4624F14C}"/>
              </a:ext>
            </a:extLst>
          </p:cNvPr>
          <p:cNvSpPr>
            <a:spLocks xmlns:a="http://schemas.openxmlformats.org/drawingml/2006/main" noGrp="1"/>
          </p:cNvSpPr>
          <p:nvPr/>
        </p:nvSpPr>
        <p:spPr>
          <a:xfrm xmlns:a="http://schemas.openxmlformats.org/drawingml/2006/main">
            <a:off x="4267200" y="40767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rightmost child</a:t>
            </a:r>
          </a:p>
        </p:txBody>
      </p:sp>
      <p:sp>
        <p:nvSpPr>
          <p:cNvPr id="41" name="">
            <a:extLst xmlns:a="http://schemas.openxmlformats.org/drawingml/2006/main">
              <a:ext uri="{FF2B5EF4-FFF2-40B4-BE49-F238E27FC236}">
                <a16:creationId xmlns:a16="http://schemas.microsoft.com/office/drawing/2014/main" id="{82F611FC-A66B-453B-BE51-3B7EAA452010}"/>
              </a:ext>
            </a:extLst>
          </p:cNvPr>
          <p:cNvSpPr>
            <a:spLocks xmlns:a="http://schemas.openxmlformats.org/drawingml/2006/main" noGrp="1"/>
          </p:cNvSpPr>
          <p:nvPr/>
        </p:nvSpPr>
        <p:spPr>
          <a:xfrm xmlns:a="http://schemas.openxmlformats.org/drawingml/2006/main">
            <a:off x="7486650" y="40195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2" name="">
            <a:extLst xmlns:a="http://schemas.openxmlformats.org/drawingml/2006/main">
              <a:ext uri="{FF2B5EF4-FFF2-40B4-BE49-F238E27FC236}">
                <a16:creationId xmlns:a16="http://schemas.microsoft.com/office/drawing/2014/main" id="{55FD877D-E929-46AE-953B-17E65C502BE6}"/>
              </a:ext>
            </a:extLst>
          </p:cNvPr>
          <p:cNvSpPr>
            <a:spLocks xmlns:a="http://schemas.openxmlformats.org/drawingml/2006/main" noGrp="1"/>
          </p:cNvSpPr>
          <p:nvPr/>
        </p:nvSpPr>
        <p:spPr>
          <a:xfrm xmlns:a="http://schemas.openxmlformats.org/drawingml/2006/main">
            <a:off x="7562850" y="40767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leftmost child</a:t>
            </a:r>
          </a:p>
        </p:txBody>
      </p:sp>
      <p:sp>
        <p:nvSpPr>
          <p:cNvPr id="43" name="">
            <a:extLst xmlns:a="http://schemas.openxmlformats.org/drawingml/2006/main">
              <a:ext uri="{FF2B5EF4-FFF2-40B4-BE49-F238E27FC236}">
                <a16:creationId xmlns:a16="http://schemas.microsoft.com/office/drawing/2014/main" id="{9F93FB10-7045-4BD4-B7C3-5F909DEF468E}"/>
              </a:ext>
            </a:extLst>
          </p:cNvPr>
          <p:cNvSpPr>
            <a:spLocks xmlns:a="http://schemas.openxmlformats.org/drawingml/2006/main" noGrp="1"/>
          </p:cNvSpPr>
          <p:nvPr/>
        </p:nvSpPr>
        <p:spPr>
          <a:xfrm xmlns:a="http://schemas.openxmlformats.org/drawingml/2006/main">
            <a:off x="876300" y="4533900"/>
            <a:ext cx="331470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44" name="">
            <a:extLst xmlns:a="http://schemas.openxmlformats.org/drawingml/2006/main">
              <a:ext uri="{FF2B5EF4-FFF2-40B4-BE49-F238E27FC236}">
                <a16:creationId xmlns:a16="http://schemas.microsoft.com/office/drawing/2014/main" id="{9B012065-FAD0-42EE-8A14-3E9788D313DD}"/>
              </a:ext>
            </a:extLst>
          </p:cNvPr>
          <p:cNvSpPr>
            <a:spLocks xmlns:a="http://schemas.openxmlformats.org/drawingml/2006/main" noGrp="1"/>
          </p:cNvSpPr>
          <p:nvPr/>
        </p:nvSpPr>
        <p:spPr>
          <a:xfrm xmlns:a="http://schemas.openxmlformats.org/drawingml/2006/main">
            <a:off x="952500" y="459105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Geometric anchor</a:t>
            </a:r>
          </a:p>
        </p:txBody>
      </p:sp>
      <p:sp>
        <p:nvSpPr>
          <p:cNvPr id="45" name="">
            <a:extLst xmlns:a="http://schemas.openxmlformats.org/drawingml/2006/main">
              <a:ext uri="{FF2B5EF4-FFF2-40B4-BE49-F238E27FC236}">
                <a16:creationId xmlns:a16="http://schemas.microsoft.com/office/drawing/2014/main" id="{4D9A7848-D490-4BC9-A644-9193C691974E}"/>
              </a:ext>
            </a:extLst>
          </p:cNvPr>
          <p:cNvSpPr>
            <a:spLocks xmlns:a="http://schemas.openxmlformats.org/drawingml/2006/main" noGrp="1"/>
          </p:cNvSpPr>
          <p:nvPr/>
        </p:nvSpPr>
        <p:spPr>
          <a:xfrm xmlns:a="http://schemas.openxmlformats.org/drawingml/2006/main">
            <a:off x="4191000" y="4533900"/>
            <a:ext cx="32956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46" name="">
            <a:extLst xmlns:a="http://schemas.openxmlformats.org/drawingml/2006/main">
              <a:ext uri="{FF2B5EF4-FFF2-40B4-BE49-F238E27FC236}">
                <a16:creationId xmlns:a16="http://schemas.microsoft.com/office/drawing/2014/main" id="{9AA45BDE-7328-4EC1-B9D1-18AC12865911}"/>
              </a:ext>
            </a:extLst>
          </p:cNvPr>
          <p:cNvSpPr>
            <a:spLocks xmlns:a="http://schemas.openxmlformats.org/drawingml/2006/main" noGrp="1"/>
          </p:cNvSpPr>
          <p:nvPr/>
        </p:nvSpPr>
        <p:spPr>
          <a:xfrm xmlns:a="http://schemas.openxmlformats.org/drawingml/2006/main">
            <a:off x="4267200" y="45910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right endpoint</a:t>
            </a:r>
          </a:p>
        </p:txBody>
      </p:sp>
      <p:sp>
        <p:nvSpPr>
          <p:cNvPr id="47" name="">
            <a:extLst xmlns:a="http://schemas.openxmlformats.org/drawingml/2006/main">
              <a:ext uri="{FF2B5EF4-FFF2-40B4-BE49-F238E27FC236}">
                <a16:creationId xmlns:a16="http://schemas.microsoft.com/office/drawing/2014/main" id="{790475E4-4AD5-4588-9EE3-DD5D853E1662}"/>
              </a:ext>
            </a:extLst>
          </p:cNvPr>
          <p:cNvSpPr>
            <a:spLocks xmlns:a="http://schemas.openxmlformats.org/drawingml/2006/main" noGrp="1"/>
          </p:cNvSpPr>
          <p:nvPr/>
        </p:nvSpPr>
        <p:spPr>
          <a:xfrm xmlns:a="http://schemas.openxmlformats.org/drawingml/2006/main">
            <a:off x="7486650" y="4533900"/>
            <a:ext cx="37528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48" name="">
            <a:extLst xmlns:a="http://schemas.openxmlformats.org/drawingml/2006/main">
              <a:ext uri="{FF2B5EF4-FFF2-40B4-BE49-F238E27FC236}">
                <a16:creationId xmlns:a16="http://schemas.microsoft.com/office/drawing/2014/main" id="{3F48A198-F61E-4F92-B5B3-0795BB705C7B}"/>
              </a:ext>
            </a:extLst>
          </p:cNvPr>
          <p:cNvSpPr>
            <a:spLocks xmlns:a="http://schemas.openxmlformats.org/drawingml/2006/main" noGrp="1"/>
          </p:cNvSpPr>
          <p:nvPr/>
        </p:nvSpPr>
        <p:spPr>
          <a:xfrm xmlns:a="http://schemas.openxmlformats.org/drawingml/2006/main">
            <a:off x="7562850" y="459105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left endpoint</a:t>
            </a:r>
          </a:p>
        </p:txBody>
      </p:sp>
      <p:sp>
        <p:nvSpPr>
          <p:cNvPr id="49" name="">
            <a:extLst xmlns:a="http://schemas.openxmlformats.org/drawingml/2006/main">
              <a:ext uri="{FF2B5EF4-FFF2-40B4-BE49-F238E27FC236}">
                <a16:creationId xmlns:a16="http://schemas.microsoft.com/office/drawing/2014/main" id="{646F9A48-B4BA-4366-9A77-E3E8A03E0B38}"/>
              </a:ext>
            </a:extLst>
          </p:cNvPr>
          <p:cNvSpPr>
            <a:spLocks xmlns:a="http://schemas.openxmlformats.org/drawingml/2006/main" noGrp="1"/>
          </p:cNvSpPr>
          <p:nvPr/>
        </p:nvSpPr>
        <p:spPr>
          <a:xfrm xmlns:a="http://schemas.openxmlformats.org/drawingml/2006/main">
            <a:off x="876300" y="50482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0" name="">
            <a:extLst xmlns:a="http://schemas.openxmlformats.org/drawingml/2006/main">
              <a:ext uri="{FF2B5EF4-FFF2-40B4-BE49-F238E27FC236}">
                <a16:creationId xmlns:a16="http://schemas.microsoft.com/office/drawing/2014/main" id="{AADDC371-ECB5-453B-9362-844F7F9E0D9A}"/>
              </a:ext>
            </a:extLst>
          </p:cNvPr>
          <p:cNvSpPr>
            <a:spLocks xmlns:a="http://schemas.openxmlformats.org/drawingml/2006/main" noGrp="1"/>
          </p:cNvSpPr>
          <p:nvPr/>
        </p:nvSpPr>
        <p:spPr>
          <a:xfrm xmlns:a="http://schemas.openxmlformats.org/drawingml/2006/main">
            <a:off x="952500" y="51054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Output insertion</a:t>
            </a:r>
          </a:p>
        </p:txBody>
      </p:sp>
      <p:sp>
        <p:nvSpPr>
          <p:cNvPr id="51" name="">
            <a:extLst xmlns:a="http://schemas.openxmlformats.org/drawingml/2006/main">
              <a:ext uri="{FF2B5EF4-FFF2-40B4-BE49-F238E27FC236}">
                <a16:creationId xmlns:a16="http://schemas.microsoft.com/office/drawing/2014/main" id="{8E1A0475-EE8C-4B27-B2DD-64973801ECE9}"/>
              </a:ext>
            </a:extLst>
          </p:cNvPr>
          <p:cNvSpPr>
            <a:spLocks xmlns:a="http://schemas.openxmlformats.org/drawingml/2006/main" noGrp="1"/>
          </p:cNvSpPr>
          <p:nvPr/>
        </p:nvSpPr>
        <p:spPr>
          <a:xfrm xmlns:a="http://schemas.openxmlformats.org/drawingml/2006/main">
            <a:off x="4191000" y="50482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2" name="">
            <a:extLst xmlns:a="http://schemas.openxmlformats.org/drawingml/2006/main">
              <a:ext uri="{FF2B5EF4-FFF2-40B4-BE49-F238E27FC236}">
                <a16:creationId xmlns:a16="http://schemas.microsoft.com/office/drawing/2014/main" id="{FA63AD83-1132-4C9D-898C-1CE2FC46D5CD}"/>
              </a:ext>
            </a:extLst>
          </p:cNvPr>
          <p:cNvSpPr>
            <a:spLocks xmlns:a="http://schemas.openxmlformats.org/drawingml/2006/main" noGrp="1"/>
          </p:cNvSpPr>
          <p:nvPr/>
        </p:nvSpPr>
        <p:spPr>
          <a:xfrm xmlns:a="http://schemas.openxmlformats.org/drawingml/2006/main">
            <a:off x="4267200" y="51054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after anchor</a:t>
            </a:r>
          </a:p>
        </p:txBody>
      </p:sp>
      <p:sp>
        <p:nvSpPr>
          <p:cNvPr id="53" name="">
            <a:extLst xmlns:a="http://schemas.openxmlformats.org/drawingml/2006/main">
              <a:ext uri="{FF2B5EF4-FFF2-40B4-BE49-F238E27FC236}">
                <a16:creationId xmlns:a16="http://schemas.microsoft.com/office/drawing/2014/main" id="{878490AE-13F3-44C7-81D6-1427FFE77566}"/>
              </a:ext>
            </a:extLst>
          </p:cNvPr>
          <p:cNvSpPr>
            <a:spLocks xmlns:a="http://schemas.openxmlformats.org/drawingml/2006/main" noGrp="1"/>
          </p:cNvSpPr>
          <p:nvPr/>
        </p:nvSpPr>
        <p:spPr>
          <a:xfrm xmlns:a="http://schemas.openxmlformats.org/drawingml/2006/main">
            <a:off x="7486650" y="50482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4" name="">
            <a:extLst xmlns:a="http://schemas.openxmlformats.org/drawingml/2006/main">
              <a:ext uri="{FF2B5EF4-FFF2-40B4-BE49-F238E27FC236}">
                <a16:creationId xmlns:a16="http://schemas.microsoft.com/office/drawing/2014/main" id="{80E08FBE-4F40-4970-A119-CBD58DACFBC8}"/>
              </a:ext>
            </a:extLst>
          </p:cNvPr>
          <p:cNvSpPr>
            <a:spLocks xmlns:a="http://schemas.openxmlformats.org/drawingml/2006/main" noGrp="1"/>
          </p:cNvSpPr>
          <p:nvPr/>
        </p:nvSpPr>
        <p:spPr>
          <a:xfrm xmlns:a="http://schemas.openxmlformats.org/drawingml/2006/main">
            <a:off x="7562850" y="51054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before anchor</a:t>
            </a:r>
          </a:p>
        </p:txBody>
      </p:sp>
      <p:sp>
        <p:nvSpPr>
          <p:cNvPr id="55" name="">
            <a:extLst xmlns:a="http://schemas.openxmlformats.org/drawingml/2006/main">
              <a:ext uri="{FF2B5EF4-FFF2-40B4-BE49-F238E27FC236}">
                <a16:creationId xmlns:a16="http://schemas.microsoft.com/office/drawing/2014/main" id="{3FC2048A-49D1-4AD1-A2B7-9F629BC9FAAD}"/>
              </a:ext>
            </a:extLst>
          </p:cNvPr>
          <p:cNvSpPr>
            <a:spLocks xmlns:a="http://schemas.openxmlformats.org/drawingml/2006/main" noGrp="1"/>
          </p:cNvSpPr>
          <p:nvPr/>
        </p:nvSpPr>
        <p:spPr>
          <a:xfrm xmlns:a="http://schemas.openxmlformats.org/drawingml/2006/main">
            <a:off x="1143000" y="5734050"/>
            <a:ext cx="990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Step 1 always selects Aᵢ and Step 2 always selects Bᵢ; Step 3 reflects how those boundaries are used.</a:t>
            </a:r>
          </a:p>
        </p:txBody>
      </p:sp>
    </p:spTree>
    <p:extLst>
      <p:ext uri="{BB962C8B-B14F-4D97-AF65-F5344CB8AC3E}">
        <p14:creationId xmlns:p14="http://schemas.microsoft.com/office/powerpoint/2010/main" val="1475428099"/>
      </p:ext>
    </p:extLst>
  </p:cSld>
</p:sld>
</file>

<file path=ppt/slides/slide2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0C9AE4B-9925-46EA-951B-BC124821AC5D}"/>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E</a:t>
            </a:r>
          </a:p>
        </p:txBody>
      </p:sp>
      <p:sp>
        <p:nvSpPr>
          <p:cNvPr id="2" name="">
            <a:extLst xmlns:a="http://schemas.openxmlformats.org/drawingml/2006/main">
              <a:ext uri="{FF2B5EF4-FFF2-40B4-BE49-F238E27FC236}">
                <a16:creationId xmlns:a16="http://schemas.microsoft.com/office/drawing/2014/main" id="{D22E7B57-B3EC-475B-818E-0266FF8B8682}"/>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Proposed finger-tree backend boundary</a:t>
            </a:r>
          </a:p>
        </p:txBody>
      </p:sp>
      <p:sp>
        <p:nvSpPr>
          <p:cNvPr id="3" name="">
            <a:extLst xmlns:a="http://schemas.openxmlformats.org/drawingml/2006/main">
              <a:ext uri="{FF2B5EF4-FFF2-40B4-BE49-F238E27FC236}">
                <a16:creationId xmlns:a16="http://schemas.microsoft.com/office/drawing/2014/main" id="{10D8CE44-CD3D-48F0-A973-1353C90B3E5C}"/>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F2DF309C-E064-4D75-9524-1D3B72D4EEF1}"/>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BAFBACEE-211D-4302-863B-8D51F8F7613A}"/>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784024CE-FE5D-4D44-9822-6F497706F7E9}"/>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E</a:t>
            </a:r>
          </a:p>
        </p:txBody>
      </p:sp>
      <p:sp>
        <p:nvSpPr>
          <p:cNvPr id="7" name="">
            <a:extLst xmlns:a="http://schemas.openxmlformats.org/drawingml/2006/main">
              <a:ext uri="{FF2B5EF4-FFF2-40B4-BE49-F238E27FC236}">
                <a16:creationId xmlns:a16="http://schemas.microsoft.com/office/drawing/2014/main" id="{0F90C888-9366-4ABD-8F21-88D90FDD4C75}"/>
              </a:ext>
            </a:extLst>
          </p:cNvPr>
          <p:cNvSpPr>
            <a:spLocks xmlns:a="http://schemas.openxmlformats.org/drawingml/2006/main" noGrp="1"/>
          </p:cNvSpPr>
          <p:nvPr/>
        </p:nvSpPr>
        <p:spPr>
          <a:xfrm xmlns:a="http://schemas.openxmlformats.org/drawingml/2006/main">
            <a:off x="876300" y="3352800"/>
            <a:ext cx="4762500" cy="1733550"/>
          </a:xfrm>
          <a:prstGeom xmlns:a="http://schemas.openxmlformats.org/drawingml/2006/main" prst="roundRect">
            <a:avLst>
              <a:gd name="adj" fmla="val 2139"/>
            </a:avLst>
          </a:prstGeom>
          <a:noFill xmlns:a="http://schemas.openxmlformats.org/drawingml/2006/main"/>
          <a:ln xmlns:a="http://schemas.openxmlformats.org/drawingml/2006/main" w="14288">
            <a:solidFill>
              <a:srgbClr val="2A9D8F"/>
            </a:solidFill>
            <a:prstDash val="solid"/>
          </a:ln>
        </p:spPr>
      </p:sp>
      <p:sp>
        <p:nvSpPr>
          <p:cNvPr id="8" name="">
            <a:extLst xmlns:a="http://schemas.openxmlformats.org/drawingml/2006/main">
              <a:ext uri="{FF2B5EF4-FFF2-40B4-BE49-F238E27FC236}">
                <a16:creationId xmlns:a16="http://schemas.microsoft.com/office/drawing/2014/main" id="{60F09B0C-7FE5-4AD1-8D74-B1CC22C7C17E}"/>
              </a:ext>
            </a:extLst>
          </p:cNvPr>
          <p:cNvSpPr>
            <a:spLocks xmlns:a="http://schemas.openxmlformats.org/drawingml/2006/main" noGrp="1"/>
          </p:cNvSpPr>
          <p:nvPr/>
        </p:nvSpPr>
        <p:spPr>
          <a:xfrm xmlns:a="http://schemas.openxmlformats.org/drawingml/2006/main">
            <a:off x="6553200" y="3352800"/>
            <a:ext cx="4762500" cy="1733550"/>
          </a:xfrm>
          <a:prstGeom xmlns:a="http://schemas.openxmlformats.org/drawingml/2006/main" prst="roundRect">
            <a:avLst>
              <a:gd name="adj" fmla="val 2139"/>
            </a:avLst>
          </a:prstGeom>
          <a:noFill xmlns:a="http://schemas.openxmlformats.org/drawingml/2006/main"/>
          <a:ln xmlns:a="http://schemas.openxmlformats.org/drawingml/2006/main" w="14288">
            <a:solidFill>
              <a:srgbClr val="E76F51"/>
            </a:solidFill>
            <a:prstDash val="solid"/>
          </a:ln>
        </p:spPr>
      </p:sp>
      <p:sp>
        <p:nvSpPr>
          <p:cNvPr id="9" name="">
            <a:extLst xmlns:a="http://schemas.openxmlformats.org/drawingml/2006/main">
              <a:ext uri="{FF2B5EF4-FFF2-40B4-BE49-F238E27FC236}">
                <a16:creationId xmlns:a16="http://schemas.microsoft.com/office/drawing/2014/main" id="{25BE259D-7A0F-4DF4-B7BB-581AC2D14744}"/>
              </a:ext>
            </a:extLst>
          </p:cNvPr>
          <p:cNvSpPr>
            <a:spLocks xmlns:a="http://schemas.openxmlformats.org/drawingml/2006/main" noGrp="1"/>
          </p:cNvSpPr>
          <p:nvPr/>
        </p:nvSpPr>
        <p:spPr>
          <a:xfrm xmlns:a="http://schemas.openxmlformats.org/drawingml/2006/main">
            <a:off x="1162050" y="3524250"/>
            <a:ext cx="419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100" b="1" i="0">
                <a:solidFill>
                  <a:srgbClr val="2A9D8F"/>
                </a:solidFill>
              </a:defRPr>
            </a:pPr>
            <a:r>
              <a:rPr sz="2100" b="1" i="0">
                <a:solidFill>
                  <a:srgbClr val="2A9D8F"/>
                </a:solidFill>
              </a:rPr>
              <a:t>Ordinary-list backend</a:t>
            </a:r>
          </a:p>
        </p:txBody>
      </p:sp>
      <p:sp>
        <p:nvSpPr>
          <p:cNvPr id="10" name="">
            <a:extLst xmlns:a="http://schemas.openxmlformats.org/drawingml/2006/main">
              <a:ext uri="{FF2B5EF4-FFF2-40B4-BE49-F238E27FC236}">
                <a16:creationId xmlns:a16="http://schemas.microsoft.com/office/drawing/2014/main" id="{024F1AF1-1390-4D78-ABB7-6AD33A5F83A1}"/>
              </a:ext>
            </a:extLst>
          </p:cNvPr>
          <p:cNvSpPr>
            <a:spLocks xmlns:a="http://schemas.openxmlformats.org/drawingml/2006/main" noGrp="1"/>
          </p:cNvSpPr>
          <p:nvPr/>
        </p:nvSpPr>
        <p:spPr>
          <a:xfrm xmlns:a="http://schemas.openxmlformats.org/drawingml/2006/main">
            <a:off x="1162050" y="394335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CURRENT VALIDATED BASELINE</a:t>
            </a:r>
          </a:p>
        </p:txBody>
      </p:sp>
      <p:sp>
        <p:nvSpPr>
          <p:cNvPr id="11" name="">
            <a:extLst xmlns:a="http://schemas.openxmlformats.org/drawingml/2006/main">
              <a:ext uri="{FF2B5EF4-FFF2-40B4-BE49-F238E27FC236}">
                <a16:creationId xmlns:a16="http://schemas.microsoft.com/office/drawing/2014/main" id="{79E18CF1-F088-4DA7-870F-6A74A10C45BF}"/>
              </a:ext>
            </a:extLst>
          </p:cNvPr>
          <p:cNvSpPr>
            <a:spLocks xmlns:a="http://schemas.openxmlformats.org/drawingml/2006/main" noGrp="1"/>
          </p:cNvSpPr>
          <p:nvPr/>
        </p:nvSpPr>
        <p:spPr>
          <a:xfrm xmlns:a="http://schemas.openxmlformats.org/drawingml/2006/main">
            <a:off x="1352550" y="4400550"/>
            <a:ext cx="3810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ordinary Python lists</a:t>
            </a:r>
          </a:p>
          <a:p xmlns:a="http://schemas.openxmlformats.org/drawingml/2006/main">
            <a:pPr algn="ctr">
              <a:lnSpc>
                <a:spcPct val="105000"/>
              </a:lnSpc>
              <a:buNone/>
              <a:defRPr sz="1425" b="0" i="0">
                <a:solidFill>
                  <a:srgbClr val="243B53"/>
                </a:solidFill>
              </a:defRPr>
            </a:pPr>
            <a:r>
              <a:rPr sz="1425" b="0" i="0">
                <a:solidFill>
                  <a:srgbClr val="243B53"/>
                </a:solidFill>
              </a:rPr>
              <a:t>archived correctness and timing evidence</a:t>
            </a:r>
          </a:p>
        </p:txBody>
      </p:sp>
      <p:sp>
        <p:nvSpPr>
          <p:cNvPr id="12" name="">
            <a:extLst xmlns:a="http://schemas.openxmlformats.org/drawingml/2006/main">
              <a:ext uri="{FF2B5EF4-FFF2-40B4-BE49-F238E27FC236}">
                <a16:creationId xmlns:a16="http://schemas.microsoft.com/office/drawing/2014/main" id="{92EF39AA-1D93-42DC-A1A9-35E5AE0A63E0}"/>
              </a:ext>
            </a:extLst>
          </p:cNvPr>
          <p:cNvSpPr>
            <a:spLocks xmlns:a="http://schemas.openxmlformats.org/drawingml/2006/main" noGrp="1"/>
          </p:cNvSpPr>
          <p:nvPr/>
        </p:nvSpPr>
        <p:spPr>
          <a:xfrm xmlns:a="http://schemas.openxmlformats.org/drawingml/2006/main">
            <a:off x="6838950" y="3524250"/>
            <a:ext cx="419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100" b="1" i="0">
                <a:solidFill>
                  <a:srgbClr val="E76F51"/>
                </a:solidFill>
              </a:defRPr>
            </a:pPr>
            <a:r>
              <a:rPr sz="2100" b="1" i="0">
                <a:solidFill>
                  <a:srgbClr val="E76F51"/>
                </a:solidFill>
              </a:rPr>
              <a:t>Finger-tree backend</a:t>
            </a:r>
          </a:p>
        </p:txBody>
      </p:sp>
      <p:sp>
        <p:nvSpPr>
          <p:cNvPr id="13" name="">
            <a:extLst xmlns:a="http://schemas.openxmlformats.org/drawingml/2006/main">
              <a:ext uri="{FF2B5EF4-FFF2-40B4-BE49-F238E27FC236}">
                <a16:creationId xmlns:a16="http://schemas.microsoft.com/office/drawing/2014/main" id="{1D9A468C-C306-4355-AD74-F8BAFDE003F0}"/>
              </a:ext>
            </a:extLst>
          </p:cNvPr>
          <p:cNvSpPr>
            <a:spLocks xmlns:a="http://schemas.openxmlformats.org/drawingml/2006/main" noGrp="1"/>
          </p:cNvSpPr>
          <p:nvPr/>
        </p:nvSpPr>
        <p:spPr>
          <a:xfrm xmlns:a="http://schemas.openxmlformats.org/drawingml/2006/main">
            <a:off x="6838950" y="394335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PROPOSED EXTENSION</a:t>
            </a:r>
          </a:p>
        </p:txBody>
      </p:sp>
      <p:sp>
        <p:nvSpPr>
          <p:cNvPr id="14" name="">
            <a:extLst xmlns:a="http://schemas.openxmlformats.org/drawingml/2006/main">
              <a:ext uri="{FF2B5EF4-FFF2-40B4-BE49-F238E27FC236}">
                <a16:creationId xmlns:a16="http://schemas.microsoft.com/office/drawing/2014/main" id="{0ABDF933-025A-4C94-AAC7-B1F6CD5BE9A0}"/>
              </a:ext>
            </a:extLst>
          </p:cNvPr>
          <p:cNvSpPr>
            <a:spLocks xmlns:a="http://schemas.openxmlformats.org/drawingml/2006/main" noGrp="1"/>
          </p:cNvSpPr>
          <p:nvPr/>
        </p:nvSpPr>
        <p:spPr>
          <a:xfrm xmlns:a="http://schemas.openxmlformats.org/drawingml/2006/main">
            <a:off x="7029450" y="4400550"/>
            <a:ext cx="3810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semantic-equivalence target</a:t>
            </a:r>
          </a:p>
          <a:p xmlns:a="http://schemas.openxmlformats.org/drawingml/2006/main">
            <a:pPr algn="ctr">
              <a:lnSpc>
                <a:spcPct val="105000"/>
              </a:lnSpc>
              <a:buNone/>
              <a:defRPr sz="1425" b="0" i="0">
                <a:solidFill>
                  <a:srgbClr val="243B53"/>
                </a:solidFill>
              </a:defRPr>
            </a:pPr>
            <a:r>
              <a:rPr sz="1425" b="0" i="0">
                <a:solidFill>
                  <a:srgbClr val="243B53"/>
                </a:solidFill>
              </a:rPr>
              <a:t>new validation and experiment version</a:t>
            </a:r>
          </a:p>
        </p:txBody>
      </p:sp>
      <p:sp>
        <p:nvSpPr>
          <p:cNvPr id="15" name="">
            <a:extLst xmlns:a="http://schemas.openxmlformats.org/drawingml/2006/main">
              <a:ext uri="{FF2B5EF4-FFF2-40B4-BE49-F238E27FC236}">
                <a16:creationId xmlns:a16="http://schemas.microsoft.com/office/drawing/2014/main" id="{2D15A69B-6196-4AB8-9E17-1AD7DA20F034}"/>
              </a:ext>
            </a:extLst>
          </p:cNvPr>
          <p:cNvSpPr>
            <a:spLocks xmlns:a="http://schemas.openxmlformats.org/drawingml/2006/main" noGrp="1"/>
          </p:cNvSpPr>
          <p:nvPr/>
        </p:nvSpPr>
        <p:spPr>
          <a:xfrm xmlns:a="http://schemas.openxmlformats.org/drawingml/2006/main">
            <a:off x="1657350" y="5429250"/>
            <a:ext cx="8877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5238"/>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Efficient tree splitting alone is insufficient if ownership transfer still scans and rebinds every item.</a:t>
            </a:r>
          </a:p>
        </p:txBody>
      </p:sp>
      <p:sp>
        <p:nvSpPr>
          <p:cNvPr id="17" name="">
            <a:extLst xmlns:a="http://schemas.openxmlformats.org/drawingml/2006/main">
              <a:ext uri="{FF2B5EF4-FFF2-40B4-BE49-F238E27FC236}">
                <a16:creationId xmlns:a16="http://schemas.microsoft.com/office/drawing/2014/main" id="{20612817-7E15-434D-9D38-F8C18188F291}"/>
              </a:ext>
            </a:extLst>
          </p:cNvPr>
          <p:cNvSpPr>
            <a:spLocks xmlns:a="http://schemas.openxmlformats.org/drawingml/2006/main" noGrp="1"/>
          </p:cNvSpPr>
          <p:nvPr/>
        </p:nvSpPr>
        <p:spPr>
          <a:xfrm xmlns:a="http://schemas.openxmlformats.org/drawingml/2006/main">
            <a:off x="895350" y="1524000"/>
            <a:ext cx="2762250" cy="685800"/>
          </a:xfrm>
          <a:prstGeom xmlns:a="http://schemas.openxmlformats.org/drawingml/2006/main" prst="roundRect">
            <a:avLst>
              <a:gd name="adj" fmla="val 11111"/>
            </a:avLst>
          </a:prstGeom>
          <a:noFill xmlns:a="http://schemas.openxmlformats.org/drawingml/2006/main"/>
          <a:ln xmlns:a="http://schemas.openxmlformats.org/drawingml/2006/main" w="14288">
            <a:solidFill>
              <a:srgbClr val="2A9D8F"/>
            </a:solidFill>
            <a:prstDash val="solid"/>
          </a:ln>
        </p:spPr>
      </p:sp>
      <p:sp>
        <p:nvSpPr>
          <p:cNvPr id="18" name="">
            <a:extLst xmlns:a="http://schemas.openxmlformats.org/drawingml/2006/main">
              <a:ext uri="{FF2B5EF4-FFF2-40B4-BE49-F238E27FC236}">
                <a16:creationId xmlns:a16="http://schemas.microsoft.com/office/drawing/2014/main" id="{02900EE9-AB21-4517-AF2F-5F9CD10FD027}"/>
              </a:ext>
            </a:extLst>
          </p:cNvPr>
          <p:cNvSpPr>
            <a:spLocks xmlns:a="http://schemas.openxmlformats.org/drawingml/2006/main" noGrp="1"/>
          </p:cNvSpPr>
          <p:nvPr/>
        </p:nvSpPr>
        <p:spPr>
          <a:xfrm xmlns:a="http://schemas.openxmlformats.org/drawingml/2006/main">
            <a:off x="1028700" y="1657350"/>
            <a:ext cx="24955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0000"/>
              </a:lnSpc>
              <a:buNone/>
              <a:defRPr sz="1650" b="1">
                <a:solidFill>
                  <a:srgbClr val="102A43"/>
                </a:solidFill>
              </a:defRPr>
            </a:pPr>
            <a:r>
              <a:rPr sz="1650" b="1">
                <a:solidFill>
                  <a:srgbClr val="102A43"/>
                </a:solidFill>
              </a:rPr>
              <a:t>Paper Step 1/2/3</a:t>
            </a:r>
          </a:p>
        </p:txBody>
      </p:sp>
      <p:sp>
        <p:nvSpPr>
          <p:cNvPr id="19" name="">
            <a:extLst xmlns:a="http://schemas.openxmlformats.org/drawingml/2006/main">
              <a:ext uri="{FF2B5EF4-FFF2-40B4-BE49-F238E27FC236}">
                <a16:creationId xmlns:a16="http://schemas.microsoft.com/office/drawing/2014/main" id="{CC46F772-B75A-4FA0-A84F-78C6F7445E0F}"/>
              </a:ext>
            </a:extLst>
          </p:cNvPr>
          <p:cNvSpPr>
            <a:spLocks xmlns:a="http://schemas.openxmlformats.org/drawingml/2006/main" noGrp="1"/>
          </p:cNvSpPr>
          <p:nvPr/>
        </p:nvSpPr>
        <p:spPr>
          <a:xfrm xmlns:a="http://schemas.openxmlformats.org/drawingml/2006/main">
            <a:off x="4762500" y="1409700"/>
            <a:ext cx="6534150" cy="914400"/>
          </a:xfrm>
          <a:prstGeom xmlns:a="http://schemas.openxmlformats.org/drawingml/2006/main" prst="roundRect">
            <a:avLst>
              <a:gd name="adj" fmla="val 8333"/>
            </a:avLst>
          </a:prstGeom>
          <a:noFill xmlns:a="http://schemas.openxmlformats.org/drawingml/2006/main"/>
          <a:ln xmlns:a="http://schemas.openxmlformats.org/drawingml/2006/main" w="14288">
            <a:solidFill>
              <a:srgbClr val="102A43"/>
            </a:solidFill>
            <a:prstDash val="solid"/>
          </a:ln>
        </p:spPr>
      </p:sp>
      <p:sp>
        <p:nvSpPr>
          <p:cNvPr id="20" name="">
            <a:extLst xmlns:a="http://schemas.openxmlformats.org/drawingml/2006/main">
              <a:ext uri="{FF2B5EF4-FFF2-40B4-BE49-F238E27FC236}">
                <a16:creationId xmlns:a16="http://schemas.microsoft.com/office/drawing/2014/main" id="{EC2AFCAB-4316-4E6C-9651-21BEF9FB8936}"/>
              </a:ext>
            </a:extLst>
          </p:cNvPr>
          <p:cNvSpPr>
            <a:spLocks xmlns:a="http://schemas.openxmlformats.org/drawingml/2006/main" noGrp="1"/>
          </p:cNvSpPr>
          <p:nvPr/>
        </p:nvSpPr>
        <p:spPr>
          <a:xfrm xmlns:a="http://schemas.openxmlformats.org/drawingml/2006/main">
            <a:off x="4953000" y="1485900"/>
            <a:ext cx="6153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0000"/>
              </a:lnSpc>
              <a:buNone/>
              <a:defRPr sz="1650" b="1">
                <a:solidFill>
                  <a:srgbClr val="102A43"/>
                </a:solidFill>
              </a:defRPr>
            </a:pPr>
            <a:r>
              <a:rPr sz="1650" b="1">
                <a:solidFill>
                  <a:srgbClr val="102A43"/>
                </a:solidFill>
              </a:rPr>
              <a:t>Sibling-list backend interface</a:t>
            </a:r>
          </a:p>
        </p:txBody>
      </p:sp>
      <p:sp>
        <p:nvSpPr>
          <p:cNvPr id="21" name="">
            <a:extLst xmlns:a="http://schemas.openxmlformats.org/drawingml/2006/main">
              <a:ext uri="{FF2B5EF4-FFF2-40B4-BE49-F238E27FC236}">
                <a16:creationId xmlns:a16="http://schemas.microsoft.com/office/drawing/2014/main" id="{0FE3B389-3D15-428D-B15E-8BD039DDC139}"/>
              </a:ext>
            </a:extLst>
          </p:cNvPr>
          <p:cNvSpPr>
            <a:spLocks xmlns:a="http://schemas.openxmlformats.org/drawingml/2006/main" noGrp="1"/>
          </p:cNvSpPr>
          <p:nvPr/>
        </p:nvSpPr>
        <p:spPr>
          <a:xfrm xmlns:a="http://schemas.openxmlformats.org/drawingml/2006/main">
            <a:off x="4991100" y="1847850"/>
            <a:ext cx="6076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0000"/>
              </a:lnSpc>
              <a:buNone/>
              <a:defRPr sz="1050" b="0">
                <a:solidFill>
                  <a:srgbClr val="52606D"/>
                </a:solidFill>
              </a:defRPr>
            </a:pPr>
            <a:r>
              <a:rPr sz="1050" b="0">
                <a:solidFill>
                  <a:srgbClr val="52606D"/>
                </a:solidFill>
              </a:rPr>
              <a:t>make singleton • insert at left/right boundary • split at new-point value</a:t>
            </a:r>
          </a:p>
          <a:p xmlns:a="http://schemas.openxmlformats.org/drawingml/2006/main">
            <a:pPr algn="ctr">
              <a:lnSpc>
                <a:spcPct val="100000"/>
              </a:lnSpc>
              <a:buNone/>
              <a:defRPr sz="1050" b="0">
                <a:solidFill>
                  <a:srgbClr val="52606D"/>
                </a:solidFill>
              </a:defRPr>
            </a:pPr>
            <a:r>
              <a:rPr sz="1050" b="0">
                <a:solidFill>
                  <a:srgbClr val="52606D"/>
                </a:solidFill>
              </a:rPr>
              <a:t>access first/last child • preserve ownership and stable handles</a:t>
            </a:r>
          </a:p>
        </p:txBody>
      </p:sp>
      <p:cxnSp>
        <p:nvCxnSpPr>
          <p:cNvPr id="45" name=""/>
          <p:cNvCxnSpPr>
            <a:stCxn xmlns:a="http://schemas.openxmlformats.org/drawingml/2006/main" id="17" idx="3"/>
            <a:endCxn xmlns:a="http://schemas.openxmlformats.org/drawingml/2006/main" id="19" idx="1"/>
          </p:cNvCxnSpPr>
          <p:nvPr/>
        </p:nvCxnSpPr>
        <p:spPr>
          <a:xfrm xmlns:a="http://schemas.openxmlformats.org/drawingml/2006/main">
            <a:off x="3657600" y="1866900"/>
            <a:ext cx="1104900" cy="0"/>
          </a:xfrm>
          <a:prstGeom xmlns:a="http://schemas.openxmlformats.org/drawingml/2006/main" prst="straightConnector1">
            <a:avLst/>
          </a:prstGeom>
          <a:ln xmlns:a="http://schemas.openxmlformats.org/drawingml/2006/main" w="19050">
            <a:solidFill>
              <a:srgbClr val="2A9D8F"/>
            </a:solidFill>
            <a:prstDash val="solid"/>
            <a:tailEnd type="arrow" w="med" len="med"/>
          </a:ln>
        </p:spPr>
      </p:cxnSp>
      <p:cxnSp>
        <p:nvCxnSpPr>
          <p:cNvPr id="46" name=""/>
          <p:cNvCxnSpPr>
            <a:stCxn xmlns:a="http://schemas.openxmlformats.org/drawingml/2006/main" id="19" idx="2"/>
            <a:endCxn xmlns:a="http://schemas.openxmlformats.org/drawingml/2006/main" id="7" idx="0"/>
          </p:cNvCxnSpPr>
          <p:nvPr/>
        </p:nvCxnSpPr>
        <p:spPr>
          <a:xfrm xmlns:a="http://schemas.openxmlformats.org/drawingml/2006/main" flipH="1">
            <a:off x="3257550" y="2324100"/>
            <a:ext cx="4772025" cy="1028700"/>
          </a:xfrm>
          <a:prstGeom xmlns:a="http://schemas.openxmlformats.org/drawingml/2006/main" prst="bentConnector4">
            <a:avLst>
              <a:gd name="adj1" fmla="val 0"/>
              <a:gd name="adj2" fmla="val 50000"/>
            </a:avLst>
          </a:prstGeom>
          <a:ln xmlns:a="http://schemas.openxmlformats.org/drawingml/2006/main" w="19050">
            <a:solidFill>
              <a:srgbClr val="2A9D8F"/>
            </a:solidFill>
            <a:prstDash val="solid"/>
            <a:tailEnd type="arrow" w="med" len="med"/>
          </a:ln>
        </p:spPr>
      </p:cxnSp>
      <p:cxnSp>
        <p:nvCxnSpPr>
          <p:cNvPr id="47" name=""/>
          <p:cNvCxnSpPr>
            <a:stCxn xmlns:a="http://schemas.openxmlformats.org/drawingml/2006/main" id="19" idx="2"/>
            <a:endCxn xmlns:a="http://schemas.openxmlformats.org/drawingml/2006/main" id="8" idx="0"/>
          </p:cNvCxnSpPr>
          <p:nvPr/>
        </p:nvCxnSpPr>
        <p:spPr>
          <a:xfrm xmlns:a="http://schemas.openxmlformats.org/drawingml/2006/main">
            <a:off x="8029575" y="2324100"/>
            <a:ext cx="904875" cy="1028700"/>
          </a:xfrm>
          <a:prstGeom xmlns:a="http://schemas.openxmlformats.org/drawingml/2006/main" prst="bentConnector4">
            <a:avLst>
              <a:gd name="adj1" fmla="val 0"/>
              <a:gd name="adj2" fmla="val 50000"/>
            </a:avLst>
          </a:prstGeom>
          <a:ln xmlns:a="http://schemas.openxmlformats.org/drawingml/2006/main" w="19050">
            <a:solidFill>
              <a:srgbClr val="E76F51"/>
            </a:solidFill>
            <a:prstDash val="solid"/>
            <a:tailEnd type="arrow" w="med" len="med"/>
          </a:ln>
        </p:spPr>
      </p:cxnSp>
    </p:spTree>
    <p:extLst>
      <p:ext uri="{BB962C8B-B14F-4D97-AF65-F5344CB8AC3E}">
        <p14:creationId xmlns:p14="http://schemas.microsoft.com/office/powerpoint/2010/main" val="20909035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2026-09-02T21:35:38.1560000Z</dcterms:created>
  <dcterms:modified xsi:type="dcterms:W3CDTF">2026-09-02T21:35:38.1560000Z</dcterms:modified>
</coreProperties>
</file>