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9.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slides/slide21.xml" ContentType="application/vnd.openxmlformats-officedocument.presentationml.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slides/slide20.xml" ContentType="application/vnd.openxmlformats-officedocument.presentationml.slide+xml"/>
  <Override PartName="/ppt/slides/slide19.xml" ContentType="application/vnd.openxmlformats-officedocument.presentationml.slide+xml"/>
  <Override PartName="/ppt/notesSlides/notesSlide21.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s/slide17.xml" ContentType="application/vnd.openxmlformats-officedocument.presentationml.slide+xml"/>
  <Override PartName="/ppt/slideMasters/slideMaster1.xml" ContentType="application/vnd.openxmlformats-officedocument.presentationml.slideMaster+xml"/>
  <Override PartName="/ppt/slides/slide7.xml" ContentType="application/vnd.openxmlformats-officedocument.presentationml.slide+xml"/>
  <Override PartName="/ppt/notesSlides/notesSlide20.xml" ContentType="application/vnd.openxmlformats-officedocument.presentationml.notes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slides/slide18.xml" ContentType="application/vnd.openxmlformats-officedocument.presentationml.slide+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notesSlides/notesSlide18.xml" ContentType="application/vnd.openxmlformats-officedocument.presentationml.notesSlid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p:scale>
          <a:sx n="0" d="0"/>
          <a:sy n="0" d="0"/>
        </p:scale>
        <p:origin x="0" y="0"/>
      </p:cViewPr>
      <p:guideLst>
        <p:guide pos="3840"/>
        <p:guide pos="2160" orient="horz"/>
      </p:guideLst>
    </p:cSldViewPr>
  </p:slideViewPr>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notesMaster" Target="notesMasters/notesMaster1.xml"/><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 /></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lineChart>
        <c:grouping val="standard"/>
        <c:varyColors val="0"/>
        <c:ser>
          <c:idx val="0"/>
          <c:order val="0"/>
          <c:tx>
            <c:v>paper/reference</c:v>
          </c:tx>
          <c:spPr bwMode="auto">
            <a:prstGeom prst="rect">
              <a:avLst/>
            </a:prstGeom>
            <a:ln w="38100">
              <a:solidFill>
                <a:srgbClr val="2A9D8F"/>
              </a:solidFill>
              <a:prstDash val="solid"/>
            </a:ln>
          </c:spPr>
          <c:marker>
            <c:symbol val="circle"/>
            <c:size val="9"/>
            <c:spPr bwMode="auto">
              <a:prstGeom prst="rect">
                <a:avLst/>
              </a:prstGeom>
              <a:solidFill>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0.0</c:formatCode>
                <c:ptCount val="5"/>
                <c:pt idx="0">
                  <c:v>3.22642</c:v>
                </c:pt>
                <c:pt idx="1">
                  <c:v>2.202394</c:v>
                </c:pt>
                <c:pt idx="2">
                  <c:v>1.351064</c:v>
                </c:pt>
                <c:pt idx="3">
                  <c:v>0.850597</c:v>
                </c:pt>
                <c:pt idx="4">
                  <c:v>0.567187</c:v>
                </c:pt>
              </c:numCache>
            </c:numRef>
          </c:val>
          <c:smooth val="0"/>
        </c:ser>
        <c:ser>
          <c:idx val="1"/>
          <c:order val="1"/>
          <c:tx>
            <c:v>ratio = 1</c:v>
          </c:tx>
          <c:spPr bwMode="auto">
            <a:prstGeom prst="rect">
              <a:avLst/>
            </a:prstGeom>
            <a:ln w="19050">
              <a:solidFill>
                <a:srgbClr val="E76F51"/>
              </a:solidFill>
              <a:prstDash val="dash"/>
            </a:ln>
          </c:spPr>
          <c:marker>
            <c:symbol val="none"/>
          </c:marker>
          <c:cat>
            <c:numRef>
              <c:f>'Chart Data'!$C$2:$C$6</c:f>
              <c:numCache>
                <c:formatCode>General</c:formatCode>
                <c:ptCount val="5"/>
                <c:pt idx="0">
                  <c:v>32</c:v>
                </c:pt>
                <c:pt idx="1">
                  <c:v>64</c:v>
                </c:pt>
                <c:pt idx="2">
                  <c:v>128</c:v>
                </c:pt>
                <c:pt idx="3">
                  <c:v>256</c:v>
                </c:pt>
                <c:pt idx="4">
                  <c:v>512</c:v>
                </c:pt>
              </c:numCache>
            </c:numRef>
          </c:cat>
          <c:val>
            <c:numRef>
              <c:f>'Chart Data'!$D$2:$D$6</c:f>
              <c:numCache>
                <c:formatCode>0.0</c:formatCode>
                <c:ptCount val="5"/>
                <c:pt idx="0">
                  <c:v>1</c:v>
                </c:pt>
                <c:pt idx="1">
                  <c:v>1</c:v>
                </c:pt>
                <c:pt idx="2">
                  <c:v>1</c:v>
                </c:pt>
                <c:pt idx="3">
                  <c:v>1</c:v>
                </c:pt>
                <c:pt idx="4">
                  <c:v>1</c:v>
                </c:pt>
              </c:numCache>
            </c:numRef>
          </c:val>
          <c:smooth val="0"/>
        </c:ser>
        <c:dLbls>
          <c:showBubbleSize val="0"/>
          <c:showCatName val="0"/>
          <c:showLegendKey val="0"/>
          <c:showPercent val="0"/>
          <c:showSerName val="0"/>
          <c:showVal val="0"/>
        </c:dLbls>
        <c:smooth val="0"/>
        <c:axId val="48650112"/>
        <c:axId val="48672768"/>
      </c:lineChart>
      <c:catAx>
        <c:axId val="48650112"/>
        <c:scaling>
          <c:orientation val="minMax"/>
        </c:scaling>
        <c:delete val="0"/>
        <c:axPos val="b"/>
        <c:title>
          <c:tx>
            <c:rich>
              <a:bodyPr/>
              <a:lstStyle/>
              <a:p>
                <a:pPr>
                  <a:defRPr/>
                </a:pPr>
                <a:r>
                  <a:rPr sz="1150">
                    <a:solidFill>
                      <a:srgbClr val="52606D"/>
                    </a:solidFill>
                  </a:rPr>
                  <a:t>input size n</a:t>
                </a:r>
                <a:endParaRPr/>
              </a:p>
            </c:rich>
          </c:tx>
          <c:layout/>
          <c:overlay val="0"/>
          <c:txPr>
            <a:bodyPr anchorCtr="1"/>
            <a:lstStyle/>
            <a:p>
              <a:pPr>
                <a:defRPr sz="1150">
                  <a:solidFill>
                    <a:srgbClr val="52606D"/>
                  </a:solidFill>
                </a:defRPr>
              </a:pPr>
              <a:endParaRPr/>
            </a:p>
          </c:txPr>
        </c:title>
        <c:numFmt formatCode="General"/>
        <c:majorTickMark val="none"/>
        <c:minorTickMark val="none"/>
        <c:spPr bwMode="auto">
          <a:prstGeom prst="rect">
            <a:avLst/>
          </a:prstGeom>
          <a:ln w="9525">
            <a:solidFill>
              <a:srgbClr val="D9E2EC"/>
            </a:solidFill>
            <a:prstDash val="solid"/>
          </a:ln>
        </c:spPr>
        <c:txPr>
          <a:bodyPr anchorCtr="1"/>
          <a:lstStyle/>
          <a:p>
            <a:pPr>
              <a:defRPr sz="1150">
                <a:solidFill>
                  <a:srgbClr val="52606D"/>
                </a:solidFill>
              </a:defRPr>
            </a:pPr>
            <a:endParaRPr/>
          </a:p>
        </c:txPr>
        <c:crossAx val="48672768"/>
        <c:crosses val="autoZero"/>
        <c:noMultiLvlLbl val="0"/>
      </c:catAx>
      <c:valAx>
        <c:axId val="48672768"/>
        <c:scaling>
          <c:orientation val="minMax"/>
          <c:max val="3.500000"/>
          <c:min val="0.000000"/>
        </c:scaling>
        <c:delete val="0"/>
        <c:axPos val="l"/>
        <c:majorGridlines>
          <c:spPr bwMode="auto">
            <a:prstGeom prst="rect">
              <a:avLst/>
            </a:prstGeom>
            <a:ln w="9525">
              <a:solidFill>
                <a:srgbClr val="E6EDF3"/>
              </a:solidFill>
              <a:prstDash val="solid"/>
            </a:ln>
          </c:spPr>
        </c:majorGridlines>
        <c:title>
          <c:tx>
            <c:rich>
              <a:bodyPr/>
              <a:lstStyle/>
              <a:p>
                <a:pPr>
                  <a:defRPr/>
                </a:pPr>
                <a:r>
                  <a:rPr sz="1150">
                    <a:solidFill>
                      <a:srgbClr val="52606D"/>
                    </a:solidFill>
                  </a:rPr>
                  <a:t>median exact-case ratio</a:t>
                </a:r>
                <a:endParaRPr/>
              </a:p>
            </c:rich>
          </c:tx>
          <c:layout/>
          <c:overlay val="0"/>
          <c:txPr>
            <a:bodyPr anchorCtr="1"/>
            <a:lstStyle/>
            <a:p>
              <a:pPr>
                <a:defRPr sz="1150">
                  <a:solidFill>
                    <a:srgbClr val="52606D"/>
                  </a:solidFill>
                </a:defRPr>
              </a:pPr>
              <a:endParaRPr/>
            </a:p>
          </c:txPr>
        </c:title>
        <c:numFmt formatCode="0.0"/>
        <c:majorTickMark val="none"/>
        <c:minorTickMark val="none"/>
        <c:spPr bwMode="auto">
          <a:prstGeom prst="rect">
            <a:avLst/>
          </a:prstGeom>
          <a:ln w="9525">
            <a:solidFill>
              <a:srgbClr val="D9E2EC"/>
            </a:solidFill>
            <a:prstDash val="solid"/>
          </a:ln>
        </c:spPr>
        <c:txPr>
          <a:bodyPr anchorCtr="1"/>
          <a:lstStyle/>
          <a:p>
            <a:pPr>
              <a:defRPr sz="1050">
                <a:solidFill>
                  <a:srgbClr val="52606D"/>
                </a:solidFill>
              </a:defRPr>
            </a:pPr>
            <a:endParaRPr/>
          </a:p>
        </c:txPr>
        <c:crossAx val="48650112"/>
        <c:crosses val="autoZero"/>
        <c:crossBetween val="between"/>
        <c:majorUnit val="0.500000"/>
      </c:valAx>
      <c:spPr bwMode="auto">
        <a:prstGeom prst="rect">
          <a:avLst/>
        </a:prstGeom>
        <a:solidFill>
          <a:srgbClr val="FFFFFF"/>
        </a:solidFill>
        <a:ln w="9525">
          <a:solidFill>
            <a:srgbClr val="D9E2EC"/>
          </a:solidFill>
          <a:prstDash val="solid"/>
        </a:ln>
      </c:spPr>
    </c:plotArea>
    <c:legend>
      <c:legendPos val="b"/>
      <c:layout/>
      <c:overlay val="0"/>
      <c:txPr>
        <a:bodyPr anchorCtr="1"/>
        <a:lstStyle/>
        <a:p>
          <a:pPr>
            <a:defRPr sz="1150">
              <a:solidFill>
                <a:srgbClr val="52606D"/>
              </a:solidFill>
            </a:defRPr>
          </a:pPr>
          <a:endParaRPr/>
        </a:p>
      </c:txPr>
    </c:legend>
    <c:plotVisOnly val="1"/>
    <c:showDLblsOverMax val="0"/>
  </c:chart>
  <c:spPr bwMode="auto">
    <a:xfrm rot="0">
      <a:off x="647700" y="1409700"/>
      <a:ext cx="6858000" cy="4095750"/>
    </a:xfrm>
    <a:prstGeom prst="rect">
      <a:avLst/>
    </a:prstGeom>
    <a:solidFill>
      <a:srgbClr val="FFFFFF"/>
    </a:solidFill>
    <a:ln w="9525">
      <a:solidFill>
        <a:srgbClr val="D9E2EC"/>
      </a:solidFill>
      <a:prstDash val="solid"/>
    </a:ln>
  </c:spPr>
  <c:externalData r:id="rId1">
    <c:autoUpdate val="1"/>
  </c:externalData>
</c:chartSpace>
</file>

<file path=ppt/embeddings/_rels/Microsoft_Excel_Worksheet1.xlsx.rels><?xml version="1.0" encoding="UTF-8" standalone="yes"?><Relationships xmlns="http://schemas.openxmlformats.org/package/2006/relationships"></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981698837" name="Header Placeholder"/>
          <p:cNvSpPr/>
          <p:nvPr>
            <p:ph type="hdr" sz="quarter"/>
          </p:nvPr>
        </p:nvSpPr>
        <p:spPr bwMode="auto">
          <a:prstGeom prst="rect">
            <a:avLst/>
          </a:prstGeom>
        </p:spPr>
        <p:txBody>
          <a:bodyPr/>
          <a:lstStyle/>
          <a:p>
            <a:pPr>
              <a:defRPr/>
            </a:pPr>
            <a:endParaRPr/>
          </a:p>
        </p:txBody>
      </p:sp>
      <p:sp>
        <p:nvSpPr>
          <p:cNvPr id="2007738914" name="Date Placeholder"/>
          <p:cNvSpPr/>
          <p:nvPr>
            <p:ph type="dt" sz="quarter" idx="1"/>
          </p:nvPr>
        </p:nvSpPr>
        <p:spPr bwMode="auto">
          <a:prstGeom prst="rect">
            <a:avLst/>
          </a:prstGeom>
        </p:spPr>
        <p:txBody>
          <a:bodyPr/>
          <a:lstStyle/>
          <a:p>
            <a:pPr>
              <a:defRPr/>
            </a:pPr>
            <a:endParaRPr/>
          </a:p>
        </p:txBody>
      </p:sp>
      <p:sp>
        <p:nvSpPr>
          <p:cNvPr id="1179475449" name="Slide Image Placeholder"/>
          <p:cNvSpPr/>
          <p:nvPr>
            <p:ph type="sldImg" idx="2"/>
          </p:nvPr>
        </p:nvSpPr>
        <p:spPr bwMode="auto">
          <a:prstGeom prst="rect">
            <a:avLst/>
          </a:prstGeom>
        </p:spPr>
        <p:txBody>
          <a:bodyPr/>
          <a:lstStyle/>
          <a:p>
            <a:pPr>
              <a:defRPr/>
            </a:pPr>
            <a:endParaRPr/>
          </a:p>
        </p:txBody>
      </p:sp>
      <p:sp>
        <p:nvSpPr>
          <p:cNvPr id="593832657" name="Notes Placeholder"/>
          <p:cNvSpPr/>
          <p:nvPr>
            <p:ph type="body" sz="quarter" idx="3"/>
          </p:nvPr>
        </p:nvSpPr>
        <p:spPr bwMode="auto">
          <a:prstGeom prst="rect">
            <a:avLst/>
          </a:prstGeom>
        </p:spPr>
        <p:txBody>
          <a:bodyPr/>
          <a:lstStyle/>
          <a:p>
            <a:pPr>
              <a:defRPr/>
            </a:pPr>
            <a:endParaRPr/>
          </a:p>
        </p:txBody>
      </p:sp>
      <p:sp>
        <p:nvSpPr>
          <p:cNvPr id="1495774748" name="Footer Placeholder"/>
          <p:cNvSpPr/>
          <p:nvPr>
            <p:ph type="ftr" sz="quarter" idx="4"/>
          </p:nvPr>
        </p:nvSpPr>
        <p:spPr bwMode="auto">
          <a:prstGeom prst="rect">
            <a:avLst/>
          </a:prstGeom>
        </p:spPr>
        <p:txBody>
          <a:bodyPr/>
          <a:lstStyle/>
          <a:p>
            <a:pPr>
              <a:defRPr/>
            </a:pPr>
            <a:endParaRPr/>
          </a:p>
        </p:txBody>
      </p:sp>
      <p:sp>
        <p:nvSpPr>
          <p:cNvPr id="1678459814"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63537270" name="Slide Image Placeholder 1"/>
          <p:cNvSpPr>
            <a:spLocks noGrp="1"/>
          </p:cNvSpPr>
          <p:nvPr>
            <p:ph type="sldImg" idx="0"/>
          </p:nvPr>
        </p:nvSpPr>
        <p:spPr bwMode="auto"/>
      </p:sp>
      <p:sp>
        <p:nvSpPr>
          <p:cNvPr id="411702891" name="Notes Placeholder 2"/>
          <p:cNvSpPr>
            <a:spLocks noGrp="1"/>
          </p:cNvSpPr>
          <p:nvPr>
            <p:ph type="body" idx="1"/>
          </p:nvPr>
        </p:nvSpPr>
        <p:spPr bwMode="auto"/>
        <p:txBody>
          <a:bodyPr/>
          <a:lstStyle/>
          <a:p>
            <a:pPr>
              <a:defRPr/>
            </a:pPr>
            <a:r>
              <a:rP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endParaRPr/>
          </a:p>
          <a:p>
            <a:pPr>
              <a:defRPr/>
            </a:pPr>
            <a:endParaRPr/>
          </a:p>
          <a:p>
            <a:pPr>
              <a:defRPr/>
            </a:pPr>
            <a:r>
              <a:rPr lang="en-US" sz="1200" b="0" i="0" u="none" strike="noStrike" cap="none" spc="0">
                <a:solidFill>
                  <a:srgbClr val="000000"/>
                </a:solidFill>
                <a:latin typeface="+mn-lt"/>
                <a:ea typeface="+mn-ea"/>
                <a:cs typeface="+mn-cs"/>
              </a:rPr>
              <a:t>大家好。这次汇报介绍我的硕士论文进展，主题是使用普通 Python list 对 Simplified Jordan Sorting 进行可执行重构。上次汇报聚焦静态结构，包括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endParaRPr/>
          </a:p>
        </p:txBody>
      </p:sp>
      <p:sp>
        <p:nvSpPr>
          <p:cNvPr id="7671997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1069531" name="Slide Image Placeholder 1"/>
          <p:cNvSpPr>
            <a:spLocks noGrp="1"/>
          </p:cNvSpPr>
          <p:nvPr>
            <p:ph type="sldImg" idx="0"/>
          </p:nvPr>
        </p:nvSpPr>
        <p:spPr bwMode="auto"/>
      </p:sp>
      <p:sp>
        <p:nvSpPr>
          <p:cNvPr id="1183140250" name="Notes Placeholder 2"/>
          <p:cNvSpPr>
            <a:spLocks noGrp="1"/>
          </p:cNvSpPr>
          <p:nvPr>
            <p:ph type="body" idx="1"/>
          </p:nvPr>
        </p:nvSpPr>
        <p:spPr bwMode="auto"/>
        <p:txBody>
          <a:bodyPr/>
          <a:lstStyle/>
          <a:p>
            <a:pPr>
              <a:defRPr/>
            </a:pPr>
            <a:r>
              <a:rP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endParaRPr/>
          </a:p>
          <a:p>
            <a:pPr>
              <a:defRPr/>
            </a:pPr>
            <a:endParaRPr/>
          </a:p>
          <a:p>
            <a:pPr>
              <a:defRPr/>
            </a:pPr>
            <a:r>
              <a:rPr lang="en-US" sz="1200" b="0" i="0" u="none" strike="noStrike" cap="none" spc="0">
                <a:solidFill>
                  <a:srgbClr val="000000"/>
                </a:solidFill>
                <a:latin typeface="+mn-lt"/>
                <a:ea typeface="+mn-ea"/>
                <a:cs typeface="+mn-cs"/>
              </a:rP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endParaRPr/>
          </a:p>
        </p:txBody>
      </p:sp>
      <p:sp>
        <p:nvSpPr>
          <p:cNvPr id="207012889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642194" name="Slide Image Placeholder 1"/>
          <p:cNvSpPr>
            <a:spLocks noGrp="1"/>
          </p:cNvSpPr>
          <p:nvPr>
            <p:ph type="sldImg" idx="0"/>
          </p:nvPr>
        </p:nvSpPr>
        <p:spPr bwMode="auto"/>
      </p:sp>
      <p:sp>
        <p:nvSpPr>
          <p:cNvPr id="1479531452" name="Notes Placeholder 2"/>
          <p:cNvSpPr>
            <a:spLocks noGrp="1"/>
          </p:cNvSpPr>
          <p:nvPr>
            <p:ph type="body" idx="1"/>
          </p:nvPr>
        </p:nvSpPr>
        <p:spPr bwMode="auto"/>
        <p:txBody>
          <a:bodyPr/>
          <a:lstStyle/>
          <a:p>
            <a:pPr>
              <a:defRPr/>
            </a:pPr>
            <a:r>
              <a:rP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endParaRPr/>
          </a:p>
          <a:p>
            <a:pPr>
              <a:defRPr/>
            </a:pPr>
            <a:endParaRPr/>
          </a:p>
          <a:p>
            <a:pPr>
              <a:defRPr/>
            </a:pPr>
            <a:r>
              <a:rPr lang="en-US" sz="1200" b="0" i="0" u="none" strike="noStrike" cap="none" spc="0">
                <a:solidFill>
                  <a:srgbClr val="000000"/>
                </a:solidFill>
                <a:latin typeface="+mn-lt"/>
                <a:ea typeface="+mn-ea"/>
                <a:cs typeface="+mn-cs"/>
              </a:rP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endParaRPr/>
          </a:p>
        </p:txBody>
      </p:sp>
      <p:sp>
        <p:nvSpPr>
          <p:cNvPr id="3000338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95822122" name="Slide Image Placeholder 1"/>
          <p:cNvSpPr>
            <a:spLocks noGrp="1"/>
          </p:cNvSpPr>
          <p:nvPr>
            <p:ph type="sldImg" idx="0"/>
          </p:nvPr>
        </p:nvSpPr>
        <p:spPr bwMode="auto"/>
      </p:sp>
      <p:sp>
        <p:nvSpPr>
          <p:cNvPr id="192844650" name="Notes Placeholder 2"/>
          <p:cNvSpPr>
            <a:spLocks noGrp="1"/>
          </p:cNvSpPr>
          <p:nvPr>
            <p:ph type="body" idx="1"/>
          </p:nvPr>
        </p:nvSpPr>
        <p:spPr bwMode="auto"/>
        <p:txBody>
          <a:bodyPr/>
          <a:lstStyle/>
          <a:p>
            <a:pPr>
              <a:defRPr/>
            </a:pPr>
            <a:r>
              <a:rP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endParaRPr/>
          </a:p>
          <a:p>
            <a:pPr>
              <a:defRPr/>
            </a:pPr>
            <a:endParaRPr/>
          </a:p>
          <a:p>
            <a:pPr>
              <a:defRPr/>
            </a:pPr>
            <a:r>
              <a:rPr lang="en-US" sz="1200" b="0" i="0" u="none" strike="noStrike" cap="none" spc="0">
                <a:solidFill>
                  <a:srgbClr val="000000"/>
                </a:solidFill>
                <a:latin typeface="+mn-lt"/>
                <a:ea typeface="+mn-ea"/>
                <a:cs typeface="+mn-cs"/>
              </a:rP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endParaRPr/>
          </a:p>
        </p:txBody>
      </p:sp>
      <p:sp>
        <p:nvSpPr>
          <p:cNvPr id="4179915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07396428" name="Slide Image Placeholder 1"/>
          <p:cNvSpPr>
            <a:spLocks noGrp="1"/>
          </p:cNvSpPr>
          <p:nvPr>
            <p:ph type="sldImg" idx="0"/>
          </p:nvPr>
        </p:nvSpPr>
        <p:spPr bwMode="auto"/>
      </p:sp>
      <p:sp>
        <p:nvSpPr>
          <p:cNvPr id="493208875" name="Notes Placeholder 2"/>
          <p:cNvSpPr>
            <a:spLocks noGrp="1"/>
          </p:cNvSpPr>
          <p:nvPr>
            <p:ph type="body" idx="1"/>
          </p:nvPr>
        </p:nvSpPr>
        <p:spPr bwMode="auto"/>
        <p:txBody>
          <a:bodyPr/>
          <a:lstStyle/>
          <a:p>
            <a:pPr>
              <a:defRPr/>
            </a:pPr>
            <a:r>
              <a:rP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endParaRPr/>
          </a:p>
          <a:p>
            <a:pPr>
              <a:defRPr/>
            </a:pPr>
            <a:endParaRPr/>
          </a:p>
          <a:p>
            <a:pPr>
              <a:defRPr/>
            </a:pPr>
            <a:r>
              <a:rPr lang="en-US" sz="1200" b="0" i="0" u="none" strike="noStrike" cap="none" spc="0">
                <a:solidFill>
                  <a:srgbClr val="000000"/>
                </a:solidFill>
                <a:latin typeface="+mn-lt"/>
                <a:ea typeface="+mn-ea"/>
                <a:cs typeface="+mn-cs"/>
              </a:rP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a:t>
            </a:r>
            <a:endParaRPr/>
          </a:p>
        </p:txBody>
      </p:sp>
      <p:sp>
        <p:nvSpPr>
          <p:cNvPr id="66406628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29975990" name="Slide Image Placeholder 1"/>
          <p:cNvSpPr>
            <a:spLocks noGrp="1"/>
          </p:cNvSpPr>
          <p:nvPr>
            <p:ph type="sldImg" idx="0"/>
          </p:nvPr>
        </p:nvSpPr>
        <p:spPr bwMode="auto"/>
      </p:sp>
      <p:sp>
        <p:nvSpPr>
          <p:cNvPr id="602906243" name="Notes Placeholder 2"/>
          <p:cNvSpPr>
            <a:spLocks noGrp="1"/>
          </p:cNvSpPr>
          <p:nvPr>
            <p:ph type="body" idx="1"/>
          </p:nvPr>
        </p:nvSpPr>
        <p:spPr bwMode="auto"/>
        <p:txBody>
          <a:bodyPr/>
          <a:lstStyle/>
          <a:p>
            <a:pPr>
              <a:defRPr/>
            </a:pPr>
            <a:r>
              <a:rP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endParaRPr/>
          </a:p>
          <a:p>
            <a:pPr>
              <a:defRPr/>
            </a:pPr>
            <a:endParaRPr/>
          </a:p>
          <a:p>
            <a:pPr>
              <a:defRPr/>
            </a:pPr>
            <a:r>
              <a:rPr lang="en-US" sz="1200" b="0" i="0" u="none" strike="noStrike" cap="none" spc="0">
                <a:solidFill>
                  <a:srgbClr val="000000"/>
                </a:solidFill>
                <a:latin typeface="+mn-lt"/>
                <a:ea typeface="+mn-ea"/>
                <a:cs typeface="+mn-cs"/>
              </a:rP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endParaRPr sz="1200"/>
          </a:p>
          <a:p>
            <a:pPr>
              <a:defRPr/>
            </a:pPr>
            <a:endParaRPr/>
          </a:p>
        </p:txBody>
      </p:sp>
      <p:sp>
        <p:nvSpPr>
          <p:cNvPr id="18661931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6880731" name="Slide Image Placeholder 1"/>
          <p:cNvSpPr>
            <a:spLocks noGrp="1"/>
          </p:cNvSpPr>
          <p:nvPr>
            <p:ph type="sldImg" idx="0"/>
          </p:nvPr>
        </p:nvSpPr>
        <p:spPr bwMode="auto"/>
      </p:sp>
      <p:sp>
        <p:nvSpPr>
          <p:cNvPr id="619145997" name="Notes Placeholder 2"/>
          <p:cNvSpPr>
            <a:spLocks noGrp="1"/>
          </p:cNvSpPr>
          <p:nvPr>
            <p:ph type="body" idx="1"/>
          </p:nvPr>
        </p:nvSpPr>
        <p:spPr bwMode="auto"/>
        <p:txBody>
          <a:bodyPr/>
          <a:lstStyle/>
          <a:p>
            <a:pPr>
              <a:defRPr/>
            </a:pPr>
            <a:r>
              <a:rPr/>
              <a:t>The procedure first orders z one, z two, and z three, then initializes the partial order and the first upper and lower pairs. For each new point, Step 1 finds predecessor boundary pair A sub i, and Step 2 finds successor boundary pair B sub i. Step 3(a) inserts a pair. Step 3(b) splits a sibling list and transfers ownership when needed. These steps update the pair families. Step 3(c) inserts the point into the maintained order. In an increasing iteration, Step 3(a) uses A sub i and Step 3(b) uses B sub i. A decreasing iteration swaps these uses. The paper states the increasing case; the decreasing case follows by symmetry. The two orientations share the same stages, but reflect the local roles. The next slides explain two executable clarifications: the geometric endpoint and the odd-index z one output anchor.</a:t>
            </a:r>
            <a:endParaRPr/>
          </a:p>
          <a:p>
            <a:pPr>
              <a:defRPr/>
            </a:pPr>
            <a:r>
              <a:rPr lang="en-US" sz="1200" b="0" i="0" u="none" strike="noStrike" cap="none" spc="0">
                <a:solidFill>
                  <a:srgbClr val="000000"/>
                </a:solidFill>
                <a:latin typeface="+mn-lt"/>
                <a:ea typeface="+mn-ea"/>
                <a:cs typeface="+mn-cs"/>
              </a:rPr>
              <a:t>算法先排序 z1、z2、z3，再初始化 partial order 和首批 upper、lower pair。对每个新点，Step 1 找 predecessor boundary pair A_i，Step 2 找 successor boundary pair B_i。Step 3(a) 插入 pair，Step 3(b) 在需要时拆分 sibling list 并转移 ownership；这两步更新 pair family。Step 3(c) 将新点插入维护的顺序。在 increasing iteration 中，Step 3(a) 使用 A_i，Step 3(b) 使用 B_i；decreasing iteration 交换两者的用途。论文直接描述 increasing case，decreasing case 由对称性重构。两个方向共享相同阶段，但局部角色互为镜像。接下来两页解释两处可执行化澄清：几何端点与奇数索引 z1 输出 anchor。</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21106572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52714178" name="Slide Image Placeholder 1"/>
          <p:cNvSpPr>
            <a:spLocks noGrp="1"/>
          </p:cNvSpPr>
          <p:nvPr>
            <p:ph type="sldImg" idx="0"/>
          </p:nvPr>
        </p:nvSpPr>
        <p:spPr bwMode="auto"/>
      </p:sp>
      <p:sp>
        <p:nvSpPr>
          <p:cNvPr id="937718641" name="Notes Placeholder 2"/>
          <p:cNvSpPr>
            <a:spLocks noGrp="1"/>
          </p:cNvSpPr>
          <p:nvPr>
            <p:ph type="body" idx="1"/>
          </p:nvPr>
        </p:nvSpPr>
        <p:spPr bwMode="auto"/>
        <p:txBody>
          <a:bodyPr/>
          <a:lstStyle/>
          <a:p>
            <a:pPr>
              <a:defRPr/>
            </a:pPr>
            <a:r>
              <a:rPr/>
              <a:t>Consider the valid prefix three, two, one, four. The acquired pair P two is stored in curve order as three, two. Using its second stored element, two, as the anchor gives one, two, four, three, which is wrong on the axis. Step 3(c) needs the geometric extreme, not the second element in curve order. Here the correct anchor is three. Inserting four after three gives one, two, three, four. The pair records traversal along the curve, while insertion must follow the axis order. This is a representation issue: curve order does not always identify the required side of the axis order. Increasing iterations use the right geometric endpoint; decreasing iterations use the left. This is an executable clarification, since the 1990 paper does not state the rule in this form. Without this clarification, even valid examples fail.</a:t>
            </a:r>
            <a:endParaRPr/>
          </a:p>
          <a:p>
            <a:pPr>
              <a:defRPr/>
            </a:pPr>
            <a:endParaRPr/>
          </a:p>
          <a:p>
            <a:pPr>
              <a:defRPr/>
            </a:pPr>
            <a:r>
              <a:rPr lang="en-US" sz="1200" b="0" i="0" u="none" strike="noStrike" cap="none" spc="0">
                <a:solidFill>
                  <a:srgbClr val="000000"/>
                </a:solidFill>
                <a:latin typeface="+mn-lt"/>
                <a:ea typeface="+mn-ea"/>
                <a:cs typeface="+mn-cs"/>
              </a:rPr>
              <a:t>考虑有效前缀 (3,2,1,4)。Acquired pair P2 按 curve order 存为 (3,2)。若取第二个存储元素 2 为 anchor，得到 (1,2,4,3)，在 axis order 上是错误的。Step 3(c) 需要几何极值，而不是 curve order 中的第二个元素。这里正确的 anchor 是 3，将 4 插在 3 后得到 (1,2,3,4)。Pair 记录沿曲线的遍历顺序，插入则必须遵循 axis order。这是表示方式的问题：curve order 未必能标识 axis order 中所需的一侧。Increasing iteration 使用右端几何极值，decreasing iteration 使用左端几何极值。这属于可执行化澄清，因为 1990 年论文没有以这种形式明确给出规则。缺少这一澄清时，有效输入的例子也会失败。</a:t>
            </a:r>
            <a:endParaRPr sz="1200"/>
          </a:p>
          <a:p>
            <a:pPr>
              <a:defRPr/>
            </a:pPr>
            <a:endParaRPr/>
          </a:p>
        </p:txBody>
      </p:sp>
      <p:sp>
        <p:nvSpPr>
          <p:cNvPr id="96692048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8433726" name="Slide Image Placeholder 1"/>
          <p:cNvSpPr>
            <a:spLocks noGrp="1"/>
          </p:cNvSpPr>
          <p:nvPr>
            <p:ph type="sldImg" idx="0"/>
          </p:nvPr>
        </p:nvSpPr>
        <p:spPr bwMode="auto"/>
      </p:sp>
      <p:sp>
        <p:nvSpPr>
          <p:cNvPr id="1634483840" name="Notes Placeholder 2"/>
          <p:cNvSpPr>
            <a:spLocks noGrp="1"/>
          </p:cNvSpPr>
          <p:nvPr>
            <p:ph type="body" idx="1"/>
          </p:nvPr>
        </p:nvSpPr>
        <p:spPr bwMode="auto"/>
        <p:txBody>
          <a:bodyPr/>
          <a:lstStyle/>
          <a:p>
            <a:pPr>
              <a:defRPr/>
            </a:pPr>
            <a:r>
              <a:rPr/>
              <a:t>Here we insert zero at iteration seven. The odd index makes the new pair a lower pair. Zero below seven makes this iteration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p:txBody>
      </p:sp>
      <p:sp>
        <p:nvSpPr>
          <p:cNvPr id="111374493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749061" name="Slide Image Placeholder 1"/>
          <p:cNvSpPr>
            <a:spLocks noGrp="1"/>
          </p:cNvSpPr>
          <p:nvPr>
            <p:ph type="sldImg" idx="0"/>
          </p:nvPr>
        </p:nvSpPr>
        <p:spPr bwMode="auto"/>
      </p:sp>
      <p:sp>
        <p:nvSpPr>
          <p:cNvPr id="2125367235" name="Notes Placeholder 2"/>
          <p:cNvSpPr>
            <a:spLocks noGrp="1"/>
          </p:cNvSpPr>
          <p:nvPr>
            <p:ph type="body" idx="1"/>
          </p:nvPr>
        </p:nvSpPr>
        <p:spPr bwMode="auto"/>
        <p:txBody>
          <a:bodyPr/>
          <a:lstStyle/>
          <a:p>
            <a:pPr>
              <a:defRPr/>
            </a:pPr>
            <a:r>
              <a:rP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endParaRPr/>
          </a:p>
          <a:p>
            <a:pPr>
              <a:defRPr/>
            </a:pPr>
            <a:endParaRPr/>
          </a:p>
          <a:p>
            <a:pPr>
              <a:defRPr/>
            </a:pPr>
            <a:r>
              <a:rPr lang="en-US" sz="1200" b="0" i="0" u="none" strike="noStrike" cap="none" spc="0">
                <a:solidFill>
                  <a:srgbClr val="000000"/>
                </a:solidFill>
                <a:latin typeface="+mn-lt"/>
                <a:ea typeface="+mn-ea"/>
                <a:cs typeface="+mn-cs"/>
              </a:rPr>
              <a:t>每个有限 pair 只有一个 parent 和一个 sibling-list owner。拆分前，原 owner 控制 retained 和 acquired 两部分。拆分后，原 owner 保留 retained segment，新 owner 接收 acquired segment。两个非空侧都可能得到新 list，但只有 acquired segment 改变 parent。Split 和 transfer 构成一个 transaction：保存受影响状态，执行更新，再检查 split boundary、ownership 和局部后置条件。若检查失败，rollback 恢复 registry、ownership link 和 list ID。维护状态还包括已处理前缀的排序结果，以及两类 pair family。普通列表会产生扫描、复制、切片和 ownership rebinding 成本。这些正确性检查不能建立历史线性时间分析所需的更新界。</a:t>
            </a:r>
            <a:endParaRPr/>
          </a:p>
        </p:txBody>
      </p:sp>
      <p:sp>
        <p:nvSpPr>
          <p:cNvPr id="74359108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08257856" name="Slide Image Placeholder 1"/>
          <p:cNvSpPr>
            <a:spLocks noGrp="1"/>
          </p:cNvSpPr>
          <p:nvPr>
            <p:ph type="sldImg" idx="0"/>
          </p:nvPr>
        </p:nvSpPr>
        <p:spPr bwMode="auto"/>
      </p:sp>
      <p:sp>
        <p:nvSpPr>
          <p:cNvPr id="1321311572" name="Notes Placeholder 2"/>
          <p:cNvSpPr>
            <a:spLocks noGrp="1"/>
          </p:cNvSpPr>
          <p:nvPr>
            <p:ph type="body" idx="1"/>
          </p:nvPr>
        </p:nvSpPr>
        <p:spPr bwMode="auto"/>
        <p:txBody>
          <a:bodyPr/>
          <a:lstStyle/>
          <a:p>
            <a:pPr>
              <a:defRPr/>
            </a:pPr>
            <a:r>
              <a:rP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Backup C gives the details. This finite evidence supports the evaluated cases, but is not a mathematical proof for every Jordan sequence.</a:t>
            </a:r>
            <a:endParaRPr/>
          </a:p>
          <a:p>
            <a:pPr>
              <a:defRPr/>
            </a:pPr>
            <a:endParaRPr/>
          </a:p>
          <a:p>
            <a:pPr>
              <a:defRPr/>
            </a:pPr>
            <a:r>
              <a:rPr lang="en-US" sz="1200" b="0" i="0" u="none" strike="noStrike" cap="none" spc="0">
                <a:solidFill>
                  <a:srgbClr val="000000"/>
                </a:solidFill>
                <a:latin typeface="+mn-lt"/>
                <a:ea typeface="+mn-ea"/>
                <a:cs typeface="+mn-cs"/>
              </a:rPr>
              <a:t>Focused regression case 覆盖已知边界条件。有界穷举验证覆盖 n 不超过 8 的全部 2,074 个 oracle-valid permutation。Checked-state audit 检查 parent link、ownership、sibling list 与恢复输出。确定性重放比较同一 core 多次运行后的状态，并不是第二套独立实现。重放检查的是同一过程是否得到一致状态。另有实验检查，将保存的输出与固定设置及重算汇总比较，详情见 Backup C。这些有限证据支持已评估用例，但不是对所有 Jordan sequence 的数学证明。</a:t>
            </a:r>
            <a:endParaRPr/>
          </a:p>
        </p:txBody>
      </p:sp>
      <p:sp>
        <p:nvSpPr>
          <p:cNvPr id="1576409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7332166" name="Slide Image Placeholder 1"/>
          <p:cNvSpPr>
            <a:spLocks noGrp="1"/>
          </p:cNvSpPr>
          <p:nvPr>
            <p:ph type="sldImg" idx="0"/>
          </p:nvPr>
        </p:nvSpPr>
        <p:spPr bwMode="auto"/>
      </p:sp>
      <p:sp>
        <p:nvSpPr>
          <p:cNvPr id="1288727801" name="Notes Placeholder 2"/>
          <p:cNvSpPr>
            <a:spLocks noGrp="1"/>
          </p:cNvSpPr>
          <p:nvPr>
            <p:ph type="body" idx="1"/>
          </p:nvPr>
        </p:nvSpPr>
        <p:spPr bwMode="auto"/>
        <p:txBody>
          <a:bodyPr/>
          <a:lstStyle/>
          <a:p>
            <a:pPr>
              <a:defRPr/>
            </a:pPr>
            <a:r>
              <a:rP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the minimal core call and output recovery from maintained order. Output comparison follows timing. Python timing covers its sorting call; reference timing covers the complete oracle-backed pipeline. These are three different timing scopes.</a:t>
            </a:r>
            <a:endParaRPr/>
          </a:p>
          <a:p>
            <a:pPr>
              <a:defRPr/>
            </a:pPr>
            <a:endParaRPr/>
          </a:p>
          <a:p>
            <a:pPr>
              <a:defRPr/>
            </a:pPr>
            <a:r>
              <a:rPr lang="en-US" sz="1200" b="0" i="0" u="none" strike="noStrike" cap="none" spc="0">
                <a:solidFill>
                  <a:srgbClr val="000000"/>
                </a:solidFill>
                <a:latin typeface="+mn-lt"/>
                <a:ea typeface="+mn-ea"/>
                <a:cs typeface="+mn-cs"/>
              </a:rPr>
              <a:t>实验使用 5 个规模，每个规模 12 个 exact case，并比较 3 个算法。每个 case-algorithm cell 包含 5 次 warm-up 和 20 次 measured call，共得到 3,600 条测量记录。这 20 次调用重复同一个 exact case，并非 20 个独立输入。每次调用获得包含相同值的 fresh list。算法位置轮转，避免某个算法总是先运行。Paper 的认证与 checked-state audit 在计时前完成。Paper 计时包含 minimal core call，以及从维护顺序恢复输出。输出比较发生在计时后。Python 计时覆盖排序调用；reference 计时覆盖完整的 oracle-backed pipeline。这是三种不同的计时范围。</a:t>
            </a:r>
            <a:endParaRPr/>
          </a:p>
        </p:txBody>
      </p:sp>
      <p:sp>
        <p:nvSpPr>
          <p:cNvPr id="19483792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2494640" name="Slide Image Placeholder 1"/>
          <p:cNvSpPr>
            <a:spLocks noGrp="1"/>
          </p:cNvSpPr>
          <p:nvPr>
            <p:ph type="sldImg" idx="0"/>
          </p:nvPr>
        </p:nvSpPr>
        <p:spPr bwMode="auto"/>
      </p:sp>
      <p:sp>
        <p:nvSpPr>
          <p:cNvPr id="1544276917" name="Notes Placeholder 2"/>
          <p:cNvSpPr>
            <a:spLocks noGrp="1"/>
          </p:cNvSpPr>
          <p:nvPr>
            <p:ph type="body" idx="1"/>
          </p:nvPr>
        </p:nvSpPr>
        <p:spPr bwMode="auto"/>
        <p:txBody>
          <a:bodyPr/>
          <a:lstStyle/>
          <a:p>
            <a:pPr>
              <a:defRPr/>
            </a:pPr>
            <a:r>
              <a:rP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endParaRPr/>
          </a:p>
          <a:p>
            <a:pPr>
              <a:defRPr/>
            </a:pPr>
            <a:endParaRPr/>
          </a:p>
          <a:p>
            <a:pPr>
              <a:defRPr/>
            </a:pPr>
            <a:r>
              <a:rPr lang="en-US" sz="1200" b="0" i="0" u="none" strike="noStrike" cap="none" spc="0">
                <a:solidFill>
                  <a:srgbClr val="000000"/>
                </a:solidFill>
                <a:latin typeface="+mn-lt"/>
                <a:ea typeface="+mn-ea"/>
                <a:cs typeface="+mn-cs"/>
              </a:rPr>
              <a:t>全部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endParaRPr/>
          </a:p>
        </p:txBody>
      </p:sp>
      <p:sp>
        <p:nvSpPr>
          <p:cNvPr id="14396583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0915313" name="Slide Image Placeholder 1"/>
          <p:cNvSpPr>
            <a:spLocks noGrp="1"/>
          </p:cNvSpPr>
          <p:nvPr>
            <p:ph type="sldImg" idx="0"/>
          </p:nvPr>
        </p:nvSpPr>
        <p:spPr bwMode="auto"/>
      </p:sp>
      <p:sp>
        <p:nvSpPr>
          <p:cNvPr id="1333349161" name="Notes Placeholder 2"/>
          <p:cNvSpPr>
            <a:spLocks noGrp="1"/>
          </p:cNvSpPr>
          <p:nvPr>
            <p:ph type="body" idx="1"/>
          </p:nvPr>
        </p:nvSpPr>
        <p:spPr bwMode="auto"/>
        <p:txBody>
          <a:bodyPr/>
          <a:lstStyle/>
          <a:p>
            <a:pPr>
              <a:defRPr/>
            </a:pPr>
            <a:r>
              <a:rPr/>
              <a:t>For each case, I divide the median paper time by the median reference time. I then take the median of these ratios for each size. The ratios are 3.226 at n equals 32, 2.202 at 64, 1.351 at 128, 0.851 at 256, and 0.567 at 512. Thus, the ratio is above one at 128 and below one at 256. Paper calls take less time at the two larger sizes under these scopes. Since the scopes differ, this does not establish an end-to-end speedup. Python sort has the lowest median call time at every tested size, as shown in Backup A.</a:t>
            </a:r>
            <a:endParaRPr/>
          </a:p>
          <a:p>
            <a:pPr>
              <a:defRPr/>
            </a:pPr>
            <a:endParaRPr/>
          </a:p>
          <a:p>
            <a:pPr>
              <a:defRPr/>
            </a:pPr>
            <a:r>
              <a:rPr lang="en-US" sz="1200" b="0" i="0" u="none" strike="noStrike" cap="none" spc="0">
                <a:solidFill>
                  <a:srgbClr val="000000"/>
                </a:solidFill>
                <a:latin typeface="+mn-lt"/>
                <a:ea typeface="+mn-ea"/>
                <a:cs typeface="+mn-cs"/>
              </a:rPr>
              <a:t>对每个 case，我用 paper 调用时间的中位数除以 reference 调用时间的中位数。然后对每个规模下的这些比值取中位数。比值在 n 为 32 时是 3.226，64 时是 2.202，128 时是 1.351，256 时是 0.851，512 时是 0.567。因此，128 时比值大于 1，256 时小于 1。在这些计时范围下，两个较大规模的 paper 调用耗时更少。由于计时范围不同，这不能证明端到端加速。Python sort 在每个测试规模上都有最低的调用时间中位数，见 Backup A。</a:t>
            </a:r>
            <a:endParaRPr sz="1200"/>
          </a:p>
          <a:p>
            <a:pPr>
              <a:defRPr/>
            </a:pPr>
            <a:endParaRPr/>
          </a:p>
        </p:txBody>
      </p:sp>
      <p:sp>
        <p:nvSpPr>
          <p:cNvPr id="14957889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2442978" name="Slide Image Placeholder 1"/>
          <p:cNvSpPr>
            <a:spLocks noGrp="1"/>
          </p:cNvSpPr>
          <p:nvPr>
            <p:ph type="sldImg" idx="0"/>
          </p:nvPr>
        </p:nvSpPr>
        <p:spPr bwMode="auto"/>
      </p:sp>
      <p:sp>
        <p:nvSpPr>
          <p:cNvPr id="375347897" name="Notes Placeholder 2"/>
          <p:cNvSpPr>
            <a:spLocks noGrp="1"/>
          </p:cNvSpPr>
          <p:nvPr>
            <p:ph type="body" idx="1"/>
          </p:nvPr>
        </p:nvSpPr>
        <p:spPr bwMode="auto"/>
        <p:txBody>
          <a:bodyPr/>
          <a:lstStyle/>
          <a:p>
            <a:pPr>
              <a:defRPr/>
            </a:pPr>
            <a:r>
              <a:rP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endParaRPr/>
          </a:p>
          <a:p>
            <a:pPr>
              <a:defRPr/>
            </a:pPr>
            <a:endParaRPr/>
          </a:p>
          <a:p>
            <a:pPr>
              <a:defRPr/>
            </a:pPr>
            <a:r>
              <a:rPr lang="en-US" sz="1200" b="0" i="0" u="none" strike="noStrike" cap="none" spc="0">
                <a:solidFill>
                  <a:srgbClr val="000000"/>
                </a:solidFill>
                <a:latin typeface="+mn-lt"/>
                <a:ea typeface="+mn-ea"/>
                <a:cs typeface="+mn-cs"/>
              </a:rPr>
              <a:t>当前证据支持一个从维护状态恢复输出的可执行普通列表重构，并在已评估用例上得到正确结果。运行时间趋势描述的是当前实现及其计时范围。普通列表不构成线性时间实现，五个测试规模也不能确定渐近复杂度。本实验没有评估 recognition。</a:t>
            </a:r>
            <a:endParaRPr/>
          </a:p>
        </p:txBody>
      </p:sp>
      <p:sp>
        <p:nvSpPr>
          <p:cNvPr id="39636886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6262061" name="Slide Image Placeholder 1"/>
          <p:cNvSpPr>
            <a:spLocks noGrp="1"/>
          </p:cNvSpPr>
          <p:nvPr>
            <p:ph type="sldImg" idx="0"/>
          </p:nvPr>
        </p:nvSpPr>
        <p:spPr bwMode="auto"/>
      </p:sp>
      <p:sp>
        <p:nvSpPr>
          <p:cNvPr id="378658108" name="Notes Placeholder 2"/>
          <p:cNvSpPr>
            <a:spLocks noGrp="1"/>
          </p:cNvSpPr>
          <p:nvPr>
            <p:ph type="body" idx="1"/>
          </p:nvPr>
        </p:nvSpPr>
        <p:spPr bwMode="auto"/>
        <p:txBody>
          <a:bodyPr/>
          <a:lstStyle/>
          <a:p>
            <a:pPr>
              <a:defRPr/>
            </a:pPr>
            <a:r>
              <a:rPr/>
              <a:t>A finger-tree backend is a possible future extension, outside the current experimental evidence. It would keep the same Step 1, Step 2, and Step 3 behavior. The ordinary-list implementation provides a tested reference point for checking the behavior of a new backend. Backup E explains the interface and ownership-transfer difficulty.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endParaRPr/>
          </a:p>
          <a:p>
            <a:pPr>
              <a:defRPr/>
            </a:pPr>
            <a:endParaRPr/>
          </a:p>
          <a:p>
            <a:pPr>
              <a:defRPr/>
            </a:pPr>
            <a:r>
              <a:rPr lang="en-US" sz="1200" b="0" i="0" u="none" strike="noStrike" cap="none" spc="0">
                <a:solidFill>
                  <a:srgbClr val="000000"/>
                </a:solidFill>
                <a:latin typeface="+mn-lt"/>
                <a:ea typeface="+mn-ea"/>
                <a:cs typeface="+mn-cs"/>
              </a:rPr>
              <a:t>Finger-tree 后端是可能的未来扩展，不属于当前实验证据。它将保持相同的 Step 1、Step 2 和 Step 3 行为。普通列表实现为检查新后端的行为提供了经过测试的参照点。Backup E 说明接口及 ownership-transfer 难点。我希望向导师确认两个问题：应实现历史 heterogeneous finger tree，还是支持所需列表操作的等价后端？一个经过测试、语义等价的原型是否足够，还是还应证明所需的摊还操作界？</a:t>
            </a:r>
            <a:endParaRPr/>
          </a:p>
        </p:txBody>
      </p:sp>
      <p:sp>
        <p:nvSpPr>
          <p:cNvPr id="123499225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7241688" name="Slide Image Placeholder 1"/>
          <p:cNvSpPr>
            <a:spLocks noGrp="1"/>
          </p:cNvSpPr>
          <p:nvPr>
            <p:ph type="sldImg" idx="0"/>
          </p:nvPr>
        </p:nvSpPr>
        <p:spPr bwMode="auto"/>
      </p:sp>
      <p:sp>
        <p:nvSpPr>
          <p:cNvPr id="2017514702" name="Notes Placeholder 2"/>
          <p:cNvSpPr>
            <a:spLocks noGrp="1"/>
          </p:cNvSpPr>
          <p:nvPr>
            <p:ph type="body" idx="1"/>
          </p:nvPr>
        </p:nvSpPr>
        <p:spPr bwMode="auto"/>
        <p:txBody>
          <a:bodyPr/>
          <a:lstStyle/>
          <a:p>
            <a:pPr>
              <a:defRPr/>
            </a:pPr>
            <a:r>
              <a:rPr/>
              <a:t>If exact runtimes are requested, this backup slide reports the median call times for all three algorithms. The values belong to one recorded Apple M4 and CPython 3.12.4 execution. The logarithmic scale makes the Python values visible beside the reference and paper values. These absolute times should not be generalized to other environments.</a:t>
            </a:r>
            <a:endParaRPr/>
          </a:p>
          <a:p>
            <a:pPr>
              <a:defRPr/>
            </a:pPr>
            <a:endParaRPr/>
          </a:p>
          <a:p>
            <a:pPr>
              <a:defRPr/>
            </a:pPr>
            <a:r>
              <a:rPr/>
              <a:t>[Sources]</a:t>
            </a:r>
            <a:endParaRPr/>
          </a:p>
          <a:p>
            <a:pPr>
              <a:defRPr/>
            </a:pPr>
            <a:r>
              <a:rPr/>
              <a:t>- thesis/chapters/results.tex</a:t>
            </a:r>
            <a:endParaRPr/>
          </a:p>
          <a:p>
            <a:pPr>
              <a:defRPr/>
            </a:pPr>
            <a:r>
              <a:rPr/>
              <a:t>- results/runs/week12_formal_sorting_v1__run001/case_summary.csv</a:t>
            </a:r>
            <a:endParaRPr/>
          </a:p>
        </p:txBody>
      </p:sp>
      <p:sp>
        <p:nvSpPr>
          <p:cNvPr id="212641792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7415884" name="Slide Image Placeholder 1"/>
          <p:cNvSpPr>
            <a:spLocks noGrp="1"/>
          </p:cNvSpPr>
          <p:nvPr>
            <p:ph type="sldImg" idx="0"/>
          </p:nvPr>
        </p:nvSpPr>
        <p:spPr bwMode="auto"/>
      </p:sp>
      <p:sp>
        <p:nvSpPr>
          <p:cNvPr id="1421846334" name="Notes Placeholder 2"/>
          <p:cNvSpPr>
            <a:spLocks noGrp="1"/>
          </p:cNvSpPr>
          <p:nvPr>
            <p:ph type="body" idx="1"/>
          </p:nvPr>
        </p:nvSpPr>
        <p:spPr bwMode="auto"/>
        <p:txBody>
          <a:bodyPr/>
          <a:lstStyle/>
          <a:p>
            <a:pPr>
              <a:defRPr/>
            </a:pPr>
            <a:r>
              <a:rPr/>
              <a:t>This slide answers the output-provenance question directly. The reference pipeline returns oracle_result sorted. The paper core returns state.partial_order.to_list. Certification precedes the paper call and comparison follows it, so neither operation supplies the paper core's return value.</a:t>
            </a:r>
            <a:endParaRPr/>
          </a:p>
          <a:p>
            <a:pPr>
              <a:defRPr/>
            </a:pPr>
            <a:endParaRPr/>
          </a:p>
          <a:p>
            <a:pPr>
              <a:defRPr/>
            </a:pPr>
            <a:r>
              <a:rPr/>
              <a:t>[Sources]</a:t>
            </a:r>
            <a:endParaRPr/>
          </a:p>
          <a:p>
            <a:pPr>
              <a:defRPr/>
            </a:pPr>
            <a:r>
              <a:rPr/>
              <a:t>- thesis/chapters/implementation.tex</a:t>
            </a:r>
            <a:endParaRPr/>
          </a:p>
          <a:p>
            <a:pPr>
              <a:defRPr/>
            </a:pPr>
            <a:r>
              <a:rPr/>
              <a:t>- src/paper_jordan.py</a:t>
            </a:r>
            <a:endParaRPr/>
          </a:p>
          <a:p>
            <a:pPr>
              <a:defRPr/>
            </a:pPr>
            <a:r>
              <a:rPr/>
              <a:t>- src/simplified_jordan.py</a:t>
            </a:r>
            <a:endParaRPr/>
          </a:p>
        </p:txBody>
      </p:sp>
      <p:sp>
        <p:nvSpPr>
          <p:cNvPr id="12195376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38738845" name="Slide Image Placeholder 1"/>
          <p:cNvSpPr>
            <a:spLocks noGrp="1"/>
          </p:cNvSpPr>
          <p:nvPr>
            <p:ph type="sldImg" idx="0"/>
          </p:nvPr>
        </p:nvSpPr>
        <p:spPr bwMode="auto"/>
      </p:sp>
      <p:sp>
        <p:nvSpPr>
          <p:cNvPr id="1766172275" name="Notes Placeholder 2"/>
          <p:cNvSpPr>
            <a:spLocks noGrp="1"/>
          </p:cNvSpPr>
          <p:nvPr>
            <p:ph type="body" idx="1"/>
          </p:nvPr>
        </p:nvSpPr>
        <p:spPr bwMode="auto"/>
        <p:txBody>
          <a:bodyPr/>
          <a:lstStyle/>
          <a:p>
            <a:pPr>
              <a:defRPr/>
            </a:pPr>
            <a:r>
              <a:rPr/>
              <a:t>This inventory summarizes the bounded validation evidence: repository tests, exhaustive valid permutations through size eight, fixed generated cases, formal case-level checked-state audits, and a formal evidence archive that passed evidence-contract validation. These checks are complementary; none is a universal proof.</a:t>
            </a:r>
            <a:endParaRPr/>
          </a:p>
          <a:p>
            <a:pPr>
              <a:defRPr/>
            </a:pPr>
            <a:endParaRPr/>
          </a:p>
          <a:p>
            <a:pPr>
              <a:defRPr/>
            </a:pPr>
            <a:r>
              <a:rPr/>
              <a:t>[Sources]</a:t>
            </a:r>
            <a:endParaRPr/>
          </a:p>
          <a:p>
            <a:pPr>
              <a:defRPr/>
            </a:pPr>
            <a:r>
              <a:rPr/>
              <a:t>- docs/thesis/latex_final_audit.md</a:t>
            </a:r>
            <a:endParaRPr/>
          </a:p>
          <a:p>
            <a:pPr>
              <a:defRPr/>
            </a:pPr>
            <a:r>
              <a:rPr/>
              <a:t>- experiments/validate_paper_algorithm.py</a:t>
            </a:r>
            <a:endParaRPr/>
          </a:p>
          <a:p>
            <a:pPr>
              <a:defRPr/>
            </a:pPr>
            <a:r>
              <a:rPr/>
              <a:t>- results/runs/week12_formal_sorting_v1__run001/validation_report.json</a:t>
            </a:r>
            <a:endParaRPr/>
          </a:p>
        </p:txBody>
      </p:sp>
      <p:sp>
        <p:nvSpPr>
          <p:cNvPr id="13314525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2125292" name="Slide Image Placeholder 1"/>
          <p:cNvSpPr>
            <a:spLocks noGrp="1"/>
          </p:cNvSpPr>
          <p:nvPr>
            <p:ph type="sldImg" idx="0"/>
          </p:nvPr>
        </p:nvSpPr>
        <p:spPr bwMode="auto"/>
      </p:sp>
      <p:sp>
        <p:nvSpPr>
          <p:cNvPr id="879383354" name="Notes Placeholder 2"/>
          <p:cNvSpPr>
            <a:spLocks noGrp="1"/>
          </p:cNvSpPr>
          <p:nvPr>
            <p:ph type="body" idx="1"/>
          </p:nvPr>
        </p:nvSpPr>
        <p:spPr bwMode="auto"/>
        <p:txBody>
          <a:bodyPr/>
          <a:lstStyle/>
          <a:p>
            <a:pPr>
              <a:defRPr/>
            </a:pPr>
            <a:r>
              <a:rPr/>
              <a:t>This table summarizes the reflected local choices. Step 1 always selects the predecessor-side boundary A-i, and Step 2 always selects the successor-side boundary B-i. Step 3 reflects how those boundaries are used. Increasing iterations acquire the left split side and use the rightmost child and right endpoint; decreasing iterations mirror those choices.</a:t>
            </a:r>
            <a:endParaRPr/>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152146393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72040893" name="Slide Image Placeholder 1"/>
          <p:cNvSpPr>
            <a:spLocks noGrp="1"/>
          </p:cNvSpPr>
          <p:nvPr>
            <p:ph type="sldImg" idx="0"/>
          </p:nvPr>
        </p:nvSpPr>
        <p:spPr bwMode="auto"/>
      </p:sp>
      <p:sp>
        <p:nvSpPr>
          <p:cNvPr id="1767692239" name="Notes Placeholder 2"/>
          <p:cNvSpPr>
            <a:spLocks noGrp="1"/>
          </p:cNvSpPr>
          <p:nvPr>
            <p:ph type="body" idx="1"/>
          </p:nvPr>
        </p:nvSpPr>
        <p:spPr bwMode="auto"/>
        <p:txBody>
          <a:bodyPr/>
          <a:lstStyle/>
          <a:p>
            <a:pPr>
              <a:defRPr/>
            </a:pPr>
            <a:r>
              <a:rPr/>
              <a:t>This proposed boundary keeps the paper-facing Step 1, Step 2, and Step 3 control flow above a small sibling-list interface. The current ordinary-list backend remains the validated baseline. A finger-tree backend would be a separate implementation of the same semantic operations: singleton creation, boundary insertion, split, extreme-child access, ownership preservation, and stable handles. The exact data-structure target—either the historical heterogeneous finger tree or an equivalently efficient backend—remains to be agreed with the supervisor. The main risk is that efficient tree splitting is not enough by itself. If ownership transfer still scans the acquired segment and rebinds every item, the backend may not satisfy the operation bounds needed by the historical analysis. The first milestone is therefore semantic equivalence and differential correctness; any complexity claim requires a separate proof-level argument.</a:t>
            </a:r>
            <a:endParaRPr/>
          </a:p>
          <a:p>
            <a:pPr>
              <a:defRPr/>
            </a:pPr>
            <a:endParaRPr/>
          </a:p>
          <a:p>
            <a:pPr>
              <a:defRPr/>
            </a:pPr>
            <a:r>
              <a:rPr/>
              <a:t>[Sources]</a:t>
            </a:r>
            <a:endParaRPr/>
          </a:p>
          <a:p>
            <a:pPr>
              <a:defRPr/>
            </a:pPr>
            <a:r>
              <a:rPr/>
              <a:t>- thesis/chapters/implementation.tex</a:t>
            </a:r>
            <a:endParaRPr/>
          </a:p>
          <a:p>
            <a:pPr>
              <a:defRPr/>
            </a:pPr>
            <a:r>
              <a:rPr/>
              <a:t>- thesis/chapters/limitations.tex</a:t>
            </a:r>
            <a:endParaRPr/>
          </a:p>
          <a:p>
            <a:pPr>
              <a:defRPr/>
            </a:pPr>
            <a:r>
              <a:rPr/>
              <a:t>- Fung et al. (1990), doi:10.1016/0020-0190(90)90111-A</a:t>
            </a:r>
            <a:endParaRPr/>
          </a:p>
          <a:p>
            <a:pPr>
              <a:defRPr/>
            </a:pPr>
            <a:r>
              <a:rPr/>
              <a:t>- Supervisor feedback, September 2026</a:t>
            </a:r>
            <a:endParaRPr/>
          </a:p>
        </p:txBody>
      </p:sp>
      <p:sp>
        <p:nvSpPr>
          <p:cNvPr id="575834024"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293274465"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128876395" name=""/>
          <p:cNvPicPr>
            <a:picLocks noChangeAspect="1"/>
          </p:cNvPicPr>
          <p:nvPr/>
        </p:nvPicPr>
        <p:blipFill rotWithShape="1">
          <a:blip r:embed="rId3"/>
          <a:stretch/>
        </p:blipFill>
        <p:spPr bwMode="auto">
          <a:xfrm>
            <a:off x="7334250" y="1695818"/>
            <a:ext cx="4667250" cy="2666262"/>
          </a:xfrm>
          <a:prstGeom prst="rect">
            <a:avLst/>
          </a:prstGeom>
        </p:spPr>
      </p:pic>
      <p:sp>
        <p:nvSpPr>
          <p:cNvPr id="1291996254"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193879917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535286088"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972319501" name=""/>
          <p:cNvSpPr>
            <a:spLocks noGrp="1"/>
          </p:cNvSpPr>
          <p:nvPr/>
        </p:nvSpPr>
        <p:spPr bwMode="auto">
          <a:xfrm>
            <a:off x="723900" y="4838700"/>
            <a:ext cx="1428750" cy="9525"/>
          </a:xfrm>
          <a:prstGeom prst="line">
            <a:avLst/>
          </a:prstGeom>
          <a:noFill/>
          <a:ln w="47625">
            <a:solidFill>
              <a:srgbClr val="E76F51"/>
            </a:solidFill>
            <a:prstDash val="solid"/>
          </a:ln>
        </p:spPr>
      </p:sp>
      <p:sp>
        <p:nvSpPr>
          <p:cNvPr id="1551301648"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1014010911"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432669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111308080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15285228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7037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8593793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7934398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000527749"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830597"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618629846"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838816431"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1488874509"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363210506"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428314246"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198495339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45027867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123451485"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664718634"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187608007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67422079"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176760023"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1248821814"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1469576454"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2016169865"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481711614"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6687534"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988588896"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345348921"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1682931564"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712193865"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481489209"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638449929"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351720209"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22785590"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0160204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60992724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32656929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8075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61308309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4028784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41872462"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1063764662" name=""/>
          <p:cNvSpPr>
            <a:spLocks noGrp="1"/>
          </p:cNvSpPr>
          <p:nvPr/>
        </p:nvSpPr>
        <p:spPr bwMode="auto">
          <a:xfrm>
            <a:off x="723900" y="2209800"/>
            <a:ext cx="1952625" cy="9525"/>
          </a:xfrm>
          <a:prstGeom prst="line">
            <a:avLst/>
          </a:prstGeom>
          <a:noFill/>
          <a:ln w="38100">
            <a:solidFill>
              <a:srgbClr val="102A43"/>
            </a:solidFill>
            <a:prstDash val="solid"/>
          </a:ln>
        </p:spPr>
      </p:sp>
      <p:sp>
        <p:nvSpPr>
          <p:cNvPr id="1796883904"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630761637"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532135422"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2092905854"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522634354" name=""/>
          <p:cNvSpPr>
            <a:spLocks noGrp="1"/>
          </p:cNvSpPr>
          <p:nvPr/>
        </p:nvSpPr>
        <p:spPr bwMode="auto">
          <a:xfrm>
            <a:off x="3533775" y="2209800"/>
            <a:ext cx="1952625" cy="9525"/>
          </a:xfrm>
          <a:prstGeom prst="line">
            <a:avLst/>
          </a:prstGeom>
          <a:noFill/>
          <a:ln w="38100">
            <a:solidFill>
              <a:srgbClr val="2A9D8F"/>
            </a:solidFill>
            <a:prstDash val="solid"/>
          </a:ln>
        </p:spPr>
      </p:sp>
      <p:sp>
        <p:nvSpPr>
          <p:cNvPr id="1396707771"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68162823"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2062215111"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2037489999"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149234741" name=""/>
          <p:cNvSpPr>
            <a:spLocks noGrp="1"/>
          </p:cNvSpPr>
          <p:nvPr/>
        </p:nvSpPr>
        <p:spPr bwMode="auto">
          <a:xfrm>
            <a:off x="6343650" y="2209800"/>
            <a:ext cx="1952625" cy="9525"/>
          </a:xfrm>
          <a:prstGeom prst="line">
            <a:avLst/>
          </a:prstGeom>
          <a:noFill/>
          <a:ln w="38100">
            <a:solidFill>
              <a:srgbClr val="E76F51"/>
            </a:solidFill>
            <a:prstDash val="solid"/>
          </a:ln>
        </p:spPr>
      </p:sp>
      <p:sp>
        <p:nvSpPr>
          <p:cNvPr id="777577296"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269564898"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827854878"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155131212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13838487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772220580"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2112567080"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00980637"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53755708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3058667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4060597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186157813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19706203" name=""/>
          <p:cNvSpPr>
            <a:spLocks noGrp="1"/>
          </p:cNvSpPr>
          <p:nvPr/>
        </p:nvSpPr>
        <p:spPr bwMode="auto">
          <a:xfrm>
            <a:off x="609600" y="6477000"/>
            <a:ext cx="10972800" cy="9525"/>
          </a:xfrm>
          <a:prstGeom prst="line">
            <a:avLst/>
          </a:prstGeom>
          <a:noFill/>
          <a:ln w="9525">
            <a:solidFill>
              <a:srgbClr val="D9E2EC"/>
            </a:solidFill>
            <a:prstDash val="solid"/>
          </a:ln>
        </p:spPr>
      </p:sp>
      <p:sp>
        <p:nvSpPr>
          <p:cNvPr id="462335349"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565185754"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25567592"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693779921"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118258959"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70008342"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1049566201"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1178320154"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49686391"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362040313"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54358921"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697194533"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1737326444"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1216564816"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097903543"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81237401"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20365097"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4072869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1829970919"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971836839"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912703277"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341205741"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856566814"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207912359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486994709"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9510831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77658384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64505591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723174067" name=""/>
          <p:cNvSpPr>
            <a:spLocks noGrp="1"/>
          </p:cNvSpPr>
          <p:nvPr/>
        </p:nvSpPr>
        <p:spPr bwMode="auto">
          <a:xfrm>
            <a:off x="609600" y="6477000"/>
            <a:ext cx="10972800" cy="9525"/>
          </a:xfrm>
          <a:prstGeom prst="line">
            <a:avLst/>
          </a:prstGeom>
          <a:noFill/>
          <a:ln w="9525">
            <a:solidFill>
              <a:srgbClr val="D9E2EC"/>
            </a:solidFill>
            <a:prstDash val="solid"/>
          </a:ln>
        </p:spPr>
      </p:sp>
      <p:sp>
        <p:nvSpPr>
          <p:cNvPr id="190644517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25038554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104360209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0773883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1245773708"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769165958"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448999697"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1455240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709611198"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39917671"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980155225"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1699308625"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750678642"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316413252"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29730160"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678494328"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2765667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257851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377401116" name=""/>
          <p:cNvSpPr>
            <a:spLocks noGrp="1"/>
          </p:cNvSpPr>
          <p:nvPr/>
        </p:nvSpPr>
        <p:spPr bwMode="auto">
          <a:xfrm>
            <a:off x="609600" y="1085850"/>
            <a:ext cx="10972800" cy="9525"/>
          </a:xfrm>
          <a:prstGeom prst="line">
            <a:avLst/>
          </a:prstGeom>
          <a:noFill/>
          <a:ln w="28575">
            <a:solidFill>
              <a:srgbClr val="2A9D8F"/>
            </a:solidFill>
            <a:prstDash val="solid"/>
          </a:ln>
        </p:spPr>
      </p:sp>
      <p:sp>
        <p:nvSpPr>
          <p:cNvPr id="325780496" name=""/>
          <p:cNvSpPr>
            <a:spLocks noGrp="1"/>
          </p:cNvSpPr>
          <p:nvPr/>
        </p:nvSpPr>
        <p:spPr bwMode="auto">
          <a:xfrm>
            <a:off x="609600" y="6477000"/>
            <a:ext cx="10972800" cy="9525"/>
          </a:xfrm>
          <a:prstGeom prst="line">
            <a:avLst/>
          </a:prstGeom>
          <a:noFill/>
          <a:ln w="9525">
            <a:solidFill>
              <a:srgbClr val="D9E2EC"/>
            </a:solidFill>
            <a:prstDash val="solid"/>
          </a:ln>
        </p:spPr>
      </p:sp>
      <p:sp>
        <p:nvSpPr>
          <p:cNvPr id="123331069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810420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1030524291"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851915053"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443735121"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2018044695"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2067338948"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1912550261" name=""/>
          <p:cNvCxnSpPr>
            <a:stCxn id="1030524291" idx="2"/>
            <a:endCxn id="2018044695"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253548307" name=""/>
          <p:cNvCxnSpPr>
            <a:stCxn id="1030524291" idx="2"/>
            <a:endCxn id="2067338948"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482504181"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1854491649"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196468955"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2061916024"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65400191"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2077958495"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421651123"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252707283"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604536548"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43747842"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255979617" name=""/>
          <p:cNvCxnSpPr>
            <a:stCxn id="2067338948" idx="2"/>
            <a:endCxn id="1604536548"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830117646"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337611075"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122289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a:t>
            </a:r>
            <a:endParaRPr/>
          </a:p>
        </p:txBody>
      </p:sp>
      <p:sp>
        <p:nvSpPr>
          <p:cNvPr id="52119940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Step 1/2/3 control flow and reflected orientation</a:t>
            </a:r>
            <a:endParaRPr/>
          </a:p>
        </p:txBody>
      </p:sp>
      <p:sp>
        <p:nvSpPr>
          <p:cNvPr id="1877108130" name=""/>
          <p:cNvSpPr>
            <a:spLocks noGrp="1"/>
          </p:cNvSpPr>
          <p:nvPr/>
        </p:nvSpPr>
        <p:spPr bwMode="auto">
          <a:xfrm>
            <a:off x="609600" y="1085850"/>
            <a:ext cx="10972800" cy="9525"/>
          </a:xfrm>
          <a:prstGeom prst="line">
            <a:avLst/>
          </a:prstGeom>
          <a:noFill/>
          <a:ln w="28575">
            <a:solidFill>
              <a:srgbClr val="2A9D8F"/>
            </a:solidFill>
            <a:prstDash val="solid"/>
          </a:ln>
        </p:spPr>
      </p:sp>
      <p:sp>
        <p:nvSpPr>
          <p:cNvPr id="740467052" name=""/>
          <p:cNvSpPr>
            <a:spLocks noGrp="1"/>
          </p:cNvSpPr>
          <p:nvPr/>
        </p:nvSpPr>
        <p:spPr bwMode="auto">
          <a:xfrm>
            <a:off x="609600" y="6477000"/>
            <a:ext cx="10972800" cy="9525"/>
          </a:xfrm>
          <a:prstGeom prst="line">
            <a:avLst/>
          </a:prstGeom>
          <a:noFill/>
          <a:ln w="9525">
            <a:solidFill>
              <a:srgbClr val="D9E2EC"/>
            </a:solidFill>
            <a:prstDash val="solid"/>
          </a:ln>
        </p:spPr>
      </p:sp>
      <p:sp>
        <p:nvSpPr>
          <p:cNvPr id="181809449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1032110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7 / 16</a:t>
            </a:r>
            <a:endParaRPr/>
          </a:p>
        </p:txBody>
      </p:sp>
      <p:sp>
        <p:nvSpPr>
          <p:cNvPr id="843071685" name=""/>
          <p:cNvSpPr>
            <a:spLocks noGrp="1"/>
          </p:cNvSpPr>
          <p:nvPr/>
        </p:nvSpPr>
        <p:spPr bwMode="auto">
          <a:xfrm>
            <a:off x="819150" y="1619250"/>
            <a:ext cx="1752599" cy="800100"/>
          </a:xfrm>
          <a:prstGeom prst="roundRect">
            <a:avLst>
              <a:gd name="adj" fmla="val 9524"/>
            </a:avLst>
          </a:prstGeom>
          <a:solidFill>
            <a:srgbClr val="EAF1F8"/>
          </a:solidFill>
          <a:ln w="19050">
            <a:solidFill>
              <a:srgbClr val="52606D"/>
            </a:solidFill>
            <a:prstDash val="solid"/>
          </a:ln>
        </p:spPr>
      </p:sp>
      <p:sp>
        <p:nvSpPr>
          <p:cNvPr id="877099081" name=""/>
          <p:cNvSpPr>
            <a:spLocks noGrp="1"/>
          </p:cNvSpPr>
          <p:nvPr/>
        </p:nvSpPr>
        <p:spPr bwMode="auto">
          <a:xfrm>
            <a:off x="8953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Initialize</a:t>
            </a:r>
            <a:endParaRPr/>
          </a:p>
        </p:txBody>
      </p:sp>
      <p:sp>
        <p:nvSpPr>
          <p:cNvPr id="1692151859" name=""/>
          <p:cNvSpPr>
            <a:spLocks noGrp="1"/>
          </p:cNvSpPr>
          <p:nvPr/>
        </p:nvSpPr>
        <p:spPr bwMode="auto">
          <a:xfrm>
            <a:off x="914400" y="2019300"/>
            <a:ext cx="15621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order z₁, z₂, z₃</a:t>
            </a:r>
            <a:endParaRPr/>
          </a:p>
        </p:txBody>
      </p:sp>
      <p:sp>
        <p:nvSpPr>
          <p:cNvPr id="1695199152" name=""/>
          <p:cNvSpPr>
            <a:spLocks noGrp="1"/>
          </p:cNvSpPr>
          <p:nvPr/>
        </p:nvSpPr>
        <p:spPr bwMode="auto">
          <a:xfrm>
            <a:off x="2952750" y="1619250"/>
            <a:ext cx="1752599" cy="800100"/>
          </a:xfrm>
          <a:prstGeom prst="roundRect">
            <a:avLst>
              <a:gd name="adj" fmla="val 9524"/>
            </a:avLst>
          </a:prstGeom>
          <a:solidFill>
            <a:srgbClr val="EAF1F8"/>
          </a:solidFill>
          <a:ln w="19050">
            <a:solidFill>
              <a:srgbClr val="52606D"/>
            </a:solidFill>
            <a:prstDash val="solid"/>
          </a:ln>
        </p:spPr>
      </p:sp>
      <p:sp>
        <p:nvSpPr>
          <p:cNvPr id="1382293400" name=""/>
          <p:cNvSpPr>
            <a:spLocks noGrp="1"/>
          </p:cNvSpPr>
          <p:nvPr/>
        </p:nvSpPr>
        <p:spPr bwMode="auto">
          <a:xfrm>
            <a:off x="30289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1</a:t>
            </a:r>
            <a:endParaRPr/>
          </a:p>
        </p:txBody>
      </p:sp>
      <p:sp>
        <p:nvSpPr>
          <p:cNvPr id="482031127" name=""/>
          <p:cNvSpPr>
            <a:spLocks noGrp="1"/>
          </p:cNvSpPr>
          <p:nvPr/>
        </p:nvSpPr>
        <p:spPr bwMode="auto">
          <a:xfrm>
            <a:off x="3048000" y="2019300"/>
            <a:ext cx="1562100" cy="342900"/>
          </a:xfrm>
          <a:prstGeom prst="rect">
            <a:avLst/>
          </a:prstGeom>
          <a:noFill/>
          <a:ln w="0">
            <a:noFill/>
            <a:prstDash val="solid"/>
          </a:ln>
        </p:spPr>
        <p:txBody>
          <a:bodyPr wrap="square" lIns="38100" tIns="19050" rIns="38100" bIns="19050" anchor="ctr">
            <a:normAutofit fontScale="79722"/>
          </a:bodyPr>
          <a:lstStyle/>
          <a:p>
            <a:pPr algn="ctr">
              <a:lnSpc>
                <a:spcPct val="105000"/>
              </a:lnSpc>
              <a:buNone/>
              <a:defRPr sz="1200" b="0" i="0">
                <a:solidFill>
                  <a:srgbClr val="243B53"/>
                </a:solidFill>
              </a:defRPr>
            </a:pPr>
            <a:r>
              <a:rPr sz="1200" b="0" i="0">
                <a:solidFill>
                  <a:srgbClr val="243B53"/>
                </a:solidFill>
              </a:rPr>
              <a:t>predecessor-side boundary</a:t>
            </a:r>
            <a:endParaRPr/>
          </a:p>
        </p:txBody>
      </p:sp>
      <p:sp>
        <p:nvSpPr>
          <p:cNvPr id="399754853" name=""/>
          <p:cNvSpPr>
            <a:spLocks noGrp="1"/>
          </p:cNvSpPr>
          <p:nvPr/>
        </p:nvSpPr>
        <p:spPr bwMode="auto">
          <a:xfrm>
            <a:off x="5086350" y="1619250"/>
            <a:ext cx="1752599" cy="800100"/>
          </a:xfrm>
          <a:prstGeom prst="roundRect">
            <a:avLst>
              <a:gd name="adj" fmla="val 9524"/>
            </a:avLst>
          </a:prstGeom>
          <a:solidFill>
            <a:srgbClr val="EAF1F8"/>
          </a:solidFill>
          <a:ln w="19050">
            <a:solidFill>
              <a:srgbClr val="52606D"/>
            </a:solidFill>
            <a:prstDash val="solid"/>
          </a:ln>
        </p:spPr>
      </p:sp>
      <p:sp>
        <p:nvSpPr>
          <p:cNvPr id="1191834774" name=""/>
          <p:cNvSpPr>
            <a:spLocks noGrp="1"/>
          </p:cNvSpPr>
          <p:nvPr/>
        </p:nvSpPr>
        <p:spPr bwMode="auto">
          <a:xfrm>
            <a:off x="51625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2</a:t>
            </a:r>
            <a:endParaRPr/>
          </a:p>
        </p:txBody>
      </p:sp>
      <p:sp>
        <p:nvSpPr>
          <p:cNvPr id="1495693740" name=""/>
          <p:cNvSpPr>
            <a:spLocks noGrp="1"/>
          </p:cNvSpPr>
          <p:nvPr/>
        </p:nvSpPr>
        <p:spPr bwMode="auto">
          <a:xfrm>
            <a:off x="5181600" y="2019300"/>
            <a:ext cx="1562100" cy="342900"/>
          </a:xfrm>
          <a:prstGeom prst="rect">
            <a:avLst/>
          </a:prstGeom>
          <a:noFill/>
          <a:ln w="0">
            <a:noFill/>
            <a:prstDash val="solid"/>
          </a:ln>
        </p:spPr>
        <p:txBody>
          <a:bodyPr wrap="square" lIns="38100" tIns="19050" rIns="38100" bIns="19050" anchor="ctr">
            <a:normAutofit fontScale="86391"/>
          </a:bodyPr>
          <a:lstStyle/>
          <a:p>
            <a:pPr algn="ctr">
              <a:lnSpc>
                <a:spcPct val="105000"/>
              </a:lnSpc>
              <a:buNone/>
              <a:defRPr sz="1200" b="0" i="0">
                <a:solidFill>
                  <a:srgbClr val="243B53"/>
                </a:solidFill>
              </a:defRPr>
            </a:pPr>
            <a:r>
              <a:rPr sz="1200" b="0" i="0">
                <a:solidFill>
                  <a:srgbClr val="243B53"/>
                </a:solidFill>
              </a:rPr>
              <a:t>successor-side boundary</a:t>
            </a:r>
            <a:endParaRPr/>
          </a:p>
        </p:txBody>
      </p:sp>
      <p:sp>
        <p:nvSpPr>
          <p:cNvPr id="1226266232" name=""/>
          <p:cNvSpPr>
            <a:spLocks noGrp="1"/>
          </p:cNvSpPr>
          <p:nvPr/>
        </p:nvSpPr>
        <p:spPr bwMode="auto">
          <a:xfrm>
            <a:off x="7219950" y="1619250"/>
            <a:ext cx="1752599" cy="800100"/>
          </a:xfrm>
          <a:prstGeom prst="roundRect">
            <a:avLst>
              <a:gd name="adj" fmla="val 9524"/>
            </a:avLst>
          </a:prstGeom>
          <a:solidFill>
            <a:srgbClr val="EAF1F8"/>
          </a:solidFill>
          <a:ln w="19050">
            <a:solidFill>
              <a:srgbClr val="52606D"/>
            </a:solidFill>
            <a:prstDash val="solid"/>
          </a:ln>
        </p:spPr>
      </p:sp>
      <p:sp>
        <p:nvSpPr>
          <p:cNvPr id="1529888413" name=""/>
          <p:cNvSpPr>
            <a:spLocks noGrp="1"/>
          </p:cNvSpPr>
          <p:nvPr/>
        </p:nvSpPr>
        <p:spPr bwMode="auto">
          <a:xfrm>
            <a:off x="7296149"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3(a)</a:t>
            </a:r>
            <a:endParaRPr/>
          </a:p>
        </p:txBody>
      </p:sp>
      <p:sp>
        <p:nvSpPr>
          <p:cNvPr id="1079963571" name=""/>
          <p:cNvSpPr>
            <a:spLocks noGrp="1"/>
          </p:cNvSpPr>
          <p:nvPr/>
        </p:nvSpPr>
        <p:spPr bwMode="auto">
          <a:xfrm>
            <a:off x="7315200" y="2019300"/>
            <a:ext cx="15621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insert new pair</a:t>
            </a:r>
            <a:endParaRPr/>
          </a:p>
        </p:txBody>
      </p:sp>
      <p:sp>
        <p:nvSpPr>
          <p:cNvPr id="824608373" name=""/>
          <p:cNvSpPr>
            <a:spLocks noGrp="1"/>
          </p:cNvSpPr>
          <p:nvPr/>
        </p:nvSpPr>
        <p:spPr bwMode="auto">
          <a:xfrm>
            <a:off x="9353550" y="1619250"/>
            <a:ext cx="1752599" cy="800100"/>
          </a:xfrm>
          <a:prstGeom prst="roundRect">
            <a:avLst>
              <a:gd name="adj" fmla="val 9524"/>
            </a:avLst>
          </a:prstGeom>
          <a:solidFill>
            <a:srgbClr val="EAF1F8"/>
          </a:solidFill>
          <a:ln w="19050">
            <a:solidFill>
              <a:srgbClr val="52606D"/>
            </a:solidFill>
            <a:prstDash val="solid"/>
          </a:ln>
        </p:spPr>
      </p:sp>
      <p:sp>
        <p:nvSpPr>
          <p:cNvPr id="1756618747" name=""/>
          <p:cNvSpPr>
            <a:spLocks noGrp="1"/>
          </p:cNvSpPr>
          <p:nvPr/>
        </p:nvSpPr>
        <p:spPr bwMode="auto">
          <a:xfrm>
            <a:off x="9429750" y="1714500"/>
            <a:ext cx="1600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3(b)</a:t>
            </a:r>
            <a:endParaRPr/>
          </a:p>
        </p:txBody>
      </p:sp>
      <p:sp>
        <p:nvSpPr>
          <p:cNvPr id="1489599735" name=""/>
          <p:cNvSpPr>
            <a:spLocks noGrp="1"/>
          </p:cNvSpPr>
          <p:nvPr/>
        </p:nvSpPr>
        <p:spPr bwMode="auto">
          <a:xfrm>
            <a:off x="9448799" y="2019300"/>
            <a:ext cx="15621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split + transfer</a:t>
            </a:r>
            <a:endParaRPr/>
          </a:p>
        </p:txBody>
      </p:sp>
      <p:sp>
        <p:nvSpPr>
          <p:cNvPr id="1844661620" name=""/>
          <p:cNvSpPr>
            <a:spLocks noGrp="1"/>
          </p:cNvSpPr>
          <p:nvPr/>
        </p:nvSpPr>
        <p:spPr bwMode="auto">
          <a:xfrm>
            <a:off x="4762500" y="3009900"/>
            <a:ext cx="2667000" cy="838200"/>
          </a:xfrm>
          <a:prstGeom prst="roundRect">
            <a:avLst>
              <a:gd name="adj" fmla="val 9091"/>
            </a:avLst>
          </a:prstGeom>
          <a:solidFill>
            <a:srgbClr val="EAF1F8"/>
          </a:solidFill>
          <a:ln w="19050">
            <a:solidFill>
              <a:srgbClr val="52606D"/>
            </a:solidFill>
            <a:prstDash val="solid"/>
          </a:ln>
        </p:spPr>
      </p:sp>
      <p:sp>
        <p:nvSpPr>
          <p:cNvPr id="1085459677" name=""/>
          <p:cNvSpPr>
            <a:spLocks noGrp="1"/>
          </p:cNvSpPr>
          <p:nvPr/>
        </p:nvSpPr>
        <p:spPr bwMode="auto">
          <a:xfrm>
            <a:off x="4838700" y="3105150"/>
            <a:ext cx="25146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3(c)</a:t>
            </a:r>
            <a:endParaRPr/>
          </a:p>
        </p:txBody>
      </p:sp>
      <p:sp>
        <p:nvSpPr>
          <p:cNvPr id="1249949328" name=""/>
          <p:cNvSpPr>
            <a:spLocks noGrp="1"/>
          </p:cNvSpPr>
          <p:nvPr/>
        </p:nvSpPr>
        <p:spPr bwMode="auto">
          <a:xfrm>
            <a:off x="4857750" y="3409950"/>
            <a:ext cx="2476500" cy="381000"/>
          </a:xfrm>
          <a:prstGeom prst="rect">
            <a:avLst/>
          </a:prstGeom>
          <a:noFill/>
          <a:ln w="0">
            <a:noFill/>
            <a:prstDash val="solid"/>
          </a:ln>
        </p:spPr>
        <p:txBody>
          <a:bodyPr wrap="square" lIns="38100" tIns="19050" rIns="38100" bIns="19050" anchor="ctr">
            <a:normAutofit fontScale="92722"/>
          </a:bodyPr>
          <a:lstStyle/>
          <a:p>
            <a:pPr algn="ctr">
              <a:lnSpc>
                <a:spcPct val="105000"/>
              </a:lnSpc>
              <a:buNone/>
              <a:defRPr sz="1200" b="0" i="0">
                <a:solidFill>
                  <a:srgbClr val="243B53"/>
                </a:solidFill>
              </a:defRPr>
            </a:pPr>
            <a:r>
              <a:rPr sz="1200" b="0" i="0">
                <a:solidFill>
                  <a:srgbClr val="243B53"/>
                </a:solidFill>
              </a:rPr>
              <a:t>insert new point into maintained order</a:t>
            </a:r>
            <a:endParaRPr/>
          </a:p>
        </p:txBody>
      </p:sp>
      <p:cxnSp>
        <p:nvCxnSpPr>
          <p:cNvPr id="1118909466" name=""/>
          <p:cNvCxnSpPr>
            <a:stCxn id="843071685" idx="3"/>
            <a:endCxn id="1695199152" idx="1"/>
          </p:cNvCxnSpPr>
          <p:nvPr/>
        </p:nvCxnSpPr>
        <p:spPr bwMode="auto">
          <a:xfrm>
            <a:off x="2571750" y="2019300"/>
            <a:ext cx="381000" cy="0"/>
          </a:xfrm>
          <a:prstGeom prst="straightConnector1">
            <a:avLst/>
          </a:prstGeom>
          <a:ln w="19050">
            <a:solidFill>
              <a:srgbClr val="52606D"/>
            </a:solidFill>
            <a:prstDash val="solid"/>
            <a:tailEnd type="arrow" w="med" len="med"/>
          </a:ln>
        </p:spPr>
      </p:cxnSp>
      <p:cxnSp>
        <p:nvCxnSpPr>
          <p:cNvPr id="183824096" name=""/>
          <p:cNvCxnSpPr>
            <a:stCxn id="1695199152" idx="3"/>
            <a:endCxn id="399754853" idx="1"/>
          </p:cNvCxnSpPr>
          <p:nvPr/>
        </p:nvCxnSpPr>
        <p:spPr bwMode="auto">
          <a:xfrm>
            <a:off x="4705350" y="2019300"/>
            <a:ext cx="381000" cy="0"/>
          </a:xfrm>
          <a:prstGeom prst="straightConnector1">
            <a:avLst/>
          </a:prstGeom>
          <a:ln w="19050">
            <a:solidFill>
              <a:srgbClr val="52606D"/>
            </a:solidFill>
            <a:prstDash val="solid"/>
            <a:tailEnd type="arrow" w="med" len="med"/>
          </a:ln>
        </p:spPr>
      </p:cxnSp>
      <p:cxnSp>
        <p:nvCxnSpPr>
          <p:cNvPr id="1319923860" name=""/>
          <p:cNvCxnSpPr>
            <a:stCxn id="399754853" idx="3"/>
            <a:endCxn id="1226266232" idx="1"/>
          </p:cNvCxnSpPr>
          <p:nvPr/>
        </p:nvCxnSpPr>
        <p:spPr bwMode="auto">
          <a:xfrm>
            <a:off x="6838950" y="2019300"/>
            <a:ext cx="381000" cy="0"/>
          </a:xfrm>
          <a:prstGeom prst="straightConnector1">
            <a:avLst/>
          </a:prstGeom>
          <a:ln w="19050">
            <a:solidFill>
              <a:srgbClr val="52606D"/>
            </a:solidFill>
            <a:prstDash val="solid"/>
            <a:tailEnd type="arrow" w="med" len="med"/>
          </a:ln>
        </p:spPr>
      </p:cxnSp>
      <p:cxnSp>
        <p:nvCxnSpPr>
          <p:cNvPr id="2003416021" name=""/>
          <p:cNvCxnSpPr>
            <a:stCxn id="1226266232" idx="3"/>
            <a:endCxn id="824608373" idx="1"/>
          </p:cNvCxnSpPr>
          <p:nvPr/>
        </p:nvCxnSpPr>
        <p:spPr bwMode="auto">
          <a:xfrm>
            <a:off x="8972550" y="2019300"/>
            <a:ext cx="381000" cy="0"/>
          </a:xfrm>
          <a:prstGeom prst="straightConnector1">
            <a:avLst/>
          </a:prstGeom>
          <a:ln w="19050">
            <a:solidFill>
              <a:srgbClr val="52606D"/>
            </a:solidFill>
            <a:prstDash val="solid"/>
            <a:tailEnd type="arrow" w="med" len="med"/>
          </a:ln>
        </p:spPr>
      </p:cxnSp>
      <p:cxnSp>
        <p:nvCxnSpPr>
          <p:cNvPr id="1066960497" name=""/>
          <p:cNvCxnSpPr>
            <a:stCxn id="824608373" idx="2"/>
            <a:endCxn id="1844661620" idx="0"/>
          </p:cNvCxnSpPr>
          <p:nvPr/>
        </p:nvCxnSpPr>
        <p:spPr bwMode="auto">
          <a:xfrm flipH="1">
            <a:off x="6096000" y="2419350"/>
            <a:ext cx="4133850" cy="590549"/>
          </a:xfrm>
          <a:prstGeom prst="bentConnector4">
            <a:avLst>
              <a:gd name="adj1" fmla="val 0"/>
              <a:gd name="adj2" fmla="val 50000"/>
            </a:avLst>
          </a:prstGeom>
          <a:ln w="19050">
            <a:solidFill>
              <a:srgbClr val="52606D"/>
            </a:solidFill>
            <a:prstDash val="solid"/>
            <a:tailEnd type="arrow" w="med" len="med"/>
          </a:ln>
        </p:spPr>
      </p:cxnSp>
      <p:sp>
        <p:nvSpPr>
          <p:cNvPr id="1784876389" name=""/>
          <p:cNvSpPr>
            <a:spLocks noGrp="1"/>
          </p:cNvSpPr>
          <p:nvPr/>
        </p:nvSpPr>
        <p:spPr bwMode="auto">
          <a:xfrm>
            <a:off x="781050" y="4476750"/>
            <a:ext cx="3105150" cy="1066800"/>
          </a:xfrm>
          <a:prstGeom prst="roundRect">
            <a:avLst>
              <a:gd name="adj" fmla="val 7143"/>
            </a:avLst>
          </a:prstGeom>
          <a:solidFill>
            <a:srgbClr val="EAF1F8"/>
          </a:solidFill>
          <a:ln w="14288">
            <a:solidFill>
              <a:srgbClr val="102A43"/>
            </a:solidFill>
            <a:prstDash val="solid"/>
          </a:ln>
        </p:spPr>
      </p:sp>
      <p:sp>
        <p:nvSpPr>
          <p:cNvPr id="1426172178" name=""/>
          <p:cNvSpPr>
            <a:spLocks noGrp="1"/>
          </p:cNvSpPr>
          <p:nvPr/>
        </p:nvSpPr>
        <p:spPr bwMode="auto">
          <a:xfrm>
            <a:off x="914400" y="4610100"/>
            <a:ext cx="2838450" cy="2857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450" b="1" i="0">
                <a:solidFill>
                  <a:srgbClr val="102A43"/>
                </a:solidFill>
              </a:defRPr>
            </a:pPr>
            <a:r>
              <a:rPr sz="1450" b="1" i="0">
                <a:solidFill>
                  <a:srgbClr val="102A43"/>
                </a:solidFill>
              </a:rPr>
              <a:t>Explicit source rule</a:t>
            </a:r>
            <a:endParaRPr/>
          </a:p>
        </p:txBody>
      </p:sp>
      <p:sp>
        <p:nvSpPr>
          <p:cNvPr id="1357532722" name=""/>
          <p:cNvSpPr>
            <a:spLocks noGrp="1"/>
          </p:cNvSpPr>
          <p:nvPr/>
        </p:nvSpPr>
        <p:spPr bwMode="auto">
          <a:xfrm>
            <a:off x="952500" y="5010149"/>
            <a:ext cx="2762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Increasing Step 1/2/3 structure</a:t>
            </a:r>
            <a:endParaRPr/>
          </a:p>
        </p:txBody>
      </p:sp>
      <p:sp>
        <p:nvSpPr>
          <p:cNvPr id="2039207196" name=""/>
          <p:cNvSpPr>
            <a:spLocks noGrp="1"/>
          </p:cNvSpPr>
          <p:nvPr/>
        </p:nvSpPr>
        <p:spPr bwMode="auto">
          <a:xfrm>
            <a:off x="4257675" y="4476750"/>
            <a:ext cx="3105150" cy="1066800"/>
          </a:xfrm>
          <a:prstGeom prst="roundRect">
            <a:avLst>
              <a:gd name="adj" fmla="val 7143"/>
            </a:avLst>
          </a:prstGeom>
          <a:solidFill>
            <a:srgbClr val="E8F5F3"/>
          </a:solidFill>
          <a:ln w="14288">
            <a:solidFill>
              <a:srgbClr val="2A9D8F"/>
            </a:solidFill>
            <a:prstDash val="solid"/>
          </a:ln>
        </p:spPr>
      </p:sp>
      <p:sp>
        <p:nvSpPr>
          <p:cNvPr id="1031259510" name=""/>
          <p:cNvSpPr>
            <a:spLocks noGrp="1"/>
          </p:cNvSpPr>
          <p:nvPr/>
        </p:nvSpPr>
        <p:spPr bwMode="auto">
          <a:xfrm>
            <a:off x="4391025" y="4610100"/>
            <a:ext cx="2838450" cy="2857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450" b="1" i="0">
                <a:solidFill>
                  <a:srgbClr val="2A9D8F"/>
                </a:solidFill>
              </a:defRPr>
            </a:pPr>
            <a:r>
              <a:rPr sz="1450" b="1" i="0">
                <a:solidFill>
                  <a:srgbClr val="2A9D8F"/>
                </a:solidFill>
              </a:rPr>
              <a:t>Symmetric reconstruction</a:t>
            </a:r>
            <a:endParaRPr/>
          </a:p>
        </p:txBody>
      </p:sp>
      <p:sp>
        <p:nvSpPr>
          <p:cNvPr id="1311720537" name=""/>
          <p:cNvSpPr>
            <a:spLocks noGrp="1"/>
          </p:cNvSpPr>
          <p:nvPr/>
        </p:nvSpPr>
        <p:spPr bwMode="auto">
          <a:xfrm>
            <a:off x="4429125" y="5010149"/>
            <a:ext cx="2762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Reflected decreasing orientation</a:t>
            </a:r>
            <a:endParaRPr/>
          </a:p>
        </p:txBody>
      </p:sp>
      <p:sp>
        <p:nvSpPr>
          <p:cNvPr id="1704323937" name=""/>
          <p:cNvSpPr>
            <a:spLocks noGrp="1"/>
          </p:cNvSpPr>
          <p:nvPr/>
        </p:nvSpPr>
        <p:spPr bwMode="auto">
          <a:xfrm>
            <a:off x="7734300" y="4476750"/>
            <a:ext cx="3105150" cy="1066800"/>
          </a:xfrm>
          <a:prstGeom prst="roundRect">
            <a:avLst>
              <a:gd name="adj" fmla="val 7143"/>
            </a:avLst>
          </a:prstGeom>
          <a:solidFill>
            <a:srgbClr val="FCEEEA"/>
          </a:solidFill>
          <a:ln w="14288">
            <a:solidFill>
              <a:srgbClr val="E76F51"/>
            </a:solidFill>
            <a:prstDash val="solid"/>
          </a:ln>
        </p:spPr>
      </p:sp>
      <p:sp>
        <p:nvSpPr>
          <p:cNvPr id="1454135503" name=""/>
          <p:cNvSpPr>
            <a:spLocks noGrp="1"/>
          </p:cNvSpPr>
          <p:nvPr/>
        </p:nvSpPr>
        <p:spPr bwMode="auto">
          <a:xfrm>
            <a:off x="7867649" y="4610100"/>
            <a:ext cx="2838450" cy="2857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450" b="1" i="0">
                <a:solidFill>
                  <a:srgbClr val="E76F51"/>
                </a:solidFill>
              </a:defRPr>
            </a:pPr>
            <a:r>
              <a:rPr sz="1450" b="1" i="0">
                <a:solidFill>
                  <a:srgbClr val="E76F51"/>
                </a:solidFill>
              </a:rPr>
              <a:t>Executable clarifications</a:t>
            </a:r>
            <a:endParaRPr/>
          </a:p>
        </p:txBody>
      </p:sp>
      <p:sp>
        <p:nvSpPr>
          <p:cNvPr id="760527508" name=""/>
          <p:cNvSpPr>
            <a:spLocks noGrp="1"/>
          </p:cNvSpPr>
          <p:nvPr/>
        </p:nvSpPr>
        <p:spPr bwMode="auto">
          <a:xfrm>
            <a:off x="7905750" y="5010149"/>
            <a:ext cx="2762250" cy="400050"/>
          </a:xfrm>
          <a:prstGeom prst="rect">
            <a:avLst/>
          </a:prstGeom>
          <a:noFill/>
          <a:ln w="0">
            <a:noFill/>
            <a:prstDash val="solid"/>
          </a:ln>
        </p:spPr>
        <p:txBody>
          <a:bodyPr wrap="square" lIns="38100" tIns="19050" rIns="38100" bIns="19050" anchor="ctr">
            <a:normAutofit fontScale="88702"/>
          </a:bodyPr>
          <a:lstStyle/>
          <a:p>
            <a:pPr algn="ctr">
              <a:lnSpc>
                <a:spcPct val="105000"/>
              </a:lnSpc>
              <a:buNone/>
              <a:defRPr sz="1300" b="0" i="0">
                <a:solidFill>
                  <a:srgbClr val="243B53"/>
                </a:solidFill>
              </a:defRPr>
            </a:pPr>
            <a:r>
              <a:rPr sz="1300" b="0" i="0">
                <a:solidFill>
                  <a:srgbClr val="243B53"/>
                </a:solidFill>
              </a:rPr>
              <a:t>Geometric endpoint and odd-index z₁ anchor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04682981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a:t>
            </a:r>
            <a:endParaRPr/>
          </a:p>
        </p:txBody>
      </p:sp>
      <p:sp>
        <p:nvSpPr>
          <p:cNvPr id="122313992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5546"/>
          </a:bodyPr>
          <a:lstStyle/>
          <a:p>
            <a:pPr algn="l">
              <a:lnSpc>
                <a:spcPct val="95000"/>
              </a:lnSpc>
              <a:buNone/>
              <a:defRPr sz="2700" b="1" i="0">
                <a:solidFill>
                  <a:srgbClr val="102A43"/>
                </a:solidFill>
              </a:defRPr>
            </a:pPr>
            <a:r>
              <a:rPr sz="2700" b="1" i="0">
                <a:solidFill>
                  <a:srgbClr val="102A43"/>
                </a:solidFill>
              </a:rPr>
              <a:t>Step 3(c) uses the geometric extreme, not the second stored endpoint</a:t>
            </a:r>
            <a:endParaRPr/>
          </a:p>
        </p:txBody>
      </p:sp>
      <p:sp>
        <p:nvSpPr>
          <p:cNvPr id="872194647" name=""/>
          <p:cNvSpPr>
            <a:spLocks noGrp="1"/>
          </p:cNvSpPr>
          <p:nvPr/>
        </p:nvSpPr>
        <p:spPr bwMode="auto">
          <a:xfrm>
            <a:off x="609600" y="1085850"/>
            <a:ext cx="10972800" cy="9525"/>
          </a:xfrm>
          <a:prstGeom prst="line">
            <a:avLst/>
          </a:prstGeom>
          <a:noFill/>
          <a:ln w="28575">
            <a:solidFill>
              <a:srgbClr val="2A9D8F"/>
            </a:solidFill>
            <a:prstDash val="solid"/>
          </a:ln>
        </p:spPr>
      </p:sp>
      <p:sp>
        <p:nvSpPr>
          <p:cNvPr id="929709741" name=""/>
          <p:cNvSpPr>
            <a:spLocks noGrp="1"/>
          </p:cNvSpPr>
          <p:nvPr/>
        </p:nvSpPr>
        <p:spPr bwMode="auto">
          <a:xfrm>
            <a:off x="609600" y="6477000"/>
            <a:ext cx="10972800" cy="9525"/>
          </a:xfrm>
          <a:prstGeom prst="line">
            <a:avLst/>
          </a:prstGeom>
          <a:noFill/>
          <a:ln w="9525">
            <a:solidFill>
              <a:srgbClr val="D9E2EC"/>
            </a:solidFill>
            <a:prstDash val="solid"/>
          </a:ln>
        </p:spPr>
      </p:sp>
      <p:sp>
        <p:nvSpPr>
          <p:cNvPr id="61987703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7494472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8 / 16</a:t>
            </a:r>
            <a:endParaRPr/>
          </a:p>
        </p:txBody>
      </p:sp>
      <p:sp>
        <p:nvSpPr>
          <p:cNvPr id="899857626" name=""/>
          <p:cNvSpPr>
            <a:spLocks noGrp="1"/>
          </p:cNvSpPr>
          <p:nvPr/>
        </p:nvSpPr>
        <p:spPr bwMode="auto">
          <a:xfrm>
            <a:off x="800100" y="1485900"/>
            <a:ext cx="16192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200" b="1" i="0">
                <a:solidFill>
                  <a:srgbClr val="7B8794"/>
                </a:solidFill>
              </a:defRPr>
            </a:pPr>
            <a:r>
              <a:rPr sz="1200" b="1" i="0">
                <a:solidFill>
                  <a:srgbClr val="7B8794"/>
                </a:solidFill>
              </a:rPr>
              <a:t>Input prefix</a:t>
            </a:r>
            <a:endParaRPr/>
          </a:p>
        </p:txBody>
      </p:sp>
      <p:sp>
        <p:nvSpPr>
          <p:cNvPr id="971014558" name=""/>
          <p:cNvSpPr>
            <a:spLocks noGrp="1"/>
          </p:cNvSpPr>
          <p:nvPr/>
        </p:nvSpPr>
        <p:spPr bwMode="auto">
          <a:xfrm>
            <a:off x="800100" y="1790700"/>
            <a:ext cx="2667000" cy="4572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2400" b="1" i="0">
                <a:solidFill>
                  <a:srgbClr val="102A43"/>
                </a:solidFill>
              </a:defRPr>
            </a:pPr>
            <a:r>
              <a:rPr sz="2400" b="1" i="0">
                <a:solidFill>
                  <a:srgbClr val="102A43"/>
                </a:solidFill>
              </a:rPr>
              <a:t>(3, 2, 1, 4)</a:t>
            </a:r>
            <a:endParaRPr/>
          </a:p>
        </p:txBody>
      </p:sp>
      <p:sp>
        <p:nvSpPr>
          <p:cNvPr id="858524485" name=""/>
          <p:cNvSpPr>
            <a:spLocks noGrp="1"/>
          </p:cNvSpPr>
          <p:nvPr/>
        </p:nvSpPr>
        <p:spPr bwMode="auto">
          <a:xfrm>
            <a:off x="800100" y="2419350"/>
            <a:ext cx="16192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200" b="1" i="0">
                <a:solidFill>
                  <a:srgbClr val="7B8794"/>
                </a:solidFill>
              </a:defRPr>
            </a:pPr>
            <a:r>
              <a:rPr sz="1200" b="1" i="0">
                <a:solidFill>
                  <a:srgbClr val="7B8794"/>
                </a:solidFill>
              </a:rPr>
              <a:t>Acquired pair</a:t>
            </a:r>
            <a:endParaRPr/>
          </a:p>
        </p:txBody>
      </p:sp>
      <p:sp>
        <p:nvSpPr>
          <p:cNvPr id="1416645228" name=""/>
          <p:cNvSpPr>
            <a:spLocks noGrp="1"/>
          </p:cNvSpPr>
          <p:nvPr/>
        </p:nvSpPr>
        <p:spPr bwMode="auto">
          <a:xfrm>
            <a:off x="800100" y="2724150"/>
            <a:ext cx="2667000" cy="4572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2250" b="1" i="0">
                <a:solidFill>
                  <a:srgbClr val="E76F51"/>
                </a:solidFill>
              </a:defRPr>
            </a:pPr>
            <a:r>
              <a:rPr sz="2250" b="1" i="0">
                <a:solidFill>
                  <a:srgbClr val="E76F51"/>
                </a:solidFill>
              </a:rPr>
              <a:t>P₂ = (3, 2)</a:t>
            </a:r>
            <a:endParaRPr/>
          </a:p>
        </p:txBody>
      </p:sp>
      <p:sp>
        <p:nvSpPr>
          <p:cNvPr id="1532319717" name=""/>
          <p:cNvSpPr>
            <a:spLocks noGrp="1"/>
          </p:cNvSpPr>
          <p:nvPr/>
        </p:nvSpPr>
        <p:spPr bwMode="auto">
          <a:xfrm>
            <a:off x="3905250" y="2400300"/>
            <a:ext cx="6477000" cy="9525"/>
          </a:xfrm>
          <a:prstGeom prst="line">
            <a:avLst/>
          </a:prstGeom>
          <a:noFill/>
          <a:ln w="28575">
            <a:solidFill>
              <a:srgbClr val="52606D"/>
            </a:solidFill>
            <a:prstDash val="solid"/>
          </a:ln>
        </p:spPr>
      </p:sp>
      <p:sp>
        <p:nvSpPr>
          <p:cNvPr id="2067292980" name=""/>
          <p:cNvSpPr>
            <a:spLocks noGrp="1"/>
          </p:cNvSpPr>
          <p:nvPr/>
        </p:nvSpPr>
        <p:spPr bwMode="auto">
          <a:xfrm>
            <a:off x="4095750" y="2209800"/>
            <a:ext cx="381000" cy="381000"/>
          </a:xfrm>
          <a:prstGeom prst="ellipse">
            <a:avLst/>
          </a:prstGeom>
          <a:solidFill>
            <a:srgbClr val="FFFFFF"/>
          </a:solidFill>
          <a:ln w="19050">
            <a:solidFill>
              <a:srgbClr val="52606D"/>
            </a:solidFill>
            <a:prstDash val="solid"/>
          </a:ln>
        </p:spPr>
      </p:sp>
      <p:sp>
        <p:nvSpPr>
          <p:cNvPr id="581000612" name=""/>
          <p:cNvSpPr>
            <a:spLocks noGrp="1"/>
          </p:cNvSpPr>
          <p:nvPr/>
        </p:nvSpPr>
        <p:spPr bwMode="auto">
          <a:xfrm>
            <a:off x="4095750"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1</a:t>
            </a:r>
            <a:endParaRPr/>
          </a:p>
        </p:txBody>
      </p:sp>
      <p:sp>
        <p:nvSpPr>
          <p:cNvPr id="1334203799" name=""/>
          <p:cNvSpPr>
            <a:spLocks noGrp="1"/>
          </p:cNvSpPr>
          <p:nvPr/>
        </p:nvSpPr>
        <p:spPr bwMode="auto">
          <a:xfrm>
            <a:off x="6048375" y="2209800"/>
            <a:ext cx="381000" cy="381000"/>
          </a:xfrm>
          <a:prstGeom prst="ellipse">
            <a:avLst/>
          </a:prstGeom>
          <a:solidFill>
            <a:srgbClr val="FCEEEA"/>
          </a:solidFill>
          <a:ln w="19050">
            <a:solidFill>
              <a:srgbClr val="E76F51"/>
            </a:solidFill>
            <a:prstDash val="solid"/>
          </a:ln>
        </p:spPr>
      </p:sp>
      <p:sp>
        <p:nvSpPr>
          <p:cNvPr id="2142406344" name=""/>
          <p:cNvSpPr>
            <a:spLocks noGrp="1"/>
          </p:cNvSpPr>
          <p:nvPr/>
        </p:nvSpPr>
        <p:spPr bwMode="auto">
          <a:xfrm>
            <a:off x="6048375"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2</a:t>
            </a:r>
            <a:endParaRPr/>
          </a:p>
        </p:txBody>
      </p:sp>
      <p:sp>
        <p:nvSpPr>
          <p:cNvPr id="631229682" name=""/>
          <p:cNvSpPr>
            <a:spLocks noGrp="1"/>
          </p:cNvSpPr>
          <p:nvPr/>
        </p:nvSpPr>
        <p:spPr bwMode="auto">
          <a:xfrm>
            <a:off x="8001000" y="2209800"/>
            <a:ext cx="381000" cy="381000"/>
          </a:xfrm>
          <a:prstGeom prst="ellipse">
            <a:avLst/>
          </a:prstGeom>
          <a:solidFill>
            <a:srgbClr val="E8F5F3"/>
          </a:solidFill>
          <a:ln w="19050">
            <a:solidFill>
              <a:srgbClr val="2A9D8F"/>
            </a:solidFill>
            <a:prstDash val="solid"/>
          </a:ln>
        </p:spPr>
      </p:sp>
      <p:sp>
        <p:nvSpPr>
          <p:cNvPr id="159979916" name=""/>
          <p:cNvSpPr>
            <a:spLocks noGrp="1"/>
          </p:cNvSpPr>
          <p:nvPr/>
        </p:nvSpPr>
        <p:spPr bwMode="auto">
          <a:xfrm>
            <a:off x="8001000"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3</a:t>
            </a:r>
            <a:endParaRPr/>
          </a:p>
        </p:txBody>
      </p:sp>
      <p:sp>
        <p:nvSpPr>
          <p:cNvPr id="154309903" name=""/>
          <p:cNvSpPr>
            <a:spLocks noGrp="1"/>
          </p:cNvSpPr>
          <p:nvPr/>
        </p:nvSpPr>
        <p:spPr bwMode="auto">
          <a:xfrm>
            <a:off x="9953625" y="2209800"/>
            <a:ext cx="381000" cy="381000"/>
          </a:xfrm>
          <a:prstGeom prst="ellipse">
            <a:avLst/>
          </a:prstGeom>
          <a:solidFill>
            <a:srgbClr val="FFFFFF"/>
          </a:solidFill>
          <a:ln w="19050">
            <a:solidFill>
              <a:srgbClr val="52606D"/>
            </a:solidFill>
            <a:prstDash val="solid"/>
          </a:ln>
        </p:spPr>
      </p:sp>
      <p:sp>
        <p:nvSpPr>
          <p:cNvPr id="1461090505" name=""/>
          <p:cNvSpPr>
            <a:spLocks noGrp="1"/>
          </p:cNvSpPr>
          <p:nvPr/>
        </p:nvSpPr>
        <p:spPr bwMode="auto">
          <a:xfrm>
            <a:off x="9953625" y="2228850"/>
            <a:ext cx="3810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4</a:t>
            </a:r>
            <a:endParaRPr/>
          </a:p>
        </p:txBody>
      </p:sp>
      <p:sp>
        <p:nvSpPr>
          <p:cNvPr id="1464165369" name=""/>
          <p:cNvSpPr>
            <a:spLocks noGrp="1"/>
          </p:cNvSpPr>
          <p:nvPr/>
        </p:nvSpPr>
        <p:spPr bwMode="auto">
          <a:xfrm>
            <a:off x="6858000" y="1581150"/>
            <a:ext cx="23812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stored direction 3 → 2</a:t>
            </a:r>
            <a:endParaRPr/>
          </a:p>
        </p:txBody>
      </p:sp>
      <p:sp>
        <p:nvSpPr>
          <p:cNvPr id="806448127" name=""/>
          <p:cNvSpPr>
            <a:spLocks noGrp="1"/>
          </p:cNvSpPr>
          <p:nvPr/>
        </p:nvSpPr>
        <p:spPr bwMode="auto">
          <a:xfrm>
            <a:off x="6153149" y="2724150"/>
            <a:ext cx="2476500" cy="3238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200" b="0" i="0">
                <a:solidFill>
                  <a:srgbClr val="7B8794"/>
                </a:solidFill>
              </a:defRPr>
            </a:pPr>
            <a:r>
              <a:rPr sz="1200" b="0" i="0">
                <a:solidFill>
                  <a:srgbClr val="7B8794"/>
                </a:solidFill>
              </a:rPr>
              <a:t>geometric axis</a:t>
            </a:r>
            <a:endParaRPr/>
          </a:p>
        </p:txBody>
      </p:sp>
      <p:sp>
        <p:nvSpPr>
          <p:cNvPr id="1644551798" name=""/>
          <p:cNvSpPr>
            <a:spLocks noGrp="1"/>
          </p:cNvSpPr>
          <p:nvPr/>
        </p:nvSpPr>
        <p:spPr bwMode="auto">
          <a:xfrm>
            <a:off x="3943350" y="3409950"/>
            <a:ext cx="3143250" cy="1466849"/>
          </a:xfrm>
          <a:prstGeom prst="roundRect">
            <a:avLst>
              <a:gd name="adj" fmla="val 5195"/>
            </a:avLst>
          </a:prstGeom>
          <a:solidFill>
            <a:srgbClr val="FCEEEA"/>
          </a:solidFill>
          <a:ln w="19050">
            <a:solidFill>
              <a:srgbClr val="E76F51"/>
            </a:solidFill>
            <a:prstDash val="solid"/>
          </a:ln>
        </p:spPr>
      </p:sp>
      <p:sp>
        <p:nvSpPr>
          <p:cNvPr id="1619293823" name=""/>
          <p:cNvSpPr>
            <a:spLocks noGrp="1"/>
          </p:cNvSpPr>
          <p:nvPr/>
        </p:nvSpPr>
        <p:spPr bwMode="auto">
          <a:xfrm>
            <a:off x="4152900" y="3562350"/>
            <a:ext cx="2724150" cy="3238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1" i="0">
                <a:solidFill>
                  <a:srgbClr val="E76F51"/>
                </a:solidFill>
              </a:defRPr>
            </a:pPr>
            <a:r>
              <a:rPr sz="1750" b="1" i="0">
                <a:solidFill>
                  <a:srgbClr val="E76F51"/>
                </a:solidFill>
              </a:rPr>
              <a:t>Curve-order endpoint</a:t>
            </a:r>
            <a:endParaRPr/>
          </a:p>
        </p:txBody>
      </p:sp>
      <p:sp>
        <p:nvSpPr>
          <p:cNvPr id="1358154506" name=""/>
          <p:cNvSpPr>
            <a:spLocks noGrp="1"/>
          </p:cNvSpPr>
          <p:nvPr/>
        </p:nvSpPr>
        <p:spPr bwMode="auto">
          <a:xfrm>
            <a:off x="4171950" y="3981450"/>
            <a:ext cx="2686050" cy="6667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anchor = 2</a:t>
            </a:r>
            <a:endParaRPr/>
          </a:p>
          <a:p>
            <a:pPr algn="ctr">
              <a:lnSpc>
                <a:spcPct val="105000"/>
              </a:lnSpc>
              <a:buNone/>
              <a:defRPr sz="1500" b="0" i="0">
                <a:solidFill>
                  <a:srgbClr val="243B53"/>
                </a:solidFill>
              </a:defRPr>
            </a:pPr>
            <a:r>
              <a:rPr sz="1500" b="0" i="0">
                <a:solidFill>
                  <a:srgbClr val="243B53"/>
                </a:solidFill>
              </a:rPr>
              <a:t>result: [1, 2, 4, 3]</a:t>
            </a:r>
            <a:endParaRPr/>
          </a:p>
        </p:txBody>
      </p:sp>
      <p:sp>
        <p:nvSpPr>
          <p:cNvPr id="1690727297" name=""/>
          <p:cNvSpPr>
            <a:spLocks noGrp="1"/>
          </p:cNvSpPr>
          <p:nvPr/>
        </p:nvSpPr>
        <p:spPr bwMode="auto">
          <a:xfrm>
            <a:off x="7524750" y="3409950"/>
            <a:ext cx="3143250" cy="1466849"/>
          </a:xfrm>
          <a:prstGeom prst="roundRect">
            <a:avLst>
              <a:gd name="adj" fmla="val 5195"/>
            </a:avLst>
          </a:prstGeom>
          <a:solidFill>
            <a:srgbClr val="E8F5F3"/>
          </a:solidFill>
          <a:ln w="19050">
            <a:solidFill>
              <a:srgbClr val="2A9D8F"/>
            </a:solidFill>
            <a:prstDash val="solid"/>
          </a:ln>
        </p:spPr>
      </p:sp>
      <p:sp>
        <p:nvSpPr>
          <p:cNvPr id="983307575" name=""/>
          <p:cNvSpPr>
            <a:spLocks noGrp="1"/>
          </p:cNvSpPr>
          <p:nvPr/>
        </p:nvSpPr>
        <p:spPr bwMode="auto">
          <a:xfrm>
            <a:off x="7734300" y="3562350"/>
            <a:ext cx="2724150" cy="3238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1" i="0">
                <a:solidFill>
                  <a:srgbClr val="2A9D8F"/>
                </a:solidFill>
              </a:defRPr>
            </a:pPr>
            <a:r>
              <a:rPr sz="1750" b="1" i="0">
                <a:solidFill>
                  <a:srgbClr val="2A9D8F"/>
                </a:solidFill>
              </a:rPr>
              <a:t>Geometric endpoint</a:t>
            </a:r>
            <a:endParaRPr/>
          </a:p>
        </p:txBody>
      </p:sp>
      <p:sp>
        <p:nvSpPr>
          <p:cNvPr id="536563339" name=""/>
          <p:cNvSpPr>
            <a:spLocks noGrp="1"/>
          </p:cNvSpPr>
          <p:nvPr/>
        </p:nvSpPr>
        <p:spPr bwMode="auto">
          <a:xfrm>
            <a:off x="7753350" y="3981450"/>
            <a:ext cx="2686050" cy="6667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anchor = 3</a:t>
            </a:r>
            <a:endParaRPr/>
          </a:p>
          <a:p>
            <a:pPr algn="ctr">
              <a:lnSpc>
                <a:spcPct val="105000"/>
              </a:lnSpc>
              <a:buNone/>
              <a:defRPr sz="1500" b="0" i="0">
                <a:solidFill>
                  <a:srgbClr val="243B53"/>
                </a:solidFill>
              </a:defRPr>
            </a:pPr>
            <a:r>
              <a:rPr sz="1500" b="0" i="0">
                <a:solidFill>
                  <a:srgbClr val="243B53"/>
                </a:solidFill>
              </a:rPr>
              <a:t>result: [1, 2, 3, 4]</a:t>
            </a:r>
            <a:endParaRPr/>
          </a:p>
        </p:txBody>
      </p:sp>
      <p:sp>
        <p:nvSpPr>
          <p:cNvPr id="153345821" name=""/>
          <p:cNvSpPr>
            <a:spLocks noGrp="1"/>
          </p:cNvSpPr>
          <p:nvPr/>
        </p:nvSpPr>
        <p:spPr bwMode="auto">
          <a:xfrm>
            <a:off x="3714750" y="5314950"/>
            <a:ext cx="72390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Executable rule: choose the geometric extreme.</a:t>
            </a:r>
            <a:endParaRPr/>
          </a:p>
        </p:txBody>
      </p:sp>
      <p:sp>
        <p:nvSpPr>
          <p:cNvPr id="1010141313" name=""/>
          <p:cNvSpPr>
            <a:spLocks noGrp="1"/>
          </p:cNvSpPr>
          <p:nvPr/>
        </p:nvSpPr>
        <p:spPr bwMode="auto">
          <a:xfrm>
            <a:off x="3714750" y="5810250"/>
            <a:ext cx="723900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Recorded as a reconstruction clarification, not as a verbatim 1990-paper rule.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19B4A15-95FF-425F-A7DA-ACA318A83895}"/>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RECONSTRUCTION ISSUE II</a:t>
            </a:r>
          </a:p>
        </p:txBody>
      </p:sp>
      <p:sp>
        <p:nvSpPr>
          <p:cNvPr id="2" name="">
            <a:extLst xmlns:a="http://schemas.openxmlformats.org/drawingml/2006/main">
              <a:ext uri="{FF2B5EF4-FFF2-40B4-BE49-F238E27FC236}">
                <a16:creationId xmlns:a16="http://schemas.microsoft.com/office/drawing/2014/main" id="{5E4CC5F8-68E2-41E6-BECC-FD0C9F7A02F8}"/>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Why z₁ needs a separate output-anchor check</a:t>
            </a:r>
          </a:p>
        </p:txBody>
      </p:sp>
      <p:sp>
        <p:nvSpPr>
          <p:cNvPr id="3" name="">
            <a:extLst xmlns:a="http://schemas.openxmlformats.org/drawingml/2006/main">
              <a:ext uri="{FF2B5EF4-FFF2-40B4-BE49-F238E27FC236}">
                <a16:creationId xmlns:a16="http://schemas.microsoft.com/office/drawing/2014/main" id="{66A036BE-4C7E-4DB4-BF44-0992A291A895}"/>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C98663A8-A048-458D-B81A-7F8FCE566101}"/>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CD750E2-3558-47CE-A244-AF01C03EAA2B}"/>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B2E1D346-6364-41B4-9F8F-8CB8516A54A7}"/>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9 / 16</a:t>
            </a:r>
          </a:p>
        </p:txBody>
      </p:sp>
      <p:sp>
        <p:nvSpPr>
          <p:cNvPr id="7" name="">
            <a:extLst xmlns:a="http://schemas.openxmlformats.org/drawingml/2006/main">
              <a:ext uri="{FF2B5EF4-FFF2-40B4-BE49-F238E27FC236}">
                <a16:creationId xmlns:a16="http://schemas.microsoft.com/office/drawing/2014/main" id="{50A6D820-EA29-49B3-A2DC-197825EFA484}"/>
              </a:ext>
            </a:extLst>
          </p:cNvPr>
          <p:cNvSpPr>
            <a:spLocks xmlns:a="http://schemas.openxmlformats.org/drawingml/2006/main" noGrp="1"/>
          </p:cNvSpPr>
          <p:nvPr/>
        </p:nvSpPr>
        <p:spPr>
          <a:xfrm xmlns:a="http://schemas.openxmlformats.org/drawingml/2006/main">
            <a:off x="723900" y="1295400"/>
            <a:ext cx="666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Input (z₁, …, z₇) = (1, 2, 3, 4, 6, 7, 0)</a:t>
            </a:r>
          </a:p>
        </p:txBody>
      </p:sp>
      <p:sp>
        <p:nvSpPr>
          <p:cNvPr id="8" name="">
            <a:extLst xmlns:a="http://schemas.openxmlformats.org/drawingml/2006/main">
              <a:ext uri="{FF2B5EF4-FFF2-40B4-BE49-F238E27FC236}">
                <a16:creationId xmlns:a16="http://schemas.microsoft.com/office/drawing/2014/main" id="{33D8C5CB-9D84-499F-8B81-3258E1B2D296}"/>
              </a:ext>
            </a:extLst>
          </p:cNvPr>
          <p:cNvSpPr>
            <a:spLocks xmlns:a="http://schemas.openxmlformats.org/drawingml/2006/main" noGrp="1"/>
          </p:cNvSpPr>
          <p:nvPr/>
        </p:nvSpPr>
        <p:spPr>
          <a:xfrm xmlns:a="http://schemas.openxmlformats.org/drawingml/2006/main">
            <a:off x="7639050" y="1314450"/>
            <a:ext cx="3829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0" i="0">
                <a:solidFill>
                  <a:srgbClr val="52606D"/>
                </a:solidFill>
              </a:defRPr>
            </a:pPr>
            <a:r>
              <a:rPr sz="1575" b="0" i="0">
                <a:solidFill>
                  <a:srgbClr val="52606D"/>
                </a:solidFill>
              </a:rPr>
              <a:t>S₆ = [1, 2, 3, 4, 6, 7]</a:t>
            </a:r>
          </a:p>
        </p:txBody>
      </p:sp>
      <p:sp>
        <p:nvSpPr>
          <p:cNvPr id="9" name="">
            <a:extLst xmlns:a="http://schemas.openxmlformats.org/drawingml/2006/main">
              <a:ext uri="{FF2B5EF4-FFF2-40B4-BE49-F238E27FC236}">
                <a16:creationId xmlns:a16="http://schemas.microsoft.com/office/drawing/2014/main" id="{9C219E07-1CA0-458F-AD31-66A16C0415D1}"/>
              </a:ext>
            </a:extLst>
          </p:cNvPr>
          <p:cNvSpPr>
            <a:spLocks xmlns:a="http://schemas.openxmlformats.org/drawingml/2006/main" noGrp="1"/>
          </p:cNvSpPr>
          <p:nvPr/>
        </p:nvSpPr>
        <p:spPr>
          <a:xfrm xmlns:a="http://schemas.openxmlformats.org/drawingml/2006/main">
            <a:off x="723900" y="1733550"/>
            <a:ext cx="5048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i = 7 (odd) → lower family</a:t>
            </a:r>
          </a:p>
        </p:txBody>
      </p:sp>
      <p:sp>
        <p:nvSpPr>
          <p:cNvPr id="10" name="">
            <a:extLst xmlns:a="http://schemas.openxmlformats.org/drawingml/2006/main">
              <a:ext uri="{FF2B5EF4-FFF2-40B4-BE49-F238E27FC236}">
                <a16:creationId xmlns:a16="http://schemas.microsoft.com/office/drawing/2014/main" id="{A455A5FA-C123-4C7C-B7D4-2E4FB1E4F32D}"/>
              </a:ext>
            </a:extLst>
          </p:cNvPr>
          <p:cNvSpPr>
            <a:spLocks xmlns:a="http://schemas.openxmlformats.org/drawingml/2006/main" noGrp="1"/>
          </p:cNvSpPr>
          <p:nvPr/>
        </p:nvSpPr>
        <p:spPr>
          <a:xfrm xmlns:a="http://schemas.openxmlformats.org/drawingml/2006/main">
            <a:off x="6362700" y="1733550"/>
            <a:ext cx="5105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3795"/>
          </a:bodyPr>
          <a:lstStyle xmlns:a="http://schemas.openxmlformats.org/drawingml/2006/main"/>
          <a:p xmlns:a="http://schemas.openxmlformats.org/drawingml/2006/main">
            <a:pPr algn="l">
              <a:lnSpc>
                <a:spcPct val="105000"/>
              </a:lnSpc>
              <a:buNone/>
              <a:defRPr sz="1650" b="1" i="0">
                <a:solidFill>
                  <a:srgbClr val="2A9D8F"/>
                </a:solidFill>
              </a:defRPr>
            </a:pPr>
            <a:r>
              <a:rPr sz="1650" b="1" i="0">
                <a:solidFill>
                  <a:srgbClr val="2A9D8F"/>
                </a:solidFill>
              </a:rPr>
              <a:t>z₇ = 0 &lt; z₆ = 7 → decreasing</a:t>
            </a:r>
          </a:p>
        </p:txBody>
      </p:sp>
      <p:sp>
        <p:nvSpPr>
          <p:cNvPr id="11" name="">
            <a:extLst xmlns:a="http://schemas.openxmlformats.org/drawingml/2006/main">
              <a:ext uri="{FF2B5EF4-FFF2-40B4-BE49-F238E27FC236}">
                <a16:creationId xmlns:a16="http://schemas.microsoft.com/office/drawing/2014/main" id="{BBE00AB5-0588-409C-AEA7-4670B9297354}"/>
              </a:ext>
            </a:extLst>
          </p:cNvPr>
          <p:cNvSpPr>
            <a:spLocks xmlns:a="http://schemas.openxmlformats.org/drawingml/2006/main" noGrp="1"/>
          </p:cNvSpPr>
          <p:nvPr/>
        </p:nvSpPr>
        <p:spPr>
          <a:xfrm xmlns:a="http://schemas.openxmlformats.org/drawingml/2006/main">
            <a:off x="723900" y="222885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Decreasing: leftmost child → left endpoint</a:t>
            </a:r>
          </a:p>
        </p:txBody>
      </p:sp>
      <p:sp>
        <p:nvSpPr>
          <p:cNvPr id="12" name="">
            <a:extLst xmlns:a="http://schemas.openxmlformats.org/drawingml/2006/main">
              <a:ext uri="{FF2B5EF4-FFF2-40B4-BE49-F238E27FC236}">
                <a16:creationId xmlns:a16="http://schemas.microsoft.com/office/drawing/2014/main" id="{861E651F-51F5-49F9-89B5-8263DB269863}"/>
              </a:ext>
            </a:extLst>
          </p:cNvPr>
          <p:cNvSpPr>
            <a:spLocks xmlns:a="http://schemas.openxmlformats.org/drawingml/2006/main" noGrp="1"/>
          </p:cNvSpPr>
          <p:nvPr/>
        </p:nvSpPr>
        <p:spPr>
          <a:xfrm xmlns:a="http://schemas.openxmlformats.org/drawingml/2006/main">
            <a:off x="2190750" y="2933700"/>
            <a:ext cx="2286000" cy="457200"/>
          </a:xfrm>
          <a:prstGeom xmlns:a="http://schemas.openxmlformats.org/drawingml/2006/main" prst="roundRect">
            <a:avLst>
              <a:gd name="adj" fmla="val 12500"/>
            </a:avLst>
          </a:prstGeom>
          <a:solidFill xmlns:a="http://schemas.openxmlformats.org/drawingml/2006/main">
            <a:srgbClr val="EAF1F8"/>
          </a:solidFill>
          <a:ln xmlns:a="http://schemas.openxmlformats.org/drawingml/2006/main" w="11430">
            <a:solidFill>
              <a:srgbClr val="102A43"/>
            </a:solidFill>
            <a:prstDash val="solid"/>
          </a:ln>
        </p:spPr>
      </p:sp>
      <p:sp>
        <p:nvSpPr>
          <p:cNvPr id="13" name="">
            <a:extLst xmlns:a="http://schemas.openxmlformats.org/drawingml/2006/main">
              <a:ext uri="{FF2B5EF4-FFF2-40B4-BE49-F238E27FC236}">
                <a16:creationId xmlns:a16="http://schemas.microsoft.com/office/drawing/2014/main" id="{C9303BBD-8299-4084-921B-07525060EBDE}"/>
              </a:ext>
            </a:extLst>
          </p:cNvPr>
          <p:cNvSpPr>
            <a:spLocks xmlns:a="http://schemas.openxmlformats.org/drawingml/2006/main" noGrp="1"/>
          </p:cNvSpPr>
          <p:nvPr/>
        </p:nvSpPr>
        <p:spPr>
          <a:xfrm xmlns:a="http://schemas.openxmlformats.org/drawingml/2006/main">
            <a:off x="2266950" y="2990850"/>
            <a:ext cx="21336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75" b="1" i="0">
                <a:solidFill>
                  <a:srgbClr val="102A43"/>
                </a:solidFill>
              </a:defRPr>
            </a:pPr>
            <a:r>
              <a:rPr sz="1875" b="1" i="0">
                <a:solidFill>
                  <a:srgbClr val="102A43"/>
                </a:solidFill>
              </a:rPr>
              <a:t>P₇ = (7, 0)</a:t>
            </a:r>
          </a:p>
        </p:txBody>
      </p:sp>
      <p:sp>
        <p:nvSpPr>
          <p:cNvPr id="14" name="">
            <a:extLst xmlns:a="http://schemas.openxmlformats.org/drawingml/2006/main">
              <a:ext uri="{FF2B5EF4-FFF2-40B4-BE49-F238E27FC236}">
                <a16:creationId xmlns:a16="http://schemas.microsoft.com/office/drawing/2014/main" id="{7ADC8924-E3D9-4B99-837C-92A91332F276}"/>
              </a:ext>
            </a:extLst>
          </p:cNvPr>
          <p:cNvSpPr>
            <a:spLocks xmlns:a="http://schemas.openxmlformats.org/drawingml/2006/main" noGrp="1"/>
          </p:cNvSpPr>
          <p:nvPr/>
        </p:nvSpPr>
        <p:spPr>
          <a:xfrm xmlns:a="http://schemas.openxmlformats.org/drawingml/2006/main">
            <a:off x="1200150" y="2609850"/>
            <a:ext cx="432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350" b="0" i="0">
                <a:solidFill>
                  <a:srgbClr val="52606D"/>
                </a:solidFill>
              </a:defRPr>
            </a:pPr>
            <a:r>
              <a:rPr sz="1350" b="0" i="0">
                <a:solidFill>
                  <a:srgbClr val="52606D"/>
                </a:solidFill>
              </a:rPr>
              <a:t>curve order (7, 0); interval [0, 7]</a:t>
            </a:r>
          </a:p>
        </p:txBody>
      </p:sp>
      <p:sp>
        <p:nvSpPr>
          <p:cNvPr id="15" name="">
            <a:extLst xmlns:a="http://schemas.openxmlformats.org/drawingml/2006/main">
              <a:ext uri="{FF2B5EF4-FFF2-40B4-BE49-F238E27FC236}">
                <a16:creationId xmlns:a16="http://schemas.microsoft.com/office/drawing/2014/main" id="{FED47D39-14C1-4BEE-9E8C-5025B22FFA52}"/>
              </a:ext>
            </a:extLst>
          </p:cNvPr>
          <p:cNvSpPr>
            <a:spLocks xmlns:a="http://schemas.openxmlformats.org/drawingml/2006/main" noGrp="1"/>
          </p:cNvSpPr>
          <p:nvPr/>
        </p:nvSpPr>
        <p:spPr>
          <a:xfrm xmlns:a="http://schemas.openxmlformats.org/drawingml/2006/main">
            <a:off x="895350" y="3657600"/>
            <a:ext cx="2095500" cy="457200"/>
          </a:xfrm>
          <a:prstGeom xmlns:a="http://schemas.openxmlformats.org/drawingml/2006/main" prst="roundRect">
            <a:avLst>
              <a:gd name="adj" fmla="val 12500"/>
            </a:avLst>
          </a:prstGeom>
          <a:solidFill xmlns:a="http://schemas.openxmlformats.org/drawingml/2006/main">
            <a:srgbClr val="E8F5F3"/>
          </a:solidFill>
          <a:ln xmlns:a="http://schemas.openxmlformats.org/drawingml/2006/main" w="19050">
            <a:solidFill>
              <a:srgbClr val="2A9D8F"/>
            </a:solidFill>
            <a:prstDash val="solid"/>
          </a:ln>
        </p:spPr>
      </p:sp>
      <p:sp>
        <p:nvSpPr>
          <p:cNvPr id="16" name="">
            <a:extLst xmlns:a="http://schemas.openxmlformats.org/drawingml/2006/main">
              <a:ext uri="{FF2B5EF4-FFF2-40B4-BE49-F238E27FC236}">
                <a16:creationId xmlns:a16="http://schemas.microsoft.com/office/drawing/2014/main" id="{98A1E733-8F74-4544-A19E-4CF2B3785EA8}"/>
              </a:ext>
            </a:extLst>
          </p:cNvPr>
          <p:cNvSpPr>
            <a:spLocks xmlns:a="http://schemas.openxmlformats.org/drawingml/2006/main" noGrp="1"/>
          </p:cNvSpPr>
          <p:nvPr/>
        </p:nvSpPr>
        <p:spPr>
          <a:xfrm xmlns:a="http://schemas.openxmlformats.org/drawingml/2006/main">
            <a:off x="3562350" y="3657600"/>
            <a:ext cx="2095500" cy="457200"/>
          </a:xfrm>
          <a:prstGeom xmlns:a="http://schemas.openxmlformats.org/drawingml/2006/main" prst="roundRect">
            <a:avLst>
              <a:gd name="adj" fmla="val 12500"/>
            </a:avLst>
          </a:prstGeom>
          <a:solidFill xmlns:a="http://schemas.openxmlformats.org/drawingml/2006/main">
            <a:srgbClr val="FFFFFF"/>
          </a:solidFill>
          <a:ln xmlns:a="http://schemas.openxmlformats.org/drawingml/2006/main" w="11430">
            <a:solidFill>
              <a:srgbClr val="52606D"/>
            </a:solidFill>
            <a:prstDash val="solid"/>
          </a:ln>
        </p:spPr>
      </p:sp>
      <p:cxnSp>
        <p:nvCxnSpPr>
          <p:cNvPr id="52" name=""/>
          <p:cNvCxnSpPr>
            <a:stCxn xmlns:a="http://schemas.openxmlformats.org/drawingml/2006/main" id="12" idx="1"/>
            <a:endCxn xmlns:a="http://schemas.openxmlformats.org/drawingml/2006/main" id="15" idx="0"/>
          </p:cNvCxnSpPr>
          <p:nvPr/>
        </p:nvCxnSpPr>
        <p:spPr>
          <a:xfrm xmlns:a="http://schemas.openxmlformats.org/drawingml/2006/main" flipH="1">
            <a:off x="1943100" y="3162300"/>
            <a:ext cx="247650" cy="495300"/>
          </a:xfrm>
          <a:prstGeom xmlns:a="http://schemas.openxmlformats.org/drawingml/2006/main" prst="bentConnector2">
            <a:avLst/>
          </a:prstGeom>
          <a:ln xmlns:a="http://schemas.openxmlformats.org/drawingml/2006/main" w="19050">
            <a:solidFill>
              <a:srgbClr val="2A9D8F"/>
            </a:solidFill>
            <a:prstDash val="solid"/>
            <a:tailEnd type="arrow" w="sm" len="sm"/>
          </a:ln>
        </p:spPr>
      </p:cxnSp>
      <p:cxnSp>
        <p:nvCxnSpPr>
          <p:cNvPr id="53" name=""/>
          <p:cNvCxnSpPr>
            <a:stCxn xmlns:a="http://schemas.openxmlformats.org/drawingml/2006/main" id="12" idx="3"/>
            <a:endCxn xmlns:a="http://schemas.openxmlformats.org/drawingml/2006/main" id="16" idx="0"/>
          </p:cNvCxnSpPr>
          <p:nvPr/>
        </p:nvCxnSpPr>
        <p:spPr>
          <a:xfrm xmlns:a="http://schemas.openxmlformats.org/drawingml/2006/main">
            <a:off x="4476750" y="3162300"/>
            <a:ext cx="228600" cy="495300"/>
          </a:xfrm>
          <a:prstGeom xmlns:a="http://schemas.openxmlformats.org/drawingml/2006/main" prst="bentConnector4">
            <a:avLst/>
          </a:prstGeom>
          <a:ln xmlns:a="http://schemas.openxmlformats.org/drawingml/2006/main" w="19050">
            <a:solidFill>
              <a:srgbClr val="52606D"/>
            </a:solidFill>
            <a:prstDash val="solid"/>
            <a:tailEnd type="arrow" w="sm" len="sm"/>
          </a:ln>
        </p:spPr>
      </p:cxnSp>
      <p:sp>
        <p:nvSpPr>
          <p:cNvPr id="19" name="">
            <a:extLst xmlns:a="http://schemas.openxmlformats.org/drawingml/2006/main">
              <a:ext uri="{FF2B5EF4-FFF2-40B4-BE49-F238E27FC236}">
                <a16:creationId xmlns:a16="http://schemas.microsoft.com/office/drawing/2014/main" id="{792CEA95-092A-43B2-B7D0-3513E6EAB51C}"/>
              </a:ext>
            </a:extLst>
          </p:cNvPr>
          <p:cNvSpPr>
            <a:spLocks xmlns:a="http://schemas.openxmlformats.org/drawingml/2006/main" noGrp="1"/>
          </p:cNvSpPr>
          <p:nvPr/>
        </p:nvSpPr>
        <p:spPr>
          <a:xfrm xmlns:a="http://schemas.openxmlformats.org/drawingml/2006/main">
            <a:off x="971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2A9D8F"/>
                </a:solidFill>
              </a:defRPr>
            </a:pPr>
            <a:r>
              <a:rPr sz="1800" b="1" i="0">
                <a:solidFill>
                  <a:srgbClr val="2A9D8F"/>
                </a:solidFill>
              </a:rPr>
              <a:t>P₃ = (2, 3)</a:t>
            </a:r>
          </a:p>
        </p:txBody>
      </p:sp>
      <p:sp>
        <p:nvSpPr>
          <p:cNvPr id="20" name="">
            <a:extLst xmlns:a="http://schemas.openxmlformats.org/drawingml/2006/main">
              <a:ext uri="{FF2B5EF4-FFF2-40B4-BE49-F238E27FC236}">
                <a16:creationId xmlns:a16="http://schemas.microsoft.com/office/drawing/2014/main" id="{E2EC80C7-9F40-4DB2-85BE-EA0FEFCC4AB8}"/>
              </a:ext>
            </a:extLst>
          </p:cNvPr>
          <p:cNvSpPr>
            <a:spLocks xmlns:a="http://schemas.openxmlformats.org/drawingml/2006/main" noGrp="1"/>
          </p:cNvSpPr>
          <p:nvPr/>
        </p:nvSpPr>
        <p:spPr>
          <a:xfrm xmlns:a="http://schemas.openxmlformats.org/drawingml/2006/main">
            <a:off x="3638550" y="3705225"/>
            <a:ext cx="1943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800" b="1" i="0">
                <a:solidFill>
                  <a:srgbClr val="102A43"/>
                </a:solidFill>
              </a:defRPr>
            </a:pPr>
            <a:r>
              <a:rPr sz="1800" b="1" i="0">
                <a:solidFill>
                  <a:srgbClr val="102A43"/>
                </a:solidFill>
              </a:rPr>
              <a:t>P₅ = (4, 6)</a:t>
            </a:r>
          </a:p>
        </p:txBody>
      </p:sp>
      <p:sp>
        <p:nvSpPr>
          <p:cNvPr id="21" name="">
            <a:extLst xmlns:a="http://schemas.openxmlformats.org/drawingml/2006/main">
              <a:ext uri="{FF2B5EF4-FFF2-40B4-BE49-F238E27FC236}">
                <a16:creationId xmlns:a16="http://schemas.microsoft.com/office/drawing/2014/main" id="{593F72A5-765D-4144-A5E7-0ED2DC094FA9}"/>
              </a:ext>
            </a:extLst>
          </p:cNvPr>
          <p:cNvSpPr>
            <a:spLocks xmlns:a="http://schemas.openxmlformats.org/drawingml/2006/main" noGrp="1"/>
          </p:cNvSpPr>
          <p:nvPr/>
        </p:nvSpPr>
        <p:spPr>
          <a:xfrm xmlns:a="http://schemas.openxmlformats.org/drawingml/2006/main">
            <a:off x="933450" y="41338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7002"/>
          </a:bodyPr>
          <a:lstStyle xmlns:a="http://schemas.openxmlformats.org/drawingml/2006/main"/>
          <a:p xmlns:a="http://schemas.openxmlformats.org/drawingml/2006/main">
            <a:pPr algn="ctr">
              <a:lnSpc>
                <a:spcPct val="105000"/>
              </a:lnSpc>
              <a:buNone/>
              <a:defRPr sz="1350" b="1" i="0">
                <a:solidFill>
                  <a:srgbClr val="2A9D8F"/>
                </a:solidFill>
              </a:defRPr>
            </a:pPr>
            <a:r>
              <a:rPr sz="1350" b="1" i="0">
                <a:solidFill>
                  <a:srgbClr val="2A9D8F"/>
                </a:solidFill>
              </a:rPr>
              <a:t>leftmost child</a:t>
            </a:r>
          </a:p>
        </p:txBody>
      </p:sp>
      <p:sp>
        <p:nvSpPr>
          <p:cNvPr id="22" name="">
            <a:extLst xmlns:a="http://schemas.openxmlformats.org/drawingml/2006/main">
              <a:ext uri="{FF2B5EF4-FFF2-40B4-BE49-F238E27FC236}">
                <a16:creationId xmlns:a16="http://schemas.microsoft.com/office/drawing/2014/main" id="{D96D8AD9-409C-4F45-9737-4CBA695CEE62}"/>
              </a:ext>
            </a:extLst>
          </p:cNvPr>
          <p:cNvSpPr>
            <a:spLocks xmlns:a="http://schemas.openxmlformats.org/drawingml/2006/main" noGrp="1"/>
          </p:cNvSpPr>
          <p:nvPr/>
        </p:nvSpPr>
        <p:spPr>
          <a:xfrm xmlns:a="http://schemas.openxmlformats.org/drawingml/2006/main">
            <a:off x="723900" y="4457700"/>
            <a:ext cx="5257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5000"/>
              </a:lnSpc>
              <a:buNone/>
              <a:defRPr sz="1575" b="1" i="0">
                <a:solidFill>
                  <a:srgbClr val="2A9D8F"/>
                </a:solidFill>
              </a:defRPr>
            </a:pPr>
            <a:r>
              <a:rPr sz="1575" b="1" i="0">
                <a:solidFill>
                  <a:srgbClr val="2A9D8F"/>
                </a:solidFill>
              </a:rPr>
              <a:t>P₃ → left endpoint 2 → base anchor z₂</a:t>
            </a:r>
          </a:p>
        </p:txBody>
      </p:sp>
      <p:sp>
        <p:nvSpPr>
          <p:cNvPr id="23" name="">
            <a:extLst xmlns:a="http://schemas.openxmlformats.org/drawingml/2006/main">
              <a:ext uri="{FF2B5EF4-FFF2-40B4-BE49-F238E27FC236}">
                <a16:creationId xmlns:a16="http://schemas.microsoft.com/office/drawing/2014/main" id="{95AE6482-22B8-4887-90AC-ABF3D401D154}"/>
              </a:ext>
            </a:extLst>
          </p:cNvPr>
          <p:cNvSpPr>
            <a:spLocks xmlns:a="http://schemas.openxmlformats.org/drawingml/2006/main" noGrp="1"/>
          </p:cNvSpPr>
          <p:nvPr/>
        </p:nvSpPr>
        <p:spPr>
          <a:xfrm xmlns:a="http://schemas.openxmlformats.org/drawingml/2006/main">
            <a:off x="6362700" y="2228850"/>
            <a:ext cx="51054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2593"/>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Why check z₁?</a:t>
            </a:r>
          </a:p>
        </p:txBody>
      </p:sp>
      <p:sp>
        <p:nvSpPr>
          <p:cNvPr id="24" name="">
            <a:extLst xmlns:a="http://schemas.openxmlformats.org/drawingml/2006/main">
              <a:ext uri="{FF2B5EF4-FFF2-40B4-BE49-F238E27FC236}">
                <a16:creationId xmlns:a16="http://schemas.microsoft.com/office/drawing/2014/main" id="{1D9C2575-E7FD-4BFA-A362-7C91A066B711}"/>
              </a:ext>
            </a:extLst>
          </p:cNvPr>
          <p:cNvSpPr>
            <a:spLocks xmlns:a="http://schemas.openxmlformats.org/drawingml/2006/main" noGrp="1"/>
          </p:cNvSpPr>
          <p:nvPr/>
        </p:nvSpPr>
        <p:spPr>
          <a:xfrm xmlns:a="http://schemas.openxmlformats.org/drawingml/2006/main">
            <a:off x="6362700" y="2686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z₁ = 1 belongs to upper pair P₂ = (1, 2).</a:t>
            </a:r>
          </a:p>
        </p:txBody>
      </p:sp>
      <p:sp>
        <p:nvSpPr>
          <p:cNvPr id="25" name="">
            <a:extLst xmlns:a="http://schemas.openxmlformats.org/drawingml/2006/main">
              <a:ext uri="{FF2B5EF4-FFF2-40B4-BE49-F238E27FC236}">
                <a16:creationId xmlns:a16="http://schemas.microsoft.com/office/drawing/2014/main" id="{869422F3-3CA2-41ED-9BA6-62178D9FD750}"/>
              </a:ext>
            </a:extLst>
          </p:cNvPr>
          <p:cNvSpPr>
            <a:spLocks xmlns:a="http://schemas.openxmlformats.org/drawingml/2006/main" noGrp="1"/>
          </p:cNvSpPr>
          <p:nvPr/>
        </p:nvSpPr>
        <p:spPr>
          <a:xfrm xmlns:a="http://schemas.openxmlformats.org/drawingml/2006/main">
            <a:off x="6362700" y="3067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1" i="0">
                <a:solidFill>
                  <a:srgbClr val="102A43"/>
                </a:solidFill>
              </a:defRPr>
            </a:pPr>
            <a:r>
              <a:rPr sz="1650" b="1" i="0">
                <a:solidFill>
                  <a:srgbClr val="102A43"/>
                </a:solidFill>
              </a:rPr>
              <a:t>It is not an endpoint of any lower pair.</a:t>
            </a:r>
          </a:p>
        </p:txBody>
      </p:sp>
      <p:sp>
        <p:nvSpPr>
          <p:cNvPr id="26" name="">
            <a:extLst xmlns:a="http://schemas.openxmlformats.org/drawingml/2006/main">
              <a:ext uri="{FF2B5EF4-FFF2-40B4-BE49-F238E27FC236}">
                <a16:creationId xmlns:a16="http://schemas.microsoft.com/office/drawing/2014/main" id="{2EBB2E94-2C29-45A9-9873-A5E0363EBEE8}"/>
              </a:ext>
            </a:extLst>
          </p:cNvPr>
          <p:cNvSpPr>
            <a:spLocks xmlns:a="http://schemas.openxmlformats.org/drawingml/2006/main" noGrp="1"/>
          </p:cNvSpPr>
          <p:nvPr/>
        </p:nvSpPr>
        <p:spPr>
          <a:xfrm xmlns:a="http://schemas.openxmlformats.org/drawingml/2006/main">
            <a:off x="6362700" y="3448050"/>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It is still in the sorted list S₆.</a:t>
            </a:r>
          </a:p>
        </p:txBody>
      </p:sp>
      <p:sp>
        <p:nvSpPr>
          <p:cNvPr id="27" name="">
            <a:extLst xmlns:a="http://schemas.openxmlformats.org/drawingml/2006/main">
              <a:ext uri="{FF2B5EF4-FFF2-40B4-BE49-F238E27FC236}">
                <a16:creationId xmlns:a16="http://schemas.microsoft.com/office/drawing/2014/main" id="{E5F61C58-0B27-4305-A623-1F35AAC14C1F}"/>
              </a:ext>
            </a:extLst>
          </p:cNvPr>
          <p:cNvSpPr>
            <a:spLocks xmlns:a="http://schemas.openxmlformats.org/drawingml/2006/main" noGrp="1"/>
          </p:cNvSpPr>
          <p:nvPr/>
        </p:nvSpPr>
        <p:spPr>
          <a:xfrm xmlns:a="http://schemas.openxmlformats.org/drawingml/2006/main">
            <a:off x="6362700" y="3962400"/>
            <a:ext cx="5105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E76F51"/>
                </a:solidFill>
              </a:defRPr>
            </a:pPr>
            <a:r>
              <a:rPr sz="1800" b="1" i="0">
                <a:solidFill>
                  <a:srgbClr val="E76F51"/>
                </a:solidFill>
              </a:rPr>
              <a:t>Odd i and 0 &lt; z₁ = 1 &lt; base anchor = 2</a:t>
            </a:r>
          </a:p>
        </p:txBody>
      </p:sp>
      <p:sp>
        <p:nvSpPr>
          <p:cNvPr id="28" name="">
            <a:extLst xmlns:a="http://schemas.openxmlformats.org/drawingml/2006/main">
              <a:ext uri="{FF2B5EF4-FFF2-40B4-BE49-F238E27FC236}">
                <a16:creationId xmlns:a16="http://schemas.microsoft.com/office/drawing/2014/main" id="{5728A1F2-B606-486B-93A9-1C6ED115073C}"/>
              </a:ext>
            </a:extLst>
          </p:cNvPr>
          <p:cNvSpPr>
            <a:spLocks xmlns:a="http://schemas.openxmlformats.org/drawingml/2006/main" noGrp="1"/>
          </p:cNvSpPr>
          <p:nvPr/>
        </p:nvSpPr>
        <p:spPr>
          <a:xfrm xmlns:a="http://schemas.openxmlformats.org/drawingml/2006/main">
            <a:off x="6362700" y="4410075"/>
            <a:ext cx="5105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725" b="1" i="0">
                <a:solidFill>
                  <a:srgbClr val="2A9D8F"/>
                </a:solidFill>
              </a:defRPr>
            </a:pPr>
            <a:r>
              <a:rPr sz="1725" b="1" i="0">
                <a:solidFill>
                  <a:srgbClr val="2A9D8F"/>
                </a:solidFill>
              </a:rPr>
              <a:t>Final output anchor: z₁</a:t>
            </a:r>
          </a:p>
        </p:txBody>
      </p:sp>
      <p:sp>
        <p:nvSpPr>
          <p:cNvPr id="29" name="">
            <a:extLst xmlns:a="http://schemas.openxmlformats.org/drawingml/2006/main">
              <a:ext uri="{FF2B5EF4-FFF2-40B4-BE49-F238E27FC236}">
                <a16:creationId xmlns:a16="http://schemas.microsoft.com/office/drawing/2014/main" id="{0D3BEF8F-1089-4F89-AD47-BB59C746FA68}"/>
              </a:ext>
            </a:extLst>
          </p:cNvPr>
          <p:cNvSpPr>
            <a:spLocks xmlns:a="http://schemas.openxmlformats.org/drawingml/2006/main" noGrp="1"/>
          </p:cNvSpPr>
          <p:nvPr/>
        </p:nvSpPr>
        <p:spPr>
          <a:xfrm xmlns:a="http://schemas.openxmlformats.org/drawingml/2006/main">
            <a:off x="723900" y="4972050"/>
            <a:ext cx="5257800" cy="990600"/>
          </a:xfrm>
          <a:prstGeom xmlns:a="http://schemas.openxmlformats.org/drawingml/2006/main" prst="roundRect">
            <a:avLst>
              <a:gd name="adj" fmla="val 5769"/>
            </a:avLst>
          </a:prstGeom>
          <a:solidFill xmlns:a="http://schemas.openxmlformats.org/drawingml/2006/main">
            <a:srgbClr val="FCEEEA"/>
          </a:solidFill>
          <a:ln xmlns:a="http://schemas.openxmlformats.org/drawingml/2006/main" w="11430">
            <a:solidFill>
              <a:srgbClr val="E76F51"/>
            </a:solidFill>
            <a:prstDash val="solid"/>
          </a:ln>
        </p:spPr>
      </p:sp>
      <p:sp>
        <p:nvSpPr>
          <p:cNvPr id="30" name="">
            <a:extLst xmlns:a="http://schemas.openxmlformats.org/drawingml/2006/main">
              <a:ext uri="{FF2B5EF4-FFF2-40B4-BE49-F238E27FC236}">
                <a16:creationId xmlns:a16="http://schemas.microsoft.com/office/drawing/2014/main" id="{9094EA31-E70E-44CC-9017-420F854429FF}"/>
              </a:ext>
            </a:extLst>
          </p:cNvPr>
          <p:cNvSpPr>
            <a:spLocks xmlns:a="http://schemas.openxmlformats.org/drawingml/2006/main" noGrp="1"/>
          </p:cNvSpPr>
          <p:nvPr/>
        </p:nvSpPr>
        <p:spPr>
          <a:xfrm xmlns:a="http://schemas.openxmlformats.org/drawingml/2006/main">
            <a:off x="8763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E76F51"/>
                </a:solidFill>
              </a:defRPr>
            </a:pPr>
            <a:r>
              <a:rPr sz="1575" b="1" i="0">
                <a:solidFill>
                  <a:srgbClr val="E76F51"/>
                </a:solidFill>
              </a:rPr>
              <a:t>Without correction (illustration)</a:t>
            </a:r>
          </a:p>
        </p:txBody>
      </p:sp>
      <p:sp>
        <p:nvSpPr>
          <p:cNvPr id="31" name="">
            <a:extLst xmlns:a="http://schemas.openxmlformats.org/drawingml/2006/main">
              <a:ext uri="{FF2B5EF4-FFF2-40B4-BE49-F238E27FC236}">
                <a16:creationId xmlns:a16="http://schemas.microsoft.com/office/drawing/2014/main" id="{31E887FF-3E62-4A0B-9232-B278C7424CDD}"/>
              </a:ext>
            </a:extLst>
          </p:cNvPr>
          <p:cNvSpPr>
            <a:spLocks xmlns:a="http://schemas.openxmlformats.org/drawingml/2006/main" noGrp="1"/>
          </p:cNvSpPr>
          <p:nvPr/>
        </p:nvSpPr>
        <p:spPr>
          <a:xfrm xmlns:a="http://schemas.openxmlformats.org/drawingml/2006/main">
            <a:off x="8763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2 → [1, 0, 2, 3, 4, 6, 7]</a:t>
            </a:r>
          </a:p>
        </p:txBody>
      </p:sp>
      <p:sp>
        <p:nvSpPr>
          <p:cNvPr id="32" name="">
            <a:extLst xmlns:a="http://schemas.openxmlformats.org/drawingml/2006/main">
              <a:ext uri="{FF2B5EF4-FFF2-40B4-BE49-F238E27FC236}">
                <a16:creationId xmlns:a16="http://schemas.microsoft.com/office/drawing/2014/main" id="{87EAAD1E-6F26-4ECE-A5F0-26958CDF3665}"/>
              </a:ext>
            </a:extLst>
          </p:cNvPr>
          <p:cNvSpPr>
            <a:spLocks xmlns:a="http://schemas.openxmlformats.org/drawingml/2006/main" noGrp="1"/>
          </p:cNvSpPr>
          <p:nvPr/>
        </p:nvSpPr>
        <p:spPr>
          <a:xfrm xmlns:a="http://schemas.openxmlformats.org/drawingml/2006/main">
            <a:off x="6210300" y="4972050"/>
            <a:ext cx="5257800" cy="990600"/>
          </a:xfrm>
          <a:prstGeom xmlns:a="http://schemas.openxmlformats.org/drawingml/2006/main" prst="roundRect">
            <a:avLst>
              <a:gd name="adj" fmla="val 5769"/>
            </a:avLst>
          </a:prstGeom>
          <a:solidFill xmlns:a="http://schemas.openxmlformats.org/drawingml/2006/main">
            <a:srgbClr val="E8F5F3"/>
          </a:solidFill>
          <a:ln xmlns:a="http://schemas.openxmlformats.org/drawingml/2006/main" w="11430">
            <a:solidFill>
              <a:srgbClr val="2A9D8F"/>
            </a:solidFill>
            <a:prstDash val="solid"/>
          </a:ln>
        </p:spPr>
      </p:sp>
      <p:sp>
        <p:nvSpPr>
          <p:cNvPr id="33" name="">
            <a:extLst xmlns:a="http://schemas.openxmlformats.org/drawingml/2006/main">
              <a:ext uri="{FF2B5EF4-FFF2-40B4-BE49-F238E27FC236}">
                <a16:creationId xmlns:a16="http://schemas.microsoft.com/office/drawing/2014/main" id="{A44F99FB-4256-43F3-94E9-C50594D2D18C}"/>
              </a:ext>
            </a:extLst>
          </p:cNvPr>
          <p:cNvSpPr>
            <a:spLocks xmlns:a="http://schemas.openxmlformats.org/drawingml/2006/main" noGrp="1"/>
          </p:cNvSpPr>
          <p:nvPr/>
        </p:nvSpPr>
        <p:spPr>
          <a:xfrm xmlns:a="http://schemas.openxmlformats.org/drawingml/2006/main">
            <a:off x="6362700" y="50482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l">
              <a:lnSpc>
                <a:spcPct val="105000"/>
              </a:lnSpc>
              <a:buNone/>
              <a:defRPr sz="1575" b="1" i="0">
                <a:solidFill>
                  <a:srgbClr val="2A9D8F"/>
                </a:solidFill>
              </a:defRPr>
            </a:pPr>
            <a:r>
              <a:rPr sz="1575" b="1" i="0">
                <a:solidFill>
                  <a:srgbClr val="2A9D8F"/>
                </a:solidFill>
              </a:rPr>
              <a:t>With correction</a:t>
            </a:r>
          </a:p>
        </p:txBody>
      </p:sp>
      <p:sp>
        <p:nvSpPr>
          <p:cNvPr id="34" name="">
            <a:extLst xmlns:a="http://schemas.openxmlformats.org/drawingml/2006/main">
              <a:ext uri="{FF2B5EF4-FFF2-40B4-BE49-F238E27FC236}">
                <a16:creationId xmlns:a16="http://schemas.microsoft.com/office/drawing/2014/main" id="{3051E1D4-1797-43FC-93FE-DE37CDB10E19}"/>
              </a:ext>
            </a:extLst>
          </p:cNvPr>
          <p:cNvSpPr>
            <a:spLocks xmlns:a="http://schemas.openxmlformats.org/drawingml/2006/main" noGrp="1"/>
          </p:cNvSpPr>
          <p:nvPr/>
        </p:nvSpPr>
        <p:spPr>
          <a:xfrm xmlns:a="http://schemas.openxmlformats.org/drawingml/2006/main">
            <a:off x="6362700" y="54673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650" b="0" i="0">
                <a:solidFill>
                  <a:srgbClr val="243B53"/>
                </a:solidFill>
              </a:defRPr>
            </a:pPr>
            <a:r>
              <a:rPr sz="1650" b="0" i="0">
                <a:solidFill>
                  <a:srgbClr val="243B53"/>
                </a:solidFill>
              </a:rPr>
              <a:t>insert 0 before z₁ → [0, 1, 2, 3, 4, 6, 7]</a:t>
            </a:r>
          </a:p>
        </p:txBody>
      </p:sp>
      <p:sp>
        <p:nvSpPr>
          <p:cNvPr id="35" name="">
            <a:extLst xmlns:a="http://schemas.openxmlformats.org/drawingml/2006/main">
              <a:ext uri="{FF2B5EF4-FFF2-40B4-BE49-F238E27FC236}">
                <a16:creationId xmlns:a16="http://schemas.microsoft.com/office/drawing/2014/main" id="{2DE746BF-AFD2-482B-8CB9-0838785CE05E}"/>
              </a:ext>
            </a:extLst>
          </p:cNvPr>
          <p:cNvSpPr>
            <a:spLocks xmlns:a="http://schemas.openxmlformats.org/drawingml/2006/main" noGrp="1"/>
          </p:cNvSpPr>
          <p:nvPr/>
        </p:nvSpPr>
        <p:spPr>
          <a:xfrm xmlns:a="http://schemas.openxmlformats.org/drawingml/2006/main">
            <a:off x="723900" y="6115050"/>
            <a:ext cx="10744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8261"/>
          </a:bodyPr>
          <a:lstStyle xmlns:a="http://schemas.openxmlformats.org/drawingml/2006/main"/>
          <a:p xmlns:a="http://schemas.openxmlformats.org/drawingml/2006/main">
            <a:pPr algn="ctr">
              <a:lnSpc>
                <a:spcPct val="105000"/>
              </a:lnSpc>
              <a:buNone/>
              <a:defRPr sz="1575" b="1" i="0">
                <a:solidFill>
                  <a:srgbClr val="102A43"/>
                </a:solidFill>
              </a:defRPr>
            </a:pPr>
            <a:r>
              <a:rPr sz="1575" b="1" i="0">
                <a:solidFill>
                  <a:srgbClr val="102A43"/>
                </a:solidFill>
              </a:rPr>
              <a:t>This changes the output anchor, not the earlier boundary-pair selection.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4839559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MAINTAINED STATE</a:t>
            </a:r>
            <a:endParaRPr/>
          </a:p>
        </p:txBody>
      </p:sp>
      <p:sp>
        <p:nvSpPr>
          <p:cNvPr id="19492489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Ownership-safe split and transfer</a:t>
            </a:r>
            <a:endParaRPr/>
          </a:p>
        </p:txBody>
      </p:sp>
      <p:sp>
        <p:nvSpPr>
          <p:cNvPr id="146142033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3702942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650406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09177077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10 / 16</a:t>
            </a:r>
            <a:endParaRPr/>
          </a:p>
        </p:txBody>
      </p:sp>
      <p:sp>
        <p:nvSpPr>
          <p:cNvPr id="730028483" name=""/>
          <p:cNvSpPr>
            <a:spLocks noGrp="1"/>
          </p:cNvSpPr>
          <p:nvPr/>
        </p:nvSpPr>
        <p:spPr bwMode="auto">
          <a:xfrm>
            <a:off x="647700" y="1428750"/>
            <a:ext cx="6248400" cy="4000500"/>
          </a:xfrm>
          <a:prstGeom prst="roundRect">
            <a:avLst>
              <a:gd name="adj" fmla="val 1905"/>
            </a:avLst>
          </a:prstGeom>
          <a:solidFill>
            <a:srgbClr val="FFFFFF"/>
          </a:solidFill>
          <a:ln w="11430">
            <a:solidFill>
              <a:srgbClr val="D9E2EC"/>
            </a:solidFill>
            <a:prstDash val="solid"/>
          </a:ln>
        </p:spPr>
      </p:sp>
      <p:sp>
        <p:nvSpPr>
          <p:cNvPr id="113438663" name=""/>
          <p:cNvSpPr>
            <a:spLocks noGrp="1"/>
          </p:cNvSpPr>
          <p:nvPr/>
        </p:nvSpPr>
        <p:spPr bwMode="auto">
          <a:xfrm>
            <a:off x="895350" y="1619250"/>
            <a:ext cx="57721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Local split and ownership transfer</a:t>
            </a:r>
            <a:endParaRPr/>
          </a:p>
        </p:txBody>
      </p:sp>
      <p:sp>
        <p:nvSpPr>
          <p:cNvPr id="749217798" name=""/>
          <p:cNvSpPr>
            <a:spLocks noGrp="1"/>
          </p:cNvSpPr>
          <p:nvPr/>
        </p:nvSpPr>
        <p:spPr bwMode="auto">
          <a:xfrm>
            <a:off x="895350" y="21526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Before</a:t>
            </a:r>
            <a:endParaRPr/>
          </a:p>
        </p:txBody>
      </p:sp>
      <p:sp>
        <p:nvSpPr>
          <p:cNvPr id="1748697193" name=""/>
          <p:cNvSpPr>
            <a:spLocks noGrp="1"/>
          </p:cNvSpPr>
          <p:nvPr/>
        </p:nvSpPr>
        <p:spPr bwMode="auto">
          <a:xfrm>
            <a:off x="1847850" y="2076450"/>
            <a:ext cx="1562100" cy="495300"/>
          </a:xfrm>
          <a:prstGeom prst="roundRect">
            <a:avLst>
              <a:gd name="adj" fmla="val 11538"/>
            </a:avLst>
          </a:prstGeom>
          <a:solidFill>
            <a:srgbClr val="EAF1F8"/>
          </a:solidFill>
          <a:ln w="14288">
            <a:solidFill>
              <a:srgbClr val="102A43"/>
            </a:solidFill>
            <a:prstDash val="solid"/>
          </a:ln>
        </p:spPr>
      </p:sp>
      <p:sp>
        <p:nvSpPr>
          <p:cNvPr id="1419039293" name=""/>
          <p:cNvSpPr>
            <a:spLocks noGrp="1"/>
          </p:cNvSpPr>
          <p:nvPr/>
        </p:nvSpPr>
        <p:spPr bwMode="auto">
          <a:xfrm>
            <a:off x="1943100" y="21526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228883652" name=""/>
          <p:cNvSpPr>
            <a:spLocks noGrp="1"/>
          </p:cNvSpPr>
          <p:nvPr/>
        </p:nvSpPr>
        <p:spPr bwMode="auto">
          <a:xfrm>
            <a:off x="3505199" y="2152650"/>
            <a:ext cx="6667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owns</a:t>
            </a:r>
            <a:endParaRPr/>
          </a:p>
        </p:txBody>
      </p:sp>
      <p:sp>
        <p:nvSpPr>
          <p:cNvPr id="366774229" name=""/>
          <p:cNvSpPr>
            <a:spLocks noGrp="1"/>
          </p:cNvSpPr>
          <p:nvPr/>
        </p:nvSpPr>
        <p:spPr bwMode="auto">
          <a:xfrm>
            <a:off x="4248150" y="2019300"/>
            <a:ext cx="2095500" cy="609600"/>
          </a:xfrm>
          <a:prstGeom prst="roundRect">
            <a:avLst>
              <a:gd name="adj" fmla="val 9375"/>
            </a:avLst>
          </a:prstGeom>
          <a:solidFill>
            <a:srgbClr val="FFFFFF"/>
          </a:solidFill>
          <a:ln w="11430">
            <a:solidFill>
              <a:srgbClr val="52606D"/>
            </a:solidFill>
            <a:prstDash val="solid"/>
          </a:ln>
        </p:spPr>
      </p:sp>
      <p:sp>
        <p:nvSpPr>
          <p:cNvPr id="620017293" name=""/>
          <p:cNvSpPr>
            <a:spLocks noGrp="1"/>
          </p:cNvSpPr>
          <p:nvPr/>
        </p:nvSpPr>
        <p:spPr bwMode="auto">
          <a:xfrm>
            <a:off x="4362450" y="2114550"/>
            <a:ext cx="18669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retained  |  acquired</a:t>
            </a:r>
            <a:endParaRPr/>
          </a:p>
        </p:txBody>
      </p:sp>
      <p:sp>
        <p:nvSpPr>
          <p:cNvPr id="47244239" name=""/>
          <p:cNvSpPr>
            <a:spLocks noGrp="1"/>
          </p:cNvSpPr>
          <p:nvPr/>
        </p:nvSpPr>
        <p:spPr bwMode="auto">
          <a:xfrm>
            <a:off x="2514600" y="2876550"/>
            <a:ext cx="23812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split + transfer</a:t>
            </a:r>
            <a:endParaRPr/>
          </a:p>
        </p:txBody>
      </p:sp>
      <p:sp>
        <p:nvSpPr>
          <p:cNvPr id="406159683" name=""/>
          <p:cNvSpPr>
            <a:spLocks noGrp="1"/>
          </p:cNvSpPr>
          <p:nvPr/>
        </p:nvSpPr>
        <p:spPr bwMode="auto">
          <a:xfrm>
            <a:off x="3371850" y="3200400"/>
            <a:ext cx="685800" cy="419100"/>
          </a:xfrm>
          <a:prstGeom prst="rect">
            <a:avLst/>
          </a:prstGeom>
          <a:noFill/>
          <a:ln w="0">
            <a:noFill/>
            <a:prstDash val="solid"/>
          </a:ln>
        </p:spPr>
        <p:txBody>
          <a:bodyPr wrap="square" lIns="38100" tIns="19050" rIns="38100" bIns="19050" anchor="t">
            <a:normAutofit fontScale="93371"/>
          </a:bodyPr>
          <a:lstStyle/>
          <a:p>
            <a:pPr algn="ctr">
              <a:lnSpc>
                <a:spcPct val="105000"/>
              </a:lnSpc>
              <a:buNone/>
              <a:defRPr sz="2550" b="1" i="0">
                <a:solidFill>
                  <a:srgbClr val="E76F51"/>
                </a:solidFill>
              </a:defRPr>
            </a:pPr>
            <a:r>
              <a:rPr sz="2550" b="1" i="0">
                <a:solidFill>
                  <a:srgbClr val="E76F51"/>
                </a:solidFill>
              </a:rPr>
              <a:t>↓</a:t>
            </a:r>
            <a:endParaRPr/>
          </a:p>
        </p:txBody>
      </p:sp>
      <p:sp>
        <p:nvSpPr>
          <p:cNvPr id="962977693" name=""/>
          <p:cNvSpPr>
            <a:spLocks noGrp="1"/>
          </p:cNvSpPr>
          <p:nvPr/>
        </p:nvSpPr>
        <p:spPr bwMode="auto">
          <a:xfrm>
            <a:off x="895350" y="37147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After</a:t>
            </a:r>
            <a:endParaRPr/>
          </a:p>
        </p:txBody>
      </p:sp>
      <p:sp>
        <p:nvSpPr>
          <p:cNvPr id="887594112" name=""/>
          <p:cNvSpPr>
            <a:spLocks noGrp="1"/>
          </p:cNvSpPr>
          <p:nvPr/>
        </p:nvSpPr>
        <p:spPr bwMode="auto">
          <a:xfrm>
            <a:off x="1847850" y="3638550"/>
            <a:ext cx="1562100" cy="495300"/>
          </a:xfrm>
          <a:prstGeom prst="roundRect">
            <a:avLst>
              <a:gd name="adj" fmla="val 11538"/>
            </a:avLst>
          </a:prstGeom>
          <a:solidFill>
            <a:srgbClr val="EAF1F8"/>
          </a:solidFill>
          <a:ln w="14288">
            <a:solidFill>
              <a:srgbClr val="102A43"/>
            </a:solidFill>
            <a:prstDash val="solid"/>
          </a:ln>
        </p:spPr>
      </p:sp>
      <p:sp>
        <p:nvSpPr>
          <p:cNvPr id="1471574766" name=""/>
          <p:cNvSpPr>
            <a:spLocks noGrp="1"/>
          </p:cNvSpPr>
          <p:nvPr/>
        </p:nvSpPr>
        <p:spPr bwMode="auto">
          <a:xfrm>
            <a:off x="1943100" y="37147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539927487" name=""/>
          <p:cNvSpPr>
            <a:spLocks noGrp="1"/>
          </p:cNvSpPr>
          <p:nvPr/>
        </p:nvSpPr>
        <p:spPr bwMode="auto">
          <a:xfrm>
            <a:off x="3476625" y="371475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52606D"/>
                </a:solidFill>
              </a:defRPr>
            </a:pPr>
            <a:r>
              <a:rPr sz="1800" b="1" i="0">
                <a:solidFill>
                  <a:srgbClr val="52606D"/>
                </a:solidFill>
              </a:rPr>
              <a:t>→</a:t>
            </a:r>
            <a:endParaRPr/>
          </a:p>
        </p:txBody>
      </p:sp>
      <p:sp>
        <p:nvSpPr>
          <p:cNvPr id="510974508" name=""/>
          <p:cNvSpPr>
            <a:spLocks noGrp="1"/>
          </p:cNvSpPr>
          <p:nvPr/>
        </p:nvSpPr>
        <p:spPr bwMode="auto">
          <a:xfrm>
            <a:off x="4038600" y="3638550"/>
            <a:ext cx="1390650" cy="495300"/>
          </a:xfrm>
          <a:prstGeom prst="roundRect">
            <a:avLst>
              <a:gd name="adj" fmla="val 11538"/>
            </a:avLst>
          </a:prstGeom>
          <a:solidFill>
            <a:srgbClr val="FFFFFF"/>
          </a:solidFill>
          <a:ln w="11430">
            <a:solidFill>
              <a:srgbClr val="102A43"/>
            </a:solidFill>
            <a:prstDash val="solid"/>
          </a:ln>
        </p:spPr>
      </p:sp>
      <p:sp>
        <p:nvSpPr>
          <p:cNvPr id="664237347" name=""/>
          <p:cNvSpPr>
            <a:spLocks noGrp="1"/>
          </p:cNvSpPr>
          <p:nvPr/>
        </p:nvSpPr>
        <p:spPr bwMode="auto">
          <a:xfrm>
            <a:off x="4133850" y="371475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retained</a:t>
            </a:r>
            <a:endParaRPr/>
          </a:p>
        </p:txBody>
      </p:sp>
      <p:sp>
        <p:nvSpPr>
          <p:cNvPr id="330485483" name=""/>
          <p:cNvSpPr>
            <a:spLocks noGrp="1"/>
          </p:cNvSpPr>
          <p:nvPr/>
        </p:nvSpPr>
        <p:spPr bwMode="auto">
          <a:xfrm>
            <a:off x="1847850" y="4381500"/>
            <a:ext cx="1562100" cy="495300"/>
          </a:xfrm>
          <a:prstGeom prst="roundRect">
            <a:avLst>
              <a:gd name="adj" fmla="val 11538"/>
            </a:avLst>
          </a:prstGeom>
          <a:solidFill>
            <a:srgbClr val="E8F5F3"/>
          </a:solidFill>
          <a:ln w="14288">
            <a:solidFill>
              <a:srgbClr val="2A9D8F"/>
            </a:solidFill>
            <a:prstDash val="solid"/>
          </a:ln>
        </p:spPr>
      </p:sp>
      <p:sp>
        <p:nvSpPr>
          <p:cNvPr id="1599361175" name=""/>
          <p:cNvSpPr>
            <a:spLocks noGrp="1"/>
          </p:cNvSpPr>
          <p:nvPr/>
        </p:nvSpPr>
        <p:spPr bwMode="auto">
          <a:xfrm>
            <a:off x="1943100" y="445770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new owner</a:t>
            </a:r>
            <a:endParaRPr/>
          </a:p>
        </p:txBody>
      </p:sp>
      <p:sp>
        <p:nvSpPr>
          <p:cNvPr id="533006259" name=""/>
          <p:cNvSpPr>
            <a:spLocks noGrp="1"/>
          </p:cNvSpPr>
          <p:nvPr/>
        </p:nvSpPr>
        <p:spPr bwMode="auto">
          <a:xfrm>
            <a:off x="3476625" y="445770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2A9D8F"/>
                </a:solidFill>
              </a:defRPr>
            </a:pPr>
            <a:r>
              <a:rPr sz="1800" b="1" i="0">
                <a:solidFill>
                  <a:srgbClr val="2A9D8F"/>
                </a:solidFill>
              </a:rPr>
              <a:t>→</a:t>
            </a:r>
            <a:endParaRPr/>
          </a:p>
        </p:txBody>
      </p:sp>
      <p:sp>
        <p:nvSpPr>
          <p:cNvPr id="1591938000" name=""/>
          <p:cNvSpPr>
            <a:spLocks noGrp="1"/>
          </p:cNvSpPr>
          <p:nvPr/>
        </p:nvSpPr>
        <p:spPr bwMode="auto">
          <a:xfrm>
            <a:off x="4038600" y="4381500"/>
            <a:ext cx="1390650" cy="495300"/>
          </a:xfrm>
          <a:prstGeom prst="roundRect">
            <a:avLst>
              <a:gd name="adj" fmla="val 11538"/>
            </a:avLst>
          </a:prstGeom>
          <a:solidFill>
            <a:srgbClr val="E8F5F3"/>
          </a:solidFill>
          <a:ln w="11430">
            <a:solidFill>
              <a:srgbClr val="2A9D8F"/>
            </a:solidFill>
            <a:prstDash val="solid"/>
          </a:ln>
        </p:spPr>
      </p:sp>
      <p:sp>
        <p:nvSpPr>
          <p:cNvPr id="618147300" name=""/>
          <p:cNvSpPr>
            <a:spLocks noGrp="1"/>
          </p:cNvSpPr>
          <p:nvPr/>
        </p:nvSpPr>
        <p:spPr bwMode="auto">
          <a:xfrm>
            <a:off x="4133850" y="445770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acquired</a:t>
            </a:r>
            <a:endParaRPr/>
          </a:p>
        </p:txBody>
      </p:sp>
      <p:sp>
        <p:nvSpPr>
          <p:cNvPr id="1279408537" name=""/>
          <p:cNvSpPr>
            <a:spLocks noGrp="1"/>
          </p:cNvSpPr>
          <p:nvPr/>
        </p:nvSpPr>
        <p:spPr bwMode="auto">
          <a:xfrm>
            <a:off x="1047750" y="5010149"/>
            <a:ext cx="544830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00" b="0" i="0">
                <a:solidFill>
                  <a:srgbClr val="52606D"/>
                </a:solidFill>
              </a:defRPr>
            </a:pPr>
            <a:r>
              <a:rPr sz="1300" b="0" i="0">
                <a:solidFill>
                  <a:srgbClr val="52606D"/>
                </a:solidFill>
              </a:rPr>
              <a:t>Only the acquired nonempty segment changes parent ownership.</a:t>
            </a:r>
            <a:endParaRPr/>
          </a:p>
        </p:txBody>
      </p:sp>
      <p:sp>
        <p:nvSpPr>
          <p:cNvPr id="2100905851" name=""/>
          <p:cNvSpPr>
            <a:spLocks noGrp="1"/>
          </p:cNvSpPr>
          <p:nvPr/>
        </p:nvSpPr>
        <p:spPr bwMode="auto">
          <a:xfrm>
            <a:off x="7286625" y="14478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Maintained state</a:t>
            </a:r>
            <a:endParaRPr/>
          </a:p>
        </p:txBody>
      </p:sp>
      <p:sp>
        <p:nvSpPr>
          <p:cNvPr id="1687115341" name=""/>
          <p:cNvSpPr>
            <a:spLocks noGrp="1"/>
          </p:cNvSpPr>
          <p:nvPr/>
        </p:nvSpPr>
        <p:spPr bwMode="auto">
          <a:xfrm>
            <a:off x="7334250" y="2028825"/>
            <a:ext cx="95250" cy="95250"/>
          </a:xfrm>
          <a:prstGeom prst="ellipse">
            <a:avLst/>
          </a:prstGeom>
          <a:solidFill>
            <a:srgbClr val="2A9D8F"/>
          </a:solidFill>
          <a:ln w="0">
            <a:solidFill>
              <a:srgbClr val="2A9D8F"/>
            </a:solidFill>
            <a:prstDash val="solid"/>
          </a:ln>
        </p:spPr>
      </p:sp>
      <p:sp>
        <p:nvSpPr>
          <p:cNvPr id="363076238" name=""/>
          <p:cNvSpPr>
            <a:spLocks noGrp="1"/>
          </p:cNvSpPr>
          <p:nvPr/>
        </p:nvSpPr>
        <p:spPr bwMode="auto">
          <a:xfrm>
            <a:off x="7543800" y="195262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sorted processed prefix</a:t>
            </a:r>
            <a:endParaRPr/>
          </a:p>
        </p:txBody>
      </p:sp>
      <p:sp>
        <p:nvSpPr>
          <p:cNvPr id="480338370" name=""/>
          <p:cNvSpPr>
            <a:spLocks noGrp="1"/>
          </p:cNvSpPr>
          <p:nvPr/>
        </p:nvSpPr>
        <p:spPr bwMode="auto">
          <a:xfrm>
            <a:off x="7334250" y="2457450"/>
            <a:ext cx="95250" cy="95250"/>
          </a:xfrm>
          <a:prstGeom prst="ellipse">
            <a:avLst/>
          </a:prstGeom>
          <a:solidFill>
            <a:srgbClr val="2A9D8F"/>
          </a:solidFill>
          <a:ln w="0">
            <a:solidFill>
              <a:srgbClr val="2A9D8F"/>
            </a:solidFill>
            <a:prstDash val="solid"/>
          </a:ln>
        </p:spPr>
      </p:sp>
      <p:sp>
        <p:nvSpPr>
          <p:cNvPr id="2035817085" name=""/>
          <p:cNvSpPr>
            <a:spLocks noGrp="1"/>
          </p:cNvSpPr>
          <p:nvPr/>
        </p:nvSpPr>
        <p:spPr bwMode="auto">
          <a:xfrm>
            <a:off x="7543800" y="238125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upper and lower pair families</a:t>
            </a:r>
            <a:endParaRPr/>
          </a:p>
        </p:txBody>
      </p:sp>
      <p:sp>
        <p:nvSpPr>
          <p:cNvPr id="1880297608" name=""/>
          <p:cNvSpPr>
            <a:spLocks noGrp="1"/>
          </p:cNvSpPr>
          <p:nvPr/>
        </p:nvSpPr>
        <p:spPr bwMode="auto">
          <a:xfrm>
            <a:off x="7334250" y="2886075"/>
            <a:ext cx="95250" cy="95250"/>
          </a:xfrm>
          <a:prstGeom prst="ellipse">
            <a:avLst/>
          </a:prstGeom>
          <a:solidFill>
            <a:srgbClr val="2A9D8F"/>
          </a:solidFill>
          <a:ln w="0">
            <a:solidFill>
              <a:srgbClr val="2A9D8F"/>
            </a:solidFill>
            <a:prstDash val="solid"/>
          </a:ln>
        </p:spPr>
      </p:sp>
      <p:sp>
        <p:nvSpPr>
          <p:cNvPr id="1300843647" name=""/>
          <p:cNvSpPr>
            <a:spLocks noGrp="1"/>
          </p:cNvSpPr>
          <p:nvPr/>
        </p:nvSpPr>
        <p:spPr bwMode="auto">
          <a:xfrm>
            <a:off x="7543800" y="280987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parent per finite pair</a:t>
            </a:r>
            <a:endParaRPr/>
          </a:p>
        </p:txBody>
      </p:sp>
      <p:sp>
        <p:nvSpPr>
          <p:cNvPr id="1692861019" name=""/>
          <p:cNvSpPr>
            <a:spLocks noGrp="1"/>
          </p:cNvSpPr>
          <p:nvPr/>
        </p:nvSpPr>
        <p:spPr bwMode="auto">
          <a:xfrm>
            <a:off x="7334250" y="3314700"/>
            <a:ext cx="95250" cy="95250"/>
          </a:xfrm>
          <a:prstGeom prst="ellipse">
            <a:avLst/>
          </a:prstGeom>
          <a:solidFill>
            <a:srgbClr val="2A9D8F"/>
          </a:solidFill>
          <a:ln w="0">
            <a:solidFill>
              <a:srgbClr val="2A9D8F"/>
            </a:solidFill>
            <a:prstDash val="solid"/>
          </a:ln>
        </p:spPr>
      </p:sp>
      <p:sp>
        <p:nvSpPr>
          <p:cNvPr id="82351305" name=""/>
          <p:cNvSpPr>
            <a:spLocks noGrp="1"/>
          </p:cNvSpPr>
          <p:nvPr/>
        </p:nvSpPr>
        <p:spPr bwMode="auto">
          <a:xfrm>
            <a:off x="7543800" y="323850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sibling-list owner per finite pair</a:t>
            </a:r>
            <a:endParaRPr/>
          </a:p>
        </p:txBody>
      </p:sp>
      <p:sp>
        <p:nvSpPr>
          <p:cNvPr id="325817281" name=""/>
          <p:cNvSpPr>
            <a:spLocks noGrp="1"/>
          </p:cNvSpPr>
          <p:nvPr/>
        </p:nvSpPr>
        <p:spPr bwMode="auto">
          <a:xfrm>
            <a:off x="7286625" y="38862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Transactional update</a:t>
            </a:r>
            <a:endParaRPr/>
          </a:p>
        </p:txBody>
      </p:sp>
      <p:sp>
        <p:nvSpPr>
          <p:cNvPr id="991278660" name=""/>
          <p:cNvSpPr>
            <a:spLocks noGrp="1"/>
          </p:cNvSpPr>
          <p:nvPr/>
        </p:nvSpPr>
        <p:spPr bwMode="auto">
          <a:xfrm>
            <a:off x="7334250" y="4324350"/>
            <a:ext cx="390525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save state  →  split  →  transfer  →</a:t>
            </a:r>
            <a:endParaRPr/>
          </a:p>
          <a:p>
            <a:pPr algn="ctr">
              <a:lnSpc>
                <a:spcPct val="105000"/>
              </a:lnSpc>
              <a:buNone/>
              <a:defRPr sz="1500" b="0" i="0">
                <a:solidFill>
                  <a:srgbClr val="243B53"/>
                </a:solidFill>
              </a:defRPr>
            </a:pPr>
            <a:r>
              <a:rPr sz="1500" b="0" i="0">
                <a:solidFill>
                  <a:srgbClr val="243B53"/>
                </a:solidFill>
              </a:rPr>
              <a:t>check postconditions  →  roll back on failure</a:t>
            </a:r>
            <a:endParaRPr/>
          </a:p>
        </p:txBody>
      </p:sp>
      <p:sp>
        <p:nvSpPr>
          <p:cNvPr id="490995905" name=""/>
          <p:cNvSpPr>
            <a:spLocks noGrp="1"/>
          </p:cNvSpPr>
          <p:nvPr/>
        </p:nvSpPr>
        <p:spPr bwMode="auto">
          <a:xfrm>
            <a:off x="1066800" y="5715000"/>
            <a:ext cx="10058400" cy="476250"/>
          </a:xfrm>
          <a:prstGeom prst="roundRect">
            <a:avLst>
              <a:gd name="adj" fmla="val 12000"/>
            </a:avLst>
          </a:prstGeom>
          <a:solidFill>
            <a:srgbClr val="FCEEEA"/>
          </a:solidFill>
          <a:ln w="11430">
            <a:solidFill>
              <a:srgbClr val="E76F51"/>
            </a:solidFill>
            <a:prstDash val="solid"/>
          </a:ln>
        </p:spPr>
      </p:sp>
      <p:sp>
        <p:nvSpPr>
          <p:cNvPr id="390084698" name=""/>
          <p:cNvSpPr>
            <a:spLocks noGrp="1"/>
          </p:cNvSpPr>
          <p:nvPr/>
        </p:nvSpPr>
        <p:spPr bwMode="auto">
          <a:xfrm>
            <a:off x="1219200" y="5762625"/>
            <a:ext cx="97536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68992040"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VALIDATION</a:t>
            </a:r>
            <a:endParaRPr/>
          </a:p>
        </p:txBody>
      </p:sp>
      <p:sp>
        <p:nvSpPr>
          <p:cNvPr id="25511021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Implementation checks and experiment consistency</a:t>
            </a:r>
            <a:endParaRPr/>
          </a:p>
        </p:txBody>
      </p:sp>
      <p:sp>
        <p:nvSpPr>
          <p:cNvPr id="1077802571" name=""/>
          <p:cNvSpPr>
            <a:spLocks noGrp="1"/>
          </p:cNvSpPr>
          <p:nvPr/>
        </p:nvSpPr>
        <p:spPr bwMode="auto">
          <a:xfrm>
            <a:off x="609600" y="1085850"/>
            <a:ext cx="10972800" cy="9525"/>
          </a:xfrm>
          <a:prstGeom prst="line">
            <a:avLst/>
          </a:prstGeom>
          <a:noFill/>
          <a:ln w="28575">
            <a:solidFill>
              <a:srgbClr val="2A9D8F"/>
            </a:solidFill>
            <a:prstDash val="solid"/>
          </a:ln>
        </p:spPr>
      </p:sp>
      <p:sp>
        <p:nvSpPr>
          <p:cNvPr id="815657241" name=""/>
          <p:cNvSpPr>
            <a:spLocks noGrp="1"/>
          </p:cNvSpPr>
          <p:nvPr/>
        </p:nvSpPr>
        <p:spPr bwMode="auto">
          <a:xfrm>
            <a:off x="609600" y="6477000"/>
            <a:ext cx="10972800" cy="9525"/>
          </a:xfrm>
          <a:prstGeom prst="line">
            <a:avLst/>
          </a:prstGeom>
          <a:noFill/>
          <a:ln w="9525">
            <a:solidFill>
              <a:srgbClr val="D9E2EC"/>
            </a:solidFill>
            <a:prstDash val="solid"/>
          </a:ln>
        </p:spPr>
      </p:sp>
      <p:sp>
        <p:nvSpPr>
          <p:cNvPr id="203322173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8748331"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11 / 16</a:t>
            </a:r>
            <a:endParaRPr/>
          </a:p>
        </p:txBody>
      </p:sp>
      <p:sp>
        <p:nvSpPr>
          <p:cNvPr id="759139396" name=""/>
          <p:cNvSpPr>
            <a:spLocks noGrp="1"/>
          </p:cNvSpPr>
          <p:nvPr/>
        </p:nvSpPr>
        <p:spPr bwMode="auto">
          <a:xfrm>
            <a:off x="876299"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IMPLEMENTATION AND STATE VALIDATION</a:t>
            </a:r>
            <a:endParaRPr/>
          </a:p>
        </p:txBody>
      </p:sp>
      <p:sp>
        <p:nvSpPr>
          <p:cNvPr id="496407433" name=""/>
          <p:cNvSpPr>
            <a:spLocks noGrp="1"/>
          </p:cNvSpPr>
          <p:nvPr/>
        </p:nvSpPr>
        <p:spPr bwMode="auto">
          <a:xfrm>
            <a:off x="6934200"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EXPERIMENT OUTPUT CHECK</a:t>
            </a:r>
            <a:endParaRPr/>
          </a:p>
        </p:txBody>
      </p:sp>
      <p:sp>
        <p:nvSpPr>
          <p:cNvPr id="703211932" name=""/>
          <p:cNvSpPr>
            <a:spLocks noGrp="1"/>
          </p:cNvSpPr>
          <p:nvPr/>
        </p:nvSpPr>
        <p:spPr bwMode="auto">
          <a:xfrm>
            <a:off x="838200" y="1924050"/>
            <a:ext cx="4476750" cy="609600"/>
          </a:xfrm>
          <a:prstGeom prst="roundRect">
            <a:avLst>
              <a:gd name="adj" fmla="val 10938"/>
            </a:avLst>
          </a:prstGeom>
          <a:solidFill>
            <a:srgbClr val="E8F5F3"/>
          </a:solidFill>
          <a:ln w="11430">
            <a:solidFill>
              <a:srgbClr val="2A9D8F"/>
            </a:solidFill>
            <a:prstDash val="solid"/>
          </a:ln>
        </p:spPr>
      </p:sp>
      <p:sp>
        <p:nvSpPr>
          <p:cNvPr id="1463017102" name=""/>
          <p:cNvSpPr>
            <a:spLocks noGrp="1"/>
          </p:cNvSpPr>
          <p:nvPr/>
        </p:nvSpPr>
        <p:spPr bwMode="auto">
          <a:xfrm>
            <a:off x="990600" y="2000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Focused regression cases</a:t>
            </a:r>
            <a:endParaRPr/>
          </a:p>
        </p:txBody>
      </p:sp>
      <p:sp>
        <p:nvSpPr>
          <p:cNvPr id="1756251343" name=""/>
          <p:cNvSpPr>
            <a:spLocks noGrp="1"/>
          </p:cNvSpPr>
          <p:nvPr/>
        </p:nvSpPr>
        <p:spPr bwMode="auto">
          <a:xfrm>
            <a:off x="2724150" y="2505074"/>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770023856" name=""/>
          <p:cNvSpPr>
            <a:spLocks noGrp="1"/>
          </p:cNvSpPr>
          <p:nvPr/>
        </p:nvSpPr>
        <p:spPr bwMode="auto">
          <a:xfrm>
            <a:off x="838200" y="2800350"/>
            <a:ext cx="4476750" cy="781050"/>
          </a:xfrm>
          <a:prstGeom prst="roundRect">
            <a:avLst>
              <a:gd name="adj" fmla="val 8537"/>
            </a:avLst>
          </a:prstGeom>
          <a:solidFill>
            <a:srgbClr val="E8F5F3"/>
          </a:solidFill>
          <a:ln w="11430">
            <a:solidFill>
              <a:srgbClr val="2A9D8F"/>
            </a:solidFill>
            <a:prstDash val="solid"/>
          </a:ln>
        </p:spPr>
      </p:sp>
      <p:sp>
        <p:nvSpPr>
          <p:cNvPr id="1271557392" name=""/>
          <p:cNvSpPr>
            <a:spLocks noGrp="1"/>
          </p:cNvSpPr>
          <p:nvPr/>
        </p:nvSpPr>
        <p:spPr bwMode="auto">
          <a:xfrm>
            <a:off x="990600" y="2876550"/>
            <a:ext cx="41719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Bounded exhaustive validation</a:t>
            </a:r>
            <a:endParaRPr/>
          </a:p>
          <a:p>
            <a:pPr algn="ctr">
              <a:lnSpc>
                <a:spcPct val="105000"/>
              </a:lnSpc>
              <a:buNone/>
              <a:defRPr sz="1350" b="1" i="0">
                <a:solidFill>
                  <a:srgbClr val="243B53"/>
                </a:solidFill>
              </a:defRPr>
            </a:pPr>
            <a:r>
              <a:rPr sz="1350" b="1" i="0">
                <a:solidFill>
                  <a:srgbClr val="243B53"/>
                </a:solidFill>
              </a:rPr>
              <a:t>2,074 oracle-valid permutations, n ≤ 8</a:t>
            </a:r>
            <a:endParaRPr/>
          </a:p>
        </p:txBody>
      </p:sp>
      <p:sp>
        <p:nvSpPr>
          <p:cNvPr id="176633760" name=""/>
          <p:cNvSpPr>
            <a:spLocks noGrp="1"/>
          </p:cNvSpPr>
          <p:nvPr/>
        </p:nvSpPr>
        <p:spPr bwMode="auto">
          <a:xfrm>
            <a:off x="2724150" y="355282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454586112" name=""/>
          <p:cNvSpPr>
            <a:spLocks noGrp="1"/>
          </p:cNvSpPr>
          <p:nvPr/>
        </p:nvSpPr>
        <p:spPr bwMode="auto">
          <a:xfrm>
            <a:off x="838200" y="3829050"/>
            <a:ext cx="4476750" cy="609600"/>
          </a:xfrm>
          <a:prstGeom prst="roundRect">
            <a:avLst>
              <a:gd name="adj" fmla="val 10938"/>
            </a:avLst>
          </a:prstGeom>
          <a:solidFill>
            <a:srgbClr val="E8F5F3"/>
          </a:solidFill>
          <a:ln w="11430">
            <a:solidFill>
              <a:srgbClr val="2A9D8F"/>
            </a:solidFill>
            <a:prstDash val="solid"/>
          </a:ln>
        </p:spPr>
      </p:sp>
      <p:sp>
        <p:nvSpPr>
          <p:cNvPr id="243747694" name=""/>
          <p:cNvSpPr>
            <a:spLocks noGrp="1"/>
          </p:cNvSpPr>
          <p:nvPr/>
        </p:nvSpPr>
        <p:spPr bwMode="auto">
          <a:xfrm>
            <a:off x="990600" y="3905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Checked-state audits</a:t>
            </a:r>
            <a:endParaRPr/>
          </a:p>
        </p:txBody>
      </p:sp>
      <p:sp>
        <p:nvSpPr>
          <p:cNvPr id="1370787553" name=""/>
          <p:cNvSpPr>
            <a:spLocks noGrp="1"/>
          </p:cNvSpPr>
          <p:nvPr/>
        </p:nvSpPr>
        <p:spPr bwMode="auto">
          <a:xfrm>
            <a:off x="2724150" y="441007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055246765" name=""/>
          <p:cNvSpPr>
            <a:spLocks noGrp="1"/>
          </p:cNvSpPr>
          <p:nvPr/>
        </p:nvSpPr>
        <p:spPr bwMode="auto">
          <a:xfrm>
            <a:off x="838200" y="4705350"/>
            <a:ext cx="4476750" cy="609600"/>
          </a:xfrm>
          <a:prstGeom prst="roundRect">
            <a:avLst>
              <a:gd name="adj" fmla="val 10938"/>
            </a:avLst>
          </a:prstGeom>
          <a:solidFill>
            <a:srgbClr val="E8F5F3"/>
          </a:solidFill>
          <a:ln w="11430">
            <a:solidFill>
              <a:srgbClr val="2A9D8F"/>
            </a:solidFill>
            <a:prstDash val="solid"/>
          </a:ln>
        </p:spPr>
      </p:sp>
      <p:sp>
        <p:nvSpPr>
          <p:cNvPr id="466939484" name=""/>
          <p:cNvSpPr>
            <a:spLocks noGrp="1"/>
          </p:cNvSpPr>
          <p:nvPr/>
        </p:nvSpPr>
        <p:spPr bwMode="auto">
          <a:xfrm>
            <a:off x="990600" y="47815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Same-core deterministic replay</a:t>
            </a:r>
            <a:endParaRPr/>
          </a:p>
        </p:txBody>
      </p:sp>
      <p:sp>
        <p:nvSpPr>
          <p:cNvPr id="1030380634" name=""/>
          <p:cNvSpPr>
            <a:spLocks noGrp="1"/>
          </p:cNvSpPr>
          <p:nvPr/>
        </p:nvSpPr>
        <p:spPr bwMode="auto">
          <a:xfrm>
            <a:off x="6877050" y="2209800"/>
            <a:ext cx="4476750" cy="2381250"/>
          </a:xfrm>
          <a:prstGeom prst="roundRect">
            <a:avLst>
              <a:gd name="adj" fmla="val 3200"/>
            </a:avLst>
          </a:prstGeom>
          <a:solidFill>
            <a:srgbClr val="FCEEEA"/>
          </a:solidFill>
          <a:ln w="14288">
            <a:solidFill>
              <a:srgbClr val="E76F51"/>
            </a:solidFill>
            <a:prstDash val="solid"/>
          </a:ln>
        </p:spPr>
      </p:sp>
      <p:sp>
        <p:nvSpPr>
          <p:cNvPr id="860747673" name=""/>
          <p:cNvSpPr>
            <a:spLocks noGrp="1"/>
          </p:cNvSpPr>
          <p:nvPr/>
        </p:nvSpPr>
        <p:spPr bwMode="auto">
          <a:xfrm>
            <a:off x="7219950" y="2686050"/>
            <a:ext cx="3790949" cy="13525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243B53"/>
                </a:solidFill>
              </a:defRPr>
            </a:pPr>
            <a:r>
              <a:rPr sz="1750" b="1" i="0">
                <a:solidFill>
                  <a:srgbClr val="243B53"/>
                </a:solidFill>
              </a:rPr>
              <a:t>A separate validation path checked that the saved outputs match the fixed experiment setup and recomputed summaries.</a:t>
            </a:r>
            <a:endParaRPr/>
          </a:p>
        </p:txBody>
      </p:sp>
      <p:sp>
        <p:nvSpPr>
          <p:cNvPr id="2094900085" name=""/>
          <p:cNvSpPr>
            <a:spLocks noGrp="1"/>
          </p:cNvSpPr>
          <p:nvPr/>
        </p:nvSpPr>
        <p:spPr bwMode="auto">
          <a:xfrm>
            <a:off x="7239000" y="4819650"/>
            <a:ext cx="375285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Full consistency checks: Backup C</a:t>
            </a:r>
            <a:endParaRPr/>
          </a:p>
        </p:txBody>
      </p:sp>
      <p:sp>
        <p:nvSpPr>
          <p:cNvPr id="1220861434" name=""/>
          <p:cNvSpPr>
            <a:spLocks noGrp="1"/>
          </p:cNvSpPr>
          <p:nvPr/>
        </p:nvSpPr>
        <p:spPr bwMode="auto">
          <a:xfrm>
            <a:off x="1333500" y="5810250"/>
            <a:ext cx="9525000" cy="381000"/>
          </a:xfrm>
          <a:prstGeom prst="rect">
            <a:avLst/>
          </a:prstGeom>
          <a:noFill/>
          <a:ln w="0">
            <a:noFill/>
            <a:prstDash val="solid"/>
          </a:ln>
        </p:spPr>
        <p:txBody>
          <a:bodyPr wrap="square" lIns="38100" tIns="19050" rIns="38100" bIns="19050" anchor="ctr">
            <a:normAutofit fontScale="96917"/>
          </a:bodyPr>
          <a:lstStyle/>
          <a:p>
            <a:pPr algn="ctr">
              <a:lnSpc>
                <a:spcPct val="105000"/>
              </a:lnSpc>
              <a:buNone/>
              <a:defRPr sz="1600" b="1" i="0">
                <a:solidFill>
                  <a:srgbClr val="102A43"/>
                </a:solidFill>
              </a:defRPr>
            </a:pPr>
            <a:r>
              <a:rPr sz="1600" b="1" i="0">
                <a:solidFill>
                  <a:srgbClr val="102A43"/>
                </a:solidFill>
              </a:rPr>
              <a:t>These checks support the evaluated cases. They do not prove correctness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58310505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EXPERIMENTAL METHOD</a:t>
            </a:r>
            <a:endParaRPr/>
          </a:p>
        </p:txBody>
      </p:sp>
      <p:sp>
        <p:nvSpPr>
          <p:cNvPr id="47327047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1421"/>
          </a:bodyPr>
          <a:lstStyle/>
          <a:p>
            <a:pPr algn="l">
              <a:lnSpc>
                <a:spcPct val="95000"/>
              </a:lnSpc>
              <a:buNone/>
              <a:defRPr sz="2700" b="1" i="0">
                <a:solidFill>
                  <a:srgbClr val="102A43"/>
                </a:solidFill>
              </a:defRPr>
            </a:pPr>
            <a:r>
              <a:rPr sz="2700" b="1" i="0">
                <a:solidFill>
                  <a:srgbClr val="102A43"/>
                </a:solidFill>
              </a:rPr>
              <a:t>The formal experiment keeps certification and audit outside paper timing</a:t>
            </a:r>
            <a:endParaRPr/>
          </a:p>
        </p:txBody>
      </p:sp>
      <p:sp>
        <p:nvSpPr>
          <p:cNvPr id="41136435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41813511" name=""/>
          <p:cNvSpPr>
            <a:spLocks noGrp="1"/>
          </p:cNvSpPr>
          <p:nvPr/>
        </p:nvSpPr>
        <p:spPr bwMode="auto">
          <a:xfrm>
            <a:off x="609600" y="6477000"/>
            <a:ext cx="10972800" cy="9525"/>
          </a:xfrm>
          <a:prstGeom prst="line">
            <a:avLst/>
          </a:prstGeom>
          <a:noFill/>
          <a:ln w="9525">
            <a:solidFill>
              <a:srgbClr val="D9E2EC"/>
            </a:solidFill>
            <a:prstDash val="solid"/>
          </a:ln>
        </p:spPr>
      </p:sp>
      <p:sp>
        <p:nvSpPr>
          <p:cNvPr id="147821288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1017316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12 / 16</a:t>
            </a:r>
            <a:endParaRPr/>
          </a:p>
        </p:txBody>
      </p:sp>
      <p:sp>
        <p:nvSpPr>
          <p:cNvPr id="1829283539" name=""/>
          <p:cNvSpPr>
            <a:spLocks noGrp="1"/>
          </p:cNvSpPr>
          <p:nvPr/>
        </p:nvSpPr>
        <p:spPr bwMode="auto">
          <a:xfrm>
            <a:off x="723900" y="1409700"/>
            <a:ext cx="10744200" cy="781050"/>
          </a:xfrm>
          <a:prstGeom prst="roundRect">
            <a:avLst>
              <a:gd name="adj" fmla="val 9756"/>
            </a:avLst>
          </a:prstGeom>
          <a:solidFill>
            <a:srgbClr val="102A43"/>
          </a:solidFill>
          <a:ln w="11430">
            <a:solidFill>
              <a:srgbClr val="102A43"/>
            </a:solidFill>
            <a:prstDash val="solid"/>
          </a:ln>
        </p:spPr>
      </p:sp>
      <p:sp>
        <p:nvSpPr>
          <p:cNvPr id="887875970" name=""/>
          <p:cNvSpPr>
            <a:spLocks noGrp="1"/>
          </p:cNvSpPr>
          <p:nvPr/>
        </p:nvSpPr>
        <p:spPr bwMode="auto">
          <a:xfrm>
            <a:off x="933450" y="1504950"/>
            <a:ext cx="69342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FFFFFF"/>
                </a:solidFill>
              </a:defRPr>
            </a:pPr>
            <a:r>
              <a:rPr sz="1750" b="1" i="0">
                <a:solidFill>
                  <a:srgbClr val="FFFFFF"/>
                </a:solidFill>
              </a:rPr>
              <a:t>5 sizes  ×  12 cases  ×  3 algorithms  ×  20 calls</a:t>
            </a:r>
            <a:endParaRPr/>
          </a:p>
        </p:txBody>
      </p:sp>
      <p:sp>
        <p:nvSpPr>
          <p:cNvPr id="1692657322" name=""/>
          <p:cNvSpPr>
            <a:spLocks noGrp="1"/>
          </p:cNvSpPr>
          <p:nvPr/>
        </p:nvSpPr>
        <p:spPr bwMode="auto">
          <a:xfrm>
            <a:off x="8096250" y="1504950"/>
            <a:ext cx="310515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3,600 measured rows</a:t>
            </a:r>
            <a:endParaRPr/>
          </a:p>
        </p:txBody>
      </p:sp>
      <p:sp>
        <p:nvSpPr>
          <p:cNvPr id="1443036322" name=""/>
          <p:cNvSpPr>
            <a:spLocks noGrp="1"/>
          </p:cNvSpPr>
          <p:nvPr/>
        </p:nvSpPr>
        <p:spPr bwMode="auto">
          <a:xfrm>
            <a:off x="704850" y="2647949"/>
            <a:ext cx="1295400" cy="781050"/>
          </a:xfrm>
          <a:prstGeom prst="roundRect">
            <a:avLst>
              <a:gd name="adj" fmla="val 8537"/>
            </a:avLst>
          </a:prstGeom>
          <a:solidFill>
            <a:srgbClr val="FFFFFF"/>
          </a:solidFill>
          <a:ln w="14288">
            <a:solidFill>
              <a:srgbClr val="52606D"/>
            </a:solidFill>
            <a:prstDash val="solid"/>
          </a:ln>
        </p:spPr>
      </p:sp>
      <p:sp>
        <p:nvSpPr>
          <p:cNvPr id="2075206268" name=""/>
          <p:cNvSpPr>
            <a:spLocks noGrp="1"/>
          </p:cNvSpPr>
          <p:nvPr/>
        </p:nvSpPr>
        <p:spPr bwMode="auto">
          <a:xfrm>
            <a:off x="7810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Generate</a:t>
            </a:r>
            <a:endParaRPr/>
          </a:p>
        </p:txBody>
      </p:sp>
      <p:sp>
        <p:nvSpPr>
          <p:cNvPr id="1450038504" name=""/>
          <p:cNvSpPr>
            <a:spLocks noGrp="1"/>
          </p:cNvSpPr>
          <p:nvPr/>
        </p:nvSpPr>
        <p:spPr bwMode="auto">
          <a:xfrm>
            <a:off x="2266950" y="2647949"/>
            <a:ext cx="1295400" cy="781050"/>
          </a:xfrm>
          <a:prstGeom prst="roundRect">
            <a:avLst>
              <a:gd name="adj" fmla="val 8537"/>
            </a:avLst>
          </a:prstGeom>
          <a:solidFill>
            <a:srgbClr val="FFFFFF"/>
          </a:solidFill>
          <a:ln w="14288">
            <a:solidFill>
              <a:srgbClr val="52606D"/>
            </a:solidFill>
            <a:prstDash val="solid"/>
          </a:ln>
        </p:spPr>
      </p:sp>
      <p:sp>
        <p:nvSpPr>
          <p:cNvPr id="1461553882" name=""/>
          <p:cNvSpPr>
            <a:spLocks noGrp="1"/>
          </p:cNvSpPr>
          <p:nvPr/>
        </p:nvSpPr>
        <p:spPr bwMode="auto">
          <a:xfrm>
            <a:off x="23431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Certify</a:t>
            </a:r>
            <a:endParaRPr/>
          </a:p>
        </p:txBody>
      </p:sp>
      <p:sp>
        <p:nvSpPr>
          <p:cNvPr id="595680969" name=""/>
          <p:cNvSpPr>
            <a:spLocks noGrp="1"/>
          </p:cNvSpPr>
          <p:nvPr/>
        </p:nvSpPr>
        <p:spPr bwMode="auto">
          <a:xfrm>
            <a:off x="3829050" y="2647949"/>
            <a:ext cx="1295400" cy="781050"/>
          </a:xfrm>
          <a:prstGeom prst="roundRect">
            <a:avLst>
              <a:gd name="adj" fmla="val 8537"/>
            </a:avLst>
          </a:prstGeom>
          <a:solidFill>
            <a:srgbClr val="FFFFFF"/>
          </a:solidFill>
          <a:ln w="14288">
            <a:solidFill>
              <a:srgbClr val="52606D"/>
            </a:solidFill>
            <a:prstDash val="solid"/>
          </a:ln>
        </p:spPr>
      </p:sp>
      <p:sp>
        <p:nvSpPr>
          <p:cNvPr id="126808591" name=""/>
          <p:cNvSpPr>
            <a:spLocks noGrp="1"/>
          </p:cNvSpPr>
          <p:nvPr/>
        </p:nvSpPr>
        <p:spPr bwMode="auto">
          <a:xfrm>
            <a:off x="39052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150" b="1" i="0">
                <a:solidFill>
                  <a:srgbClr val="102A43"/>
                </a:solidFill>
              </a:defRPr>
            </a:pPr>
            <a:r>
              <a:rPr sz="1150" b="1" i="0">
                <a:solidFill>
                  <a:srgbClr val="102A43"/>
                </a:solidFill>
              </a:rPr>
              <a:t>Checked-state</a:t>
            </a:r>
            <a:endParaRPr/>
          </a:p>
          <a:p>
            <a:pPr algn="ctr">
              <a:lnSpc>
                <a:spcPct val="105000"/>
              </a:lnSpc>
              <a:buNone/>
              <a:defRPr sz="1150" b="1" i="0">
                <a:solidFill>
                  <a:srgbClr val="102A43"/>
                </a:solidFill>
              </a:defRPr>
            </a:pPr>
            <a:r>
              <a:rPr sz="1150" b="1" i="0">
                <a:solidFill>
                  <a:srgbClr val="102A43"/>
                </a:solidFill>
              </a:rPr>
              <a:t>audit</a:t>
            </a:r>
            <a:endParaRPr/>
          </a:p>
        </p:txBody>
      </p:sp>
      <p:sp>
        <p:nvSpPr>
          <p:cNvPr id="1976733348" name=""/>
          <p:cNvSpPr>
            <a:spLocks noGrp="1"/>
          </p:cNvSpPr>
          <p:nvPr/>
        </p:nvSpPr>
        <p:spPr bwMode="auto">
          <a:xfrm>
            <a:off x="5391150" y="2647949"/>
            <a:ext cx="1295400" cy="781050"/>
          </a:xfrm>
          <a:prstGeom prst="roundRect">
            <a:avLst>
              <a:gd name="adj" fmla="val 8537"/>
            </a:avLst>
          </a:prstGeom>
          <a:solidFill>
            <a:srgbClr val="FFFFFF"/>
          </a:solidFill>
          <a:ln w="14288">
            <a:solidFill>
              <a:srgbClr val="52606D"/>
            </a:solidFill>
            <a:prstDash val="solid"/>
          </a:ln>
        </p:spPr>
      </p:sp>
      <p:sp>
        <p:nvSpPr>
          <p:cNvPr id="2026757602" name=""/>
          <p:cNvSpPr>
            <a:spLocks noGrp="1"/>
          </p:cNvSpPr>
          <p:nvPr/>
        </p:nvSpPr>
        <p:spPr bwMode="auto">
          <a:xfrm>
            <a:off x="54673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Warm-up</a:t>
            </a:r>
            <a:endParaRPr/>
          </a:p>
        </p:txBody>
      </p:sp>
      <p:sp>
        <p:nvSpPr>
          <p:cNvPr id="606536477" name=""/>
          <p:cNvSpPr>
            <a:spLocks noGrp="1"/>
          </p:cNvSpPr>
          <p:nvPr/>
        </p:nvSpPr>
        <p:spPr bwMode="auto">
          <a:xfrm>
            <a:off x="6953250" y="2647949"/>
            <a:ext cx="1295400" cy="781050"/>
          </a:xfrm>
          <a:prstGeom prst="roundRect">
            <a:avLst>
              <a:gd name="adj" fmla="val 8537"/>
            </a:avLst>
          </a:prstGeom>
          <a:solidFill>
            <a:srgbClr val="FCEEEA"/>
          </a:solidFill>
          <a:ln w="19050">
            <a:solidFill>
              <a:srgbClr val="E76F51"/>
            </a:solidFill>
            <a:prstDash val="solid"/>
          </a:ln>
        </p:spPr>
      </p:sp>
      <p:sp>
        <p:nvSpPr>
          <p:cNvPr id="2007997415" name=""/>
          <p:cNvSpPr>
            <a:spLocks noGrp="1"/>
          </p:cNvSpPr>
          <p:nvPr/>
        </p:nvSpPr>
        <p:spPr bwMode="auto">
          <a:xfrm>
            <a:off x="70294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Measure</a:t>
            </a:r>
            <a:endParaRPr/>
          </a:p>
        </p:txBody>
      </p:sp>
      <p:sp>
        <p:nvSpPr>
          <p:cNvPr id="975508433" name=""/>
          <p:cNvSpPr>
            <a:spLocks noGrp="1"/>
          </p:cNvSpPr>
          <p:nvPr/>
        </p:nvSpPr>
        <p:spPr bwMode="auto">
          <a:xfrm>
            <a:off x="8515350" y="2647949"/>
            <a:ext cx="1295400" cy="781050"/>
          </a:xfrm>
          <a:prstGeom prst="roundRect">
            <a:avLst>
              <a:gd name="adj" fmla="val 8537"/>
            </a:avLst>
          </a:prstGeom>
          <a:solidFill>
            <a:srgbClr val="FFFFFF"/>
          </a:solidFill>
          <a:ln w="14288">
            <a:solidFill>
              <a:srgbClr val="52606D"/>
            </a:solidFill>
            <a:prstDash val="solid"/>
          </a:ln>
        </p:spPr>
      </p:sp>
      <p:sp>
        <p:nvSpPr>
          <p:cNvPr id="2077483835" name=""/>
          <p:cNvSpPr>
            <a:spLocks noGrp="1"/>
          </p:cNvSpPr>
          <p:nvPr/>
        </p:nvSpPr>
        <p:spPr bwMode="auto">
          <a:xfrm>
            <a:off x="85915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Aggregate</a:t>
            </a:r>
            <a:endParaRPr/>
          </a:p>
        </p:txBody>
      </p:sp>
      <p:sp>
        <p:nvSpPr>
          <p:cNvPr id="894900818" name=""/>
          <p:cNvSpPr>
            <a:spLocks noGrp="1"/>
          </p:cNvSpPr>
          <p:nvPr/>
        </p:nvSpPr>
        <p:spPr bwMode="auto">
          <a:xfrm>
            <a:off x="10077450" y="2647949"/>
            <a:ext cx="1295400" cy="781050"/>
          </a:xfrm>
          <a:prstGeom prst="roundRect">
            <a:avLst>
              <a:gd name="adj" fmla="val 8537"/>
            </a:avLst>
          </a:prstGeom>
          <a:solidFill>
            <a:srgbClr val="FFFFFF"/>
          </a:solidFill>
          <a:ln w="14288">
            <a:solidFill>
              <a:srgbClr val="52606D"/>
            </a:solidFill>
            <a:prstDash val="solid"/>
          </a:ln>
        </p:spPr>
      </p:sp>
      <p:sp>
        <p:nvSpPr>
          <p:cNvPr id="1394579460" name=""/>
          <p:cNvSpPr>
            <a:spLocks noGrp="1"/>
          </p:cNvSpPr>
          <p:nvPr/>
        </p:nvSpPr>
        <p:spPr bwMode="auto">
          <a:xfrm>
            <a:off x="101536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Validate</a:t>
            </a:r>
            <a:endParaRPr/>
          </a:p>
          <a:p>
            <a:pPr algn="ctr">
              <a:lnSpc>
                <a:spcPct val="105000"/>
              </a:lnSpc>
              <a:buNone/>
              <a:defRPr sz="1350" b="1" i="0">
                <a:solidFill>
                  <a:srgbClr val="102A43"/>
                </a:solidFill>
              </a:defRPr>
            </a:pPr>
            <a:r>
              <a:rPr sz="1350" b="1" i="0">
                <a:solidFill>
                  <a:srgbClr val="102A43"/>
                </a:solidFill>
              </a:rPr>
              <a:t>and archive</a:t>
            </a:r>
            <a:endParaRPr/>
          </a:p>
        </p:txBody>
      </p:sp>
      <p:cxnSp>
        <p:nvCxnSpPr>
          <p:cNvPr id="2075227906" name=""/>
          <p:cNvCxnSpPr>
            <a:stCxn id="1443036322" idx="3"/>
            <a:endCxn id="1450038504" idx="1"/>
          </p:cNvCxnSpPr>
          <p:nvPr/>
        </p:nvCxnSpPr>
        <p:spPr bwMode="auto">
          <a:xfrm>
            <a:off x="2000250" y="3038475"/>
            <a:ext cx="266700" cy="0"/>
          </a:xfrm>
          <a:prstGeom prst="straightConnector1">
            <a:avLst/>
          </a:prstGeom>
          <a:ln w="15240">
            <a:solidFill>
              <a:srgbClr val="52606D"/>
            </a:solidFill>
            <a:prstDash val="solid"/>
            <a:tailEnd type="arrow" w="sm" len="sm"/>
          </a:ln>
        </p:spPr>
      </p:cxnSp>
      <p:cxnSp>
        <p:nvCxnSpPr>
          <p:cNvPr id="1916633498" name=""/>
          <p:cNvCxnSpPr>
            <a:stCxn id="1450038504" idx="3"/>
            <a:endCxn id="595680969" idx="1"/>
          </p:cNvCxnSpPr>
          <p:nvPr/>
        </p:nvCxnSpPr>
        <p:spPr bwMode="auto">
          <a:xfrm>
            <a:off x="3562350" y="3038475"/>
            <a:ext cx="266700" cy="0"/>
          </a:xfrm>
          <a:prstGeom prst="straightConnector1">
            <a:avLst/>
          </a:prstGeom>
          <a:ln w="15240">
            <a:solidFill>
              <a:srgbClr val="52606D"/>
            </a:solidFill>
            <a:prstDash val="solid"/>
            <a:tailEnd type="arrow" w="sm" len="sm"/>
          </a:ln>
        </p:spPr>
      </p:cxnSp>
      <p:cxnSp>
        <p:nvCxnSpPr>
          <p:cNvPr id="997123728" name=""/>
          <p:cNvCxnSpPr>
            <a:stCxn id="595680969" idx="3"/>
            <a:endCxn id="1976733348" idx="1"/>
          </p:cNvCxnSpPr>
          <p:nvPr/>
        </p:nvCxnSpPr>
        <p:spPr bwMode="auto">
          <a:xfrm>
            <a:off x="5124450" y="3038475"/>
            <a:ext cx="266700" cy="0"/>
          </a:xfrm>
          <a:prstGeom prst="straightConnector1">
            <a:avLst/>
          </a:prstGeom>
          <a:ln w="15240">
            <a:solidFill>
              <a:srgbClr val="52606D"/>
            </a:solidFill>
            <a:prstDash val="solid"/>
            <a:tailEnd type="arrow" w="sm" len="sm"/>
          </a:ln>
        </p:spPr>
      </p:cxnSp>
      <p:cxnSp>
        <p:nvCxnSpPr>
          <p:cNvPr id="281022711" name=""/>
          <p:cNvCxnSpPr>
            <a:stCxn id="1976733348" idx="3"/>
            <a:endCxn id="606536477" idx="1"/>
          </p:cNvCxnSpPr>
          <p:nvPr/>
        </p:nvCxnSpPr>
        <p:spPr bwMode="auto">
          <a:xfrm>
            <a:off x="6686550" y="3038475"/>
            <a:ext cx="266700" cy="0"/>
          </a:xfrm>
          <a:prstGeom prst="straightConnector1">
            <a:avLst/>
          </a:prstGeom>
          <a:ln w="15240">
            <a:solidFill>
              <a:srgbClr val="52606D"/>
            </a:solidFill>
            <a:prstDash val="solid"/>
            <a:tailEnd type="arrow" w="sm" len="sm"/>
          </a:ln>
        </p:spPr>
      </p:cxnSp>
      <p:cxnSp>
        <p:nvCxnSpPr>
          <p:cNvPr id="1830069525" name=""/>
          <p:cNvCxnSpPr>
            <a:stCxn id="606536477" idx="3"/>
            <a:endCxn id="975508433" idx="1"/>
          </p:cNvCxnSpPr>
          <p:nvPr/>
        </p:nvCxnSpPr>
        <p:spPr bwMode="auto">
          <a:xfrm>
            <a:off x="8248650" y="3038475"/>
            <a:ext cx="266700" cy="0"/>
          </a:xfrm>
          <a:prstGeom prst="straightConnector1">
            <a:avLst/>
          </a:prstGeom>
          <a:ln w="15240">
            <a:solidFill>
              <a:srgbClr val="52606D"/>
            </a:solidFill>
            <a:prstDash val="solid"/>
            <a:tailEnd type="arrow" w="sm" len="sm"/>
          </a:ln>
        </p:spPr>
      </p:cxnSp>
      <p:cxnSp>
        <p:nvCxnSpPr>
          <p:cNvPr id="130284769" name=""/>
          <p:cNvCxnSpPr>
            <a:stCxn id="975508433" idx="3"/>
            <a:endCxn id="894900818" idx="1"/>
          </p:cNvCxnSpPr>
          <p:nvPr/>
        </p:nvCxnSpPr>
        <p:spPr bwMode="auto">
          <a:xfrm>
            <a:off x="9810750" y="3038475"/>
            <a:ext cx="266700" cy="0"/>
          </a:xfrm>
          <a:prstGeom prst="straightConnector1">
            <a:avLst/>
          </a:prstGeom>
          <a:ln w="15240">
            <a:solidFill>
              <a:srgbClr val="52606D"/>
            </a:solidFill>
            <a:prstDash val="solid"/>
            <a:tailEnd type="arrow" w="sm" len="sm"/>
          </a:ln>
        </p:spPr>
      </p:cxnSp>
      <p:sp>
        <p:nvSpPr>
          <p:cNvPr id="1088998789" name=""/>
          <p:cNvSpPr>
            <a:spLocks noGrp="1"/>
          </p:cNvSpPr>
          <p:nvPr/>
        </p:nvSpPr>
        <p:spPr bwMode="auto">
          <a:xfrm>
            <a:off x="723900" y="3905250"/>
            <a:ext cx="3219449" cy="990600"/>
          </a:xfrm>
          <a:prstGeom prst="roundRect">
            <a:avLst>
              <a:gd name="adj" fmla="val 7692"/>
            </a:avLst>
          </a:prstGeom>
          <a:solidFill>
            <a:srgbClr val="E8F5F3"/>
          </a:solidFill>
          <a:ln w="14288">
            <a:solidFill>
              <a:srgbClr val="2A9D8F"/>
            </a:solidFill>
            <a:prstDash val="solid"/>
          </a:ln>
        </p:spPr>
      </p:sp>
      <p:sp>
        <p:nvSpPr>
          <p:cNvPr id="1488424037" name=""/>
          <p:cNvSpPr>
            <a:spLocks noGrp="1"/>
          </p:cNvSpPr>
          <p:nvPr/>
        </p:nvSpPr>
        <p:spPr bwMode="auto">
          <a:xfrm>
            <a:off x="876299"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Certification outside paper timing</a:t>
            </a:r>
            <a:endParaRPr/>
          </a:p>
        </p:txBody>
      </p:sp>
      <p:sp>
        <p:nvSpPr>
          <p:cNvPr id="1649278844" name=""/>
          <p:cNvSpPr>
            <a:spLocks noGrp="1"/>
          </p:cNvSpPr>
          <p:nvPr/>
        </p:nvSpPr>
        <p:spPr bwMode="auto">
          <a:xfrm>
            <a:off x="8953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valid-input precondition</a:t>
            </a:r>
            <a:endParaRPr/>
          </a:p>
        </p:txBody>
      </p:sp>
      <p:sp>
        <p:nvSpPr>
          <p:cNvPr id="1017096975" name=""/>
          <p:cNvSpPr>
            <a:spLocks noGrp="1"/>
          </p:cNvSpPr>
          <p:nvPr/>
        </p:nvSpPr>
        <p:spPr bwMode="auto">
          <a:xfrm>
            <a:off x="4248150" y="3905250"/>
            <a:ext cx="3219449" cy="990600"/>
          </a:xfrm>
          <a:prstGeom prst="roundRect">
            <a:avLst>
              <a:gd name="adj" fmla="val 7692"/>
            </a:avLst>
          </a:prstGeom>
          <a:solidFill>
            <a:srgbClr val="E8F5F3"/>
          </a:solidFill>
          <a:ln w="14288">
            <a:solidFill>
              <a:srgbClr val="2A9D8F"/>
            </a:solidFill>
            <a:prstDash val="solid"/>
          </a:ln>
        </p:spPr>
      </p:sp>
      <p:sp>
        <p:nvSpPr>
          <p:cNvPr id="852371675" name=""/>
          <p:cNvSpPr>
            <a:spLocks noGrp="1"/>
          </p:cNvSpPr>
          <p:nvPr/>
        </p:nvSpPr>
        <p:spPr bwMode="auto">
          <a:xfrm>
            <a:off x="4400550" y="4038600"/>
            <a:ext cx="2914650" cy="400050"/>
          </a:xfrm>
          <a:prstGeom prst="rect">
            <a:avLst/>
          </a:prstGeom>
          <a:noFill/>
          <a:ln w="0">
            <a:noFill/>
            <a:prstDash val="solid"/>
          </a:ln>
        </p:spPr>
        <p:txBody>
          <a:bodyPr wrap="square" lIns="38100" tIns="19050" rIns="38100" bIns="19050" anchor="ctr">
            <a:normAutofit fontScale="83774"/>
          </a:bodyPr>
          <a:lstStyle/>
          <a:p>
            <a:pPr algn="ctr">
              <a:lnSpc>
                <a:spcPct val="105000"/>
              </a:lnSpc>
              <a:buNone/>
              <a:defRPr sz="1350" b="1" i="0">
                <a:solidFill>
                  <a:srgbClr val="2A9D8F"/>
                </a:solidFill>
              </a:defRPr>
            </a:pPr>
            <a:r>
              <a:rPr sz="1350" b="1" i="0">
                <a:solidFill>
                  <a:srgbClr val="2A9D8F"/>
                </a:solidFill>
              </a:rPr>
              <a:t>Checked-state audit outside paper timing</a:t>
            </a:r>
            <a:endParaRPr/>
          </a:p>
        </p:txBody>
      </p:sp>
      <p:sp>
        <p:nvSpPr>
          <p:cNvPr id="787372721" name=""/>
          <p:cNvSpPr>
            <a:spLocks noGrp="1"/>
          </p:cNvSpPr>
          <p:nvPr/>
        </p:nvSpPr>
        <p:spPr bwMode="auto">
          <a:xfrm>
            <a:off x="441960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one audit per exact case</a:t>
            </a:r>
            <a:endParaRPr/>
          </a:p>
        </p:txBody>
      </p:sp>
      <p:sp>
        <p:nvSpPr>
          <p:cNvPr id="309979979" name=""/>
          <p:cNvSpPr>
            <a:spLocks noGrp="1"/>
          </p:cNvSpPr>
          <p:nvPr/>
        </p:nvSpPr>
        <p:spPr bwMode="auto">
          <a:xfrm>
            <a:off x="7772400" y="3905250"/>
            <a:ext cx="3219449" cy="990600"/>
          </a:xfrm>
          <a:prstGeom prst="roundRect">
            <a:avLst>
              <a:gd name="adj" fmla="val 7692"/>
            </a:avLst>
          </a:prstGeom>
          <a:solidFill>
            <a:srgbClr val="FCEEEA"/>
          </a:solidFill>
          <a:ln w="14288">
            <a:solidFill>
              <a:srgbClr val="E76F51"/>
            </a:solidFill>
            <a:prstDash val="solid"/>
          </a:ln>
        </p:spPr>
      </p:sp>
      <p:sp>
        <p:nvSpPr>
          <p:cNvPr id="1115169382" name=""/>
          <p:cNvSpPr>
            <a:spLocks noGrp="1"/>
          </p:cNvSpPr>
          <p:nvPr/>
        </p:nvSpPr>
        <p:spPr bwMode="auto">
          <a:xfrm>
            <a:off x="7924800"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Minimal paper call inside timing</a:t>
            </a:r>
            <a:endParaRPr/>
          </a:p>
        </p:txBody>
      </p:sp>
      <p:sp>
        <p:nvSpPr>
          <p:cNvPr id="586285721" name=""/>
          <p:cNvSpPr>
            <a:spLocks noGrp="1"/>
          </p:cNvSpPr>
          <p:nvPr/>
        </p:nvSpPr>
        <p:spPr bwMode="auto">
          <a:xfrm>
            <a:off x="79438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output recovery remains timed</a:t>
            </a:r>
            <a:endParaRPr/>
          </a:p>
        </p:txBody>
      </p:sp>
      <p:sp>
        <p:nvSpPr>
          <p:cNvPr id="888886077" name=""/>
          <p:cNvSpPr>
            <a:spLocks noGrp="1"/>
          </p:cNvSpPr>
          <p:nvPr/>
        </p:nvSpPr>
        <p:spPr bwMode="auto">
          <a:xfrm>
            <a:off x="1143000" y="5124450"/>
            <a:ext cx="9906000" cy="3048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endParaRPr/>
          </a:p>
        </p:txBody>
      </p:sp>
      <p:sp>
        <p:nvSpPr>
          <p:cNvPr id="2074932035" name=""/>
          <p:cNvSpPr>
            <a:spLocks noGrp="1"/>
          </p:cNvSpPr>
          <p:nvPr/>
        </p:nvSpPr>
        <p:spPr bwMode="auto">
          <a:xfrm>
            <a:off x="2019300" y="5581649"/>
            <a:ext cx="8153399" cy="495300"/>
          </a:xfrm>
          <a:prstGeom prst="roundRect">
            <a:avLst>
              <a:gd name="adj" fmla="val 11538"/>
            </a:avLst>
          </a:prstGeom>
          <a:solidFill>
            <a:srgbClr val="FCEEEA"/>
          </a:solidFill>
          <a:ln w="14288">
            <a:solidFill>
              <a:srgbClr val="E76F51"/>
            </a:solidFill>
            <a:prstDash val="solid"/>
          </a:ln>
        </p:spPr>
      </p:sp>
      <p:sp>
        <p:nvSpPr>
          <p:cNvPr id="607098985" name=""/>
          <p:cNvSpPr>
            <a:spLocks noGrp="1"/>
          </p:cNvSpPr>
          <p:nvPr/>
        </p:nvSpPr>
        <p:spPr bwMode="auto">
          <a:xfrm>
            <a:off x="2190750" y="5638800"/>
            <a:ext cx="7810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Paper and reference use different timing scopes, so this ratio is not an end-to-end speedup.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12849972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492494807"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All 60 evaluated cases returned the correct output</a:t>
            </a:r>
            <a:endParaRPr/>
          </a:p>
        </p:txBody>
      </p:sp>
      <p:sp>
        <p:nvSpPr>
          <p:cNvPr id="126938193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16243169" name=""/>
          <p:cNvSpPr>
            <a:spLocks noGrp="1"/>
          </p:cNvSpPr>
          <p:nvPr/>
        </p:nvSpPr>
        <p:spPr bwMode="auto">
          <a:xfrm>
            <a:off x="609600" y="6477000"/>
            <a:ext cx="10972800" cy="9525"/>
          </a:xfrm>
          <a:prstGeom prst="line">
            <a:avLst/>
          </a:prstGeom>
          <a:noFill/>
          <a:ln w="9525">
            <a:solidFill>
              <a:srgbClr val="D9E2EC"/>
            </a:solidFill>
            <a:prstDash val="solid"/>
          </a:ln>
        </p:spPr>
      </p:sp>
      <p:sp>
        <p:nvSpPr>
          <p:cNvPr id="92192173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3673573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13 / 16</a:t>
            </a:r>
            <a:endParaRPr/>
          </a:p>
        </p:txBody>
      </p:sp>
      <p:sp>
        <p:nvSpPr>
          <p:cNvPr id="532011290" name=""/>
          <p:cNvSpPr>
            <a:spLocks noGrp="1"/>
          </p:cNvSpPr>
          <p:nvPr/>
        </p:nvSpPr>
        <p:spPr bwMode="auto">
          <a:xfrm>
            <a:off x="123825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2A9D8F"/>
                </a:solidFill>
              </a:defRPr>
            </a:pPr>
            <a:r>
              <a:rPr sz="5400" b="1" i="0">
                <a:solidFill>
                  <a:srgbClr val="2A9D8F"/>
                </a:solidFill>
              </a:rPr>
              <a:t>60</a:t>
            </a:r>
            <a:endParaRPr/>
          </a:p>
        </p:txBody>
      </p:sp>
      <p:sp>
        <p:nvSpPr>
          <p:cNvPr id="1429424508" name=""/>
          <p:cNvSpPr>
            <a:spLocks noGrp="1"/>
          </p:cNvSpPr>
          <p:nvPr/>
        </p:nvSpPr>
        <p:spPr bwMode="auto">
          <a:xfrm>
            <a:off x="123825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exact cases</a:t>
            </a:r>
            <a:endParaRPr/>
          </a:p>
        </p:txBody>
      </p:sp>
      <p:sp>
        <p:nvSpPr>
          <p:cNvPr id="1467373367" name=""/>
          <p:cNvSpPr>
            <a:spLocks noGrp="1"/>
          </p:cNvSpPr>
          <p:nvPr/>
        </p:nvSpPr>
        <p:spPr bwMode="auto">
          <a:xfrm>
            <a:off x="704850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1F8A70"/>
                </a:solidFill>
              </a:defRPr>
            </a:pPr>
            <a:r>
              <a:rPr sz="5400" b="1" i="0">
                <a:solidFill>
                  <a:srgbClr val="1F8A70"/>
                </a:solidFill>
              </a:rPr>
              <a:t>0</a:t>
            </a:r>
            <a:endParaRPr/>
          </a:p>
        </p:txBody>
      </p:sp>
      <p:sp>
        <p:nvSpPr>
          <p:cNvPr id="1410696115" name=""/>
          <p:cNvSpPr>
            <a:spLocks noGrp="1"/>
          </p:cNvSpPr>
          <p:nvPr/>
        </p:nvSpPr>
        <p:spPr bwMode="auto">
          <a:xfrm>
            <a:off x="704850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recorded correctness errors</a:t>
            </a:r>
            <a:endParaRPr/>
          </a:p>
        </p:txBody>
      </p:sp>
      <p:sp>
        <p:nvSpPr>
          <p:cNvPr id="979484065" name=""/>
          <p:cNvSpPr>
            <a:spLocks noGrp="1"/>
          </p:cNvSpPr>
          <p:nvPr/>
        </p:nvSpPr>
        <p:spPr bwMode="auto">
          <a:xfrm>
            <a:off x="723900" y="3371850"/>
            <a:ext cx="10744200" cy="9525"/>
          </a:xfrm>
          <a:prstGeom prst="line">
            <a:avLst/>
          </a:prstGeom>
          <a:noFill/>
          <a:ln w="19050">
            <a:solidFill>
              <a:srgbClr val="D9E2EC"/>
            </a:solidFill>
            <a:prstDash val="solid"/>
          </a:ln>
        </p:spPr>
      </p:sp>
      <p:sp>
        <p:nvSpPr>
          <p:cNvPr id="472282748" name=""/>
          <p:cNvSpPr>
            <a:spLocks noGrp="1"/>
          </p:cNvSpPr>
          <p:nvPr/>
        </p:nvSpPr>
        <p:spPr bwMode="auto">
          <a:xfrm>
            <a:off x="1524000" y="3638550"/>
            <a:ext cx="91440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200" b="1" i="0">
                <a:solidFill>
                  <a:srgbClr val="102A43"/>
                </a:solidFill>
              </a:defRPr>
            </a:pPr>
            <a:r>
              <a:rPr sz="2200" b="1" i="0">
                <a:solidFill>
                  <a:srgbClr val="102A43"/>
                </a:solidFill>
              </a:rPr>
              <a:t>Each case was oracle-certified and checked once before timing.</a:t>
            </a:r>
            <a:endParaRPr/>
          </a:p>
        </p:txBody>
      </p:sp>
      <p:sp>
        <p:nvSpPr>
          <p:cNvPr id="1919228034" name=""/>
          <p:cNvSpPr>
            <a:spLocks noGrp="1"/>
          </p:cNvSpPr>
          <p:nvPr/>
        </p:nvSpPr>
        <p:spPr bwMode="auto">
          <a:xfrm>
            <a:off x="1581150" y="4514850"/>
            <a:ext cx="9029700" cy="876299"/>
          </a:xfrm>
          <a:prstGeom prst="roundRect">
            <a:avLst>
              <a:gd name="adj" fmla="val 8696"/>
            </a:avLst>
          </a:prstGeom>
          <a:solidFill>
            <a:srgbClr val="EAF1F8"/>
          </a:solidFill>
          <a:ln w="14288">
            <a:solidFill>
              <a:srgbClr val="102A43"/>
            </a:solidFill>
            <a:prstDash val="solid"/>
          </a:ln>
        </p:spPr>
      </p:sp>
      <p:sp>
        <p:nvSpPr>
          <p:cNvPr id="1351524825" name=""/>
          <p:cNvSpPr>
            <a:spLocks noGrp="1"/>
          </p:cNvSpPr>
          <p:nvPr/>
        </p:nvSpPr>
        <p:spPr bwMode="auto">
          <a:xfrm>
            <a:off x="1847850" y="4686300"/>
            <a:ext cx="84963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0" i="0">
                <a:solidFill>
                  <a:srgbClr val="243B53"/>
                </a:solidFill>
              </a:defRPr>
            </a:pPr>
            <a:r>
              <a:rPr sz="1650" b="0" i="0">
                <a:solidFill>
                  <a:srgbClr val="243B53"/>
                </a:solidFill>
              </a:rPr>
              <a:t>The 3,600 timing rows carry the corresponding case-level audit result.</a:t>
            </a:r>
            <a:endParaRPr/>
          </a:p>
        </p:txBody>
      </p:sp>
      <p:sp>
        <p:nvSpPr>
          <p:cNvPr id="1467731315" name=""/>
          <p:cNvSpPr>
            <a:spLocks noGrp="1"/>
          </p:cNvSpPr>
          <p:nvPr/>
        </p:nvSpPr>
        <p:spPr bwMode="auto">
          <a:xfrm>
            <a:off x="1485900" y="5772150"/>
            <a:ext cx="9220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These results cover the tested valid cases only.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562066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157165459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paper/reference ratio decreases across the five tested sizes</a:t>
            </a:r>
            <a:endParaRPr/>
          </a:p>
        </p:txBody>
      </p:sp>
      <p:sp>
        <p:nvSpPr>
          <p:cNvPr id="291275196" name=""/>
          <p:cNvSpPr>
            <a:spLocks noGrp="1"/>
          </p:cNvSpPr>
          <p:nvPr/>
        </p:nvSpPr>
        <p:spPr bwMode="auto">
          <a:xfrm>
            <a:off x="609600" y="1085850"/>
            <a:ext cx="10972800" cy="9525"/>
          </a:xfrm>
          <a:prstGeom prst="line">
            <a:avLst/>
          </a:prstGeom>
          <a:noFill/>
          <a:ln w="28575">
            <a:solidFill>
              <a:srgbClr val="2A9D8F"/>
            </a:solidFill>
            <a:prstDash val="solid"/>
          </a:ln>
        </p:spPr>
      </p:sp>
      <p:sp>
        <p:nvSpPr>
          <p:cNvPr id="927358903" name=""/>
          <p:cNvSpPr>
            <a:spLocks noGrp="1"/>
          </p:cNvSpPr>
          <p:nvPr/>
        </p:nvSpPr>
        <p:spPr bwMode="auto">
          <a:xfrm>
            <a:off x="609600" y="6477000"/>
            <a:ext cx="10972800" cy="9525"/>
          </a:xfrm>
          <a:prstGeom prst="line">
            <a:avLst/>
          </a:prstGeom>
          <a:noFill/>
          <a:ln w="9525">
            <a:solidFill>
              <a:srgbClr val="D9E2EC"/>
            </a:solidFill>
            <a:prstDash val="solid"/>
          </a:ln>
        </p:spPr>
      </p:sp>
      <p:sp>
        <p:nvSpPr>
          <p:cNvPr id="95140821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12757335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14 / 16</a:t>
            </a:r>
            <a:endParaRPr/>
          </a:p>
        </p:txBody>
      </p:sp>
      <p:graphicFrame>
        <p:nvGraphicFramePr>
          <p:cNvPr id="610288532" name="Chart"/>
          <p:cNvGraphicFramePr>
            <a:graphicFrameLocks xmlns:a="http://schemas.openxmlformats.org/drawingml/2006/main"/>
          </p:cNvGraphicFramePr>
          <p:nvPr/>
        </p:nvGraphicFramePr>
        <p:xfrm rot="0">
          <a:off x="647700" y="1409700"/>
          <a:ext cx="6858000" cy="4095750"/>
        </p:xfrm>
        <a:graphic>
          <a:graphicData uri="http://schemas.openxmlformats.org/drawingml/2006/chart">
            <c:chart xmlns:c="http://schemas.openxmlformats.org/drawingml/2006/chart" xmlns:r="http://schemas.openxmlformats.org/officeDocument/2006/relationships" r:id="rId3"/>
          </a:graphicData>
        </a:graphic>
      </p:graphicFrame>
      <p:sp>
        <p:nvSpPr>
          <p:cNvPr id="404634331" name=""/>
          <p:cNvSpPr>
            <a:spLocks noGrp="1"/>
          </p:cNvSpPr>
          <p:nvPr/>
        </p:nvSpPr>
        <p:spPr bwMode="auto">
          <a:xfrm>
            <a:off x="7905750" y="1524000"/>
            <a:ext cx="3333750" cy="990600"/>
          </a:xfrm>
          <a:prstGeom prst="roundRect">
            <a:avLst>
              <a:gd name="adj" fmla="val 7692"/>
            </a:avLst>
          </a:prstGeom>
          <a:solidFill>
            <a:srgbClr val="E8F5F3"/>
          </a:solidFill>
          <a:ln w="11430">
            <a:solidFill>
              <a:srgbClr val="2A9D8F"/>
            </a:solidFill>
            <a:prstDash val="solid"/>
          </a:ln>
        </p:spPr>
      </p:sp>
      <p:sp>
        <p:nvSpPr>
          <p:cNvPr id="406934816" name=""/>
          <p:cNvSpPr>
            <a:spLocks noGrp="1"/>
          </p:cNvSpPr>
          <p:nvPr/>
        </p:nvSpPr>
        <p:spPr bwMode="auto">
          <a:xfrm>
            <a:off x="8096250" y="163830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2A9D8F"/>
                </a:solidFill>
              </a:defRPr>
            </a:pPr>
            <a:r>
              <a:rPr sz="2850" b="1" i="0">
                <a:solidFill>
                  <a:srgbClr val="2A9D8F"/>
                </a:solidFill>
              </a:rPr>
              <a:t>3.226</a:t>
            </a:r>
            <a:endParaRPr/>
          </a:p>
        </p:txBody>
      </p:sp>
      <p:sp>
        <p:nvSpPr>
          <p:cNvPr id="1317815146" name=""/>
          <p:cNvSpPr>
            <a:spLocks noGrp="1"/>
          </p:cNvSpPr>
          <p:nvPr/>
        </p:nvSpPr>
        <p:spPr bwMode="auto">
          <a:xfrm>
            <a:off x="9334500" y="1752599"/>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32</a:t>
            </a:r>
            <a:endParaRPr/>
          </a:p>
        </p:txBody>
      </p:sp>
      <p:sp>
        <p:nvSpPr>
          <p:cNvPr id="1319102044" name=""/>
          <p:cNvSpPr>
            <a:spLocks noGrp="1"/>
          </p:cNvSpPr>
          <p:nvPr/>
        </p:nvSpPr>
        <p:spPr bwMode="auto">
          <a:xfrm>
            <a:off x="7905750" y="2686050"/>
            <a:ext cx="3333750" cy="990600"/>
          </a:xfrm>
          <a:prstGeom prst="roundRect">
            <a:avLst>
              <a:gd name="adj" fmla="val 7692"/>
            </a:avLst>
          </a:prstGeom>
          <a:solidFill>
            <a:srgbClr val="FCEEEA"/>
          </a:solidFill>
          <a:ln w="11430">
            <a:solidFill>
              <a:srgbClr val="E76F51"/>
            </a:solidFill>
            <a:prstDash val="solid"/>
          </a:ln>
        </p:spPr>
      </p:sp>
      <p:sp>
        <p:nvSpPr>
          <p:cNvPr id="590915688" name=""/>
          <p:cNvSpPr>
            <a:spLocks noGrp="1"/>
          </p:cNvSpPr>
          <p:nvPr/>
        </p:nvSpPr>
        <p:spPr bwMode="auto">
          <a:xfrm>
            <a:off x="8096250" y="2800350"/>
            <a:ext cx="1200150" cy="5143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850" b="1" i="0">
                <a:solidFill>
                  <a:srgbClr val="E76F51"/>
                </a:solidFill>
              </a:defRPr>
            </a:pPr>
            <a:r>
              <a:rPr sz="2850" b="1" i="0">
                <a:solidFill>
                  <a:srgbClr val="E76F51"/>
                </a:solidFill>
              </a:rPr>
              <a:t>0.567</a:t>
            </a:r>
            <a:endParaRPr/>
          </a:p>
        </p:txBody>
      </p:sp>
      <p:sp>
        <p:nvSpPr>
          <p:cNvPr id="1663801646" name=""/>
          <p:cNvSpPr>
            <a:spLocks noGrp="1"/>
          </p:cNvSpPr>
          <p:nvPr/>
        </p:nvSpPr>
        <p:spPr bwMode="auto">
          <a:xfrm>
            <a:off x="9334500" y="2914650"/>
            <a:ext cx="1676400" cy="3238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500" b="0" i="0">
                <a:solidFill>
                  <a:srgbClr val="243B53"/>
                </a:solidFill>
              </a:defRPr>
            </a:pPr>
            <a:r>
              <a:rPr sz="1500" b="0" i="0">
                <a:solidFill>
                  <a:srgbClr val="243B53"/>
                </a:solidFill>
              </a:rPr>
              <a:t>at n = 512</a:t>
            </a:r>
            <a:endParaRPr/>
          </a:p>
        </p:txBody>
      </p:sp>
      <p:sp>
        <p:nvSpPr>
          <p:cNvPr id="765286821" name=""/>
          <p:cNvSpPr>
            <a:spLocks noGrp="1"/>
          </p:cNvSpPr>
          <p:nvPr/>
        </p:nvSpPr>
        <p:spPr bwMode="auto">
          <a:xfrm>
            <a:off x="7905750" y="3981450"/>
            <a:ext cx="3333750" cy="1066800"/>
          </a:xfrm>
          <a:prstGeom prst="roundRect">
            <a:avLst>
              <a:gd name="adj" fmla="val 7143"/>
            </a:avLst>
          </a:prstGeom>
          <a:solidFill>
            <a:srgbClr val="FFFFFF"/>
          </a:solidFill>
          <a:ln w="14288">
            <a:solidFill>
              <a:srgbClr val="102A43"/>
            </a:solidFill>
            <a:prstDash val="solid"/>
          </a:ln>
        </p:spPr>
      </p:sp>
      <p:sp>
        <p:nvSpPr>
          <p:cNvPr id="86195891" name=""/>
          <p:cNvSpPr>
            <a:spLocks noGrp="1"/>
          </p:cNvSpPr>
          <p:nvPr/>
        </p:nvSpPr>
        <p:spPr bwMode="auto">
          <a:xfrm>
            <a:off x="8096250" y="4114800"/>
            <a:ext cx="2952750" cy="323850"/>
          </a:xfrm>
          <a:prstGeom prst="rect">
            <a:avLst/>
          </a:prstGeom>
          <a:noFill/>
          <a:ln w="0">
            <a:noFill/>
            <a:prstDash val="solid"/>
          </a:ln>
        </p:spPr>
        <p:txBody>
          <a:bodyPr wrap="square" lIns="38100" tIns="19050" rIns="38100" bIns="19050" anchor="t">
            <a:normAutofit fontScale="99206"/>
          </a:bodyPr>
          <a:lstStyle/>
          <a:p>
            <a:pPr algn="ctr">
              <a:lnSpc>
                <a:spcPct val="105000"/>
              </a:lnSpc>
              <a:buNone/>
              <a:defRPr sz="1800" b="1" i="0">
                <a:solidFill>
                  <a:srgbClr val="102A43"/>
                </a:solidFill>
              </a:defRPr>
            </a:pPr>
            <a:r>
              <a:rPr sz="1800" b="1" i="0">
                <a:solidFill>
                  <a:srgbClr val="102A43"/>
                </a:solidFill>
              </a:rPr>
              <a:t>Observed crossover</a:t>
            </a:r>
            <a:endParaRPr/>
          </a:p>
        </p:txBody>
      </p:sp>
      <p:sp>
        <p:nvSpPr>
          <p:cNvPr id="2071140792" name=""/>
          <p:cNvSpPr>
            <a:spLocks noGrp="1"/>
          </p:cNvSpPr>
          <p:nvPr/>
        </p:nvSpPr>
        <p:spPr bwMode="auto">
          <a:xfrm>
            <a:off x="8115300" y="4533900"/>
            <a:ext cx="29146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between tested sizes 128 and 256</a:t>
            </a:r>
            <a:endParaRPr/>
          </a:p>
        </p:txBody>
      </p:sp>
      <p:sp>
        <p:nvSpPr>
          <p:cNvPr id="2138818080" name=""/>
          <p:cNvSpPr>
            <a:spLocks noGrp="1"/>
          </p:cNvSpPr>
          <p:nvPr/>
        </p:nvSpPr>
        <p:spPr bwMode="auto">
          <a:xfrm>
            <a:off x="7810500" y="5391150"/>
            <a:ext cx="3543300" cy="647700"/>
          </a:xfrm>
          <a:prstGeom prst="roundRect">
            <a:avLst>
              <a:gd name="adj" fmla="val 8824"/>
            </a:avLst>
          </a:prstGeom>
          <a:solidFill>
            <a:srgbClr val="102A43"/>
          </a:solidFill>
          <a:ln w="11430">
            <a:solidFill>
              <a:srgbClr val="102A43"/>
            </a:solidFill>
            <a:prstDash val="solid"/>
          </a:ln>
        </p:spPr>
      </p:sp>
      <p:sp>
        <p:nvSpPr>
          <p:cNvPr id="1541931438" name=""/>
          <p:cNvSpPr>
            <a:spLocks noGrp="1"/>
          </p:cNvSpPr>
          <p:nvPr/>
        </p:nvSpPr>
        <p:spPr bwMode="auto">
          <a:xfrm>
            <a:off x="7981950" y="5486400"/>
            <a:ext cx="320040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FFFFFF"/>
                </a:solidFill>
              </a:defRPr>
            </a:pPr>
            <a:r>
              <a:rPr sz="1300" b="1" i="0">
                <a:solidFill>
                  <a:srgbClr val="FFFFFF"/>
                </a:solidFill>
              </a:rPr>
              <a:t>five sizes  |  ordinary lists  |  different timed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26888274"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INTERPRETATION</a:t>
            </a:r>
            <a:endParaRPr/>
          </a:p>
        </p:txBody>
      </p:sp>
      <p:sp>
        <p:nvSpPr>
          <p:cNvPr id="167167916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What the current evidence shows</a:t>
            </a:r>
            <a:endParaRPr/>
          </a:p>
        </p:txBody>
      </p:sp>
      <p:sp>
        <p:nvSpPr>
          <p:cNvPr id="761293390" name=""/>
          <p:cNvSpPr>
            <a:spLocks noGrp="1"/>
          </p:cNvSpPr>
          <p:nvPr/>
        </p:nvSpPr>
        <p:spPr bwMode="auto">
          <a:xfrm>
            <a:off x="609600" y="1085850"/>
            <a:ext cx="10972800" cy="9525"/>
          </a:xfrm>
          <a:prstGeom prst="line">
            <a:avLst/>
          </a:prstGeom>
          <a:noFill/>
          <a:ln w="28575">
            <a:solidFill>
              <a:srgbClr val="2A9D8F"/>
            </a:solidFill>
            <a:prstDash val="solid"/>
          </a:ln>
        </p:spPr>
      </p:sp>
      <p:sp>
        <p:nvSpPr>
          <p:cNvPr id="284663014" name=""/>
          <p:cNvSpPr>
            <a:spLocks noGrp="1"/>
          </p:cNvSpPr>
          <p:nvPr/>
        </p:nvSpPr>
        <p:spPr bwMode="auto">
          <a:xfrm>
            <a:off x="609600" y="6477000"/>
            <a:ext cx="10972800" cy="9525"/>
          </a:xfrm>
          <a:prstGeom prst="line">
            <a:avLst/>
          </a:prstGeom>
          <a:noFill/>
          <a:ln w="9525">
            <a:solidFill>
              <a:srgbClr val="D9E2EC"/>
            </a:solidFill>
            <a:prstDash val="solid"/>
          </a:ln>
        </p:spPr>
      </p:sp>
      <p:sp>
        <p:nvSpPr>
          <p:cNvPr id="172117406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0781671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15 / 16</a:t>
            </a:r>
            <a:endParaRPr/>
          </a:p>
        </p:txBody>
      </p:sp>
      <p:sp>
        <p:nvSpPr>
          <p:cNvPr id="1814341867" name=""/>
          <p:cNvSpPr>
            <a:spLocks noGrp="1"/>
          </p:cNvSpPr>
          <p:nvPr/>
        </p:nvSpPr>
        <p:spPr bwMode="auto">
          <a:xfrm>
            <a:off x="742950" y="1447800"/>
            <a:ext cx="5105400" cy="3848100"/>
          </a:xfrm>
          <a:prstGeom prst="roundRect">
            <a:avLst>
              <a:gd name="adj" fmla="val 1980"/>
            </a:avLst>
          </a:prstGeom>
          <a:solidFill>
            <a:srgbClr val="E8F5F3"/>
          </a:solidFill>
          <a:ln w="19050">
            <a:solidFill>
              <a:srgbClr val="2A9D8F"/>
            </a:solidFill>
            <a:prstDash val="solid"/>
          </a:ln>
        </p:spPr>
      </p:sp>
      <p:sp>
        <p:nvSpPr>
          <p:cNvPr id="732492266" name=""/>
          <p:cNvSpPr>
            <a:spLocks noGrp="1"/>
          </p:cNvSpPr>
          <p:nvPr/>
        </p:nvSpPr>
        <p:spPr bwMode="auto">
          <a:xfrm>
            <a:off x="6343650" y="1447800"/>
            <a:ext cx="5105400" cy="3848100"/>
          </a:xfrm>
          <a:prstGeom prst="roundRect">
            <a:avLst>
              <a:gd name="adj" fmla="val 1980"/>
            </a:avLst>
          </a:prstGeom>
          <a:solidFill>
            <a:srgbClr val="FCEEEA"/>
          </a:solidFill>
          <a:ln w="19050">
            <a:solidFill>
              <a:srgbClr val="E76F51"/>
            </a:solidFill>
            <a:prstDash val="solid"/>
          </a:ln>
        </p:spPr>
      </p:sp>
      <p:sp>
        <p:nvSpPr>
          <p:cNvPr id="2015576310" name=""/>
          <p:cNvSpPr>
            <a:spLocks noGrp="1"/>
          </p:cNvSpPr>
          <p:nvPr/>
        </p:nvSpPr>
        <p:spPr bwMode="auto">
          <a:xfrm>
            <a:off x="10096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Current results</a:t>
            </a:r>
            <a:endParaRPr/>
          </a:p>
        </p:txBody>
      </p:sp>
      <p:sp>
        <p:nvSpPr>
          <p:cNvPr id="1436635916" name=""/>
          <p:cNvSpPr>
            <a:spLocks noGrp="1"/>
          </p:cNvSpPr>
          <p:nvPr/>
        </p:nvSpPr>
        <p:spPr bwMode="auto">
          <a:xfrm>
            <a:off x="66103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Main limits</a:t>
            </a:r>
            <a:endParaRPr/>
          </a:p>
        </p:txBody>
      </p:sp>
      <p:sp>
        <p:nvSpPr>
          <p:cNvPr id="868976665" name=""/>
          <p:cNvSpPr>
            <a:spLocks noGrp="1"/>
          </p:cNvSpPr>
          <p:nvPr/>
        </p:nvSpPr>
        <p:spPr bwMode="auto">
          <a:xfrm>
            <a:off x="1066800" y="2647949"/>
            <a:ext cx="95250" cy="95250"/>
          </a:xfrm>
          <a:prstGeom prst="ellipse">
            <a:avLst/>
          </a:prstGeom>
          <a:solidFill>
            <a:srgbClr val="2A9D8F"/>
          </a:solidFill>
          <a:ln w="0">
            <a:solidFill>
              <a:srgbClr val="2A9D8F"/>
            </a:solidFill>
            <a:prstDash val="solid"/>
          </a:ln>
        </p:spPr>
      </p:sp>
      <p:sp>
        <p:nvSpPr>
          <p:cNvPr id="709904493" name=""/>
          <p:cNvSpPr>
            <a:spLocks noGrp="1"/>
          </p:cNvSpPr>
          <p:nvPr/>
        </p:nvSpPr>
        <p:spPr bwMode="auto">
          <a:xfrm>
            <a:off x="12763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Executable reconstruction with output recovered from maintained state</a:t>
            </a:r>
            <a:endParaRPr/>
          </a:p>
        </p:txBody>
      </p:sp>
      <p:sp>
        <p:nvSpPr>
          <p:cNvPr id="2072673634" name=""/>
          <p:cNvSpPr>
            <a:spLocks noGrp="1"/>
          </p:cNvSpPr>
          <p:nvPr/>
        </p:nvSpPr>
        <p:spPr bwMode="auto">
          <a:xfrm>
            <a:off x="1066800" y="3905250"/>
            <a:ext cx="95250" cy="95250"/>
          </a:xfrm>
          <a:prstGeom prst="ellipse">
            <a:avLst/>
          </a:prstGeom>
          <a:solidFill>
            <a:srgbClr val="2A9D8F"/>
          </a:solidFill>
          <a:ln w="0">
            <a:solidFill>
              <a:srgbClr val="2A9D8F"/>
            </a:solidFill>
            <a:prstDash val="solid"/>
          </a:ln>
        </p:spPr>
      </p:sp>
      <p:sp>
        <p:nvSpPr>
          <p:cNvPr id="835344148" name=""/>
          <p:cNvSpPr>
            <a:spLocks noGrp="1"/>
          </p:cNvSpPr>
          <p:nvPr/>
        </p:nvSpPr>
        <p:spPr bwMode="auto">
          <a:xfrm>
            <a:off x="12763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Correct outputs and a recorded runtime trend for the evaluated cases</a:t>
            </a:r>
            <a:endParaRPr/>
          </a:p>
        </p:txBody>
      </p:sp>
      <p:sp>
        <p:nvSpPr>
          <p:cNvPr id="324342287" name=""/>
          <p:cNvSpPr>
            <a:spLocks noGrp="1"/>
          </p:cNvSpPr>
          <p:nvPr/>
        </p:nvSpPr>
        <p:spPr bwMode="auto">
          <a:xfrm>
            <a:off x="6667500" y="2647949"/>
            <a:ext cx="95250" cy="95250"/>
          </a:xfrm>
          <a:prstGeom prst="ellipse">
            <a:avLst/>
          </a:prstGeom>
          <a:solidFill>
            <a:srgbClr val="E76F51"/>
          </a:solidFill>
          <a:ln w="0">
            <a:solidFill>
              <a:srgbClr val="E76F51"/>
            </a:solidFill>
            <a:prstDash val="solid"/>
          </a:ln>
        </p:spPr>
      </p:sp>
      <p:sp>
        <p:nvSpPr>
          <p:cNvPr id="1549859863" name=""/>
          <p:cNvSpPr>
            <a:spLocks noGrp="1"/>
          </p:cNvSpPr>
          <p:nvPr/>
        </p:nvSpPr>
        <p:spPr bwMode="auto">
          <a:xfrm>
            <a:off x="68770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Ordinary lists do not establish a linear-time implementation</a:t>
            </a:r>
            <a:endParaRPr/>
          </a:p>
        </p:txBody>
      </p:sp>
      <p:sp>
        <p:nvSpPr>
          <p:cNvPr id="1099618538" name=""/>
          <p:cNvSpPr>
            <a:spLocks noGrp="1"/>
          </p:cNvSpPr>
          <p:nvPr/>
        </p:nvSpPr>
        <p:spPr bwMode="auto">
          <a:xfrm>
            <a:off x="6667500" y="3905250"/>
            <a:ext cx="95250" cy="95250"/>
          </a:xfrm>
          <a:prstGeom prst="ellipse">
            <a:avLst/>
          </a:prstGeom>
          <a:solidFill>
            <a:srgbClr val="E76F51"/>
          </a:solidFill>
          <a:ln w="0">
            <a:solidFill>
              <a:srgbClr val="E76F51"/>
            </a:solidFill>
            <a:prstDash val="solid"/>
          </a:ln>
        </p:spPr>
      </p:sp>
      <p:sp>
        <p:nvSpPr>
          <p:cNvPr id="821016835" name=""/>
          <p:cNvSpPr>
            <a:spLocks noGrp="1"/>
          </p:cNvSpPr>
          <p:nvPr/>
        </p:nvSpPr>
        <p:spPr bwMode="auto">
          <a:xfrm>
            <a:off x="68770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Five tested sizes do not establish asymptotic complexity</a:t>
            </a:r>
            <a:endParaRPr/>
          </a:p>
        </p:txBody>
      </p:sp>
      <p:sp>
        <p:nvSpPr>
          <p:cNvPr id="838591817" name=""/>
          <p:cNvSpPr>
            <a:spLocks noGrp="1"/>
          </p:cNvSpPr>
          <p:nvPr/>
        </p:nvSpPr>
        <p:spPr bwMode="auto">
          <a:xfrm>
            <a:off x="1428750" y="5715000"/>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7393960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59704469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6873849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953808607" name=""/>
          <p:cNvSpPr>
            <a:spLocks noGrp="1"/>
          </p:cNvSpPr>
          <p:nvPr/>
        </p:nvSpPr>
        <p:spPr bwMode="auto">
          <a:xfrm>
            <a:off x="609600" y="6477000"/>
            <a:ext cx="10972800" cy="9525"/>
          </a:xfrm>
          <a:prstGeom prst="line">
            <a:avLst/>
          </a:prstGeom>
          <a:noFill/>
          <a:ln w="9525">
            <a:solidFill>
              <a:srgbClr val="D9E2EC"/>
            </a:solidFill>
            <a:prstDash val="solid"/>
          </a:ln>
        </p:spPr>
      </p:sp>
      <p:sp>
        <p:nvSpPr>
          <p:cNvPr id="160920126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60989716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707438210"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305429193"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47229412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43488256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1332283866"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984734558"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40839161"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A</a:t>
            </a:r>
            <a:endParaRPr/>
          </a:p>
        </p:txBody>
      </p:sp>
      <p:sp>
        <p:nvSpPr>
          <p:cNvPr id="17166891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Median runtime by size under the recorded call scopes</a:t>
            </a:r>
            <a:endParaRPr/>
          </a:p>
        </p:txBody>
      </p:sp>
      <p:sp>
        <p:nvSpPr>
          <p:cNvPr id="1196367873" name=""/>
          <p:cNvSpPr>
            <a:spLocks noGrp="1"/>
          </p:cNvSpPr>
          <p:nvPr/>
        </p:nvSpPr>
        <p:spPr bwMode="auto">
          <a:xfrm>
            <a:off x="609600" y="1085850"/>
            <a:ext cx="10972800" cy="9525"/>
          </a:xfrm>
          <a:prstGeom prst="line">
            <a:avLst/>
          </a:prstGeom>
          <a:noFill/>
          <a:ln w="28575">
            <a:solidFill>
              <a:srgbClr val="E76F51"/>
            </a:solidFill>
            <a:prstDash val="solid"/>
          </a:ln>
        </p:spPr>
      </p:sp>
      <p:sp>
        <p:nvSpPr>
          <p:cNvPr id="1588418218" name=""/>
          <p:cNvSpPr>
            <a:spLocks noGrp="1"/>
          </p:cNvSpPr>
          <p:nvPr/>
        </p:nvSpPr>
        <p:spPr bwMode="auto">
          <a:xfrm>
            <a:off x="609600" y="6477000"/>
            <a:ext cx="10972800" cy="9525"/>
          </a:xfrm>
          <a:prstGeom prst="line">
            <a:avLst/>
          </a:prstGeom>
          <a:noFill/>
          <a:ln w="9525">
            <a:solidFill>
              <a:srgbClr val="D9E2EC"/>
            </a:solidFill>
            <a:prstDash val="solid"/>
          </a:ln>
        </p:spPr>
      </p:sp>
      <p:sp>
        <p:nvSpPr>
          <p:cNvPr id="20463094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75455952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A</a:t>
            </a:r>
            <a:endParaRPr/>
          </a:p>
        </p:txBody>
      </p:sp>
      <p:pic>
        <p:nvPicPr>
          <p:cNvPr id="1395468891" name=""/>
          <p:cNvPicPr>
            <a:picLocks noChangeAspect="1"/>
          </p:cNvPicPr>
          <p:nvPr/>
        </p:nvPicPr>
        <p:blipFill rotWithShape="1">
          <a:blip r:embed="rId3"/>
          <a:stretch/>
        </p:blipFill>
        <p:spPr bwMode="auto">
          <a:xfrm>
            <a:off x="628650" y="1749972"/>
            <a:ext cx="6858000" cy="3510455"/>
          </a:xfrm>
          <a:prstGeom prst="rect">
            <a:avLst/>
          </a:prstGeom>
        </p:spPr>
      </p:pic>
      <p:sp>
        <p:nvSpPr>
          <p:cNvPr id="1063444366" name=""/>
          <p:cNvSpPr>
            <a:spLocks noGrp="1"/>
          </p:cNvSpPr>
          <p:nvPr/>
        </p:nvSpPr>
        <p:spPr bwMode="auto">
          <a:xfrm>
            <a:off x="628650" y="1562100"/>
            <a:ext cx="6858000" cy="476250"/>
          </a:xfrm>
          <a:prstGeom prst="rect">
            <a:avLst/>
          </a:prstGeom>
          <a:solidFill>
            <a:srgbClr val="FFFFFF"/>
          </a:solidFill>
          <a:ln w="11430">
            <a:solidFill>
              <a:srgbClr val="FFFFFF"/>
            </a:solidFill>
            <a:prstDash val="solid"/>
          </a:ln>
        </p:spPr>
      </p:sp>
      <p:sp>
        <p:nvSpPr>
          <p:cNvPr id="959656367" name=""/>
          <p:cNvSpPr>
            <a:spLocks noGrp="1"/>
          </p:cNvSpPr>
          <p:nvPr/>
        </p:nvSpPr>
        <p:spPr bwMode="auto">
          <a:xfrm>
            <a:off x="6000750" y="2057400"/>
            <a:ext cx="1447800" cy="1123950"/>
          </a:xfrm>
          <a:prstGeom prst="rect">
            <a:avLst/>
          </a:prstGeom>
          <a:solidFill>
            <a:srgbClr val="FFFFFF"/>
          </a:solidFill>
          <a:ln w="11430">
            <a:solidFill>
              <a:srgbClr val="FFFFFF"/>
            </a:solidFill>
            <a:prstDash val="solid"/>
          </a:ln>
        </p:spPr>
      </p:sp>
      <p:sp>
        <p:nvSpPr>
          <p:cNvPr id="2118208536" name=""/>
          <p:cNvSpPr>
            <a:spLocks noGrp="1"/>
          </p:cNvSpPr>
          <p:nvPr/>
        </p:nvSpPr>
        <p:spPr bwMode="auto">
          <a:xfrm>
            <a:off x="6153149" y="2266950"/>
            <a:ext cx="228600" cy="9525"/>
          </a:xfrm>
          <a:prstGeom prst="line">
            <a:avLst/>
          </a:prstGeom>
          <a:noFill/>
          <a:ln w="28575">
            <a:solidFill>
              <a:srgbClr val="1F8A70"/>
            </a:solidFill>
            <a:prstDash val="solid"/>
          </a:ln>
        </p:spPr>
      </p:sp>
      <p:sp>
        <p:nvSpPr>
          <p:cNvPr id="1650732845" name=""/>
          <p:cNvSpPr>
            <a:spLocks noGrp="1"/>
          </p:cNvSpPr>
          <p:nvPr/>
        </p:nvSpPr>
        <p:spPr bwMode="auto">
          <a:xfrm>
            <a:off x="6477000" y="2143125"/>
            <a:ext cx="8953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00" b="0" i="0">
                <a:solidFill>
                  <a:srgbClr val="243B53"/>
                </a:solidFill>
              </a:defRPr>
            </a:pPr>
            <a:r>
              <a:rPr sz="1000" b="0" i="0">
                <a:solidFill>
                  <a:srgbClr val="243B53"/>
                </a:solidFill>
              </a:rPr>
              <a:t>Python sort</a:t>
            </a:r>
            <a:endParaRPr/>
          </a:p>
        </p:txBody>
      </p:sp>
      <p:sp>
        <p:nvSpPr>
          <p:cNvPr id="1841453373" name=""/>
          <p:cNvSpPr>
            <a:spLocks noGrp="1"/>
          </p:cNvSpPr>
          <p:nvPr/>
        </p:nvSpPr>
        <p:spPr bwMode="auto">
          <a:xfrm>
            <a:off x="6153149" y="2609850"/>
            <a:ext cx="228600" cy="9525"/>
          </a:xfrm>
          <a:prstGeom prst="line">
            <a:avLst/>
          </a:prstGeom>
          <a:noFill/>
          <a:ln w="28575">
            <a:solidFill>
              <a:srgbClr val="2E75B6"/>
            </a:solidFill>
            <a:prstDash val="solid"/>
          </a:ln>
        </p:spPr>
      </p:sp>
      <p:sp>
        <p:nvSpPr>
          <p:cNvPr id="416666303" name=""/>
          <p:cNvSpPr>
            <a:spLocks noGrp="1"/>
          </p:cNvSpPr>
          <p:nvPr/>
        </p:nvSpPr>
        <p:spPr bwMode="auto">
          <a:xfrm>
            <a:off x="6477000" y="2486025"/>
            <a:ext cx="933450" cy="266700"/>
          </a:xfrm>
          <a:prstGeom prst="rect">
            <a:avLst/>
          </a:prstGeom>
          <a:noFill/>
          <a:ln w="0">
            <a:noFill/>
            <a:prstDash val="solid"/>
          </a:ln>
        </p:spPr>
        <p:txBody>
          <a:bodyPr wrap="square" lIns="38100" tIns="19050" rIns="38100" bIns="19050" anchor="ctr">
            <a:normAutofit fontScale="83681"/>
          </a:bodyPr>
          <a:lstStyle/>
          <a:p>
            <a:pPr algn="l">
              <a:lnSpc>
                <a:spcPct val="105000"/>
              </a:lnSpc>
              <a:buNone/>
              <a:defRPr sz="1000" b="0" i="0">
                <a:solidFill>
                  <a:srgbClr val="243B53"/>
                </a:solidFill>
              </a:defRPr>
            </a:pPr>
            <a:r>
              <a:rPr sz="1000" b="0" i="0">
                <a:solidFill>
                  <a:srgbClr val="243B53"/>
                </a:solidFill>
              </a:rPr>
              <a:t>Reference pipeline</a:t>
            </a:r>
            <a:endParaRPr/>
          </a:p>
        </p:txBody>
      </p:sp>
      <p:sp>
        <p:nvSpPr>
          <p:cNvPr id="1331845637" name=""/>
          <p:cNvSpPr>
            <a:spLocks noGrp="1"/>
          </p:cNvSpPr>
          <p:nvPr/>
        </p:nvSpPr>
        <p:spPr bwMode="auto">
          <a:xfrm>
            <a:off x="6153149" y="2952750"/>
            <a:ext cx="228600" cy="9525"/>
          </a:xfrm>
          <a:prstGeom prst="line">
            <a:avLst/>
          </a:prstGeom>
          <a:noFill/>
          <a:ln w="28575">
            <a:solidFill>
              <a:srgbClr val="E76F51"/>
            </a:solidFill>
            <a:prstDash val="solid"/>
          </a:ln>
        </p:spPr>
      </p:sp>
      <p:sp>
        <p:nvSpPr>
          <p:cNvPr id="100822021" name=""/>
          <p:cNvSpPr>
            <a:spLocks noGrp="1"/>
          </p:cNvSpPr>
          <p:nvPr/>
        </p:nvSpPr>
        <p:spPr bwMode="auto">
          <a:xfrm>
            <a:off x="6477000" y="2828925"/>
            <a:ext cx="933450" cy="304800"/>
          </a:xfrm>
          <a:prstGeom prst="rect">
            <a:avLst/>
          </a:prstGeom>
          <a:noFill/>
          <a:ln w="0">
            <a:noFill/>
            <a:prstDash val="solid"/>
          </a:ln>
        </p:spPr>
        <p:txBody>
          <a:bodyPr wrap="square" lIns="38100" tIns="19050" rIns="38100" bIns="19050" anchor="ctr">
            <a:normAutofit fontScale="92593"/>
          </a:bodyPr>
          <a:lstStyle/>
          <a:p>
            <a:pPr algn="l">
              <a:lnSpc>
                <a:spcPct val="105000"/>
              </a:lnSpc>
              <a:buNone/>
              <a:defRPr sz="900" b="0" i="0">
                <a:solidFill>
                  <a:srgbClr val="243B53"/>
                </a:solidFill>
              </a:defRPr>
            </a:pPr>
            <a:r>
              <a:rPr sz="900" b="0" i="0">
                <a:solidFill>
                  <a:srgbClr val="243B53"/>
                </a:solidFill>
              </a:rPr>
              <a:t>Paper ordinary-list core</a:t>
            </a:r>
            <a:endParaRPr/>
          </a:p>
        </p:txBody>
      </p:sp>
      <p:sp>
        <p:nvSpPr>
          <p:cNvPr id="1605440114" name=""/>
          <p:cNvSpPr>
            <a:spLocks noGrp="1"/>
          </p:cNvSpPr>
          <p:nvPr/>
        </p:nvSpPr>
        <p:spPr bwMode="auto">
          <a:xfrm>
            <a:off x="7772400" y="1638300"/>
            <a:ext cx="666750" cy="523875"/>
          </a:xfrm>
          <a:prstGeom prst="rect">
            <a:avLst/>
          </a:prstGeom>
          <a:solidFill>
            <a:srgbClr val="102A43"/>
          </a:solidFill>
          <a:ln w="11430">
            <a:solidFill>
              <a:srgbClr val="D9E2EC"/>
            </a:solidFill>
            <a:prstDash val="solid"/>
          </a:ln>
        </p:spPr>
      </p:sp>
      <p:sp>
        <p:nvSpPr>
          <p:cNvPr id="876222444" name=""/>
          <p:cNvSpPr>
            <a:spLocks noGrp="1"/>
          </p:cNvSpPr>
          <p:nvPr/>
        </p:nvSpPr>
        <p:spPr bwMode="auto">
          <a:xfrm>
            <a:off x="7791450" y="16764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n</a:t>
            </a:r>
            <a:endParaRPr/>
          </a:p>
        </p:txBody>
      </p:sp>
      <p:sp>
        <p:nvSpPr>
          <p:cNvPr id="1065103767" name=""/>
          <p:cNvSpPr>
            <a:spLocks noGrp="1"/>
          </p:cNvSpPr>
          <p:nvPr/>
        </p:nvSpPr>
        <p:spPr bwMode="auto">
          <a:xfrm>
            <a:off x="8439150" y="1638300"/>
            <a:ext cx="1066800" cy="523875"/>
          </a:xfrm>
          <a:prstGeom prst="rect">
            <a:avLst/>
          </a:prstGeom>
          <a:solidFill>
            <a:srgbClr val="102A43"/>
          </a:solidFill>
          <a:ln w="11430">
            <a:solidFill>
              <a:srgbClr val="D9E2EC"/>
            </a:solidFill>
            <a:prstDash val="solid"/>
          </a:ln>
        </p:spPr>
      </p:sp>
      <p:sp>
        <p:nvSpPr>
          <p:cNvPr id="1445694222" name=""/>
          <p:cNvSpPr>
            <a:spLocks noGrp="1"/>
          </p:cNvSpPr>
          <p:nvPr/>
        </p:nvSpPr>
        <p:spPr bwMode="auto">
          <a:xfrm>
            <a:off x="8458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Python (ms)</a:t>
            </a:r>
            <a:endParaRPr/>
          </a:p>
        </p:txBody>
      </p:sp>
      <p:sp>
        <p:nvSpPr>
          <p:cNvPr id="1420209093" name=""/>
          <p:cNvSpPr>
            <a:spLocks noGrp="1"/>
          </p:cNvSpPr>
          <p:nvPr/>
        </p:nvSpPr>
        <p:spPr bwMode="auto">
          <a:xfrm>
            <a:off x="9505950" y="1638300"/>
            <a:ext cx="1219200" cy="523875"/>
          </a:xfrm>
          <a:prstGeom prst="rect">
            <a:avLst/>
          </a:prstGeom>
          <a:solidFill>
            <a:srgbClr val="102A43"/>
          </a:solidFill>
          <a:ln w="11430">
            <a:solidFill>
              <a:srgbClr val="D9E2EC"/>
            </a:solidFill>
            <a:prstDash val="solid"/>
          </a:ln>
        </p:spPr>
      </p:sp>
      <p:sp>
        <p:nvSpPr>
          <p:cNvPr id="1819498179" name=""/>
          <p:cNvSpPr>
            <a:spLocks noGrp="1"/>
          </p:cNvSpPr>
          <p:nvPr/>
        </p:nvSpPr>
        <p:spPr bwMode="auto">
          <a:xfrm>
            <a:off x="9525000" y="16764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Reference (ms)</a:t>
            </a:r>
            <a:endParaRPr/>
          </a:p>
        </p:txBody>
      </p:sp>
      <p:sp>
        <p:nvSpPr>
          <p:cNvPr id="734483238" name=""/>
          <p:cNvSpPr>
            <a:spLocks noGrp="1"/>
          </p:cNvSpPr>
          <p:nvPr/>
        </p:nvSpPr>
        <p:spPr bwMode="auto">
          <a:xfrm>
            <a:off x="10725150" y="1638300"/>
            <a:ext cx="1066800" cy="523875"/>
          </a:xfrm>
          <a:prstGeom prst="rect">
            <a:avLst/>
          </a:prstGeom>
          <a:solidFill>
            <a:srgbClr val="102A43"/>
          </a:solidFill>
          <a:ln w="11430">
            <a:solidFill>
              <a:srgbClr val="D9E2EC"/>
            </a:solidFill>
            <a:prstDash val="solid"/>
          </a:ln>
        </p:spPr>
      </p:sp>
      <p:sp>
        <p:nvSpPr>
          <p:cNvPr id="1350954320" name=""/>
          <p:cNvSpPr>
            <a:spLocks noGrp="1"/>
          </p:cNvSpPr>
          <p:nvPr/>
        </p:nvSpPr>
        <p:spPr bwMode="auto">
          <a:xfrm>
            <a:off x="10744200" y="16764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1" i="0">
                <a:solidFill>
                  <a:srgbClr val="FFFFFF"/>
                </a:solidFill>
              </a:defRPr>
            </a:pPr>
            <a:r>
              <a:rPr sz="1050" b="1" i="0">
                <a:solidFill>
                  <a:srgbClr val="FFFFFF"/>
                </a:solidFill>
              </a:rPr>
              <a:t>Paper (ms)</a:t>
            </a:r>
            <a:endParaRPr/>
          </a:p>
        </p:txBody>
      </p:sp>
      <p:sp>
        <p:nvSpPr>
          <p:cNvPr id="1375127912" name=""/>
          <p:cNvSpPr>
            <a:spLocks noGrp="1"/>
          </p:cNvSpPr>
          <p:nvPr/>
        </p:nvSpPr>
        <p:spPr bwMode="auto">
          <a:xfrm>
            <a:off x="7772400" y="2162175"/>
            <a:ext cx="666750" cy="523875"/>
          </a:xfrm>
          <a:prstGeom prst="rect">
            <a:avLst/>
          </a:prstGeom>
          <a:solidFill>
            <a:srgbClr val="FFFFFF"/>
          </a:solidFill>
          <a:ln w="11430">
            <a:solidFill>
              <a:srgbClr val="D9E2EC"/>
            </a:solidFill>
            <a:prstDash val="solid"/>
          </a:ln>
        </p:spPr>
      </p:sp>
      <p:sp>
        <p:nvSpPr>
          <p:cNvPr id="1969938318" name=""/>
          <p:cNvSpPr>
            <a:spLocks noGrp="1"/>
          </p:cNvSpPr>
          <p:nvPr/>
        </p:nvSpPr>
        <p:spPr bwMode="auto">
          <a:xfrm>
            <a:off x="7791450" y="22002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32</a:t>
            </a:r>
            <a:endParaRPr/>
          </a:p>
        </p:txBody>
      </p:sp>
      <p:sp>
        <p:nvSpPr>
          <p:cNvPr id="1433300874" name=""/>
          <p:cNvSpPr>
            <a:spLocks noGrp="1"/>
          </p:cNvSpPr>
          <p:nvPr/>
        </p:nvSpPr>
        <p:spPr bwMode="auto">
          <a:xfrm>
            <a:off x="8439150" y="2162175"/>
            <a:ext cx="1066800" cy="523875"/>
          </a:xfrm>
          <a:prstGeom prst="rect">
            <a:avLst/>
          </a:prstGeom>
          <a:solidFill>
            <a:srgbClr val="FFFFFF"/>
          </a:solidFill>
          <a:ln w="11430">
            <a:solidFill>
              <a:srgbClr val="D9E2EC"/>
            </a:solidFill>
            <a:prstDash val="solid"/>
          </a:ln>
        </p:spPr>
      </p:sp>
      <p:sp>
        <p:nvSpPr>
          <p:cNvPr id="1189236123" name=""/>
          <p:cNvSpPr>
            <a:spLocks noGrp="1"/>
          </p:cNvSpPr>
          <p:nvPr/>
        </p:nvSpPr>
        <p:spPr bwMode="auto">
          <a:xfrm>
            <a:off x="8458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0.000791</a:t>
            </a:r>
            <a:endParaRPr/>
          </a:p>
        </p:txBody>
      </p:sp>
      <p:sp>
        <p:nvSpPr>
          <p:cNvPr id="389172754" name=""/>
          <p:cNvSpPr>
            <a:spLocks noGrp="1"/>
          </p:cNvSpPr>
          <p:nvPr/>
        </p:nvSpPr>
        <p:spPr bwMode="auto">
          <a:xfrm>
            <a:off x="9505950" y="2162175"/>
            <a:ext cx="1219200" cy="523875"/>
          </a:xfrm>
          <a:prstGeom prst="rect">
            <a:avLst/>
          </a:prstGeom>
          <a:solidFill>
            <a:srgbClr val="FFFFFF"/>
          </a:solidFill>
          <a:ln w="11430">
            <a:solidFill>
              <a:srgbClr val="D9E2EC"/>
            </a:solidFill>
            <a:prstDash val="solid"/>
          </a:ln>
        </p:spPr>
      </p:sp>
      <p:sp>
        <p:nvSpPr>
          <p:cNvPr id="869074685" name=""/>
          <p:cNvSpPr>
            <a:spLocks noGrp="1"/>
          </p:cNvSpPr>
          <p:nvPr/>
        </p:nvSpPr>
        <p:spPr bwMode="auto">
          <a:xfrm>
            <a:off x="9525000" y="22002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0.181177</a:t>
            </a:r>
            <a:endParaRPr/>
          </a:p>
        </p:txBody>
      </p:sp>
      <p:sp>
        <p:nvSpPr>
          <p:cNvPr id="388364803" name=""/>
          <p:cNvSpPr>
            <a:spLocks noGrp="1"/>
          </p:cNvSpPr>
          <p:nvPr/>
        </p:nvSpPr>
        <p:spPr bwMode="auto">
          <a:xfrm>
            <a:off x="10725150" y="2162175"/>
            <a:ext cx="1066800" cy="523875"/>
          </a:xfrm>
          <a:prstGeom prst="rect">
            <a:avLst/>
          </a:prstGeom>
          <a:solidFill>
            <a:srgbClr val="FFFFFF"/>
          </a:solidFill>
          <a:ln w="11430">
            <a:solidFill>
              <a:srgbClr val="D9E2EC"/>
            </a:solidFill>
            <a:prstDash val="solid"/>
          </a:ln>
        </p:spPr>
      </p:sp>
      <p:sp>
        <p:nvSpPr>
          <p:cNvPr id="1419792300" name=""/>
          <p:cNvSpPr>
            <a:spLocks noGrp="1"/>
          </p:cNvSpPr>
          <p:nvPr/>
        </p:nvSpPr>
        <p:spPr bwMode="auto">
          <a:xfrm>
            <a:off x="10744200" y="22002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0.586906</a:t>
            </a:r>
            <a:endParaRPr/>
          </a:p>
        </p:txBody>
      </p:sp>
      <p:sp>
        <p:nvSpPr>
          <p:cNvPr id="111163353" name=""/>
          <p:cNvSpPr>
            <a:spLocks noGrp="1"/>
          </p:cNvSpPr>
          <p:nvPr/>
        </p:nvSpPr>
        <p:spPr bwMode="auto">
          <a:xfrm>
            <a:off x="7772400" y="2686050"/>
            <a:ext cx="666750" cy="523875"/>
          </a:xfrm>
          <a:prstGeom prst="rect">
            <a:avLst/>
          </a:prstGeom>
          <a:solidFill>
            <a:srgbClr val="EAF1F8"/>
          </a:solidFill>
          <a:ln w="11430">
            <a:solidFill>
              <a:srgbClr val="D9E2EC"/>
            </a:solidFill>
            <a:prstDash val="solid"/>
          </a:ln>
        </p:spPr>
      </p:sp>
      <p:sp>
        <p:nvSpPr>
          <p:cNvPr id="454904903" name=""/>
          <p:cNvSpPr>
            <a:spLocks noGrp="1"/>
          </p:cNvSpPr>
          <p:nvPr/>
        </p:nvSpPr>
        <p:spPr bwMode="auto">
          <a:xfrm>
            <a:off x="7791450" y="272415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64</a:t>
            </a:r>
            <a:endParaRPr/>
          </a:p>
        </p:txBody>
      </p:sp>
      <p:sp>
        <p:nvSpPr>
          <p:cNvPr id="1267709569" name=""/>
          <p:cNvSpPr>
            <a:spLocks noGrp="1"/>
          </p:cNvSpPr>
          <p:nvPr/>
        </p:nvSpPr>
        <p:spPr bwMode="auto">
          <a:xfrm>
            <a:off x="8439150" y="2686050"/>
            <a:ext cx="1066800" cy="523875"/>
          </a:xfrm>
          <a:prstGeom prst="rect">
            <a:avLst/>
          </a:prstGeom>
          <a:solidFill>
            <a:srgbClr val="EAF1F8"/>
          </a:solidFill>
          <a:ln w="11430">
            <a:solidFill>
              <a:srgbClr val="D9E2EC"/>
            </a:solidFill>
            <a:prstDash val="solid"/>
          </a:ln>
        </p:spPr>
      </p:sp>
      <p:sp>
        <p:nvSpPr>
          <p:cNvPr id="1229786868" name=""/>
          <p:cNvSpPr>
            <a:spLocks noGrp="1"/>
          </p:cNvSpPr>
          <p:nvPr/>
        </p:nvSpPr>
        <p:spPr bwMode="auto">
          <a:xfrm>
            <a:off x="8458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0.001417</a:t>
            </a:r>
            <a:endParaRPr/>
          </a:p>
        </p:txBody>
      </p:sp>
      <p:sp>
        <p:nvSpPr>
          <p:cNvPr id="1403741553" name=""/>
          <p:cNvSpPr>
            <a:spLocks noGrp="1"/>
          </p:cNvSpPr>
          <p:nvPr/>
        </p:nvSpPr>
        <p:spPr bwMode="auto">
          <a:xfrm>
            <a:off x="9505950" y="2686050"/>
            <a:ext cx="1219200" cy="523875"/>
          </a:xfrm>
          <a:prstGeom prst="rect">
            <a:avLst/>
          </a:prstGeom>
          <a:solidFill>
            <a:srgbClr val="EAF1F8"/>
          </a:solidFill>
          <a:ln w="11430">
            <a:solidFill>
              <a:srgbClr val="D9E2EC"/>
            </a:solidFill>
            <a:prstDash val="solid"/>
          </a:ln>
        </p:spPr>
      </p:sp>
      <p:sp>
        <p:nvSpPr>
          <p:cNvPr id="481986031" name=""/>
          <p:cNvSpPr>
            <a:spLocks noGrp="1"/>
          </p:cNvSpPr>
          <p:nvPr/>
        </p:nvSpPr>
        <p:spPr bwMode="auto">
          <a:xfrm>
            <a:off x="9525000" y="272415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0.585667</a:t>
            </a:r>
            <a:endParaRPr/>
          </a:p>
        </p:txBody>
      </p:sp>
      <p:sp>
        <p:nvSpPr>
          <p:cNvPr id="1059309851" name=""/>
          <p:cNvSpPr>
            <a:spLocks noGrp="1"/>
          </p:cNvSpPr>
          <p:nvPr/>
        </p:nvSpPr>
        <p:spPr bwMode="auto">
          <a:xfrm>
            <a:off x="10725150" y="2686050"/>
            <a:ext cx="1066800" cy="523875"/>
          </a:xfrm>
          <a:prstGeom prst="rect">
            <a:avLst/>
          </a:prstGeom>
          <a:solidFill>
            <a:srgbClr val="EAF1F8"/>
          </a:solidFill>
          <a:ln w="11430">
            <a:solidFill>
              <a:srgbClr val="D9E2EC"/>
            </a:solidFill>
            <a:prstDash val="solid"/>
          </a:ln>
        </p:spPr>
      </p:sp>
      <p:sp>
        <p:nvSpPr>
          <p:cNvPr id="347229756" name=""/>
          <p:cNvSpPr>
            <a:spLocks noGrp="1"/>
          </p:cNvSpPr>
          <p:nvPr/>
        </p:nvSpPr>
        <p:spPr bwMode="auto">
          <a:xfrm>
            <a:off x="10744200" y="272415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1.282198</a:t>
            </a:r>
            <a:endParaRPr/>
          </a:p>
        </p:txBody>
      </p:sp>
      <p:sp>
        <p:nvSpPr>
          <p:cNvPr id="641661729" name=""/>
          <p:cNvSpPr>
            <a:spLocks noGrp="1"/>
          </p:cNvSpPr>
          <p:nvPr/>
        </p:nvSpPr>
        <p:spPr bwMode="auto">
          <a:xfrm>
            <a:off x="7772400" y="3209925"/>
            <a:ext cx="666750" cy="523875"/>
          </a:xfrm>
          <a:prstGeom prst="rect">
            <a:avLst/>
          </a:prstGeom>
          <a:solidFill>
            <a:srgbClr val="FFFFFF"/>
          </a:solidFill>
          <a:ln w="11430">
            <a:solidFill>
              <a:srgbClr val="D9E2EC"/>
            </a:solidFill>
            <a:prstDash val="solid"/>
          </a:ln>
        </p:spPr>
      </p:sp>
      <p:sp>
        <p:nvSpPr>
          <p:cNvPr id="1114040287" name=""/>
          <p:cNvSpPr>
            <a:spLocks noGrp="1"/>
          </p:cNvSpPr>
          <p:nvPr/>
        </p:nvSpPr>
        <p:spPr bwMode="auto">
          <a:xfrm>
            <a:off x="7791450" y="324802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128</a:t>
            </a:r>
            <a:endParaRPr/>
          </a:p>
        </p:txBody>
      </p:sp>
      <p:sp>
        <p:nvSpPr>
          <p:cNvPr id="1585334424" name=""/>
          <p:cNvSpPr>
            <a:spLocks noGrp="1"/>
          </p:cNvSpPr>
          <p:nvPr/>
        </p:nvSpPr>
        <p:spPr bwMode="auto">
          <a:xfrm>
            <a:off x="8439150" y="3209925"/>
            <a:ext cx="1066800" cy="523875"/>
          </a:xfrm>
          <a:prstGeom prst="rect">
            <a:avLst/>
          </a:prstGeom>
          <a:solidFill>
            <a:srgbClr val="FFFFFF"/>
          </a:solidFill>
          <a:ln w="11430">
            <a:solidFill>
              <a:srgbClr val="D9E2EC"/>
            </a:solidFill>
            <a:prstDash val="solid"/>
          </a:ln>
        </p:spPr>
      </p:sp>
      <p:sp>
        <p:nvSpPr>
          <p:cNvPr id="553210191" name=""/>
          <p:cNvSpPr>
            <a:spLocks noGrp="1"/>
          </p:cNvSpPr>
          <p:nvPr/>
        </p:nvSpPr>
        <p:spPr bwMode="auto">
          <a:xfrm>
            <a:off x="8458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0.002635</a:t>
            </a:r>
            <a:endParaRPr/>
          </a:p>
        </p:txBody>
      </p:sp>
      <p:sp>
        <p:nvSpPr>
          <p:cNvPr id="1675559556" name=""/>
          <p:cNvSpPr>
            <a:spLocks noGrp="1"/>
          </p:cNvSpPr>
          <p:nvPr/>
        </p:nvSpPr>
        <p:spPr bwMode="auto">
          <a:xfrm>
            <a:off x="9505950" y="3209925"/>
            <a:ext cx="1219200" cy="523875"/>
          </a:xfrm>
          <a:prstGeom prst="rect">
            <a:avLst/>
          </a:prstGeom>
          <a:solidFill>
            <a:srgbClr val="FFFFFF"/>
          </a:solidFill>
          <a:ln w="11430">
            <a:solidFill>
              <a:srgbClr val="D9E2EC"/>
            </a:solidFill>
            <a:prstDash val="solid"/>
          </a:ln>
        </p:spPr>
      </p:sp>
      <p:sp>
        <p:nvSpPr>
          <p:cNvPr id="628974683" name=""/>
          <p:cNvSpPr>
            <a:spLocks noGrp="1"/>
          </p:cNvSpPr>
          <p:nvPr/>
        </p:nvSpPr>
        <p:spPr bwMode="auto">
          <a:xfrm>
            <a:off x="9525000" y="324802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2.077959</a:t>
            </a:r>
            <a:endParaRPr/>
          </a:p>
        </p:txBody>
      </p:sp>
      <p:sp>
        <p:nvSpPr>
          <p:cNvPr id="1683023499" name=""/>
          <p:cNvSpPr>
            <a:spLocks noGrp="1"/>
          </p:cNvSpPr>
          <p:nvPr/>
        </p:nvSpPr>
        <p:spPr bwMode="auto">
          <a:xfrm>
            <a:off x="10725150" y="3209925"/>
            <a:ext cx="1066800" cy="523875"/>
          </a:xfrm>
          <a:prstGeom prst="rect">
            <a:avLst/>
          </a:prstGeom>
          <a:solidFill>
            <a:srgbClr val="FFFFFF"/>
          </a:solidFill>
          <a:ln w="11430">
            <a:solidFill>
              <a:srgbClr val="D9E2EC"/>
            </a:solidFill>
            <a:prstDash val="solid"/>
          </a:ln>
        </p:spPr>
      </p:sp>
      <p:sp>
        <p:nvSpPr>
          <p:cNvPr id="59562903" name=""/>
          <p:cNvSpPr>
            <a:spLocks noGrp="1"/>
          </p:cNvSpPr>
          <p:nvPr/>
        </p:nvSpPr>
        <p:spPr bwMode="auto">
          <a:xfrm>
            <a:off x="10744200" y="324802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2.815083</a:t>
            </a:r>
            <a:endParaRPr/>
          </a:p>
        </p:txBody>
      </p:sp>
      <p:sp>
        <p:nvSpPr>
          <p:cNvPr id="91179040" name=""/>
          <p:cNvSpPr>
            <a:spLocks noGrp="1"/>
          </p:cNvSpPr>
          <p:nvPr/>
        </p:nvSpPr>
        <p:spPr bwMode="auto">
          <a:xfrm>
            <a:off x="7772400" y="3733800"/>
            <a:ext cx="666750" cy="523875"/>
          </a:xfrm>
          <a:prstGeom prst="rect">
            <a:avLst/>
          </a:prstGeom>
          <a:solidFill>
            <a:srgbClr val="EAF1F8"/>
          </a:solidFill>
          <a:ln w="11430">
            <a:solidFill>
              <a:srgbClr val="D9E2EC"/>
            </a:solidFill>
            <a:prstDash val="solid"/>
          </a:ln>
        </p:spPr>
      </p:sp>
      <p:sp>
        <p:nvSpPr>
          <p:cNvPr id="1992981184" name=""/>
          <p:cNvSpPr>
            <a:spLocks noGrp="1"/>
          </p:cNvSpPr>
          <p:nvPr/>
        </p:nvSpPr>
        <p:spPr bwMode="auto">
          <a:xfrm>
            <a:off x="7791450" y="3771900"/>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256</a:t>
            </a:r>
            <a:endParaRPr/>
          </a:p>
        </p:txBody>
      </p:sp>
      <p:sp>
        <p:nvSpPr>
          <p:cNvPr id="1497834457" name=""/>
          <p:cNvSpPr>
            <a:spLocks noGrp="1"/>
          </p:cNvSpPr>
          <p:nvPr/>
        </p:nvSpPr>
        <p:spPr bwMode="auto">
          <a:xfrm>
            <a:off x="8439150" y="3733800"/>
            <a:ext cx="1066800" cy="523875"/>
          </a:xfrm>
          <a:prstGeom prst="rect">
            <a:avLst/>
          </a:prstGeom>
          <a:solidFill>
            <a:srgbClr val="EAF1F8"/>
          </a:solidFill>
          <a:ln w="11430">
            <a:solidFill>
              <a:srgbClr val="D9E2EC"/>
            </a:solidFill>
            <a:prstDash val="solid"/>
          </a:ln>
        </p:spPr>
      </p:sp>
      <p:sp>
        <p:nvSpPr>
          <p:cNvPr id="1643931143" name=""/>
          <p:cNvSpPr>
            <a:spLocks noGrp="1"/>
          </p:cNvSpPr>
          <p:nvPr/>
        </p:nvSpPr>
        <p:spPr bwMode="auto">
          <a:xfrm>
            <a:off x="8458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0.005208</a:t>
            </a:r>
            <a:endParaRPr/>
          </a:p>
        </p:txBody>
      </p:sp>
      <p:sp>
        <p:nvSpPr>
          <p:cNvPr id="1908201396" name=""/>
          <p:cNvSpPr>
            <a:spLocks noGrp="1"/>
          </p:cNvSpPr>
          <p:nvPr/>
        </p:nvSpPr>
        <p:spPr bwMode="auto">
          <a:xfrm>
            <a:off x="9505950" y="3733800"/>
            <a:ext cx="1219200" cy="523875"/>
          </a:xfrm>
          <a:prstGeom prst="rect">
            <a:avLst/>
          </a:prstGeom>
          <a:solidFill>
            <a:srgbClr val="EAF1F8"/>
          </a:solidFill>
          <a:ln w="11430">
            <a:solidFill>
              <a:srgbClr val="D9E2EC"/>
            </a:solidFill>
            <a:prstDash val="solid"/>
          </a:ln>
        </p:spPr>
      </p:sp>
      <p:sp>
        <p:nvSpPr>
          <p:cNvPr id="628635571" name=""/>
          <p:cNvSpPr>
            <a:spLocks noGrp="1"/>
          </p:cNvSpPr>
          <p:nvPr/>
        </p:nvSpPr>
        <p:spPr bwMode="auto">
          <a:xfrm>
            <a:off x="9525000" y="3771900"/>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7.929646</a:t>
            </a:r>
            <a:endParaRPr/>
          </a:p>
        </p:txBody>
      </p:sp>
      <p:sp>
        <p:nvSpPr>
          <p:cNvPr id="1779490075" name=""/>
          <p:cNvSpPr>
            <a:spLocks noGrp="1"/>
          </p:cNvSpPr>
          <p:nvPr/>
        </p:nvSpPr>
        <p:spPr bwMode="auto">
          <a:xfrm>
            <a:off x="10725150" y="3733800"/>
            <a:ext cx="1066800" cy="523875"/>
          </a:xfrm>
          <a:prstGeom prst="rect">
            <a:avLst/>
          </a:prstGeom>
          <a:solidFill>
            <a:srgbClr val="EAF1F8"/>
          </a:solidFill>
          <a:ln w="11430">
            <a:solidFill>
              <a:srgbClr val="D9E2EC"/>
            </a:solidFill>
            <a:prstDash val="solid"/>
          </a:ln>
        </p:spPr>
      </p:sp>
      <p:sp>
        <p:nvSpPr>
          <p:cNvPr id="110114169" name=""/>
          <p:cNvSpPr>
            <a:spLocks noGrp="1"/>
          </p:cNvSpPr>
          <p:nvPr/>
        </p:nvSpPr>
        <p:spPr bwMode="auto">
          <a:xfrm>
            <a:off x="10744200" y="3771900"/>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6.721250</a:t>
            </a:r>
            <a:endParaRPr/>
          </a:p>
        </p:txBody>
      </p:sp>
      <p:sp>
        <p:nvSpPr>
          <p:cNvPr id="1170430103" name=""/>
          <p:cNvSpPr>
            <a:spLocks noGrp="1"/>
          </p:cNvSpPr>
          <p:nvPr/>
        </p:nvSpPr>
        <p:spPr bwMode="auto">
          <a:xfrm>
            <a:off x="7772400" y="4257675"/>
            <a:ext cx="666750" cy="523875"/>
          </a:xfrm>
          <a:prstGeom prst="rect">
            <a:avLst/>
          </a:prstGeom>
          <a:solidFill>
            <a:srgbClr val="FFFFFF"/>
          </a:solidFill>
          <a:ln w="11430">
            <a:solidFill>
              <a:srgbClr val="D9E2EC"/>
            </a:solidFill>
            <a:prstDash val="solid"/>
          </a:ln>
        </p:spPr>
      </p:sp>
      <p:sp>
        <p:nvSpPr>
          <p:cNvPr id="45326476" name=""/>
          <p:cNvSpPr>
            <a:spLocks noGrp="1"/>
          </p:cNvSpPr>
          <p:nvPr/>
        </p:nvSpPr>
        <p:spPr bwMode="auto">
          <a:xfrm>
            <a:off x="7791450" y="4295775"/>
            <a:ext cx="62865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512</a:t>
            </a:r>
            <a:endParaRPr/>
          </a:p>
        </p:txBody>
      </p:sp>
      <p:sp>
        <p:nvSpPr>
          <p:cNvPr id="1643097702" name=""/>
          <p:cNvSpPr>
            <a:spLocks noGrp="1"/>
          </p:cNvSpPr>
          <p:nvPr/>
        </p:nvSpPr>
        <p:spPr bwMode="auto">
          <a:xfrm>
            <a:off x="8439150" y="4257675"/>
            <a:ext cx="1066800" cy="523875"/>
          </a:xfrm>
          <a:prstGeom prst="rect">
            <a:avLst/>
          </a:prstGeom>
          <a:solidFill>
            <a:srgbClr val="FFFFFF"/>
          </a:solidFill>
          <a:ln w="11430">
            <a:solidFill>
              <a:srgbClr val="D9E2EC"/>
            </a:solidFill>
            <a:prstDash val="solid"/>
          </a:ln>
        </p:spPr>
      </p:sp>
      <p:sp>
        <p:nvSpPr>
          <p:cNvPr id="1377291153" name=""/>
          <p:cNvSpPr>
            <a:spLocks noGrp="1"/>
          </p:cNvSpPr>
          <p:nvPr/>
        </p:nvSpPr>
        <p:spPr bwMode="auto">
          <a:xfrm>
            <a:off x="8458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0.010584</a:t>
            </a:r>
            <a:endParaRPr/>
          </a:p>
        </p:txBody>
      </p:sp>
      <p:sp>
        <p:nvSpPr>
          <p:cNvPr id="1224778554" name=""/>
          <p:cNvSpPr>
            <a:spLocks noGrp="1"/>
          </p:cNvSpPr>
          <p:nvPr/>
        </p:nvSpPr>
        <p:spPr bwMode="auto">
          <a:xfrm>
            <a:off x="9505950" y="4257675"/>
            <a:ext cx="1219200" cy="523875"/>
          </a:xfrm>
          <a:prstGeom prst="rect">
            <a:avLst/>
          </a:prstGeom>
          <a:solidFill>
            <a:srgbClr val="FFFFFF"/>
          </a:solidFill>
          <a:ln w="11430">
            <a:solidFill>
              <a:srgbClr val="D9E2EC"/>
            </a:solidFill>
            <a:prstDash val="solid"/>
          </a:ln>
        </p:spPr>
      </p:sp>
      <p:sp>
        <p:nvSpPr>
          <p:cNvPr id="192445278" name=""/>
          <p:cNvSpPr>
            <a:spLocks noGrp="1"/>
          </p:cNvSpPr>
          <p:nvPr/>
        </p:nvSpPr>
        <p:spPr bwMode="auto">
          <a:xfrm>
            <a:off x="9525000" y="4295775"/>
            <a:ext cx="1181099"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33.014458</a:t>
            </a:r>
            <a:endParaRPr/>
          </a:p>
        </p:txBody>
      </p:sp>
      <p:sp>
        <p:nvSpPr>
          <p:cNvPr id="2043771314" name=""/>
          <p:cNvSpPr>
            <a:spLocks noGrp="1"/>
          </p:cNvSpPr>
          <p:nvPr/>
        </p:nvSpPr>
        <p:spPr bwMode="auto">
          <a:xfrm>
            <a:off x="10725150" y="4257675"/>
            <a:ext cx="1066800" cy="523875"/>
          </a:xfrm>
          <a:prstGeom prst="rect">
            <a:avLst/>
          </a:prstGeom>
          <a:solidFill>
            <a:srgbClr val="FFFFFF"/>
          </a:solidFill>
          <a:ln w="11430">
            <a:solidFill>
              <a:srgbClr val="D9E2EC"/>
            </a:solidFill>
            <a:prstDash val="solid"/>
          </a:ln>
        </p:spPr>
      </p:sp>
      <p:sp>
        <p:nvSpPr>
          <p:cNvPr id="1541385165" name=""/>
          <p:cNvSpPr>
            <a:spLocks noGrp="1"/>
          </p:cNvSpPr>
          <p:nvPr/>
        </p:nvSpPr>
        <p:spPr bwMode="auto">
          <a:xfrm>
            <a:off x="10744200" y="4295775"/>
            <a:ext cx="1028700" cy="4476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0" i="0">
                <a:solidFill>
                  <a:srgbClr val="243B53"/>
                </a:solidFill>
              </a:defRPr>
            </a:pPr>
            <a:r>
              <a:rPr sz="1200" b="0" i="0">
                <a:solidFill>
                  <a:srgbClr val="243B53"/>
                </a:solidFill>
              </a:rPr>
              <a:t>18.716687</a:t>
            </a:r>
            <a:endParaRPr/>
          </a:p>
        </p:txBody>
      </p:sp>
      <p:sp>
        <p:nvSpPr>
          <p:cNvPr id="944451695" name=""/>
          <p:cNvSpPr>
            <a:spLocks noGrp="1"/>
          </p:cNvSpPr>
          <p:nvPr/>
        </p:nvSpPr>
        <p:spPr bwMode="auto">
          <a:xfrm>
            <a:off x="7848600" y="5086350"/>
            <a:ext cx="39052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Absolute times belong to one recorded Apple M4 / CPython 3.12.4 execution.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85132307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B</a:t>
            </a:r>
            <a:endParaRPr/>
          </a:p>
        </p:txBody>
      </p:sp>
      <p:sp>
        <p:nvSpPr>
          <p:cNvPr id="199959263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Paper output is recovered from state, not from the oracle result</a:t>
            </a:r>
            <a:endParaRPr/>
          </a:p>
        </p:txBody>
      </p:sp>
      <p:sp>
        <p:nvSpPr>
          <p:cNvPr id="1559959441" name=""/>
          <p:cNvSpPr>
            <a:spLocks noGrp="1"/>
          </p:cNvSpPr>
          <p:nvPr/>
        </p:nvSpPr>
        <p:spPr bwMode="auto">
          <a:xfrm>
            <a:off x="609600" y="1085850"/>
            <a:ext cx="10972800" cy="9525"/>
          </a:xfrm>
          <a:prstGeom prst="line">
            <a:avLst/>
          </a:prstGeom>
          <a:noFill/>
          <a:ln w="28575">
            <a:solidFill>
              <a:srgbClr val="E76F51"/>
            </a:solidFill>
            <a:prstDash val="solid"/>
          </a:ln>
        </p:spPr>
      </p:sp>
      <p:sp>
        <p:nvSpPr>
          <p:cNvPr id="824138139" name=""/>
          <p:cNvSpPr>
            <a:spLocks noGrp="1"/>
          </p:cNvSpPr>
          <p:nvPr/>
        </p:nvSpPr>
        <p:spPr bwMode="auto">
          <a:xfrm>
            <a:off x="609600" y="6477000"/>
            <a:ext cx="10972800" cy="9525"/>
          </a:xfrm>
          <a:prstGeom prst="line">
            <a:avLst/>
          </a:prstGeom>
          <a:noFill/>
          <a:ln w="9525">
            <a:solidFill>
              <a:srgbClr val="D9E2EC"/>
            </a:solidFill>
            <a:prstDash val="solid"/>
          </a:ln>
        </p:spPr>
      </p:sp>
      <p:sp>
        <p:nvSpPr>
          <p:cNvPr id="112232329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97998351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B</a:t>
            </a:r>
            <a:endParaRPr/>
          </a:p>
        </p:txBody>
      </p:sp>
      <p:sp>
        <p:nvSpPr>
          <p:cNvPr id="1142775095" name=""/>
          <p:cNvSpPr>
            <a:spLocks noGrp="1"/>
          </p:cNvSpPr>
          <p:nvPr/>
        </p:nvSpPr>
        <p:spPr bwMode="auto">
          <a:xfrm>
            <a:off x="971550" y="1543050"/>
            <a:ext cx="4095750" cy="3562350"/>
          </a:xfrm>
          <a:prstGeom prst="roundRect">
            <a:avLst>
              <a:gd name="adj" fmla="val 2139"/>
            </a:avLst>
          </a:prstGeom>
          <a:solidFill>
            <a:srgbClr val="FCEEEA"/>
          </a:solidFill>
          <a:ln w="19050">
            <a:solidFill>
              <a:srgbClr val="E76F51"/>
            </a:solidFill>
            <a:prstDash val="solid"/>
          </a:ln>
        </p:spPr>
      </p:sp>
      <p:sp>
        <p:nvSpPr>
          <p:cNvPr id="247743267" name=""/>
          <p:cNvSpPr>
            <a:spLocks noGrp="1"/>
          </p:cNvSpPr>
          <p:nvPr/>
        </p:nvSpPr>
        <p:spPr bwMode="auto">
          <a:xfrm>
            <a:off x="7124700" y="1543050"/>
            <a:ext cx="4095750" cy="3562350"/>
          </a:xfrm>
          <a:prstGeom prst="roundRect">
            <a:avLst>
              <a:gd name="adj" fmla="val 2139"/>
            </a:avLst>
          </a:prstGeom>
          <a:solidFill>
            <a:srgbClr val="E8F5F3"/>
          </a:solidFill>
          <a:ln w="19050">
            <a:solidFill>
              <a:srgbClr val="2A9D8F"/>
            </a:solidFill>
            <a:prstDash val="solid"/>
          </a:ln>
        </p:spPr>
      </p:sp>
      <p:sp>
        <p:nvSpPr>
          <p:cNvPr id="534402784" name=""/>
          <p:cNvSpPr>
            <a:spLocks noGrp="1"/>
          </p:cNvSpPr>
          <p:nvPr/>
        </p:nvSpPr>
        <p:spPr bwMode="auto">
          <a:xfrm>
            <a:off x="123825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E76F51"/>
                </a:solidFill>
              </a:defRPr>
            </a:pPr>
            <a:r>
              <a:rPr sz="2100" b="1" i="0">
                <a:solidFill>
                  <a:srgbClr val="E76F51"/>
                </a:solidFill>
              </a:rPr>
              <a:t>Reference pipeline</a:t>
            </a:r>
            <a:endParaRPr/>
          </a:p>
        </p:txBody>
      </p:sp>
      <p:sp>
        <p:nvSpPr>
          <p:cNvPr id="866711053" name=""/>
          <p:cNvSpPr>
            <a:spLocks noGrp="1"/>
          </p:cNvSpPr>
          <p:nvPr/>
        </p:nvSpPr>
        <p:spPr bwMode="auto">
          <a:xfrm>
            <a:off x="123825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oracle_result["sorted"]</a:t>
            </a:r>
            <a:endParaRPr/>
          </a:p>
        </p:txBody>
      </p:sp>
      <p:sp>
        <p:nvSpPr>
          <p:cNvPr id="1871500922" name=""/>
          <p:cNvSpPr>
            <a:spLocks noGrp="1"/>
          </p:cNvSpPr>
          <p:nvPr/>
        </p:nvSpPr>
        <p:spPr bwMode="auto">
          <a:xfrm>
            <a:off x="1428750" y="3429000"/>
            <a:ext cx="3181350" cy="1009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Oracle validation, structure, trace, and serializable result assembly are part of the reference call.</a:t>
            </a:r>
            <a:endParaRPr/>
          </a:p>
        </p:txBody>
      </p:sp>
      <p:sp>
        <p:nvSpPr>
          <p:cNvPr id="969759573" name=""/>
          <p:cNvSpPr>
            <a:spLocks noGrp="1"/>
          </p:cNvSpPr>
          <p:nvPr/>
        </p:nvSpPr>
        <p:spPr bwMode="auto">
          <a:xfrm>
            <a:off x="7391400" y="1790700"/>
            <a:ext cx="35623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2100" b="1" i="0">
                <a:solidFill>
                  <a:srgbClr val="2A9D8F"/>
                </a:solidFill>
              </a:defRPr>
            </a:pPr>
            <a:r>
              <a:rPr sz="2100" b="1" i="0">
                <a:solidFill>
                  <a:srgbClr val="2A9D8F"/>
                </a:solidFill>
              </a:rPr>
              <a:t>Paper core</a:t>
            </a:r>
            <a:endParaRPr/>
          </a:p>
        </p:txBody>
      </p:sp>
      <p:sp>
        <p:nvSpPr>
          <p:cNvPr id="726791521" name=""/>
          <p:cNvSpPr>
            <a:spLocks noGrp="1"/>
          </p:cNvSpPr>
          <p:nvPr/>
        </p:nvSpPr>
        <p:spPr bwMode="auto">
          <a:xfrm>
            <a:off x="7391400" y="2571750"/>
            <a:ext cx="356235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state.partial_order.to_list()</a:t>
            </a:r>
            <a:endParaRPr/>
          </a:p>
        </p:txBody>
      </p:sp>
      <p:sp>
        <p:nvSpPr>
          <p:cNvPr id="441090952" name=""/>
          <p:cNvSpPr>
            <a:spLocks noGrp="1"/>
          </p:cNvSpPr>
          <p:nvPr/>
        </p:nvSpPr>
        <p:spPr bwMode="auto">
          <a:xfrm>
            <a:off x="7581899" y="3352800"/>
            <a:ext cx="3181350" cy="1162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Certification precedes the call. Output comparison follows it. Neither provides the paper core's return value.</a:t>
            </a:r>
            <a:endParaRPr/>
          </a:p>
        </p:txBody>
      </p:sp>
      <p:sp>
        <p:nvSpPr>
          <p:cNvPr id="1122853150" name=""/>
          <p:cNvSpPr>
            <a:spLocks noGrp="1"/>
          </p:cNvSpPr>
          <p:nvPr/>
        </p:nvSpPr>
        <p:spPr bwMode="auto">
          <a:xfrm>
            <a:off x="2190750" y="5619750"/>
            <a:ext cx="78105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102A43"/>
                </a:solidFill>
              </a:defRPr>
            </a:pPr>
            <a:r>
              <a:rPr sz="1900" b="1" i="0">
                <a:solidFill>
                  <a:srgbClr val="102A43"/>
                </a:solidFill>
              </a:rPr>
              <a:t>Same expected answer, different output provenance.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92313637"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C</a:t>
            </a:r>
            <a:endParaRPr/>
          </a:p>
        </p:txBody>
      </p:sp>
      <p:sp>
        <p:nvSpPr>
          <p:cNvPr id="35532529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Validation summary for the current implementation baseline</a:t>
            </a:r>
            <a:endParaRPr/>
          </a:p>
        </p:txBody>
      </p:sp>
      <p:sp>
        <p:nvSpPr>
          <p:cNvPr id="53532806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945434065" name=""/>
          <p:cNvSpPr>
            <a:spLocks noGrp="1"/>
          </p:cNvSpPr>
          <p:nvPr/>
        </p:nvSpPr>
        <p:spPr bwMode="auto">
          <a:xfrm>
            <a:off x="609600" y="6477000"/>
            <a:ext cx="10972800" cy="9525"/>
          </a:xfrm>
          <a:prstGeom prst="line">
            <a:avLst/>
          </a:prstGeom>
          <a:noFill/>
          <a:ln w="9525">
            <a:solidFill>
              <a:srgbClr val="D9E2EC"/>
            </a:solidFill>
            <a:prstDash val="solid"/>
          </a:ln>
        </p:spPr>
      </p:sp>
      <p:sp>
        <p:nvSpPr>
          <p:cNvPr id="145839260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66064130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C</a:t>
            </a:r>
            <a:endParaRPr/>
          </a:p>
        </p:txBody>
      </p:sp>
      <p:sp>
        <p:nvSpPr>
          <p:cNvPr id="745235437" name=""/>
          <p:cNvSpPr>
            <a:spLocks noGrp="1"/>
          </p:cNvSpPr>
          <p:nvPr/>
        </p:nvSpPr>
        <p:spPr bwMode="auto">
          <a:xfrm>
            <a:off x="990600" y="15049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537</a:t>
            </a:r>
            <a:endParaRPr/>
          </a:p>
        </p:txBody>
      </p:sp>
      <p:sp>
        <p:nvSpPr>
          <p:cNvPr id="1640103897" name=""/>
          <p:cNvSpPr>
            <a:spLocks noGrp="1"/>
          </p:cNvSpPr>
          <p:nvPr/>
        </p:nvSpPr>
        <p:spPr bwMode="auto">
          <a:xfrm>
            <a:off x="3676650" y="1619250"/>
            <a:ext cx="38100" cy="342900"/>
          </a:xfrm>
          <a:prstGeom prst="rect">
            <a:avLst/>
          </a:prstGeom>
          <a:solidFill>
            <a:srgbClr val="2A9D8F"/>
          </a:solidFill>
          <a:ln w="11430">
            <a:solidFill>
              <a:srgbClr val="2A9D8F"/>
            </a:solidFill>
            <a:prstDash val="solid"/>
          </a:ln>
        </p:spPr>
      </p:sp>
      <p:sp>
        <p:nvSpPr>
          <p:cNvPr id="1401966913" name=""/>
          <p:cNvSpPr>
            <a:spLocks noGrp="1"/>
          </p:cNvSpPr>
          <p:nvPr/>
        </p:nvSpPr>
        <p:spPr bwMode="auto">
          <a:xfrm>
            <a:off x="4000500" y="15049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repository tests</a:t>
            </a:r>
            <a:endParaRPr/>
          </a:p>
        </p:txBody>
      </p:sp>
      <p:sp>
        <p:nvSpPr>
          <p:cNvPr id="1451048104" name=""/>
          <p:cNvSpPr>
            <a:spLocks noGrp="1"/>
          </p:cNvSpPr>
          <p:nvPr/>
        </p:nvSpPr>
        <p:spPr bwMode="auto">
          <a:xfrm>
            <a:off x="990600" y="23431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2,074</a:t>
            </a:r>
            <a:endParaRPr/>
          </a:p>
        </p:txBody>
      </p:sp>
      <p:sp>
        <p:nvSpPr>
          <p:cNvPr id="1627576421" name=""/>
          <p:cNvSpPr>
            <a:spLocks noGrp="1"/>
          </p:cNvSpPr>
          <p:nvPr/>
        </p:nvSpPr>
        <p:spPr bwMode="auto">
          <a:xfrm>
            <a:off x="3676650" y="2457450"/>
            <a:ext cx="38100" cy="342900"/>
          </a:xfrm>
          <a:prstGeom prst="rect">
            <a:avLst/>
          </a:prstGeom>
          <a:solidFill>
            <a:srgbClr val="E76F51"/>
          </a:solidFill>
          <a:ln w="11430">
            <a:solidFill>
              <a:srgbClr val="E76F51"/>
            </a:solidFill>
            <a:prstDash val="solid"/>
          </a:ln>
        </p:spPr>
      </p:sp>
      <p:sp>
        <p:nvSpPr>
          <p:cNvPr id="217693878" name=""/>
          <p:cNvSpPr>
            <a:spLocks noGrp="1"/>
          </p:cNvSpPr>
          <p:nvPr/>
        </p:nvSpPr>
        <p:spPr bwMode="auto">
          <a:xfrm>
            <a:off x="4000500" y="23431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bounded exhaustive valid permutations, n ≤ 8</a:t>
            </a:r>
            <a:endParaRPr/>
          </a:p>
        </p:txBody>
      </p:sp>
      <p:sp>
        <p:nvSpPr>
          <p:cNvPr id="334994637" name=""/>
          <p:cNvSpPr>
            <a:spLocks noGrp="1"/>
          </p:cNvSpPr>
          <p:nvPr/>
        </p:nvSpPr>
        <p:spPr bwMode="auto">
          <a:xfrm>
            <a:off x="990600" y="31813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2A9D8F"/>
                </a:solidFill>
              </a:defRPr>
            </a:pPr>
            <a:r>
              <a:rPr sz="3150" b="1" i="0">
                <a:solidFill>
                  <a:srgbClr val="2A9D8F"/>
                </a:solidFill>
              </a:rPr>
              <a:t>48</a:t>
            </a:r>
            <a:endParaRPr/>
          </a:p>
        </p:txBody>
      </p:sp>
      <p:sp>
        <p:nvSpPr>
          <p:cNvPr id="1584098898" name=""/>
          <p:cNvSpPr>
            <a:spLocks noGrp="1"/>
          </p:cNvSpPr>
          <p:nvPr/>
        </p:nvSpPr>
        <p:spPr bwMode="auto">
          <a:xfrm>
            <a:off x="3676650" y="3295650"/>
            <a:ext cx="38100" cy="342900"/>
          </a:xfrm>
          <a:prstGeom prst="rect">
            <a:avLst/>
          </a:prstGeom>
          <a:solidFill>
            <a:srgbClr val="2A9D8F"/>
          </a:solidFill>
          <a:ln w="11430">
            <a:solidFill>
              <a:srgbClr val="2A9D8F"/>
            </a:solidFill>
            <a:prstDash val="solid"/>
          </a:ln>
        </p:spPr>
      </p:sp>
      <p:sp>
        <p:nvSpPr>
          <p:cNvPr id="2069769620" name=""/>
          <p:cNvSpPr>
            <a:spLocks noGrp="1"/>
          </p:cNvSpPr>
          <p:nvPr/>
        </p:nvSpPr>
        <p:spPr bwMode="auto">
          <a:xfrm>
            <a:off x="4000500" y="31813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fixed generated cases</a:t>
            </a:r>
            <a:endParaRPr/>
          </a:p>
        </p:txBody>
      </p:sp>
      <p:sp>
        <p:nvSpPr>
          <p:cNvPr id="1392685480" name=""/>
          <p:cNvSpPr>
            <a:spLocks noGrp="1"/>
          </p:cNvSpPr>
          <p:nvPr/>
        </p:nvSpPr>
        <p:spPr bwMode="auto">
          <a:xfrm>
            <a:off x="990600" y="40195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3150" b="1" i="0">
                <a:solidFill>
                  <a:srgbClr val="E76F51"/>
                </a:solidFill>
              </a:defRPr>
            </a:pPr>
            <a:r>
              <a:rPr sz="3150" b="1" i="0">
                <a:solidFill>
                  <a:srgbClr val="E76F51"/>
                </a:solidFill>
              </a:rPr>
              <a:t>60</a:t>
            </a:r>
            <a:endParaRPr/>
          </a:p>
        </p:txBody>
      </p:sp>
      <p:sp>
        <p:nvSpPr>
          <p:cNvPr id="2008669602" name=""/>
          <p:cNvSpPr>
            <a:spLocks noGrp="1"/>
          </p:cNvSpPr>
          <p:nvPr/>
        </p:nvSpPr>
        <p:spPr bwMode="auto">
          <a:xfrm>
            <a:off x="3676650" y="4133850"/>
            <a:ext cx="38100" cy="342900"/>
          </a:xfrm>
          <a:prstGeom prst="rect">
            <a:avLst/>
          </a:prstGeom>
          <a:solidFill>
            <a:srgbClr val="E76F51"/>
          </a:solidFill>
          <a:ln w="11430">
            <a:solidFill>
              <a:srgbClr val="E76F51"/>
            </a:solidFill>
            <a:prstDash val="solid"/>
          </a:ln>
        </p:spPr>
      </p:sp>
      <p:sp>
        <p:nvSpPr>
          <p:cNvPr id="397310931" name=""/>
          <p:cNvSpPr>
            <a:spLocks noGrp="1"/>
          </p:cNvSpPr>
          <p:nvPr/>
        </p:nvSpPr>
        <p:spPr bwMode="auto">
          <a:xfrm>
            <a:off x="4000500" y="40195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case-level checked-state audits</a:t>
            </a:r>
            <a:endParaRPr/>
          </a:p>
        </p:txBody>
      </p:sp>
      <p:sp>
        <p:nvSpPr>
          <p:cNvPr id="711144291" name=""/>
          <p:cNvSpPr>
            <a:spLocks noGrp="1"/>
          </p:cNvSpPr>
          <p:nvPr/>
        </p:nvSpPr>
        <p:spPr bwMode="auto">
          <a:xfrm>
            <a:off x="990600" y="4857750"/>
            <a:ext cx="2381250" cy="571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2550" b="1" i="0">
                <a:solidFill>
                  <a:srgbClr val="2A9D8F"/>
                </a:solidFill>
              </a:defRPr>
            </a:pPr>
            <a:r>
              <a:rPr sz="2550" b="1" i="0">
                <a:solidFill>
                  <a:srgbClr val="2A9D8F"/>
                </a:solidFill>
              </a:rPr>
              <a:t>passed</a:t>
            </a:r>
            <a:endParaRPr/>
          </a:p>
        </p:txBody>
      </p:sp>
      <p:sp>
        <p:nvSpPr>
          <p:cNvPr id="1912907039" name=""/>
          <p:cNvSpPr>
            <a:spLocks noGrp="1"/>
          </p:cNvSpPr>
          <p:nvPr/>
        </p:nvSpPr>
        <p:spPr bwMode="auto">
          <a:xfrm>
            <a:off x="3676650" y="4972050"/>
            <a:ext cx="38100" cy="342900"/>
          </a:xfrm>
          <a:prstGeom prst="rect">
            <a:avLst/>
          </a:prstGeom>
          <a:solidFill>
            <a:srgbClr val="2A9D8F"/>
          </a:solidFill>
          <a:ln w="11430">
            <a:solidFill>
              <a:srgbClr val="2A9D8F"/>
            </a:solidFill>
            <a:prstDash val="solid"/>
          </a:ln>
        </p:spPr>
      </p:sp>
      <p:sp>
        <p:nvSpPr>
          <p:cNvPr id="2120594333" name=""/>
          <p:cNvSpPr>
            <a:spLocks noGrp="1"/>
          </p:cNvSpPr>
          <p:nvPr/>
        </p:nvSpPr>
        <p:spPr bwMode="auto">
          <a:xfrm>
            <a:off x="4000500" y="4857750"/>
            <a:ext cx="6858000" cy="571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750" b="0" i="0">
                <a:solidFill>
                  <a:srgbClr val="243B53"/>
                </a:solidFill>
              </a:defRPr>
            </a:pPr>
            <a:r>
              <a:rPr sz="1750" b="0" i="0">
                <a:solidFill>
                  <a:srgbClr val="243B53"/>
                </a:solidFill>
              </a:rPr>
              <a:t>formal evidence-contract validation</a:t>
            </a:r>
            <a:endParaRPr/>
          </a:p>
        </p:txBody>
      </p:sp>
      <p:sp>
        <p:nvSpPr>
          <p:cNvPr id="121421413" name=""/>
          <p:cNvSpPr>
            <a:spLocks noGrp="1"/>
          </p:cNvSpPr>
          <p:nvPr/>
        </p:nvSpPr>
        <p:spPr bwMode="auto">
          <a:xfrm>
            <a:off x="1866900" y="5810250"/>
            <a:ext cx="8458200" cy="457200"/>
          </a:xfrm>
          <a:prstGeom prst="roundRect">
            <a:avLst>
              <a:gd name="adj" fmla="val 12500"/>
            </a:avLst>
          </a:prstGeom>
          <a:solidFill>
            <a:srgbClr val="FCEEEA"/>
          </a:solidFill>
          <a:ln w="11430">
            <a:solidFill>
              <a:srgbClr val="E76F51"/>
            </a:solidFill>
            <a:prstDash val="solid"/>
          </a:ln>
        </p:spPr>
      </p:sp>
      <p:sp>
        <p:nvSpPr>
          <p:cNvPr id="1492186915" name=""/>
          <p:cNvSpPr>
            <a:spLocks noGrp="1"/>
          </p:cNvSpPr>
          <p:nvPr/>
        </p:nvSpPr>
        <p:spPr bwMode="auto">
          <a:xfrm>
            <a:off x="2057400" y="5848350"/>
            <a:ext cx="80772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Finite validation evidence is not a proof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68547874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D</a:t>
            </a:r>
            <a:endParaRPr/>
          </a:p>
        </p:txBody>
      </p:sp>
      <p:sp>
        <p:nvSpPr>
          <p:cNvPr id="123539611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Increasing and decreasing iterations use reflected local choices</a:t>
            </a:r>
            <a:endParaRPr/>
          </a:p>
        </p:txBody>
      </p:sp>
      <p:sp>
        <p:nvSpPr>
          <p:cNvPr id="1872346890" name=""/>
          <p:cNvSpPr>
            <a:spLocks noGrp="1"/>
          </p:cNvSpPr>
          <p:nvPr/>
        </p:nvSpPr>
        <p:spPr bwMode="auto">
          <a:xfrm>
            <a:off x="609600" y="1085850"/>
            <a:ext cx="10972800" cy="9525"/>
          </a:xfrm>
          <a:prstGeom prst="line">
            <a:avLst/>
          </a:prstGeom>
          <a:noFill/>
          <a:ln w="28575">
            <a:solidFill>
              <a:srgbClr val="E76F51"/>
            </a:solidFill>
            <a:prstDash val="solid"/>
          </a:ln>
        </p:spPr>
      </p:sp>
      <p:sp>
        <p:nvSpPr>
          <p:cNvPr id="1603059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0608602"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206172985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D</a:t>
            </a:r>
            <a:endParaRPr/>
          </a:p>
        </p:txBody>
      </p:sp>
      <p:sp>
        <p:nvSpPr>
          <p:cNvPr id="1174276524" name=""/>
          <p:cNvSpPr>
            <a:spLocks noGrp="1"/>
          </p:cNvSpPr>
          <p:nvPr/>
        </p:nvSpPr>
        <p:spPr bwMode="auto">
          <a:xfrm>
            <a:off x="876299" y="1466849"/>
            <a:ext cx="3314700" cy="495300"/>
          </a:xfrm>
          <a:prstGeom prst="rect">
            <a:avLst/>
          </a:prstGeom>
          <a:solidFill>
            <a:srgbClr val="102A43"/>
          </a:solidFill>
          <a:ln w="11430">
            <a:solidFill>
              <a:srgbClr val="D9E2EC"/>
            </a:solidFill>
            <a:prstDash val="solid"/>
          </a:ln>
        </p:spPr>
      </p:sp>
      <p:sp>
        <p:nvSpPr>
          <p:cNvPr id="956591574" name=""/>
          <p:cNvSpPr>
            <a:spLocks noGrp="1"/>
          </p:cNvSpPr>
          <p:nvPr/>
        </p:nvSpPr>
        <p:spPr bwMode="auto">
          <a:xfrm>
            <a:off x="952500" y="1524000"/>
            <a:ext cx="31623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FFFFFF"/>
                </a:solidFill>
              </a:defRPr>
            </a:pPr>
            <a:r>
              <a:rPr sz="1450" b="1" i="0">
                <a:solidFill>
                  <a:srgbClr val="FFFFFF"/>
                </a:solidFill>
              </a:rPr>
              <a:t>Control choice</a:t>
            </a:r>
            <a:endParaRPr/>
          </a:p>
        </p:txBody>
      </p:sp>
      <p:sp>
        <p:nvSpPr>
          <p:cNvPr id="1853061927" name=""/>
          <p:cNvSpPr>
            <a:spLocks noGrp="1"/>
          </p:cNvSpPr>
          <p:nvPr/>
        </p:nvSpPr>
        <p:spPr bwMode="auto">
          <a:xfrm>
            <a:off x="4191000" y="1466849"/>
            <a:ext cx="3295650" cy="495300"/>
          </a:xfrm>
          <a:prstGeom prst="rect">
            <a:avLst/>
          </a:prstGeom>
          <a:solidFill>
            <a:srgbClr val="E8F5F3"/>
          </a:solidFill>
          <a:ln w="11430">
            <a:solidFill>
              <a:srgbClr val="D9E2EC"/>
            </a:solidFill>
            <a:prstDash val="solid"/>
          </a:ln>
        </p:spPr>
      </p:sp>
      <p:sp>
        <p:nvSpPr>
          <p:cNvPr id="1160926756" name=""/>
          <p:cNvSpPr>
            <a:spLocks noGrp="1"/>
          </p:cNvSpPr>
          <p:nvPr/>
        </p:nvSpPr>
        <p:spPr bwMode="auto">
          <a:xfrm>
            <a:off x="4267200" y="1524000"/>
            <a:ext cx="31432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Increasing orientation</a:t>
            </a:r>
            <a:endParaRPr/>
          </a:p>
        </p:txBody>
      </p:sp>
      <p:sp>
        <p:nvSpPr>
          <p:cNvPr id="2030574319" name=""/>
          <p:cNvSpPr>
            <a:spLocks noGrp="1"/>
          </p:cNvSpPr>
          <p:nvPr/>
        </p:nvSpPr>
        <p:spPr bwMode="auto">
          <a:xfrm>
            <a:off x="7486650" y="1466849"/>
            <a:ext cx="3752850" cy="495300"/>
          </a:xfrm>
          <a:prstGeom prst="rect">
            <a:avLst/>
          </a:prstGeom>
          <a:solidFill>
            <a:srgbClr val="FCEEEA"/>
          </a:solidFill>
          <a:ln w="11430">
            <a:solidFill>
              <a:srgbClr val="D9E2EC"/>
            </a:solidFill>
            <a:prstDash val="solid"/>
          </a:ln>
        </p:spPr>
      </p:sp>
      <p:sp>
        <p:nvSpPr>
          <p:cNvPr id="700423316" name=""/>
          <p:cNvSpPr>
            <a:spLocks noGrp="1"/>
          </p:cNvSpPr>
          <p:nvPr/>
        </p:nvSpPr>
        <p:spPr bwMode="auto">
          <a:xfrm>
            <a:off x="7562850" y="1524000"/>
            <a:ext cx="360045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E76F51"/>
                </a:solidFill>
              </a:defRPr>
            </a:pPr>
            <a:r>
              <a:rPr sz="1450" b="1" i="0">
                <a:solidFill>
                  <a:srgbClr val="E76F51"/>
                </a:solidFill>
              </a:rPr>
              <a:t>Decreasing orientation</a:t>
            </a:r>
            <a:endParaRPr/>
          </a:p>
        </p:txBody>
      </p:sp>
      <p:sp>
        <p:nvSpPr>
          <p:cNvPr id="812132825" name=""/>
          <p:cNvSpPr>
            <a:spLocks noGrp="1"/>
          </p:cNvSpPr>
          <p:nvPr/>
        </p:nvSpPr>
        <p:spPr bwMode="auto">
          <a:xfrm>
            <a:off x="876299" y="1962150"/>
            <a:ext cx="3314700" cy="514350"/>
          </a:xfrm>
          <a:prstGeom prst="rect">
            <a:avLst/>
          </a:prstGeom>
          <a:solidFill>
            <a:srgbClr val="FFFFFF"/>
          </a:solidFill>
          <a:ln w="11430">
            <a:solidFill>
              <a:srgbClr val="D9E2EC"/>
            </a:solidFill>
            <a:prstDash val="solid"/>
          </a:ln>
        </p:spPr>
      </p:sp>
      <p:sp>
        <p:nvSpPr>
          <p:cNvPr id="1909500454" name=""/>
          <p:cNvSpPr>
            <a:spLocks noGrp="1"/>
          </p:cNvSpPr>
          <p:nvPr/>
        </p:nvSpPr>
        <p:spPr bwMode="auto">
          <a:xfrm>
            <a:off x="952500" y="20193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3(a) boundary</a:t>
            </a:r>
            <a:endParaRPr/>
          </a:p>
        </p:txBody>
      </p:sp>
      <p:sp>
        <p:nvSpPr>
          <p:cNvPr id="1236782908" name=""/>
          <p:cNvSpPr>
            <a:spLocks noGrp="1"/>
          </p:cNvSpPr>
          <p:nvPr/>
        </p:nvSpPr>
        <p:spPr bwMode="auto">
          <a:xfrm>
            <a:off x="4191000" y="1962150"/>
            <a:ext cx="3295650" cy="514350"/>
          </a:xfrm>
          <a:prstGeom prst="rect">
            <a:avLst/>
          </a:prstGeom>
          <a:solidFill>
            <a:srgbClr val="FFFFFF"/>
          </a:solidFill>
          <a:ln w="11430">
            <a:solidFill>
              <a:srgbClr val="D9E2EC"/>
            </a:solidFill>
            <a:prstDash val="solid"/>
          </a:ln>
        </p:spPr>
      </p:sp>
      <p:sp>
        <p:nvSpPr>
          <p:cNvPr id="931073951" name=""/>
          <p:cNvSpPr>
            <a:spLocks noGrp="1"/>
          </p:cNvSpPr>
          <p:nvPr/>
        </p:nvSpPr>
        <p:spPr bwMode="auto">
          <a:xfrm>
            <a:off x="4267200" y="20193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441666859" name=""/>
          <p:cNvSpPr>
            <a:spLocks noGrp="1"/>
          </p:cNvSpPr>
          <p:nvPr/>
        </p:nvSpPr>
        <p:spPr bwMode="auto">
          <a:xfrm>
            <a:off x="7486650" y="1962150"/>
            <a:ext cx="3752850" cy="514350"/>
          </a:xfrm>
          <a:prstGeom prst="rect">
            <a:avLst/>
          </a:prstGeom>
          <a:solidFill>
            <a:srgbClr val="FFFFFF"/>
          </a:solidFill>
          <a:ln w="11430">
            <a:solidFill>
              <a:srgbClr val="D9E2EC"/>
            </a:solidFill>
            <a:prstDash val="solid"/>
          </a:ln>
        </p:spPr>
      </p:sp>
      <p:sp>
        <p:nvSpPr>
          <p:cNvPr id="340072725" name=""/>
          <p:cNvSpPr>
            <a:spLocks noGrp="1"/>
          </p:cNvSpPr>
          <p:nvPr/>
        </p:nvSpPr>
        <p:spPr bwMode="auto">
          <a:xfrm>
            <a:off x="7562850" y="20193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1488580129" name=""/>
          <p:cNvSpPr>
            <a:spLocks noGrp="1"/>
          </p:cNvSpPr>
          <p:nvPr/>
        </p:nvSpPr>
        <p:spPr bwMode="auto">
          <a:xfrm>
            <a:off x="876299" y="2476500"/>
            <a:ext cx="3314700" cy="514350"/>
          </a:xfrm>
          <a:prstGeom prst="rect">
            <a:avLst/>
          </a:prstGeom>
          <a:solidFill>
            <a:srgbClr val="F0F4F8"/>
          </a:solidFill>
          <a:ln w="11430">
            <a:solidFill>
              <a:srgbClr val="D9E2EC"/>
            </a:solidFill>
            <a:prstDash val="solid"/>
          </a:ln>
        </p:spPr>
      </p:sp>
      <p:sp>
        <p:nvSpPr>
          <p:cNvPr id="1383274573" name=""/>
          <p:cNvSpPr>
            <a:spLocks noGrp="1"/>
          </p:cNvSpPr>
          <p:nvPr/>
        </p:nvSpPr>
        <p:spPr bwMode="auto">
          <a:xfrm>
            <a:off x="952500" y="25336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Boundary insertion</a:t>
            </a:r>
            <a:endParaRPr/>
          </a:p>
        </p:txBody>
      </p:sp>
      <p:sp>
        <p:nvSpPr>
          <p:cNvPr id="856824471" name=""/>
          <p:cNvSpPr>
            <a:spLocks noGrp="1"/>
          </p:cNvSpPr>
          <p:nvPr/>
        </p:nvSpPr>
        <p:spPr bwMode="auto">
          <a:xfrm>
            <a:off x="4191000" y="2476500"/>
            <a:ext cx="3295650" cy="514350"/>
          </a:xfrm>
          <a:prstGeom prst="rect">
            <a:avLst/>
          </a:prstGeom>
          <a:solidFill>
            <a:srgbClr val="F0F4F8"/>
          </a:solidFill>
          <a:ln w="11430">
            <a:solidFill>
              <a:srgbClr val="D9E2EC"/>
            </a:solidFill>
            <a:prstDash val="solid"/>
          </a:ln>
        </p:spPr>
      </p:sp>
      <p:sp>
        <p:nvSpPr>
          <p:cNvPr id="1742867179" name=""/>
          <p:cNvSpPr>
            <a:spLocks noGrp="1"/>
          </p:cNvSpPr>
          <p:nvPr/>
        </p:nvSpPr>
        <p:spPr bwMode="auto">
          <a:xfrm>
            <a:off x="4267200" y="25336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last sibling</a:t>
            </a:r>
            <a:endParaRPr/>
          </a:p>
        </p:txBody>
      </p:sp>
      <p:sp>
        <p:nvSpPr>
          <p:cNvPr id="670485249" name=""/>
          <p:cNvSpPr>
            <a:spLocks noGrp="1"/>
          </p:cNvSpPr>
          <p:nvPr/>
        </p:nvSpPr>
        <p:spPr bwMode="auto">
          <a:xfrm>
            <a:off x="7486650" y="2476500"/>
            <a:ext cx="3752850" cy="514350"/>
          </a:xfrm>
          <a:prstGeom prst="rect">
            <a:avLst/>
          </a:prstGeom>
          <a:solidFill>
            <a:srgbClr val="F0F4F8"/>
          </a:solidFill>
          <a:ln w="11430">
            <a:solidFill>
              <a:srgbClr val="D9E2EC"/>
            </a:solidFill>
            <a:prstDash val="solid"/>
          </a:ln>
        </p:spPr>
      </p:sp>
      <p:sp>
        <p:nvSpPr>
          <p:cNvPr id="1226740190" name=""/>
          <p:cNvSpPr>
            <a:spLocks noGrp="1"/>
          </p:cNvSpPr>
          <p:nvPr/>
        </p:nvSpPr>
        <p:spPr bwMode="auto">
          <a:xfrm>
            <a:off x="7562850" y="25336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first sibling</a:t>
            </a:r>
            <a:endParaRPr/>
          </a:p>
        </p:txBody>
      </p:sp>
      <p:sp>
        <p:nvSpPr>
          <p:cNvPr id="1012072546" name=""/>
          <p:cNvSpPr>
            <a:spLocks noGrp="1"/>
          </p:cNvSpPr>
          <p:nvPr/>
        </p:nvSpPr>
        <p:spPr bwMode="auto">
          <a:xfrm>
            <a:off x="876299" y="2990850"/>
            <a:ext cx="3314700" cy="514350"/>
          </a:xfrm>
          <a:prstGeom prst="rect">
            <a:avLst/>
          </a:prstGeom>
          <a:solidFill>
            <a:srgbClr val="FFFFFF"/>
          </a:solidFill>
          <a:ln w="11430">
            <a:solidFill>
              <a:srgbClr val="D9E2EC"/>
            </a:solidFill>
            <a:prstDash val="solid"/>
          </a:ln>
        </p:spPr>
      </p:sp>
      <p:sp>
        <p:nvSpPr>
          <p:cNvPr id="403107870" name=""/>
          <p:cNvSpPr>
            <a:spLocks noGrp="1"/>
          </p:cNvSpPr>
          <p:nvPr/>
        </p:nvSpPr>
        <p:spPr bwMode="auto">
          <a:xfrm>
            <a:off x="952500" y="30480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Step 3(b) boundary</a:t>
            </a:r>
            <a:endParaRPr/>
          </a:p>
        </p:txBody>
      </p:sp>
      <p:sp>
        <p:nvSpPr>
          <p:cNvPr id="362801327" name=""/>
          <p:cNvSpPr>
            <a:spLocks noGrp="1"/>
          </p:cNvSpPr>
          <p:nvPr/>
        </p:nvSpPr>
        <p:spPr bwMode="auto">
          <a:xfrm>
            <a:off x="4191000" y="2990850"/>
            <a:ext cx="3295650" cy="514350"/>
          </a:xfrm>
          <a:prstGeom prst="rect">
            <a:avLst/>
          </a:prstGeom>
          <a:solidFill>
            <a:srgbClr val="FFFFFF"/>
          </a:solidFill>
          <a:ln w="11430">
            <a:solidFill>
              <a:srgbClr val="D9E2EC"/>
            </a:solidFill>
            <a:prstDash val="solid"/>
          </a:ln>
        </p:spPr>
      </p:sp>
      <p:sp>
        <p:nvSpPr>
          <p:cNvPr id="1705668611" name=""/>
          <p:cNvSpPr>
            <a:spLocks noGrp="1"/>
          </p:cNvSpPr>
          <p:nvPr/>
        </p:nvSpPr>
        <p:spPr bwMode="auto">
          <a:xfrm>
            <a:off x="4267200" y="30480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successor-side (Bᵢ)</a:t>
            </a:r>
            <a:endParaRPr/>
          </a:p>
        </p:txBody>
      </p:sp>
      <p:sp>
        <p:nvSpPr>
          <p:cNvPr id="392672873" name=""/>
          <p:cNvSpPr>
            <a:spLocks noGrp="1"/>
          </p:cNvSpPr>
          <p:nvPr/>
        </p:nvSpPr>
        <p:spPr bwMode="auto">
          <a:xfrm>
            <a:off x="7486650" y="2990850"/>
            <a:ext cx="3752850" cy="514350"/>
          </a:xfrm>
          <a:prstGeom prst="rect">
            <a:avLst/>
          </a:prstGeom>
          <a:solidFill>
            <a:srgbClr val="FFFFFF"/>
          </a:solidFill>
          <a:ln w="11430">
            <a:solidFill>
              <a:srgbClr val="D9E2EC"/>
            </a:solidFill>
            <a:prstDash val="solid"/>
          </a:ln>
        </p:spPr>
      </p:sp>
      <p:sp>
        <p:nvSpPr>
          <p:cNvPr id="2083904342" name=""/>
          <p:cNvSpPr>
            <a:spLocks noGrp="1"/>
          </p:cNvSpPr>
          <p:nvPr/>
        </p:nvSpPr>
        <p:spPr bwMode="auto">
          <a:xfrm>
            <a:off x="7562850" y="30480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predecessor-side (Aᵢ)</a:t>
            </a:r>
            <a:endParaRPr/>
          </a:p>
        </p:txBody>
      </p:sp>
      <p:sp>
        <p:nvSpPr>
          <p:cNvPr id="302860122" name=""/>
          <p:cNvSpPr>
            <a:spLocks noGrp="1"/>
          </p:cNvSpPr>
          <p:nvPr/>
        </p:nvSpPr>
        <p:spPr bwMode="auto">
          <a:xfrm>
            <a:off x="876299" y="3505199"/>
            <a:ext cx="3314700" cy="514350"/>
          </a:xfrm>
          <a:prstGeom prst="rect">
            <a:avLst/>
          </a:prstGeom>
          <a:solidFill>
            <a:srgbClr val="F0F4F8"/>
          </a:solidFill>
          <a:ln w="11430">
            <a:solidFill>
              <a:srgbClr val="D9E2EC"/>
            </a:solidFill>
            <a:prstDash val="solid"/>
          </a:ln>
        </p:spPr>
      </p:sp>
      <p:sp>
        <p:nvSpPr>
          <p:cNvPr id="1667967974" name=""/>
          <p:cNvSpPr>
            <a:spLocks noGrp="1"/>
          </p:cNvSpPr>
          <p:nvPr/>
        </p:nvSpPr>
        <p:spPr bwMode="auto">
          <a:xfrm>
            <a:off x="952500" y="35623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Acquired split side</a:t>
            </a:r>
            <a:endParaRPr/>
          </a:p>
        </p:txBody>
      </p:sp>
      <p:sp>
        <p:nvSpPr>
          <p:cNvPr id="508391403" name=""/>
          <p:cNvSpPr>
            <a:spLocks noGrp="1"/>
          </p:cNvSpPr>
          <p:nvPr/>
        </p:nvSpPr>
        <p:spPr bwMode="auto">
          <a:xfrm>
            <a:off x="4191000" y="3505199"/>
            <a:ext cx="3295650" cy="514350"/>
          </a:xfrm>
          <a:prstGeom prst="rect">
            <a:avLst/>
          </a:prstGeom>
          <a:solidFill>
            <a:srgbClr val="F0F4F8"/>
          </a:solidFill>
          <a:ln w="11430">
            <a:solidFill>
              <a:srgbClr val="D9E2EC"/>
            </a:solidFill>
            <a:prstDash val="solid"/>
          </a:ln>
        </p:spPr>
      </p:sp>
      <p:sp>
        <p:nvSpPr>
          <p:cNvPr id="1079144552" name=""/>
          <p:cNvSpPr>
            <a:spLocks noGrp="1"/>
          </p:cNvSpPr>
          <p:nvPr/>
        </p:nvSpPr>
        <p:spPr bwMode="auto">
          <a:xfrm>
            <a:off x="4267200" y="35623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a:t>
            </a:r>
            <a:endParaRPr/>
          </a:p>
        </p:txBody>
      </p:sp>
      <p:sp>
        <p:nvSpPr>
          <p:cNvPr id="1484536161" name=""/>
          <p:cNvSpPr>
            <a:spLocks noGrp="1"/>
          </p:cNvSpPr>
          <p:nvPr/>
        </p:nvSpPr>
        <p:spPr bwMode="auto">
          <a:xfrm>
            <a:off x="7486650" y="3505199"/>
            <a:ext cx="3752850" cy="514350"/>
          </a:xfrm>
          <a:prstGeom prst="rect">
            <a:avLst/>
          </a:prstGeom>
          <a:solidFill>
            <a:srgbClr val="F0F4F8"/>
          </a:solidFill>
          <a:ln w="11430">
            <a:solidFill>
              <a:srgbClr val="D9E2EC"/>
            </a:solidFill>
            <a:prstDash val="solid"/>
          </a:ln>
        </p:spPr>
      </p:sp>
      <p:sp>
        <p:nvSpPr>
          <p:cNvPr id="1529196608" name=""/>
          <p:cNvSpPr>
            <a:spLocks noGrp="1"/>
          </p:cNvSpPr>
          <p:nvPr/>
        </p:nvSpPr>
        <p:spPr bwMode="auto">
          <a:xfrm>
            <a:off x="7562850" y="35623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a:t>
            </a:r>
            <a:endParaRPr/>
          </a:p>
        </p:txBody>
      </p:sp>
      <p:sp>
        <p:nvSpPr>
          <p:cNvPr id="1398643494" name=""/>
          <p:cNvSpPr>
            <a:spLocks noGrp="1"/>
          </p:cNvSpPr>
          <p:nvPr/>
        </p:nvSpPr>
        <p:spPr bwMode="auto">
          <a:xfrm>
            <a:off x="876299" y="4019550"/>
            <a:ext cx="3314700" cy="514350"/>
          </a:xfrm>
          <a:prstGeom prst="rect">
            <a:avLst/>
          </a:prstGeom>
          <a:solidFill>
            <a:srgbClr val="FFFFFF"/>
          </a:solidFill>
          <a:ln w="11430">
            <a:solidFill>
              <a:srgbClr val="D9E2EC"/>
            </a:solidFill>
            <a:prstDash val="solid"/>
          </a:ln>
        </p:spPr>
      </p:sp>
      <p:sp>
        <p:nvSpPr>
          <p:cNvPr id="597035796" name=""/>
          <p:cNvSpPr>
            <a:spLocks noGrp="1"/>
          </p:cNvSpPr>
          <p:nvPr/>
        </p:nvSpPr>
        <p:spPr bwMode="auto">
          <a:xfrm>
            <a:off x="952500" y="4076699"/>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Child extreme</a:t>
            </a:r>
            <a:endParaRPr/>
          </a:p>
        </p:txBody>
      </p:sp>
      <p:sp>
        <p:nvSpPr>
          <p:cNvPr id="569770880" name=""/>
          <p:cNvSpPr>
            <a:spLocks noGrp="1"/>
          </p:cNvSpPr>
          <p:nvPr/>
        </p:nvSpPr>
        <p:spPr bwMode="auto">
          <a:xfrm>
            <a:off x="4191000" y="4019550"/>
            <a:ext cx="3295650" cy="514350"/>
          </a:xfrm>
          <a:prstGeom prst="rect">
            <a:avLst/>
          </a:prstGeom>
          <a:solidFill>
            <a:srgbClr val="FFFFFF"/>
          </a:solidFill>
          <a:ln w="11430">
            <a:solidFill>
              <a:srgbClr val="D9E2EC"/>
            </a:solidFill>
            <a:prstDash val="solid"/>
          </a:ln>
        </p:spPr>
      </p:sp>
      <p:sp>
        <p:nvSpPr>
          <p:cNvPr id="2119850984" name=""/>
          <p:cNvSpPr>
            <a:spLocks noGrp="1"/>
          </p:cNvSpPr>
          <p:nvPr/>
        </p:nvSpPr>
        <p:spPr bwMode="auto">
          <a:xfrm>
            <a:off x="4267200" y="4076699"/>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rightmost child</a:t>
            </a:r>
            <a:endParaRPr/>
          </a:p>
        </p:txBody>
      </p:sp>
      <p:sp>
        <p:nvSpPr>
          <p:cNvPr id="481419125" name=""/>
          <p:cNvSpPr>
            <a:spLocks noGrp="1"/>
          </p:cNvSpPr>
          <p:nvPr/>
        </p:nvSpPr>
        <p:spPr bwMode="auto">
          <a:xfrm>
            <a:off x="7486650" y="4019550"/>
            <a:ext cx="3752850" cy="514350"/>
          </a:xfrm>
          <a:prstGeom prst="rect">
            <a:avLst/>
          </a:prstGeom>
          <a:solidFill>
            <a:srgbClr val="FFFFFF"/>
          </a:solidFill>
          <a:ln w="11430">
            <a:solidFill>
              <a:srgbClr val="D9E2EC"/>
            </a:solidFill>
            <a:prstDash val="solid"/>
          </a:ln>
        </p:spPr>
      </p:sp>
      <p:sp>
        <p:nvSpPr>
          <p:cNvPr id="402818394" name=""/>
          <p:cNvSpPr>
            <a:spLocks noGrp="1"/>
          </p:cNvSpPr>
          <p:nvPr/>
        </p:nvSpPr>
        <p:spPr bwMode="auto">
          <a:xfrm>
            <a:off x="7562850" y="4076699"/>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leftmost child</a:t>
            </a:r>
            <a:endParaRPr/>
          </a:p>
        </p:txBody>
      </p:sp>
      <p:sp>
        <p:nvSpPr>
          <p:cNvPr id="358521302" name=""/>
          <p:cNvSpPr>
            <a:spLocks noGrp="1"/>
          </p:cNvSpPr>
          <p:nvPr/>
        </p:nvSpPr>
        <p:spPr bwMode="auto">
          <a:xfrm>
            <a:off x="876299" y="4533900"/>
            <a:ext cx="3314700" cy="514350"/>
          </a:xfrm>
          <a:prstGeom prst="rect">
            <a:avLst/>
          </a:prstGeom>
          <a:solidFill>
            <a:srgbClr val="F0F4F8"/>
          </a:solidFill>
          <a:ln w="11430">
            <a:solidFill>
              <a:srgbClr val="D9E2EC"/>
            </a:solidFill>
            <a:prstDash val="solid"/>
          </a:ln>
        </p:spPr>
      </p:sp>
      <p:sp>
        <p:nvSpPr>
          <p:cNvPr id="1030936946" name=""/>
          <p:cNvSpPr>
            <a:spLocks noGrp="1"/>
          </p:cNvSpPr>
          <p:nvPr/>
        </p:nvSpPr>
        <p:spPr bwMode="auto">
          <a:xfrm>
            <a:off x="952500" y="459105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Geometric anchor</a:t>
            </a:r>
            <a:endParaRPr/>
          </a:p>
        </p:txBody>
      </p:sp>
      <p:sp>
        <p:nvSpPr>
          <p:cNvPr id="733435171" name=""/>
          <p:cNvSpPr>
            <a:spLocks noGrp="1"/>
          </p:cNvSpPr>
          <p:nvPr/>
        </p:nvSpPr>
        <p:spPr bwMode="auto">
          <a:xfrm>
            <a:off x="4191000" y="4533900"/>
            <a:ext cx="3295650" cy="514350"/>
          </a:xfrm>
          <a:prstGeom prst="rect">
            <a:avLst/>
          </a:prstGeom>
          <a:solidFill>
            <a:srgbClr val="F0F4F8"/>
          </a:solidFill>
          <a:ln w="11430">
            <a:solidFill>
              <a:srgbClr val="D9E2EC"/>
            </a:solidFill>
            <a:prstDash val="solid"/>
          </a:ln>
        </p:spPr>
      </p:sp>
      <p:sp>
        <p:nvSpPr>
          <p:cNvPr id="573991610" name=""/>
          <p:cNvSpPr>
            <a:spLocks noGrp="1"/>
          </p:cNvSpPr>
          <p:nvPr/>
        </p:nvSpPr>
        <p:spPr bwMode="auto">
          <a:xfrm>
            <a:off x="4267200" y="459105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right endpoint</a:t>
            </a:r>
            <a:endParaRPr/>
          </a:p>
        </p:txBody>
      </p:sp>
      <p:sp>
        <p:nvSpPr>
          <p:cNvPr id="1167639401" name=""/>
          <p:cNvSpPr>
            <a:spLocks noGrp="1"/>
          </p:cNvSpPr>
          <p:nvPr/>
        </p:nvSpPr>
        <p:spPr bwMode="auto">
          <a:xfrm>
            <a:off x="7486650" y="4533900"/>
            <a:ext cx="3752850" cy="514350"/>
          </a:xfrm>
          <a:prstGeom prst="rect">
            <a:avLst/>
          </a:prstGeom>
          <a:solidFill>
            <a:srgbClr val="F0F4F8"/>
          </a:solidFill>
          <a:ln w="11430">
            <a:solidFill>
              <a:srgbClr val="D9E2EC"/>
            </a:solidFill>
            <a:prstDash val="solid"/>
          </a:ln>
        </p:spPr>
      </p:sp>
      <p:sp>
        <p:nvSpPr>
          <p:cNvPr id="1611855439" name=""/>
          <p:cNvSpPr>
            <a:spLocks noGrp="1"/>
          </p:cNvSpPr>
          <p:nvPr/>
        </p:nvSpPr>
        <p:spPr bwMode="auto">
          <a:xfrm>
            <a:off x="7562850" y="459105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left endpoint</a:t>
            </a:r>
            <a:endParaRPr/>
          </a:p>
        </p:txBody>
      </p:sp>
      <p:sp>
        <p:nvSpPr>
          <p:cNvPr id="514113475" name=""/>
          <p:cNvSpPr>
            <a:spLocks noGrp="1"/>
          </p:cNvSpPr>
          <p:nvPr/>
        </p:nvSpPr>
        <p:spPr bwMode="auto">
          <a:xfrm>
            <a:off x="876299" y="5048250"/>
            <a:ext cx="3314700" cy="514350"/>
          </a:xfrm>
          <a:prstGeom prst="rect">
            <a:avLst/>
          </a:prstGeom>
          <a:solidFill>
            <a:srgbClr val="FFFFFF"/>
          </a:solidFill>
          <a:ln w="11430">
            <a:solidFill>
              <a:srgbClr val="D9E2EC"/>
            </a:solidFill>
            <a:prstDash val="solid"/>
          </a:ln>
        </p:spPr>
      </p:sp>
      <p:sp>
        <p:nvSpPr>
          <p:cNvPr id="1634547249" name=""/>
          <p:cNvSpPr>
            <a:spLocks noGrp="1"/>
          </p:cNvSpPr>
          <p:nvPr/>
        </p:nvSpPr>
        <p:spPr bwMode="auto">
          <a:xfrm>
            <a:off x="952500" y="5105400"/>
            <a:ext cx="31623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43B53"/>
                </a:solidFill>
              </a:defRPr>
            </a:pPr>
            <a:r>
              <a:rPr sz="1300" b="1" i="0">
                <a:solidFill>
                  <a:srgbClr val="243B53"/>
                </a:solidFill>
              </a:rPr>
              <a:t>Output insertion</a:t>
            </a:r>
            <a:endParaRPr/>
          </a:p>
        </p:txBody>
      </p:sp>
      <p:sp>
        <p:nvSpPr>
          <p:cNvPr id="1590757297" name=""/>
          <p:cNvSpPr>
            <a:spLocks noGrp="1"/>
          </p:cNvSpPr>
          <p:nvPr/>
        </p:nvSpPr>
        <p:spPr bwMode="auto">
          <a:xfrm>
            <a:off x="4191000" y="5048250"/>
            <a:ext cx="3295650" cy="514350"/>
          </a:xfrm>
          <a:prstGeom prst="rect">
            <a:avLst/>
          </a:prstGeom>
          <a:solidFill>
            <a:srgbClr val="FFFFFF"/>
          </a:solidFill>
          <a:ln w="11430">
            <a:solidFill>
              <a:srgbClr val="D9E2EC"/>
            </a:solidFill>
            <a:prstDash val="solid"/>
          </a:ln>
        </p:spPr>
      </p:sp>
      <p:sp>
        <p:nvSpPr>
          <p:cNvPr id="625490899" name=""/>
          <p:cNvSpPr>
            <a:spLocks noGrp="1"/>
          </p:cNvSpPr>
          <p:nvPr/>
        </p:nvSpPr>
        <p:spPr bwMode="auto">
          <a:xfrm>
            <a:off x="4267200" y="5105400"/>
            <a:ext cx="31432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after anchor</a:t>
            </a:r>
            <a:endParaRPr/>
          </a:p>
        </p:txBody>
      </p:sp>
      <p:sp>
        <p:nvSpPr>
          <p:cNvPr id="477280911" name=""/>
          <p:cNvSpPr>
            <a:spLocks noGrp="1"/>
          </p:cNvSpPr>
          <p:nvPr/>
        </p:nvSpPr>
        <p:spPr bwMode="auto">
          <a:xfrm>
            <a:off x="7486650" y="5048250"/>
            <a:ext cx="3752850" cy="514350"/>
          </a:xfrm>
          <a:prstGeom prst="rect">
            <a:avLst/>
          </a:prstGeom>
          <a:solidFill>
            <a:srgbClr val="FFFFFF"/>
          </a:solidFill>
          <a:ln w="11430">
            <a:solidFill>
              <a:srgbClr val="D9E2EC"/>
            </a:solidFill>
            <a:prstDash val="solid"/>
          </a:ln>
        </p:spPr>
      </p:sp>
      <p:sp>
        <p:nvSpPr>
          <p:cNvPr id="499527259" name=""/>
          <p:cNvSpPr>
            <a:spLocks noGrp="1"/>
          </p:cNvSpPr>
          <p:nvPr/>
        </p:nvSpPr>
        <p:spPr bwMode="auto">
          <a:xfrm>
            <a:off x="7562850" y="5105400"/>
            <a:ext cx="36004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before anchor</a:t>
            </a:r>
            <a:endParaRPr/>
          </a:p>
        </p:txBody>
      </p:sp>
      <p:sp>
        <p:nvSpPr>
          <p:cNvPr id="1565585467" name=""/>
          <p:cNvSpPr>
            <a:spLocks noGrp="1"/>
          </p:cNvSpPr>
          <p:nvPr/>
        </p:nvSpPr>
        <p:spPr bwMode="auto">
          <a:xfrm>
            <a:off x="1143000" y="5734050"/>
            <a:ext cx="9906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Step 1 always selects Aᵢ and Step 2 always selects Bᵢ; Step 3 reflects how those boundaries are used.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2185585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E76F51"/>
                </a:solidFill>
              </a:defRPr>
            </a:pPr>
            <a:r>
              <a:rPr sz="900" b="1" i="0">
                <a:solidFill>
                  <a:srgbClr val="E76F51"/>
                </a:solidFill>
              </a:rPr>
              <a:t>BACKUP E</a:t>
            </a:r>
            <a:endParaRPr/>
          </a:p>
        </p:txBody>
      </p:sp>
      <p:sp>
        <p:nvSpPr>
          <p:cNvPr id="79587975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Proposed finger-tree backend boundary</a:t>
            </a:r>
            <a:endParaRPr/>
          </a:p>
        </p:txBody>
      </p:sp>
      <p:sp>
        <p:nvSpPr>
          <p:cNvPr id="2004445688" name=""/>
          <p:cNvSpPr>
            <a:spLocks noGrp="1"/>
          </p:cNvSpPr>
          <p:nvPr/>
        </p:nvSpPr>
        <p:spPr bwMode="auto">
          <a:xfrm>
            <a:off x="609600" y="1085850"/>
            <a:ext cx="10972800" cy="9525"/>
          </a:xfrm>
          <a:prstGeom prst="line">
            <a:avLst/>
          </a:prstGeom>
          <a:noFill/>
          <a:ln w="28575">
            <a:solidFill>
              <a:srgbClr val="E76F51"/>
            </a:solidFill>
            <a:prstDash val="solid"/>
          </a:ln>
        </p:spPr>
      </p:sp>
      <p:sp>
        <p:nvSpPr>
          <p:cNvPr id="904637204" name=""/>
          <p:cNvSpPr>
            <a:spLocks noGrp="1"/>
          </p:cNvSpPr>
          <p:nvPr/>
        </p:nvSpPr>
        <p:spPr bwMode="auto">
          <a:xfrm>
            <a:off x="609600" y="6477000"/>
            <a:ext cx="10972800" cy="9525"/>
          </a:xfrm>
          <a:prstGeom prst="line">
            <a:avLst/>
          </a:prstGeom>
          <a:noFill/>
          <a:ln w="9525">
            <a:solidFill>
              <a:srgbClr val="D9E2EC"/>
            </a:solidFill>
            <a:prstDash val="solid"/>
          </a:ln>
        </p:spPr>
      </p:sp>
      <p:sp>
        <p:nvSpPr>
          <p:cNvPr id="166289114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E76F51"/>
                </a:solidFill>
              </a:defRPr>
            </a:pPr>
            <a:r>
              <a:rPr sz="850" b="1" i="0">
                <a:solidFill>
                  <a:srgbClr val="E76F51"/>
                </a:solidFill>
              </a:rPr>
              <a:t>BACKUP</a:t>
            </a:r>
            <a:endParaRPr/>
          </a:p>
        </p:txBody>
      </p:sp>
      <p:sp>
        <p:nvSpPr>
          <p:cNvPr id="117303463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E</a:t>
            </a:r>
            <a:endParaRPr/>
          </a:p>
        </p:txBody>
      </p:sp>
      <p:sp>
        <p:nvSpPr>
          <p:cNvPr id="685163523" name=""/>
          <p:cNvSpPr>
            <a:spLocks noGrp="1"/>
          </p:cNvSpPr>
          <p:nvPr/>
        </p:nvSpPr>
        <p:spPr bwMode="auto">
          <a:xfrm>
            <a:off x="895350" y="1524000"/>
            <a:ext cx="2762250" cy="685800"/>
          </a:xfrm>
          <a:prstGeom prst="roundRect">
            <a:avLst>
              <a:gd name="adj" fmla="val 11111"/>
            </a:avLst>
          </a:prstGeom>
          <a:solidFill>
            <a:srgbClr val="E8F5F3"/>
          </a:solidFill>
          <a:ln w="14288">
            <a:solidFill>
              <a:srgbClr val="2A9D8F"/>
            </a:solidFill>
            <a:prstDash val="solid"/>
          </a:ln>
        </p:spPr>
      </p:sp>
      <p:sp>
        <p:nvSpPr>
          <p:cNvPr id="510746914" name=""/>
          <p:cNvSpPr>
            <a:spLocks noGrp="1"/>
          </p:cNvSpPr>
          <p:nvPr/>
        </p:nvSpPr>
        <p:spPr bwMode="auto">
          <a:xfrm>
            <a:off x="1028700" y="1657350"/>
            <a:ext cx="24955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Paper Step 1/2/3</a:t>
            </a:r>
            <a:endParaRPr/>
          </a:p>
        </p:txBody>
      </p:sp>
      <p:sp>
        <p:nvSpPr>
          <p:cNvPr id="272313063" name=""/>
          <p:cNvSpPr>
            <a:spLocks noGrp="1"/>
          </p:cNvSpPr>
          <p:nvPr/>
        </p:nvSpPr>
        <p:spPr bwMode="auto">
          <a:xfrm>
            <a:off x="4762500" y="1409700"/>
            <a:ext cx="6534150" cy="914400"/>
          </a:xfrm>
          <a:prstGeom prst="roundRect">
            <a:avLst>
              <a:gd name="adj" fmla="val 8333"/>
            </a:avLst>
          </a:prstGeom>
          <a:solidFill>
            <a:srgbClr val="FFFFFF"/>
          </a:solidFill>
          <a:ln w="14288">
            <a:solidFill>
              <a:srgbClr val="102A43"/>
            </a:solidFill>
            <a:prstDash val="solid"/>
          </a:ln>
        </p:spPr>
      </p:sp>
      <p:sp>
        <p:nvSpPr>
          <p:cNvPr id="37806112" name=""/>
          <p:cNvSpPr>
            <a:spLocks noGrp="1"/>
          </p:cNvSpPr>
          <p:nvPr/>
        </p:nvSpPr>
        <p:spPr bwMode="auto">
          <a:xfrm>
            <a:off x="4953000" y="1485900"/>
            <a:ext cx="6153149"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Sibling-list backend interface</a:t>
            </a:r>
            <a:endParaRPr/>
          </a:p>
        </p:txBody>
      </p:sp>
      <p:sp>
        <p:nvSpPr>
          <p:cNvPr id="21851212" name=""/>
          <p:cNvSpPr>
            <a:spLocks noGrp="1"/>
          </p:cNvSpPr>
          <p:nvPr/>
        </p:nvSpPr>
        <p:spPr bwMode="auto">
          <a:xfrm>
            <a:off x="4991100" y="1847850"/>
            <a:ext cx="60769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50" b="0" i="0">
                <a:solidFill>
                  <a:srgbClr val="52606D"/>
                </a:solidFill>
              </a:defRPr>
            </a:pPr>
            <a:r>
              <a:rPr sz="1050" b="0" i="0">
                <a:solidFill>
                  <a:srgbClr val="52606D"/>
                </a:solidFill>
              </a:rPr>
              <a:t>make singleton • insert at left/right boundary • split at new-point value</a:t>
            </a:r>
            <a:endParaRPr/>
          </a:p>
          <a:p>
            <a:pPr algn="ctr">
              <a:lnSpc>
                <a:spcPct val="105000"/>
              </a:lnSpc>
              <a:buNone/>
              <a:defRPr sz="1050" b="0" i="0">
                <a:solidFill>
                  <a:srgbClr val="52606D"/>
                </a:solidFill>
              </a:defRPr>
            </a:pPr>
            <a:r>
              <a:rPr sz="1050" b="0" i="0">
                <a:solidFill>
                  <a:srgbClr val="52606D"/>
                </a:solidFill>
              </a:rPr>
              <a:t>access first/last child • preserve ownership and stable handles</a:t>
            </a:r>
            <a:endParaRPr/>
          </a:p>
        </p:txBody>
      </p:sp>
      <p:sp>
        <p:nvSpPr>
          <p:cNvPr id="1351071100" name=""/>
          <p:cNvSpPr>
            <a:spLocks noGrp="1"/>
          </p:cNvSpPr>
          <p:nvPr/>
        </p:nvSpPr>
        <p:spPr bwMode="auto">
          <a:xfrm>
            <a:off x="876299" y="3352800"/>
            <a:ext cx="4762500" cy="1733550"/>
          </a:xfrm>
          <a:prstGeom prst="roundRect">
            <a:avLst>
              <a:gd name="adj" fmla="val 4396"/>
            </a:avLst>
          </a:prstGeom>
          <a:solidFill>
            <a:srgbClr val="E8F5F3"/>
          </a:solidFill>
          <a:ln w="14288">
            <a:solidFill>
              <a:srgbClr val="2A9D8F"/>
            </a:solidFill>
            <a:prstDash val="solid"/>
          </a:ln>
        </p:spPr>
      </p:sp>
      <p:sp>
        <p:nvSpPr>
          <p:cNvPr id="791637214" name=""/>
          <p:cNvSpPr>
            <a:spLocks noGrp="1"/>
          </p:cNvSpPr>
          <p:nvPr/>
        </p:nvSpPr>
        <p:spPr bwMode="auto">
          <a:xfrm>
            <a:off x="6553200" y="3352800"/>
            <a:ext cx="4762500" cy="1733550"/>
          </a:xfrm>
          <a:prstGeom prst="roundRect">
            <a:avLst>
              <a:gd name="adj" fmla="val 4396"/>
            </a:avLst>
          </a:prstGeom>
          <a:solidFill>
            <a:srgbClr val="FCEEEA"/>
          </a:solidFill>
          <a:ln w="14288">
            <a:solidFill>
              <a:srgbClr val="E76F51"/>
            </a:solidFill>
            <a:prstDash val="solid"/>
          </a:ln>
        </p:spPr>
      </p:sp>
      <p:sp>
        <p:nvSpPr>
          <p:cNvPr id="691732397" name=""/>
          <p:cNvSpPr>
            <a:spLocks noGrp="1"/>
          </p:cNvSpPr>
          <p:nvPr/>
        </p:nvSpPr>
        <p:spPr bwMode="auto">
          <a:xfrm>
            <a:off x="11620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Ordinary-list backend</a:t>
            </a:r>
            <a:endParaRPr/>
          </a:p>
        </p:txBody>
      </p:sp>
      <p:sp>
        <p:nvSpPr>
          <p:cNvPr id="1330612305" name=""/>
          <p:cNvSpPr>
            <a:spLocks noGrp="1"/>
          </p:cNvSpPr>
          <p:nvPr/>
        </p:nvSpPr>
        <p:spPr bwMode="auto">
          <a:xfrm>
            <a:off x="11620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CURRENT VALIDATED BASELINE</a:t>
            </a:r>
            <a:endParaRPr/>
          </a:p>
        </p:txBody>
      </p:sp>
      <p:sp>
        <p:nvSpPr>
          <p:cNvPr id="56110338" name=""/>
          <p:cNvSpPr>
            <a:spLocks noGrp="1"/>
          </p:cNvSpPr>
          <p:nvPr/>
        </p:nvSpPr>
        <p:spPr bwMode="auto">
          <a:xfrm>
            <a:off x="13525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ordinary Python lists</a:t>
            </a:r>
            <a:endParaRPr/>
          </a:p>
          <a:p>
            <a:pPr algn="ctr">
              <a:lnSpc>
                <a:spcPct val="105000"/>
              </a:lnSpc>
              <a:buNone/>
              <a:defRPr sz="1450" b="0" i="0">
                <a:solidFill>
                  <a:srgbClr val="243B53"/>
                </a:solidFill>
              </a:defRPr>
            </a:pPr>
            <a:r>
              <a:rPr sz="1450" b="0" i="0">
                <a:solidFill>
                  <a:srgbClr val="243B53"/>
                </a:solidFill>
              </a:rPr>
              <a:t>archived correctness and timing evidence</a:t>
            </a:r>
            <a:endParaRPr/>
          </a:p>
        </p:txBody>
      </p:sp>
      <p:sp>
        <p:nvSpPr>
          <p:cNvPr id="1443087108" name=""/>
          <p:cNvSpPr>
            <a:spLocks noGrp="1"/>
          </p:cNvSpPr>
          <p:nvPr/>
        </p:nvSpPr>
        <p:spPr bwMode="auto">
          <a:xfrm>
            <a:off x="6838950" y="3524250"/>
            <a:ext cx="41910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Finger-tree backend</a:t>
            </a:r>
            <a:endParaRPr/>
          </a:p>
        </p:txBody>
      </p:sp>
      <p:sp>
        <p:nvSpPr>
          <p:cNvPr id="857004390" name=""/>
          <p:cNvSpPr>
            <a:spLocks noGrp="1"/>
          </p:cNvSpPr>
          <p:nvPr/>
        </p:nvSpPr>
        <p:spPr bwMode="auto">
          <a:xfrm>
            <a:off x="6838950" y="3943350"/>
            <a:ext cx="419100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102A43"/>
                </a:solidFill>
              </a:defRPr>
            </a:pPr>
            <a:r>
              <a:rPr sz="1750" b="1" i="0">
                <a:solidFill>
                  <a:srgbClr val="102A43"/>
                </a:solidFill>
              </a:rPr>
              <a:t>PROPOSED EXTENSION</a:t>
            </a:r>
            <a:endParaRPr/>
          </a:p>
        </p:txBody>
      </p:sp>
      <p:sp>
        <p:nvSpPr>
          <p:cNvPr id="1642583672" name=""/>
          <p:cNvSpPr>
            <a:spLocks noGrp="1"/>
          </p:cNvSpPr>
          <p:nvPr/>
        </p:nvSpPr>
        <p:spPr bwMode="auto">
          <a:xfrm>
            <a:off x="7029450" y="4400550"/>
            <a:ext cx="38100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semantic-equivalence target</a:t>
            </a:r>
            <a:endParaRPr/>
          </a:p>
          <a:p>
            <a:pPr algn="ctr">
              <a:lnSpc>
                <a:spcPct val="105000"/>
              </a:lnSpc>
              <a:buNone/>
              <a:defRPr sz="1450" b="0" i="0">
                <a:solidFill>
                  <a:srgbClr val="243B53"/>
                </a:solidFill>
              </a:defRPr>
            </a:pPr>
            <a:r>
              <a:rPr sz="1450" b="0" i="0">
                <a:solidFill>
                  <a:srgbClr val="243B53"/>
                </a:solidFill>
              </a:rPr>
              <a:t>new validation and experiment version</a:t>
            </a:r>
            <a:endParaRPr/>
          </a:p>
        </p:txBody>
      </p:sp>
      <p:sp>
        <p:nvSpPr>
          <p:cNvPr id="1606105036" name=""/>
          <p:cNvSpPr>
            <a:spLocks noGrp="1"/>
          </p:cNvSpPr>
          <p:nvPr/>
        </p:nvSpPr>
        <p:spPr bwMode="auto">
          <a:xfrm>
            <a:off x="1657350" y="5429250"/>
            <a:ext cx="8877300" cy="609600"/>
          </a:xfrm>
          <a:prstGeom prst="rect">
            <a:avLst/>
          </a:prstGeom>
          <a:noFill/>
          <a:ln w="0">
            <a:noFill/>
            <a:prstDash val="solid"/>
          </a:ln>
        </p:spPr>
        <p:txBody>
          <a:bodyPr wrap="square" lIns="38100" tIns="19050" rIns="38100" bIns="19050" anchor="ctr">
            <a:normAutofit fontScale="95238"/>
          </a:bodyPr>
          <a:lstStyle/>
          <a:p>
            <a:pPr algn="ctr">
              <a:lnSpc>
                <a:spcPct val="105000"/>
              </a:lnSpc>
              <a:buNone/>
              <a:defRPr sz="1900" b="1" i="0">
                <a:solidFill>
                  <a:srgbClr val="102A43"/>
                </a:solidFill>
              </a:defRPr>
            </a:pPr>
            <a:r>
              <a:rPr sz="1900" b="1" i="0">
                <a:solidFill>
                  <a:srgbClr val="102A43"/>
                </a:solidFill>
              </a:rPr>
              <a:t>Efficient tree splitting alone is insufficient if ownership transfer still scans and</a:t>
            </a:r>
            <a:endParaRPr/>
          </a:p>
          <a:p>
            <a:pPr algn="ctr">
              <a:lnSpc>
                <a:spcPct val="105000"/>
              </a:lnSpc>
              <a:buNone/>
              <a:defRPr sz="1900" b="1" i="0">
                <a:solidFill>
                  <a:srgbClr val="102A43"/>
                </a:solidFill>
              </a:defRPr>
            </a:pPr>
            <a:r>
              <a:rPr sz="1900" b="1" i="0">
                <a:solidFill>
                  <a:srgbClr val="102A43"/>
                </a:solidFill>
              </a:rPr>
              <a:t>rebinds every item.</a:t>
            </a:r>
            <a:endParaRPr/>
          </a:p>
        </p:txBody>
      </p:sp>
      <p:cxnSp>
        <p:nvCxnSpPr>
          <p:cNvPr id="1927755758" name=""/>
          <p:cNvCxnSpPr>
            <a:stCxn id="685163523" idx="3"/>
            <a:endCxn id="272313063" idx="1"/>
          </p:cNvCxnSpPr>
          <p:nvPr/>
        </p:nvCxnSpPr>
        <p:spPr bwMode="auto">
          <a:xfrm>
            <a:off x="3657600" y="1866900"/>
            <a:ext cx="1104900" cy="0"/>
          </a:xfrm>
          <a:prstGeom prst="straightConnector1">
            <a:avLst/>
          </a:prstGeom>
          <a:ln w="19050">
            <a:solidFill>
              <a:srgbClr val="2A9D8F"/>
            </a:solidFill>
            <a:prstDash val="solid"/>
            <a:tailEnd type="arrow" w="med" len="med"/>
          </a:ln>
        </p:spPr>
      </p:cxnSp>
      <p:cxnSp>
        <p:nvCxnSpPr>
          <p:cNvPr id="2001823272" name=""/>
          <p:cNvCxnSpPr>
            <a:stCxn id="272313063" idx="2"/>
            <a:endCxn id="1351071100" idx="0"/>
          </p:cNvCxnSpPr>
          <p:nvPr/>
        </p:nvCxnSpPr>
        <p:spPr bwMode="auto">
          <a:xfrm flipH="1">
            <a:off x="3257550" y="2324100"/>
            <a:ext cx="4772025" cy="1028700"/>
          </a:xfrm>
          <a:prstGeom prst="bentConnector4">
            <a:avLst>
              <a:gd name="adj1" fmla="val 0"/>
              <a:gd name="adj2" fmla="val 50000"/>
            </a:avLst>
          </a:prstGeom>
          <a:ln w="19050">
            <a:solidFill>
              <a:srgbClr val="2A9D8F"/>
            </a:solidFill>
            <a:prstDash val="solid"/>
            <a:tailEnd type="arrow" w="med" len="med"/>
          </a:ln>
        </p:spPr>
      </p:cxnSp>
      <p:cxnSp>
        <p:nvCxnSpPr>
          <p:cNvPr id="404125432" name=""/>
          <p:cNvCxnSpPr>
            <a:stCxn id="272313063" idx="2"/>
            <a:endCxn id="791637214" idx="0"/>
          </p:cNvCxnSpPr>
          <p:nvPr/>
        </p:nvCxnSpPr>
        <p:spPr bwMode="auto">
          <a:xfrm>
            <a:off x="8029575" y="2324100"/>
            <a:ext cx="904875" cy="1028700"/>
          </a:xfrm>
          <a:prstGeom prst="bentConnector4">
            <a:avLst>
              <a:gd name="adj1" fmla="val 0"/>
              <a:gd name="adj2" fmla="val 50000"/>
            </a:avLst>
          </a:prstGeom>
          <a:ln w="19050">
            <a:solidFill>
              <a:srgbClr val="E76F51"/>
            </a:solidFill>
            <a:prstDash val="solid"/>
            <a:tailEnd type="arrow" w="med" len="med"/>
          </a:ln>
        </p:spPr>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ONLYOFFICE/9.4.0.129</Application>
  <PresentationFormat>On-screen Show (4:3)</PresentationFormat>
  <Paragraphs>0</Paragraphs>
  <Slides>21</Slides>
  <Notes>21</Notes>
  <HiddenSlides>0</HiddenSlides>
  <MMClips>2</MMClips>
  <ScaleCrop>0</ScaleCrop>
  <HeadingPairs>
    <vt:vector size="4" baseType="variant">
      <vt:variant>
        <vt:lpstr>Theme</vt:lpstr>
      </vt:variant>
      <vt:variant>
        <vt:i4>1</vt:i4>
      </vt:variant>
      <vt:variant>
        <vt:lpstr>Slide Titles</vt:lpstr>
      </vt:variant>
      <vt:variant>
        <vt:i4>21</vt:i4>
      </vt:variant>
    </vt:vector>
  </HeadingPairs>
  <TitlesOfParts>
    <vt:vector size="22"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1</cp:revision>
  <dcterms:modified xsi:type="dcterms:W3CDTF">2026-09-13T11:14:32Z</dcterms:modified>
</cp:coreProperties>
</file>