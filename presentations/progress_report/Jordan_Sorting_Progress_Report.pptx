
<file path=[Content_Types].xml><?xml version="1.0" encoding="utf-8"?>
<Types xmlns="http://schemas.openxmlformats.org/package/2006/content-types">
  <Default Extension="xml" ContentType="application/xml"/>
  <Default Extension="xlsx" ContentType="application/vnd.openxmlformats-officedocument.spreadsheetml.sheet"/>
  <Default Extension="jpeg" ContentType="image/jpeg"/>
  <Default Extension="wmf" ContentType="image/x-wmf"/>
  <Default Extension="png" ContentType="image/png"/>
  <Default Extension="rels" ContentType="application/vnd.openxmlformats-package.relationships+xml"/>
  <Default Extension="bin" ContentType="application/vnd.openxmlformats-officedocument.oleObject"/>
  <Override PartName="/ppt/notesSlides/notesSlide16.xml" ContentType="application/vnd.openxmlformats-officedocument.presentationml.notesSlide+xml"/>
  <Override PartName="/ppt/notesSlides/notesSlide14.xml" ContentType="application/vnd.openxmlformats-officedocument.presentationml.notesSlide+xml"/>
  <Override PartName="/ppt/notesSlides/notesSlide5.xml" ContentType="application/vnd.openxmlformats-officedocument.presentationml.notesSlide+xml"/>
  <Override PartName="/ppt/notesSlides/notesSlide9.xml" ContentType="application/vnd.openxmlformats-officedocument.presentationml.notesSlide+xml"/>
  <Override PartName="/ppt/notesSlides/notesSlide6.xml" ContentType="application/vnd.openxmlformats-officedocument.presentationml.notesSlide+xml"/>
  <Override PartName="/ppt/notesSlides/notesSlide4.xml" ContentType="application/vnd.openxmlformats-officedocument.presentationml.notesSlide+xml"/>
  <Override PartName="/ppt/notesSlides/notesSlide3.xml" ContentType="application/vnd.openxmlformats-officedocument.presentationml.notesSlide+xml"/>
  <Override PartName="/ppt/notesSlides/notesSlide1.xml" ContentType="application/vnd.openxmlformats-officedocument.presentationml.notesSlide+xml"/>
  <Override PartName="/ppt/notesSlides/notesSlide13.xml" ContentType="application/vnd.openxmlformats-officedocument.presentationml.notesSlide+xml"/>
  <Override PartName="/ppt/notesSlides/notesSlide11.xml" ContentType="application/vnd.openxmlformats-officedocument.presentationml.notesSlide+xml"/>
  <Override PartName="/ppt/presProps.xml" ContentType="application/vnd.openxmlformats-officedocument.presentationml.presProps+xml"/>
  <Override PartName="/ppt/notesSlides/notesSlide7.xml" ContentType="application/vnd.openxmlformats-officedocument.presentationml.notesSlide+xml"/>
  <Override PartName="/ppt/charts/chart1.xml" ContentType="application/vnd.openxmlformats-officedocument.drawingml.chart+xml"/>
  <Override PartName="/ppt/slides/slide16.xml" ContentType="application/vnd.openxmlformats-officedocument.presentationml.slide+xml"/>
  <Override PartName="/ppt/slides/slide13.xml" ContentType="application/vnd.openxmlformats-officedocument.presentationml.slide+xml"/>
  <Override PartName="/docProps/app.xml" ContentType="application/vnd.openxmlformats-officedocument.extended-properties+xml"/>
  <Override PartName="/ppt/slides/slide12.xml" ContentType="application/vnd.openxmlformats-officedocument.presentationml.slide+xml"/>
  <Override PartName="/ppt/slides/slide11.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slides/slide15.xml" ContentType="application/vnd.openxmlformats-officedocument.presentationml.slide+xml"/>
  <Override PartName="/ppt/slides/slide8.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7.xml" ContentType="application/vnd.openxmlformats-officedocument.presentationml.slide+xml"/>
  <Override PartName="/ppt/slides/slide4.xml" ContentType="application/vnd.openxmlformats-officedocument.presentationml.slide+xml"/>
  <Override PartName="/ppt/slides/slide3.xml" ContentType="application/vnd.openxmlformats-officedocument.presentationml.slide+xml"/>
  <Override PartName="/ppt/notesSlides/notesSlide8.xml" ContentType="application/vnd.openxmlformats-officedocument.presentationml.notesSlide+xml"/>
  <Override PartName="/ppt/slides/slide2.xml" ContentType="application/vnd.openxmlformats-officedocument.presentationml.slide+xml"/>
  <Override PartName="/ppt/slideLayouts/slideLayout1.xml" ContentType="application/vnd.openxmlformats-officedocument.presentationml.slideLayout+xml"/>
  <Override PartName="/ppt/viewProps.xml" ContentType="application/vnd.openxmlformats-officedocument.presentationml.viewProps+xml"/>
  <Override PartName="/ppt/slides/slide1.xml" ContentType="application/vnd.openxmlformats-officedocument.presentationml.slide+xml"/>
  <Override PartName="/ppt/notesSlides/notesSlide15.xml" ContentType="application/vnd.openxmlformats-officedocument.presentationml.notesSlide+xml"/>
  <Override PartName="/ppt/slides/slide14.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presentation.xml" ContentType="application/vnd.openxmlformats-officedocument.presentationml.presentation.main+xml"/>
  <Override PartName="/docProps/core.xml" ContentType="application/vnd.openxmlformats-package.core-properties+xml"/>
  <Override PartName="/ppt/slides/slide6.xml" ContentType="application/vnd.openxmlformats-officedocument.presentationml.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tableStyles.xml" ContentType="application/vnd.openxmlformats-officedocument.presentationml.tableStyles+xml"/>
  <Override PartName="/ppt/notesSlides/notesSlide10.xml" ContentType="application/vnd.openxmlformats-officedocument.presentationml.notes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p="http://schemas.openxmlformats.org/presentationml/2006/main" xmlns:r="http://schemas.openxmlformats.org/officeDocument/2006/relationships">
  <p:sldMasterIdLst>
    <p:sldMasterId id="2147483648" r:id="rId1"/>
  </p:sldMasterIdLst>
  <p:notesMasterIdLst>
    <p:notesMasterId r:id="rId25"/>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p:cViewPr varScale="1">
        <p:scale>
          <a:sx n="0" d="0"/>
          <a:sy n="0" d="0"/>
        </p:scale>
        <p:origin x="0" y="0"/>
      </p:cViewPr>
      <p:guideLst>
        <p:guide pos="3840"/>
        <p:guide pos="2160" orient="horz"/>
      </p:guideLst>
    </p:cSldViewPr>
  </p:slideViewPr>
</p:viewPr>
</file>

<file path=ppt/_rels/presentation.xml.rels><?xml version='1.0' encoding='utf-8'?>
<Relationships xmlns="http://schemas.openxmlformats.org/package/2006/relationships"><Relationship Id="rId1" Type="http://schemas.openxmlformats.org/officeDocument/2006/relationships/slideMaster" Target="slideMasters/slideMaster1.xml" /><Relationship Id="rId2" Type="http://schemas.openxmlformats.org/officeDocument/2006/relationships/theme" Target="theme/theme1.xml" /><Relationship Id="rId3" Type="http://schemas.openxmlformats.org/officeDocument/2006/relationships/theme" Target="theme/theme2.xml" /><Relationship Id="rId4" Type="http://schemas.openxmlformats.org/officeDocument/2006/relationships/slide" Target="slides/slide1.xml" /><Relationship Id="rId5" Type="http://schemas.openxmlformats.org/officeDocument/2006/relationships/slide" Target="slides/slide2.xml" /><Relationship Id="rId6" Type="http://schemas.openxmlformats.org/officeDocument/2006/relationships/slide" Target="slides/slide3.xml" /><Relationship Id="rId7" Type="http://schemas.openxmlformats.org/officeDocument/2006/relationships/slide" Target="slides/slide4.xml" /><Relationship Id="rId8" Type="http://schemas.openxmlformats.org/officeDocument/2006/relationships/slide" Target="slides/slide5.xml" /><Relationship Id="rId9" Type="http://schemas.openxmlformats.org/officeDocument/2006/relationships/slide" Target="slides/slide6.xml" /><Relationship Id="rId10" Type="http://schemas.openxmlformats.org/officeDocument/2006/relationships/slide" Target="slides/slide7.xml" /><Relationship Id="rId11" Type="http://schemas.openxmlformats.org/officeDocument/2006/relationships/slide" Target="slides/slide8.xml" /><Relationship Id="rId12" Type="http://schemas.openxmlformats.org/officeDocument/2006/relationships/slide" Target="slides/slide9.xml" /><Relationship Id="rId13" Type="http://schemas.openxmlformats.org/officeDocument/2006/relationships/slide" Target="slides/slide10.xml" /><Relationship Id="rId14" Type="http://schemas.openxmlformats.org/officeDocument/2006/relationships/slide" Target="slides/slide11.xml" /><Relationship Id="rId15" Type="http://schemas.openxmlformats.org/officeDocument/2006/relationships/slide" Target="slides/slide12.xml" /><Relationship Id="rId16" Type="http://schemas.openxmlformats.org/officeDocument/2006/relationships/slide" Target="slides/slide13.xml" /><Relationship Id="rId17" Type="http://schemas.openxmlformats.org/officeDocument/2006/relationships/slide" Target="slides/slide14.xml" /><Relationship Id="rId18" Type="http://schemas.openxmlformats.org/officeDocument/2006/relationships/slide" Target="slides/slide15.xml" /><Relationship Id="rId19" Type="http://schemas.openxmlformats.org/officeDocument/2006/relationships/slide" Target="slides/slide16.xml" /><Relationship Id="rId25" Type="http://schemas.openxmlformats.org/officeDocument/2006/relationships/notesMaster" Target="notesMasters/notesMaster1.xml" /><Relationship Id="rId26" Type="http://schemas.openxmlformats.org/officeDocument/2006/relationships/presProps" Target="presProps.xml" /><Relationship Id="rId27" Type="http://schemas.openxmlformats.org/officeDocument/2006/relationships/tableStyles" Target="tableStyles.xml" /><Relationship Id="rId28" Type="http://schemas.openxmlformats.org/officeDocument/2006/relationships/viewProps" Target="viewProps.xml" /></Relationships>
</file>

<file path=ppt/charts/_rels/chart1.xml.rels><Relationships xmlns="http://schemas.openxmlformats.org/package/2006/relationships"><Relationship Id="rIdChartSnapshot1" Type="http://schemas.openxmlformats.org/officeDocument/2006/relationships/package" Target="../embeddings/chart-data-snapshot-001.xlsx"/></Relationships>
</file>

<file path=ppt/charts/chart1.xml><?xml version="1.0" encoding="utf-8"?>
<c:chartSpace xmlns:c="http://schemas.openxmlformats.org/drawingml/2006/chart" xmlns:r="http://schemas.openxmlformats.org/officeDocument/2006/relationships">
  <c:lang val="en-US"/>
  <c:chart>
    <c:plotArea>
      <c:lineChart>
        <c:grouping val="standard"/>
        <c:varyColors val="0"/>
        <c:ser>
          <c:idx val="0"/>
          <c:order val="0"/>
          <c:tx>
            <c:v>Paper ordinary-list core</c:v>
          </c:tx>
          <c:spPr>
            <a:ln xmlns:a="http://schemas.openxmlformats.org/drawingml/2006/main" w="28575">
              <a:solidFill>
                <a:srgbClr val="2A9D8F"/>
              </a:solidFill>
              <a:prstDash val="solid"/>
            </a:ln>
          </c:spPr>
          <c:marker>
            <c:symbol val="circle"/>
            <c:size val="8"/>
            <c:spPr>
              <a:solidFill xmlns:a="http://schemas.openxmlformats.org/drawingml/2006/main">
                <a:srgbClr val="2A9D8F"/>
              </a:solidFill>
            </c:spPr>
          </c:marker>
          <c:cat>
            <c:numRef>
              <c:f>'Chart Data'!$A$2:$A$6</c:f>
              <c:numCache>
                <c:formatCode>General</c:formatCode>
                <c:ptCount val="5"/>
                <c:pt idx="0">
                  <c:v>32</c:v>
                </c:pt>
                <c:pt idx="1">
                  <c:v>64</c:v>
                </c:pt>
                <c:pt idx="2">
                  <c:v>128</c:v>
                </c:pt>
                <c:pt idx="3">
                  <c:v>256</c:v>
                </c:pt>
                <c:pt idx="4">
                  <c:v>512</c:v>
                </c:pt>
              </c:numCache>
            </c:numRef>
          </c:cat>
          <c:val>
            <c:numRef>
              <c:f>'Chart Data'!$B$2:$B$6</c:f>
              <c:numCache>
                <c:formatCode>0.####</c:formatCode>
                <c:ptCount val="5"/>
                <c:pt idx="0">
                  <c:v>0.58690625</c:v>
                </c:pt>
                <c:pt idx="1">
                  <c:v>1.2821975</c:v>
                </c:pt>
                <c:pt idx="2">
                  <c:v>2.81508325</c:v>
                </c:pt>
                <c:pt idx="3">
                  <c:v>6.72124975</c:v>
                </c:pt>
                <c:pt idx="4">
                  <c:v>18.71668725</c:v>
                </c:pt>
              </c:numCache>
            </c:numRef>
          </c:val>
          <c:smooth val="0"/>
        </c:ser>
        <c:ser>
          <c:idx val="1"/>
          <c:order val="1"/>
          <c:tx>
            <c:v>Python sort</c:v>
          </c:tx>
          <c:spPr>
            <a:ln xmlns:a="http://schemas.openxmlformats.org/drawingml/2006/main" w="28575">
              <a:solidFill>
                <a:srgbClr val="E76F51"/>
              </a:solidFill>
              <a:prstDash val="solid"/>
            </a:ln>
          </c:spPr>
          <c:marker>
            <c:symbol val="square"/>
            <c:size val="8"/>
            <c:spPr>
              <a:solidFill xmlns:a="http://schemas.openxmlformats.org/drawingml/2006/main">
                <a:srgbClr val="E76F51"/>
              </a:solidFill>
            </c:spPr>
          </c:marker>
          <c:cat>
            <c:numRef>
              <c:f>'Chart Data'!$C$2:$C$6</c:f>
              <c:numCache>
                <c:formatCode>General</c:formatCode>
                <c:ptCount val="5"/>
                <c:pt idx="0">
                  <c:v>32</c:v>
                </c:pt>
                <c:pt idx="1">
                  <c:v>64</c:v>
                </c:pt>
                <c:pt idx="2">
                  <c:v>128</c:v>
                </c:pt>
                <c:pt idx="3">
                  <c:v>256</c:v>
                </c:pt>
                <c:pt idx="4">
                  <c:v>512</c:v>
                </c:pt>
              </c:numCache>
            </c:numRef>
          </c:cat>
          <c:val>
            <c:numRef>
              <c:f>'Chart Data'!$D$2:$D$6</c:f>
              <c:numCache>
                <c:formatCode>0.####</c:formatCode>
                <c:ptCount val="5"/>
                <c:pt idx="0">
                  <c:v>0.000791</c:v>
                </c:pt>
                <c:pt idx="1">
                  <c:v>0.00141675</c:v>
                </c:pt>
                <c:pt idx="2">
                  <c:v>0.00263525</c:v>
                </c:pt>
                <c:pt idx="3">
                  <c:v>0.00520825</c:v>
                </c:pt>
                <c:pt idx="4">
                  <c:v>0.0105835</c:v>
                </c:pt>
              </c:numCache>
            </c:numRef>
          </c:val>
          <c:smooth val="0"/>
        </c:ser>
        <c:smooth val="0"/>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sz="1275">
                    <a:solidFill>
                      <a:srgbClr val="52606D"/>
                    </a:solidFill>
                  </a:rPr>
                  <a:t>Input size n</a:t>
                </a:r>
              </a:p>
            </c:rich>
          </c:tx>
          <c:overlay val="0"/>
          <c:txPr>
            <a:bodyPr xmlns:a="http://schemas.openxmlformats.org/drawingml/2006/main" anchorCtr="1"/>
            <a:lstStyle xmlns:a="http://schemas.openxmlformats.org/drawingml/2006/main"/>
            <a:p xmlns:a="http://schemas.openxmlformats.org/drawingml/2006/main">
              <a:pPr>
                <a:defRPr sz="1275">
                  <a:solidFill>
                    <a:srgbClr val="52606D"/>
                  </a:solidFill>
                </a:defRPr>
              </a:pPr>
            </a:p>
          </c:txPr>
        </c:title>
        <c:numFmt formatCode="General"/>
        <c:majorTickMark val="none"/>
        <c:minorTickMark val="none"/>
        <c:spPr>
          <a:ln xmlns:a="http://schemas.openxmlformats.org/drawingml/2006/main" w="9525">
            <a:solidFill>
              <a:srgbClr val="D9E2EC"/>
            </a:solidFill>
            <a:prstDash val="solid"/>
          </a:ln>
        </c:spPr>
        <c:txPr>
          <a:bodyPr xmlns:a="http://schemas.openxmlformats.org/drawingml/2006/main" anchorCtr="1"/>
          <a:lstStyle xmlns:a="http://schemas.openxmlformats.org/drawingml/2006/main"/>
          <a:p xmlns:a="http://schemas.openxmlformats.org/drawingml/2006/main">
            <a:pPr>
              <a:defRPr sz="1200">
                <a:solidFill>
                  <a:srgbClr val="52606D"/>
                </a:solidFill>
              </a:defRPr>
            </a:pPr>
          </a:p>
        </c:txPr>
        <c:crossAx val="48672768"/>
      </c:catAx>
      <c:valAx>
        <c:axId val="48672768"/>
        <c:scaling>
          <c:logBase val="10"/>
          <c:orientation val="minMax"/>
          <c:max val="100"/>
          <c:min val="0.0001"/>
        </c:scaling>
        <c:delete val="0"/>
        <c:axPos val="l"/>
        <c:majorGridlines>
          <c:spPr>
            <a:ln xmlns:a="http://schemas.openxmlformats.org/drawingml/2006/main" w="9525">
              <a:solidFill>
                <a:srgbClr val="E6EDF3"/>
              </a:solidFill>
              <a:prstDash val="solid"/>
            </a:ln>
          </c:spPr>
        </c:majorGridlines>
        <c:title>
          <c:tx>
            <c:rich>
              <a:bodyPr xmlns:a="http://schemas.openxmlformats.org/drawingml/2006/main"/>
              <a:lstStyle xmlns:a="http://schemas.openxmlformats.org/drawingml/2006/main"/>
              <a:p xmlns:a="http://schemas.openxmlformats.org/drawingml/2006/main">
                <a:r>
                  <a:rPr sz="1275">
                    <a:solidFill>
                      <a:srgbClr val="52606D"/>
                    </a:solidFill>
                  </a:rPr>
                  <a:t>Median call time (ms, log scale)</a:t>
                </a:r>
              </a:p>
            </c:rich>
          </c:tx>
          <c:overlay val="0"/>
          <c:txPr>
            <a:bodyPr xmlns:a="http://schemas.openxmlformats.org/drawingml/2006/main" anchorCtr="1"/>
            <a:lstStyle xmlns:a="http://schemas.openxmlformats.org/drawingml/2006/main"/>
            <a:p xmlns:a="http://schemas.openxmlformats.org/drawingml/2006/main">
              <a:pPr>
                <a:defRPr sz="1275">
                  <a:solidFill>
                    <a:srgbClr val="52606D"/>
                  </a:solidFill>
                </a:defRPr>
              </a:pPr>
            </a:p>
          </c:txPr>
        </c:title>
        <c:numFmt formatCode="0.####"/>
        <c:majorTickMark val="none"/>
        <c:minorTickMark val="none"/>
        <c:spPr>
          <a:ln xmlns:a="http://schemas.openxmlformats.org/drawingml/2006/main" w="9525">
            <a:solidFill>
              <a:srgbClr val="D9E2EC"/>
            </a:solidFill>
            <a:prstDash val="solid"/>
          </a:ln>
        </c:spPr>
        <c:txPr>
          <a:bodyPr xmlns:a="http://schemas.openxmlformats.org/drawingml/2006/main" anchorCtr="1"/>
          <a:lstStyle xmlns:a="http://schemas.openxmlformats.org/drawingml/2006/main"/>
          <a:p xmlns:a="http://schemas.openxmlformats.org/drawingml/2006/main">
            <a:pPr>
              <a:defRPr sz="1125">
                <a:solidFill>
                  <a:srgbClr val="52606D"/>
                </a:solidFill>
              </a:defRPr>
            </a:pPr>
          </a:p>
        </c:txPr>
        <c:crossAx val="48650112"/>
        <c:crossBetween val="between"/>
      </c:valAx>
      <c:spPr>
        <a:solidFill xmlns:a="http://schemas.openxmlformats.org/drawingml/2006/main">
          <a:srgbClr val="FFFFFF"/>
        </a:solidFill>
        <a:ln xmlns:a="http://schemas.openxmlformats.org/drawingml/2006/main" w="9525">
          <a:solidFill>
            <a:srgbClr val="D9E2EC"/>
          </a:solid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1275">
              <a:solidFill>
                <a:srgbClr val="52606D"/>
              </a:solidFill>
            </a:defRPr>
          </a:pPr>
        </a:p>
      </c:txPr>
    </c:legend>
    <c:plotVisOnly val="1"/>
  </c:chart>
  <c:spPr>
    <a:solidFill xmlns:a="http://schemas.openxmlformats.org/drawingml/2006/main">
      <a:srgbClr val="FFFFFF"/>
    </a:solidFill>
    <a:ln xmlns:a="http://schemas.openxmlformats.org/drawingml/2006/main" w="9525">
      <a:solidFill>
        <a:srgbClr val="D9E2EC"/>
      </a:solidFill>
      <a:prstDash val="solid"/>
    </a:ln>
  </c:spPr>
  <c:externalData r:id="rIdChartSnapshot1">
    <c:autoUpdate val="0"/>
  </c:externalData>
</c:chartSpace>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371679256" name="Header Placeholder"/>
          <p:cNvSpPr/>
          <p:nvPr>
            <p:ph type="hdr" sz="quarter"/>
          </p:nvPr>
        </p:nvSpPr>
        <p:spPr bwMode="auto">
          <a:prstGeom prst="rect">
            <a:avLst/>
          </a:prstGeom>
        </p:spPr>
        <p:txBody>
          <a:bodyPr/>
          <a:lstStyle/>
          <a:p>
            <a:pPr>
              <a:defRPr/>
            </a:pPr>
            <a:endParaRPr/>
          </a:p>
        </p:txBody>
      </p:sp>
      <p:sp>
        <p:nvSpPr>
          <p:cNvPr id="1296131504" name="Date Placeholder"/>
          <p:cNvSpPr/>
          <p:nvPr>
            <p:ph type="dt" sz="quarter" idx="1"/>
          </p:nvPr>
        </p:nvSpPr>
        <p:spPr bwMode="auto">
          <a:prstGeom prst="rect">
            <a:avLst/>
          </a:prstGeom>
        </p:spPr>
        <p:txBody>
          <a:bodyPr/>
          <a:lstStyle/>
          <a:p>
            <a:pPr>
              <a:defRPr/>
            </a:pPr>
            <a:endParaRPr/>
          </a:p>
        </p:txBody>
      </p:sp>
      <p:sp>
        <p:nvSpPr>
          <p:cNvPr id="2070846144" name="Slide Image Placeholder"/>
          <p:cNvSpPr/>
          <p:nvPr>
            <p:ph type="sldImg" idx="2"/>
          </p:nvPr>
        </p:nvSpPr>
        <p:spPr bwMode="auto">
          <a:prstGeom prst="rect">
            <a:avLst/>
          </a:prstGeom>
        </p:spPr>
        <p:txBody>
          <a:bodyPr/>
          <a:lstStyle/>
          <a:p>
            <a:pPr>
              <a:defRPr/>
            </a:pPr>
            <a:endParaRPr/>
          </a:p>
        </p:txBody>
      </p:sp>
      <p:sp>
        <p:nvSpPr>
          <p:cNvPr id="188835578" name="Notes Placeholder"/>
          <p:cNvSpPr/>
          <p:nvPr>
            <p:ph type="body" sz="quarter" idx="3"/>
          </p:nvPr>
        </p:nvSpPr>
        <p:spPr bwMode="auto">
          <a:prstGeom prst="rect">
            <a:avLst/>
          </a:prstGeom>
        </p:spPr>
        <p:txBody>
          <a:bodyPr/>
          <a:lstStyle/>
          <a:p>
            <a:pPr>
              <a:defRPr/>
            </a:pPr>
            <a:endParaRPr/>
          </a:p>
        </p:txBody>
      </p:sp>
      <p:sp>
        <p:nvSpPr>
          <p:cNvPr id="1554772268" name="Footer Placeholder"/>
          <p:cNvSpPr/>
          <p:nvPr>
            <p:ph type="ftr" sz="quarter" idx="4"/>
          </p:nvPr>
        </p:nvSpPr>
        <p:spPr bwMode="auto">
          <a:prstGeom prst="rect">
            <a:avLst/>
          </a:prstGeom>
        </p:spPr>
        <p:txBody>
          <a:bodyPr/>
          <a:lstStyle/>
          <a:p>
            <a:pPr>
              <a:defRPr/>
            </a:pPr>
            <a:endParaRPr/>
          </a:p>
        </p:txBody>
      </p:sp>
      <p:sp>
        <p:nvSpPr>
          <p:cNvPr id="641060523" name="Slide Number Placeholder"/>
          <p:cNvSpPr/>
          <p:nvPr>
            <p:ph type="sldNum" sz="quarter" idx="5"/>
          </p:nvPr>
        </p:nvSpPr>
        <p:spPr bwMode="auto">
          <a:prstGeom prst="rect">
            <a:avLst/>
          </a:prstGeom>
        </p:spPr>
        <p:txBody>
          <a:bodyPr/>
          <a:lstStyle/>
          <a:p>
            <a:pPr>
              <a:defRPr/>
            </a:pPr>
            <a:endParaRPr/>
          </a:p>
        </p:txBody>
      </p:sp>
    </p:spTree>
  </p:cSld>
  <p:clrMap bg1="lt1" tx1="dk1" bg2="lt2" tx2="dk2" accent1="accent1" accent2="accent2" accent3="accent3" accent4="accent4" accent5="accent5" accent6="accent6" hlink="hlink" folHlink="folHlink"/>
  <p:notesStyle>
    <a:lvl1pPr marL="0" algn="l" defTabSz="914400" rtl="0">
      <a:defRPr sz="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42980573" name="Slide Image Placeholder 1"/>
          <p:cNvSpPr>
            <a:spLocks noGrp="1"/>
          </p:cNvSpPr>
          <p:nvPr>
            <p:ph type="sldImg" idx="0"/>
          </p:nvPr>
        </p:nvSpPr>
        <p:spPr bwMode="auto"/>
      </p:sp>
      <p:sp>
        <p:nvSpPr>
          <p:cNvPr id="1711269363" name="Notes Placeholder 2"/>
          <p:cNvSpPr>
            <a:spLocks noGrp="1"/>
          </p:cNvSpPr>
          <p:nvPr>
            <p:ph type="body" idx="1"/>
          </p:nvPr>
        </p:nvSpPr>
        <p:spPr bwMode="auto"/>
        <p:txBody>
          <a:bodyPr/>
          <a:lstStyle/>
          <a:p>
            <a:r>
              <a:t>Good afternoon. This presentation updates my master's thesis on an executable reconstruction of Simplified Jordan Sorting using ordinary Python lists. The input gives the intersection points in curve order. The task is to recover their order along the x-axis. My previous report focused on static structure: rank intervals, upper and lower pair families, family trees, and an oracle-backed reference. The main question is whether the paper's dynamic procedure can maintain its own state and recover its own output. I will focus on two reconstruction decisions, then explain the validation checks and the runtime results from the formal experiment.</a:t>
            </a:r>
          </a:p>
          <a:p>
            <a:r>
              <a:t/>
            </a:r>
          </a:p>
          <a:p>
            <a:r>
              <a:t>中文参考</a:t>
            </a:r>
          </a:p>
          <a:p>
            <a:r>
              <a:t>大家好。这次汇报介绍我的硕士论文进展，主题是使用普通 Python list 对 Simplified Jordan Sorting 进行可执行重构。输入按沿曲线遇到交点的顺序给出；任务是恢复这些点沿横坐标轴的顺序。上次汇报聚焦静态结构，包括 rank interval、upper 和 lower pair family、family tree，以及 oracle 支持的 reference。核心问题是，论文中的动态过程能否维护自身状态，并从中恢复输出。我将重点解释两处重构决定，再介绍验证检查和正式实验的运行时间结果。</a:t>
            </a:r>
          </a:p>
          <a:p>
            <a:r>
              <a:t/>
            </a:r>
          </a:p>
          <a:p>
            <a:r>
              <a:t/>
            </a:r>
          </a:p>
          <a:p xmlns:a="http://schemas.openxmlformats.org/drawingml/2006/main">
            <a:r>
              <a:t>[Sources]</a:t>
            </a:r>
          </a:p>
          <a:p xmlns:a="http://schemas.openxmlformats.org/drawingml/2006/main">
            <a:r>
              <a:t>- thesis/frontmatter/abstract.tex</a:t>
            </a:r>
          </a:p>
          <a:p xmlns:a="http://schemas.openxmlformats.org/drawingml/2006/main">
            <a:r>
              <a:t>- thesis/chapters/introduction.tex</a:t>
            </a:r>
          </a:p>
          <a:p xmlns:a="http://schemas.openxmlformats.org/drawingml/2006/main">
            <a:r>
              <a:t>- thesis/figures/jordan_sorting_problem.pdf</a:t>
            </a:r>
          </a:p>
        </p:txBody>
      </p:sp>
      <p:sp>
        <p:nvSpPr>
          <p:cNvPr id="195428086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28110643" name="Slide Image Placeholder 1"/>
          <p:cNvSpPr>
            <a:spLocks noGrp="1"/>
          </p:cNvSpPr>
          <p:nvPr>
            <p:ph type="sldImg" idx="0"/>
          </p:nvPr>
        </p:nvSpPr>
        <p:spPr bwMode="auto"/>
      </p:sp>
      <p:sp>
        <p:nvSpPr>
          <p:cNvPr id="1808454890" name="Notes Placeholder 2"/>
          <p:cNvSpPr>
            <a:spLocks noGrp="1"/>
          </p:cNvSpPr>
          <p:nvPr>
            <p:ph type="body" idx="1"/>
          </p:nvPr>
        </p:nvSpPr>
        <p:spPr bwMode="auto"/>
        <p:txBody>
          <a:bodyPr/>
          <a:lstStyle/>
          <a:p xmlns:a="http://schemas.openxmlformats.org/drawingml/2006/main">
            <a:r>
              <a:t>The previous implementation represented rank intervals, separated upper and lower pair families, rebuilt their laminar family trees, and computed structural metrics. An oracle checked input validity and supplied a reference answer. The missing part was the dynamic procedure: updating the processed prefix, splitting sibling lists, transferring ownership, and recovering output from maintained state. Each update must preserve both the partial order and the family structure. An error in one update can corrupt both, so safe dynamic updates were the main implementation gap.</a:t>
            </a:r>
          </a:p>
          <a:p xmlns:a="http://schemas.openxmlformats.org/drawingml/2006/main">
            <a:r>
              <a:t/>
            </a:r>
          </a:p>
          <a:p xmlns:a="http://schemas.openxmlformats.org/drawingml/2006/main">
            <a:r>
              <a:t>中文参考</a:t>
            </a:r>
          </a:p>
          <a:p xmlns:a="http://schemas.openxmlformats.org/drawingml/2006/main">
            <a:r>
              <a:t>上次实现用 rank interval 表示输入，区分 upper 和 lower pair family，重构 laminar family tree，并计算结构指标。Oracle 检查输入有效性并提供参考答案。尚未实现的是动态过程：更新 processed prefix、拆分 sibling list、转移 ownership，以及从维护状态恢复输出。每次更新都必须保持 partial order 和 family structure 一致。一次更新出错就可能同时破坏两者，因此安全的动态更新是当时的主要实现缺口。</a:t>
            </a:r>
          </a:p>
          <a:p xmlns:a="http://schemas.openxmlformats.org/drawingml/2006/main">
            <a:r>
              <a:t/>
            </a:r>
          </a:p>
          <a:p xmlns:a="http://schemas.openxmlformats.org/drawingml/2006/main">
            <a:r>
              <a:t>[Sources]</a:t>
            </a:r>
          </a:p>
          <a:p xmlns:a="http://schemas.openxmlformats.org/drawingml/2006/main">
            <a:r>
              <a:t>- thesis/chapters/background.tex</a:t>
            </a:r>
          </a:p>
          <a:p xmlns:a="http://schemas.openxmlformats.org/drawingml/2006/main">
            <a:r>
              <a:t>- thesis/chapters/implementation.tex</a:t>
            </a:r>
          </a:p>
          <a:p xmlns:a="http://schemas.openxmlformats.org/drawingml/2006/main">
            <a:r>
              <a:t>- Hoffmann et al. (1986), doi:10.1016/S0019-9958(86)80033-X</a:t>
            </a:r>
          </a:p>
          <a:p xmlns:a="http://schemas.openxmlformats.org/drawingml/2006/main">
            <a:r>
              <a:t>- Fung et al. (1990), doi:10.1016/0020-0190(90)90111-A</a:t>
            </a:r>
          </a:p>
        </p:txBody>
      </p:sp>
      <p:sp>
        <p:nvSpPr>
          <p:cNvPr id="15821293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53638879" name="Slide Image Placeholder 1"/>
          <p:cNvSpPr>
            <a:spLocks noGrp="1"/>
          </p:cNvSpPr>
          <p:nvPr>
            <p:ph type="sldImg" idx="0"/>
          </p:nvPr>
        </p:nvSpPr>
        <p:spPr bwMode="auto"/>
      </p:sp>
      <p:sp>
        <p:nvSpPr>
          <p:cNvPr id="1793379329" name="Notes Placeholder 2"/>
          <p:cNvSpPr>
            <a:spLocks noGrp="1"/>
          </p:cNvSpPr>
          <p:nvPr>
            <p:ph type="body" idx="1"/>
          </p:nvPr>
        </p:nvSpPr>
        <p:spPr bwMode="auto"/>
        <p:txBody>
          <a:bodyPr/>
          <a:lstStyle/>
          <a:p xmlns:a="http://schemas.openxmlformats.org/drawingml/2006/main">
            <a:r>
              <a:t>Since then, I narrowed the scope to externally certified valid inputs and implemented the Step 1, Step 2, and Step 3 control flow. I added ownership checks, transactional updates, replay, and bounded validation. Once the implementation passed these checks, I ran a formal experiment with a fixed protocol. The result is an executable ordinary-list reconstruction.</a:t>
            </a:r>
          </a:p>
          <a:p xmlns:a="http://schemas.openxmlformats.org/drawingml/2006/main">
            <a:r>
              <a:t/>
            </a:r>
          </a:p>
          <a:p xmlns:a="http://schemas.openxmlformats.org/drawingml/2006/main">
            <a:r>
              <a:t>中文参考</a:t>
            </a:r>
          </a:p>
          <a:p xmlns:a="http://schemas.openxmlformats.org/drawingml/2006/main">
            <a:r>
              <a:t>此后，我将范围缩小到外部 oracle 已认证的有效输入，并实现 Step 1、Step 2 和 Step 3 控制流。我加入 ownership 检查、事务式更新、重放和有界验证。实现通过这些检查后，我按固定协议运行了正式实验。当前成果是可执行的普通列表重构。</a:t>
            </a:r>
          </a:p>
          <a:p xmlns:a="http://schemas.openxmlformats.org/drawingml/2006/main">
            <a:r>
              <a:t/>
            </a:r>
          </a:p>
          <a:p xmlns:a="http://schemas.openxmlformats.org/drawingml/2006/main">
            <a:r>
              <a:t>[Sources]</a:t>
            </a:r>
          </a:p>
          <a:p xmlns:a="http://schemas.openxmlformats.org/drawingml/2006/main">
            <a:r>
              <a:t>- thesis/chapters/introduction.tex</a:t>
            </a:r>
          </a:p>
          <a:p xmlns:a="http://schemas.openxmlformats.org/drawingml/2006/main">
            <a:r>
              <a:t>- thesis/chapters/implementation.tex</a:t>
            </a:r>
          </a:p>
          <a:p xmlns:a="http://schemas.openxmlformats.org/drawingml/2006/main">
            <a:r>
              <a:t>- thesis/chapters/methodology.tex</a:t>
            </a:r>
          </a:p>
        </p:txBody>
      </p:sp>
      <p:sp>
        <p:nvSpPr>
          <p:cNvPr id="465241129"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74081909" name="Slide Image Placeholder 1"/>
          <p:cNvSpPr>
            <a:spLocks noGrp="1"/>
          </p:cNvSpPr>
          <p:nvPr>
            <p:ph type="sldImg" idx="0"/>
          </p:nvPr>
        </p:nvSpPr>
        <p:spPr bwMode="auto"/>
      </p:sp>
      <p:sp>
        <p:nvSpPr>
          <p:cNvPr id="543534595" name="Notes Placeholder 2"/>
          <p:cNvSpPr>
            <a:spLocks noGrp="1"/>
          </p:cNvSpPr>
          <p:nvPr>
            <p:ph type="body" idx="1"/>
          </p:nvPr>
        </p:nvSpPr>
        <p:spPr bwMode="auto"/>
        <p:txBody>
          <a:bodyPr/>
          <a:lstStyle/>
          <a:p xmlns:a="http://schemas.openxmlformats.org/drawingml/2006/main">
            <a:r>
              <a:t>The thesis studies the 1990 sorting procedure on inputs already certified as valid by an oracle. The experiment compares Python sort, the complete oracle-backed reference pipeline, and the reconstructed paper core. Recognition remains outside this experiment. The current core uses ordinary Python lists. It does not implement the specialized backend used in the historical linear-time analysis.</a:t>
            </a:r>
          </a:p>
          <a:p xmlns:a="http://schemas.openxmlformats.org/drawingml/2006/main">
            <a:r>
              <a:t/>
            </a:r>
          </a:p>
          <a:p xmlns:a="http://schemas.openxmlformats.org/drawingml/2006/main">
            <a:r>
              <a:t>中文参考</a:t>
            </a:r>
          </a:p>
          <a:p xmlns:a="http://schemas.openxmlformats.org/drawingml/2006/main">
            <a:r>
              <a:t>论文研究的是 1990 年 sorting procedure 在 oracle 已认证有效的输入上的运行。实验比较 Python sort、完整的 oracle-backed reference pipeline 和重构后的 paper core。Recognition 不在本次实验范围内。当前 core 使用普通 Python list，尚未实现历史线性时间分析所使用的专用后端。</a:t>
            </a:r>
          </a:p>
          <a:p xmlns:a="http://schemas.openxmlformats.org/drawingml/2006/main">
            <a:r>
              <a:t/>
            </a:r>
          </a:p>
          <a:p xmlns:a="http://schemas.openxmlformats.org/drawingml/2006/main">
            <a:r>
              <a:t>[Sources]</a:t>
            </a:r>
          </a:p>
          <a:p xmlns:a="http://schemas.openxmlformats.org/drawingml/2006/main">
            <a:r>
              <a:t>- thesis/chapters/introduction.tex</a:t>
            </a:r>
          </a:p>
          <a:p xmlns:a="http://schemas.openxmlformats.org/drawingml/2006/main">
            <a:r>
              <a:t>- thesis/chapters/limitations.tex</a:t>
            </a:r>
          </a:p>
          <a:p xmlns:a="http://schemas.openxmlformats.org/drawingml/2006/main">
            <a:r>
              <a:t>- thesis/chapters/methodology.tex</a:t>
            </a:r>
          </a:p>
          <a:p xmlns:a="http://schemas.openxmlformats.org/drawingml/2006/main">
            <a:r>
              <a:t>- Supervisor feedback, September 2026</a:t>
            </a:r>
          </a:p>
        </p:txBody>
      </p:sp>
      <p:sp>
        <p:nvSpPr>
          <p:cNvPr id="156397110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6649225" name="Slide Image Placeholder 1"/>
          <p:cNvSpPr>
            <a:spLocks noGrp="1"/>
          </p:cNvSpPr>
          <p:nvPr>
            <p:ph type="sldImg" idx="0"/>
          </p:nvPr>
        </p:nvSpPr>
        <p:spPr bwMode="auto"/>
      </p:sp>
      <p:sp>
        <p:nvSpPr>
          <p:cNvPr id="2003939631" name="Notes Placeholder 2"/>
          <p:cNvSpPr>
            <a:spLocks noGrp="1"/>
          </p:cNvSpPr>
          <p:nvPr>
            <p:ph type="body" idx="1"/>
          </p:nvPr>
        </p:nvSpPr>
        <p:spPr bwMode="auto"/>
        <p:txBody>
          <a:bodyPr/>
          <a:lstStyle/>
          <a:p>
            <a:r>
              <a:t>RQ1 is the main technical question: can the ordinary-list reconstruction recover the correct sorted order from maintained state on certified valid inputs? RQ2 compares the paper call with Python sort and the complete reference pipeline under their stated timing scopes. RQ3 explores descriptive relationships between input structure, checked operation counters, and runtime. It does not claim a causal explanation. This talk focuses on RQ1 and the runtime baseline in RQ2. I do not present the structure–cost analysis here.</a:t>
            </a:r>
          </a:p>
          <a:p>
            <a:r>
              <a:t/>
            </a:r>
          </a:p>
          <a:p>
            <a:r>
              <a:t>中文参考</a:t>
            </a:r>
          </a:p>
          <a:p>
            <a:r>
              <a:t>RQ1 是主要技术问题：普通列表重构能否在认证后的有效输入上，从维护状态恢复正确排序？RQ2 比较 paper call、Python sort 和完整 reference pipeline 在各自计时范围下的表现。RQ3 探索输入结构、checked operation counter 与运行时间之间的描述性关系，不作因果解释。 本次汇报重点介绍 RQ1，以及 RQ2 中的运行时间基线；不展开结构与成本关系的分析。</a:t>
            </a:r>
          </a:p>
          <a:p>
            <a:r>
              <a:t/>
            </a:r>
          </a:p>
          <a:p>
            <a:r>
              <a:t/>
            </a:r>
          </a:p>
          <a:p xmlns:a="http://schemas.openxmlformats.org/drawingml/2006/main">
            <a:r>
              <a:t>[Sources]</a:t>
            </a:r>
          </a:p>
          <a:p xmlns:a="http://schemas.openxmlformats.org/drawingml/2006/main">
            <a:r>
              <a:t>- thesis/chapters/introduction.tex</a:t>
            </a:r>
          </a:p>
        </p:txBody>
      </p:sp>
      <p:sp>
        <p:nvSpPr>
          <p:cNvPr id="136035527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09206450" name="Slide Image Placeholder 1"/>
          <p:cNvSpPr>
            <a:spLocks noGrp="1"/>
          </p:cNvSpPr>
          <p:nvPr>
            <p:ph type="sldImg" idx="0"/>
          </p:nvPr>
        </p:nvSpPr>
        <p:spPr bwMode="auto"/>
      </p:sp>
      <p:sp>
        <p:nvSpPr>
          <p:cNvPr id="1663465892" name="Notes Placeholder 2"/>
          <p:cNvSpPr>
            <a:spLocks noGrp="1"/>
          </p:cNvSpPr>
          <p:nvPr>
            <p:ph type="body" idx="1"/>
          </p:nvPr>
        </p:nvSpPr>
        <p:spPr bwMode="auto"/>
        <p:txBody>
          <a:bodyPr/>
          <a:lstStyle/>
          <a:p xmlns:a="http://schemas.openxmlformats.org/drawingml/2006/main">
            <a:r>
              <a:t>Before the paper call, the oracle certifies input validity. After the call, the runner compares the returned output with the oracle's sorted result. The reference pipeline uses the complete oracle result, including that sorted output. The paper core receives only the original sequence under the certified precondition. It executes Step 1, Step 2, and Step 3, maintains the partial order and sibling lists, and recovers output from the partial order. Both methods are checked against the same expected answer, but they produce their outputs differently. The oracle-sorted answer never enters the paper core. The dashed comparison box therefore sits outside it.</a:t>
            </a:r>
          </a:p>
          <a:p xmlns:a="http://schemas.openxmlformats.org/drawingml/2006/main">
            <a:r>
              <a:t/>
            </a:r>
          </a:p>
          <a:p xmlns:a="http://schemas.openxmlformats.org/drawingml/2006/main">
            <a:r>
              <a:t>中文参考</a:t>
            </a:r>
          </a:p>
          <a:p xmlns:a="http://schemas.openxmlformats.org/drawingml/2006/main">
            <a:r>
              <a:t>Paper call 之前，oracle 认证输入有效性；调用之后，runner 将返回值与 oracle 的排序结果比较。Reference pipeline 使用完整 oracle result，包括 sorted output。Paper core 只接收原始序列，并以已认证有效为前提。它执行 Step 1、Step 2 和 Step 3，维护 partial order 与 sibling list，再从 partial order 恢复输出。两条路径使用同一个 expected answer 检查，但输出来源不同。Oracle 的排序答案不会进入 paper core，因此图中的虚线比较框位于 core 外部。</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thesis/chapters/methodology.tex</a:t>
            </a:r>
          </a:p>
          <a:p xmlns:a="http://schemas.openxmlformats.org/drawingml/2006/main">
            <a:r>
              <a:t>- src/paper_jordan.py</a:t>
            </a:r>
          </a:p>
          <a:p xmlns:a="http://schemas.openxmlformats.org/drawingml/2006/main">
            <a:r>
              <a:t>- src/simplified_jordan.py</a:t>
            </a:r>
          </a:p>
        </p:txBody>
      </p:sp>
      <p:sp>
        <p:nvSpPr>
          <p:cNvPr id="1498646940"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17319380" name="Slide Image Placeholder 1"/>
          <p:cNvSpPr>
            <a:spLocks noGrp="1"/>
          </p:cNvSpPr>
          <p:nvPr>
            <p:ph type="sldImg" idx="0"/>
          </p:nvPr>
        </p:nvSpPr>
        <p:spPr bwMode="auto"/>
      </p:sp>
      <p:sp>
        <p:nvSpPr>
          <p:cNvPr id="168551242" name="Notes Placeholder 2"/>
          <p:cNvSpPr>
            <a:spLocks noGrp="1"/>
          </p:cNvSpPr>
          <p:nvPr>
            <p:ph type="body" idx="1"/>
          </p:nvPr>
        </p:nvSpPr>
        <p:spPr bwMode="auto"/>
        <p:txBody>
          <a:bodyPr/>
          <a:lstStyle/>
          <a:p>
            <a:pPr>
              <a:defRPr/>
            </a:pPr>
            <a:r>
              <a:rPr/>
              <a:t>We maintain two things: the sorted order of the processed points, and the parent-child structure of the pairs. We initialize once, sorting only the first three points by x-coordinate. Their sorted order is called S three. We also initialize the upper and lower pair families, without an oracle answer. Point labels and stored pair endpoints keep curve order. Starting with point four, each round adds one point. We start from the previous point along the curve. Steps one and two use its neighbors in the sorted list to find predecessor boundary A sub i and successor boundary B sub i. Step three A places the new pair in the family structure and assigns its parent. Step three B splits a sibling list when needed, so newly enclosed pairs become children of the new pair. Only then does Step three C insert the new point into the sorted list, using an anchor selected from the maintained state. Increasing Step three A uses A sub i, and three B uses B sub i. Decreasing swaps these uses and reflects left and right operations. Steps one and two still return A and B. The paper states the increasing case. Decreasing is a symmetric reconstruction; anchor details are executable clarifications. These categories describe the basis of the reconstruction, not separate steps.</a:t>
            </a:r>
            <a:endParaRPr/>
          </a:p>
          <a:p>
            <a:pPr>
              <a:defRPr/>
            </a:pPr>
            <a:r>
              <a:rPr/>
              <a:t>中文参考</a:t>
            </a:r>
            <a:endParaRPr/>
          </a:p>
          <a:p>
            <a:pPr>
              <a:defRPr/>
            </a:pPr>
            <a:r>
              <a:rPr lang="en-US" sz="1200" b="0" i="0" u="none" strike="noStrike" cap="none" spc="0">
                <a:solidFill>
                  <a:srgbClr val="000000"/>
                </a:solidFill>
                <a:latin typeface="+mn-lt"/>
                <a:ea typeface="+mn-ea"/>
                <a:cs typeface="+mn-cs"/>
              </a:rPr>
              <a:t>我们同时维护两种信息：已处理点的排序，以及 pairs 之间的父子关系。初始化只做一次，仅将前三个点按 x 坐标排序，这个有序列表称为 S₃。同时建立 upper、lower pair family，不使用 oracle 的排序答案。点的编号和 pair 的端点存储仍保持曲线顺序。从第 4 个点开始，每轮加入一个新点。我们从沿曲线的前一个点出发。Step 1、2 利用它在有序列表中的邻居，分别找到 predecessor boundary Aᵢ 和 successor boundary Bᵢ。Step 3(a) 将新 pair 放入 family 结构，并确定它的 parent。Step 3(b) 在需要时拆分 sibling list，让新包含的旧 pairs 成为新 pair 的 children。到这时，Step 3(c) 才根据维护的状态选择 anchor，将新点插入有序列表。Increasing 时，Step 3(a) 使用 Aᵢ，3(b) 使用 Bᵢ。Decreasing 交换两者的用途，并镜像左右操作；Step 1、2 仍分别返回 Aᵢ、Bᵢ。论文描述 increasing 情形；decreasing 来自对称重构，anchor 的细节属于可执行化澄清。这些类别说明重构的依据，并不分别对应某个步骤。</a:t>
            </a:r>
            <a:endParaRPr sz="1200"/>
          </a:p>
          <a:p>
            <a:pPr>
              <a:defRPr/>
            </a:pPr>
            <a:endParaRPr/>
          </a:p>
          <a:p>
            <a:pPr>
              <a:defRPr/>
            </a:pPr>
            <a:r>
              <a:rPr/>
              <a:t>[Sources]</a:t>
            </a:r>
            <a:endParaRPr/>
          </a:p>
          <a:p>
            <a:pPr>
              <a:defRPr/>
            </a:pPr>
            <a:r>
              <a:rPr/>
              <a:t>- thesis/chapters/algorithm.tex</a:t>
            </a:r>
            <a:endParaRPr/>
          </a:p>
          <a:p>
            <a:pPr>
              <a:defRPr/>
            </a:pPr>
            <a:r>
              <a:rPr/>
              <a:t>- thesis/chapters/implementation.tex</a:t>
            </a:r>
            <a:endParaRPr/>
          </a:p>
          <a:p>
            <a:pPr>
              <a:defRPr/>
            </a:pPr>
            <a:r>
              <a:rPr/>
              <a:t>- Fung et al. (1990), doi:10.1016/0020-0190(90)90111-A</a:t>
            </a:r>
            <a:endParaRPr/>
          </a:p>
        </p:txBody>
      </p:sp>
      <p:sp>
        <p:nvSpPr>
          <p:cNvPr id="492423926"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15879717" name="Slide Image Placeholder 1"/>
          <p:cNvSpPr>
            <a:spLocks noGrp="1"/>
          </p:cNvSpPr>
          <p:nvPr>
            <p:ph type="sldImg" idx="0"/>
          </p:nvPr>
        </p:nvSpPr>
        <p:spPr bwMode="auto"/>
      </p:sp>
      <p:sp>
        <p:nvSpPr>
          <p:cNvPr id="1540490475" name="Notes Placeholder 2"/>
          <p:cNvSpPr>
            <a:spLocks noGrp="1"/>
          </p:cNvSpPr>
          <p:nvPr>
            <p:ph type="body" idx="1"/>
          </p:nvPr>
        </p:nvSpPr>
        <p:spPr bwMode="auto"/>
        <p:txBody>
          <a:bodyPr/>
          <a:lstStyle/>
          <a:p xmlns:a="http://schemas.openxmlformats.org/drawingml/2006/main">
            <a:pPr>
              <a:defRPr/>
            </a:pPr>
            <a:r>
              <a:t>Take the input three, two, one, four. After initialization, the sorted list is one, two, three. The point labels still follow curve order.</a:t>
            </a:r>
          </a:p>
          <a:p xmlns:a="http://schemas.openxmlformats.org/drawingml/2006/main">
            <a:pPr>
              <a:defRPr/>
            </a:pPr>
            <a:r>
              <a:t>We now insert the fourth point, four. After Step three B, the new upper pair P four, with endpoints one and four, has one child: P two, stored as three, two.</a:t>
            </a:r>
          </a:p>
          <a:p xmlns:a="http://schemas.openxmlformats.org/drawingml/2006/main">
            <a:pPr>
              <a:defRPr/>
            </a:pPr>
            <a:r>
              <a:t>This update goes from one to four, so it is increasing. The child’s interval, from two to three, lies inside the new interval, from one to four. Four must therefore come after both child endpoints. The child’s right boundary is three, so three is our anchor.</a:t>
            </a:r>
          </a:p>
          <a:p xmlns:a="http://schemas.openxmlformats.org/drawingml/2006/main">
            <a:pPr>
              <a:defRPr/>
            </a:pPr>
            <a:r>
              <a:t>Inserting four immediately after two would put it between the child endpoints, giving one, two, four, three. Inserting it after three gives one, two, three, four.</a:t>
            </a:r>
          </a:p>
          <a:p xmlns:a="http://schemas.openxmlformats.org/drawingml/2006/main">
            <a:pPr>
              <a:defRPr/>
            </a:pPr>
            <a:r>
              <a:t>We could also store the endpoints from left to right, provided we keep their curve-order identities. The mistake is treating the second curve-order endpoint as the right endpoint.</a:t>
            </a:r>
          </a:p>
          <a:p xmlns:a="http://schemas.openxmlformats.org/drawingml/2006/main">
            <a:pPr>
              <a:defRPr/>
            </a:pPr>
            <a:r>
              <a:t>I record this as an executable clarification, not a verbatim rule from the 1990 paper.</a:t>
            </a:r>
          </a:p>
          <a:p>
            <a:pPr>
              <a:defRPr/>
            </a:pPr>
            <a:r>
              <a:rPr/>
              <a:t>中文参考</a:t>
            </a:r>
            <a:endParaRPr/>
          </a:p>
          <a:p xmlns:a="http://schemas.openxmlformats.org/drawingml/2006/main">
            <a:pPr>
              <a:defRPr/>
            </a:pPr>
            <a:r>
              <a:t>输入是 (3,2,1,4)。初始化后，有序列表是 [1,2,3]，但点的编号仍然按照曲线访问顺序保留。</a:t>
            </a:r>
          </a:p>
          <a:p xmlns:a="http://schemas.openxmlformats.org/drawingml/2006/main">
            <a:pPr>
              <a:defRPr/>
            </a:pPr>
            <a:r>
              <a:t>现在插入第四个点，也就是 4。Step 3(b) 完成后，新 upper pair P₄ 的端点是 (1,4)，它有一个 child：P₂，按曲线顺序存为 (3,2)。</a:t>
            </a:r>
          </a:p>
          <a:p xmlns:a="http://schemas.openxmlformats.org/drawingml/2006/main">
            <a:pPr>
              <a:defRPr/>
            </a:pPr>
            <a:r>
              <a:t>本次从 1 到 4，因此是 increasing。Child 的几何区间 [2,3] 位于新 pair 的区间 [1,4] 内。因此，4 必须排在 child 的两个端点之后。Child 的右边界是 3，所以我们选择 3 作为 anchor。</a:t>
            </a:r>
          </a:p>
          <a:p xmlns:a="http://schemas.openxmlformats.org/drawingml/2006/main">
            <a:pPr>
              <a:defRPr/>
            </a:pPr>
            <a:r>
              <a:t>如果把 4 紧挨着插在 2 后面，它就会落在列表中 child 的两个端点之间，得到 [1,2,4,3]。插在 3 后面，才得到 [1,2,3,4]。</a:t>
            </a:r>
          </a:p>
          <a:p xmlns:a="http://schemas.openxmlformats.org/drawingml/2006/main">
            <a:pPr>
              <a:defRPr/>
            </a:pPr>
            <a:r>
              <a:t>我们也可以把端点按从左到右的顺序存储，前提是保留它们的曲线身份信息。真正的错误，是把“曲线顺序中的第二个端点”当成“几何右端点”。</a:t>
            </a:r>
          </a:p>
          <a:p xmlns:a="http://schemas.openxmlformats.org/drawingml/2006/main">
            <a:pPr>
              <a:defRPr/>
            </a:pPr>
            <a:r>
              <a:t>我将这一明确选择记录为可执行化澄清，而不是 1990 年论文的逐字规则。</a:t>
            </a:r>
          </a:p>
          <a:p>
            <a:pPr>
              <a:defRPr/>
            </a:pPr>
            <a:r>
              <a:rPr/>
              <a:t>[Sources]</a:t>
            </a:r>
            <a:endParaRPr/>
          </a:p>
          <a:p>
            <a:pPr>
              <a:defRPr/>
            </a:pPr>
            <a:r>
              <a:rPr/>
              <a:t>- thesis/chapters/algorithm.tex</a:t>
            </a:r>
            <a:endParaRPr/>
          </a:p>
          <a:p>
            <a:pPr>
              <a:defRPr/>
            </a:pPr>
            <a:r>
              <a:rPr/>
              <a:t>- src/paper_jordan.py</a:t>
            </a:r>
            <a:endParaRPr/>
          </a:p>
          <a:p>
            <a:pPr>
              <a:defRPr/>
            </a:pPr>
            <a:endParaRPr/>
          </a:p>
        </p:txBody>
      </p:sp>
      <p:sp>
        <p:nvSpPr>
          <p:cNvPr id="577248512"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319936" name="Slide Image Placeholder 1"/>
          <p:cNvSpPr>
            <a:spLocks noGrp="1"/>
          </p:cNvSpPr>
          <p:nvPr>
            <p:ph type="sldImg" idx="0"/>
          </p:nvPr>
        </p:nvSpPr>
        <p:spPr bwMode="auto"/>
      </p:sp>
      <p:sp>
        <p:nvSpPr>
          <p:cNvPr id="634255728" name="Notes Placeholder 2"/>
          <p:cNvSpPr>
            <a:spLocks noGrp="1"/>
          </p:cNvSpPr>
          <p:nvPr>
            <p:ph type="body" idx="1"/>
          </p:nvPr>
        </p:nvSpPr>
        <p:spPr bwMode="auto"/>
        <p:txBody>
          <a:bodyPr/>
          <a:lstStyle/>
          <a:p>
            <a:pPr>
              <a:defRPr/>
            </a:pPr>
            <a:r>
              <a:rPr/>
              <a:t>Here we insert zero at iteration seven. The odd index makes the new pair a lower pair. Since zero is less than seven, this iteration is decreasing. After Step three B, the new pair has children P three and P five, shown here. Step three C takes the left endpoint of the leftmost child, P three, with endpoints two and three. So the base anchor is two. However, z one, with value one, is not an endpoint of any lower pair. It is still in the sorted list. Inserting zero before two would leave zero after one. Here the index is odd, and zero is smaller than z one, which is smaller than the base anchor. We therefore change the anchor to z one. This changes only output insertion, not the earlier boundary-pair selection.</a:t>
            </a:r>
            <a:endParaRPr/>
          </a:p>
          <a:p>
            <a:pPr>
              <a:defRPr/>
            </a:pPr>
            <a:endParaRPr/>
          </a:p>
          <a:p>
            <a:pPr>
              <a:defRPr/>
            </a:pPr>
            <a:r>
              <a:rPr/>
              <a:t>中文参考</a:t>
            </a:r>
            <a:endParaRPr/>
          </a:p>
          <a:p>
            <a:pPr>
              <a:defRPr/>
            </a:pPr>
            <a:r>
              <a:rPr lang="en-US" sz="1200" b="0" i="0" u="none" strike="noStrike" cap="none" spc="0">
                <a:solidFill>
                  <a:srgbClr val="000000"/>
                </a:solidFill>
                <a:latin typeface="+mn-lt"/>
                <a:ea typeface="+mn-ea"/>
                <a:cs typeface="+mn-cs"/>
              </a:rPr>
              <a:t>这里在第 7 次迭代插入 0。结束下标为奇数，因此新 pair 属于 lower family；0 小于旧端点 7，因此本次为 decreasing。Step 3(b) 后，新 pair 获得图中的 P₃ 和 P₅。Step 3(c) 取最左 child P₃ 的几何左端点。P₃ 的端点为 2 和 3，所以 base anchor 是 2。但是 z₁ 的值为 1，它不是任何 lower pair 的端点，却仍在有序列表中。若直接把 0 插在 2 前，会让 0 留在 1 后面。本例下标为奇数，且 0 小于 z₁，z₁ 又小于 base anchor，因此最终 anchor 改为 z₁。这只改变输出插入，不替代先前的 boundary-pair selection。</a:t>
            </a:r>
            <a:endParaRPr/>
          </a:p>
          <a:p>
            <a:pPr>
              <a:defRPr/>
            </a:pPr>
            <a:endParaRPr lang="en-US" sz="1200" b="0" i="0" u="none" strike="noStrike" cap="none" spc="0">
              <a:solidFill>
                <a:srgbClr val="000000"/>
              </a:solidFill>
              <a:latin typeface="+mn-lt"/>
              <a:ea typeface="+mn-ea"/>
              <a:cs typeface="+mn-cs"/>
            </a:endParaRPr>
          </a:p>
          <a:p>
            <a:pPr>
              <a:defRPr/>
            </a:pPr>
            <a:r>
              <a:rPr/>
              <a:t>[Sources]</a:t>
            </a:r>
            <a:endParaRPr/>
          </a:p>
          <a:p>
            <a:pPr>
              <a:defRPr/>
            </a:pPr>
            <a:r>
              <a:rPr/>
              <a:t>- thesis/chapters/algorithm.tex</a:t>
            </a:r>
            <a:endParaRPr/>
          </a:p>
          <a:p>
            <a:pPr>
              <a:defRPr/>
            </a:pPr>
            <a:r>
              <a:rPr/>
              <a:t>- thesis/figures/step3c_anchor_z1_anomaly.pdf</a:t>
            </a:r>
            <a:endParaRPr/>
          </a:p>
          <a:p>
            <a:pPr>
              <a:defRPr/>
            </a:pPr>
            <a:r>
              <a:rPr/>
              <a:t>- Hoffmann et al. (1986), p. 175, doi:10.1016/S0019-9958(86)80033-X</a:t>
            </a:r>
            <a:endParaRPr/>
          </a:p>
        </p:txBody>
      </p:sp>
      <p:sp>
        <p:nvSpPr>
          <p:cNvPr id="1727911930"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17755170" name="Slide Image Placeholder 1"/>
          <p:cNvSpPr>
            <a:spLocks noGrp="1"/>
          </p:cNvSpPr>
          <p:nvPr>
            <p:ph type="sldImg" idx="0"/>
          </p:nvPr>
        </p:nvSpPr>
        <p:spPr bwMode="auto"/>
      </p:sp>
      <p:sp>
        <p:nvSpPr>
          <p:cNvPr id="101535263" name="Notes Placeholder 2"/>
          <p:cNvSpPr>
            <a:spLocks noGrp="1"/>
          </p:cNvSpPr>
          <p:nvPr>
            <p:ph type="body" idx="1"/>
          </p:nvPr>
        </p:nvSpPr>
        <p:spPr bwMode="auto"/>
        <p:txBody>
          <a:bodyPr/>
          <a:lstStyle/>
          <a:p>
            <a:r>
              <a:t>Here, ownership means which parent pair a child list belongs to. When children move, their parent links and list membership must stay consistent. Before a split, the existing parent owns both segments. After the split, it keeps the retained segment, while the new parent receives the acquired segment. Both nonempty sides may get new lists, but only the acquired segment changes parent. Split and transfer form one transaction: save the affected state, update it, then check the boundary and ownership. If a check fails, rollback restores the previous state. Ordinary lists incur scanning, copying, slicing, and ownership-rebinding costs. These checks do not establish the update bounds required by the historical linear-time analysis.</a:t>
            </a:r>
          </a:p>
          <a:p>
            <a:r>
              <a:t/>
            </a:r>
          </a:p>
          <a:p>
            <a:r>
              <a:t>中文参考</a:t>
            </a:r>
          </a:p>
          <a:p>
            <a:r>
              <a:t>这里的 ownership 指一张 children list 归哪个 parent pair 管理。当 children 转移时，parent 记录和列表归属必须一起保持一致。拆分前，原 parent 拥有两个片段。拆分后，它保留 retained segment，新 parent 接收 acquired segment。两个非空侧都可能得到新 list，但只有 acquired segment 改变 parent。Split 和 transfer 构成一个 transaction：保存受影响状态，执行更新，再检查边界和 ownership。若检查失败，rollback 恢复之前的状态。普通列表会产生扫描、复制、切片和 ownership rebinding 成本。这些检查不能建立历史线性时间分析所需的更新界。</a:t>
            </a:r>
          </a:p>
          <a:p>
            <a:r>
              <a:t/>
            </a:r>
          </a:p>
          <a:p>
            <a:r>
              <a:t/>
            </a:r>
          </a:p>
          <a:p xmlns:a="http://schemas.openxmlformats.org/drawingml/2006/main">
            <a:r>
              <a:t>[Sources]</a:t>
            </a:r>
          </a:p>
          <a:p xmlns:a="http://schemas.openxmlformats.org/drawingml/2006/main">
            <a:r>
              <a:t>- thesis/chapters/implementation.tex</a:t>
            </a:r>
          </a:p>
          <a:p xmlns:a="http://schemas.openxmlformats.org/drawingml/2006/main">
            <a:r>
              <a:t>- thesis/figures/family_sibling_structure.pdf</a:t>
            </a:r>
          </a:p>
          <a:p xmlns:a="http://schemas.openxmlformats.org/drawingml/2006/main">
            <a:r>
              <a:t>- src/paper_jordan.py</a:t>
            </a:r>
          </a:p>
        </p:txBody>
      </p:sp>
      <p:sp>
        <p:nvSpPr>
          <p:cNvPr id="67233744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56585373" name="Slide Image Placeholder 1"/>
          <p:cNvSpPr>
            <a:spLocks noGrp="1"/>
          </p:cNvSpPr>
          <p:nvPr>
            <p:ph type="sldImg" idx="0"/>
          </p:nvPr>
        </p:nvSpPr>
        <p:spPr bwMode="auto"/>
      </p:sp>
      <p:sp>
        <p:nvSpPr>
          <p:cNvPr id="1811989554" name="Notes Placeholder 2"/>
          <p:cNvSpPr>
            <a:spLocks noGrp="1"/>
          </p:cNvSpPr>
          <p:nvPr>
            <p:ph type="body" idx="1"/>
          </p:nvPr>
        </p:nvSpPr>
        <p:spPr bwMode="auto"/>
        <p:txBody>
          <a:bodyPr/>
          <a:lstStyle/>
          <a:p>
            <a:r>
              <a:t>The left side checks the implementation and its state. The right side checks the saved experiment records and recomputes their summaries. On the left, complementary checks include focused regression cases, all 2,074 oracle-valid permutations up to size eight, and checked-state audits of parent links, ownership, sibling lists, and recovered output. Deterministic replay compares states from repeated runs of the same core; it is not a second independent implementation. On the right, checks compare the archived records with the fixed experiment setup and recomputed summaries. This finite evidence is not a mathematical proof for every Jordan sequence.</a:t>
            </a:r>
          </a:p>
          <a:p>
            <a:r>
              <a:t/>
            </a:r>
          </a:p>
          <a:p>
            <a:r>
              <a:t>中文参考</a:t>
            </a:r>
          </a:p>
          <a:p>
            <a:r>
              <a:t>左侧检查实现及其内部状态；右侧检查保存的实验记录，并重新计算汇总。左侧是互补的检查方式，包括重点回归用例、n 不超过 8 的全部 2,074 个 oracle-valid permutation，以及对 parent link、ownership、sibling list 和恢复输出的 checked-state audit。确定性重放比较同一 core 多次运行后的状态，并不是第二套独立实现。右侧将归档记录与固定实验设置及重算汇总核对。这些有限证据不是对所有 Jordan sequence 的数学证明。</a:t>
            </a:r>
          </a:p>
          <a:p>
            <a:r>
              <a:t/>
            </a:r>
          </a:p>
          <a:p>
            <a:r>
              <a:t/>
            </a:r>
          </a:p>
          <a:p xmlns:a="http://schemas.openxmlformats.org/drawingml/2006/main">
            <a:r>
              <a:t>[Sources]</a:t>
            </a:r>
          </a:p>
          <a:p xmlns:a="http://schemas.openxmlformats.org/drawingml/2006/main">
            <a:r>
              <a:t>- thesis/chapters/implementation.tex</a:t>
            </a:r>
          </a:p>
          <a:p xmlns:a="http://schemas.openxmlformats.org/drawingml/2006/main">
            <a:r>
              <a:t>- thesis/chapters/methodology.tex</a:t>
            </a:r>
          </a:p>
          <a:p xmlns:a="http://schemas.openxmlformats.org/drawingml/2006/main">
            <a:r>
              <a:t>- docs/thesis/latex_final_audit.md</a:t>
            </a:r>
          </a:p>
          <a:p xmlns:a="http://schemas.openxmlformats.org/drawingml/2006/main">
            <a:r>
              <a:t>- experiments/validate_week12_formal_sorting_outputs.py</a:t>
            </a:r>
          </a:p>
        </p:txBody>
      </p:sp>
      <p:sp>
        <p:nvSpPr>
          <p:cNvPr id="1909717964"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95960533" name="Slide Image Placeholder 1"/>
          <p:cNvSpPr>
            <a:spLocks noGrp="1"/>
          </p:cNvSpPr>
          <p:nvPr>
            <p:ph type="sldImg" idx="0"/>
          </p:nvPr>
        </p:nvSpPr>
        <p:spPr bwMode="auto"/>
      </p:sp>
      <p:sp>
        <p:nvSpPr>
          <p:cNvPr id="1012293317" name="Notes Placeholder 2"/>
          <p:cNvSpPr>
            <a:spLocks noGrp="1"/>
          </p:cNvSpPr>
          <p:nvPr>
            <p:ph type="body" idx="1"/>
          </p:nvPr>
        </p:nvSpPr>
        <p:spPr bwMode="auto"/>
        <p:txBody>
          <a:bodyPr/>
          <a:lstStyle/>
          <a:p>
            <a:r>
              <a:t>We test five sizes from 32 to 512 points. Each size has one flat case, one nested case, and ten incrementally generated valid cases: 60 inputs. Flat inputs increase; nested inputs alternate the smallest and largest remaining values. Incremental generation uses fixed seeds and validity checks. Each algorithm has five warm-ups and twenty measured calls per input, giving 3,600 rows. Repeated calls use fresh lists; algorithm positions rotate. Certification and one checked-state audit per case precede paper timing. Minimal mode runs the same core on all points, omitting detailed trace and some diagnostic checks. Paper timing includes initialization, Steps one to three, and output recovery. Output comparison follows timing. Python times sorting; reference times its complete oracle-backed pipeline. The runtime slide shows paper and Python.</a:t>
            </a:r>
          </a:p>
          <a:p>
            <a:r>
              <a:t/>
            </a:r>
          </a:p>
          <a:p>
            <a:r>
              <a:t>中文参考</a:t>
            </a:r>
          </a:p>
          <a:p>
            <a:r>
              <a:t>实验测试从 32 到 512 个点的 5 个规模。每个规模有 1 个 flat、1 个 nested 和 10 个逐步生成的有效输入，共 60 个。Flat 输入递增；nested 输入交替取剩余值中的最小值和最大值。Incremental 生成使用固定种子并检查有效性。每种算法对每个输入预热 5 次、测量 20 次，共 3,600 条记录。重复调用使用 fresh list，算法位置轮转。认证及每个 case 一次的 checked-state audit 位于 paper 计时前。Minimal 模式对全部点运行相同核心，省略详细 trace 和部分诊断检查。Paper 计时包含初始化、Step 1 至 3 和输出恢复。输出比较在计时后。Python 计时覆盖排序；reference 计时覆盖完整 oracle-backed pipeline。运行时间页展示 paper 和 Python。</a:t>
            </a:r>
          </a:p>
          <a:p>
            <a:r>
              <a:t/>
            </a:r>
          </a:p>
          <a:p>
            <a:r>
              <a:t/>
            </a:r>
          </a:p>
          <a:p xmlns:a="http://schemas.openxmlformats.org/drawingml/2006/main">
            <a:r>
              <a:t>[Sources]</a:t>
            </a:r>
          </a:p>
          <a:p xmlns:a="http://schemas.openxmlformats.org/drawingml/2006/main">
            <a:r>
              <a:t>- thesis/chapters/methodology.tex</a:t>
            </a:r>
          </a:p>
          <a:p xmlns:a="http://schemas.openxmlformats.org/drawingml/2006/main">
            <a:r>
              <a:t>- thesis/figures/formal_experiment_pipeline.pdf</a:t>
            </a:r>
          </a:p>
          <a:p xmlns:a="http://schemas.openxmlformats.org/drawingml/2006/main">
            <a:r>
              <a:t>- results/runs/week12_formal_sorting_v1__run001/config.json</a:t>
            </a:r>
          </a:p>
          <a:p xmlns:a="http://schemas.openxmlformats.org/drawingml/2006/main">
            <a:r>
              <a:t>- results/runs/week12_formal_sorting_v1__run001/manifest.json</a:t>
            </a:r>
          </a:p>
        </p:txBody>
      </p:sp>
      <p:sp>
        <p:nvSpPr>
          <p:cNvPr id="119735868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74195434" name="Slide Image Placeholder 1"/>
          <p:cNvSpPr>
            <a:spLocks noGrp="1"/>
          </p:cNvSpPr>
          <p:nvPr>
            <p:ph type="sldImg" idx="0"/>
          </p:nvPr>
        </p:nvSpPr>
        <p:spPr bwMode="auto"/>
      </p:sp>
      <p:sp>
        <p:nvSpPr>
          <p:cNvPr id="1773776805" name="Notes Placeholder 2"/>
          <p:cNvSpPr>
            <a:spLocks noGrp="1"/>
          </p:cNvSpPr>
          <p:nvPr>
            <p:ph type="body" idx="1"/>
          </p:nvPr>
        </p:nvSpPr>
        <p:spPr bwMode="auto"/>
        <p:txBody>
          <a:bodyPr/>
          <a:lstStyle/>
          <a:p>
            <a:r>
              <a:t>All 60 cases in this runtime experiment passed certification and one checked-state audit each. Every measured call returned the expected output, with no recorded correctness errors. The 3,600 measured rows carry their case-level audit results; they do not represent 3,600 independent audits. These results cover the tested valid cases only.</a:t>
            </a:r>
          </a:p>
          <a:p>
            <a:r>
              <a:t/>
            </a:r>
          </a:p>
          <a:p>
            <a:r>
              <a:t>中文参考</a:t>
            </a:r>
          </a:p>
          <a:p>
            <a:r>
              <a:t>本次运行时间实验中的 60 个 case 均通过认证，并各通过一次 checked-state audit。每次 measured call 都返回 expected output，没有记录正确性错误。3,600 条测量记录携带各自的 case-level audit 结果，不代表进行了 3,600 次独立 audit。这些结果仅覆盖本次测试的有效用例。</a:t>
            </a:r>
          </a:p>
          <a:p>
            <a:r>
              <a:t/>
            </a:r>
          </a:p>
          <a:p>
            <a:r>
              <a:t/>
            </a:r>
          </a:p>
          <a:p xmlns:a="http://schemas.openxmlformats.org/drawingml/2006/main">
            <a:r>
              <a:t>[Sources]</a:t>
            </a:r>
          </a:p>
          <a:p xmlns:a="http://schemas.openxmlformats.org/drawingml/2006/main">
            <a:r>
              <a:t>- thesis/chapters/results.tex</a:t>
            </a:r>
          </a:p>
          <a:p xmlns:a="http://schemas.openxmlformats.org/drawingml/2006/main">
            <a:r>
              <a:t>- results/runs/week12_formal_sorting_v1__run001/raw.csv</a:t>
            </a:r>
          </a:p>
          <a:p xmlns:a="http://schemas.openxmlformats.org/drawingml/2006/main">
            <a:r>
              <a:t>- results/runs/week12_formal_sorting_v1__run001/case_audit.csv</a:t>
            </a:r>
          </a:p>
          <a:p xmlns:a="http://schemas.openxmlformats.org/drawingml/2006/main">
            <a:r>
              <a:t>- results/runs/week12_formal_sorting_v1__run001/validation_report.json</a:t>
            </a:r>
          </a:p>
        </p:txBody>
      </p:sp>
      <p:sp>
        <p:nvSpPr>
          <p:cNvPr id="2060975099"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59446545" name="Slide Image Placeholder 1"/>
          <p:cNvSpPr>
            <a:spLocks noGrp="1"/>
          </p:cNvSpPr>
          <p:nvPr>
            <p:ph type="sldImg" idx="0"/>
          </p:nvPr>
        </p:nvSpPr>
        <p:spPr bwMode="auto"/>
      </p:sp>
      <p:sp>
        <p:nvSpPr>
          <p:cNvPr id="545759804" name="Notes Placeholder 2"/>
          <p:cNvSpPr>
            <a:spLocks noGrp="1"/>
          </p:cNvSpPr>
          <p:nvPr>
            <p:ph type="body" idx="1"/>
          </p:nvPr>
        </p:nvSpPr>
        <p:spPr bwMode="auto"/>
        <p:txBody>
          <a:bodyPr/>
          <a:lstStyle/>
          <a:p xmlns:a="http://schemas.openxmlformats.org/drawingml/2006/main">
            <a:r>
              <a:t>This slide shows the runtime of the ordinary-list paper core, with Python sort as a practical baseline.</a:t>
            </a:r>
          </a:p>
          <a:p xmlns:a="http://schemas.openxmlformats.org/drawingml/2006/main">
            <a:r>
              <a:t/>
            </a:r>
          </a:p>
          <a:p xmlns:a="http://schemas.openxmlformats.org/drawingml/2006/main">
            <a:r>
              <a:t>Both methods receive the same valid inputs and produce their own sorted outputs. Certification and external checks are outside timing. Each method's output construction remains timed.</a:t>
            </a:r>
          </a:p>
          <a:p xmlns:a="http://schemas.openxmlformats.org/drawingml/2006/main">
            <a:r>
              <a:t/>
            </a:r>
          </a:p>
          <a:p xmlns:a="http://schemas.openxmlformats.org/drawingml/2006/main">
            <a:r>
              <a:t>Each plotted value is the median of twelve case medians, with equal weight per case. Each case median comes from twenty timed calls. The vertical axis uses a logarithmic scale.</a:t>
            </a:r>
          </a:p>
          <a:p xmlns:a="http://schemas.openxmlformats.org/drawingml/2006/main">
            <a:r>
              <a:t/>
            </a:r>
          </a:p>
          <a:p xmlns:a="http://schemas.openxmlformats.org/drawingml/2006/main">
            <a:r>
              <a:t>The paper time rises from about 0.59 milliseconds at 32 points to 18.72 milliseconds at 512 points. Python sort has a much lower median time at every tested size.</a:t>
            </a:r>
          </a:p>
          <a:p xmlns:a="http://schemas.openxmlformats.org/drawingml/2006/main">
            <a:r>
              <a:t/>
            </a:r>
          </a:p>
          <a:p xmlns:a="http://schemas.openxmlformats.org/drawingml/2006/main">
            <a:r>
              <a:t>These results describe the current implementation. They do not establish linear-time performance or isolate the cost of individual components. They give us a baseline for later optimization and backend comparisons.</a:t>
            </a:r>
          </a:p>
          <a:p xmlns:a="http://schemas.openxmlformats.org/drawingml/2006/main">
            <a:r>
              <a:t/>
            </a:r>
          </a:p>
          <a:p xmlns:a="http://schemas.openxmlformats.org/drawingml/2006/main">
            <a:r>
              <a:t>[中文参考]</a:t>
            </a:r>
          </a:p>
          <a:p xmlns:a="http://schemas.openxmlformats.org/drawingml/2006/main">
            <a:r>
              <a:t>这一页展示普通列表 paper core 的运行时间，并以 Python sort 作为实际排序基线。</a:t>
            </a:r>
          </a:p>
          <a:p xmlns:a="http://schemas.openxmlformats.org/drawingml/2006/main">
            <a:r>
              <a:t/>
            </a:r>
          </a:p>
          <a:p xmlns:a="http://schemas.openxmlformats.org/drawingml/2006/main">
            <a:r>
              <a:t>两种方法接收相同的有效输入，各自产生排序结果。认证和外部检查位于计时之外。每种方法自身的输出构造仍在计时内。</a:t>
            </a:r>
          </a:p>
          <a:p xmlns:a="http://schemas.openxmlformats.org/drawingml/2006/main">
            <a:r>
              <a:t/>
            </a:r>
          </a:p>
          <a:p xmlns:a="http://schemas.openxmlformats.org/drawingml/2006/main">
            <a:r>
              <a:t>图中每个数值是同一规模下 12 个 case 中位数的中位数，每个 case 权重相同。每个 case 的中位数来自 20 次计时调用。纵轴采用对数刻度。</a:t>
            </a:r>
          </a:p>
          <a:p xmlns:a="http://schemas.openxmlformats.org/drawingml/2006/main">
            <a:r>
              <a:t/>
            </a:r>
          </a:p>
          <a:p xmlns:a="http://schemas.openxmlformats.org/drawingml/2006/main">
            <a:r>
              <a:t>Paper 的耗时从 32 个点时约 0.59 毫秒，上升到 512 个点时约 18.72 毫秒。Python sort 在每个测试规模上的中位耗时都低得多。</a:t>
            </a:r>
          </a:p>
          <a:p xmlns:a="http://schemas.openxmlformats.org/drawingml/2006/main">
            <a:r>
              <a:t/>
            </a:r>
          </a:p>
          <a:p xmlns:a="http://schemas.openxmlformats.org/drawingml/2006/main">
            <a:r>
              <a:t>这些结果描述当前实现，不能证明线性时间性能，也没有隔离各个组成部分的成本。它们为后续优化和后端比较提供基线。</a:t>
            </a:r>
          </a:p>
          <a:p xmlns:a="http://schemas.openxmlformats.org/drawingml/2006/main">
            <a:r>
              <a:t/>
            </a:r>
          </a:p>
          <a:p xmlns:a="http://schemas.openxmlformats.org/drawingml/2006/main">
            <a:r>
              <a:t>[Sources]</a:t>
            </a:r>
          </a:p>
          <a:p xmlns:a="http://schemas.openxmlformats.org/drawingml/2006/main">
            <a:r>
              <a:t>- thesis/chapters/results.tex</a:t>
            </a:r>
          </a:p>
          <a:p xmlns:a="http://schemas.openxmlformats.org/drawingml/2006/main">
            <a:r>
              <a:t>- thesis/chapters/methodology.tex</a:t>
            </a:r>
          </a:p>
          <a:p xmlns:a="http://schemas.openxmlformats.org/drawingml/2006/main">
            <a:r>
              <a:t>- results/runs/week12_formal_sorting_v1__run001/case_summary.csv</a:t>
            </a:r>
          </a:p>
          <a:p xmlns:a="http://schemas.openxmlformats.org/drawingml/2006/main">
            <a:r>
              <a:t>- results/runs/week12_formal_sorting_v1__run001/config.json</a:t>
            </a:r>
          </a:p>
          <a:p xmlns:a="http://schemas.openxmlformats.org/drawingml/2006/main">
            <a:r>
              <a:t>- results/runs/week12_formal_sorting_v1__run001/manifest.json (source_commit: 98868b1b705f6d5f22404ee8ad7b88ad7a834f52)</a:t>
            </a:r>
          </a:p>
          <a:p xmlns:a="http://schemas.openxmlformats.org/drawingml/2006/main">
            <a:r>
              <a:t>- results/runs/week12_formal_sorting_v1__run001/environment.json</a:t>
            </a:r>
          </a:p>
          <a:p xmlns:a="http://schemas.openxmlformats.org/drawingml/2006/main">
            <a:r>
              <a:t>- experiments/run_week11_pilot.py (timing boundaries at the manifest source_commit)</a:t>
            </a:r>
          </a:p>
          <a:p xmlns:a="http://schemas.openxmlformats.org/drawingml/2006/main">
            <a:r>
              <a:t>- src/paper_jordan_sort.py (output recovery at the manifest source_commit)</a:t>
            </a:r>
          </a:p>
        </p:txBody>
      </p:sp>
      <p:sp>
        <p:nvSpPr>
          <p:cNvPr id="448978554"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89719121" name="Slide Image Placeholder 1"/>
          <p:cNvSpPr>
            <a:spLocks noGrp="1"/>
          </p:cNvSpPr>
          <p:nvPr>
            <p:ph type="sldImg" idx="0"/>
          </p:nvPr>
        </p:nvSpPr>
        <p:spPr bwMode="auto"/>
      </p:sp>
      <p:sp>
        <p:nvSpPr>
          <p:cNvPr id="2069906056" name="Notes Placeholder 2"/>
          <p:cNvSpPr>
            <a:spLocks noGrp="1"/>
          </p:cNvSpPr>
          <p:nvPr>
            <p:ph type="body" idx="1"/>
          </p:nvPr>
        </p:nvSpPr>
        <p:spPr bwMode="auto"/>
        <p:txBody>
          <a:bodyPr/>
          <a:lstStyle/>
          <a:p>
            <a:r>
              <a:t>The evidence supports an executable ordinary-list reconstruction that recovers output from maintained state, with correct results on the 60 cases in the runtime experiment. The runtime trend describes this implementation under the stated timing scopes. Ordinary lists do not establish a linear-time implementation, and five tested sizes do not establish asymptotic complexity. Recognition was not evaluated.</a:t>
            </a:r>
          </a:p>
          <a:p>
            <a:r>
              <a:t/>
            </a:r>
          </a:p>
          <a:p>
            <a:r>
              <a:t>中文参考</a:t>
            </a:r>
          </a:p>
          <a:p>
            <a:r>
              <a:t>当前证据支持一个从维护状态恢复输出的可执行普通列表重构，并在运行时间实验中的 60 个用例上得到正确结果。运行时间趋势描述的是当前实现及其计时范围。普通列表不构成线性时间实现，五个测试规模也不能确定渐近复杂度。本实验没有评估 recognition。</a:t>
            </a:r>
          </a:p>
          <a:p>
            <a:r>
              <a:t/>
            </a:r>
          </a:p>
          <a:p>
            <a:r>
              <a:t/>
            </a:r>
          </a:p>
          <a:p xmlns:a="http://schemas.openxmlformats.org/drawingml/2006/main">
            <a:r>
              <a:t>[Sources]</a:t>
            </a:r>
          </a:p>
          <a:p xmlns:a="http://schemas.openxmlformats.org/drawingml/2006/main">
            <a:r>
              <a:t>- thesis/chapters/limitations.tex</a:t>
            </a:r>
          </a:p>
          <a:p xmlns:a="http://schemas.openxmlformats.org/drawingml/2006/main">
            <a:r>
              <a:t>- thesis/chapters/conclusion.tex</a:t>
            </a:r>
          </a:p>
          <a:p xmlns:a="http://schemas.openxmlformats.org/drawingml/2006/main">
            <a:r>
              <a:t>- Supervisor feedback, September 2026</a:t>
            </a:r>
          </a:p>
        </p:txBody>
      </p:sp>
      <p:sp>
        <p:nvSpPr>
          <p:cNvPr id="856972329"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38302076" name="Slide Image Placeholder 1"/>
          <p:cNvSpPr>
            <a:spLocks noGrp="1"/>
          </p:cNvSpPr>
          <p:nvPr>
            <p:ph type="sldImg" idx="0"/>
          </p:nvPr>
        </p:nvSpPr>
        <p:spPr bwMode="auto"/>
      </p:sp>
      <p:sp>
        <p:nvSpPr>
          <p:cNvPr id="1835562696" name="Notes Placeholder 2"/>
          <p:cNvSpPr>
            <a:spLocks noGrp="1"/>
          </p:cNvSpPr>
          <p:nvPr>
            <p:ph type="body" idx="1"/>
          </p:nvPr>
        </p:nvSpPr>
        <p:spPr bwMode="auto"/>
        <p:txBody>
          <a:bodyPr/>
          <a:lstStyle/>
          <a:p xmlns:a="http://schemas.openxmlformats.org/drawingml/2006/main">
            <a:r>
              <a:t>A finger-tree backend is a possible future extension, outside the current experimental evidence. It would keep the same Step 1, Step 2, and Step 3 behavior. The ordinary-list implementation provides a tested reference point for checking the behavior of a new backend. I would like guidance on two questions. Should I target the historical heterogeneous finger tree, or an equivalent backend supporting the required list operations? Is a tested, semantically equivalent prototype enough, or should I also prove the required amortized operation bounds?</a:t>
            </a:r>
          </a:p>
          <a:p xmlns:a="http://schemas.openxmlformats.org/drawingml/2006/main">
            <a:r>
              <a:t/>
            </a:r>
          </a:p>
          <a:p xmlns:a="http://schemas.openxmlformats.org/drawingml/2006/main">
            <a:r>
              <a:t>中文参考</a:t>
            </a:r>
          </a:p>
          <a:p xmlns:a="http://schemas.openxmlformats.org/drawingml/2006/main">
            <a:r>
              <a:t>Finger-tree 后端是可能的未来扩展，不属于当前实验证据。它将保持相同的 Step 1、Step 2 和 Step 3 行为。普通列表实现为检查新后端的行为提供了经过测试的参照点。我希望向导师确认两个问题：应实现历史 heterogeneous finger tree，还是支持所需列表操作的等价后端？一个经过测试、语义等价的原型是否足够，还是还应证明所需的摊还操作界？</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thesis/chapters/limitations.tex</a:t>
            </a:r>
          </a:p>
          <a:p xmlns:a="http://schemas.openxmlformats.org/drawingml/2006/main">
            <a:r>
              <a:t>- thesis/README.md</a:t>
            </a:r>
          </a:p>
          <a:p xmlns:a="http://schemas.openxmlformats.org/drawingml/2006/main">
            <a:r>
              <a:t>- Fung et al. (1990), doi:10.1016/0020-0190(90)90111-A</a:t>
            </a:r>
          </a:p>
          <a:p xmlns:a="http://schemas.openxmlformats.org/drawingml/2006/main">
            <a:r>
              <a:t>- Supervisor feedback, September 2026</a:t>
            </a:r>
          </a:p>
        </p:txBody>
      </p:sp>
      <p:sp>
        <p:nvSpPr>
          <p:cNvPr id="1097016800" name="Slide Number Placeholder 3"/>
          <p:cNvSpPr>
            <a:spLocks noGrp="1"/>
          </p:cNvSpPr>
          <p:nvPr>
            <p:ph type="sldNum" idx="5"/>
          </p:nvPr>
        </p:nvSpPr>
        <p:spPr bwMode="auto"/>
        <p:txBody>
          <a:bodyPr/>
          <a:lstStyle/>
          <a:p>
            <a:pPr>
              <a:defRPr/>
            </a:pPr>
            <a:endParaRP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type="title" userDrawn="1">
  <p:cSld name="Title Slide">
    <p:spTree>
      <p:nvGrpSpPr>
        <p:cNvPr id="1" name=""/>
        <p:cNvGrpSpPr/>
        <p:nvPr/>
      </p:nvGrpSpPr>
      <p:grpSpPr bwMode="auto">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Master">
    <p:bg>
      <p:bgRef idx="1001">
        <a:schemeClr val="bg1"/>
      </p:bgRef>
    </p:bg>
    <p:spTree>
      <p:nvGrpSpPr>
        <p:cNvPr id="1" name=""/>
        <p:cNvGrpSpPr/>
        <p:nvPr/>
      </p:nvGrpSpPr>
      <p:grpSpPr bwMode="auto">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chart" Target="../charts/chart1.xml" /></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02A43"/>
        </a:solidFill>
      </p:bgPr>
    </p:bg>
    <p:spTree>
      <p:nvGrpSpPr>
        <p:cNvPr id="1" name=""/>
        <p:cNvGrpSpPr/>
        <p:nvPr/>
      </p:nvGrpSpPr>
      <p:grpSpPr bwMode="auto">
        <a:xfrm>
          <a:off x="0" y="0"/>
          <a:ext cx="0" cy="0"/>
          <a:chOff x="0" y="0"/>
          <a:chExt cx="0" cy="0"/>
        </a:xfrm>
      </p:grpSpPr>
      <p:sp>
        <p:nvSpPr>
          <p:cNvPr id="1103715777" name=""/>
          <p:cNvSpPr>
            <a:spLocks noGrp="1"/>
          </p:cNvSpPr>
          <p:nvPr/>
        </p:nvSpPr>
        <p:spPr bwMode="auto">
          <a:xfrm>
            <a:off x="7239000" y="0"/>
            <a:ext cx="4953000" cy="6858000"/>
          </a:xfrm>
          <a:prstGeom prst="rect">
            <a:avLst/>
          </a:prstGeom>
          <a:solidFill>
            <a:srgbClr val="FFFFFF"/>
          </a:solidFill>
          <a:ln w="11430">
            <a:solidFill>
              <a:srgbClr val="FFFFFF"/>
            </a:solidFill>
            <a:prstDash val="solid"/>
          </a:ln>
        </p:spPr>
      </p:sp>
      <p:pic>
        <p:nvPicPr>
          <p:cNvPr id="2023656579" name=""/>
          <p:cNvPicPr>
            <a:picLocks noChangeAspect="1"/>
          </p:cNvPicPr>
          <p:nvPr/>
        </p:nvPicPr>
        <p:blipFill rotWithShape="1">
          <a:blip r:embed="rId3"/>
          <a:stretch/>
        </p:blipFill>
        <p:spPr bwMode="auto">
          <a:xfrm>
            <a:off x="7334250" y="1695818"/>
            <a:ext cx="4667250" cy="2666262"/>
          </a:xfrm>
          <a:prstGeom prst="rect">
            <a:avLst/>
          </a:prstGeom>
        </p:spPr>
      </p:pic>
      <p:sp>
        <p:nvSpPr>
          <p:cNvPr id="1673853858" name=""/>
          <p:cNvSpPr>
            <a:spLocks noGrp="1"/>
          </p:cNvSpPr>
          <p:nvPr/>
        </p:nvSpPr>
        <p:spPr bwMode="auto">
          <a:xfrm>
            <a:off x="685800" y="666750"/>
            <a:ext cx="5619750" cy="2667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050" b="1" i="0">
                <a:solidFill>
                  <a:srgbClr val="2A9D8F"/>
                </a:solidFill>
              </a:defRPr>
            </a:pPr>
            <a:r>
              <a:rPr sz="1050" b="1" i="0">
                <a:solidFill>
                  <a:srgbClr val="2A9D8F"/>
                </a:solidFill>
              </a:rPr>
              <a:t>MASTER'S THESIS PROGRESS REPORT</a:t>
            </a:r>
            <a:endParaRPr/>
          </a:p>
        </p:txBody>
      </p:sp>
      <p:sp>
        <p:nvSpPr>
          <p:cNvPr id="654182295" name=""/>
          <p:cNvSpPr>
            <a:spLocks noGrp="1"/>
          </p:cNvSpPr>
          <p:nvPr/>
        </p:nvSpPr>
        <p:spPr bwMode="auto">
          <a:xfrm>
            <a:off x="685800" y="1219200"/>
            <a:ext cx="5905500" cy="2476500"/>
          </a:xfrm>
          <a:prstGeom prst="rect">
            <a:avLst/>
          </a:prstGeom>
          <a:noFill/>
          <a:ln w="0">
            <a:noFill/>
            <a:prstDash val="solid"/>
          </a:ln>
        </p:spPr>
        <p:txBody>
          <a:bodyPr wrap="square" lIns="38100" tIns="19050" rIns="38100" bIns="19050" anchor="ctr">
            <a:normAutofit fontScale="100000"/>
          </a:bodyPr>
          <a:lstStyle/>
          <a:p>
            <a:pPr algn="l">
              <a:lnSpc>
                <a:spcPct val="92000"/>
              </a:lnSpc>
              <a:buNone/>
              <a:defRPr sz="3750" b="1" i="0">
                <a:solidFill>
                  <a:srgbClr val="FFFFFF"/>
                </a:solidFill>
              </a:defRPr>
            </a:pPr>
            <a:r>
              <a:rPr sz="3750" b="1" i="0">
                <a:solidFill>
                  <a:srgbClr val="FFFFFF"/>
                </a:solidFill>
              </a:rPr>
              <a:t>Progress on the Executable Reconstruction of Simplified Jordan Sorting</a:t>
            </a:r>
            <a:endParaRPr/>
          </a:p>
        </p:txBody>
      </p:sp>
      <p:sp>
        <p:nvSpPr>
          <p:cNvPr id="1707522599" name=""/>
          <p:cNvSpPr>
            <a:spLocks noGrp="1"/>
          </p:cNvSpPr>
          <p:nvPr/>
        </p:nvSpPr>
        <p:spPr bwMode="auto">
          <a:xfrm>
            <a:off x="723900" y="3857625"/>
            <a:ext cx="5334000" cy="6858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0" i="0">
                <a:solidFill>
                  <a:srgbClr val="D9EAF2"/>
                </a:solidFill>
              </a:defRPr>
            </a:pPr>
            <a:r>
              <a:rPr sz="1800" b="0" i="0">
                <a:solidFill>
                  <a:srgbClr val="D9EAF2"/>
                </a:solidFill>
              </a:rPr>
              <a:t>Implementation progress, validation, and initial experimental results</a:t>
            </a:r>
            <a:endParaRPr/>
          </a:p>
        </p:txBody>
      </p:sp>
      <p:sp>
        <p:nvSpPr>
          <p:cNvPr id="651792224" name=""/>
          <p:cNvSpPr>
            <a:spLocks noGrp="1"/>
          </p:cNvSpPr>
          <p:nvPr/>
        </p:nvSpPr>
        <p:spPr bwMode="auto">
          <a:xfrm>
            <a:off x="723900" y="4838700"/>
            <a:ext cx="1428750" cy="9525"/>
          </a:xfrm>
          <a:prstGeom prst="line">
            <a:avLst/>
          </a:prstGeom>
          <a:noFill/>
          <a:ln w="47625">
            <a:solidFill>
              <a:srgbClr val="E76F51"/>
            </a:solidFill>
            <a:prstDash val="solid"/>
          </a:ln>
        </p:spPr>
      </p:sp>
      <p:sp>
        <p:nvSpPr>
          <p:cNvPr id="1398502149" name=""/>
          <p:cNvSpPr>
            <a:spLocks noGrp="1"/>
          </p:cNvSpPr>
          <p:nvPr/>
        </p:nvSpPr>
        <p:spPr bwMode="auto">
          <a:xfrm>
            <a:off x="723900" y="5086350"/>
            <a:ext cx="5905500" cy="4000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00" b="0" i="0">
                <a:solidFill>
                  <a:srgbClr val="BCCCDC"/>
                </a:solidFill>
              </a:defRPr>
            </a:pPr>
            <a:r>
              <a:rPr sz="1300" b="0" i="0">
                <a:solidFill>
                  <a:srgbClr val="BCCCDC"/>
                </a:solidFill>
              </a:rPr>
              <a:t>Research Seminar  |  Freie Universität Berlin  |  September 2026</a:t>
            </a:r>
            <a:endParaRPr/>
          </a:p>
        </p:txBody>
      </p:sp>
      <p:sp>
        <p:nvSpPr>
          <p:cNvPr id="335623969" name=""/>
          <p:cNvSpPr>
            <a:spLocks noGrp="1"/>
          </p:cNvSpPr>
          <p:nvPr/>
        </p:nvSpPr>
        <p:spPr bwMode="auto">
          <a:xfrm>
            <a:off x="11010900" y="6477000"/>
            <a:ext cx="704850" cy="190500"/>
          </a:xfrm>
          <a:prstGeom prst="rect">
            <a:avLst/>
          </a:prstGeom>
          <a:noFill/>
          <a:ln w="0">
            <a:noFill/>
            <a:prstDash val="solid"/>
          </a:ln>
        </p:spPr>
        <p:txBody>
          <a:bodyPr wrap="square" lIns="38100" tIns="19050" rIns="38100" bIns="19050" anchor="t">
            <a:normAutofit fontScale="100000"/>
          </a:bodyPr>
          <a:lstStyle/>
          <a:p>
            <a:pPr algn="r">
              <a:lnSpc>
                <a:spcPct val="105000"/>
              </a:lnSpc>
              <a:buNone/>
              <a:defRPr sz="850" b="0" i="0">
                <a:solidFill>
                  <a:srgbClr val="7B8794"/>
                </a:solidFill>
              </a:defRPr>
            </a:pPr>
            <a:r>
              <a:rPr sz="850" b="0" i="0">
                <a:solidFill>
                  <a:srgbClr val="7B8794"/>
                </a:solidFill>
              </a:rPr>
              <a:t>1 / 16</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335341868"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CONTEXT</a:t>
            </a:r>
            <a:endParaRPr/>
          </a:p>
        </p:txBody>
      </p:sp>
      <p:sp>
        <p:nvSpPr>
          <p:cNvPr id="884045055"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The previous report established a static structural baseline</a:t>
            </a:r>
            <a:endParaRPr/>
          </a:p>
        </p:txBody>
      </p:sp>
      <p:sp>
        <p:nvSpPr>
          <p:cNvPr id="1254684054" name=""/>
          <p:cNvSpPr>
            <a:spLocks noGrp="1"/>
          </p:cNvSpPr>
          <p:nvPr/>
        </p:nvSpPr>
        <p:spPr bwMode="auto">
          <a:xfrm>
            <a:off x="609600" y="1085850"/>
            <a:ext cx="10972800" cy="9525"/>
          </a:xfrm>
          <a:prstGeom prst="line">
            <a:avLst/>
          </a:prstGeom>
          <a:noFill/>
          <a:ln w="28575">
            <a:solidFill>
              <a:srgbClr val="2A9D8F"/>
            </a:solidFill>
            <a:prstDash val="solid"/>
          </a:ln>
        </p:spPr>
      </p:sp>
      <p:sp>
        <p:nvSpPr>
          <p:cNvPr id="1496170190" name=""/>
          <p:cNvSpPr>
            <a:spLocks noGrp="1"/>
          </p:cNvSpPr>
          <p:nvPr/>
        </p:nvSpPr>
        <p:spPr bwMode="auto">
          <a:xfrm>
            <a:off x="609600" y="6477000"/>
            <a:ext cx="10972800" cy="9525"/>
          </a:xfrm>
          <a:prstGeom prst="line">
            <a:avLst/>
          </a:prstGeom>
          <a:noFill/>
          <a:ln w="9525">
            <a:solidFill>
              <a:srgbClr val="D9E2EC"/>
            </a:solidFill>
            <a:prstDash val="solid"/>
          </a:ln>
        </p:spPr>
      </p:sp>
      <p:sp>
        <p:nvSpPr>
          <p:cNvPr id="782257540"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873501530"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2 / 16</a:t>
            </a:r>
            <a:endParaRPr/>
          </a:p>
        </p:txBody>
      </p:sp>
      <p:sp>
        <p:nvSpPr>
          <p:cNvPr id="1843412308" name=""/>
          <p:cNvSpPr>
            <a:spLocks noGrp="1"/>
          </p:cNvSpPr>
          <p:nvPr/>
        </p:nvSpPr>
        <p:spPr bwMode="auto">
          <a:xfrm>
            <a:off x="895350" y="1428750"/>
            <a:ext cx="3714750" cy="2857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150" b="1" i="0">
                <a:solidFill>
                  <a:srgbClr val="2A9D8F"/>
                </a:solidFill>
              </a:defRPr>
            </a:pPr>
            <a:r>
              <a:rPr sz="1150" b="1" i="0">
                <a:solidFill>
                  <a:srgbClr val="2A9D8F"/>
                </a:solidFill>
              </a:rPr>
              <a:t>PREVIOUS BASELINE</a:t>
            </a:r>
            <a:endParaRPr/>
          </a:p>
        </p:txBody>
      </p:sp>
      <p:sp>
        <p:nvSpPr>
          <p:cNvPr id="245343814" name=""/>
          <p:cNvSpPr>
            <a:spLocks noGrp="1"/>
          </p:cNvSpPr>
          <p:nvPr/>
        </p:nvSpPr>
        <p:spPr bwMode="auto">
          <a:xfrm>
            <a:off x="895350" y="1762125"/>
            <a:ext cx="3714750" cy="428625"/>
          </a:xfrm>
          <a:prstGeom prst="rect">
            <a:avLst/>
          </a:prstGeom>
          <a:noFill/>
          <a:ln w="0">
            <a:noFill/>
            <a:prstDash val="solid"/>
          </a:ln>
        </p:spPr>
        <p:txBody>
          <a:bodyPr wrap="square" lIns="38100" tIns="19050" rIns="38100" bIns="19050" anchor="t">
            <a:normAutofit fontScale="94383"/>
          </a:bodyPr>
          <a:lstStyle/>
          <a:p>
            <a:pPr algn="l">
              <a:lnSpc>
                <a:spcPct val="105000"/>
              </a:lnSpc>
              <a:buNone/>
              <a:defRPr sz="2050" b="1" i="0">
                <a:solidFill>
                  <a:srgbClr val="102A43"/>
                </a:solidFill>
              </a:defRPr>
            </a:pPr>
            <a:r>
              <a:rPr sz="2050" b="1" i="0">
                <a:solidFill>
                  <a:srgbClr val="102A43"/>
                </a:solidFill>
              </a:rPr>
              <a:t>Structural reference framework</a:t>
            </a:r>
            <a:endParaRPr/>
          </a:p>
        </p:txBody>
      </p:sp>
      <p:sp>
        <p:nvSpPr>
          <p:cNvPr id="56895560" name=""/>
          <p:cNvSpPr>
            <a:spLocks noGrp="1"/>
          </p:cNvSpPr>
          <p:nvPr/>
        </p:nvSpPr>
        <p:spPr bwMode="auto">
          <a:xfrm>
            <a:off x="971550" y="2457450"/>
            <a:ext cx="95250" cy="95250"/>
          </a:xfrm>
          <a:prstGeom prst="ellipse">
            <a:avLst/>
          </a:prstGeom>
          <a:solidFill>
            <a:srgbClr val="2A9D8F"/>
          </a:solidFill>
          <a:ln w="0">
            <a:solidFill>
              <a:srgbClr val="2A9D8F"/>
            </a:solidFill>
            <a:prstDash val="solid"/>
          </a:ln>
        </p:spPr>
      </p:sp>
      <p:sp>
        <p:nvSpPr>
          <p:cNvPr id="1823704510" name=""/>
          <p:cNvSpPr>
            <a:spLocks noGrp="1"/>
          </p:cNvSpPr>
          <p:nvPr/>
        </p:nvSpPr>
        <p:spPr bwMode="auto">
          <a:xfrm>
            <a:off x="1181099" y="2381250"/>
            <a:ext cx="3505199" cy="476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500" b="0" i="0">
                <a:solidFill>
                  <a:srgbClr val="243B53"/>
                </a:solidFill>
              </a:defRPr>
            </a:pPr>
            <a:r>
              <a:rPr sz="1500" b="0" i="0">
                <a:solidFill>
                  <a:srgbClr val="243B53"/>
                </a:solidFill>
              </a:rPr>
              <a:t>rank-interval abstraction</a:t>
            </a:r>
            <a:endParaRPr/>
          </a:p>
        </p:txBody>
      </p:sp>
      <p:sp>
        <p:nvSpPr>
          <p:cNvPr id="627378106" name=""/>
          <p:cNvSpPr>
            <a:spLocks noGrp="1"/>
          </p:cNvSpPr>
          <p:nvPr/>
        </p:nvSpPr>
        <p:spPr bwMode="auto">
          <a:xfrm>
            <a:off x="971550" y="2952750"/>
            <a:ext cx="95250" cy="95250"/>
          </a:xfrm>
          <a:prstGeom prst="ellipse">
            <a:avLst/>
          </a:prstGeom>
          <a:solidFill>
            <a:srgbClr val="2A9D8F"/>
          </a:solidFill>
          <a:ln w="0">
            <a:solidFill>
              <a:srgbClr val="2A9D8F"/>
            </a:solidFill>
            <a:prstDash val="solid"/>
          </a:ln>
        </p:spPr>
      </p:sp>
      <p:sp>
        <p:nvSpPr>
          <p:cNvPr id="1860973207" name=""/>
          <p:cNvSpPr>
            <a:spLocks noGrp="1"/>
          </p:cNvSpPr>
          <p:nvPr/>
        </p:nvSpPr>
        <p:spPr bwMode="auto">
          <a:xfrm>
            <a:off x="1181099" y="2876550"/>
            <a:ext cx="3505199" cy="476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500" b="0" i="0">
                <a:solidFill>
                  <a:srgbClr val="243B53"/>
                </a:solidFill>
              </a:defRPr>
            </a:pPr>
            <a:r>
              <a:rPr sz="1500" b="0" i="0">
                <a:solidFill>
                  <a:srgbClr val="243B53"/>
                </a:solidFill>
              </a:rPr>
              <a:t>upper and lower families</a:t>
            </a:r>
            <a:endParaRPr/>
          </a:p>
        </p:txBody>
      </p:sp>
      <p:sp>
        <p:nvSpPr>
          <p:cNvPr id="569742363" name=""/>
          <p:cNvSpPr>
            <a:spLocks noGrp="1"/>
          </p:cNvSpPr>
          <p:nvPr/>
        </p:nvSpPr>
        <p:spPr bwMode="auto">
          <a:xfrm>
            <a:off x="971550" y="3448050"/>
            <a:ext cx="95250" cy="95250"/>
          </a:xfrm>
          <a:prstGeom prst="ellipse">
            <a:avLst/>
          </a:prstGeom>
          <a:solidFill>
            <a:srgbClr val="2A9D8F"/>
          </a:solidFill>
          <a:ln w="0">
            <a:solidFill>
              <a:srgbClr val="2A9D8F"/>
            </a:solidFill>
            <a:prstDash val="solid"/>
          </a:ln>
        </p:spPr>
      </p:sp>
      <p:sp>
        <p:nvSpPr>
          <p:cNvPr id="2111203620" name=""/>
          <p:cNvSpPr>
            <a:spLocks noGrp="1"/>
          </p:cNvSpPr>
          <p:nvPr/>
        </p:nvSpPr>
        <p:spPr bwMode="auto">
          <a:xfrm>
            <a:off x="1181099" y="3371850"/>
            <a:ext cx="3505199" cy="476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500" b="0" i="0">
                <a:solidFill>
                  <a:srgbClr val="243B53"/>
                </a:solidFill>
              </a:defRPr>
            </a:pPr>
            <a:r>
              <a:rPr sz="1500" b="0" i="0">
                <a:solidFill>
                  <a:srgbClr val="243B53"/>
                </a:solidFill>
              </a:rPr>
              <a:t>family trees and structural metrics</a:t>
            </a:r>
            <a:endParaRPr/>
          </a:p>
        </p:txBody>
      </p:sp>
      <p:sp>
        <p:nvSpPr>
          <p:cNvPr id="1094656721" name=""/>
          <p:cNvSpPr>
            <a:spLocks noGrp="1"/>
          </p:cNvSpPr>
          <p:nvPr/>
        </p:nvSpPr>
        <p:spPr bwMode="auto">
          <a:xfrm>
            <a:off x="971550" y="3943350"/>
            <a:ext cx="95250" cy="95250"/>
          </a:xfrm>
          <a:prstGeom prst="ellipse">
            <a:avLst/>
          </a:prstGeom>
          <a:solidFill>
            <a:srgbClr val="2A9D8F"/>
          </a:solidFill>
          <a:ln w="0">
            <a:solidFill>
              <a:srgbClr val="2A9D8F"/>
            </a:solidFill>
            <a:prstDash val="solid"/>
          </a:ln>
        </p:spPr>
      </p:sp>
      <p:sp>
        <p:nvSpPr>
          <p:cNvPr id="369314913" name=""/>
          <p:cNvSpPr>
            <a:spLocks noGrp="1"/>
          </p:cNvSpPr>
          <p:nvPr/>
        </p:nvSpPr>
        <p:spPr bwMode="auto">
          <a:xfrm>
            <a:off x="1181099" y="3867150"/>
            <a:ext cx="3505199" cy="476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500" b="0" i="0">
                <a:solidFill>
                  <a:srgbClr val="243B53"/>
                </a:solidFill>
              </a:defRPr>
            </a:pPr>
            <a:r>
              <a:rPr sz="1500" b="0" i="0">
                <a:solidFill>
                  <a:srgbClr val="243B53"/>
                </a:solidFill>
              </a:rPr>
              <a:t>oracle-backed validation</a:t>
            </a:r>
            <a:endParaRPr/>
          </a:p>
        </p:txBody>
      </p:sp>
      <p:sp>
        <p:nvSpPr>
          <p:cNvPr id="1123819469" name=""/>
          <p:cNvSpPr>
            <a:spLocks noGrp="1"/>
          </p:cNvSpPr>
          <p:nvPr/>
        </p:nvSpPr>
        <p:spPr bwMode="auto">
          <a:xfrm>
            <a:off x="5219700" y="2971800"/>
            <a:ext cx="1143000" cy="552450"/>
          </a:xfrm>
          <a:prstGeom prst="roundRect">
            <a:avLst>
              <a:gd name="adj" fmla="val 50000"/>
            </a:avLst>
          </a:prstGeom>
          <a:solidFill>
            <a:srgbClr val="EAF1F8"/>
          </a:solidFill>
          <a:ln w="11430">
            <a:solidFill>
              <a:srgbClr val="102A43"/>
            </a:solidFill>
            <a:prstDash val="solid"/>
          </a:ln>
        </p:spPr>
      </p:sp>
      <p:sp>
        <p:nvSpPr>
          <p:cNvPr id="896231436" name=""/>
          <p:cNvSpPr>
            <a:spLocks noGrp="1"/>
          </p:cNvSpPr>
          <p:nvPr/>
        </p:nvSpPr>
        <p:spPr bwMode="auto">
          <a:xfrm>
            <a:off x="5238750" y="3028950"/>
            <a:ext cx="1104900" cy="42862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102A43"/>
                </a:solidFill>
              </a:defRPr>
            </a:pPr>
            <a:r>
              <a:rPr sz="1350" b="1" i="0">
                <a:solidFill>
                  <a:srgbClr val="102A43"/>
                </a:solidFill>
              </a:rPr>
              <a:t>static</a:t>
            </a:r>
            <a:endParaRPr/>
          </a:p>
        </p:txBody>
      </p:sp>
      <p:sp>
        <p:nvSpPr>
          <p:cNvPr id="1480952846" name=""/>
          <p:cNvSpPr>
            <a:spLocks noGrp="1"/>
          </p:cNvSpPr>
          <p:nvPr/>
        </p:nvSpPr>
        <p:spPr bwMode="auto">
          <a:xfrm>
            <a:off x="6334125" y="2981325"/>
            <a:ext cx="666750" cy="5238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2850" b="1" i="0">
                <a:solidFill>
                  <a:srgbClr val="E76F51"/>
                </a:solidFill>
              </a:defRPr>
            </a:pPr>
            <a:r>
              <a:rPr sz="2850" b="1" i="0">
                <a:solidFill>
                  <a:srgbClr val="E76F51"/>
                </a:solidFill>
              </a:rPr>
              <a:t>→</a:t>
            </a:r>
            <a:endParaRPr/>
          </a:p>
        </p:txBody>
      </p:sp>
      <p:sp>
        <p:nvSpPr>
          <p:cNvPr id="1571411959" name=""/>
          <p:cNvSpPr>
            <a:spLocks noGrp="1"/>
          </p:cNvSpPr>
          <p:nvPr/>
        </p:nvSpPr>
        <p:spPr bwMode="auto">
          <a:xfrm>
            <a:off x="6953250" y="2971800"/>
            <a:ext cx="1238250" cy="552450"/>
          </a:xfrm>
          <a:prstGeom prst="roundRect">
            <a:avLst>
              <a:gd name="adj" fmla="val 50000"/>
            </a:avLst>
          </a:prstGeom>
          <a:solidFill>
            <a:srgbClr val="E8F5F3"/>
          </a:solidFill>
          <a:ln w="11430">
            <a:solidFill>
              <a:srgbClr val="2A9D8F"/>
            </a:solidFill>
            <a:prstDash val="solid"/>
          </a:ln>
        </p:spPr>
      </p:sp>
      <p:sp>
        <p:nvSpPr>
          <p:cNvPr id="207783402" name=""/>
          <p:cNvSpPr>
            <a:spLocks noGrp="1"/>
          </p:cNvSpPr>
          <p:nvPr/>
        </p:nvSpPr>
        <p:spPr bwMode="auto">
          <a:xfrm>
            <a:off x="6991350" y="3028950"/>
            <a:ext cx="1162050" cy="42862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2A9D8F"/>
                </a:solidFill>
              </a:defRPr>
            </a:pPr>
            <a:r>
              <a:rPr sz="1350" b="1" i="0">
                <a:solidFill>
                  <a:srgbClr val="2A9D8F"/>
                </a:solidFill>
              </a:rPr>
              <a:t>dynamic</a:t>
            </a:r>
            <a:endParaRPr/>
          </a:p>
        </p:txBody>
      </p:sp>
      <p:sp>
        <p:nvSpPr>
          <p:cNvPr id="708120283" name=""/>
          <p:cNvSpPr>
            <a:spLocks noGrp="1"/>
          </p:cNvSpPr>
          <p:nvPr/>
        </p:nvSpPr>
        <p:spPr bwMode="auto">
          <a:xfrm>
            <a:off x="8572500" y="1428750"/>
            <a:ext cx="2857500" cy="2857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150" b="1" i="0">
                <a:solidFill>
                  <a:srgbClr val="E76F51"/>
                </a:solidFill>
              </a:defRPr>
            </a:pPr>
            <a:r>
              <a:rPr sz="1150" b="1" i="0">
                <a:solidFill>
                  <a:srgbClr val="E76F51"/>
                </a:solidFill>
              </a:rPr>
              <a:t>OPEN IMPLEMENTATION GAP</a:t>
            </a:r>
            <a:endParaRPr/>
          </a:p>
        </p:txBody>
      </p:sp>
      <p:sp>
        <p:nvSpPr>
          <p:cNvPr id="1173549256" name=""/>
          <p:cNvSpPr>
            <a:spLocks noGrp="1"/>
          </p:cNvSpPr>
          <p:nvPr/>
        </p:nvSpPr>
        <p:spPr bwMode="auto">
          <a:xfrm>
            <a:off x="8572500" y="1762125"/>
            <a:ext cx="2857500" cy="666750"/>
          </a:xfrm>
          <a:prstGeom prst="rect">
            <a:avLst/>
          </a:prstGeom>
          <a:noFill/>
          <a:ln w="0">
            <a:noFill/>
            <a:prstDash val="solid"/>
          </a:ln>
        </p:spPr>
        <p:txBody>
          <a:bodyPr wrap="square" lIns="38100" tIns="19050" rIns="38100" bIns="19050" anchor="t">
            <a:normAutofit fontScale="97002"/>
          </a:bodyPr>
          <a:lstStyle/>
          <a:p>
            <a:pPr algn="l">
              <a:lnSpc>
                <a:spcPct val="105000"/>
              </a:lnSpc>
              <a:buNone/>
              <a:defRPr sz="2050" b="1" i="0">
                <a:solidFill>
                  <a:srgbClr val="102A43"/>
                </a:solidFill>
              </a:defRPr>
            </a:pPr>
            <a:r>
              <a:rPr sz="2050" b="1" i="0">
                <a:solidFill>
                  <a:srgbClr val="102A43"/>
                </a:solidFill>
              </a:rPr>
              <a:t>Executable dynamic reconstruction</a:t>
            </a:r>
            <a:endParaRPr/>
          </a:p>
        </p:txBody>
      </p:sp>
      <p:sp>
        <p:nvSpPr>
          <p:cNvPr id="1573181696" name=""/>
          <p:cNvSpPr>
            <a:spLocks noGrp="1"/>
          </p:cNvSpPr>
          <p:nvPr/>
        </p:nvSpPr>
        <p:spPr bwMode="auto">
          <a:xfrm>
            <a:off x="8648700" y="2647949"/>
            <a:ext cx="95250" cy="95250"/>
          </a:xfrm>
          <a:prstGeom prst="ellipse">
            <a:avLst/>
          </a:prstGeom>
          <a:solidFill>
            <a:srgbClr val="E76F51"/>
          </a:solidFill>
          <a:ln w="0">
            <a:solidFill>
              <a:srgbClr val="E76F51"/>
            </a:solidFill>
            <a:prstDash val="solid"/>
          </a:ln>
        </p:spPr>
      </p:sp>
      <p:sp>
        <p:nvSpPr>
          <p:cNvPr id="836976069" name=""/>
          <p:cNvSpPr>
            <a:spLocks noGrp="1"/>
          </p:cNvSpPr>
          <p:nvPr/>
        </p:nvSpPr>
        <p:spPr bwMode="auto">
          <a:xfrm>
            <a:off x="8858250" y="2571750"/>
            <a:ext cx="2590800" cy="476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500" b="0" i="0">
                <a:solidFill>
                  <a:srgbClr val="243B53"/>
                </a:solidFill>
              </a:defRPr>
            </a:pPr>
            <a:r>
              <a:rPr sz="1500" b="0" i="0">
                <a:solidFill>
                  <a:srgbClr val="243B53"/>
                </a:solidFill>
              </a:rPr>
              <a:t>Step 1/2/3 control flow</a:t>
            </a:r>
            <a:endParaRPr/>
          </a:p>
        </p:txBody>
      </p:sp>
      <p:sp>
        <p:nvSpPr>
          <p:cNvPr id="722022081" name=""/>
          <p:cNvSpPr>
            <a:spLocks noGrp="1"/>
          </p:cNvSpPr>
          <p:nvPr/>
        </p:nvSpPr>
        <p:spPr bwMode="auto">
          <a:xfrm>
            <a:off x="8648700" y="3143250"/>
            <a:ext cx="95250" cy="95250"/>
          </a:xfrm>
          <a:prstGeom prst="ellipse">
            <a:avLst/>
          </a:prstGeom>
          <a:solidFill>
            <a:srgbClr val="E76F51"/>
          </a:solidFill>
          <a:ln w="0">
            <a:solidFill>
              <a:srgbClr val="E76F51"/>
            </a:solidFill>
            <a:prstDash val="solid"/>
          </a:ln>
        </p:spPr>
      </p:sp>
      <p:sp>
        <p:nvSpPr>
          <p:cNvPr id="10737896" name=""/>
          <p:cNvSpPr>
            <a:spLocks noGrp="1"/>
          </p:cNvSpPr>
          <p:nvPr/>
        </p:nvSpPr>
        <p:spPr bwMode="auto">
          <a:xfrm>
            <a:off x="8858250" y="3067050"/>
            <a:ext cx="2590800" cy="476250"/>
          </a:xfrm>
          <a:prstGeom prst="rect">
            <a:avLst/>
          </a:prstGeom>
          <a:noFill/>
          <a:ln w="0">
            <a:noFill/>
            <a:prstDash val="solid"/>
          </a:ln>
        </p:spPr>
        <p:txBody>
          <a:bodyPr wrap="square" lIns="38100" tIns="19050" rIns="38100" bIns="19050" anchor="ctr">
            <a:normAutofit fontScale="95833"/>
          </a:bodyPr>
          <a:lstStyle/>
          <a:p>
            <a:pPr algn="l">
              <a:lnSpc>
                <a:spcPct val="100000"/>
              </a:lnSpc>
              <a:buNone/>
              <a:defRPr sz="1500" b="0" i="0">
                <a:solidFill>
                  <a:srgbClr val="243B53"/>
                </a:solidFill>
              </a:defRPr>
            </a:pPr>
            <a:r>
              <a:rPr sz="1500" b="0" i="0">
                <a:solidFill>
                  <a:srgbClr val="243B53"/>
                </a:solidFill>
              </a:rPr>
              <a:t>sibling-list insertion and splitting</a:t>
            </a:r>
            <a:endParaRPr/>
          </a:p>
        </p:txBody>
      </p:sp>
      <p:sp>
        <p:nvSpPr>
          <p:cNvPr id="2096326161" name=""/>
          <p:cNvSpPr>
            <a:spLocks noGrp="1"/>
          </p:cNvSpPr>
          <p:nvPr/>
        </p:nvSpPr>
        <p:spPr bwMode="auto">
          <a:xfrm>
            <a:off x="8648700" y="3638550"/>
            <a:ext cx="95250" cy="95250"/>
          </a:xfrm>
          <a:prstGeom prst="ellipse">
            <a:avLst/>
          </a:prstGeom>
          <a:solidFill>
            <a:srgbClr val="E76F51"/>
          </a:solidFill>
          <a:ln w="0">
            <a:solidFill>
              <a:srgbClr val="E76F51"/>
            </a:solidFill>
            <a:prstDash val="solid"/>
          </a:ln>
        </p:spPr>
      </p:sp>
      <p:sp>
        <p:nvSpPr>
          <p:cNvPr id="1275673073" name=""/>
          <p:cNvSpPr>
            <a:spLocks noGrp="1"/>
          </p:cNvSpPr>
          <p:nvPr/>
        </p:nvSpPr>
        <p:spPr bwMode="auto">
          <a:xfrm>
            <a:off x="8858250" y="3562350"/>
            <a:ext cx="2590800" cy="476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500" b="0" i="0">
                <a:solidFill>
                  <a:srgbClr val="243B53"/>
                </a:solidFill>
              </a:defRPr>
            </a:pPr>
            <a:r>
              <a:rPr sz="1500" b="0" i="0">
                <a:solidFill>
                  <a:srgbClr val="243B53"/>
                </a:solidFill>
              </a:rPr>
              <a:t>ownership transfer</a:t>
            </a:r>
            <a:endParaRPr/>
          </a:p>
        </p:txBody>
      </p:sp>
      <p:sp>
        <p:nvSpPr>
          <p:cNvPr id="1128931612" name=""/>
          <p:cNvSpPr>
            <a:spLocks noGrp="1"/>
          </p:cNvSpPr>
          <p:nvPr/>
        </p:nvSpPr>
        <p:spPr bwMode="auto">
          <a:xfrm>
            <a:off x="8648700" y="4133850"/>
            <a:ext cx="95250" cy="95250"/>
          </a:xfrm>
          <a:prstGeom prst="ellipse">
            <a:avLst/>
          </a:prstGeom>
          <a:solidFill>
            <a:srgbClr val="E76F51"/>
          </a:solidFill>
          <a:ln w="0">
            <a:solidFill>
              <a:srgbClr val="E76F51"/>
            </a:solidFill>
            <a:prstDash val="solid"/>
          </a:ln>
        </p:spPr>
      </p:sp>
      <p:sp>
        <p:nvSpPr>
          <p:cNvPr id="2000699183" name=""/>
          <p:cNvSpPr>
            <a:spLocks noGrp="1"/>
          </p:cNvSpPr>
          <p:nvPr/>
        </p:nvSpPr>
        <p:spPr bwMode="auto">
          <a:xfrm>
            <a:off x="8858250" y="4057650"/>
            <a:ext cx="2590800" cy="476250"/>
          </a:xfrm>
          <a:prstGeom prst="rect">
            <a:avLst/>
          </a:prstGeom>
          <a:noFill/>
          <a:ln w="0">
            <a:noFill/>
            <a:prstDash val="solid"/>
          </a:ln>
        </p:spPr>
        <p:txBody>
          <a:bodyPr wrap="square" lIns="38100" tIns="19050" rIns="38100" bIns="19050" anchor="ctr">
            <a:normAutofit fontScale="95833"/>
          </a:bodyPr>
          <a:lstStyle/>
          <a:p>
            <a:pPr algn="l">
              <a:lnSpc>
                <a:spcPct val="100000"/>
              </a:lnSpc>
              <a:buNone/>
              <a:defRPr sz="1500" b="0" i="0">
                <a:solidFill>
                  <a:srgbClr val="243B53"/>
                </a:solidFill>
              </a:defRPr>
            </a:pPr>
            <a:r>
              <a:rPr sz="1500" b="0" i="0">
                <a:solidFill>
                  <a:srgbClr val="243B53"/>
                </a:solidFill>
              </a:rPr>
              <a:t>output recovery from maintained state</a:t>
            </a:r>
            <a:endParaRPr/>
          </a:p>
        </p:txBody>
      </p:sp>
      <p:sp>
        <p:nvSpPr>
          <p:cNvPr id="1150491131" name=""/>
          <p:cNvSpPr>
            <a:spLocks noGrp="1"/>
          </p:cNvSpPr>
          <p:nvPr/>
        </p:nvSpPr>
        <p:spPr bwMode="auto">
          <a:xfrm>
            <a:off x="895350" y="5572125"/>
            <a:ext cx="10534650" cy="514350"/>
          </a:xfrm>
          <a:prstGeom prst="roundRect">
            <a:avLst>
              <a:gd name="adj" fmla="val 11111"/>
            </a:avLst>
          </a:prstGeom>
          <a:solidFill>
            <a:srgbClr val="102A43"/>
          </a:solidFill>
          <a:ln w="11430">
            <a:solidFill>
              <a:srgbClr val="102A43"/>
            </a:solidFill>
            <a:prstDash val="solid"/>
          </a:ln>
        </p:spPr>
      </p:sp>
      <p:sp>
        <p:nvSpPr>
          <p:cNvPr id="543257277" name=""/>
          <p:cNvSpPr>
            <a:spLocks noGrp="1"/>
          </p:cNvSpPr>
          <p:nvPr/>
        </p:nvSpPr>
        <p:spPr bwMode="auto">
          <a:xfrm>
            <a:off x="1066800" y="5619750"/>
            <a:ext cx="10191750" cy="4191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600" b="1" i="0">
                <a:solidFill>
                  <a:srgbClr val="FFFFFF"/>
                </a:solidFill>
              </a:defRPr>
            </a:pPr>
            <a:r>
              <a:rPr sz="1600" b="1" i="0">
                <a:solidFill>
                  <a:srgbClr val="FFFFFF"/>
                </a:solidFill>
              </a:rPr>
              <a:t>Family trees explain nesting; executable Jordan sorting requires dynamic updates.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731734948"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PROGRESS</a:t>
            </a:r>
            <a:endParaRPr/>
          </a:p>
        </p:txBody>
      </p:sp>
      <p:sp>
        <p:nvSpPr>
          <p:cNvPr id="238328125"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Progress since the previous report</a:t>
            </a:r>
            <a:endParaRPr/>
          </a:p>
        </p:txBody>
      </p:sp>
      <p:sp>
        <p:nvSpPr>
          <p:cNvPr id="1033297043" name=""/>
          <p:cNvSpPr>
            <a:spLocks noGrp="1"/>
          </p:cNvSpPr>
          <p:nvPr/>
        </p:nvSpPr>
        <p:spPr bwMode="auto">
          <a:xfrm>
            <a:off x="609600" y="1085850"/>
            <a:ext cx="10972800" cy="9525"/>
          </a:xfrm>
          <a:prstGeom prst="line">
            <a:avLst/>
          </a:prstGeom>
          <a:noFill/>
          <a:ln w="28575">
            <a:solidFill>
              <a:srgbClr val="2A9D8F"/>
            </a:solidFill>
            <a:prstDash val="solid"/>
          </a:ln>
        </p:spPr>
      </p:sp>
      <p:sp>
        <p:nvSpPr>
          <p:cNvPr id="384214170" name=""/>
          <p:cNvSpPr>
            <a:spLocks noGrp="1"/>
          </p:cNvSpPr>
          <p:nvPr/>
        </p:nvSpPr>
        <p:spPr bwMode="auto">
          <a:xfrm>
            <a:off x="609600" y="6477000"/>
            <a:ext cx="10972800" cy="9525"/>
          </a:xfrm>
          <a:prstGeom prst="line">
            <a:avLst/>
          </a:prstGeom>
          <a:noFill/>
          <a:ln w="9525">
            <a:solidFill>
              <a:srgbClr val="D9E2EC"/>
            </a:solidFill>
            <a:prstDash val="solid"/>
          </a:ln>
        </p:spPr>
      </p:sp>
      <p:sp>
        <p:nvSpPr>
          <p:cNvPr id="480838085"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700320639"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3 / 16</a:t>
            </a:r>
            <a:endParaRPr/>
          </a:p>
        </p:txBody>
      </p:sp>
      <p:sp>
        <p:nvSpPr>
          <p:cNvPr id="1993336851" name=""/>
          <p:cNvSpPr>
            <a:spLocks noGrp="1"/>
          </p:cNvSpPr>
          <p:nvPr/>
        </p:nvSpPr>
        <p:spPr bwMode="auto">
          <a:xfrm>
            <a:off x="723900" y="1619250"/>
            <a:ext cx="685800" cy="514350"/>
          </a:xfrm>
          <a:prstGeom prst="rect">
            <a:avLst/>
          </a:prstGeom>
          <a:noFill/>
          <a:ln w="0">
            <a:noFill/>
            <a:prstDash val="solid"/>
          </a:ln>
        </p:spPr>
        <p:txBody>
          <a:bodyPr wrap="square" lIns="38100" tIns="19050" rIns="38100" bIns="19050" anchor="t">
            <a:normAutofit fontScale="99206"/>
          </a:bodyPr>
          <a:lstStyle/>
          <a:p>
            <a:pPr algn="l">
              <a:lnSpc>
                <a:spcPct val="105000"/>
              </a:lnSpc>
              <a:buNone/>
              <a:defRPr sz="3000" b="1" i="0">
                <a:solidFill>
                  <a:srgbClr val="102A43"/>
                </a:solidFill>
              </a:defRPr>
            </a:pPr>
            <a:r>
              <a:rPr sz="3000" b="1" i="0">
                <a:solidFill>
                  <a:srgbClr val="102A43"/>
                </a:solidFill>
              </a:rPr>
              <a:t>01</a:t>
            </a:r>
            <a:endParaRPr/>
          </a:p>
        </p:txBody>
      </p:sp>
      <p:sp>
        <p:nvSpPr>
          <p:cNvPr id="760309971" name=""/>
          <p:cNvSpPr>
            <a:spLocks noGrp="1"/>
          </p:cNvSpPr>
          <p:nvPr/>
        </p:nvSpPr>
        <p:spPr bwMode="auto">
          <a:xfrm>
            <a:off x="723900" y="2209800"/>
            <a:ext cx="1952625" cy="9525"/>
          </a:xfrm>
          <a:prstGeom prst="line">
            <a:avLst/>
          </a:prstGeom>
          <a:noFill/>
          <a:ln w="38100">
            <a:solidFill>
              <a:srgbClr val="102A43"/>
            </a:solidFill>
            <a:prstDash val="solid"/>
          </a:ln>
        </p:spPr>
      </p:sp>
      <p:sp>
        <p:nvSpPr>
          <p:cNvPr id="263107117" name=""/>
          <p:cNvSpPr>
            <a:spLocks noGrp="1"/>
          </p:cNvSpPr>
          <p:nvPr/>
        </p:nvSpPr>
        <p:spPr bwMode="auto">
          <a:xfrm>
            <a:off x="723900" y="2457450"/>
            <a:ext cx="2095500" cy="7239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1" i="0">
                <a:solidFill>
                  <a:srgbClr val="102A43"/>
                </a:solidFill>
              </a:defRPr>
            </a:pPr>
            <a:r>
              <a:rPr sz="1800" b="1" i="0">
                <a:solidFill>
                  <a:srgbClr val="102A43"/>
                </a:solidFill>
              </a:rPr>
              <a:t>Scope stabilization</a:t>
            </a:r>
            <a:endParaRPr/>
          </a:p>
        </p:txBody>
      </p:sp>
      <p:sp>
        <p:nvSpPr>
          <p:cNvPr id="2099454468" name=""/>
          <p:cNvSpPr>
            <a:spLocks noGrp="1"/>
          </p:cNvSpPr>
          <p:nvPr/>
        </p:nvSpPr>
        <p:spPr bwMode="auto">
          <a:xfrm>
            <a:off x="723900" y="3333750"/>
            <a:ext cx="2152650" cy="1619250"/>
          </a:xfrm>
          <a:prstGeom prst="roundRect">
            <a:avLst>
              <a:gd name="adj" fmla="val 4706"/>
            </a:avLst>
          </a:prstGeom>
          <a:solidFill>
            <a:srgbClr val="EAF1F8"/>
          </a:solidFill>
          <a:ln w="11430">
            <a:solidFill>
              <a:srgbClr val="EAF1F8"/>
            </a:solidFill>
            <a:prstDash val="solid"/>
          </a:ln>
        </p:spPr>
      </p:sp>
      <p:sp>
        <p:nvSpPr>
          <p:cNvPr id="1267302794" name=""/>
          <p:cNvSpPr>
            <a:spLocks noGrp="1"/>
          </p:cNvSpPr>
          <p:nvPr/>
        </p:nvSpPr>
        <p:spPr bwMode="auto">
          <a:xfrm>
            <a:off x="857250" y="3486150"/>
            <a:ext cx="1885950" cy="1333500"/>
          </a:xfrm>
          <a:prstGeom prst="rect">
            <a:avLst/>
          </a:prstGeom>
          <a:noFill/>
          <a:ln w="0">
            <a:noFill/>
            <a:prstDash val="solid"/>
          </a:ln>
        </p:spPr>
        <p:txBody>
          <a:bodyPr wrap="square" lIns="38100" tIns="19050" rIns="38100" bIns="19050" anchor="ctr">
            <a:normAutofit fontScale="100000"/>
          </a:bodyPr>
          <a:lstStyle/>
          <a:p>
            <a:pPr algn="ctr">
              <a:lnSpc>
                <a:spcPct val="108000"/>
              </a:lnSpc>
              <a:buNone/>
              <a:defRPr sz="1450" b="0" i="0">
                <a:solidFill>
                  <a:srgbClr val="243B53"/>
                </a:solidFill>
              </a:defRPr>
            </a:pPr>
            <a:r>
              <a:rPr sz="1450" b="0" i="0">
                <a:solidFill>
                  <a:srgbClr val="243B53"/>
                </a:solidFill>
              </a:rPr>
              <a:t>Separated valid-input sorting, recognition, and theoretical-backend claims</a:t>
            </a:r>
            <a:endParaRPr/>
          </a:p>
        </p:txBody>
      </p:sp>
      <p:sp>
        <p:nvSpPr>
          <p:cNvPr id="783938751" name=""/>
          <p:cNvSpPr>
            <a:spLocks noGrp="1"/>
          </p:cNvSpPr>
          <p:nvPr/>
        </p:nvSpPr>
        <p:spPr bwMode="auto">
          <a:xfrm>
            <a:off x="3533775" y="1619250"/>
            <a:ext cx="685800" cy="514350"/>
          </a:xfrm>
          <a:prstGeom prst="rect">
            <a:avLst/>
          </a:prstGeom>
          <a:noFill/>
          <a:ln w="0">
            <a:noFill/>
            <a:prstDash val="solid"/>
          </a:ln>
        </p:spPr>
        <p:txBody>
          <a:bodyPr wrap="square" lIns="38100" tIns="19050" rIns="38100" bIns="19050" anchor="t">
            <a:normAutofit fontScale="99206"/>
          </a:bodyPr>
          <a:lstStyle/>
          <a:p>
            <a:pPr algn="l">
              <a:lnSpc>
                <a:spcPct val="105000"/>
              </a:lnSpc>
              <a:buNone/>
              <a:defRPr sz="3000" b="1" i="0">
                <a:solidFill>
                  <a:srgbClr val="2A9D8F"/>
                </a:solidFill>
              </a:defRPr>
            </a:pPr>
            <a:r>
              <a:rPr sz="3000" b="1" i="0">
                <a:solidFill>
                  <a:srgbClr val="2A9D8F"/>
                </a:solidFill>
              </a:rPr>
              <a:t>02</a:t>
            </a:r>
            <a:endParaRPr/>
          </a:p>
        </p:txBody>
      </p:sp>
      <p:sp>
        <p:nvSpPr>
          <p:cNvPr id="1561112250" name=""/>
          <p:cNvSpPr>
            <a:spLocks noGrp="1"/>
          </p:cNvSpPr>
          <p:nvPr/>
        </p:nvSpPr>
        <p:spPr bwMode="auto">
          <a:xfrm>
            <a:off x="3533775" y="2209800"/>
            <a:ext cx="1952625" cy="9525"/>
          </a:xfrm>
          <a:prstGeom prst="line">
            <a:avLst/>
          </a:prstGeom>
          <a:noFill/>
          <a:ln w="38100">
            <a:solidFill>
              <a:srgbClr val="2A9D8F"/>
            </a:solidFill>
            <a:prstDash val="solid"/>
          </a:ln>
        </p:spPr>
      </p:sp>
      <p:sp>
        <p:nvSpPr>
          <p:cNvPr id="1891998285" name=""/>
          <p:cNvSpPr>
            <a:spLocks noGrp="1"/>
          </p:cNvSpPr>
          <p:nvPr/>
        </p:nvSpPr>
        <p:spPr bwMode="auto">
          <a:xfrm>
            <a:off x="3533775" y="2457450"/>
            <a:ext cx="2095500" cy="7239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1" i="0">
                <a:solidFill>
                  <a:srgbClr val="102A43"/>
                </a:solidFill>
              </a:defRPr>
            </a:pPr>
            <a:r>
              <a:rPr sz="1800" b="1" i="0">
                <a:solidFill>
                  <a:srgbClr val="102A43"/>
                </a:solidFill>
              </a:rPr>
              <a:t>Executable reconstruction</a:t>
            </a:r>
            <a:endParaRPr/>
          </a:p>
        </p:txBody>
      </p:sp>
      <p:sp>
        <p:nvSpPr>
          <p:cNvPr id="401811057" name=""/>
          <p:cNvSpPr>
            <a:spLocks noGrp="1"/>
          </p:cNvSpPr>
          <p:nvPr/>
        </p:nvSpPr>
        <p:spPr bwMode="auto">
          <a:xfrm>
            <a:off x="3533775" y="3333750"/>
            <a:ext cx="2152650" cy="1619250"/>
          </a:xfrm>
          <a:prstGeom prst="roundRect">
            <a:avLst>
              <a:gd name="adj" fmla="val 4706"/>
            </a:avLst>
          </a:prstGeom>
          <a:solidFill>
            <a:srgbClr val="E8F5F3"/>
          </a:solidFill>
          <a:ln w="11430">
            <a:solidFill>
              <a:srgbClr val="E8F5F3"/>
            </a:solidFill>
            <a:prstDash val="solid"/>
          </a:ln>
        </p:spPr>
      </p:sp>
      <p:sp>
        <p:nvSpPr>
          <p:cNvPr id="1086973635" name=""/>
          <p:cNvSpPr>
            <a:spLocks noGrp="1"/>
          </p:cNvSpPr>
          <p:nvPr/>
        </p:nvSpPr>
        <p:spPr bwMode="auto">
          <a:xfrm>
            <a:off x="3667125" y="3486150"/>
            <a:ext cx="1885950" cy="1333500"/>
          </a:xfrm>
          <a:prstGeom prst="rect">
            <a:avLst/>
          </a:prstGeom>
          <a:noFill/>
          <a:ln w="0">
            <a:noFill/>
            <a:prstDash val="solid"/>
          </a:ln>
        </p:spPr>
        <p:txBody>
          <a:bodyPr wrap="square" lIns="38100" tIns="19050" rIns="38100" bIns="19050" anchor="ctr">
            <a:normAutofit fontScale="100000"/>
          </a:bodyPr>
          <a:lstStyle/>
          <a:p>
            <a:pPr algn="ctr">
              <a:lnSpc>
                <a:spcPct val="108000"/>
              </a:lnSpc>
              <a:buNone/>
              <a:defRPr sz="1450" b="0" i="0">
                <a:solidFill>
                  <a:srgbClr val="243B53"/>
                </a:solidFill>
              </a:defRPr>
            </a:pPr>
            <a:r>
              <a:rPr sz="1450" b="0" i="0">
                <a:solidFill>
                  <a:srgbClr val="243B53"/>
                </a:solidFill>
              </a:rPr>
              <a:t>Implemented the paper-facing Step 1/2/3 control flow</a:t>
            </a:r>
            <a:endParaRPr/>
          </a:p>
        </p:txBody>
      </p:sp>
      <p:sp>
        <p:nvSpPr>
          <p:cNvPr id="365529227" name=""/>
          <p:cNvSpPr>
            <a:spLocks noGrp="1"/>
          </p:cNvSpPr>
          <p:nvPr/>
        </p:nvSpPr>
        <p:spPr bwMode="auto">
          <a:xfrm>
            <a:off x="6343650" y="1619250"/>
            <a:ext cx="685800" cy="514350"/>
          </a:xfrm>
          <a:prstGeom prst="rect">
            <a:avLst/>
          </a:prstGeom>
          <a:noFill/>
          <a:ln w="0">
            <a:noFill/>
            <a:prstDash val="solid"/>
          </a:ln>
        </p:spPr>
        <p:txBody>
          <a:bodyPr wrap="square" lIns="38100" tIns="19050" rIns="38100" bIns="19050" anchor="t">
            <a:normAutofit fontScale="99206"/>
          </a:bodyPr>
          <a:lstStyle/>
          <a:p>
            <a:pPr algn="l">
              <a:lnSpc>
                <a:spcPct val="105000"/>
              </a:lnSpc>
              <a:buNone/>
              <a:defRPr sz="3000" b="1" i="0">
                <a:solidFill>
                  <a:srgbClr val="E76F51"/>
                </a:solidFill>
              </a:defRPr>
            </a:pPr>
            <a:r>
              <a:rPr sz="3000" b="1" i="0">
                <a:solidFill>
                  <a:srgbClr val="E76F51"/>
                </a:solidFill>
              </a:rPr>
              <a:t>03</a:t>
            </a:r>
            <a:endParaRPr/>
          </a:p>
        </p:txBody>
      </p:sp>
      <p:sp>
        <p:nvSpPr>
          <p:cNvPr id="1966538275" name=""/>
          <p:cNvSpPr>
            <a:spLocks noGrp="1"/>
          </p:cNvSpPr>
          <p:nvPr/>
        </p:nvSpPr>
        <p:spPr bwMode="auto">
          <a:xfrm>
            <a:off x="6343650" y="2209800"/>
            <a:ext cx="1952625" cy="9525"/>
          </a:xfrm>
          <a:prstGeom prst="line">
            <a:avLst/>
          </a:prstGeom>
          <a:noFill/>
          <a:ln w="38100">
            <a:solidFill>
              <a:srgbClr val="E76F51"/>
            </a:solidFill>
            <a:prstDash val="solid"/>
          </a:ln>
        </p:spPr>
      </p:sp>
      <p:sp>
        <p:nvSpPr>
          <p:cNvPr id="1207707574" name=""/>
          <p:cNvSpPr>
            <a:spLocks noGrp="1"/>
          </p:cNvSpPr>
          <p:nvPr/>
        </p:nvSpPr>
        <p:spPr bwMode="auto">
          <a:xfrm>
            <a:off x="6343650" y="2457450"/>
            <a:ext cx="2095500" cy="723900"/>
          </a:xfrm>
          <a:prstGeom prst="rect">
            <a:avLst/>
          </a:prstGeom>
          <a:noFill/>
          <a:ln w="0">
            <a:noFill/>
            <a:prstDash val="solid"/>
          </a:ln>
        </p:spPr>
        <p:txBody>
          <a:bodyPr wrap="square" lIns="38100" tIns="19050" rIns="38100" bIns="19050" anchor="ctr">
            <a:normAutofit fontScale="89573"/>
          </a:bodyPr>
          <a:lstStyle/>
          <a:p>
            <a:pPr algn="l">
              <a:lnSpc>
                <a:spcPct val="105000"/>
              </a:lnSpc>
              <a:buNone/>
              <a:defRPr sz="1800" b="1" i="0">
                <a:solidFill>
                  <a:srgbClr val="102A43"/>
                </a:solidFill>
              </a:defRPr>
            </a:pPr>
            <a:r>
              <a:rPr sz="1800" b="1" i="0">
                <a:solidFill>
                  <a:srgbClr val="102A43"/>
                </a:solidFill>
              </a:rPr>
              <a:t>State and correctness controls</a:t>
            </a:r>
            <a:endParaRPr/>
          </a:p>
        </p:txBody>
      </p:sp>
      <p:sp>
        <p:nvSpPr>
          <p:cNvPr id="1346659247" name=""/>
          <p:cNvSpPr>
            <a:spLocks noGrp="1"/>
          </p:cNvSpPr>
          <p:nvPr/>
        </p:nvSpPr>
        <p:spPr bwMode="auto">
          <a:xfrm>
            <a:off x="6343650" y="3333750"/>
            <a:ext cx="2152650" cy="1619250"/>
          </a:xfrm>
          <a:prstGeom prst="roundRect">
            <a:avLst>
              <a:gd name="adj" fmla="val 4706"/>
            </a:avLst>
          </a:prstGeom>
          <a:solidFill>
            <a:srgbClr val="FCEEEA"/>
          </a:solidFill>
          <a:ln w="11430">
            <a:solidFill>
              <a:srgbClr val="FCEEEA"/>
            </a:solidFill>
            <a:prstDash val="solid"/>
          </a:ln>
        </p:spPr>
      </p:sp>
      <p:sp>
        <p:nvSpPr>
          <p:cNvPr id="1858366296" name=""/>
          <p:cNvSpPr>
            <a:spLocks noGrp="1"/>
          </p:cNvSpPr>
          <p:nvPr/>
        </p:nvSpPr>
        <p:spPr bwMode="auto">
          <a:xfrm>
            <a:off x="6477000" y="3486150"/>
            <a:ext cx="1885950" cy="1333500"/>
          </a:xfrm>
          <a:prstGeom prst="rect">
            <a:avLst/>
          </a:prstGeom>
          <a:noFill/>
          <a:ln w="0">
            <a:noFill/>
            <a:prstDash val="solid"/>
          </a:ln>
        </p:spPr>
        <p:txBody>
          <a:bodyPr wrap="square" lIns="38100" tIns="19050" rIns="38100" bIns="19050" anchor="ctr">
            <a:normAutofit fontScale="100000"/>
          </a:bodyPr>
          <a:lstStyle/>
          <a:p>
            <a:pPr algn="ctr">
              <a:lnSpc>
                <a:spcPct val="108000"/>
              </a:lnSpc>
              <a:buNone/>
              <a:defRPr sz="1450" b="0" i="0">
                <a:solidFill>
                  <a:srgbClr val="243B53"/>
                </a:solidFill>
              </a:defRPr>
            </a:pPr>
            <a:r>
              <a:rPr sz="1450" b="0" i="0">
                <a:solidFill>
                  <a:srgbClr val="243B53"/>
                </a:solidFill>
              </a:rPr>
              <a:t>Added ownership invariants, transactional updates, and replay</a:t>
            </a:r>
            <a:endParaRPr/>
          </a:p>
        </p:txBody>
      </p:sp>
      <p:sp>
        <p:nvSpPr>
          <p:cNvPr id="795702085" name=""/>
          <p:cNvSpPr>
            <a:spLocks noGrp="1"/>
          </p:cNvSpPr>
          <p:nvPr/>
        </p:nvSpPr>
        <p:spPr bwMode="auto">
          <a:xfrm>
            <a:off x="9153525" y="1619250"/>
            <a:ext cx="685800" cy="514350"/>
          </a:xfrm>
          <a:prstGeom prst="rect">
            <a:avLst/>
          </a:prstGeom>
          <a:noFill/>
          <a:ln w="0">
            <a:noFill/>
            <a:prstDash val="solid"/>
          </a:ln>
        </p:spPr>
        <p:txBody>
          <a:bodyPr wrap="square" lIns="38100" tIns="19050" rIns="38100" bIns="19050" anchor="t">
            <a:normAutofit fontScale="99206"/>
          </a:bodyPr>
          <a:lstStyle/>
          <a:p>
            <a:pPr algn="l">
              <a:lnSpc>
                <a:spcPct val="105000"/>
              </a:lnSpc>
              <a:buNone/>
              <a:defRPr sz="3000" b="1" i="0">
                <a:solidFill>
                  <a:srgbClr val="52606D"/>
                </a:solidFill>
              </a:defRPr>
            </a:pPr>
            <a:r>
              <a:rPr sz="3000" b="1" i="0">
                <a:solidFill>
                  <a:srgbClr val="52606D"/>
                </a:solidFill>
              </a:rPr>
              <a:t>04</a:t>
            </a:r>
            <a:endParaRPr/>
          </a:p>
        </p:txBody>
      </p:sp>
      <p:sp>
        <p:nvSpPr>
          <p:cNvPr id="534159633" name=""/>
          <p:cNvSpPr>
            <a:spLocks noGrp="1"/>
          </p:cNvSpPr>
          <p:nvPr/>
        </p:nvSpPr>
        <p:spPr bwMode="auto">
          <a:xfrm>
            <a:off x="9153525" y="2209800"/>
            <a:ext cx="1952625" cy="9525"/>
          </a:xfrm>
          <a:prstGeom prst="line">
            <a:avLst/>
          </a:prstGeom>
          <a:noFill/>
          <a:ln w="38100">
            <a:solidFill>
              <a:srgbClr val="52606D"/>
            </a:solidFill>
            <a:prstDash val="solid"/>
          </a:ln>
        </p:spPr>
      </p:sp>
      <p:sp>
        <p:nvSpPr>
          <p:cNvPr id="1451099052" name=""/>
          <p:cNvSpPr>
            <a:spLocks noGrp="1"/>
          </p:cNvSpPr>
          <p:nvPr/>
        </p:nvSpPr>
        <p:spPr bwMode="auto">
          <a:xfrm>
            <a:off x="9153525" y="2457450"/>
            <a:ext cx="2095500" cy="7239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1" i="0">
                <a:solidFill>
                  <a:srgbClr val="102A43"/>
                </a:solidFill>
              </a:defRPr>
            </a:pPr>
            <a:r>
              <a:rPr sz="1800" b="1" i="0">
                <a:solidFill>
                  <a:srgbClr val="102A43"/>
                </a:solidFill>
              </a:rPr>
              <a:t>Initial formal evaluation</a:t>
            </a:r>
            <a:endParaRPr/>
          </a:p>
        </p:txBody>
      </p:sp>
      <p:sp>
        <p:nvSpPr>
          <p:cNvPr id="1497662294" name=""/>
          <p:cNvSpPr>
            <a:spLocks noGrp="1"/>
          </p:cNvSpPr>
          <p:nvPr/>
        </p:nvSpPr>
        <p:spPr bwMode="auto">
          <a:xfrm>
            <a:off x="9153525" y="3333750"/>
            <a:ext cx="2152650" cy="1619250"/>
          </a:xfrm>
          <a:prstGeom prst="roundRect">
            <a:avLst>
              <a:gd name="adj" fmla="val 4706"/>
            </a:avLst>
          </a:prstGeom>
          <a:solidFill>
            <a:srgbClr val="EDF2F7"/>
          </a:solidFill>
          <a:ln w="11430">
            <a:solidFill>
              <a:srgbClr val="EDF2F7"/>
            </a:solidFill>
            <a:prstDash val="solid"/>
          </a:ln>
        </p:spPr>
      </p:sp>
      <p:sp>
        <p:nvSpPr>
          <p:cNvPr id="1214766910" name=""/>
          <p:cNvSpPr>
            <a:spLocks noGrp="1"/>
          </p:cNvSpPr>
          <p:nvPr/>
        </p:nvSpPr>
        <p:spPr bwMode="auto">
          <a:xfrm>
            <a:off x="9286875" y="3486150"/>
            <a:ext cx="1885950" cy="1333500"/>
          </a:xfrm>
          <a:prstGeom prst="rect">
            <a:avLst/>
          </a:prstGeom>
          <a:noFill/>
          <a:ln w="0">
            <a:noFill/>
            <a:prstDash val="solid"/>
          </a:ln>
        </p:spPr>
        <p:txBody>
          <a:bodyPr wrap="square" lIns="38100" tIns="19050" rIns="38100" bIns="19050" anchor="ctr">
            <a:normAutofit fontScale="100000"/>
          </a:bodyPr>
          <a:lstStyle/>
          <a:p>
            <a:pPr algn="ctr">
              <a:lnSpc>
                <a:spcPct val="108000"/>
              </a:lnSpc>
              <a:buNone/>
              <a:defRPr sz="1450" b="0" i="0">
                <a:solidFill>
                  <a:srgbClr val="243B53"/>
                </a:solidFill>
              </a:defRPr>
            </a:pPr>
            <a:r>
              <a:rPr sz="1450" b="0" i="0">
                <a:solidFill>
                  <a:srgbClr val="243B53"/>
                </a:solidFill>
              </a:rPr>
              <a:t>Executed a fixed valid-input sorting experiment</a:t>
            </a:r>
            <a:endParaRPr/>
          </a:p>
        </p:txBody>
      </p:sp>
      <p:sp>
        <p:nvSpPr>
          <p:cNvPr id="1896679178" name=""/>
          <p:cNvSpPr>
            <a:spLocks noGrp="1"/>
          </p:cNvSpPr>
          <p:nvPr/>
        </p:nvSpPr>
        <p:spPr bwMode="auto">
          <a:xfrm>
            <a:off x="1238250" y="5524500"/>
            <a:ext cx="9715500" cy="533400"/>
          </a:xfrm>
          <a:prstGeom prst="rect">
            <a:avLst/>
          </a:prstGeom>
          <a:noFill/>
          <a:ln w="0">
            <a:noFill/>
            <a:prstDash val="solid"/>
          </a:ln>
        </p:spPr>
        <p:txBody>
          <a:bodyPr wrap="square" lIns="38100" tIns="19050" rIns="38100" bIns="19050" anchor="ctr">
            <a:normAutofit fontScale="89776"/>
          </a:bodyPr>
          <a:lstStyle/>
          <a:p>
            <a:pPr algn="ctr">
              <a:lnSpc>
                <a:spcPct val="105000"/>
              </a:lnSpc>
              <a:buNone/>
              <a:defRPr sz="1750" b="1" i="0">
                <a:solidFill>
                  <a:srgbClr val="102A43"/>
                </a:solidFill>
              </a:defRPr>
            </a:pPr>
            <a:r>
              <a:rPr sz="1750" b="1" i="0">
                <a:solidFill>
                  <a:srgbClr val="102A43"/>
                </a:solidFill>
              </a:rPr>
              <a:t>Current result: an executable ordinary-list implementation. The historical backend remains future work.</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789599745"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SCOPE</a:t>
            </a:r>
            <a:endParaRPr/>
          </a:p>
        </p:txBody>
      </p:sp>
      <p:sp>
        <p:nvSpPr>
          <p:cNvPr id="1143770729"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Current scope: valid-input sorting</a:t>
            </a:r>
            <a:endParaRPr/>
          </a:p>
        </p:txBody>
      </p:sp>
      <p:sp>
        <p:nvSpPr>
          <p:cNvPr id="2144176398" name=""/>
          <p:cNvSpPr>
            <a:spLocks noGrp="1"/>
          </p:cNvSpPr>
          <p:nvPr/>
        </p:nvSpPr>
        <p:spPr bwMode="auto">
          <a:xfrm>
            <a:off x="609600" y="1085850"/>
            <a:ext cx="10972800" cy="9525"/>
          </a:xfrm>
          <a:prstGeom prst="line">
            <a:avLst/>
          </a:prstGeom>
          <a:noFill/>
          <a:ln w="28575">
            <a:solidFill>
              <a:srgbClr val="2A9D8F"/>
            </a:solidFill>
            <a:prstDash val="solid"/>
          </a:ln>
        </p:spPr>
      </p:sp>
      <p:sp>
        <p:nvSpPr>
          <p:cNvPr id="967364812" name=""/>
          <p:cNvSpPr>
            <a:spLocks noGrp="1"/>
          </p:cNvSpPr>
          <p:nvPr/>
        </p:nvSpPr>
        <p:spPr bwMode="auto">
          <a:xfrm>
            <a:off x="609600" y="6477000"/>
            <a:ext cx="10972800" cy="9525"/>
          </a:xfrm>
          <a:prstGeom prst="line">
            <a:avLst/>
          </a:prstGeom>
          <a:noFill/>
          <a:ln w="9525">
            <a:solidFill>
              <a:srgbClr val="D9E2EC"/>
            </a:solidFill>
            <a:prstDash val="solid"/>
          </a:ln>
        </p:spPr>
      </p:sp>
      <p:sp>
        <p:nvSpPr>
          <p:cNvPr id="1151630236"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179141800"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4 / 16</a:t>
            </a:r>
            <a:endParaRPr/>
          </a:p>
        </p:txBody>
      </p:sp>
      <p:sp>
        <p:nvSpPr>
          <p:cNvPr id="1990034996" name=""/>
          <p:cNvSpPr>
            <a:spLocks noGrp="1"/>
          </p:cNvSpPr>
          <p:nvPr/>
        </p:nvSpPr>
        <p:spPr bwMode="auto">
          <a:xfrm>
            <a:off x="723900" y="1447800"/>
            <a:ext cx="4953000" cy="3905250"/>
          </a:xfrm>
          <a:prstGeom prst="roundRect">
            <a:avLst>
              <a:gd name="adj" fmla="val 1951"/>
            </a:avLst>
          </a:prstGeom>
          <a:solidFill>
            <a:srgbClr val="FFFFFF"/>
          </a:solidFill>
          <a:ln w="11430">
            <a:solidFill>
              <a:srgbClr val="D9E2EC"/>
            </a:solidFill>
            <a:prstDash val="solid"/>
          </a:ln>
        </p:spPr>
      </p:sp>
      <p:sp>
        <p:nvSpPr>
          <p:cNvPr id="1473955655" name=""/>
          <p:cNvSpPr>
            <a:spLocks noGrp="1"/>
          </p:cNvSpPr>
          <p:nvPr/>
        </p:nvSpPr>
        <p:spPr bwMode="auto">
          <a:xfrm>
            <a:off x="6515100" y="1447800"/>
            <a:ext cx="4953000" cy="3905250"/>
          </a:xfrm>
          <a:prstGeom prst="roundRect">
            <a:avLst>
              <a:gd name="adj" fmla="val 1951"/>
            </a:avLst>
          </a:prstGeom>
          <a:solidFill>
            <a:srgbClr val="FFFFFF"/>
          </a:solidFill>
          <a:ln w="19050">
            <a:solidFill>
              <a:srgbClr val="2A9D8F"/>
            </a:solidFill>
            <a:prstDash val="solid"/>
          </a:ln>
        </p:spPr>
      </p:sp>
      <p:sp>
        <p:nvSpPr>
          <p:cNvPr id="2008965735" name=""/>
          <p:cNvSpPr>
            <a:spLocks noGrp="1"/>
          </p:cNvSpPr>
          <p:nvPr/>
        </p:nvSpPr>
        <p:spPr bwMode="auto">
          <a:xfrm>
            <a:off x="952500" y="1676400"/>
            <a:ext cx="4476750" cy="4191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900" b="1" i="0">
                <a:solidFill>
                  <a:srgbClr val="52606D"/>
                </a:solidFill>
              </a:defRPr>
            </a:pPr>
            <a:r>
              <a:rPr sz="1900" b="1" i="0">
                <a:solidFill>
                  <a:srgbClr val="52606D"/>
                </a:solidFill>
              </a:rPr>
              <a:t>Earlier planning emphasis</a:t>
            </a:r>
            <a:endParaRPr/>
          </a:p>
        </p:txBody>
      </p:sp>
      <p:sp>
        <p:nvSpPr>
          <p:cNvPr id="786823693" name=""/>
          <p:cNvSpPr>
            <a:spLocks noGrp="1"/>
          </p:cNvSpPr>
          <p:nvPr/>
        </p:nvSpPr>
        <p:spPr bwMode="auto">
          <a:xfrm>
            <a:off x="6743700" y="1676400"/>
            <a:ext cx="4476750" cy="4191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900" b="1" i="0">
                <a:solidFill>
                  <a:srgbClr val="2A9D8F"/>
                </a:solidFill>
              </a:defRPr>
            </a:pPr>
            <a:r>
              <a:rPr sz="1900" b="1" i="0">
                <a:solidFill>
                  <a:srgbClr val="2A9D8F"/>
                </a:solidFill>
              </a:rPr>
              <a:t>Current research scope</a:t>
            </a:r>
            <a:endParaRPr/>
          </a:p>
        </p:txBody>
      </p:sp>
      <p:sp>
        <p:nvSpPr>
          <p:cNvPr id="64628012" name=""/>
          <p:cNvSpPr>
            <a:spLocks noGrp="1"/>
          </p:cNvSpPr>
          <p:nvPr/>
        </p:nvSpPr>
        <p:spPr bwMode="auto">
          <a:xfrm>
            <a:off x="971550" y="226695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52606D"/>
                </a:solidFill>
              </a:defRPr>
            </a:pPr>
            <a:r>
              <a:rPr sz="1350" b="0" i="0">
                <a:solidFill>
                  <a:srgbClr val="52606D"/>
                </a:solidFill>
              </a:rPr>
              <a:t>General structural framework</a:t>
            </a:r>
            <a:endParaRPr/>
          </a:p>
        </p:txBody>
      </p:sp>
      <p:sp>
        <p:nvSpPr>
          <p:cNvPr id="583707525" name=""/>
          <p:cNvSpPr>
            <a:spLocks noGrp="1"/>
          </p:cNvSpPr>
          <p:nvPr/>
        </p:nvSpPr>
        <p:spPr bwMode="auto">
          <a:xfrm>
            <a:off x="5810250" y="2266950"/>
            <a:ext cx="55245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E76F51"/>
                </a:solidFill>
              </a:defRPr>
            </a:pPr>
            <a:r>
              <a:rPr sz="1950" b="1" i="0">
                <a:solidFill>
                  <a:srgbClr val="E76F51"/>
                </a:solidFill>
              </a:rPr>
              <a:t>→</a:t>
            </a:r>
            <a:endParaRPr/>
          </a:p>
        </p:txBody>
      </p:sp>
      <p:sp>
        <p:nvSpPr>
          <p:cNvPr id="394091997" name=""/>
          <p:cNvSpPr>
            <a:spLocks noGrp="1"/>
          </p:cNvSpPr>
          <p:nvPr/>
        </p:nvSpPr>
        <p:spPr bwMode="auto">
          <a:xfrm>
            <a:off x="6762750" y="226695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1" i="0">
                <a:solidFill>
                  <a:srgbClr val="243B53"/>
                </a:solidFill>
              </a:defRPr>
            </a:pPr>
            <a:r>
              <a:rPr sz="1350" b="1" i="0">
                <a:solidFill>
                  <a:srgbClr val="243B53"/>
                </a:solidFill>
              </a:rPr>
              <a:t>Executable reconstruction of the 1990 procedure</a:t>
            </a:r>
            <a:endParaRPr/>
          </a:p>
        </p:txBody>
      </p:sp>
      <p:sp>
        <p:nvSpPr>
          <p:cNvPr id="181902550" name=""/>
          <p:cNvSpPr>
            <a:spLocks noGrp="1"/>
          </p:cNvSpPr>
          <p:nvPr/>
        </p:nvSpPr>
        <p:spPr bwMode="auto">
          <a:xfrm>
            <a:off x="971550" y="274320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52606D"/>
                </a:solidFill>
              </a:defRPr>
            </a:pPr>
            <a:r>
              <a:rPr sz="1350" b="0" i="0">
                <a:solidFill>
                  <a:srgbClr val="52606D"/>
                </a:solidFill>
              </a:rPr>
              <a:t>Valid and invalid generators</a:t>
            </a:r>
            <a:endParaRPr/>
          </a:p>
        </p:txBody>
      </p:sp>
      <p:sp>
        <p:nvSpPr>
          <p:cNvPr id="38832256" name=""/>
          <p:cNvSpPr>
            <a:spLocks noGrp="1"/>
          </p:cNvSpPr>
          <p:nvPr/>
        </p:nvSpPr>
        <p:spPr bwMode="auto">
          <a:xfrm>
            <a:off x="5810250" y="2743200"/>
            <a:ext cx="55245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E76F51"/>
                </a:solidFill>
              </a:defRPr>
            </a:pPr>
            <a:r>
              <a:rPr sz="1950" b="1" i="0">
                <a:solidFill>
                  <a:srgbClr val="E76F51"/>
                </a:solidFill>
              </a:rPr>
              <a:t>→</a:t>
            </a:r>
            <a:endParaRPr/>
          </a:p>
        </p:txBody>
      </p:sp>
      <p:sp>
        <p:nvSpPr>
          <p:cNvPr id="1612979452" name=""/>
          <p:cNvSpPr>
            <a:spLocks noGrp="1"/>
          </p:cNvSpPr>
          <p:nvPr/>
        </p:nvSpPr>
        <p:spPr bwMode="auto">
          <a:xfrm>
            <a:off x="6762750" y="274320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243B53"/>
                </a:solidFill>
              </a:defRPr>
            </a:pPr>
            <a:r>
              <a:rPr sz="1350" b="0" i="0">
                <a:solidFill>
                  <a:srgbClr val="243B53"/>
                </a:solidFill>
              </a:rPr>
              <a:t>Oracle-certified valid-input sorting</a:t>
            </a:r>
            <a:endParaRPr/>
          </a:p>
        </p:txBody>
      </p:sp>
      <p:sp>
        <p:nvSpPr>
          <p:cNvPr id="231446893" name=""/>
          <p:cNvSpPr>
            <a:spLocks noGrp="1"/>
          </p:cNvSpPr>
          <p:nvPr/>
        </p:nvSpPr>
        <p:spPr bwMode="auto">
          <a:xfrm>
            <a:off x="971550" y="3219449"/>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52606D"/>
                </a:solidFill>
              </a:defRPr>
            </a:pPr>
            <a:r>
              <a:rPr sz="1350" b="0" i="0">
                <a:solidFill>
                  <a:srgbClr val="52606D"/>
                </a:solidFill>
              </a:rPr>
              <a:t>Static family trees</a:t>
            </a:r>
            <a:endParaRPr/>
          </a:p>
        </p:txBody>
      </p:sp>
      <p:sp>
        <p:nvSpPr>
          <p:cNvPr id="783191748" name=""/>
          <p:cNvSpPr>
            <a:spLocks noGrp="1"/>
          </p:cNvSpPr>
          <p:nvPr/>
        </p:nvSpPr>
        <p:spPr bwMode="auto">
          <a:xfrm>
            <a:off x="5810250" y="3219449"/>
            <a:ext cx="55245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E76F51"/>
                </a:solidFill>
              </a:defRPr>
            </a:pPr>
            <a:r>
              <a:rPr sz="1950" b="1" i="0">
                <a:solidFill>
                  <a:srgbClr val="E76F51"/>
                </a:solidFill>
              </a:rPr>
              <a:t>→</a:t>
            </a:r>
            <a:endParaRPr/>
          </a:p>
        </p:txBody>
      </p:sp>
      <p:sp>
        <p:nvSpPr>
          <p:cNvPr id="834036379" name=""/>
          <p:cNvSpPr>
            <a:spLocks noGrp="1"/>
          </p:cNvSpPr>
          <p:nvPr/>
        </p:nvSpPr>
        <p:spPr bwMode="auto">
          <a:xfrm>
            <a:off x="6762750" y="3219449"/>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1" i="0">
                <a:solidFill>
                  <a:srgbClr val="243B53"/>
                </a:solidFill>
              </a:defRPr>
            </a:pPr>
            <a:r>
              <a:rPr sz="1350" b="1" i="0">
                <a:solidFill>
                  <a:srgbClr val="243B53"/>
                </a:solidFill>
              </a:rPr>
              <a:t>Dynamic sibling-list state</a:t>
            </a:r>
            <a:endParaRPr/>
          </a:p>
        </p:txBody>
      </p:sp>
      <p:sp>
        <p:nvSpPr>
          <p:cNvPr id="1925647215" name=""/>
          <p:cNvSpPr>
            <a:spLocks noGrp="1"/>
          </p:cNvSpPr>
          <p:nvPr/>
        </p:nvSpPr>
        <p:spPr bwMode="auto">
          <a:xfrm>
            <a:off x="971550" y="369570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52606D"/>
                </a:solidFill>
              </a:defRPr>
            </a:pPr>
            <a:r>
              <a:rPr sz="1350" b="0" i="0">
                <a:solidFill>
                  <a:srgbClr val="52606D"/>
                </a:solidFill>
              </a:rPr>
              <a:t>Broad reference evaluation</a:t>
            </a:r>
            <a:endParaRPr/>
          </a:p>
        </p:txBody>
      </p:sp>
      <p:sp>
        <p:nvSpPr>
          <p:cNvPr id="1047684564" name=""/>
          <p:cNvSpPr>
            <a:spLocks noGrp="1"/>
          </p:cNvSpPr>
          <p:nvPr/>
        </p:nvSpPr>
        <p:spPr bwMode="auto">
          <a:xfrm>
            <a:off x="5810250" y="3695700"/>
            <a:ext cx="55245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E76F51"/>
                </a:solidFill>
              </a:defRPr>
            </a:pPr>
            <a:r>
              <a:rPr sz="1950" b="1" i="0">
                <a:solidFill>
                  <a:srgbClr val="E76F51"/>
                </a:solidFill>
              </a:rPr>
              <a:t>→</a:t>
            </a:r>
            <a:endParaRPr/>
          </a:p>
        </p:txBody>
      </p:sp>
      <p:sp>
        <p:nvSpPr>
          <p:cNvPr id="331520423" name=""/>
          <p:cNvSpPr>
            <a:spLocks noGrp="1"/>
          </p:cNvSpPr>
          <p:nvPr/>
        </p:nvSpPr>
        <p:spPr bwMode="auto">
          <a:xfrm>
            <a:off x="6762750" y="369570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243B53"/>
                </a:solidFill>
              </a:defRPr>
            </a:pPr>
            <a:r>
              <a:rPr sz="1350" b="0" i="0">
                <a:solidFill>
                  <a:srgbClr val="243B53"/>
                </a:solidFill>
              </a:rPr>
              <a:t>Paper core, reference pipeline, Python sort</a:t>
            </a:r>
            <a:endParaRPr/>
          </a:p>
        </p:txBody>
      </p:sp>
      <p:sp>
        <p:nvSpPr>
          <p:cNvPr id="360754541" name=""/>
          <p:cNvSpPr>
            <a:spLocks noGrp="1"/>
          </p:cNvSpPr>
          <p:nvPr/>
        </p:nvSpPr>
        <p:spPr bwMode="auto">
          <a:xfrm>
            <a:off x="971550" y="417195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52606D"/>
                </a:solidFill>
              </a:defRPr>
            </a:pPr>
            <a:r>
              <a:rPr sz="1350" b="0" i="0">
                <a:solidFill>
                  <a:srgbClr val="52606D"/>
                </a:solidFill>
              </a:rPr>
              <a:t>Recognition as a possible experiment</a:t>
            </a:r>
            <a:endParaRPr/>
          </a:p>
        </p:txBody>
      </p:sp>
      <p:sp>
        <p:nvSpPr>
          <p:cNvPr id="1328184865" name=""/>
          <p:cNvSpPr>
            <a:spLocks noGrp="1"/>
          </p:cNvSpPr>
          <p:nvPr/>
        </p:nvSpPr>
        <p:spPr bwMode="auto">
          <a:xfrm>
            <a:off x="5810250" y="4171950"/>
            <a:ext cx="55245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E76F51"/>
                </a:solidFill>
              </a:defRPr>
            </a:pPr>
            <a:r>
              <a:rPr sz="1950" b="1" i="0">
                <a:solidFill>
                  <a:srgbClr val="E76F51"/>
                </a:solidFill>
              </a:rPr>
              <a:t>→</a:t>
            </a:r>
            <a:endParaRPr/>
          </a:p>
        </p:txBody>
      </p:sp>
      <p:sp>
        <p:nvSpPr>
          <p:cNvPr id="921018059" name=""/>
          <p:cNvSpPr>
            <a:spLocks noGrp="1"/>
          </p:cNvSpPr>
          <p:nvPr/>
        </p:nvSpPr>
        <p:spPr bwMode="auto">
          <a:xfrm>
            <a:off x="6762750" y="417195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243B53"/>
                </a:solidFill>
              </a:defRPr>
            </a:pPr>
            <a:r>
              <a:rPr sz="1350" b="0" i="0">
                <a:solidFill>
                  <a:srgbClr val="243B53"/>
                </a:solidFill>
              </a:rPr>
              <a:t>Recognition remains separate</a:t>
            </a:r>
            <a:endParaRPr/>
          </a:p>
        </p:txBody>
      </p:sp>
      <p:sp>
        <p:nvSpPr>
          <p:cNvPr id="1681546990" name=""/>
          <p:cNvSpPr>
            <a:spLocks noGrp="1"/>
          </p:cNvSpPr>
          <p:nvPr/>
        </p:nvSpPr>
        <p:spPr bwMode="auto">
          <a:xfrm>
            <a:off x="971550" y="464820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52606D"/>
                </a:solidFill>
              </a:defRPr>
            </a:pPr>
            <a:r>
              <a:rPr sz="1350" b="0" i="0">
                <a:solidFill>
                  <a:srgbClr val="52606D"/>
                </a:solidFill>
              </a:rPr>
              <a:t>Theoretical backend implementation</a:t>
            </a:r>
            <a:endParaRPr/>
          </a:p>
        </p:txBody>
      </p:sp>
      <p:sp>
        <p:nvSpPr>
          <p:cNvPr id="243874326" name=""/>
          <p:cNvSpPr>
            <a:spLocks noGrp="1"/>
          </p:cNvSpPr>
          <p:nvPr/>
        </p:nvSpPr>
        <p:spPr bwMode="auto">
          <a:xfrm>
            <a:off x="5810250" y="4648200"/>
            <a:ext cx="55245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E76F51"/>
                </a:solidFill>
              </a:defRPr>
            </a:pPr>
            <a:r>
              <a:rPr sz="1950" b="1" i="0">
                <a:solidFill>
                  <a:srgbClr val="E76F51"/>
                </a:solidFill>
              </a:rPr>
              <a:t>→</a:t>
            </a:r>
            <a:endParaRPr/>
          </a:p>
        </p:txBody>
      </p:sp>
      <p:sp>
        <p:nvSpPr>
          <p:cNvPr id="1603751753" name=""/>
          <p:cNvSpPr>
            <a:spLocks noGrp="1"/>
          </p:cNvSpPr>
          <p:nvPr/>
        </p:nvSpPr>
        <p:spPr bwMode="auto">
          <a:xfrm>
            <a:off x="6762750" y="464820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243B53"/>
                </a:solidFill>
              </a:defRPr>
            </a:pPr>
            <a:r>
              <a:rPr sz="1350" b="0" i="0">
                <a:solidFill>
                  <a:srgbClr val="243B53"/>
                </a:solidFill>
              </a:rPr>
              <a:t>Ordinary lists in the current implementation</a:t>
            </a:r>
            <a:endParaRPr/>
          </a:p>
        </p:txBody>
      </p:sp>
      <p:sp>
        <p:nvSpPr>
          <p:cNvPr id="63891274" name=""/>
          <p:cNvSpPr>
            <a:spLocks noGrp="1"/>
          </p:cNvSpPr>
          <p:nvPr/>
        </p:nvSpPr>
        <p:spPr bwMode="auto">
          <a:xfrm>
            <a:off x="1143000" y="5505450"/>
            <a:ext cx="9906000" cy="6096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650" b="1" i="0">
                <a:solidFill>
                  <a:srgbClr val="102A43"/>
                </a:solidFill>
              </a:defRPr>
            </a:pPr>
            <a:r>
              <a:rPr sz="1650" b="1" i="0">
                <a:solidFill>
                  <a:srgbClr val="102A43"/>
                </a:solidFill>
              </a:rPr>
              <a:t>The experiment evaluates the ordinary-list implementation. A finger-tree backend remains a possible extension.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871451322"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RESEARCH QUESTIONS</a:t>
            </a:r>
            <a:endParaRPr/>
          </a:p>
        </p:txBody>
      </p:sp>
      <p:sp>
        <p:nvSpPr>
          <p:cNvPr id="81088269"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90096"/>
          </a:bodyPr>
          <a:lstStyle/>
          <a:p>
            <a:pPr algn="l">
              <a:lnSpc>
                <a:spcPct val="95000"/>
              </a:lnSpc>
              <a:buNone/>
              <a:defRPr sz="2700" b="1" i="0">
                <a:solidFill>
                  <a:srgbClr val="102A43"/>
                </a:solidFill>
              </a:defRPr>
            </a:pPr>
            <a:r>
              <a:rPr sz="2700" b="1" i="0">
                <a:solidFill>
                  <a:srgbClr val="102A43"/>
                </a:solidFill>
              </a:rPr>
              <a:t>Three questions connect reconstruction, measurement, and interpretation</a:t>
            </a:r>
            <a:endParaRPr/>
          </a:p>
        </p:txBody>
      </p:sp>
      <p:sp>
        <p:nvSpPr>
          <p:cNvPr id="1349968885" name=""/>
          <p:cNvSpPr>
            <a:spLocks noGrp="1"/>
          </p:cNvSpPr>
          <p:nvPr/>
        </p:nvSpPr>
        <p:spPr bwMode="auto">
          <a:xfrm>
            <a:off x="609600" y="1085850"/>
            <a:ext cx="10972800" cy="9525"/>
          </a:xfrm>
          <a:prstGeom prst="line">
            <a:avLst/>
          </a:prstGeom>
          <a:noFill/>
          <a:ln w="28575">
            <a:solidFill>
              <a:srgbClr val="2A9D8F"/>
            </a:solidFill>
            <a:prstDash val="solid"/>
          </a:ln>
        </p:spPr>
      </p:sp>
      <p:sp>
        <p:nvSpPr>
          <p:cNvPr id="1656051610" name=""/>
          <p:cNvSpPr>
            <a:spLocks noGrp="1"/>
          </p:cNvSpPr>
          <p:nvPr/>
        </p:nvSpPr>
        <p:spPr bwMode="auto">
          <a:xfrm>
            <a:off x="609600" y="6477000"/>
            <a:ext cx="10972800" cy="9525"/>
          </a:xfrm>
          <a:prstGeom prst="line">
            <a:avLst/>
          </a:prstGeom>
          <a:noFill/>
          <a:ln w="9525">
            <a:solidFill>
              <a:srgbClr val="D9E2EC"/>
            </a:solidFill>
            <a:prstDash val="solid"/>
          </a:ln>
        </p:spPr>
      </p:sp>
      <p:sp>
        <p:nvSpPr>
          <p:cNvPr id="2091776585"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594054717"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5 / 16</a:t>
            </a:r>
            <a:endParaRPr/>
          </a:p>
        </p:txBody>
      </p:sp>
      <p:sp>
        <p:nvSpPr>
          <p:cNvPr id="2134029320" name=""/>
          <p:cNvSpPr>
            <a:spLocks noGrp="1"/>
          </p:cNvSpPr>
          <p:nvPr/>
        </p:nvSpPr>
        <p:spPr bwMode="auto">
          <a:xfrm>
            <a:off x="723900" y="1485900"/>
            <a:ext cx="10744200" cy="1200150"/>
          </a:xfrm>
          <a:prstGeom prst="roundRect">
            <a:avLst>
              <a:gd name="adj" fmla="val 6349"/>
            </a:avLst>
          </a:prstGeom>
          <a:solidFill>
            <a:srgbClr val="E8F5F3"/>
          </a:solidFill>
          <a:ln w="11430">
            <a:solidFill>
              <a:srgbClr val="E8F5F3"/>
            </a:solidFill>
            <a:prstDash val="solid"/>
          </a:ln>
        </p:spPr>
      </p:sp>
      <p:sp>
        <p:nvSpPr>
          <p:cNvPr id="1610373075" name=""/>
          <p:cNvSpPr>
            <a:spLocks noGrp="1"/>
          </p:cNvSpPr>
          <p:nvPr/>
        </p:nvSpPr>
        <p:spPr bwMode="auto">
          <a:xfrm>
            <a:off x="914400" y="1657350"/>
            <a:ext cx="1143000" cy="438149"/>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2100" b="1" i="0">
                <a:solidFill>
                  <a:srgbClr val="2A9D8F"/>
                </a:solidFill>
              </a:defRPr>
            </a:pPr>
            <a:r>
              <a:rPr sz="2100" b="1" i="0">
                <a:solidFill>
                  <a:srgbClr val="2A9D8F"/>
                </a:solidFill>
              </a:rPr>
              <a:t>RQ1</a:t>
            </a:r>
            <a:endParaRPr/>
          </a:p>
        </p:txBody>
      </p:sp>
      <p:sp>
        <p:nvSpPr>
          <p:cNvPr id="713661465" name=""/>
          <p:cNvSpPr>
            <a:spLocks noGrp="1"/>
          </p:cNvSpPr>
          <p:nvPr/>
        </p:nvSpPr>
        <p:spPr bwMode="auto">
          <a:xfrm>
            <a:off x="2152650" y="1619250"/>
            <a:ext cx="4953000" cy="4191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1" i="0">
                <a:solidFill>
                  <a:srgbClr val="102A43"/>
                </a:solidFill>
              </a:defRPr>
            </a:pPr>
            <a:r>
              <a:rPr sz="1800" b="1" i="0">
                <a:solidFill>
                  <a:srgbClr val="102A43"/>
                </a:solidFill>
              </a:rPr>
              <a:t>Executable reconstruction and correctness</a:t>
            </a:r>
            <a:endParaRPr/>
          </a:p>
        </p:txBody>
      </p:sp>
      <p:sp>
        <p:nvSpPr>
          <p:cNvPr id="869491260" name=""/>
          <p:cNvSpPr>
            <a:spLocks noGrp="1"/>
          </p:cNvSpPr>
          <p:nvPr/>
        </p:nvSpPr>
        <p:spPr bwMode="auto">
          <a:xfrm>
            <a:off x="2152650" y="2057400"/>
            <a:ext cx="8858250" cy="4762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243B53"/>
                </a:solidFill>
              </a:defRPr>
            </a:pPr>
            <a:r>
              <a:rPr sz="1350" b="0" i="0">
                <a:solidFill>
                  <a:srgbClr val="243B53"/>
                </a:solidFill>
              </a:rPr>
              <a:t>Can an ordinary-list reconstruction recover sorted order from maintained state for oracle-certified valid inputs?</a:t>
            </a:r>
            <a:endParaRPr/>
          </a:p>
        </p:txBody>
      </p:sp>
      <p:sp>
        <p:nvSpPr>
          <p:cNvPr id="1215482123" name=""/>
          <p:cNvSpPr>
            <a:spLocks noGrp="1"/>
          </p:cNvSpPr>
          <p:nvPr/>
        </p:nvSpPr>
        <p:spPr bwMode="auto">
          <a:xfrm>
            <a:off x="8477250" y="1647825"/>
            <a:ext cx="2571750" cy="285750"/>
          </a:xfrm>
          <a:prstGeom prst="roundRect">
            <a:avLst>
              <a:gd name="adj" fmla="val 20000"/>
            </a:avLst>
          </a:prstGeom>
          <a:solidFill>
            <a:srgbClr val="2A9D8F"/>
          </a:solidFill>
          <a:ln w="11430">
            <a:solidFill>
              <a:srgbClr val="2A9D8F"/>
            </a:solidFill>
            <a:prstDash val="solid"/>
          </a:ln>
        </p:spPr>
      </p:sp>
      <p:sp>
        <p:nvSpPr>
          <p:cNvPr id="1466020061" name=""/>
          <p:cNvSpPr>
            <a:spLocks noGrp="1"/>
          </p:cNvSpPr>
          <p:nvPr/>
        </p:nvSpPr>
        <p:spPr bwMode="auto">
          <a:xfrm>
            <a:off x="8477250" y="1657350"/>
            <a:ext cx="2571750" cy="2667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000" b="1" i="0">
                <a:solidFill>
                  <a:srgbClr val="FFFFFF"/>
                </a:solidFill>
              </a:defRPr>
            </a:pPr>
            <a:r>
              <a:rPr sz="1000" b="1" i="0">
                <a:solidFill>
                  <a:srgbClr val="FFFFFF"/>
                </a:solidFill>
              </a:rPr>
              <a:t>PRIMARY TECHNICAL QUESTION</a:t>
            </a:r>
            <a:endParaRPr/>
          </a:p>
        </p:txBody>
      </p:sp>
      <p:sp>
        <p:nvSpPr>
          <p:cNvPr id="1891280313" name=""/>
          <p:cNvSpPr>
            <a:spLocks noGrp="1"/>
          </p:cNvSpPr>
          <p:nvPr/>
        </p:nvSpPr>
        <p:spPr bwMode="auto">
          <a:xfrm>
            <a:off x="723900" y="2990850"/>
            <a:ext cx="10744200" cy="1200150"/>
          </a:xfrm>
          <a:prstGeom prst="roundRect">
            <a:avLst>
              <a:gd name="adj" fmla="val 6349"/>
            </a:avLst>
          </a:prstGeom>
          <a:solidFill>
            <a:srgbClr val="FCEEEA"/>
          </a:solidFill>
          <a:ln w="11430">
            <a:solidFill>
              <a:srgbClr val="FCEEEA"/>
            </a:solidFill>
            <a:prstDash val="solid"/>
          </a:ln>
        </p:spPr>
      </p:sp>
      <p:sp>
        <p:nvSpPr>
          <p:cNvPr id="1007068022" name=""/>
          <p:cNvSpPr>
            <a:spLocks noGrp="1"/>
          </p:cNvSpPr>
          <p:nvPr/>
        </p:nvSpPr>
        <p:spPr bwMode="auto">
          <a:xfrm>
            <a:off x="914400" y="3162300"/>
            <a:ext cx="1143000" cy="438149"/>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2100" b="1" i="0">
                <a:solidFill>
                  <a:srgbClr val="E76F51"/>
                </a:solidFill>
              </a:defRPr>
            </a:pPr>
            <a:r>
              <a:rPr sz="2100" b="1" i="0">
                <a:solidFill>
                  <a:srgbClr val="E76F51"/>
                </a:solidFill>
              </a:rPr>
              <a:t>RQ2</a:t>
            </a:r>
            <a:endParaRPr/>
          </a:p>
        </p:txBody>
      </p:sp>
      <p:sp>
        <p:nvSpPr>
          <p:cNvPr id="1013849640" name=""/>
          <p:cNvSpPr>
            <a:spLocks noGrp="1"/>
          </p:cNvSpPr>
          <p:nvPr/>
        </p:nvSpPr>
        <p:spPr bwMode="auto">
          <a:xfrm>
            <a:off x="2152650" y="3124200"/>
            <a:ext cx="4953000" cy="4191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1" i="0">
                <a:solidFill>
                  <a:srgbClr val="102A43"/>
                </a:solidFill>
              </a:defRPr>
            </a:pPr>
            <a:r>
              <a:rPr sz="1800" b="1" i="0">
                <a:solidFill>
                  <a:srgbClr val="102A43"/>
                </a:solidFill>
              </a:rPr>
              <a:t>Observed runtime behavior</a:t>
            </a:r>
            <a:endParaRPr/>
          </a:p>
        </p:txBody>
      </p:sp>
      <p:sp>
        <p:nvSpPr>
          <p:cNvPr id="597719987" name=""/>
          <p:cNvSpPr>
            <a:spLocks noGrp="1"/>
          </p:cNvSpPr>
          <p:nvPr/>
        </p:nvSpPr>
        <p:spPr bwMode="auto">
          <a:xfrm>
            <a:off x="2152650" y="3562350"/>
            <a:ext cx="8858250" cy="4762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243B53"/>
                </a:solidFill>
              </a:defRPr>
            </a:pPr>
            <a:r>
              <a:rPr sz="1350" b="0" i="0">
                <a:solidFill>
                  <a:srgbClr val="243B53"/>
                </a:solidFill>
              </a:rPr>
              <a:t>How does the paper core behave on pre-certified inputs relative to Python sort and the complete reference pipeline under different timing scopes?</a:t>
            </a:r>
            <a:endParaRPr/>
          </a:p>
        </p:txBody>
      </p:sp>
      <p:sp>
        <p:nvSpPr>
          <p:cNvPr id="1654004089" name=""/>
          <p:cNvSpPr>
            <a:spLocks noGrp="1"/>
          </p:cNvSpPr>
          <p:nvPr/>
        </p:nvSpPr>
        <p:spPr bwMode="auto">
          <a:xfrm>
            <a:off x="723900" y="4495800"/>
            <a:ext cx="10744200" cy="1200150"/>
          </a:xfrm>
          <a:prstGeom prst="roundRect">
            <a:avLst>
              <a:gd name="adj" fmla="val 6349"/>
            </a:avLst>
          </a:prstGeom>
          <a:solidFill>
            <a:srgbClr val="EDF2F7"/>
          </a:solidFill>
          <a:ln w="11430">
            <a:solidFill>
              <a:srgbClr val="EDF2F7"/>
            </a:solidFill>
            <a:prstDash val="solid"/>
          </a:ln>
        </p:spPr>
      </p:sp>
      <p:sp>
        <p:nvSpPr>
          <p:cNvPr id="1941315200" name=""/>
          <p:cNvSpPr>
            <a:spLocks noGrp="1"/>
          </p:cNvSpPr>
          <p:nvPr/>
        </p:nvSpPr>
        <p:spPr bwMode="auto">
          <a:xfrm>
            <a:off x="914400" y="4667250"/>
            <a:ext cx="1143000" cy="438149"/>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2100" b="1" i="0">
                <a:solidFill>
                  <a:srgbClr val="52606D"/>
                </a:solidFill>
              </a:defRPr>
            </a:pPr>
            <a:r>
              <a:rPr sz="2100" b="1" i="0">
                <a:solidFill>
                  <a:srgbClr val="52606D"/>
                </a:solidFill>
              </a:rPr>
              <a:t>RQ3</a:t>
            </a:r>
            <a:endParaRPr/>
          </a:p>
        </p:txBody>
      </p:sp>
      <p:sp>
        <p:nvSpPr>
          <p:cNvPr id="1641783999" name=""/>
          <p:cNvSpPr>
            <a:spLocks noGrp="1"/>
          </p:cNvSpPr>
          <p:nvPr/>
        </p:nvSpPr>
        <p:spPr bwMode="auto">
          <a:xfrm>
            <a:off x="2152650" y="4629150"/>
            <a:ext cx="4953000" cy="4191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1" i="0">
                <a:solidFill>
                  <a:srgbClr val="102A43"/>
                </a:solidFill>
              </a:defRPr>
            </a:pPr>
            <a:r>
              <a:rPr sz="1800" b="1" i="0">
                <a:solidFill>
                  <a:srgbClr val="102A43"/>
                </a:solidFill>
              </a:rPr>
              <a:t>Structure and implementation cost</a:t>
            </a:r>
            <a:endParaRPr/>
          </a:p>
        </p:txBody>
      </p:sp>
      <p:sp>
        <p:nvSpPr>
          <p:cNvPr id="527465634" name=""/>
          <p:cNvSpPr>
            <a:spLocks noGrp="1"/>
          </p:cNvSpPr>
          <p:nvPr/>
        </p:nvSpPr>
        <p:spPr bwMode="auto">
          <a:xfrm>
            <a:off x="2152650" y="5067300"/>
            <a:ext cx="8858250" cy="4762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243B53"/>
                </a:solidFill>
              </a:defRPr>
            </a:pPr>
            <a:r>
              <a:rPr sz="1350" b="0" i="0">
                <a:solidFill>
                  <a:srgbClr val="243B53"/>
                </a:solidFill>
              </a:rPr>
              <a:t>What descriptive relationships appear between input structure, checked operation counters, and runtime?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602941318"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ARCHITECTURE</a:t>
            </a:r>
            <a:endParaRPr/>
          </a:p>
        </p:txBody>
      </p:sp>
      <p:sp>
        <p:nvSpPr>
          <p:cNvPr id="1600698060"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The oracle, reference pipeline, and paper core have distinct roles</a:t>
            </a:r>
            <a:endParaRPr/>
          </a:p>
        </p:txBody>
      </p:sp>
      <p:sp>
        <p:nvSpPr>
          <p:cNvPr id="1589870531" name=""/>
          <p:cNvSpPr>
            <a:spLocks noGrp="1"/>
          </p:cNvSpPr>
          <p:nvPr/>
        </p:nvSpPr>
        <p:spPr bwMode="auto">
          <a:xfrm>
            <a:off x="609600" y="1085850"/>
            <a:ext cx="10972800" cy="9525"/>
          </a:xfrm>
          <a:prstGeom prst="line">
            <a:avLst/>
          </a:prstGeom>
          <a:noFill/>
          <a:ln w="28575">
            <a:solidFill>
              <a:srgbClr val="2A9D8F"/>
            </a:solidFill>
            <a:prstDash val="solid"/>
          </a:ln>
        </p:spPr>
      </p:sp>
      <p:sp>
        <p:nvSpPr>
          <p:cNvPr id="1108483717" name=""/>
          <p:cNvSpPr>
            <a:spLocks noGrp="1"/>
          </p:cNvSpPr>
          <p:nvPr/>
        </p:nvSpPr>
        <p:spPr bwMode="auto">
          <a:xfrm>
            <a:off x="609600" y="6477000"/>
            <a:ext cx="10972800" cy="9525"/>
          </a:xfrm>
          <a:prstGeom prst="line">
            <a:avLst/>
          </a:prstGeom>
          <a:noFill/>
          <a:ln w="9525">
            <a:solidFill>
              <a:srgbClr val="D9E2EC"/>
            </a:solidFill>
            <a:prstDash val="solid"/>
          </a:ln>
        </p:spPr>
      </p:sp>
      <p:sp>
        <p:nvSpPr>
          <p:cNvPr id="1347650851"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86378243"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6 / 16</a:t>
            </a:r>
            <a:endParaRPr/>
          </a:p>
        </p:txBody>
      </p:sp>
      <p:sp>
        <p:nvSpPr>
          <p:cNvPr id="788393867" name=""/>
          <p:cNvSpPr>
            <a:spLocks noGrp="1"/>
          </p:cNvSpPr>
          <p:nvPr/>
        </p:nvSpPr>
        <p:spPr bwMode="auto">
          <a:xfrm>
            <a:off x="4238625" y="1352550"/>
            <a:ext cx="3714750" cy="876299"/>
          </a:xfrm>
          <a:prstGeom prst="roundRect">
            <a:avLst>
              <a:gd name="adj" fmla="val 8696"/>
            </a:avLst>
          </a:prstGeom>
          <a:solidFill>
            <a:srgbClr val="EAF1F8"/>
          </a:solidFill>
          <a:ln w="19050">
            <a:solidFill>
              <a:srgbClr val="102A43"/>
            </a:solidFill>
            <a:prstDash val="solid"/>
          </a:ln>
        </p:spPr>
      </p:sp>
      <p:sp>
        <p:nvSpPr>
          <p:cNvPr id="1430632839" name=""/>
          <p:cNvSpPr>
            <a:spLocks noGrp="1"/>
          </p:cNvSpPr>
          <p:nvPr/>
        </p:nvSpPr>
        <p:spPr bwMode="auto">
          <a:xfrm>
            <a:off x="4429125" y="1485900"/>
            <a:ext cx="3333750" cy="323850"/>
          </a:xfrm>
          <a:prstGeom prst="rect">
            <a:avLst/>
          </a:prstGeom>
          <a:noFill/>
          <a:ln w="0">
            <a:noFill/>
            <a:prstDash val="solid"/>
          </a:ln>
        </p:spPr>
        <p:txBody>
          <a:bodyPr wrap="square" lIns="38100" tIns="19050" rIns="38100" bIns="19050" anchor="t">
            <a:normAutofit fontScale="95238"/>
          </a:bodyPr>
          <a:lstStyle/>
          <a:p>
            <a:pPr algn="ctr">
              <a:lnSpc>
                <a:spcPct val="105000"/>
              </a:lnSpc>
              <a:buNone/>
              <a:defRPr sz="1900" b="1" i="0">
                <a:solidFill>
                  <a:srgbClr val="102A43"/>
                </a:solidFill>
              </a:defRPr>
            </a:pPr>
            <a:r>
              <a:rPr sz="1900" b="1" i="0">
                <a:solidFill>
                  <a:srgbClr val="102A43"/>
                </a:solidFill>
              </a:rPr>
              <a:t>Certification oracle</a:t>
            </a:r>
            <a:endParaRPr/>
          </a:p>
        </p:txBody>
      </p:sp>
      <p:sp>
        <p:nvSpPr>
          <p:cNvPr id="1532533982" name=""/>
          <p:cNvSpPr>
            <a:spLocks noGrp="1"/>
          </p:cNvSpPr>
          <p:nvPr/>
        </p:nvSpPr>
        <p:spPr bwMode="auto">
          <a:xfrm>
            <a:off x="4429125" y="1847850"/>
            <a:ext cx="3333750" cy="247650"/>
          </a:xfrm>
          <a:prstGeom prst="rect">
            <a:avLst/>
          </a:prstGeom>
          <a:noFill/>
          <a:ln w="0">
            <a:noFill/>
            <a:prstDash val="solid"/>
          </a:ln>
        </p:spPr>
        <p:txBody>
          <a:bodyPr wrap="square" lIns="38100" tIns="19050" rIns="38100" bIns="19050" anchor="t">
            <a:normAutofit fontScale="97002"/>
          </a:bodyPr>
          <a:lstStyle/>
          <a:p>
            <a:pPr algn="ctr">
              <a:lnSpc>
                <a:spcPct val="105000"/>
              </a:lnSpc>
              <a:buNone/>
              <a:defRPr sz="1350" b="0" i="0">
                <a:solidFill>
                  <a:srgbClr val="52606D"/>
                </a:solidFill>
              </a:defRPr>
            </a:pPr>
            <a:r>
              <a:rPr sz="1350" b="0" i="0">
                <a:solidFill>
                  <a:srgbClr val="52606D"/>
                </a:solidFill>
              </a:rPr>
              <a:t>validity + expected sorted order</a:t>
            </a:r>
            <a:endParaRPr/>
          </a:p>
        </p:txBody>
      </p:sp>
      <p:sp>
        <p:nvSpPr>
          <p:cNvPr id="1101016382" name=""/>
          <p:cNvSpPr>
            <a:spLocks noGrp="1"/>
          </p:cNvSpPr>
          <p:nvPr/>
        </p:nvSpPr>
        <p:spPr bwMode="auto">
          <a:xfrm>
            <a:off x="876299" y="3105150"/>
            <a:ext cx="4333875" cy="1809750"/>
          </a:xfrm>
          <a:prstGeom prst="roundRect">
            <a:avLst>
              <a:gd name="adj" fmla="val 4211"/>
            </a:avLst>
          </a:prstGeom>
          <a:solidFill>
            <a:srgbClr val="FCEEEA"/>
          </a:solidFill>
          <a:ln w="19050">
            <a:solidFill>
              <a:srgbClr val="E76F51"/>
            </a:solidFill>
            <a:prstDash val="solid"/>
          </a:ln>
        </p:spPr>
      </p:sp>
      <p:sp>
        <p:nvSpPr>
          <p:cNvPr id="1985462884" name=""/>
          <p:cNvSpPr>
            <a:spLocks noGrp="1"/>
          </p:cNvSpPr>
          <p:nvPr/>
        </p:nvSpPr>
        <p:spPr bwMode="auto">
          <a:xfrm>
            <a:off x="6981825" y="3105150"/>
            <a:ext cx="4333875" cy="1809750"/>
          </a:xfrm>
          <a:prstGeom prst="roundRect">
            <a:avLst>
              <a:gd name="adj" fmla="val 4211"/>
            </a:avLst>
          </a:prstGeom>
          <a:solidFill>
            <a:srgbClr val="E8F5F3"/>
          </a:solidFill>
          <a:ln w="19050">
            <a:solidFill>
              <a:srgbClr val="2A9D8F"/>
            </a:solidFill>
            <a:prstDash val="solid"/>
          </a:ln>
        </p:spPr>
      </p:sp>
      <p:cxnSp>
        <p:nvCxnSpPr>
          <p:cNvPr id="737304578" name=""/>
          <p:cNvCxnSpPr>
            <a:stCxn id="788393867" idx="2"/>
            <a:endCxn id="1101016382" idx="0"/>
          </p:cNvCxnSpPr>
          <p:nvPr/>
        </p:nvCxnSpPr>
        <p:spPr bwMode="auto">
          <a:xfrm flipH="1">
            <a:off x="3043238" y="2228850"/>
            <a:ext cx="3052763" cy="876299"/>
          </a:xfrm>
          <a:prstGeom prst="bentConnector4">
            <a:avLst>
              <a:gd name="adj1" fmla="val 0"/>
              <a:gd name="adj2" fmla="val 50000"/>
            </a:avLst>
          </a:prstGeom>
          <a:ln w="19050">
            <a:solidFill>
              <a:srgbClr val="52606D"/>
            </a:solidFill>
            <a:prstDash val="solid"/>
            <a:tailEnd type="arrow" w="med" len="med"/>
          </a:ln>
        </p:spPr>
      </p:cxnSp>
      <p:cxnSp>
        <p:nvCxnSpPr>
          <p:cNvPr id="105999918" name=""/>
          <p:cNvCxnSpPr>
            <a:stCxn id="788393867" idx="2"/>
            <a:endCxn id="1985462884" idx="0"/>
          </p:cNvCxnSpPr>
          <p:nvPr/>
        </p:nvCxnSpPr>
        <p:spPr bwMode="auto">
          <a:xfrm>
            <a:off x="6096000" y="2228850"/>
            <a:ext cx="3052763" cy="876299"/>
          </a:xfrm>
          <a:prstGeom prst="bentConnector4">
            <a:avLst>
              <a:gd name="adj1" fmla="val 0"/>
              <a:gd name="adj2" fmla="val 50000"/>
            </a:avLst>
          </a:prstGeom>
          <a:ln w="19050">
            <a:solidFill>
              <a:srgbClr val="52606D"/>
            </a:solidFill>
            <a:prstDash val="solid"/>
            <a:tailEnd type="arrow" w="med" len="med"/>
          </a:ln>
        </p:spPr>
      </p:cxnSp>
      <p:sp>
        <p:nvSpPr>
          <p:cNvPr id="1947780846" name=""/>
          <p:cNvSpPr>
            <a:spLocks noGrp="1"/>
          </p:cNvSpPr>
          <p:nvPr/>
        </p:nvSpPr>
        <p:spPr bwMode="auto">
          <a:xfrm>
            <a:off x="1352550" y="2419350"/>
            <a:ext cx="3390900" cy="457200"/>
          </a:xfrm>
          <a:prstGeom prst="roundRect">
            <a:avLst>
              <a:gd name="adj" fmla="val 12500"/>
            </a:avLst>
          </a:prstGeom>
          <a:solidFill>
            <a:srgbClr val="FFFFFF"/>
          </a:solidFill>
          <a:ln w="11430">
            <a:solidFill>
              <a:srgbClr val="E76F51"/>
            </a:solidFill>
            <a:prstDash val="solid"/>
          </a:ln>
        </p:spPr>
      </p:sp>
      <p:sp>
        <p:nvSpPr>
          <p:cNvPr id="961029362" name=""/>
          <p:cNvSpPr>
            <a:spLocks noGrp="1"/>
          </p:cNvSpPr>
          <p:nvPr/>
        </p:nvSpPr>
        <p:spPr bwMode="auto">
          <a:xfrm>
            <a:off x="1485900" y="2476500"/>
            <a:ext cx="312420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E76F51"/>
                </a:solidFill>
              </a:defRPr>
            </a:pPr>
            <a:r>
              <a:rPr sz="1300" b="1" i="0">
                <a:solidFill>
                  <a:srgbClr val="E76F51"/>
                </a:solidFill>
              </a:rPr>
              <a:t>oracle result, including sorted output</a:t>
            </a:r>
            <a:endParaRPr/>
          </a:p>
        </p:txBody>
      </p:sp>
      <p:sp>
        <p:nvSpPr>
          <p:cNvPr id="573599220" name=""/>
          <p:cNvSpPr>
            <a:spLocks noGrp="1"/>
          </p:cNvSpPr>
          <p:nvPr/>
        </p:nvSpPr>
        <p:spPr bwMode="auto">
          <a:xfrm>
            <a:off x="7448550" y="2419350"/>
            <a:ext cx="3390900" cy="457200"/>
          </a:xfrm>
          <a:prstGeom prst="roundRect">
            <a:avLst>
              <a:gd name="adj" fmla="val 12500"/>
            </a:avLst>
          </a:prstGeom>
          <a:solidFill>
            <a:srgbClr val="FFFFFF"/>
          </a:solidFill>
          <a:ln w="11430">
            <a:solidFill>
              <a:srgbClr val="2A9D8F"/>
            </a:solidFill>
            <a:prstDash val="solid"/>
          </a:ln>
        </p:spPr>
      </p:sp>
      <p:sp>
        <p:nvSpPr>
          <p:cNvPr id="1086702331" name=""/>
          <p:cNvSpPr>
            <a:spLocks noGrp="1"/>
          </p:cNvSpPr>
          <p:nvPr/>
        </p:nvSpPr>
        <p:spPr bwMode="auto">
          <a:xfrm>
            <a:off x="7581899" y="2476500"/>
            <a:ext cx="312420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2A9D8F"/>
                </a:solidFill>
              </a:defRPr>
            </a:pPr>
            <a:r>
              <a:rPr sz="1300" b="1" i="0">
                <a:solidFill>
                  <a:srgbClr val="2A9D8F"/>
                </a:solidFill>
              </a:rPr>
              <a:t>valid-input certification only</a:t>
            </a:r>
            <a:endParaRPr/>
          </a:p>
        </p:txBody>
      </p:sp>
      <p:sp>
        <p:nvSpPr>
          <p:cNvPr id="1033604004" name=""/>
          <p:cNvSpPr>
            <a:spLocks noGrp="1"/>
          </p:cNvSpPr>
          <p:nvPr/>
        </p:nvSpPr>
        <p:spPr bwMode="auto">
          <a:xfrm>
            <a:off x="1104900" y="3276600"/>
            <a:ext cx="3857625" cy="457200"/>
          </a:xfrm>
          <a:prstGeom prst="rect">
            <a:avLst/>
          </a:prstGeom>
          <a:noFill/>
          <a:ln w="0">
            <a:noFill/>
            <a:prstDash val="solid"/>
          </a:ln>
        </p:spPr>
        <p:txBody>
          <a:bodyPr wrap="square" lIns="38100" tIns="19050" rIns="38100" bIns="19050" anchor="t">
            <a:normAutofit fontScale="99746"/>
          </a:bodyPr>
          <a:lstStyle/>
          <a:p>
            <a:pPr algn="ctr">
              <a:lnSpc>
                <a:spcPct val="105000"/>
              </a:lnSpc>
              <a:buNone/>
              <a:defRPr sz="1900" b="1" i="0">
                <a:solidFill>
                  <a:srgbClr val="E76F51"/>
                </a:solidFill>
              </a:defRPr>
            </a:pPr>
            <a:r>
              <a:rPr sz="1900" b="1" i="0">
                <a:solidFill>
                  <a:srgbClr val="E76F51"/>
                </a:solidFill>
              </a:rPr>
              <a:t>Oracle-backed reference pipeline</a:t>
            </a:r>
            <a:endParaRPr/>
          </a:p>
        </p:txBody>
      </p:sp>
      <p:sp>
        <p:nvSpPr>
          <p:cNvPr id="119271890" name=""/>
          <p:cNvSpPr>
            <a:spLocks noGrp="1"/>
          </p:cNvSpPr>
          <p:nvPr/>
        </p:nvSpPr>
        <p:spPr bwMode="auto">
          <a:xfrm>
            <a:off x="1200150" y="3848100"/>
            <a:ext cx="3667125" cy="8382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0" i="0">
                <a:solidFill>
                  <a:srgbClr val="243B53"/>
                </a:solidFill>
              </a:defRPr>
            </a:pPr>
            <a:r>
              <a:rPr sz="1500" b="0" i="0">
                <a:solidFill>
                  <a:srgbClr val="243B53"/>
                </a:solidFill>
              </a:rPr>
              <a:t>family trees</a:t>
            </a:r>
            <a:endParaRPr/>
          </a:p>
          <a:p>
            <a:pPr algn="ctr">
              <a:lnSpc>
                <a:spcPct val="105000"/>
              </a:lnSpc>
              <a:buNone/>
              <a:defRPr sz="1500" b="0" i="0">
                <a:solidFill>
                  <a:srgbClr val="243B53"/>
                </a:solidFill>
              </a:defRPr>
            </a:pPr>
            <a:r>
              <a:rPr sz="1500" b="0" i="0">
                <a:solidFill>
                  <a:srgbClr val="243B53"/>
                </a:solidFill>
              </a:rPr>
              <a:t>structural information</a:t>
            </a:r>
            <a:endParaRPr/>
          </a:p>
          <a:p>
            <a:pPr algn="ctr">
              <a:lnSpc>
                <a:spcPct val="105000"/>
              </a:lnSpc>
              <a:buNone/>
              <a:defRPr sz="1500" b="0" i="0">
                <a:solidFill>
                  <a:srgbClr val="243B53"/>
                </a:solidFill>
              </a:defRPr>
            </a:pPr>
            <a:r>
              <a:rPr sz="1500" b="0" i="0">
                <a:solidFill>
                  <a:srgbClr val="243B53"/>
                </a:solidFill>
              </a:rPr>
              <a:t>oracle-derived output</a:t>
            </a:r>
            <a:endParaRPr/>
          </a:p>
        </p:txBody>
      </p:sp>
      <p:sp>
        <p:nvSpPr>
          <p:cNvPr id="1281319541" name=""/>
          <p:cNvSpPr>
            <a:spLocks noGrp="1"/>
          </p:cNvSpPr>
          <p:nvPr/>
        </p:nvSpPr>
        <p:spPr bwMode="auto">
          <a:xfrm>
            <a:off x="7210425" y="3276600"/>
            <a:ext cx="3857625" cy="45720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900" b="1" i="0">
                <a:solidFill>
                  <a:srgbClr val="2A9D8F"/>
                </a:solidFill>
              </a:defRPr>
            </a:pPr>
            <a:r>
              <a:rPr sz="1900" b="1" i="0">
                <a:solidFill>
                  <a:srgbClr val="2A9D8F"/>
                </a:solidFill>
              </a:rPr>
              <a:t>Paper ordinary-list core</a:t>
            </a:r>
            <a:endParaRPr/>
          </a:p>
        </p:txBody>
      </p:sp>
      <p:sp>
        <p:nvSpPr>
          <p:cNvPr id="1175438916" name=""/>
          <p:cNvSpPr>
            <a:spLocks noGrp="1"/>
          </p:cNvSpPr>
          <p:nvPr/>
        </p:nvSpPr>
        <p:spPr bwMode="auto">
          <a:xfrm>
            <a:off x="7334250" y="3810000"/>
            <a:ext cx="3619500" cy="876299"/>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0" i="0">
                <a:solidFill>
                  <a:srgbClr val="243B53"/>
                </a:solidFill>
              </a:defRPr>
            </a:pPr>
            <a:r>
              <a:rPr sz="1350" b="0" i="0">
                <a:solidFill>
                  <a:srgbClr val="243B53"/>
                </a:solidFill>
              </a:rPr>
              <a:t>input sequence + certified precondition</a:t>
            </a:r>
            <a:endParaRPr/>
          </a:p>
          <a:p>
            <a:pPr algn="ctr">
              <a:lnSpc>
                <a:spcPct val="105000"/>
              </a:lnSpc>
              <a:buNone/>
              <a:defRPr sz="1350" b="0" i="0">
                <a:solidFill>
                  <a:srgbClr val="243B53"/>
                </a:solidFill>
              </a:defRPr>
            </a:pPr>
            <a:r>
              <a:rPr sz="1350" b="0" i="0">
                <a:solidFill>
                  <a:srgbClr val="243B53"/>
                </a:solidFill>
              </a:rPr>
              <a:t>Step 1/2/3 and maintained state</a:t>
            </a:r>
            <a:endParaRPr/>
          </a:p>
          <a:p>
            <a:pPr algn="ctr">
              <a:lnSpc>
                <a:spcPct val="105000"/>
              </a:lnSpc>
              <a:buNone/>
              <a:defRPr sz="1350" b="0" i="0">
                <a:solidFill>
                  <a:srgbClr val="243B53"/>
                </a:solidFill>
              </a:defRPr>
            </a:pPr>
            <a:r>
              <a:rPr sz="1350" b="0" i="0">
                <a:solidFill>
                  <a:srgbClr val="243B53"/>
                </a:solidFill>
              </a:rPr>
              <a:t>output recovered from state</a:t>
            </a:r>
            <a:endParaRPr/>
          </a:p>
        </p:txBody>
      </p:sp>
      <p:sp>
        <p:nvSpPr>
          <p:cNvPr id="1895225399" name=""/>
          <p:cNvSpPr>
            <a:spLocks noGrp="1"/>
          </p:cNvSpPr>
          <p:nvPr/>
        </p:nvSpPr>
        <p:spPr bwMode="auto">
          <a:xfrm>
            <a:off x="8172450" y="5010149"/>
            <a:ext cx="2724150" cy="342900"/>
          </a:xfrm>
          <a:prstGeom prst="roundRect">
            <a:avLst>
              <a:gd name="adj" fmla="val 13889"/>
            </a:avLst>
          </a:prstGeom>
          <a:solidFill>
            <a:srgbClr val="FFFFFF"/>
          </a:solidFill>
          <a:ln w="11430">
            <a:solidFill>
              <a:srgbClr val="52606D"/>
            </a:solidFill>
            <a:prstDash val="dash"/>
          </a:ln>
        </p:spPr>
      </p:sp>
      <p:sp>
        <p:nvSpPr>
          <p:cNvPr id="806828576" name=""/>
          <p:cNvSpPr>
            <a:spLocks noGrp="1"/>
          </p:cNvSpPr>
          <p:nvPr/>
        </p:nvSpPr>
        <p:spPr bwMode="auto">
          <a:xfrm>
            <a:off x="8267700" y="5057775"/>
            <a:ext cx="2533650" cy="2476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1" i="0">
                <a:solidFill>
                  <a:srgbClr val="52606D"/>
                </a:solidFill>
              </a:defRPr>
            </a:pPr>
            <a:r>
              <a:rPr sz="1200" b="1" i="0">
                <a:solidFill>
                  <a:srgbClr val="52606D"/>
                </a:solidFill>
              </a:rPr>
              <a:t>post-call output comparison</a:t>
            </a:r>
            <a:endParaRPr/>
          </a:p>
        </p:txBody>
      </p:sp>
      <p:cxnSp>
        <p:nvCxnSpPr>
          <p:cNvPr id="1516030003" name=""/>
          <p:cNvCxnSpPr>
            <a:stCxn id="1985462884" idx="2"/>
            <a:endCxn id="1895225399" idx="0"/>
          </p:cNvCxnSpPr>
          <p:nvPr/>
        </p:nvCxnSpPr>
        <p:spPr bwMode="auto">
          <a:xfrm>
            <a:off x="9148763" y="4914900"/>
            <a:ext cx="385762" cy="95250"/>
          </a:xfrm>
          <a:prstGeom prst="straightConnector1">
            <a:avLst/>
          </a:prstGeom>
          <a:ln w="14288">
            <a:solidFill>
              <a:srgbClr val="52606D"/>
            </a:solidFill>
            <a:prstDash val="dash"/>
            <a:tailEnd type="arrow" w="sm" len="sm"/>
          </a:ln>
        </p:spPr>
      </p:cxnSp>
      <p:sp>
        <p:nvSpPr>
          <p:cNvPr id="1540396367" name=""/>
          <p:cNvSpPr>
            <a:spLocks noGrp="1"/>
          </p:cNvSpPr>
          <p:nvPr/>
        </p:nvSpPr>
        <p:spPr bwMode="auto">
          <a:xfrm>
            <a:off x="1257300" y="5543550"/>
            <a:ext cx="9677400" cy="514350"/>
          </a:xfrm>
          <a:prstGeom prst="roundRect">
            <a:avLst>
              <a:gd name="adj" fmla="val 11111"/>
            </a:avLst>
          </a:prstGeom>
          <a:solidFill>
            <a:srgbClr val="102A43"/>
          </a:solidFill>
          <a:ln w="11430">
            <a:solidFill>
              <a:srgbClr val="102A43"/>
            </a:solidFill>
            <a:prstDash val="solid"/>
          </a:ln>
        </p:spPr>
      </p:sp>
      <p:sp>
        <p:nvSpPr>
          <p:cNvPr id="1663167362" name=""/>
          <p:cNvSpPr>
            <a:spLocks noGrp="1"/>
          </p:cNvSpPr>
          <p:nvPr/>
        </p:nvSpPr>
        <p:spPr bwMode="auto">
          <a:xfrm>
            <a:off x="1428750" y="5610225"/>
            <a:ext cx="933450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FFFFFF"/>
                </a:solidFill>
              </a:defRPr>
            </a:pPr>
            <a:r>
              <a:rPr sz="1350" b="1" i="0">
                <a:solidFill>
                  <a:srgbClr val="FFFFFF"/>
                </a:solidFill>
              </a:rPr>
              <a:t>Certification before the paper call  |  comparison after the call  |  oracle-sorted output never enters the paper core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2119337239"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RECONSTRUCTION</a:t>
            </a:r>
            <a:endParaRPr/>
          </a:p>
        </p:txBody>
      </p:sp>
      <p:sp>
        <p:nvSpPr>
          <p:cNvPr id="218537468"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Initialize once, then update one point at a time</a:t>
            </a:r>
            <a:endParaRPr/>
          </a:p>
        </p:txBody>
      </p:sp>
      <p:sp>
        <p:nvSpPr>
          <p:cNvPr id="2044478940" name=""/>
          <p:cNvSpPr>
            <a:spLocks noGrp="1"/>
          </p:cNvSpPr>
          <p:nvPr/>
        </p:nvSpPr>
        <p:spPr bwMode="auto">
          <a:xfrm>
            <a:off x="609600" y="1085850"/>
            <a:ext cx="10972800" cy="9525"/>
          </a:xfrm>
          <a:prstGeom prst="line">
            <a:avLst/>
          </a:prstGeom>
          <a:noFill/>
          <a:ln w="28575">
            <a:solidFill>
              <a:srgbClr val="2A9D8F"/>
            </a:solidFill>
            <a:prstDash val="solid"/>
          </a:ln>
        </p:spPr>
      </p:sp>
      <p:sp>
        <p:nvSpPr>
          <p:cNvPr id="102842756" name=""/>
          <p:cNvSpPr>
            <a:spLocks noGrp="1"/>
          </p:cNvSpPr>
          <p:nvPr/>
        </p:nvSpPr>
        <p:spPr bwMode="auto">
          <a:xfrm>
            <a:off x="609600" y="6477000"/>
            <a:ext cx="10972800" cy="9525"/>
          </a:xfrm>
          <a:prstGeom prst="line">
            <a:avLst/>
          </a:prstGeom>
          <a:noFill/>
          <a:ln w="9525">
            <a:solidFill>
              <a:srgbClr val="D9E2EC"/>
            </a:solidFill>
            <a:prstDash val="solid"/>
          </a:ln>
        </p:spPr>
      </p:sp>
      <p:sp>
        <p:nvSpPr>
          <p:cNvPr id="558217981"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801966085"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7 / 16</a:t>
            </a:r>
            <a:endParaRPr/>
          </a:p>
        </p:txBody>
      </p:sp>
      <p:sp>
        <p:nvSpPr>
          <p:cNvPr id="1615819288" name=""/>
          <p:cNvSpPr>
            <a:spLocks noGrp="1"/>
          </p:cNvSpPr>
          <p:nvPr/>
        </p:nvSpPr>
        <p:spPr bwMode="auto">
          <a:xfrm>
            <a:off x="723900" y="1314450"/>
            <a:ext cx="10744200" cy="1504950"/>
          </a:xfrm>
          <a:prstGeom prst="roundRect">
            <a:avLst>
              <a:gd name="adj" fmla="val 5063"/>
            </a:avLst>
          </a:prstGeom>
          <a:solidFill>
            <a:srgbClr val="EAF1F8"/>
          </a:solidFill>
          <a:ln w="11430">
            <a:solidFill>
              <a:srgbClr val="52606D"/>
            </a:solidFill>
            <a:prstDash val="solid"/>
          </a:ln>
        </p:spPr>
      </p:sp>
      <p:sp>
        <p:nvSpPr>
          <p:cNvPr id="608059575" name=""/>
          <p:cNvSpPr>
            <a:spLocks noGrp="1"/>
          </p:cNvSpPr>
          <p:nvPr/>
        </p:nvSpPr>
        <p:spPr bwMode="auto">
          <a:xfrm>
            <a:off x="876299" y="1390650"/>
            <a:ext cx="10363200" cy="285750"/>
          </a:xfrm>
          <a:prstGeom prst="rect">
            <a:avLst/>
          </a:prstGeom>
          <a:noFill/>
          <a:ln w="0">
            <a:noFill/>
            <a:prstDash val="solid"/>
          </a:ln>
        </p:spPr>
        <p:txBody>
          <a:bodyPr wrap="square" lIns="38100" tIns="19050" rIns="38100" bIns="19050" anchor="t">
            <a:normAutofit fontScale="89717"/>
          </a:bodyPr>
          <a:lstStyle/>
          <a:p>
            <a:pPr algn="l">
              <a:lnSpc>
                <a:spcPct val="105000"/>
              </a:lnSpc>
              <a:buNone/>
              <a:defRPr sz="1750" b="1" i="0">
                <a:solidFill>
                  <a:srgbClr val="102A43"/>
                </a:solidFill>
              </a:defRPr>
            </a:pPr>
            <a:r>
              <a:rPr sz="1750" b="1" i="0">
                <a:solidFill>
                  <a:srgbClr val="102A43"/>
                </a:solidFill>
              </a:rPr>
              <a:t>A. Initialize once (n ≥ 3)</a:t>
            </a:r>
            <a:endParaRPr/>
          </a:p>
        </p:txBody>
      </p:sp>
      <p:sp>
        <p:nvSpPr>
          <p:cNvPr id="1301592121" name=""/>
          <p:cNvSpPr>
            <a:spLocks noGrp="1"/>
          </p:cNvSpPr>
          <p:nvPr/>
        </p:nvSpPr>
        <p:spPr bwMode="auto">
          <a:xfrm>
            <a:off x="914400" y="1809750"/>
            <a:ext cx="2857500" cy="590549"/>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750" b="0" i="0">
                <a:solidFill>
                  <a:srgbClr val="243B53"/>
                </a:solidFill>
              </a:defRPr>
            </a:pPr>
            <a:r>
              <a:rPr sz="1750" b="0" i="0">
                <a:solidFill>
                  <a:srgbClr val="243B53"/>
                </a:solidFill>
              </a:rPr>
              <a:t>Sort only z₁, z₂, z₃</a:t>
            </a:r>
            <a:endParaRPr/>
          </a:p>
          <a:p>
            <a:pPr algn="ctr">
              <a:lnSpc>
                <a:spcPct val="105000"/>
              </a:lnSpc>
              <a:buNone/>
              <a:defRPr sz="1750" b="0" i="0">
                <a:solidFill>
                  <a:srgbClr val="243B53"/>
                </a:solidFill>
              </a:defRPr>
            </a:pPr>
            <a:r>
              <a:rPr sz="1750" b="0" i="0">
                <a:solidFill>
                  <a:srgbClr val="243B53"/>
                </a:solidFill>
              </a:rPr>
              <a:t>by x-coordinate</a:t>
            </a:r>
            <a:endParaRPr/>
          </a:p>
        </p:txBody>
      </p:sp>
      <p:sp>
        <p:nvSpPr>
          <p:cNvPr id="1799146501" name=""/>
          <p:cNvSpPr>
            <a:spLocks noGrp="1"/>
          </p:cNvSpPr>
          <p:nvPr/>
        </p:nvSpPr>
        <p:spPr bwMode="auto">
          <a:xfrm>
            <a:off x="3790949" y="1847850"/>
            <a:ext cx="438149" cy="381000"/>
          </a:xfrm>
          <a:prstGeom prst="rect">
            <a:avLst/>
          </a:prstGeom>
          <a:noFill/>
          <a:ln w="0">
            <a:noFill/>
            <a:prstDash val="solid"/>
          </a:ln>
        </p:spPr>
        <p:txBody>
          <a:bodyPr wrap="square" lIns="38100" tIns="19050" rIns="38100" bIns="19050" anchor="t">
            <a:normAutofit fontScale="95238"/>
          </a:bodyPr>
          <a:lstStyle/>
          <a:p>
            <a:pPr algn="ctr">
              <a:lnSpc>
                <a:spcPct val="105000"/>
              </a:lnSpc>
              <a:buNone/>
              <a:defRPr sz="2250" b="0" i="0">
                <a:solidFill>
                  <a:srgbClr val="2A9D8F"/>
                </a:solidFill>
              </a:defRPr>
            </a:pPr>
            <a:r>
              <a:rPr sz="2250" b="0" i="0">
                <a:solidFill>
                  <a:srgbClr val="2A9D8F"/>
                </a:solidFill>
              </a:rPr>
              <a:t>→</a:t>
            </a:r>
            <a:endParaRPr/>
          </a:p>
        </p:txBody>
      </p:sp>
      <p:sp>
        <p:nvSpPr>
          <p:cNvPr id="1316415443" name=""/>
          <p:cNvSpPr>
            <a:spLocks noGrp="1"/>
          </p:cNvSpPr>
          <p:nvPr/>
        </p:nvSpPr>
        <p:spPr bwMode="auto">
          <a:xfrm>
            <a:off x="4305300" y="1847850"/>
            <a:ext cx="2952750" cy="40005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800" b="1" i="0">
                <a:solidFill>
                  <a:srgbClr val="2A9D8F"/>
                </a:solidFill>
              </a:defRPr>
            </a:pPr>
            <a:r>
              <a:rPr sz="1800" b="1" i="0">
                <a:solidFill>
                  <a:srgbClr val="2A9D8F"/>
                </a:solidFill>
              </a:rPr>
              <a:t>Initial sorted list S₃</a:t>
            </a:r>
            <a:endParaRPr/>
          </a:p>
        </p:txBody>
      </p:sp>
      <p:sp>
        <p:nvSpPr>
          <p:cNvPr id="582411765" name=""/>
          <p:cNvSpPr>
            <a:spLocks noGrp="1"/>
          </p:cNvSpPr>
          <p:nvPr/>
        </p:nvSpPr>
        <p:spPr bwMode="auto">
          <a:xfrm>
            <a:off x="7296149" y="1847850"/>
            <a:ext cx="438149" cy="381000"/>
          </a:xfrm>
          <a:prstGeom prst="rect">
            <a:avLst/>
          </a:prstGeom>
          <a:noFill/>
          <a:ln w="0">
            <a:noFill/>
            <a:prstDash val="solid"/>
          </a:ln>
        </p:spPr>
        <p:txBody>
          <a:bodyPr wrap="square" lIns="38100" tIns="19050" rIns="38100" bIns="19050" anchor="t">
            <a:normAutofit fontScale="95238"/>
          </a:bodyPr>
          <a:lstStyle/>
          <a:p>
            <a:pPr algn="ctr">
              <a:lnSpc>
                <a:spcPct val="105000"/>
              </a:lnSpc>
              <a:buNone/>
              <a:defRPr sz="2250" b="0" i="0">
                <a:solidFill>
                  <a:srgbClr val="2A9D8F"/>
                </a:solidFill>
              </a:defRPr>
            </a:pPr>
            <a:r>
              <a:rPr sz="2250" b="0" i="0">
                <a:solidFill>
                  <a:srgbClr val="2A9D8F"/>
                </a:solidFill>
              </a:rPr>
              <a:t>→</a:t>
            </a:r>
            <a:endParaRPr/>
          </a:p>
        </p:txBody>
      </p:sp>
      <p:sp>
        <p:nvSpPr>
          <p:cNvPr id="566080585" name=""/>
          <p:cNvSpPr>
            <a:spLocks noGrp="1"/>
          </p:cNvSpPr>
          <p:nvPr/>
        </p:nvSpPr>
        <p:spPr bwMode="auto">
          <a:xfrm>
            <a:off x="7829550" y="1771650"/>
            <a:ext cx="3429000" cy="60960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650" b="0" i="0">
                <a:solidFill>
                  <a:srgbClr val="243B53"/>
                </a:solidFill>
              </a:defRPr>
            </a:pPr>
            <a:r>
              <a:rPr sz="1650" b="0" i="0">
                <a:solidFill>
                  <a:srgbClr val="243B53"/>
                </a:solidFill>
              </a:rPr>
              <a:t>Upper/lower families</a:t>
            </a:r>
            <a:endParaRPr/>
          </a:p>
          <a:p>
            <a:pPr algn="ctr">
              <a:lnSpc>
                <a:spcPct val="105000"/>
              </a:lnSpc>
              <a:buNone/>
              <a:defRPr sz="1650" b="0" i="0">
                <a:solidFill>
                  <a:srgbClr val="243B53"/>
                </a:solidFill>
              </a:defRPr>
            </a:pPr>
            <a:r>
              <a:rPr sz="1650" b="0" i="0">
                <a:solidFill>
                  <a:srgbClr val="243B53"/>
                </a:solidFill>
              </a:rPr>
              <a:t>P₂, P₃ and dummy roots</a:t>
            </a:r>
            <a:endParaRPr/>
          </a:p>
        </p:txBody>
      </p:sp>
      <p:sp>
        <p:nvSpPr>
          <p:cNvPr id="1183247019" name=""/>
          <p:cNvSpPr>
            <a:spLocks noGrp="1"/>
          </p:cNvSpPr>
          <p:nvPr/>
        </p:nvSpPr>
        <p:spPr bwMode="auto">
          <a:xfrm>
            <a:off x="895350" y="2457450"/>
            <a:ext cx="10401300" cy="266700"/>
          </a:xfrm>
          <a:prstGeom prst="rect">
            <a:avLst/>
          </a:prstGeom>
          <a:noFill/>
          <a:ln w="0">
            <a:noFill/>
            <a:prstDash val="solid"/>
          </a:ln>
        </p:spPr>
        <p:txBody>
          <a:bodyPr wrap="square" lIns="38100" tIns="19050" rIns="38100" bIns="19050" anchor="t">
            <a:normAutofit fontScale="95238"/>
          </a:bodyPr>
          <a:lstStyle/>
          <a:p>
            <a:pPr algn="ctr">
              <a:lnSpc>
                <a:spcPct val="105000"/>
              </a:lnSpc>
              <a:buNone/>
              <a:defRPr sz="1500" b="0" i="0">
                <a:solidFill>
                  <a:srgbClr val="52606D"/>
                </a:solidFill>
              </a:defRPr>
            </a:pPr>
            <a:r>
              <a:rPr sz="1500" b="0" i="0">
                <a:solidFill>
                  <a:srgbClr val="52606D"/>
                </a:solidFill>
              </a:rPr>
              <a:t>Core-local initialization. No oracle answer. Labels and stored pair endpoints keep curve order.</a:t>
            </a:r>
            <a:endParaRPr/>
          </a:p>
        </p:txBody>
      </p:sp>
      <p:sp>
        <p:nvSpPr>
          <p:cNvPr id="154873946" name=""/>
          <p:cNvSpPr>
            <a:spLocks noGrp="1"/>
          </p:cNvSpPr>
          <p:nvPr/>
        </p:nvSpPr>
        <p:spPr bwMode="auto">
          <a:xfrm>
            <a:off x="723900" y="2971800"/>
            <a:ext cx="10744200" cy="304800"/>
          </a:xfrm>
          <a:prstGeom prst="rect">
            <a:avLst/>
          </a:prstGeom>
          <a:noFill/>
          <a:ln w="0">
            <a:noFill/>
            <a:prstDash val="solid"/>
          </a:ln>
        </p:spPr>
        <p:txBody>
          <a:bodyPr wrap="square" lIns="38100" tIns="19050" rIns="38100" bIns="19050" anchor="t">
            <a:normAutofit fontScale="92593"/>
          </a:bodyPr>
          <a:lstStyle/>
          <a:p>
            <a:pPr algn="l">
              <a:lnSpc>
                <a:spcPct val="105000"/>
              </a:lnSpc>
              <a:buNone/>
              <a:defRPr sz="1800" b="1" i="0">
                <a:solidFill>
                  <a:srgbClr val="2A9D8F"/>
                </a:solidFill>
              </a:defRPr>
            </a:pPr>
            <a:r>
              <a:rPr sz="1800" b="1" i="0">
                <a:solidFill>
                  <a:srgbClr val="2A9D8F"/>
                </a:solidFill>
              </a:rPr>
              <a:t>B. For i = 4, …, n: process one new point</a:t>
            </a:r>
            <a:endParaRPr/>
          </a:p>
        </p:txBody>
      </p:sp>
      <p:sp>
        <p:nvSpPr>
          <p:cNvPr id="2054081343" name=""/>
          <p:cNvSpPr>
            <a:spLocks noGrp="1"/>
          </p:cNvSpPr>
          <p:nvPr/>
        </p:nvSpPr>
        <p:spPr bwMode="auto">
          <a:xfrm>
            <a:off x="723900" y="3333750"/>
            <a:ext cx="10744200" cy="304800"/>
          </a:xfrm>
          <a:prstGeom prst="rect">
            <a:avLst/>
          </a:prstGeom>
          <a:noFill/>
          <a:ln w="0">
            <a:noFill/>
            <a:prstDash val="solid"/>
          </a:ln>
        </p:spPr>
        <p:txBody>
          <a:bodyPr wrap="square" lIns="38100" tIns="19050" rIns="38100" bIns="19050" anchor="t">
            <a:normAutofit fontScale="96618"/>
          </a:bodyPr>
          <a:lstStyle/>
          <a:p>
            <a:pPr algn="ctr">
              <a:lnSpc>
                <a:spcPct val="105000"/>
              </a:lnSpc>
              <a:buNone/>
              <a:defRPr sz="1750" b="1" i="0">
                <a:solidFill>
                  <a:srgbClr val="102A43"/>
                </a:solidFill>
              </a:defRPr>
            </a:pPr>
            <a:r>
              <a:rPr sz="1750" b="1" i="0">
                <a:solidFill>
                  <a:srgbClr val="102A43"/>
                </a:solidFill>
              </a:rPr>
              <a:t>Sᵢ₋₁ + new point zᵢ → one round below → Sᵢ</a:t>
            </a:r>
            <a:endParaRPr/>
          </a:p>
        </p:txBody>
      </p:sp>
      <p:sp>
        <p:nvSpPr>
          <p:cNvPr id="629078283" name=""/>
          <p:cNvSpPr>
            <a:spLocks noGrp="1"/>
          </p:cNvSpPr>
          <p:nvPr/>
        </p:nvSpPr>
        <p:spPr bwMode="auto">
          <a:xfrm>
            <a:off x="723900" y="3790949"/>
            <a:ext cx="1981200" cy="1085850"/>
          </a:xfrm>
          <a:prstGeom prst="roundRect">
            <a:avLst>
              <a:gd name="adj" fmla="val 5263"/>
            </a:avLst>
          </a:prstGeom>
          <a:solidFill>
            <a:srgbClr val="EAF1F8"/>
          </a:solidFill>
          <a:ln w="11430">
            <a:solidFill>
              <a:srgbClr val="52606D"/>
            </a:solidFill>
            <a:prstDash val="solid"/>
          </a:ln>
        </p:spPr>
      </p:sp>
      <p:sp>
        <p:nvSpPr>
          <p:cNvPr id="1557492932" name=""/>
          <p:cNvSpPr>
            <a:spLocks noGrp="1"/>
          </p:cNvSpPr>
          <p:nvPr/>
        </p:nvSpPr>
        <p:spPr bwMode="auto">
          <a:xfrm>
            <a:off x="800100" y="3867150"/>
            <a:ext cx="1828800" cy="285750"/>
          </a:xfrm>
          <a:prstGeom prst="rect">
            <a:avLst/>
          </a:prstGeom>
          <a:noFill/>
          <a:ln w="0">
            <a:noFill/>
            <a:prstDash val="solid"/>
          </a:ln>
        </p:spPr>
        <p:txBody>
          <a:bodyPr wrap="square" lIns="38100" tIns="19050" rIns="38100" bIns="19050" anchor="t">
            <a:normAutofit fontScale="93795"/>
          </a:bodyPr>
          <a:lstStyle/>
          <a:p>
            <a:pPr algn="ctr">
              <a:lnSpc>
                <a:spcPct val="105000"/>
              </a:lnSpc>
              <a:buNone/>
              <a:defRPr sz="1650" b="1" i="0">
                <a:solidFill>
                  <a:srgbClr val="102A43"/>
                </a:solidFill>
              </a:defRPr>
            </a:pPr>
            <a:r>
              <a:rPr sz="1650" b="1" i="0">
                <a:solidFill>
                  <a:srgbClr val="102A43"/>
                </a:solidFill>
              </a:rPr>
              <a:t>Step 1</a:t>
            </a:r>
            <a:endParaRPr/>
          </a:p>
        </p:txBody>
      </p:sp>
      <p:sp>
        <p:nvSpPr>
          <p:cNvPr id="1176659107" name=""/>
          <p:cNvSpPr>
            <a:spLocks noGrp="1"/>
          </p:cNvSpPr>
          <p:nvPr/>
        </p:nvSpPr>
        <p:spPr bwMode="auto">
          <a:xfrm>
            <a:off x="790575" y="4200525"/>
            <a:ext cx="1847850" cy="628650"/>
          </a:xfrm>
          <a:prstGeom prst="rect">
            <a:avLst/>
          </a:prstGeom>
          <a:noFill/>
          <a:ln w="0">
            <a:noFill/>
            <a:prstDash val="solid"/>
          </a:ln>
        </p:spPr>
        <p:txBody>
          <a:bodyPr wrap="square" lIns="38100" tIns="19050" rIns="38100" bIns="19050" anchor="ctr">
            <a:normAutofit fontScale="98413"/>
          </a:bodyPr>
          <a:lstStyle/>
          <a:p>
            <a:pPr algn="ctr">
              <a:lnSpc>
                <a:spcPct val="105000"/>
              </a:lnSpc>
              <a:buNone/>
              <a:defRPr sz="1450" b="0" i="0">
                <a:solidFill>
                  <a:srgbClr val="243B53"/>
                </a:solidFill>
              </a:defRPr>
            </a:pPr>
            <a:r>
              <a:rPr sz="1450" b="0" i="0">
                <a:solidFill>
                  <a:srgbClr val="243B53"/>
                </a:solidFill>
              </a:rPr>
              <a:t>Find predecessor-side</a:t>
            </a:r>
            <a:endParaRPr/>
          </a:p>
          <a:p>
            <a:pPr algn="ctr">
              <a:lnSpc>
                <a:spcPct val="105000"/>
              </a:lnSpc>
              <a:buNone/>
              <a:defRPr sz="1450" b="0" i="0">
                <a:solidFill>
                  <a:srgbClr val="243B53"/>
                </a:solidFill>
              </a:defRPr>
            </a:pPr>
            <a:r>
              <a:rPr sz="1450" b="0" i="0">
                <a:solidFill>
                  <a:srgbClr val="243B53"/>
                </a:solidFill>
              </a:rPr>
              <a:t>boundary Aᵢ</a:t>
            </a:r>
            <a:endParaRPr/>
          </a:p>
        </p:txBody>
      </p:sp>
      <p:sp>
        <p:nvSpPr>
          <p:cNvPr id="392626939" name=""/>
          <p:cNvSpPr>
            <a:spLocks noGrp="1"/>
          </p:cNvSpPr>
          <p:nvPr/>
        </p:nvSpPr>
        <p:spPr bwMode="auto">
          <a:xfrm>
            <a:off x="2914650" y="3790949"/>
            <a:ext cx="1981200" cy="1085850"/>
          </a:xfrm>
          <a:prstGeom prst="roundRect">
            <a:avLst>
              <a:gd name="adj" fmla="val 5263"/>
            </a:avLst>
          </a:prstGeom>
          <a:solidFill>
            <a:srgbClr val="EAF1F8"/>
          </a:solidFill>
          <a:ln w="11430">
            <a:solidFill>
              <a:srgbClr val="52606D"/>
            </a:solidFill>
            <a:prstDash val="solid"/>
          </a:ln>
        </p:spPr>
      </p:sp>
      <p:sp>
        <p:nvSpPr>
          <p:cNvPr id="988140079" name=""/>
          <p:cNvSpPr>
            <a:spLocks noGrp="1"/>
          </p:cNvSpPr>
          <p:nvPr/>
        </p:nvSpPr>
        <p:spPr bwMode="auto">
          <a:xfrm>
            <a:off x="2990850" y="3867150"/>
            <a:ext cx="1828800" cy="285750"/>
          </a:xfrm>
          <a:prstGeom prst="rect">
            <a:avLst/>
          </a:prstGeom>
          <a:noFill/>
          <a:ln w="0">
            <a:noFill/>
            <a:prstDash val="solid"/>
          </a:ln>
        </p:spPr>
        <p:txBody>
          <a:bodyPr wrap="square" lIns="38100" tIns="19050" rIns="38100" bIns="19050" anchor="t">
            <a:normAutofit fontScale="93795"/>
          </a:bodyPr>
          <a:lstStyle/>
          <a:p>
            <a:pPr algn="ctr">
              <a:lnSpc>
                <a:spcPct val="105000"/>
              </a:lnSpc>
              <a:buNone/>
              <a:defRPr sz="1650" b="1" i="0">
                <a:solidFill>
                  <a:srgbClr val="102A43"/>
                </a:solidFill>
              </a:defRPr>
            </a:pPr>
            <a:r>
              <a:rPr sz="1650" b="1" i="0">
                <a:solidFill>
                  <a:srgbClr val="102A43"/>
                </a:solidFill>
              </a:rPr>
              <a:t>Step 2</a:t>
            </a:r>
            <a:endParaRPr/>
          </a:p>
        </p:txBody>
      </p:sp>
      <p:sp>
        <p:nvSpPr>
          <p:cNvPr id="1030927208" name=""/>
          <p:cNvSpPr>
            <a:spLocks noGrp="1"/>
          </p:cNvSpPr>
          <p:nvPr/>
        </p:nvSpPr>
        <p:spPr bwMode="auto">
          <a:xfrm>
            <a:off x="2981325" y="4200525"/>
            <a:ext cx="1847850" cy="6286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0" i="0">
                <a:solidFill>
                  <a:srgbClr val="243B53"/>
                </a:solidFill>
              </a:defRPr>
            </a:pPr>
            <a:r>
              <a:rPr sz="1450" b="0" i="0">
                <a:solidFill>
                  <a:srgbClr val="243B53"/>
                </a:solidFill>
              </a:rPr>
              <a:t>Find successor-side</a:t>
            </a:r>
            <a:endParaRPr/>
          </a:p>
          <a:p>
            <a:pPr algn="ctr">
              <a:lnSpc>
                <a:spcPct val="105000"/>
              </a:lnSpc>
              <a:buNone/>
              <a:defRPr sz="1450" b="0" i="0">
                <a:solidFill>
                  <a:srgbClr val="243B53"/>
                </a:solidFill>
              </a:defRPr>
            </a:pPr>
            <a:r>
              <a:rPr sz="1450" b="0" i="0">
                <a:solidFill>
                  <a:srgbClr val="243B53"/>
                </a:solidFill>
              </a:rPr>
              <a:t>boundary Bᵢ</a:t>
            </a:r>
            <a:endParaRPr/>
          </a:p>
        </p:txBody>
      </p:sp>
      <p:sp>
        <p:nvSpPr>
          <p:cNvPr id="884116531" name=""/>
          <p:cNvSpPr>
            <a:spLocks noGrp="1"/>
          </p:cNvSpPr>
          <p:nvPr/>
        </p:nvSpPr>
        <p:spPr bwMode="auto">
          <a:xfrm>
            <a:off x="5105400" y="3790949"/>
            <a:ext cx="1981200" cy="1085850"/>
          </a:xfrm>
          <a:prstGeom prst="roundRect">
            <a:avLst>
              <a:gd name="adj" fmla="val 5263"/>
            </a:avLst>
          </a:prstGeom>
          <a:solidFill>
            <a:srgbClr val="E8F5F3"/>
          </a:solidFill>
          <a:ln w="11430">
            <a:solidFill>
              <a:srgbClr val="52606D"/>
            </a:solidFill>
            <a:prstDash val="solid"/>
          </a:ln>
        </p:spPr>
      </p:sp>
      <p:sp>
        <p:nvSpPr>
          <p:cNvPr id="1314960240" name=""/>
          <p:cNvSpPr>
            <a:spLocks noGrp="1"/>
          </p:cNvSpPr>
          <p:nvPr/>
        </p:nvSpPr>
        <p:spPr bwMode="auto">
          <a:xfrm>
            <a:off x="5181600" y="3867150"/>
            <a:ext cx="1828800" cy="285750"/>
          </a:xfrm>
          <a:prstGeom prst="rect">
            <a:avLst/>
          </a:prstGeom>
          <a:noFill/>
          <a:ln w="0">
            <a:noFill/>
            <a:prstDash val="solid"/>
          </a:ln>
        </p:spPr>
        <p:txBody>
          <a:bodyPr wrap="square" lIns="38100" tIns="19050" rIns="38100" bIns="19050" anchor="t">
            <a:normAutofit fontScale="93795"/>
          </a:bodyPr>
          <a:lstStyle/>
          <a:p>
            <a:pPr algn="ctr">
              <a:lnSpc>
                <a:spcPct val="105000"/>
              </a:lnSpc>
              <a:buNone/>
              <a:defRPr sz="1650" b="1" i="0">
                <a:solidFill>
                  <a:srgbClr val="102A43"/>
                </a:solidFill>
              </a:defRPr>
            </a:pPr>
            <a:r>
              <a:rPr sz="1650" b="1" i="0">
                <a:solidFill>
                  <a:srgbClr val="102A43"/>
                </a:solidFill>
              </a:rPr>
              <a:t>Step 3(a)</a:t>
            </a:r>
            <a:endParaRPr/>
          </a:p>
        </p:txBody>
      </p:sp>
      <p:sp>
        <p:nvSpPr>
          <p:cNvPr id="1636056135" name=""/>
          <p:cNvSpPr>
            <a:spLocks noGrp="1"/>
          </p:cNvSpPr>
          <p:nvPr/>
        </p:nvSpPr>
        <p:spPr bwMode="auto">
          <a:xfrm>
            <a:off x="5172075" y="4200525"/>
            <a:ext cx="1847850" cy="6286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0" i="0">
                <a:solidFill>
                  <a:srgbClr val="243B53"/>
                </a:solidFill>
              </a:defRPr>
            </a:pPr>
            <a:r>
              <a:rPr sz="1450" b="0" i="0">
                <a:solidFill>
                  <a:srgbClr val="243B53"/>
                </a:solidFill>
              </a:rPr>
              <a:t>Insert new pair</a:t>
            </a:r>
            <a:endParaRPr/>
          </a:p>
          <a:p>
            <a:pPr algn="ctr">
              <a:lnSpc>
                <a:spcPct val="105000"/>
              </a:lnSpc>
              <a:buNone/>
              <a:defRPr sz="1450" b="0" i="0">
                <a:solidFill>
                  <a:srgbClr val="243B53"/>
                </a:solidFill>
              </a:defRPr>
            </a:pPr>
            <a:r>
              <a:rPr sz="1450" b="0" i="0">
                <a:solidFill>
                  <a:srgbClr val="243B53"/>
                </a:solidFill>
              </a:rPr>
              <a:t>Pᵢ = (zᵢ₋₁, zᵢ)</a:t>
            </a:r>
            <a:endParaRPr/>
          </a:p>
        </p:txBody>
      </p:sp>
      <p:sp>
        <p:nvSpPr>
          <p:cNvPr id="1042978421" name=""/>
          <p:cNvSpPr>
            <a:spLocks noGrp="1"/>
          </p:cNvSpPr>
          <p:nvPr/>
        </p:nvSpPr>
        <p:spPr bwMode="auto">
          <a:xfrm>
            <a:off x="7296149" y="3790949"/>
            <a:ext cx="1981200" cy="1085850"/>
          </a:xfrm>
          <a:prstGeom prst="roundRect">
            <a:avLst>
              <a:gd name="adj" fmla="val 5263"/>
            </a:avLst>
          </a:prstGeom>
          <a:solidFill>
            <a:srgbClr val="E8F5F3"/>
          </a:solidFill>
          <a:ln w="11430">
            <a:solidFill>
              <a:srgbClr val="52606D"/>
            </a:solidFill>
            <a:prstDash val="solid"/>
          </a:ln>
        </p:spPr>
      </p:sp>
      <p:sp>
        <p:nvSpPr>
          <p:cNvPr id="1816426585" name=""/>
          <p:cNvSpPr>
            <a:spLocks noGrp="1"/>
          </p:cNvSpPr>
          <p:nvPr/>
        </p:nvSpPr>
        <p:spPr bwMode="auto">
          <a:xfrm>
            <a:off x="7372350" y="3867150"/>
            <a:ext cx="1828800" cy="285750"/>
          </a:xfrm>
          <a:prstGeom prst="rect">
            <a:avLst/>
          </a:prstGeom>
          <a:noFill/>
          <a:ln w="0">
            <a:noFill/>
            <a:prstDash val="solid"/>
          </a:ln>
        </p:spPr>
        <p:txBody>
          <a:bodyPr wrap="square" lIns="38100" tIns="19050" rIns="38100" bIns="19050" anchor="t">
            <a:normAutofit fontScale="93795"/>
          </a:bodyPr>
          <a:lstStyle/>
          <a:p>
            <a:pPr algn="ctr">
              <a:lnSpc>
                <a:spcPct val="105000"/>
              </a:lnSpc>
              <a:buNone/>
              <a:defRPr sz="1650" b="1" i="0">
                <a:solidFill>
                  <a:srgbClr val="102A43"/>
                </a:solidFill>
              </a:defRPr>
            </a:pPr>
            <a:r>
              <a:rPr sz="1650" b="1" i="0">
                <a:solidFill>
                  <a:srgbClr val="102A43"/>
                </a:solidFill>
              </a:rPr>
              <a:t>Step 3(b)</a:t>
            </a:r>
            <a:endParaRPr/>
          </a:p>
        </p:txBody>
      </p:sp>
      <p:sp>
        <p:nvSpPr>
          <p:cNvPr id="262678277" name=""/>
          <p:cNvSpPr>
            <a:spLocks noGrp="1"/>
          </p:cNvSpPr>
          <p:nvPr/>
        </p:nvSpPr>
        <p:spPr bwMode="auto">
          <a:xfrm>
            <a:off x="7362825" y="4200525"/>
            <a:ext cx="1847850" cy="628650"/>
          </a:xfrm>
          <a:prstGeom prst="rect">
            <a:avLst/>
          </a:prstGeom>
          <a:noFill/>
          <a:ln w="0">
            <a:noFill/>
            <a:prstDash val="solid"/>
          </a:ln>
        </p:spPr>
        <p:txBody>
          <a:bodyPr wrap="square" lIns="38100" tIns="19050" rIns="38100" bIns="19050" anchor="ctr">
            <a:normAutofit fontScale="86327"/>
          </a:bodyPr>
          <a:lstStyle/>
          <a:p>
            <a:pPr algn="ctr">
              <a:lnSpc>
                <a:spcPct val="105000"/>
              </a:lnSpc>
              <a:buNone/>
              <a:defRPr sz="1450" b="0" i="0">
                <a:solidFill>
                  <a:srgbClr val="243B53"/>
                </a:solidFill>
              </a:defRPr>
            </a:pPr>
            <a:r>
              <a:rPr sz="1450" b="0" i="0">
                <a:solidFill>
                  <a:srgbClr val="243B53"/>
                </a:solidFill>
              </a:rPr>
              <a:t>Split sibling lists</a:t>
            </a:r>
            <a:endParaRPr/>
          </a:p>
          <a:p>
            <a:pPr algn="ctr">
              <a:lnSpc>
                <a:spcPct val="105000"/>
              </a:lnSpc>
              <a:buNone/>
              <a:defRPr sz="1450" b="0" i="0">
                <a:solidFill>
                  <a:srgbClr val="243B53"/>
                </a:solidFill>
              </a:defRPr>
            </a:pPr>
            <a:r>
              <a:rPr sz="1450" b="0" i="0">
                <a:solidFill>
                  <a:srgbClr val="243B53"/>
                </a:solidFill>
              </a:rPr>
              <a:t>Transfer ownership</a:t>
            </a:r>
            <a:endParaRPr/>
          </a:p>
          <a:p>
            <a:pPr algn="ctr">
              <a:lnSpc>
                <a:spcPct val="105000"/>
              </a:lnSpc>
              <a:buNone/>
              <a:defRPr sz="1450" b="0" i="0">
                <a:solidFill>
                  <a:srgbClr val="243B53"/>
                </a:solidFill>
              </a:defRPr>
            </a:pPr>
            <a:r>
              <a:rPr sz="1450" b="0" i="0">
                <a:solidFill>
                  <a:srgbClr val="243B53"/>
                </a:solidFill>
              </a:rPr>
              <a:t>when needed</a:t>
            </a:r>
            <a:endParaRPr/>
          </a:p>
        </p:txBody>
      </p:sp>
      <p:sp>
        <p:nvSpPr>
          <p:cNvPr id="56797169" name=""/>
          <p:cNvSpPr>
            <a:spLocks noGrp="1"/>
          </p:cNvSpPr>
          <p:nvPr/>
        </p:nvSpPr>
        <p:spPr bwMode="auto">
          <a:xfrm>
            <a:off x="9486900" y="3790949"/>
            <a:ext cx="1981200" cy="1085850"/>
          </a:xfrm>
          <a:prstGeom prst="roundRect">
            <a:avLst>
              <a:gd name="adj" fmla="val 5263"/>
            </a:avLst>
          </a:prstGeom>
          <a:solidFill>
            <a:srgbClr val="E8F5F3"/>
          </a:solidFill>
          <a:ln w="11430">
            <a:solidFill>
              <a:srgbClr val="52606D"/>
            </a:solidFill>
            <a:prstDash val="solid"/>
          </a:ln>
        </p:spPr>
      </p:sp>
      <p:sp>
        <p:nvSpPr>
          <p:cNvPr id="472436075" name=""/>
          <p:cNvSpPr>
            <a:spLocks noGrp="1"/>
          </p:cNvSpPr>
          <p:nvPr/>
        </p:nvSpPr>
        <p:spPr bwMode="auto">
          <a:xfrm>
            <a:off x="9563100" y="3867150"/>
            <a:ext cx="1828800" cy="285750"/>
          </a:xfrm>
          <a:prstGeom prst="rect">
            <a:avLst/>
          </a:prstGeom>
          <a:noFill/>
          <a:ln w="0">
            <a:noFill/>
            <a:prstDash val="solid"/>
          </a:ln>
        </p:spPr>
        <p:txBody>
          <a:bodyPr wrap="square" lIns="38100" tIns="19050" rIns="38100" bIns="19050" anchor="t">
            <a:normAutofit fontScale="93795"/>
          </a:bodyPr>
          <a:lstStyle/>
          <a:p>
            <a:pPr algn="ctr">
              <a:lnSpc>
                <a:spcPct val="105000"/>
              </a:lnSpc>
              <a:buNone/>
              <a:defRPr sz="1650" b="1" i="0">
                <a:solidFill>
                  <a:srgbClr val="102A43"/>
                </a:solidFill>
              </a:defRPr>
            </a:pPr>
            <a:r>
              <a:rPr sz="1650" b="1" i="0">
                <a:solidFill>
                  <a:srgbClr val="102A43"/>
                </a:solidFill>
              </a:rPr>
              <a:t>Step 3(c)</a:t>
            </a:r>
            <a:endParaRPr/>
          </a:p>
        </p:txBody>
      </p:sp>
      <p:sp>
        <p:nvSpPr>
          <p:cNvPr id="1140284210" name=""/>
          <p:cNvSpPr>
            <a:spLocks noGrp="1"/>
          </p:cNvSpPr>
          <p:nvPr/>
        </p:nvSpPr>
        <p:spPr bwMode="auto">
          <a:xfrm>
            <a:off x="9553575" y="4200525"/>
            <a:ext cx="1847850" cy="6286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0" i="0">
                <a:solidFill>
                  <a:srgbClr val="243B53"/>
                </a:solidFill>
              </a:defRPr>
            </a:pPr>
            <a:r>
              <a:rPr sz="1450" b="0" i="0">
                <a:solidFill>
                  <a:srgbClr val="243B53"/>
                </a:solidFill>
              </a:rPr>
              <a:t>Insert zᵢ into the</a:t>
            </a:r>
            <a:endParaRPr/>
          </a:p>
          <a:p>
            <a:pPr algn="ctr">
              <a:lnSpc>
                <a:spcPct val="105000"/>
              </a:lnSpc>
              <a:buNone/>
              <a:defRPr sz="1450" b="0" i="0">
                <a:solidFill>
                  <a:srgbClr val="243B53"/>
                </a:solidFill>
              </a:defRPr>
            </a:pPr>
            <a:r>
              <a:rPr sz="1450" b="0" i="0">
                <a:solidFill>
                  <a:srgbClr val="243B53"/>
                </a:solidFill>
              </a:rPr>
              <a:t>maintained sorted list</a:t>
            </a:r>
            <a:endParaRPr/>
          </a:p>
        </p:txBody>
      </p:sp>
      <p:cxnSp>
        <p:nvCxnSpPr>
          <p:cNvPr id="1863316207" name=""/>
          <p:cNvCxnSpPr>
            <a:stCxn id="629078283" idx="3"/>
            <a:endCxn id="392626939" idx="1"/>
          </p:cNvCxnSpPr>
          <p:nvPr/>
        </p:nvCxnSpPr>
        <p:spPr bwMode="auto">
          <a:xfrm>
            <a:off x="2705100" y="4333875"/>
            <a:ext cx="209550" cy="0"/>
          </a:xfrm>
          <a:prstGeom prst="straightConnector1">
            <a:avLst/>
          </a:prstGeom>
          <a:ln w="19050">
            <a:solidFill>
              <a:srgbClr val="2A9D8F"/>
            </a:solidFill>
            <a:prstDash val="solid"/>
            <a:tailEnd type="arrow" w="sm" len="sm"/>
          </a:ln>
        </p:spPr>
      </p:cxnSp>
      <p:cxnSp>
        <p:nvCxnSpPr>
          <p:cNvPr id="933141848" name=""/>
          <p:cNvCxnSpPr>
            <a:stCxn id="392626939" idx="3"/>
            <a:endCxn id="884116531" idx="1"/>
          </p:cNvCxnSpPr>
          <p:nvPr/>
        </p:nvCxnSpPr>
        <p:spPr bwMode="auto">
          <a:xfrm>
            <a:off x="4895850" y="4333875"/>
            <a:ext cx="209550" cy="0"/>
          </a:xfrm>
          <a:prstGeom prst="straightConnector1">
            <a:avLst/>
          </a:prstGeom>
          <a:ln w="19050">
            <a:solidFill>
              <a:srgbClr val="2A9D8F"/>
            </a:solidFill>
            <a:prstDash val="solid"/>
            <a:tailEnd type="arrow" w="sm" len="sm"/>
          </a:ln>
        </p:spPr>
      </p:cxnSp>
      <p:cxnSp>
        <p:nvCxnSpPr>
          <p:cNvPr id="1561782823" name=""/>
          <p:cNvCxnSpPr>
            <a:stCxn id="884116531" idx="3"/>
            <a:endCxn id="1042978421" idx="1"/>
          </p:cNvCxnSpPr>
          <p:nvPr/>
        </p:nvCxnSpPr>
        <p:spPr bwMode="auto">
          <a:xfrm>
            <a:off x="7086600" y="4333875"/>
            <a:ext cx="209550" cy="0"/>
          </a:xfrm>
          <a:prstGeom prst="straightConnector1">
            <a:avLst/>
          </a:prstGeom>
          <a:ln w="19050">
            <a:solidFill>
              <a:srgbClr val="2A9D8F"/>
            </a:solidFill>
            <a:prstDash val="solid"/>
            <a:tailEnd type="arrow" w="sm" len="sm"/>
          </a:ln>
        </p:spPr>
      </p:cxnSp>
      <p:cxnSp>
        <p:nvCxnSpPr>
          <p:cNvPr id="1740370762" name=""/>
          <p:cNvCxnSpPr>
            <a:stCxn id="1042978421" idx="3"/>
            <a:endCxn id="56797169" idx="1"/>
          </p:cNvCxnSpPr>
          <p:nvPr/>
        </p:nvCxnSpPr>
        <p:spPr bwMode="auto">
          <a:xfrm>
            <a:off x="9277350" y="4333875"/>
            <a:ext cx="209550" cy="0"/>
          </a:xfrm>
          <a:prstGeom prst="straightConnector1">
            <a:avLst/>
          </a:prstGeom>
          <a:ln w="19050">
            <a:solidFill>
              <a:srgbClr val="2A9D8F"/>
            </a:solidFill>
            <a:prstDash val="solid"/>
            <a:tailEnd type="arrow" w="sm" len="sm"/>
          </a:ln>
        </p:spPr>
      </p:cxnSp>
      <p:sp>
        <p:nvSpPr>
          <p:cNvPr id="1663966756" name=""/>
          <p:cNvSpPr>
            <a:spLocks noGrp="1"/>
          </p:cNvSpPr>
          <p:nvPr/>
        </p:nvSpPr>
        <p:spPr bwMode="auto">
          <a:xfrm>
            <a:off x="723900" y="4972050"/>
            <a:ext cx="10744200" cy="266700"/>
          </a:xfrm>
          <a:prstGeom prst="rect">
            <a:avLst/>
          </a:prstGeom>
          <a:noFill/>
          <a:ln w="0">
            <a:noFill/>
            <a:prstDash val="solid"/>
          </a:ln>
        </p:spPr>
        <p:txBody>
          <a:bodyPr wrap="square" lIns="38100" tIns="19050" rIns="38100" bIns="19050" anchor="t">
            <a:normAutofit fontScale="90703"/>
          </a:bodyPr>
          <a:lstStyle/>
          <a:p>
            <a:pPr algn="ctr">
              <a:lnSpc>
                <a:spcPct val="105000"/>
              </a:lnSpc>
              <a:buNone/>
              <a:defRPr sz="1600" b="1" i="0">
                <a:solidFill>
                  <a:srgbClr val="102A43"/>
                </a:solidFill>
              </a:defRPr>
            </a:pPr>
            <a:r>
              <a:rPr sz="1600" b="1" i="0">
                <a:solidFill>
                  <a:srgbClr val="102A43"/>
                </a:solidFill>
              </a:rPr>
              <a:t>Step 1 → Aᵢ and Step 2 → Bᵢ in both orientations</a:t>
            </a:r>
            <a:endParaRPr/>
          </a:p>
        </p:txBody>
      </p:sp>
      <p:sp>
        <p:nvSpPr>
          <p:cNvPr id="415757773" name=""/>
          <p:cNvSpPr>
            <a:spLocks noGrp="1"/>
          </p:cNvSpPr>
          <p:nvPr/>
        </p:nvSpPr>
        <p:spPr bwMode="auto">
          <a:xfrm>
            <a:off x="723900" y="5257800"/>
            <a:ext cx="10744200" cy="266700"/>
          </a:xfrm>
          <a:prstGeom prst="rect">
            <a:avLst/>
          </a:prstGeom>
          <a:noFill/>
          <a:ln w="0">
            <a:noFill/>
            <a:prstDash val="solid"/>
          </a:ln>
        </p:spPr>
        <p:txBody>
          <a:bodyPr wrap="square" lIns="38100" tIns="19050" rIns="38100" bIns="19050" anchor="t">
            <a:normAutofit fontScale="95238"/>
          </a:bodyPr>
          <a:lstStyle/>
          <a:p>
            <a:pPr algn="ctr">
              <a:lnSpc>
                <a:spcPct val="105000"/>
              </a:lnSpc>
              <a:buNone/>
              <a:defRPr sz="1500" b="0" i="0">
                <a:solidFill>
                  <a:srgbClr val="52606D"/>
                </a:solidFill>
              </a:defRPr>
            </a:pPr>
            <a:r>
              <a:rPr sz="1500" b="0" i="0">
                <a:solidFill>
                  <a:srgbClr val="52606D"/>
                </a:solidFill>
              </a:rPr>
              <a:t>Increasing: 3(a) uses Aᵢ, 3(b) uses Bᵢ. Decreasing swaps these uses and reflects left/right operations.</a:t>
            </a:r>
            <a:endParaRPr/>
          </a:p>
        </p:txBody>
      </p:sp>
      <p:sp>
        <p:nvSpPr>
          <p:cNvPr id="1007990346" name=""/>
          <p:cNvSpPr>
            <a:spLocks noGrp="1"/>
          </p:cNvSpPr>
          <p:nvPr/>
        </p:nvSpPr>
        <p:spPr bwMode="auto">
          <a:xfrm>
            <a:off x="723900" y="5657850"/>
            <a:ext cx="10744200" cy="247650"/>
          </a:xfrm>
          <a:prstGeom prst="rect">
            <a:avLst/>
          </a:prstGeom>
          <a:noFill/>
          <a:ln w="0">
            <a:noFill/>
            <a:prstDash val="solid"/>
          </a:ln>
        </p:spPr>
        <p:txBody>
          <a:bodyPr wrap="square" lIns="38100" tIns="19050" rIns="38100" bIns="19050" anchor="t">
            <a:normAutofit fontScale="91896"/>
          </a:bodyPr>
          <a:lstStyle/>
          <a:p>
            <a:pPr algn="l">
              <a:lnSpc>
                <a:spcPct val="105000"/>
              </a:lnSpc>
              <a:buNone/>
              <a:defRPr sz="1450" b="0" i="0">
                <a:solidFill>
                  <a:srgbClr val="7B8794"/>
                </a:solidFill>
              </a:defRPr>
            </a:pPr>
            <a:r>
              <a:rPr sz="1450" b="0" i="0">
                <a:solidFill>
                  <a:srgbClr val="7B8794"/>
                </a:solidFill>
              </a:rPr>
              <a:t>How the reconstruction is justified (categories, not algorithm stages)</a:t>
            </a:r>
            <a:endParaRPr/>
          </a:p>
        </p:txBody>
      </p:sp>
      <p:sp>
        <p:nvSpPr>
          <p:cNvPr id="1130878046" name=""/>
          <p:cNvSpPr>
            <a:spLocks noGrp="1"/>
          </p:cNvSpPr>
          <p:nvPr/>
        </p:nvSpPr>
        <p:spPr bwMode="auto">
          <a:xfrm>
            <a:off x="723900" y="6000750"/>
            <a:ext cx="3429000" cy="381000"/>
          </a:xfrm>
          <a:prstGeom prst="roundRect">
            <a:avLst>
              <a:gd name="adj" fmla="val 15000"/>
            </a:avLst>
          </a:prstGeom>
          <a:solidFill>
            <a:srgbClr val="EAF1F8"/>
          </a:solidFill>
          <a:ln w="11430">
            <a:solidFill>
              <a:srgbClr val="102A43"/>
            </a:solidFill>
            <a:prstDash val="solid"/>
          </a:ln>
        </p:spPr>
      </p:sp>
      <p:sp>
        <p:nvSpPr>
          <p:cNvPr id="563800143" name=""/>
          <p:cNvSpPr>
            <a:spLocks noGrp="1"/>
          </p:cNvSpPr>
          <p:nvPr/>
        </p:nvSpPr>
        <p:spPr bwMode="auto">
          <a:xfrm>
            <a:off x="800100" y="6038850"/>
            <a:ext cx="3276600" cy="285750"/>
          </a:xfrm>
          <a:prstGeom prst="rect">
            <a:avLst/>
          </a:prstGeom>
          <a:noFill/>
          <a:ln w="0">
            <a:noFill/>
            <a:prstDash val="solid"/>
          </a:ln>
        </p:spPr>
        <p:txBody>
          <a:bodyPr wrap="square" lIns="38100" tIns="19050" rIns="38100" bIns="19050" anchor="t">
            <a:normAutofit fontScale="98261"/>
          </a:bodyPr>
          <a:lstStyle/>
          <a:p>
            <a:pPr algn="ctr">
              <a:lnSpc>
                <a:spcPct val="105000"/>
              </a:lnSpc>
              <a:buNone/>
              <a:defRPr sz="1600" b="1" i="0">
                <a:solidFill>
                  <a:srgbClr val="102A43"/>
                </a:solidFill>
              </a:defRPr>
            </a:pPr>
            <a:r>
              <a:rPr sz="1600" b="1" i="0">
                <a:solidFill>
                  <a:srgbClr val="102A43"/>
                </a:solidFill>
              </a:rPr>
              <a:t>Explicit source rules</a:t>
            </a:r>
            <a:endParaRPr/>
          </a:p>
        </p:txBody>
      </p:sp>
      <p:sp>
        <p:nvSpPr>
          <p:cNvPr id="1979268956" name=""/>
          <p:cNvSpPr>
            <a:spLocks noGrp="1"/>
          </p:cNvSpPr>
          <p:nvPr/>
        </p:nvSpPr>
        <p:spPr bwMode="auto">
          <a:xfrm>
            <a:off x="4381500" y="6000750"/>
            <a:ext cx="3429000" cy="381000"/>
          </a:xfrm>
          <a:prstGeom prst="roundRect">
            <a:avLst>
              <a:gd name="adj" fmla="val 15000"/>
            </a:avLst>
          </a:prstGeom>
          <a:solidFill>
            <a:srgbClr val="E8F5F3"/>
          </a:solidFill>
          <a:ln w="11430">
            <a:solidFill>
              <a:srgbClr val="2A9D8F"/>
            </a:solidFill>
            <a:prstDash val="solid"/>
          </a:ln>
        </p:spPr>
      </p:sp>
      <p:sp>
        <p:nvSpPr>
          <p:cNvPr id="2117367825" name=""/>
          <p:cNvSpPr>
            <a:spLocks noGrp="1"/>
          </p:cNvSpPr>
          <p:nvPr/>
        </p:nvSpPr>
        <p:spPr bwMode="auto">
          <a:xfrm>
            <a:off x="4457700" y="6038850"/>
            <a:ext cx="3276600" cy="285750"/>
          </a:xfrm>
          <a:prstGeom prst="rect">
            <a:avLst/>
          </a:prstGeom>
          <a:noFill/>
          <a:ln w="0">
            <a:noFill/>
            <a:prstDash val="solid"/>
          </a:ln>
        </p:spPr>
        <p:txBody>
          <a:bodyPr wrap="square" lIns="38100" tIns="19050" rIns="38100" bIns="19050" anchor="t">
            <a:normAutofit fontScale="98261"/>
          </a:bodyPr>
          <a:lstStyle/>
          <a:p>
            <a:pPr algn="ctr">
              <a:lnSpc>
                <a:spcPct val="105000"/>
              </a:lnSpc>
              <a:buNone/>
              <a:defRPr sz="1600" b="1" i="0">
                <a:solidFill>
                  <a:srgbClr val="2A9D8F"/>
                </a:solidFill>
              </a:defRPr>
            </a:pPr>
            <a:r>
              <a:rPr sz="1600" b="1" i="0">
                <a:solidFill>
                  <a:srgbClr val="2A9D8F"/>
                </a:solidFill>
              </a:rPr>
              <a:t>Symmetric reconstruction</a:t>
            </a:r>
            <a:endParaRPr/>
          </a:p>
        </p:txBody>
      </p:sp>
      <p:sp>
        <p:nvSpPr>
          <p:cNvPr id="349905605" name=""/>
          <p:cNvSpPr>
            <a:spLocks noGrp="1"/>
          </p:cNvSpPr>
          <p:nvPr/>
        </p:nvSpPr>
        <p:spPr bwMode="auto">
          <a:xfrm>
            <a:off x="8039100" y="6000750"/>
            <a:ext cx="3429000" cy="381000"/>
          </a:xfrm>
          <a:prstGeom prst="roundRect">
            <a:avLst>
              <a:gd name="adj" fmla="val 15000"/>
            </a:avLst>
          </a:prstGeom>
          <a:solidFill>
            <a:srgbClr val="FCEEEA"/>
          </a:solidFill>
          <a:ln w="11430">
            <a:solidFill>
              <a:srgbClr val="E76F51"/>
            </a:solidFill>
            <a:prstDash val="solid"/>
          </a:ln>
        </p:spPr>
      </p:sp>
      <p:sp>
        <p:nvSpPr>
          <p:cNvPr id="646322380" name=""/>
          <p:cNvSpPr>
            <a:spLocks noGrp="1"/>
          </p:cNvSpPr>
          <p:nvPr/>
        </p:nvSpPr>
        <p:spPr bwMode="auto">
          <a:xfrm>
            <a:off x="8115300" y="6038850"/>
            <a:ext cx="3276600" cy="285750"/>
          </a:xfrm>
          <a:prstGeom prst="rect">
            <a:avLst/>
          </a:prstGeom>
          <a:noFill/>
          <a:ln w="0">
            <a:noFill/>
            <a:prstDash val="solid"/>
          </a:ln>
        </p:spPr>
        <p:txBody>
          <a:bodyPr wrap="square" lIns="38100" tIns="19050" rIns="38100" bIns="19050" anchor="t">
            <a:normAutofit fontScale="98261"/>
          </a:bodyPr>
          <a:lstStyle/>
          <a:p>
            <a:pPr algn="ctr">
              <a:lnSpc>
                <a:spcPct val="105000"/>
              </a:lnSpc>
              <a:buNone/>
              <a:defRPr sz="1600" b="1" i="0">
                <a:solidFill>
                  <a:srgbClr val="E76F51"/>
                </a:solidFill>
              </a:defRPr>
            </a:pPr>
            <a:r>
              <a:rPr sz="1600" b="1" i="0">
                <a:solidFill>
                  <a:srgbClr val="E76F51"/>
                </a:solidFill>
              </a:rPr>
              <a:t>Executable clarifications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442383965"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RECONSTRUCTION ISSUE I</a:t>
            </a:r>
            <a:endParaRPr/>
          </a:p>
        </p:txBody>
      </p:sp>
      <p:sp>
        <p:nvSpPr>
          <p:cNvPr id="1086078024"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From S₃ to S₄: the geometric insertion anchor</a:t>
            </a:r>
            <a:endParaRPr/>
          </a:p>
        </p:txBody>
      </p:sp>
      <p:sp>
        <p:nvSpPr>
          <p:cNvPr id="194111148" name=""/>
          <p:cNvSpPr>
            <a:spLocks noGrp="1"/>
          </p:cNvSpPr>
          <p:nvPr/>
        </p:nvSpPr>
        <p:spPr bwMode="auto">
          <a:xfrm>
            <a:off x="609600" y="1085850"/>
            <a:ext cx="10972800" cy="9525"/>
          </a:xfrm>
          <a:prstGeom prst="line">
            <a:avLst/>
          </a:prstGeom>
          <a:noFill/>
          <a:ln w="28575">
            <a:solidFill>
              <a:srgbClr val="2A9D8F"/>
            </a:solidFill>
            <a:prstDash val="solid"/>
          </a:ln>
        </p:spPr>
      </p:sp>
      <p:sp>
        <p:nvSpPr>
          <p:cNvPr id="1585569090" name=""/>
          <p:cNvSpPr>
            <a:spLocks noGrp="1"/>
          </p:cNvSpPr>
          <p:nvPr/>
        </p:nvSpPr>
        <p:spPr bwMode="auto">
          <a:xfrm>
            <a:off x="609600" y="6477000"/>
            <a:ext cx="10972800" cy="9525"/>
          </a:xfrm>
          <a:prstGeom prst="line">
            <a:avLst/>
          </a:prstGeom>
          <a:noFill/>
          <a:ln w="9525">
            <a:solidFill>
              <a:srgbClr val="D9E2EC"/>
            </a:solidFill>
            <a:prstDash val="solid"/>
          </a:ln>
        </p:spPr>
      </p:sp>
      <p:sp>
        <p:nvSpPr>
          <p:cNvPr id="1496210738"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934622186"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8 / 16</a:t>
            </a:r>
            <a:endParaRPr/>
          </a:p>
        </p:txBody>
      </p:sp>
      <p:sp>
        <p:nvSpPr>
          <p:cNvPr id="1117523687" name=""/>
          <p:cNvSpPr>
            <a:spLocks noGrp="1"/>
          </p:cNvSpPr>
          <p:nvPr/>
        </p:nvSpPr>
        <p:spPr bwMode="auto">
          <a:xfrm>
            <a:off x="723900" y="1314450"/>
            <a:ext cx="10744200" cy="323850"/>
          </a:xfrm>
          <a:prstGeom prst="rect">
            <a:avLst/>
          </a:prstGeom>
          <a:noFill/>
          <a:ln w="0">
            <a:noFill/>
            <a:prstDash val="solid"/>
          </a:ln>
        </p:spPr>
        <p:txBody>
          <a:bodyPr wrap="square" lIns="38100" tIns="19050" rIns="38100" bIns="19050" anchor="t">
            <a:normAutofit fontScale="95238"/>
          </a:bodyPr>
          <a:lstStyle/>
          <a:p>
            <a:pPr algn="l">
              <a:lnSpc>
                <a:spcPct val="105000"/>
              </a:lnSpc>
              <a:buNone/>
              <a:defRPr sz="1900" b="1" i="0">
                <a:solidFill>
                  <a:srgbClr val="102A43"/>
                </a:solidFill>
              </a:defRPr>
            </a:pPr>
            <a:r>
              <a:rPr sz="1900" b="1" i="0">
                <a:solidFill>
                  <a:srgbClr val="102A43"/>
                </a:solidFill>
              </a:rPr>
              <a:t>Input in curve order: (z₁, z₂, z₃, z₄) = (3, 2, 1, 4)</a:t>
            </a:r>
            <a:endParaRPr/>
          </a:p>
        </p:txBody>
      </p:sp>
      <p:sp>
        <p:nvSpPr>
          <p:cNvPr id="526919034" name=""/>
          <p:cNvSpPr>
            <a:spLocks noGrp="1"/>
          </p:cNvSpPr>
          <p:nvPr/>
        </p:nvSpPr>
        <p:spPr bwMode="auto">
          <a:xfrm>
            <a:off x="723900" y="1790700"/>
            <a:ext cx="6572250" cy="1066800"/>
          </a:xfrm>
          <a:prstGeom prst="roundRect">
            <a:avLst>
              <a:gd name="adj" fmla="val 5357"/>
            </a:avLst>
          </a:prstGeom>
          <a:solidFill>
            <a:srgbClr val="EAF1F8"/>
          </a:solidFill>
          <a:ln w="11430">
            <a:solidFill>
              <a:srgbClr val="52606D"/>
            </a:solidFill>
            <a:prstDash val="solid"/>
          </a:ln>
        </p:spPr>
      </p:sp>
      <p:sp>
        <p:nvSpPr>
          <p:cNvPr id="414413177" name=""/>
          <p:cNvSpPr>
            <a:spLocks noGrp="1"/>
          </p:cNvSpPr>
          <p:nvPr/>
        </p:nvSpPr>
        <p:spPr bwMode="auto">
          <a:xfrm>
            <a:off x="876299" y="1885950"/>
            <a:ext cx="6267450" cy="3429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900" b="1" i="0">
                <a:solidFill>
                  <a:srgbClr val="102A43"/>
                </a:solidFill>
              </a:defRPr>
            </a:pPr>
            <a:r>
              <a:rPr sz="1900" b="1" i="0">
                <a:solidFill>
                  <a:srgbClr val="102A43"/>
                </a:solidFill>
              </a:rPr>
              <a:t>After initialization: S₃ = [1, 2, 3]</a:t>
            </a:r>
            <a:endParaRPr/>
          </a:p>
        </p:txBody>
      </p:sp>
      <p:sp>
        <p:nvSpPr>
          <p:cNvPr id="504142875" name=""/>
          <p:cNvSpPr>
            <a:spLocks noGrp="1"/>
          </p:cNvSpPr>
          <p:nvPr/>
        </p:nvSpPr>
        <p:spPr bwMode="auto">
          <a:xfrm>
            <a:off x="876299" y="2381250"/>
            <a:ext cx="6267450" cy="3048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650" b="0" i="0">
                <a:solidFill>
                  <a:srgbClr val="52606D"/>
                </a:solidFill>
              </a:defRPr>
            </a:pPr>
            <a:r>
              <a:rPr sz="1650" b="0" i="0">
                <a:solidFill>
                  <a:srgbClr val="52606D"/>
                </a:solidFill>
              </a:rPr>
              <a:t>Point IDs: [z₃, z₂, z₁]. Curve labels stay unchanged.</a:t>
            </a:r>
            <a:endParaRPr/>
          </a:p>
        </p:txBody>
      </p:sp>
      <p:sp>
        <p:nvSpPr>
          <p:cNvPr id="521753318" name=""/>
          <p:cNvSpPr>
            <a:spLocks noGrp="1"/>
          </p:cNvSpPr>
          <p:nvPr/>
        </p:nvSpPr>
        <p:spPr bwMode="auto">
          <a:xfrm>
            <a:off x="7524750" y="1790700"/>
            <a:ext cx="3943350" cy="1066800"/>
          </a:xfrm>
          <a:prstGeom prst="roundRect">
            <a:avLst>
              <a:gd name="adj" fmla="val 5357"/>
            </a:avLst>
          </a:prstGeom>
          <a:solidFill>
            <a:srgbClr val="E8F5F3"/>
          </a:solidFill>
          <a:ln w="11430">
            <a:solidFill>
              <a:srgbClr val="2A9D8F"/>
            </a:solidFill>
            <a:prstDash val="solid"/>
          </a:ln>
        </p:spPr>
      </p:sp>
      <p:sp>
        <p:nvSpPr>
          <p:cNvPr id="571486841" name=""/>
          <p:cNvSpPr>
            <a:spLocks noGrp="1"/>
          </p:cNvSpPr>
          <p:nvPr/>
        </p:nvSpPr>
        <p:spPr bwMode="auto">
          <a:xfrm>
            <a:off x="7677150" y="1885950"/>
            <a:ext cx="3638550" cy="3429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900" b="1" i="0">
                <a:solidFill>
                  <a:srgbClr val="2A9D8F"/>
                </a:solidFill>
              </a:defRPr>
            </a:pPr>
            <a:r>
              <a:rPr sz="1900" b="1" i="0">
                <a:solidFill>
                  <a:srgbClr val="2A9D8F"/>
                </a:solidFill>
              </a:rPr>
              <a:t>Now process z₄ = 4</a:t>
            </a:r>
            <a:endParaRPr/>
          </a:p>
        </p:txBody>
      </p:sp>
      <p:sp>
        <p:nvSpPr>
          <p:cNvPr id="236685148" name=""/>
          <p:cNvSpPr>
            <a:spLocks noGrp="1"/>
          </p:cNvSpPr>
          <p:nvPr/>
        </p:nvSpPr>
        <p:spPr bwMode="auto">
          <a:xfrm>
            <a:off x="7677150" y="2381250"/>
            <a:ext cx="3638550" cy="3048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650" b="0" i="0">
                <a:solidFill>
                  <a:srgbClr val="243B53"/>
                </a:solidFill>
              </a:defRPr>
            </a:pPr>
            <a:r>
              <a:rPr sz="1650" b="0" i="0">
                <a:solidFill>
                  <a:srgbClr val="243B53"/>
                </a:solidFill>
              </a:rPr>
              <a:t>z₃ = 1 → z₄ = 4: increasing</a:t>
            </a:r>
            <a:endParaRPr/>
          </a:p>
        </p:txBody>
      </p:sp>
      <p:sp>
        <p:nvSpPr>
          <p:cNvPr id="1371503844" name=""/>
          <p:cNvSpPr>
            <a:spLocks noGrp="1"/>
          </p:cNvSpPr>
          <p:nvPr/>
        </p:nvSpPr>
        <p:spPr bwMode="auto">
          <a:xfrm>
            <a:off x="723900" y="3086100"/>
            <a:ext cx="2305050" cy="3048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650" b="1" i="0">
                <a:solidFill>
                  <a:srgbClr val="102A43"/>
                </a:solidFill>
              </a:defRPr>
            </a:pPr>
            <a:r>
              <a:rPr sz="1650" b="1" i="0">
                <a:solidFill>
                  <a:srgbClr val="102A43"/>
                </a:solidFill>
              </a:rPr>
              <a:t>After Step 3(b)</a:t>
            </a:r>
            <a:endParaRPr/>
          </a:p>
        </p:txBody>
      </p:sp>
      <p:sp>
        <p:nvSpPr>
          <p:cNvPr id="729575444" name=""/>
          <p:cNvSpPr>
            <a:spLocks noGrp="1"/>
          </p:cNvSpPr>
          <p:nvPr/>
        </p:nvSpPr>
        <p:spPr bwMode="auto">
          <a:xfrm>
            <a:off x="3048000" y="3086100"/>
            <a:ext cx="4000500" cy="3048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650" b="1" i="0">
                <a:solidFill>
                  <a:srgbClr val="2A9D8F"/>
                </a:solidFill>
              </a:defRPr>
            </a:pPr>
            <a:r>
              <a:rPr sz="1650" b="1" i="0">
                <a:solidFill>
                  <a:srgbClr val="2A9D8F"/>
                </a:solidFill>
              </a:rPr>
              <a:t>New upper P₄ = (z₃, z₄) = (1, 4)</a:t>
            </a:r>
            <a:endParaRPr/>
          </a:p>
        </p:txBody>
      </p:sp>
      <p:sp>
        <p:nvSpPr>
          <p:cNvPr id="34135513" name=""/>
          <p:cNvSpPr>
            <a:spLocks noGrp="1"/>
          </p:cNvSpPr>
          <p:nvPr/>
        </p:nvSpPr>
        <p:spPr bwMode="auto">
          <a:xfrm>
            <a:off x="7086600" y="3086100"/>
            <a:ext cx="1009650" cy="3048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650" b="0" i="0">
                <a:solidFill>
                  <a:srgbClr val="2A9D8F"/>
                </a:solidFill>
              </a:defRPr>
            </a:pPr>
            <a:r>
              <a:rPr sz="1650" b="0" i="0">
                <a:solidFill>
                  <a:srgbClr val="2A9D8F"/>
                </a:solidFill>
              </a:rPr>
              <a:t>→ child</a:t>
            </a:r>
            <a:endParaRPr/>
          </a:p>
        </p:txBody>
      </p:sp>
      <p:sp>
        <p:nvSpPr>
          <p:cNvPr id="280400984" name=""/>
          <p:cNvSpPr>
            <a:spLocks noGrp="1"/>
          </p:cNvSpPr>
          <p:nvPr/>
        </p:nvSpPr>
        <p:spPr bwMode="auto">
          <a:xfrm>
            <a:off x="8096250" y="3086100"/>
            <a:ext cx="3371850" cy="3048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600" b="1" i="0">
                <a:solidFill>
                  <a:srgbClr val="102A43"/>
                </a:solidFill>
              </a:defRPr>
            </a:pPr>
            <a:r>
              <a:rPr sz="1600" b="1" i="0">
                <a:solidFill>
                  <a:srgbClr val="102A43"/>
                </a:solidFill>
              </a:rPr>
              <a:t>Upper P₂ = (z₁, z₂) = (3, 2)</a:t>
            </a:r>
            <a:endParaRPr/>
          </a:p>
        </p:txBody>
      </p:sp>
      <p:sp>
        <p:nvSpPr>
          <p:cNvPr id="1961139177" name=""/>
          <p:cNvSpPr>
            <a:spLocks noGrp="1"/>
          </p:cNvSpPr>
          <p:nvPr/>
        </p:nvSpPr>
        <p:spPr bwMode="auto">
          <a:xfrm>
            <a:off x="723900" y="3552825"/>
            <a:ext cx="10744200" cy="304800"/>
          </a:xfrm>
          <a:prstGeom prst="rect">
            <a:avLst/>
          </a:prstGeom>
          <a:noFill/>
          <a:ln w="0">
            <a:noFill/>
            <a:prstDash val="solid"/>
          </a:ln>
        </p:spPr>
        <p:txBody>
          <a:bodyPr wrap="square" lIns="38100" tIns="19050" rIns="38100" bIns="19050" anchor="t">
            <a:normAutofit fontScale="96618"/>
          </a:bodyPr>
          <a:lstStyle/>
          <a:p>
            <a:pPr algn="ctr">
              <a:lnSpc>
                <a:spcPct val="105000"/>
              </a:lnSpc>
              <a:buNone/>
              <a:defRPr sz="1750" b="1" i="0">
                <a:solidFill>
                  <a:srgbClr val="102A43"/>
                </a:solidFill>
              </a:defRPr>
            </a:pPr>
            <a:r>
              <a:rPr sz="1750" b="1" i="0">
                <a:solidFill>
                  <a:srgbClr val="102A43"/>
                </a:solidFill>
              </a:rPr>
              <a:t>P₄ has child P₂. In this increasing update, use its geometric right endpoint.</a:t>
            </a:r>
            <a:endParaRPr/>
          </a:p>
        </p:txBody>
      </p:sp>
      <p:sp>
        <p:nvSpPr>
          <p:cNvPr id="296224664" name=""/>
          <p:cNvSpPr>
            <a:spLocks noGrp="1"/>
          </p:cNvSpPr>
          <p:nvPr/>
        </p:nvSpPr>
        <p:spPr bwMode="auto">
          <a:xfrm>
            <a:off x="723900" y="4067175"/>
            <a:ext cx="5257800" cy="1524000"/>
          </a:xfrm>
          <a:prstGeom prst="roundRect">
            <a:avLst>
              <a:gd name="adj" fmla="val 5000"/>
            </a:avLst>
          </a:prstGeom>
          <a:solidFill>
            <a:srgbClr val="FCEEEA"/>
          </a:solidFill>
          <a:ln w="19050">
            <a:solidFill>
              <a:srgbClr val="E76F51"/>
            </a:solidFill>
            <a:prstDash val="solid"/>
          </a:ln>
        </p:spPr>
      </p:sp>
      <p:sp>
        <p:nvSpPr>
          <p:cNvPr id="1367125159" name=""/>
          <p:cNvSpPr>
            <a:spLocks noGrp="1"/>
          </p:cNvSpPr>
          <p:nvPr/>
        </p:nvSpPr>
        <p:spPr bwMode="auto">
          <a:xfrm>
            <a:off x="876299" y="4162425"/>
            <a:ext cx="4953000" cy="3238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750" b="1" i="0">
                <a:solidFill>
                  <a:srgbClr val="E76F51"/>
                </a:solidFill>
              </a:defRPr>
            </a:pPr>
            <a:r>
              <a:rPr sz="1750" b="1" i="0">
                <a:solidFill>
                  <a:srgbClr val="E76F51"/>
                </a:solidFill>
              </a:rPr>
              <a:t>Second stored endpoint of P₂: 2</a:t>
            </a:r>
            <a:endParaRPr/>
          </a:p>
        </p:txBody>
      </p:sp>
      <p:sp>
        <p:nvSpPr>
          <p:cNvPr id="1351608313" name=""/>
          <p:cNvSpPr>
            <a:spLocks noGrp="1"/>
          </p:cNvSpPr>
          <p:nvPr/>
        </p:nvSpPr>
        <p:spPr bwMode="auto">
          <a:xfrm>
            <a:off x="876299" y="4610100"/>
            <a:ext cx="4953000" cy="304800"/>
          </a:xfrm>
          <a:prstGeom prst="rect">
            <a:avLst/>
          </a:prstGeom>
          <a:noFill/>
          <a:ln w="0">
            <a:noFill/>
            <a:prstDash val="solid"/>
          </a:ln>
        </p:spPr>
        <p:txBody>
          <a:bodyPr wrap="square" lIns="38100" tIns="19050" rIns="38100" bIns="19050" anchor="t">
            <a:normAutofit fontScale="96618"/>
          </a:bodyPr>
          <a:lstStyle/>
          <a:p>
            <a:pPr algn="l">
              <a:lnSpc>
                <a:spcPct val="105000"/>
              </a:lnSpc>
              <a:buNone/>
              <a:defRPr sz="1750" b="0" i="0">
                <a:solidFill>
                  <a:srgbClr val="243B53"/>
                </a:solidFill>
              </a:defRPr>
            </a:pPr>
            <a:r>
              <a:rPr sz="1750" b="0" i="0">
                <a:solidFill>
                  <a:srgbClr val="243B53"/>
                </a:solidFill>
              </a:rPr>
              <a:t>Insert 4 immediately after 2</a:t>
            </a:r>
            <a:endParaRPr/>
          </a:p>
        </p:txBody>
      </p:sp>
      <p:sp>
        <p:nvSpPr>
          <p:cNvPr id="1337874200" name=""/>
          <p:cNvSpPr>
            <a:spLocks noGrp="1"/>
          </p:cNvSpPr>
          <p:nvPr/>
        </p:nvSpPr>
        <p:spPr bwMode="auto">
          <a:xfrm>
            <a:off x="876299" y="5095875"/>
            <a:ext cx="4953000" cy="3429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800" b="1" i="0">
                <a:solidFill>
                  <a:srgbClr val="E76F51"/>
                </a:solidFill>
              </a:defRPr>
            </a:pPr>
            <a:r>
              <a:rPr sz="1800" b="1" i="0">
                <a:solidFill>
                  <a:srgbClr val="E76F51"/>
                </a:solidFill>
              </a:rPr>
              <a:t>[1, 2, 4, 3]  Incorrect (illustration)</a:t>
            </a:r>
            <a:endParaRPr/>
          </a:p>
        </p:txBody>
      </p:sp>
      <p:sp>
        <p:nvSpPr>
          <p:cNvPr id="1491962178" name=""/>
          <p:cNvSpPr>
            <a:spLocks noGrp="1"/>
          </p:cNvSpPr>
          <p:nvPr/>
        </p:nvSpPr>
        <p:spPr bwMode="auto">
          <a:xfrm>
            <a:off x="6210300" y="4067175"/>
            <a:ext cx="5257800" cy="1524000"/>
          </a:xfrm>
          <a:prstGeom prst="roundRect">
            <a:avLst>
              <a:gd name="adj" fmla="val 5000"/>
            </a:avLst>
          </a:prstGeom>
          <a:solidFill>
            <a:srgbClr val="E8F5F3"/>
          </a:solidFill>
          <a:ln w="19050">
            <a:solidFill>
              <a:srgbClr val="2A9D8F"/>
            </a:solidFill>
            <a:prstDash val="solid"/>
          </a:ln>
        </p:spPr>
      </p:sp>
      <p:sp>
        <p:nvSpPr>
          <p:cNvPr id="231438814" name=""/>
          <p:cNvSpPr>
            <a:spLocks noGrp="1"/>
          </p:cNvSpPr>
          <p:nvPr/>
        </p:nvSpPr>
        <p:spPr bwMode="auto">
          <a:xfrm>
            <a:off x="6362700" y="4162425"/>
            <a:ext cx="4953000" cy="3238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750" b="1" i="0">
                <a:solidFill>
                  <a:srgbClr val="2A9D8F"/>
                </a:solidFill>
              </a:defRPr>
            </a:pPr>
            <a:r>
              <a:rPr sz="1750" b="1" i="0">
                <a:solidFill>
                  <a:srgbClr val="2A9D8F"/>
                </a:solidFill>
              </a:rPr>
              <a:t>Geometric right endpoint of P₂: 3</a:t>
            </a:r>
            <a:endParaRPr/>
          </a:p>
        </p:txBody>
      </p:sp>
      <p:sp>
        <p:nvSpPr>
          <p:cNvPr id="626735996" name=""/>
          <p:cNvSpPr>
            <a:spLocks noGrp="1"/>
          </p:cNvSpPr>
          <p:nvPr/>
        </p:nvSpPr>
        <p:spPr bwMode="auto">
          <a:xfrm>
            <a:off x="6362700" y="4610100"/>
            <a:ext cx="4953000" cy="304800"/>
          </a:xfrm>
          <a:prstGeom prst="rect">
            <a:avLst/>
          </a:prstGeom>
          <a:noFill/>
          <a:ln w="0">
            <a:noFill/>
            <a:prstDash val="solid"/>
          </a:ln>
        </p:spPr>
        <p:txBody>
          <a:bodyPr wrap="square" lIns="38100" tIns="19050" rIns="38100" bIns="19050" anchor="t">
            <a:normAutofit fontScale="96618"/>
          </a:bodyPr>
          <a:lstStyle/>
          <a:p>
            <a:pPr algn="l">
              <a:lnSpc>
                <a:spcPct val="105000"/>
              </a:lnSpc>
              <a:buNone/>
              <a:defRPr sz="1750" b="0" i="0">
                <a:solidFill>
                  <a:srgbClr val="243B53"/>
                </a:solidFill>
              </a:defRPr>
            </a:pPr>
            <a:r>
              <a:rPr sz="1750" b="0" i="0">
                <a:solidFill>
                  <a:srgbClr val="243B53"/>
                </a:solidFill>
              </a:rPr>
              <a:t>Insert 4 immediately after 3</a:t>
            </a:r>
            <a:endParaRPr/>
          </a:p>
        </p:txBody>
      </p:sp>
      <p:sp>
        <p:nvSpPr>
          <p:cNvPr id="1694295250" name=""/>
          <p:cNvSpPr>
            <a:spLocks noGrp="1"/>
          </p:cNvSpPr>
          <p:nvPr/>
        </p:nvSpPr>
        <p:spPr bwMode="auto">
          <a:xfrm>
            <a:off x="6362700" y="5095875"/>
            <a:ext cx="4953000" cy="3429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800" b="1" i="0">
                <a:solidFill>
                  <a:srgbClr val="2A9D8F"/>
                </a:solidFill>
              </a:defRPr>
            </a:pPr>
            <a:r>
              <a:rPr sz="1800" b="1" i="0">
                <a:solidFill>
                  <a:srgbClr val="2A9D8F"/>
                </a:solidFill>
              </a:rPr>
              <a:t>[1, 2, 3, 4]  Correct</a:t>
            </a:r>
            <a:endParaRPr/>
          </a:p>
        </p:txBody>
      </p:sp>
      <p:sp>
        <p:nvSpPr>
          <p:cNvPr id="1068026823" name=""/>
          <p:cNvSpPr>
            <a:spLocks noGrp="1"/>
          </p:cNvSpPr>
          <p:nvPr/>
        </p:nvSpPr>
        <p:spPr bwMode="auto">
          <a:xfrm>
            <a:off x="723900" y="5762625"/>
            <a:ext cx="10744200" cy="285750"/>
          </a:xfrm>
          <a:prstGeom prst="rect">
            <a:avLst/>
          </a:prstGeom>
          <a:noFill/>
          <a:ln w="0">
            <a:noFill/>
            <a:prstDash val="solid"/>
          </a:ln>
        </p:spPr>
        <p:txBody>
          <a:bodyPr wrap="square" lIns="38100" tIns="19050" rIns="38100" bIns="19050" anchor="t">
            <a:normAutofit fontScale="93795"/>
          </a:bodyPr>
          <a:lstStyle/>
          <a:p>
            <a:pPr algn="ctr">
              <a:lnSpc>
                <a:spcPct val="105000"/>
              </a:lnSpc>
              <a:buNone/>
              <a:defRPr sz="1650" b="0" i="0">
                <a:solidFill>
                  <a:srgbClr val="102A43"/>
                </a:solidFill>
              </a:defRPr>
            </a:pPr>
            <a:r>
              <a:rPr sz="1650" b="0" i="0">
                <a:solidFill>
                  <a:srgbClr val="102A43"/>
                </a:solidFill>
              </a:rPr>
              <a:t>Here, the anchor is the existing point immediately after which we insert 4.</a:t>
            </a:r>
            <a:endParaRPr/>
          </a:p>
        </p:txBody>
      </p:sp>
      <p:sp>
        <p:nvSpPr>
          <p:cNvPr id="897910026" name=""/>
          <p:cNvSpPr>
            <a:spLocks noGrp="1"/>
          </p:cNvSpPr>
          <p:nvPr/>
        </p:nvSpPr>
        <p:spPr bwMode="auto">
          <a:xfrm>
            <a:off x="723900" y="6134100"/>
            <a:ext cx="10744200" cy="266700"/>
          </a:xfrm>
          <a:prstGeom prst="rect">
            <a:avLst/>
          </a:prstGeom>
          <a:noFill/>
          <a:ln w="0">
            <a:noFill/>
            <a:prstDash val="solid"/>
          </a:ln>
        </p:spPr>
        <p:txBody>
          <a:bodyPr wrap="square" lIns="38100" tIns="19050" rIns="38100" bIns="19050" anchor="t">
            <a:normAutofit fontScale="95238"/>
          </a:bodyPr>
          <a:lstStyle/>
          <a:p>
            <a:pPr algn="ctr">
              <a:lnSpc>
                <a:spcPct val="105000"/>
              </a:lnSpc>
              <a:buNone/>
              <a:defRPr sz="1500" b="0" i="0">
                <a:solidFill>
                  <a:srgbClr val="52606D"/>
                </a:solidFill>
              </a:defRPr>
            </a:pPr>
            <a:r>
              <a:rPr sz="1500" b="0" i="0">
                <a:solidFill>
                  <a:srgbClr val="52606D"/>
                </a:solidFill>
              </a:rPr>
              <a:t>Executable clarification, not a verbatim 1990-paper rule. Stored curve order ≠ geometric order.</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451160286"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RECONSTRUCTION ISSUE II</a:t>
            </a:r>
            <a:endParaRPr/>
          </a:p>
        </p:txBody>
      </p:sp>
      <p:sp>
        <p:nvSpPr>
          <p:cNvPr id="150510512"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Why z₁ needs a separate output-anchor check</a:t>
            </a:r>
            <a:endParaRPr/>
          </a:p>
        </p:txBody>
      </p:sp>
      <p:sp>
        <p:nvSpPr>
          <p:cNvPr id="1996410352" name=""/>
          <p:cNvSpPr>
            <a:spLocks noGrp="1"/>
          </p:cNvSpPr>
          <p:nvPr/>
        </p:nvSpPr>
        <p:spPr bwMode="auto">
          <a:xfrm>
            <a:off x="609600" y="1085850"/>
            <a:ext cx="10972800" cy="9525"/>
          </a:xfrm>
          <a:prstGeom prst="line">
            <a:avLst/>
          </a:prstGeom>
          <a:noFill/>
          <a:ln w="28575">
            <a:solidFill>
              <a:srgbClr val="2A9D8F"/>
            </a:solidFill>
            <a:prstDash val="solid"/>
          </a:ln>
        </p:spPr>
      </p:sp>
      <p:sp>
        <p:nvSpPr>
          <p:cNvPr id="569173514" name=""/>
          <p:cNvSpPr>
            <a:spLocks noGrp="1"/>
          </p:cNvSpPr>
          <p:nvPr/>
        </p:nvSpPr>
        <p:spPr bwMode="auto">
          <a:xfrm>
            <a:off x="609600" y="6477000"/>
            <a:ext cx="10972800" cy="9525"/>
          </a:xfrm>
          <a:prstGeom prst="line">
            <a:avLst/>
          </a:prstGeom>
          <a:noFill/>
          <a:ln w="9525">
            <a:solidFill>
              <a:srgbClr val="D9E2EC"/>
            </a:solidFill>
            <a:prstDash val="solid"/>
          </a:ln>
        </p:spPr>
      </p:sp>
      <p:sp>
        <p:nvSpPr>
          <p:cNvPr id="232334808"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465950510"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9 / 16</a:t>
            </a:r>
            <a:endParaRPr/>
          </a:p>
        </p:txBody>
      </p:sp>
      <p:sp>
        <p:nvSpPr>
          <p:cNvPr id="1763740588" name=""/>
          <p:cNvSpPr>
            <a:spLocks noGrp="1"/>
          </p:cNvSpPr>
          <p:nvPr/>
        </p:nvSpPr>
        <p:spPr bwMode="auto">
          <a:xfrm>
            <a:off x="723900" y="1295400"/>
            <a:ext cx="6667500" cy="3048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650" b="1" i="0">
                <a:solidFill>
                  <a:srgbClr val="102A43"/>
                </a:solidFill>
              </a:defRPr>
            </a:pPr>
            <a:r>
              <a:rPr sz="1650" b="1" i="0">
                <a:solidFill>
                  <a:srgbClr val="102A43"/>
                </a:solidFill>
              </a:rPr>
              <a:t>Input (z₁, …, z₇) = (1, 2, 3, 4, 6, 7, 0)</a:t>
            </a:r>
            <a:endParaRPr/>
          </a:p>
        </p:txBody>
      </p:sp>
      <p:sp>
        <p:nvSpPr>
          <p:cNvPr id="786731608" name=""/>
          <p:cNvSpPr>
            <a:spLocks noGrp="1"/>
          </p:cNvSpPr>
          <p:nvPr/>
        </p:nvSpPr>
        <p:spPr bwMode="auto">
          <a:xfrm>
            <a:off x="7639050" y="1314450"/>
            <a:ext cx="3829050" cy="285750"/>
          </a:xfrm>
          <a:prstGeom prst="rect">
            <a:avLst/>
          </a:prstGeom>
          <a:noFill/>
          <a:ln w="0">
            <a:noFill/>
            <a:prstDash val="solid"/>
          </a:ln>
        </p:spPr>
        <p:txBody>
          <a:bodyPr wrap="square" lIns="38100" tIns="19050" rIns="38100" bIns="19050" anchor="t">
            <a:normAutofit fontScale="98261"/>
          </a:bodyPr>
          <a:lstStyle/>
          <a:p>
            <a:pPr algn="l">
              <a:lnSpc>
                <a:spcPct val="105000"/>
              </a:lnSpc>
              <a:buNone/>
              <a:defRPr sz="1600" b="0" i="0">
                <a:solidFill>
                  <a:srgbClr val="52606D"/>
                </a:solidFill>
              </a:defRPr>
            </a:pPr>
            <a:r>
              <a:rPr sz="1600" b="0" i="0">
                <a:solidFill>
                  <a:srgbClr val="52606D"/>
                </a:solidFill>
              </a:rPr>
              <a:t>S₆ = [1, 2, 3, 4, 6, 7]</a:t>
            </a:r>
            <a:endParaRPr/>
          </a:p>
        </p:txBody>
      </p:sp>
      <p:sp>
        <p:nvSpPr>
          <p:cNvPr id="371276484" name=""/>
          <p:cNvSpPr>
            <a:spLocks noGrp="1"/>
          </p:cNvSpPr>
          <p:nvPr/>
        </p:nvSpPr>
        <p:spPr bwMode="auto">
          <a:xfrm>
            <a:off x="723900" y="1733550"/>
            <a:ext cx="5048250" cy="285750"/>
          </a:xfrm>
          <a:prstGeom prst="rect">
            <a:avLst/>
          </a:prstGeom>
          <a:noFill/>
          <a:ln w="0">
            <a:noFill/>
            <a:prstDash val="solid"/>
          </a:ln>
        </p:spPr>
        <p:txBody>
          <a:bodyPr wrap="square" lIns="38100" tIns="19050" rIns="38100" bIns="19050" anchor="t">
            <a:normAutofit fontScale="93795"/>
          </a:bodyPr>
          <a:lstStyle/>
          <a:p>
            <a:pPr algn="l">
              <a:lnSpc>
                <a:spcPct val="105000"/>
              </a:lnSpc>
              <a:buNone/>
              <a:defRPr sz="1650" b="1" i="0">
                <a:solidFill>
                  <a:srgbClr val="2A9D8F"/>
                </a:solidFill>
              </a:defRPr>
            </a:pPr>
            <a:r>
              <a:rPr sz="1650" b="1" i="0">
                <a:solidFill>
                  <a:srgbClr val="2A9D8F"/>
                </a:solidFill>
              </a:rPr>
              <a:t>i = 7 (odd) → lower family</a:t>
            </a:r>
            <a:endParaRPr/>
          </a:p>
        </p:txBody>
      </p:sp>
      <p:sp>
        <p:nvSpPr>
          <p:cNvPr id="1188510333" name=""/>
          <p:cNvSpPr>
            <a:spLocks noGrp="1"/>
          </p:cNvSpPr>
          <p:nvPr/>
        </p:nvSpPr>
        <p:spPr bwMode="auto">
          <a:xfrm>
            <a:off x="6362700" y="1733550"/>
            <a:ext cx="5105400" cy="285750"/>
          </a:xfrm>
          <a:prstGeom prst="rect">
            <a:avLst/>
          </a:prstGeom>
          <a:noFill/>
          <a:ln w="0">
            <a:noFill/>
            <a:prstDash val="solid"/>
          </a:ln>
        </p:spPr>
        <p:txBody>
          <a:bodyPr wrap="square" lIns="38100" tIns="19050" rIns="38100" bIns="19050" anchor="t">
            <a:normAutofit fontScale="93795"/>
          </a:bodyPr>
          <a:lstStyle/>
          <a:p>
            <a:pPr algn="l">
              <a:lnSpc>
                <a:spcPct val="105000"/>
              </a:lnSpc>
              <a:buNone/>
              <a:defRPr sz="1650" b="1" i="0">
                <a:solidFill>
                  <a:srgbClr val="2A9D8F"/>
                </a:solidFill>
              </a:defRPr>
            </a:pPr>
            <a:r>
              <a:rPr sz="1650" b="1" i="0">
                <a:solidFill>
                  <a:srgbClr val="2A9D8F"/>
                </a:solidFill>
              </a:rPr>
              <a:t>z₇ = 0 &lt; z₆ = 7 → decreasing</a:t>
            </a:r>
            <a:endParaRPr/>
          </a:p>
        </p:txBody>
      </p:sp>
      <p:sp>
        <p:nvSpPr>
          <p:cNvPr id="4542454" name=""/>
          <p:cNvSpPr>
            <a:spLocks noGrp="1"/>
          </p:cNvSpPr>
          <p:nvPr/>
        </p:nvSpPr>
        <p:spPr bwMode="auto">
          <a:xfrm>
            <a:off x="723900" y="2228850"/>
            <a:ext cx="5257800" cy="3048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650" b="1" i="0">
                <a:solidFill>
                  <a:srgbClr val="102A43"/>
                </a:solidFill>
              </a:defRPr>
            </a:pPr>
            <a:r>
              <a:rPr sz="1650" b="1" i="0">
                <a:solidFill>
                  <a:srgbClr val="102A43"/>
                </a:solidFill>
              </a:rPr>
              <a:t>Decreasing: leftmost child → left endpoint</a:t>
            </a:r>
            <a:endParaRPr/>
          </a:p>
        </p:txBody>
      </p:sp>
      <p:sp>
        <p:nvSpPr>
          <p:cNvPr id="1698565963" name=""/>
          <p:cNvSpPr>
            <a:spLocks noGrp="1"/>
          </p:cNvSpPr>
          <p:nvPr/>
        </p:nvSpPr>
        <p:spPr bwMode="auto">
          <a:xfrm>
            <a:off x="2190750" y="2933699"/>
            <a:ext cx="2286000" cy="457200"/>
          </a:xfrm>
          <a:prstGeom prst="roundRect">
            <a:avLst>
              <a:gd name="adj" fmla="val 12500"/>
            </a:avLst>
          </a:prstGeom>
          <a:solidFill>
            <a:srgbClr val="EAF1F8"/>
          </a:solidFill>
          <a:ln w="11430">
            <a:solidFill>
              <a:srgbClr val="102A43"/>
            </a:solidFill>
            <a:prstDash val="solid"/>
          </a:ln>
        </p:spPr>
      </p:sp>
      <p:sp>
        <p:nvSpPr>
          <p:cNvPr id="10302600" name=""/>
          <p:cNvSpPr>
            <a:spLocks noGrp="1"/>
          </p:cNvSpPr>
          <p:nvPr/>
        </p:nvSpPr>
        <p:spPr bwMode="auto">
          <a:xfrm>
            <a:off x="2266950" y="2990850"/>
            <a:ext cx="2133600" cy="34290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900" b="1" i="0">
                <a:solidFill>
                  <a:srgbClr val="102A43"/>
                </a:solidFill>
              </a:defRPr>
            </a:pPr>
            <a:r>
              <a:rPr sz="1900" b="1" i="0">
                <a:solidFill>
                  <a:srgbClr val="102A43"/>
                </a:solidFill>
              </a:rPr>
              <a:t>P₇ = (7, 0)</a:t>
            </a:r>
            <a:endParaRPr/>
          </a:p>
        </p:txBody>
      </p:sp>
      <p:sp>
        <p:nvSpPr>
          <p:cNvPr id="5710143" name=""/>
          <p:cNvSpPr>
            <a:spLocks noGrp="1"/>
          </p:cNvSpPr>
          <p:nvPr/>
        </p:nvSpPr>
        <p:spPr bwMode="auto">
          <a:xfrm>
            <a:off x="1200150" y="2609850"/>
            <a:ext cx="4324350" cy="26670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350" b="0" i="0">
                <a:solidFill>
                  <a:srgbClr val="52606D"/>
                </a:solidFill>
              </a:defRPr>
            </a:pPr>
            <a:r>
              <a:rPr sz="1350" b="0" i="0">
                <a:solidFill>
                  <a:srgbClr val="52606D"/>
                </a:solidFill>
              </a:rPr>
              <a:t>curve order (7, 0); interval [0, 7]</a:t>
            </a:r>
            <a:endParaRPr/>
          </a:p>
        </p:txBody>
      </p:sp>
      <p:sp>
        <p:nvSpPr>
          <p:cNvPr id="471735786" name=""/>
          <p:cNvSpPr>
            <a:spLocks noGrp="1"/>
          </p:cNvSpPr>
          <p:nvPr/>
        </p:nvSpPr>
        <p:spPr bwMode="auto">
          <a:xfrm>
            <a:off x="895350" y="3657600"/>
            <a:ext cx="2095500" cy="457200"/>
          </a:xfrm>
          <a:prstGeom prst="roundRect">
            <a:avLst>
              <a:gd name="adj" fmla="val 12500"/>
            </a:avLst>
          </a:prstGeom>
          <a:solidFill>
            <a:srgbClr val="E8F5F3"/>
          </a:solidFill>
          <a:ln w="19050">
            <a:solidFill>
              <a:srgbClr val="2A9D8F"/>
            </a:solidFill>
            <a:prstDash val="solid"/>
          </a:ln>
        </p:spPr>
      </p:sp>
      <p:sp>
        <p:nvSpPr>
          <p:cNvPr id="1262737830" name=""/>
          <p:cNvSpPr>
            <a:spLocks noGrp="1"/>
          </p:cNvSpPr>
          <p:nvPr/>
        </p:nvSpPr>
        <p:spPr bwMode="auto">
          <a:xfrm>
            <a:off x="3562350" y="3657600"/>
            <a:ext cx="2095500" cy="457200"/>
          </a:xfrm>
          <a:prstGeom prst="roundRect">
            <a:avLst>
              <a:gd name="adj" fmla="val 12500"/>
            </a:avLst>
          </a:prstGeom>
          <a:solidFill>
            <a:srgbClr val="FFFFFF"/>
          </a:solidFill>
          <a:ln w="11430">
            <a:solidFill>
              <a:srgbClr val="52606D"/>
            </a:solidFill>
            <a:prstDash val="solid"/>
          </a:ln>
        </p:spPr>
      </p:sp>
      <p:cxnSp>
        <p:nvCxnSpPr>
          <p:cNvPr id="1851076050" name=""/>
          <p:cNvCxnSpPr>
            <a:stCxn id="1698565963" idx="1"/>
            <a:endCxn id="471735786" idx="0"/>
          </p:cNvCxnSpPr>
          <p:nvPr/>
        </p:nvCxnSpPr>
        <p:spPr bwMode="auto">
          <a:xfrm flipH="1">
            <a:off x="1943100" y="3162300"/>
            <a:ext cx="247650" cy="495300"/>
          </a:xfrm>
          <a:prstGeom prst="bentConnector2">
            <a:avLst/>
          </a:prstGeom>
          <a:ln w="19050">
            <a:solidFill>
              <a:srgbClr val="2A9D8F"/>
            </a:solidFill>
            <a:prstDash val="solid"/>
            <a:tailEnd type="arrow" w="sm" len="sm"/>
          </a:ln>
        </p:spPr>
      </p:cxnSp>
      <p:cxnSp>
        <p:nvCxnSpPr>
          <p:cNvPr id="302018924" name=""/>
          <p:cNvCxnSpPr>
            <a:stCxn id="1698565963" idx="3"/>
            <a:endCxn id="1262737830" idx="0"/>
          </p:cNvCxnSpPr>
          <p:nvPr/>
        </p:nvCxnSpPr>
        <p:spPr bwMode="auto">
          <a:xfrm>
            <a:off x="4476750" y="3162300"/>
            <a:ext cx="228600" cy="495300"/>
          </a:xfrm>
          <a:prstGeom prst="bentConnector4">
            <a:avLst>
              <a:gd name="adj1" fmla="val 50000"/>
              <a:gd name="adj2" fmla="val 50000"/>
            </a:avLst>
          </a:prstGeom>
          <a:ln w="19050">
            <a:solidFill>
              <a:srgbClr val="52606D"/>
            </a:solidFill>
            <a:prstDash val="solid"/>
            <a:tailEnd type="arrow" w="sm" len="sm"/>
          </a:ln>
        </p:spPr>
      </p:cxnSp>
      <p:sp>
        <p:nvSpPr>
          <p:cNvPr id="883768174" name=""/>
          <p:cNvSpPr>
            <a:spLocks noGrp="1"/>
          </p:cNvSpPr>
          <p:nvPr/>
        </p:nvSpPr>
        <p:spPr bwMode="auto">
          <a:xfrm>
            <a:off x="971550" y="3705225"/>
            <a:ext cx="1943100" cy="34290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800" b="1" i="0">
                <a:solidFill>
                  <a:srgbClr val="2A9D8F"/>
                </a:solidFill>
              </a:defRPr>
            </a:pPr>
            <a:r>
              <a:rPr sz="1800" b="1" i="0">
                <a:solidFill>
                  <a:srgbClr val="2A9D8F"/>
                </a:solidFill>
              </a:rPr>
              <a:t>P₃ = (2, 3)</a:t>
            </a:r>
            <a:endParaRPr/>
          </a:p>
        </p:txBody>
      </p:sp>
      <p:sp>
        <p:nvSpPr>
          <p:cNvPr id="2028042924" name=""/>
          <p:cNvSpPr>
            <a:spLocks noGrp="1"/>
          </p:cNvSpPr>
          <p:nvPr/>
        </p:nvSpPr>
        <p:spPr bwMode="auto">
          <a:xfrm>
            <a:off x="3638550" y="3705225"/>
            <a:ext cx="1943100" cy="34290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800" b="1" i="0">
                <a:solidFill>
                  <a:srgbClr val="102A43"/>
                </a:solidFill>
              </a:defRPr>
            </a:pPr>
            <a:r>
              <a:rPr sz="1800" b="1" i="0">
                <a:solidFill>
                  <a:srgbClr val="102A43"/>
                </a:solidFill>
              </a:rPr>
              <a:t>P₅ = (4, 6)</a:t>
            </a:r>
            <a:endParaRPr/>
          </a:p>
        </p:txBody>
      </p:sp>
      <p:sp>
        <p:nvSpPr>
          <p:cNvPr id="1792565851" name=""/>
          <p:cNvSpPr>
            <a:spLocks noGrp="1"/>
          </p:cNvSpPr>
          <p:nvPr/>
        </p:nvSpPr>
        <p:spPr bwMode="auto">
          <a:xfrm>
            <a:off x="933450" y="4133850"/>
            <a:ext cx="2000250" cy="247650"/>
          </a:xfrm>
          <a:prstGeom prst="rect">
            <a:avLst/>
          </a:prstGeom>
          <a:noFill/>
          <a:ln w="0">
            <a:noFill/>
            <a:prstDash val="solid"/>
          </a:ln>
        </p:spPr>
        <p:txBody>
          <a:bodyPr wrap="square" lIns="38100" tIns="19050" rIns="38100" bIns="19050" anchor="t">
            <a:normAutofit fontScale="97002"/>
          </a:bodyPr>
          <a:lstStyle/>
          <a:p>
            <a:pPr algn="ctr">
              <a:lnSpc>
                <a:spcPct val="105000"/>
              </a:lnSpc>
              <a:buNone/>
              <a:defRPr sz="1350" b="1" i="0">
                <a:solidFill>
                  <a:srgbClr val="2A9D8F"/>
                </a:solidFill>
              </a:defRPr>
            </a:pPr>
            <a:r>
              <a:rPr sz="1350" b="1" i="0">
                <a:solidFill>
                  <a:srgbClr val="2A9D8F"/>
                </a:solidFill>
              </a:rPr>
              <a:t>leftmost child</a:t>
            </a:r>
            <a:endParaRPr/>
          </a:p>
        </p:txBody>
      </p:sp>
      <p:sp>
        <p:nvSpPr>
          <p:cNvPr id="1593456075" name=""/>
          <p:cNvSpPr>
            <a:spLocks noGrp="1"/>
          </p:cNvSpPr>
          <p:nvPr/>
        </p:nvSpPr>
        <p:spPr bwMode="auto">
          <a:xfrm>
            <a:off x="723900" y="4457700"/>
            <a:ext cx="5257800" cy="30480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600" b="1" i="0">
                <a:solidFill>
                  <a:srgbClr val="2A9D8F"/>
                </a:solidFill>
              </a:defRPr>
            </a:pPr>
            <a:r>
              <a:rPr sz="1600" b="1" i="0">
                <a:solidFill>
                  <a:srgbClr val="2A9D8F"/>
                </a:solidFill>
              </a:rPr>
              <a:t>P₃ → left endpoint 2 → base anchor z₂</a:t>
            </a:r>
            <a:endParaRPr/>
          </a:p>
        </p:txBody>
      </p:sp>
      <p:sp>
        <p:nvSpPr>
          <p:cNvPr id="594989392" name=""/>
          <p:cNvSpPr>
            <a:spLocks noGrp="1"/>
          </p:cNvSpPr>
          <p:nvPr/>
        </p:nvSpPr>
        <p:spPr bwMode="auto">
          <a:xfrm>
            <a:off x="6362700" y="2228850"/>
            <a:ext cx="5105400" cy="304800"/>
          </a:xfrm>
          <a:prstGeom prst="rect">
            <a:avLst/>
          </a:prstGeom>
          <a:noFill/>
          <a:ln w="0">
            <a:noFill/>
            <a:prstDash val="solid"/>
          </a:ln>
        </p:spPr>
        <p:txBody>
          <a:bodyPr wrap="square" lIns="38100" tIns="19050" rIns="38100" bIns="19050" anchor="t">
            <a:normAutofit fontScale="92593"/>
          </a:bodyPr>
          <a:lstStyle/>
          <a:p>
            <a:pPr algn="l">
              <a:lnSpc>
                <a:spcPct val="105000"/>
              </a:lnSpc>
              <a:buNone/>
              <a:defRPr sz="1800" b="1" i="0">
                <a:solidFill>
                  <a:srgbClr val="102A43"/>
                </a:solidFill>
              </a:defRPr>
            </a:pPr>
            <a:r>
              <a:rPr sz="1800" b="1" i="0">
                <a:solidFill>
                  <a:srgbClr val="102A43"/>
                </a:solidFill>
              </a:rPr>
              <a:t>Why check z₁?</a:t>
            </a:r>
            <a:endParaRPr/>
          </a:p>
        </p:txBody>
      </p:sp>
      <p:sp>
        <p:nvSpPr>
          <p:cNvPr id="781049317" name=""/>
          <p:cNvSpPr>
            <a:spLocks noGrp="1"/>
          </p:cNvSpPr>
          <p:nvPr/>
        </p:nvSpPr>
        <p:spPr bwMode="auto">
          <a:xfrm>
            <a:off x="6362700" y="2686050"/>
            <a:ext cx="5105400" cy="3238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650" b="0" i="0">
                <a:solidFill>
                  <a:srgbClr val="243B53"/>
                </a:solidFill>
              </a:defRPr>
            </a:pPr>
            <a:r>
              <a:rPr sz="1650" b="0" i="0">
                <a:solidFill>
                  <a:srgbClr val="243B53"/>
                </a:solidFill>
              </a:rPr>
              <a:t>z₁ = 1 belongs to upper pair P₂ = (1, 2).</a:t>
            </a:r>
            <a:endParaRPr/>
          </a:p>
        </p:txBody>
      </p:sp>
      <p:sp>
        <p:nvSpPr>
          <p:cNvPr id="1072568437" name=""/>
          <p:cNvSpPr>
            <a:spLocks noGrp="1"/>
          </p:cNvSpPr>
          <p:nvPr/>
        </p:nvSpPr>
        <p:spPr bwMode="auto">
          <a:xfrm>
            <a:off x="6362700" y="3067050"/>
            <a:ext cx="5105400" cy="3238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650" b="1" i="0">
                <a:solidFill>
                  <a:srgbClr val="102A43"/>
                </a:solidFill>
              </a:defRPr>
            </a:pPr>
            <a:r>
              <a:rPr sz="1650" b="1" i="0">
                <a:solidFill>
                  <a:srgbClr val="102A43"/>
                </a:solidFill>
              </a:rPr>
              <a:t>It is not an endpoint of any lower pair.</a:t>
            </a:r>
            <a:endParaRPr/>
          </a:p>
        </p:txBody>
      </p:sp>
      <p:sp>
        <p:nvSpPr>
          <p:cNvPr id="1662771776" name=""/>
          <p:cNvSpPr>
            <a:spLocks noGrp="1"/>
          </p:cNvSpPr>
          <p:nvPr/>
        </p:nvSpPr>
        <p:spPr bwMode="auto">
          <a:xfrm>
            <a:off x="6362700" y="3448050"/>
            <a:ext cx="5105400" cy="3238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650" b="0" i="0">
                <a:solidFill>
                  <a:srgbClr val="243B53"/>
                </a:solidFill>
              </a:defRPr>
            </a:pPr>
            <a:r>
              <a:rPr sz="1650" b="0" i="0">
                <a:solidFill>
                  <a:srgbClr val="243B53"/>
                </a:solidFill>
              </a:rPr>
              <a:t>It is still in the sorted list S₆.</a:t>
            </a:r>
            <a:endParaRPr/>
          </a:p>
        </p:txBody>
      </p:sp>
      <p:sp>
        <p:nvSpPr>
          <p:cNvPr id="1621379826" name=""/>
          <p:cNvSpPr>
            <a:spLocks noGrp="1"/>
          </p:cNvSpPr>
          <p:nvPr/>
        </p:nvSpPr>
        <p:spPr bwMode="auto">
          <a:xfrm>
            <a:off x="6362700" y="3962400"/>
            <a:ext cx="5105400" cy="3619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800" b="1" i="0">
                <a:solidFill>
                  <a:srgbClr val="E76F51"/>
                </a:solidFill>
              </a:defRPr>
            </a:pPr>
            <a:r>
              <a:rPr sz="1800" b="1" i="0">
                <a:solidFill>
                  <a:srgbClr val="E76F51"/>
                </a:solidFill>
              </a:rPr>
              <a:t>Odd i and 0 &lt; z₁ = 1 &lt; base anchor = 2</a:t>
            </a:r>
            <a:endParaRPr/>
          </a:p>
        </p:txBody>
      </p:sp>
      <p:sp>
        <p:nvSpPr>
          <p:cNvPr id="1160356699" name=""/>
          <p:cNvSpPr>
            <a:spLocks noGrp="1"/>
          </p:cNvSpPr>
          <p:nvPr/>
        </p:nvSpPr>
        <p:spPr bwMode="auto">
          <a:xfrm>
            <a:off x="6362700" y="4410075"/>
            <a:ext cx="5105400" cy="3238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750" b="1" i="0">
                <a:solidFill>
                  <a:srgbClr val="2A9D8F"/>
                </a:solidFill>
              </a:defRPr>
            </a:pPr>
            <a:r>
              <a:rPr sz="1750" b="1" i="0">
                <a:solidFill>
                  <a:srgbClr val="2A9D8F"/>
                </a:solidFill>
              </a:rPr>
              <a:t>Final output anchor: z₁</a:t>
            </a:r>
            <a:endParaRPr/>
          </a:p>
        </p:txBody>
      </p:sp>
      <p:sp>
        <p:nvSpPr>
          <p:cNvPr id="667070254" name=""/>
          <p:cNvSpPr>
            <a:spLocks noGrp="1"/>
          </p:cNvSpPr>
          <p:nvPr/>
        </p:nvSpPr>
        <p:spPr bwMode="auto">
          <a:xfrm>
            <a:off x="723900" y="4972050"/>
            <a:ext cx="5257800" cy="990600"/>
          </a:xfrm>
          <a:prstGeom prst="roundRect">
            <a:avLst>
              <a:gd name="adj" fmla="val 5769"/>
            </a:avLst>
          </a:prstGeom>
          <a:solidFill>
            <a:srgbClr val="FCEEEA"/>
          </a:solidFill>
          <a:ln w="11430">
            <a:solidFill>
              <a:srgbClr val="E76F51"/>
            </a:solidFill>
            <a:prstDash val="solid"/>
          </a:ln>
        </p:spPr>
      </p:sp>
      <p:sp>
        <p:nvSpPr>
          <p:cNvPr id="158393377" name=""/>
          <p:cNvSpPr>
            <a:spLocks noGrp="1"/>
          </p:cNvSpPr>
          <p:nvPr/>
        </p:nvSpPr>
        <p:spPr bwMode="auto">
          <a:xfrm>
            <a:off x="876299" y="5048250"/>
            <a:ext cx="4953000" cy="285750"/>
          </a:xfrm>
          <a:prstGeom prst="rect">
            <a:avLst/>
          </a:prstGeom>
          <a:noFill/>
          <a:ln w="0">
            <a:noFill/>
            <a:prstDash val="solid"/>
          </a:ln>
        </p:spPr>
        <p:txBody>
          <a:bodyPr wrap="square" lIns="38100" tIns="19050" rIns="38100" bIns="19050" anchor="t">
            <a:normAutofit fontScale="98261"/>
          </a:bodyPr>
          <a:lstStyle/>
          <a:p>
            <a:pPr algn="l">
              <a:lnSpc>
                <a:spcPct val="105000"/>
              </a:lnSpc>
              <a:buNone/>
              <a:defRPr sz="1600" b="1" i="0">
                <a:solidFill>
                  <a:srgbClr val="E76F51"/>
                </a:solidFill>
              </a:defRPr>
            </a:pPr>
            <a:r>
              <a:rPr sz="1600" b="1" i="0">
                <a:solidFill>
                  <a:srgbClr val="E76F51"/>
                </a:solidFill>
              </a:rPr>
              <a:t>Without correction (illustration)</a:t>
            </a:r>
            <a:endParaRPr/>
          </a:p>
        </p:txBody>
      </p:sp>
      <p:sp>
        <p:nvSpPr>
          <p:cNvPr id="352948182" name=""/>
          <p:cNvSpPr>
            <a:spLocks noGrp="1"/>
          </p:cNvSpPr>
          <p:nvPr/>
        </p:nvSpPr>
        <p:spPr bwMode="auto">
          <a:xfrm>
            <a:off x="876299" y="5467350"/>
            <a:ext cx="4953000" cy="3238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650" b="0" i="0">
                <a:solidFill>
                  <a:srgbClr val="243B53"/>
                </a:solidFill>
              </a:defRPr>
            </a:pPr>
            <a:r>
              <a:rPr sz="1650" b="0" i="0">
                <a:solidFill>
                  <a:srgbClr val="243B53"/>
                </a:solidFill>
              </a:rPr>
              <a:t>insert 0 before 2 → [1, 0, 2, 3, 4, 6, 7]</a:t>
            </a:r>
            <a:endParaRPr/>
          </a:p>
        </p:txBody>
      </p:sp>
      <p:sp>
        <p:nvSpPr>
          <p:cNvPr id="772045399" name=""/>
          <p:cNvSpPr>
            <a:spLocks noGrp="1"/>
          </p:cNvSpPr>
          <p:nvPr/>
        </p:nvSpPr>
        <p:spPr bwMode="auto">
          <a:xfrm>
            <a:off x="6210300" y="4972050"/>
            <a:ext cx="5257800" cy="990600"/>
          </a:xfrm>
          <a:prstGeom prst="roundRect">
            <a:avLst>
              <a:gd name="adj" fmla="val 5769"/>
            </a:avLst>
          </a:prstGeom>
          <a:solidFill>
            <a:srgbClr val="E8F5F3"/>
          </a:solidFill>
          <a:ln w="11430">
            <a:solidFill>
              <a:srgbClr val="2A9D8F"/>
            </a:solidFill>
            <a:prstDash val="solid"/>
          </a:ln>
        </p:spPr>
      </p:sp>
      <p:sp>
        <p:nvSpPr>
          <p:cNvPr id="506808469" name=""/>
          <p:cNvSpPr>
            <a:spLocks noGrp="1"/>
          </p:cNvSpPr>
          <p:nvPr/>
        </p:nvSpPr>
        <p:spPr bwMode="auto">
          <a:xfrm>
            <a:off x="6362700" y="5048250"/>
            <a:ext cx="4953000" cy="285750"/>
          </a:xfrm>
          <a:prstGeom prst="rect">
            <a:avLst/>
          </a:prstGeom>
          <a:noFill/>
          <a:ln w="0">
            <a:noFill/>
            <a:prstDash val="solid"/>
          </a:ln>
        </p:spPr>
        <p:txBody>
          <a:bodyPr wrap="square" lIns="38100" tIns="19050" rIns="38100" bIns="19050" anchor="t">
            <a:normAutofit fontScale="98261"/>
          </a:bodyPr>
          <a:lstStyle/>
          <a:p>
            <a:pPr algn="l">
              <a:lnSpc>
                <a:spcPct val="105000"/>
              </a:lnSpc>
              <a:buNone/>
              <a:defRPr sz="1600" b="1" i="0">
                <a:solidFill>
                  <a:srgbClr val="2A9D8F"/>
                </a:solidFill>
              </a:defRPr>
            </a:pPr>
            <a:r>
              <a:rPr sz="1600" b="1" i="0">
                <a:solidFill>
                  <a:srgbClr val="2A9D8F"/>
                </a:solidFill>
              </a:rPr>
              <a:t>With correction</a:t>
            </a:r>
            <a:endParaRPr/>
          </a:p>
        </p:txBody>
      </p:sp>
      <p:sp>
        <p:nvSpPr>
          <p:cNvPr id="1083352713" name=""/>
          <p:cNvSpPr>
            <a:spLocks noGrp="1"/>
          </p:cNvSpPr>
          <p:nvPr/>
        </p:nvSpPr>
        <p:spPr bwMode="auto">
          <a:xfrm>
            <a:off x="6362700" y="5467350"/>
            <a:ext cx="4953000" cy="3238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650" b="0" i="0">
                <a:solidFill>
                  <a:srgbClr val="243B53"/>
                </a:solidFill>
              </a:defRPr>
            </a:pPr>
            <a:r>
              <a:rPr sz="1650" b="0" i="0">
                <a:solidFill>
                  <a:srgbClr val="243B53"/>
                </a:solidFill>
              </a:rPr>
              <a:t>insert 0 before z₁ → [0, 1, 2, 3, 4, 6, 7]</a:t>
            </a:r>
            <a:endParaRPr/>
          </a:p>
        </p:txBody>
      </p:sp>
      <p:sp>
        <p:nvSpPr>
          <p:cNvPr id="1118472190" name=""/>
          <p:cNvSpPr>
            <a:spLocks noGrp="1"/>
          </p:cNvSpPr>
          <p:nvPr/>
        </p:nvSpPr>
        <p:spPr bwMode="auto">
          <a:xfrm>
            <a:off x="723900" y="6115050"/>
            <a:ext cx="10744200" cy="285750"/>
          </a:xfrm>
          <a:prstGeom prst="rect">
            <a:avLst/>
          </a:prstGeom>
          <a:noFill/>
          <a:ln w="0">
            <a:noFill/>
            <a:prstDash val="solid"/>
          </a:ln>
        </p:spPr>
        <p:txBody>
          <a:bodyPr wrap="square" lIns="38100" tIns="19050" rIns="38100" bIns="19050" anchor="t">
            <a:normAutofit fontScale="98261"/>
          </a:bodyPr>
          <a:lstStyle/>
          <a:p>
            <a:pPr algn="ctr">
              <a:lnSpc>
                <a:spcPct val="105000"/>
              </a:lnSpc>
              <a:buNone/>
              <a:defRPr sz="1600" b="1" i="0">
                <a:solidFill>
                  <a:srgbClr val="102A43"/>
                </a:solidFill>
              </a:defRPr>
            </a:pPr>
            <a:r>
              <a:rPr sz="1600" b="1" i="0">
                <a:solidFill>
                  <a:srgbClr val="102A43"/>
                </a:solidFill>
              </a:rPr>
              <a:t>This changes the output anchor, not the earlier boundary-pair selection.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20CDEE13-AB25-4335-833F-E578816CC126}"/>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MAINTAINED STATE</a:t>
            </a:r>
          </a:p>
        </p:txBody>
      </p:sp>
      <p:sp>
        <p:nvSpPr>
          <p:cNvPr id="2" name="">
            <a:extLst xmlns:a="http://schemas.openxmlformats.org/drawingml/2006/main">
              <a:ext uri="{FF2B5EF4-FFF2-40B4-BE49-F238E27FC236}">
                <a16:creationId xmlns:a16="http://schemas.microsoft.com/office/drawing/2014/main" id="{E65CDDA4-22B3-4A4A-B500-834AAB79DBF8}"/>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Ownership-safe split and transfer</a:t>
            </a:r>
          </a:p>
        </p:txBody>
      </p:sp>
      <p:sp>
        <p:nvSpPr>
          <p:cNvPr id="3" name="">
            <a:extLst xmlns:a="http://schemas.openxmlformats.org/drawingml/2006/main">
              <a:ext uri="{FF2B5EF4-FFF2-40B4-BE49-F238E27FC236}">
                <a16:creationId xmlns:a16="http://schemas.microsoft.com/office/drawing/2014/main" id="{4B4AC9AF-6FE0-4245-864E-EE163EC72B68}"/>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065B2780-7EA1-4E65-8F92-CCA3A930CB68}"/>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10C5F1C6-13BC-40DA-B30F-68A9A3A7CF37}"/>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19F8F063-0C75-4F12-8797-7B743E2C8A95}"/>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10 / 16</a:t>
            </a:r>
          </a:p>
        </p:txBody>
      </p:sp>
      <p:sp>
        <p:nvSpPr>
          <p:cNvPr id="7" name="">
            <a:extLst xmlns:a="http://schemas.openxmlformats.org/drawingml/2006/main">
              <a:ext uri="{FF2B5EF4-FFF2-40B4-BE49-F238E27FC236}">
                <a16:creationId xmlns:a16="http://schemas.microsoft.com/office/drawing/2014/main" id="{9E4FAA8D-9EB6-400A-8519-2BC22FD95D0B}"/>
              </a:ext>
            </a:extLst>
          </p:cNvPr>
          <p:cNvSpPr>
            <a:spLocks xmlns:a="http://schemas.openxmlformats.org/drawingml/2006/main" noGrp="1"/>
          </p:cNvSpPr>
          <p:nvPr/>
        </p:nvSpPr>
        <p:spPr>
          <a:xfrm xmlns:a="http://schemas.openxmlformats.org/drawingml/2006/main">
            <a:off x="647700" y="1428750"/>
            <a:ext cx="6248400" cy="4000500"/>
          </a:xfrm>
          <a:prstGeom xmlns:a="http://schemas.openxmlformats.org/drawingml/2006/main" prst="roundRect">
            <a:avLst>
              <a:gd name="adj" fmla="val 1905"/>
            </a:avLst>
          </a:prstGeom>
          <a:solidFill xmlns:a="http://schemas.openxmlformats.org/drawingml/2006/main">
            <a:srgbClr val="FFFFFF"/>
          </a:solidFill>
          <a:ln xmlns:a="http://schemas.openxmlformats.org/drawingml/2006/main" w="11430">
            <a:solidFill>
              <a:srgbClr val="D9E2EC"/>
            </a:solidFill>
            <a:prstDash val="solid"/>
          </a:ln>
        </p:spPr>
      </p:sp>
      <p:sp>
        <p:nvSpPr>
          <p:cNvPr id="8" name="">
            <a:extLst xmlns:a="http://schemas.openxmlformats.org/drawingml/2006/main">
              <a:ext uri="{FF2B5EF4-FFF2-40B4-BE49-F238E27FC236}">
                <a16:creationId xmlns:a16="http://schemas.microsoft.com/office/drawing/2014/main" id="{087AA3ED-633C-4ECF-9B22-17927AA14E3F}"/>
              </a:ext>
            </a:extLst>
          </p:cNvPr>
          <p:cNvSpPr>
            <a:spLocks xmlns:a="http://schemas.openxmlformats.org/drawingml/2006/main" noGrp="1"/>
          </p:cNvSpPr>
          <p:nvPr/>
        </p:nvSpPr>
        <p:spPr>
          <a:xfrm xmlns:a="http://schemas.openxmlformats.org/drawingml/2006/main">
            <a:off x="895350" y="1619250"/>
            <a:ext cx="5772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75" b="1" i="0">
                <a:solidFill>
                  <a:srgbClr val="102A43"/>
                </a:solidFill>
              </a:defRPr>
            </a:pPr>
            <a:r>
              <a:rPr sz="1575" b="1" i="0">
                <a:solidFill>
                  <a:srgbClr val="102A43"/>
                </a:solidFill>
              </a:rPr>
              <a:t>Owner: the parent pair that owns this child list</a:t>
            </a:r>
          </a:p>
        </p:txBody>
      </p:sp>
      <p:sp>
        <p:nvSpPr>
          <p:cNvPr id="9" name="">
            <a:extLst xmlns:a="http://schemas.openxmlformats.org/drawingml/2006/main">
              <a:ext uri="{FF2B5EF4-FFF2-40B4-BE49-F238E27FC236}">
                <a16:creationId xmlns:a16="http://schemas.microsoft.com/office/drawing/2014/main" id="{E9594606-C58D-43F0-B4BB-D4E290A5C55A}"/>
              </a:ext>
            </a:extLst>
          </p:cNvPr>
          <p:cNvSpPr>
            <a:spLocks xmlns:a="http://schemas.openxmlformats.org/drawingml/2006/main" noGrp="1"/>
          </p:cNvSpPr>
          <p:nvPr/>
        </p:nvSpPr>
        <p:spPr>
          <a:xfrm xmlns:a="http://schemas.openxmlformats.org/drawingml/2006/main">
            <a:off x="895350" y="2152650"/>
            <a:ext cx="876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350" b="1" i="0">
                <a:solidFill>
                  <a:srgbClr val="7B8794"/>
                </a:solidFill>
              </a:defRPr>
            </a:pPr>
            <a:r>
              <a:rPr sz="1350" b="1" i="0">
                <a:solidFill>
                  <a:srgbClr val="7B8794"/>
                </a:solidFill>
              </a:rPr>
              <a:t>Before</a:t>
            </a:r>
          </a:p>
        </p:txBody>
      </p:sp>
      <p:sp>
        <p:nvSpPr>
          <p:cNvPr id="10" name="">
            <a:extLst xmlns:a="http://schemas.openxmlformats.org/drawingml/2006/main">
              <a:ext uri="{FF2B5EF4-FFF2-40B4-BE49-F238E27FC236}">
                <a16:creationId xmlns:a16="http://schemas.microsoft.com/office/drawing/2014/main" id="{9DE90128-144D-41A6-B173-16EED048E6A5}"/>
              </a:ext>
            </a:extLst>
          </p:cNvPr>
          <p:cNvSpPr>
            <a:spLocks xmlns:a="http://schemas.openxmlformats.org/drawingml/2006/main" noGrp="1"/>
          </p:cNvSpPr>
          <p:nvPr/>
        </p:nvSpPr>
        <p:spPr>
          <a:xfrm xmlns:a="http://schemas.openxmlformats.org/drawingml/2006/main">
            <a:off x="1847850" y="2076450"/>
            <a:ext cx="1562100" cy="495300"/>
          </a:xfrm>
          <a:prstGeom xmlns:a="http://schemas.openxmlformats.org/drawingml/2006/main" prst="roundRect">
            <a:avLst>
              <a:gd name="adj" fmla="val 11538"/>
            </a:avLst>
          </a:prstGeom>
          <a:solidFill xmlns:a="http://schemas.openxmlformats.org/drawingml/2006/main">
            <a:srgbClr val="EAF1F8"/>
          </a:solidFill>
          <a:ln xmlns:a="http://schemas.openxmlformats.org/drawingml/2006/main" w="14288">
            <a:solidFill>
              <a:srgbClr val="102A43"/>
            </a:solidFill>
            <a:prstDash val="solid"/>
          </a:ln>
        </p:spPr>
      </p:sp>
      <p:sp>
        <p:nvSpPr>
          <p:cNvPr id="11" name="">
            <a:extLst xmlns:a="http://schemas.openxmlformats.org/drawingml/2006/main">
              <a:ext uri="{FF2B5EF4-FFF2-40B4-BE49-F238E27FC236}">
                <a16:creationId xmlns:a16="http://schemas.microsoft.com/office/drawing/2014/main" id="{C0C71B1A-AEC6-47C0-B620-998A7EAD8E5A}"/>
              </a:ext>
            </a:extLst>
          </p:cNvPr>
          <p:cNvSpPr>
            <a:spLocks xmlns:a="http://schemas.openxmlformats.org/drawingml/2006/main" noGrp="1"/>
          </p:cNvSpPr>
          <p:nvPr/>
        </p:nvSpPr>
        <p:spPr>
          <a:xfrm xmlns:a="http://schemas.openxmlformats.org/drawingml/2006/main">
            <a:off x="1943100" y="2152650"/>
            <a:ext cx="13716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1" i="0">
                <a:solidFill>
                  <a:srgbClr val="102A43"/>
                </a:solidFill>
              </a:defRPr>
            </a:pPr>
            <a:r>
              <a:rPr sz="1425" b="1" i="0">
                <a:solidFill>
                  <a:srgbClr val="102A43"/>
                </a:solidFill>
              </a:rPr>
              <a:t>existing owner</a:t>
            </a:r>
          </a:p>
        </p:txBody>
      </p:sp>
      <p:sp>
        <p:nvSpPr>
          <p:cNvPr id="12" name="">
            <a:extLst xmlns:a="http://schemas.openxmlformats.org/drawingml/2006/main">
              <a:ext uri="{FF2B5EF4-FFF2-40B4-BE49-F238E27FC236}">
                <a16:creationId xmlns:a16="http://schemas.microsoft.com/office/drawing/2014/main" id="{B872E7A4-9D89-46E6-892A-3C37C72E3C6C}"/>
              </a:ext>
            </a:extLst>
          </p:cNvPr>
          <p:cNvSpPr>
            <a:spLocks xmlns:a="http://schemas.openxmlformats.org/drawingml/2006/main" noGrp="1"/>
          </p:cNvSpPr>
          <p:nvPr/>
        </p:nvSpPr>
        <p:spPr>
          <a:xfrm xmlns:a="http://schemas.openxmlformats.org/drawingml/2006/main">
            <a:off x="3505200" y="2152650"/>
            <a:ext cx="666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0" i="0">
                <a:solidFill>
                  <a:srgbClr val="52606D"/>
                </a:solidFill>
              </a:defRPr>
            </a:pPr>
            <a:r>
              <a:rPr sz="1350" b="0" i="0">
                <a:solidFill>
                  <a:srgbClr val="52606D"/>
                </a:solidFill>
              </a:rPr>
              <a:t>owns</a:t>
            </a:r>
          </a:p>
        </p:txBody>
      </p:sp>
      <p:sp>
        <p:nvSpPr>
          <p:cNvPr id="13" name="">
            <a:extLst xmlns:a="http://schemas.openxmlformats.org/drawingml/2006/main">
              <a:ext uri="{FF2B5EF4-FFF2-40B4-BE49-F238E27FC236}">
                <a16:creationId xmlns:a16="http://schemas.microsoft.com/office/drawing/2014/main" id="{F570B1F1-11A5-481D-BE2B-2D3EBB3CF651}"/>
              </a:ext>
            </a:extLst>
          </p:cNvPr>
          <p:cNvSpPr>
            <a:spLocks xmlns:a="http://schemas.openxmlformats.org/drawingml/2006/main" noGrp="1"/>
          </p:cNvSpPr>
          <p:nvPr/>
        </p:nvSpPr>
        <p:spPr>
          <a:xfrm xmlns:a="http://schemas.openxmlformats.org/drawingml/2006/main">
            <a:off x="4248150" y="2019300"/>
            <a:ext cx="2095500" cy="609600"/>
          </a:xfrm>
          <a:prstGeom xmlns:a="http://schemas.openxmlformats.org/drawingml/2006/main" prst="roundRect">
            <a:avLst>
              <a:gd name="adj" fmla="val 9375"/>
            </a:avLst>
          </a:prstGeom>
          <a:solidFill xmlns:a="http://schemas.openxmlformats.org/drawingml/2006/main">
            <a:srgbClr val="FFFFFF"/>
          </a:solidFill>
          <a:ln xmlns:a="http://schemas.openxmlformats.org/drawingml/2006/main" w="11430">
            <a:solidFill>
              <a:srgbClr val="52606D"/>
            </a:solidFill>
            <a:prstDash val="solid"/>
          </a:ln>
        </p:spPr>
      </p:sp>
      <p:sp>
        <p:nvSpPr>
          <p:cNvPr id="14" name="">
            <a:extLst xmlns:a="http://schemas.openxmlformats.org/drawingml/2006/main">
              <a:ext uri="{FF2B5EF4-FFF2-40B4-BE49-F238E27FC236}">
                <a16:creationId xmlns:a16="http://schemas.microsoft.com/office/drawing/2014/main" id="{EB954062-632F-405B-BDD2-0FDFFD2EB9C5}"/>
              </a:ext>
            </a:extLst>
          </p:cNvPr>
          <p:cNvSpPr>
            <a:spLocks xmlns:a="http://schemas.openxmlformats.org/drawingml/2006/main" noGrp="1"/>
          </p:cNvSpPr>
          <p:nvPr/>
        </p:nvSpPr>
        <p:spPr>
          <a:xfrm xmlns:a="http://schemas.openxmlformats.org/drawingml/2006/main">
            <a:off x="4362450" y="2114550"/>
            <a:ext cx="1866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243B53"/>
                </a:solidFill>
              </a:defRPr>
            </a:pPr>
            <a:r>
              <a:rPr sz="1350" b="1" i="0">
                <a:solidFill>
                  <a:srgbClr val="243B53"/>
                </a:solidFill>
              </a:rPr>
              <a:t>retained  |  acquired</a:t>
            </a:r>
          </a:p>
        </p:txBody>
      </p:sp>
      <p:sp>
        <p:nvSpPr>
          <p:cNvPr id="15" name="">
            <a:extLst xmlns:a="http://schemas.openxmlformats.org/drawingml/2006/main">
              <a:ext uri="{FF2B5EF4-FFF2-40B4-BE49-F238E27FC236}">
                <a16:creationId xmlns:a16="http://schemas.microsoft.com/office/drawing/2014/main" id="{3172D5DF-B881-4605-A8A3-73CF05B15E27}"/>
              </a:ext>
            </a:extLst>
          </p:cNvPr>
          <p:cNvSpPr>
            <a:spLocks xmlns:a="http://schemas.openxmlformats.org/drawingml/2006/main" noGrp="1"/>
          </p:cNvSpPr>
          <p:nvPr/>
        </p:nvSpPr>
        <p:spPr>
          <a:xfrm xmlns:a="http://schemas.openxmlformats.org/drawingml/2006/main">
            <a:off x="2514600" y="2876550"/>
            <a:ext cx="2381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00" b="1" i="0">
                <a:solidFill>
                  <a:srgbClr val="E76F51"/>
                </a:solidFill>
              </a:defRPr>
            </a:pPr>
            <a:r>
              <a:rPr sz="1500" b="1" i="0">
                <a:solidFill>
                  <a:srgbClr val="E76F51"/>
                </a:solidFill>
              </a:rPr>
              <a:t>split + transfer</a:t>
            </a:r>
          </a:p>
        </p:txBody>
      </p:sp>
      <p:sp>
        <p:nvSpPr>
          <p:cNvPr id="16" name="">
            <a:extLst xmlns:a="http://schemas.openxmlformats.org/drawingml/2006/main">
              <a:ext uri="{FF2B5EF4-FFF2-40B4-BE49-F238E27FC236}">
                <a16:creationId xmlns:a16="http://schemas.microsoft.com/office/drawing/2014/main" id="{4583ED2A-ECDE-4818-839C-587435F84C6C}"/>
              </a:ext>
            </a:extLst>
          </p:cNvPr>
          <p:cNvSpPr>
            <a:spLocks xmlns:a="http://schemas.openxmlformats.org/drawingml/2006/main" noGrp="1"/>
          </p:cNvSpPr>
          <p:nvPr/>
        </p:nvSpPr>
        <p:spPr>
          <a:xfrm xmlns:a="http://schemas.openxmlformats.org/drawingml/2006/main">
            <a:off x="3371850" y="3200400"/>
            <a:ext cx="685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371"/>
          </a:bodyPr>
          <a:lstStyle xmlns:a="http://schemas.openxmlformats.org/drawingml/2006/main"/>
          <a:p xmlns:a="http://schemas.openxmlformats.org/drawingml/2006/main">
            <a:pPr algn="ctr">
              <a:lnSpc>
                <a:spcPct val="105000"/>
              </a:lnSpc>
              <a:buNone/>
              <a:defRPr sz="2550" b="1" i="0">
                <a:solidFill>
                  <a:srgbClr val="E76F51"/>
                </a:solidFill>
              </a:defRPr>
            </a:pPr>
            <a:r>
              <a:rPr sz="2550" b="1" i="0">
                <a:solidFill>
                  <a:srgbClr val="E76F51"/>
                </a:solidFill>
              </a:rPr>
              <a:t>↓</a:t>
            </a:r>
          </a:p>
        </p:txBody>
      </p:sp>
      <p:sp>
        <p:nvSpPr>
          <p:cNvPr id="17" name="">
            <a:extLst xmlns:a="http://schemas.openxmlformats.org/drawingml/2006/main">
              <a:ext uri="{FF2B5EF4-FFF2-40B4-BE49-F238E27FC236}">
                <a16:creationId xmlns:a16="http://schemas.microsoft.com/office/drawing/2014/main" id="{B80E8148-0F7B-41F5-A286-029807878314}"/>
              </a:ext>
            </a:extLst>
          </p:cNvPr>
          <p:cNvSpPr>
            <a:spLocks xmlns:a="http://schemas.openxmlformats.org/drawingml/2006/main" noGrp="1"/>
          </p:cNvSpPr>
          <p:nvPr/>
        </p:nvSpPr>
        <p:spPr>
          <a:xfrm xmlns:a="http://schemas.openxmlformats.org/drawingml/2006/main">
            <a:off x="895350" y="3714750"/>
            <a:ext cx="876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350" b="1" i="0">
                <a:solidFill>
                  <a:srgbClr val="7B8794"/>
                </a:solidFill>
              </a:defRPr>
            </a:pPr>
            <a:r>
              <a:rPr sz="1350" b="1" i="0">
                <a:solidFill>
                  <a:srgbClr val="7B8794"/>
                </a:solidFill>
              </a:rPr>
              <a:t>After</a:t>
            </a:r>
          </a:p>
        </p:txBody>
      </p:sp>
      <p:sp>
        <p:nvSpPr>
          <p:cNvPr id="18" name="">
            <a:extLst xmlns:a="http://schemas.openxmlformats.org/drawingml/2006/main">
              <a:ext uri="{FF2B5EF4-FFF2-40B4-BE49-F238E27FC236}">
                <a16:creationId xmlns:a16="http://schemas.microsoft.com/office/drawing/2014/main" id="{768E3D15-DB7A-4F67-8C95-9FEE2D344B5B}"/>
              </a:ext>
            </a:extLst>
          </p:cNvPr>
          <p:cNvSpPr>
            <a:spLocks xmlns:a="http://schemas.openxmlformats.org/drawingml/2006/main" noGrp="1"/>
          </p:cNvSpPr>
          <p:nvPr/>
        </p:nvSpPr>
        <p:spPr>
          <a:xfrm xmlns:a="http://schemas.openxmlformats.org/drawingml/2006/main">
            <a:off x="1847850" y="3638550"/>
            <a:ext cx="1562100" cy="495300"/>
          </a:xfrm>
          <a:prstGeom xmlns:a="http://schemas.openxmlformats.org/drawingml/2006/main" prst="roundRect">
            <a:avLst>
              <a:gd name="adj" fmla="val 11538"/>
            </a:avLst>
          </a:prstGeom>
          <a:solidFill xmlns:a="http://schemas.openxmlformats.org/drawingml/2006/main">
            <a:srgbClr val="EAF1F8"/>
          </a:solidFill>
          <a:ln xmlns:a="http://schemas.openxmlformats.org/drawingml/2006/main" w="14288">
            <a:solidFill>
              <a:srgbClr val="102A43"/>
            </a:solidFill>
            <a:prstDash val="solid"/>
          </a:ln>
        </p:spPr>
      </p:sp>
      <p:sp>
        <p:nvSpPr>
          <p:cNvPr id="19" name="">
            <a:extLst xmlns:a="http://schemas.openxmlformats.org/drawingml/2006/main">
              <a:ext uri="{FF2B5EF4-FFF2-40B4-BE49-F238E27FC236}">
                <a16:creationId xmlns:a16="http://schemas.microsoft.com/office/drawing/2014/main" id="{64A07D2F-9DAF-43CC-B325-4837720B5D4B}"/>
              </a:ext>
            </a:extLst>
          </p:cNvPr>
          <p:cNvSpPr>
            <a:spLocks xmlns:a="http://schemas.openxmlformats.org/drawingml/2006/main" noGrp="1"/>
          </p:cNvSpPr>
          <p:nvPr/>
        </p:nvSpPr>
        <p:spPr>
          <a:xfrm xmlns:a="http://schemas.openxmlformats.org/drawingml/2006/main">
            <a:off x="1943100" y="3714750"/>
            <a:ext cx="13716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1" i="0">
                <a:solidFill>
                  <a:srgbClr val="102A43"/>
                </a:solidFill>
              </a:defRPr>
            </a:pPr>
            <a:r>
              <a:rPr sz="1425" b="1" i="0">
                <a:solidFill>
                  <a:srgbClr val="102A43"/>
                </a:solidFill>
              </a:rPr>
              <a:t>existing owner</a:t>
            </a:r>
          </a:p>
        </p:txBody>
      </p:sp>
      <p:sp>
        <p:nvSpPr>
          <p:cNvPr id="20" name="">
            <a:extLst xmlns:a="http://schemas.openxmlformats.org/drawingml/2006/main">
              <a:ext uri="{FF2B5EF4-FFF2-40B4-BE49-F238E27FC236}">
                <a16:creationId xmlns:a16="http://schemas.microsoft.com/office/drawing/2014/main" id="{6426D1C3-D708-4532-AB10-22EC9030005A}"/>
              </a:ext>
            </a:extLst>
          </p:cNvPr>
          <p:cNvSpPr>
            <a:spLocks xmlns:a="http://schemas.openxmlformats.org/drawingml/2006/main" noGrp="1"/>
          </p:cNvSpPr>
          <p:nvPr/>
        </p:nvSpPr>
        <p:spPr>
          <a:xfrm xmlns:a="http://schemas.openxmlformats.org/drawingml/2006/main">
            <a:off x="3476625" y="3714750"/>
            <a:ext cx="5143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00" b="1" i="0">
                <a:solidFill>
                  <a:srgbClr val="52606D"/>
                </a:solidFill>
              </a:defRPr>
            </a:pPr>
            <a:r>
              <a:rPr sz="1800" b="1" i="0">
                <a:solidFill>
                  <a:srgbClr val="52606D"/>
                </a:solidFill>
              </a:rPr>
              <a:t>→</a:t>
            </a:r>
          </a:p>
        </p:txBody>
      </p:sp>
      <p:sp>
        <p:nvSpPr>
          <p:cNvPr id="21" name="">
            <a:extLst xmlns:a="http://schemas.openxmlformats.org/drawingml/2006/main">
              <a:ext uri="{FF2B5EF4-FFF2-40B4-BE49-F238E27FC236}">
                <a16:creationId xmlns:a16="http://schemas.microsoft.com/office/drawing/2014/main" id="{4495F583-7CA0-43DC-A011-8EBFD02798D6}"/>
              </a:ext>
            </a:extLst>
          </p:cNvPr>
          <p:cNvSpPr>
            <a:spLocks xmlns:a="http://schemas.openxmlformats.org/drawingml/2006/main" noGrp="1"/>
          </p:cNvSpPr>
          <p:nvPr/>
        </p:nvSpPr>
        <p:spPr>
          <a:xfrm xmlns:a="http://schemas.openxmlformats.org/drawingml/2006/main">
            <a:off x="4038600" y="3638550"/>
            <a:ext cx="1390650" cy="495300"/>
          </a:xfrm>
          <a:prstGeom xmlns:a="http://schemas.openxmlformats.org/drawingml/2006/main" prst="roundRect">
            <a:avLst>
              <a:gd name="adj" fmla="val 11538"/>
            </a:avLst>
          </a:prstGeom>
          <a:solidFill xmlns:a="http://schemas.openxmlformats.org/drawingml/2006/main">
            <a:srgbClr val="FFFFFF"/>
          </a:solidFill>
          <a:ln xmlns:a="http://schemas.openxmlformats.org/drawingml/2006/main" w="11430">
            <a:solidFill>
              <a:srgbClr val="102A43"/>
            </a:solidFill>
            <a:prstDash val="solid"/>
          </a:ln>
        </p:spPr>
      </p:sp>
      <p:sp>
        <p:nvSpPr>
          <p:cNvPr id="22" name="">
            <a:extLst xmlns:a="http://schemas.openxmlformats.org/drawingml/2006/main">
              <a:ext uri="{FF2B5EF4-FFF2-40B4-BE49-F238E27FC236}">
                <a16:creationId xmlns:a16="http://schemas.microsoft.com/office/drawing/2014/main" id="{3D455212-DCCE-4E3E-935A-5F83918F8A78}"/>
              </a:ext>
            </a:extLst>
          </p:cNvPr>
          <p:cNvSpPr>
            <a:spLocks xmlns:a="http://schemas.openxmlformats.org/drawingml/2006/main" noGrp="1"/>
          </p:cNvSpPr>
          <p:nvPr/>
        </p:nvSpPr>
        <p:spPr>
          <a:xfrm xmlns:a="http://schemas.openxmlformats.org/drawingml/2006/main">
            <a:off x="4133850" y="3714750"/>
            <a:ext cx="12001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retained</a:t>
            </a:r>
          </a:p>
        </p:txBody>
      </p:sp>
      <p:sp>
        <p:nvSpPr>
          <p:cNvPr id="23" name="">
            <a:extLst xmlns:a="http://schemas.openxmlformats.org/drawingml/2006/main">
              <a:ext uri="{FF2B5EF4-FFF2-40B4-BE49-F238E27FC236}">
                <a16:creationId xmlns:a16="http://schemas.microsoft.com/office/drawing/2014/main" id="{2774E81A-83EA-4D3D-B2B0-7BD73659E785}"/>
              </a:ext>
            </a:extLst>
          </p:cNvPr>
          <p:cNvSpPr>
            <a:spLocks xmlns:a="http://schemas.openxmlformats.org/drawingml/2006/main" noGrp="1"/>
          </p:cNvSpPr>
          <p:nvPr/>
        </p:nvSpPr>
        <p:spPr>
          <a:xfrm xmlns:a="http://schemas.openxmlformats.org/drawingml/2006/main">
            <a:off x="1847850" y="4381500"/>
            <a:ext cx="1562100" cy="495300"/>
          </a:xfrm>
          <a:prstGeom xmlns:a="http://schemas.openxmlformats.org/drawingml/2006/main" prst="roundRect">
            <a:avLst>
              <a:gd name="adj" fmla="val 11538"/>
            </a:avLst>
          </a:prstGeom>
          <a:solidFill xmlns:a="http://schemas.openxmlformats.org/drawingml/2006/main">
            <a:srgbClr val="E8F5F3"/>
          </a:solidFill>
          <a:ln xmlns:a="http://schemas.openxmlformats.org/drawingml/2006/main" w="14288">
            <a:solidFill>
              <a:srgbClr val="2A9D8F"/>
            </a:solidFill>
            <a:prstDash val="solid"/>
          </a:ln>
        </p:spPr>
      </p:sp>
      <p:sp>
        <p:nvSpPr>
          <p:cNvPr id="24" name="">
            <a:extLst xmlns:a="http://schemas.openxmlformats.org/drawingml/2006/main">
              <a:ext uri="{FF2B5EF4-FFF2-40B4-BE49-F238E27FC236}">
                <a16:creationId xmlns:a16="http://schemas.microsoft.com/office/drawing/2014/main" id="{FB9B8C98-2976-46F4-AF5A-F6D44B36B6DE}"/>
              </a:ext>
            </a:extLst>
          </p:cNvPr>
          <p:cNvSpPr>
            <a:spLocks xmlns:a="http://schemas.openxmlformats.org/drawingml/2006/main" noGrp="1"/>
          </p:cNvSpPr>
          <p:nvPr/>
        </p:nvSpPr>
        <p:spPr>
          <a:xfrm xmlns:a="http://schemas.openxmlformats.org/drawingml/2006/main">
            <a:off x="1943100" y="4457700"/>
            <a:ext cx="13716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1" i="0">
                <a:solidFill>
                  <a:srgbClr val="2A9D8F"/>
                </a:solidFill>
              </a:defRPr>
            </a:pPr>
            <a:r>
              <a:rPr sz="1425" b="1" i="0">
                <a:solidFill>
                  <a:srgbClr val="2A9D8F"/>
                </a:solidFill>
              </a:rPr>
              <a:t>new owner</a:t>
            </a:r>
          </a:p>
        </p:txBody>
      </p:sp>
      <p:sp>
        <p:nvSpPr>
          <p:cNvPr id="25" name="">
            <a:extLst xmlns:a="http://schemas.openxmlformats.org/drawingml/2006/main">
              <a:ext uri="{FF2B5EF4-FFF2-40B4-BE49-F238E27FC236}">
                <a16:creationId xmlns:a16="http://schemas.microsoft.com/office/drawing/2014/main" id="{77649C74-41BE-4877-A41C-41EED17F26B1}"/>
              </a:ext>
            </a:extLst>
          </p:cNvPr>
          <p:cNvSpPr>
            <a:spLocks xmlns:a="http://schemas.openxmlformats.org/drawingml/2006/main" noGrp="1"/>
          </p:cNvSpPr>
          <p:nvPr/>
        </p:nvSpPr>
        <p:spPr>
          <a:xfrm xmlns:a="http://schemas.openxmlformats.org/drawingml/2006/main">
            <a:off x="3476625" y="4457700"/>
            <a:ext cx="5143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00" b="1" i="0">
                <a:solidFill>
                  <a:srgbClr val="2A9D8F"/>
                </a:solidFill>
              </a:defRPr>
            </a:pPr>
            <a:r>
              <a:rPr sz="1800" b="1" i="0">
                <a:solidFill>
                  <a:srgbClr val="2A9D8F"/>
                </a:solidFill>
              </a:rPr>
              <a:t>→</a:t>
            </a:r>
          </a:p>
        </p:txBody>
      </p:sp>
      <p:sp>
        <p:nvSpPr>
          <p:cNvPr id="26" name="">
            <a:extLst xmlns:a="http://schemas.openxmlformats.org/drawingml/2006/main">
              <a:ext uri="{FF2B5EF4-FFF2-40B4-BE49-F238E27FC236}">
                <a16:creationId xmlns:a16="http://schemas.microsoft.com/office/drawing/2014/main" id="{AC308B95-ADF1-4D84-8E3B-D2B4CD938B69}"/>
              </a:ext>
            </a:extLst>
          </p:cNvPr>
          <p:cNvSpPr>
            <a:spLocks xmlns:a="http://schemas.openxmlformats.org/drawingml/2006/main" noGrp="1"/>
          </p:cNvSpPr>
          <p:nvPr/>
        </p:nvSpPr>
        <p:spPr>
          <a:xfrm xmlns:a="http://schemas.openxmlformats.org/drawingml/2006/main">
            <a:off x="4038600" y="4381500"/>
            <a:ext cx="1390650" cy="495300"/>
          </a:xfrm>
          <a:prstGeom xmlns:a="http://schemas.openxmlformats.org/drawingml/2006/main" prst="roundRect">
            <a:avLst>
              <a:gd name="adj" fmla="val 11538"/>
            </a:avLst>
          </a:prstGeom>
          <a:solidFill xmlns:a="http://schemas.openxmlformats.org/drawingml/2006/main">
            <a:srgbClr val="E8F5F3"/>
          </a:solidFill>
          <a:ln xmlns:a="http://schemas.openxmlformats.org/drawingml/2006/main" w="11430">
            <a:solidFill>
              <a:srgbClr val="2A9D8F"/>
            </a:solidFill>
            <a:prstDash val="solid"/>
          </a:ln>
        </p:spPr>
      </p:sp>
      <p:sp>
        <p:nvSpPr>
          <p:cNvPr id="27" name="">
            <a:extLst xmlns:a="http://schemas.openxmlformats.org/drawingml/2006/main">
              <a:ext uri="{FF2B5EF4-FFF2-40B4-BE49-F238E27FC236}">
                <a16:creationId xmlns:a16="http://schemas.microsoft.com/office/drawing/2014/main" id="{C793DF63-D528-4BE3-8570-83928C9EF4DF}"/>
              </a:ext>
            </a:extLst>
          </p:cNvPr>
          <p:cNvSpPr>
            <a:spLocks xmlns:a="http://schemas.openxmlformats.org/drawingml/2006/main" noGrp="1"/>
          </p:cNvSpPr>
          <p:nvPr/>
        </p:nvSpPr>
        <p:spPr>
          <a:xfrm xmlns:a="http://schemas.openxmlformats.org/drawingml/2006/main">
            <a:off x="4133850" y="4457700"/>
            <a:ext cx="12001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2A9D8F"/>
                </a:solidFill>
              </a:defRPr>
            </a:pPr>
            <a:r>
              <a:rPr sz="1350" b="1" i="0">
                <a:solidFill>
                  <a:srgbClr val="2A9D8F"/>
                </a:solidFill>
              </a:rPr>
              <a:t>acquired</a:t>
            </a:r>
          </a:p>
        </p:txBody>
      </p:sp>
      <p:sp>
        <p:nvSpPr>
          <p:cNvPr id="28" name="">
            <a:extLst xmlns:a="http://schemas.openxmlformats.org/drawingml/2006/main">
              <a:ext uri="{FF2B5EF4-FFF2-40B4-BE49-F238E27FC236}">
                <a16:creationId xmlns:a16="http://schemas.microsoft.com/office/drawing/2014/main" id="{28FEC57F-074A-46A4-94BA-604754CB420C}"/>
              </a:ext>
            </a:extLst>
          </p:cNvPr>
          <p:cNvSpPr>
            <a:spLocks xmlns:a="http://schemas.openxmlformats.org/drawingml/2006/main" noGrp="1"/>
          </p:cNvSpPr>
          <p:nvPr/>
        </p:nvSpPr>
        <p:spPr>
          <a:xfrm xmlns:a="http://schemas.openxmlformats.org/drawingml/2006/main">
            <a:off x="1047750" y="5010150"/>
            <a:ext cx="5448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275" b="0" i="0">
                <a:solidFill>
                  <a:srgbClr val="52606D"/>
                </a:solidFill>
              </a:defRPr>
            </a:pPr>
            <a:r>
              <a:rPr sz="1275" b="0" i="0">
                <a:solidFill>
                  <a:srgbClr val="52606D"/>
                </a:solidFill>
              </a:rPr>
              <a:t>Only the acquired nonempty segment changes parent ownership.</a:t>
            </a:r>
          </a:p>
        </p:txBody>
      </p:sp>
      <p:sp>
        <p:nvSpPr>
          <p:cNvPr id="29" name="">
            <a:extLst xmlns:a="http://schemas.openxmlformats.org/drawingml/2006/main">
              <a:ext uri="{FF2B5EF4-FFF2-40B4-BE49-F238E27FC236}">
                <a16:creationId xmlns:a16="http://schemas.microsoft.com/office/drawing/2014/main" id="{BCEC811F-DD17-4C57-B727-017BD6D5E4B5}"/>
              </a:ext>
            </a:extLst>
          </p:cNvPr>
          <p:cNvSpPr>
            <a:spLocks xmlns:a="http://schemas.openxmlformats.org/drawingml/2006/main" noGrp="1"/>
          </p:cNvSpPr>
          <p:nvPr/>
        </p:nvSpPr>
        <p:spPr>
          <a:xfrm xmlns:a="http://schemas.openxmlformats.org/drawingml/2006/main">
            <a:off x="7286625" y="1447800"/>
            <a:ext cx="3714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875" b="1" i="0">
                <a:solidFill>
                  <a:srgbClr val="102A43"/>
                </a:solidFill>
              </a:defRPr>
            </a:pPr>
            <a:r>
              <a:rPr sz="1875" b="1" i="0">
                <a:solidFill>
                  <a:srgbClr val="102A43"/>
                </a:solidFill>
              </a:rPr>
              <a:t>Maintained state</a:t>
            </a:r>
          </a:p>
        </p:txBody>
      </p:sp>
      <p:sp>
        <p:nvSpPr>
          <p:cNvPr id="30" name="">
            <a:extLst xmlns:a="http://schemas.openxmlformats.org/drawingml/2006/main">
              <a:ext uri="{FF2B5EF4-FFF2-40B4-BE49-F238E27FC236}">
                <a16:creationId xmlns:a16="http://schemas.microsoft.com/office/drawing/2014/main" id="{47997623-80F4-422C-9E01-541BB3A4F39F}"/>
              </a:ext>
            </a:extLst>
          </p:cNvPr>
          <p:cNvSpPr>
            <a:spLocks xmlns:a="http://schemas.openxmlformats.org/drawingml/2006/main" noGrp="1"/>
          </p:cNvSpPr>
          <p:nvPr/>
        </p:nvSpPr>
        <p:spPr>
          <a:xfrm xmlns:a="http://schemas.openxmlformats.org/drawingml/2006/main">
            <a:off x="7334250" y="2028825"/>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31" name="">
            <a:extLst xmlns:a="http://schemas.openxmlformats.org/drawingml/2006/main">
              <a:ext uri="{FF2B5EF4-FFF2-40B4-BE49-F238E27FC236}">
                <a16:creationId xmlns:a16="http://schemas.microsoft.com/office/drawing/2014/main" id="{09E615FB-89CD-440C-9009-552705337F59}"/>
              </a:ext>
            </a:extLst>
          </p:cNvPr>
          <p:cNvSpPr>
            <a:spLocks xmlns:a="http://schemas.openxmlformats.org/drawingml/2006/main" noGrp="1"/>
          </p:cNvSpPr>
          <p:nvPr/>
        </p:nvSpPr>
        <p:spPr>
          <a:xfrm xmlns:a="http://schemas.openxmlformats.org/drawingml/2006/main">
            <a:off x="7543800" y="1952625"/>
            <a:ext cx="36957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425" b="0" i="0">
                <a:solidFill>
                  <a:srgbClr val="243B53"/>
                </a:solidFill>
              </a:defRPr>
            </a:pPr>
            <a:r>
              <a:rPr sz="1425" b="0" i="0">
                <a:solidFill>
                  <a:srgbClr val="243B53"/>
                </a:solidFill>
              </a:rPr>
              <a:t>sorted processed prefix</a:t>
            </a:r>
          </a:p>
        </p:txBody>
      </p:sp>
      <p:sp>
        <p:nvSpPr>
          <p:cNvPr id="32" name="">
            <a:extLst xmlns:a="http://schemas.openxmlformats.org/drawingml/2006/main">
              <a:ext uri="{FF2B5EF4-FFF2-40B4-BE49-F238E27FC236}">
                <a16:creationId xmlns:a16="http://schemas.microsoft.com/office/drawing/2014/main" id="{5E0C46CA-AE09-4CF6-BB55-46AE2485243B}"/>
              </a:ext>
            </a:extLst>
          </p:cNvPr>
          <p:cNvSpPr>
            <a:spLocks xmlns:a="http://schemas.openxmlformats.org/drawingml/2006/main" noGrp="1"/>
          </p:cNvSpPr>
          <p:nvPr/>
        </p:nvSpPr>
        <p:spPr>
          <a:xfrm xmlns:a="http://schemas.openxmlformats.org/drawingml/2006/main">
            <a:off x="7334250" y="24574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33" name="">
            <a:extLst xmlns:a="http://schemas.openxmlformats.org/drawingml/2006/main">
              <a:ext uri="{FF2B5EF4-FFF2-40B4-BE49-F238E27FC236}">
                <a16:creationId xmlns:a16="http://schemas.microsoft.com/office/drawing/2014/main" id="{D48894FA-9F25-4704-BDDF-FBA6E42A808C}"/>
              </a:ext>
            </a:extLst>
          </p:cNvPr>
          <p:cNvSpPr>
            <a:spLocks xmlns:a="http://schemas.openxmlformats.org/drawingml/2006/main" noGrp="1"/>
          </p:cNvSpPr>
          <p:nvPr/>
        </p:nvSpPr>
        <p:spPr>
          <a:xfrm xmlns:a="http://schemas.openxmlformats.org/drawingml/2006/main">
            <a:off x="7543800" y="2381250"/>
            <a:ext cx="36957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425" b="0" i="0">
                <a:solidFill>
                  <a:srgbClr val="243B53"/>
                </a:solidFill>
              </a:defRPr>
            </a:pPr>
            <a:r>
              <a:rPr sz="1425" b="0" i="0">
                <a:solidFill>
                  <a:srgbClr val="243B53"/>
                </a:solidFill>
              </a:rPr>
              <a:t>upper and lower pair families</a:t>
            </a:r>
          </a:p>
        </p:txBody>
      </p:sp>
      <p:sp>
        <p:nvSpPr>
          <p:cNvPr id="34" name="">
            <a:extLst xmlns:a="http://schemas.openxmlformats.org/drawingml/2006/main">
              <a:ext uri="{FF2B5EF4-FFF2-40B4-BE49-F238E27FC236}">
                <a16:creationId xmlns:a16="http://schemas.microsoft.com/office/drawing/2014/main" id="{C2F4736D-2F68-4D78-B559-3A23257C66E3}"/>
              </a:ext>
            </a:extLst>
          </p:cNvPr>
          <p:cNvSpPr>
            <a:spLocks xmlns:a="http://schemas.openxmlformats.org/drawingml/2006/main" noGrp="1"/>
          </p:cNvSpPr>
          <p:nvPr/>
        </p:nvSpPr>
        <p:spPr>
          <a:xfrm xmlns:a="http://schemas.openxmlformats.org/drawingml/2006/main">
            <a:off x="7334250" y="2886075"/>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35" name="">
            <a:extLst xmlns:a="http://schemas.openxmlformats.org/drawingml/2006/main">
              <a:ext uri="{FF2B5EF4-FFF2-40B4-BE49-F238E27FC236}">
                <a16:creationId xmlns:a16="http://schemas.microsoft.com/office/drawing/2014/main" id="{B43471B9-743A-4871-A23E-E1760764C712}"/>
              </a:ext>
            </a:extLst>
          </p:cNvPr>
          <p:cNvSpPr>
            <a:spLocks xmlns:a="http://schemas.openxmlformats.org/drawingml/2006/main" noGrp="1"/>
          </p:cNvSpPr>
          <p:nvPr/>
        </p:nvSpPr>
        <p:spPr>
          <a:xfrm xmlns:a="http://schemas.openxmlformats.org/drawingml/2006/main">
            <a:off x="7543800" y="2809875"/>
            <a:ext cx="36957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425" b="0" i="0">
                <a:solidFill>
                  <a:srgbClr val="243B53"/>
                </a:solidFill>
              </a:defRPr>
            </a:pPr>
            <a:r>
              <a:rPr sz="1425" b="0" i="0">
                <a:solidFill>
                  <a:srgbClr val="243B53"/>
                </a:solidFill>
              </a:rPr>
              <a:t>one parent per finite pair</a:t>
            </a:r>
          </a:p>
        </p:txBody>
      </p:sp>
      <p:sp>
        <p:nvSpPr>
          <p:cNvPr id="36" name="">
            <a:extLst xmlns:a="http://schemas.openxmlformats.org/drawingml/2006/main">
              <a:ext uri="{FF2B5EF4-FFF2-40B4-BE49-F238E27FC236}">
                <a16:creationId xmlns:a16="http://schemas.microsoft.com/office/drawing/2014/main" id="{2B74C9DE-D4FC-4BA6-80B3-0E8505737B59}"/>
              </a:ext>
            </a:extLst>
          </p:cNvPr>
          <p:cNvSpPr>
            <a:spLocks xmlns:a="http://schemas.openxmlformats.org/drawingml/2006/main" noGrp="1"/>
          </p:cNvSpPr>
          <p:nvPr/>
        </p:nvSpPr>
        <p:spPr>
          <a:xfrm xmlns:a="http://schemas.openxmlformats.org/drawingml/2006/main">
            <a:off x="7334250" y="331470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37" name="">
            <a:extLst xmlns:a="http://schemas.openxmlformats.org/drawingml/2006/main">
              <a:ext uri="{FF2B5EF4-FFF2-40B4-BE49-F238E27FC236}">
                <a16:creationId xmlns:a16="http://schemas.microsoft.com/office/drawing/2014/main" id="{93E5F659-7948-4861-B133-EE79E55723B8}"/>
              </a:ext>
            </a:extLst>
          </p:cNvPr>
          <p:cNvSpPr>
            <a:spLocks xmlns:a="http://schemas.openxmlformats.org/drawingml/2006/main" noGrp="1"/>
          </p:cNvSpPr>
          <p:nvPr/>
        </p:nvSpPr>
        <p:spPr>
          <a:xfrm xmlns:a="http://schemas.openxmlformats.org/drawingml/2006/main">
            <a:off x="7543800" y="3238500"/>
            <a:ext cx="36957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425" b="0" i="0">
                <a:solidFill>
                  <a:srgbClr val="243B53"/>
                </a:solidFill>
              </a:defRPr>
            </a:pPr>
            <a:r>
              <a:rPr sz="1425" b="0" i="0">
                <a:solidFill>
                  <a:srgbClr val="243B53"/>
                </a:solidFill>
              </a:rPr>
              <a:t>one sibling-list membership per finite pair</a:t>
            </a:r>
          </a:p>
        </p:txBody>
      </p:sp>
      <p:sp>
        <p:nvSpPr>
          <p:cNvPr id="38" name="">
            <a:extLst xmlns:a="http://schemas.openxmlformats.org/drawingml/2006/main">
              <a:ext uri="{FF2B5EF4-FFF2-40B4-BE49-F238E27FC236}">
                <a16:creationId xmlns:a16="http://schemas.microsoft.com/office/drawing/2014/main" id="{2659CAFC-4EDF-40A4-8D28-759CCE27B3DB}"/>
              </a:ext>
            </a:extLst>
          </p:cNvPr>
          <p:cNvSpPr>
            <a:spLocks xmlns:a="http://schemas.openxmlformats.org/drawingml/2006/main" noGrp="1"/>
          </p:cNvSpPr>
          <p:nvPr/>
        </p:nvSpPr>
        <p:spPr>
          <a:xfrm xmlns:a="http://schemas.openxmlformats.org/drawingml/2006/main">
            <a:off x="7286625" y="3886200"/>
            <a:ext cx="3714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875" b="1" i="0">
                <a:solidFill>
                  <a:srgbClr val="2A9D8F"/>
                </a:solidFill>
              </a:defRPr>
            </a:pPr>
            <a:r>
              <a:rPr sz="1875" b="1" i="0">
                <a:solidFill>
                  <a:srgbClr val="2A9D8F"/>
                </a:solidFill>
              </a:rPr>
              <a:t>Transactional update</a:t>
            </a:r>
          </a:p>
        </p:txBody>
      </p:sp>
      <p:sp>
        <p:nvSpPr>
          <p:cNvPr id="39" name="">
            <a:extLst xmlns:a="http://schemas.openxmlformats.org/drawingml/2006/main">
              <a:ext uri="{FF2B5EF4-FFF2-40B4-BE49-F238E27FC236}">
                <a16:creationId xmlns:a16="http://schemas.microsoft.com/office/drawing/2014/main" id="{93268DC3-2A39-4A1E-97B1-15A25D439CC4}"/>
              </a:ext>
            </a:extLst>
          </p:cNvPr>
          <p:cNvSpPr>
            <a:spLocks xmlns:a="http://schemas.openxmlformats.org/drawingml/2006/main" noGrp="1"/>
          </p:cNvSpPr>
          <p:nvPr/>
        </p:nvSpPr>
        <p:spPr>
          <a:xfrm xmlns:a="http://schemas.openxmlformats.org/drawingml/2006/main">
            <a:off x="7334250" y="4324350"/>
            <a:ext cx="3905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save state  →  split  →  transfer  →</a:t>
            </a:r>
          </a:p>
          <a:p xmlns:a="http://schemas.openxmlformats.org/drawingml/2006/main">
            <a:pPr algn="ctr">
              <a:lnSpc>
                <a:spcPct val="105000"/>
              </a:lnSpc>
              <a:buNone/>
              <a:defRPr sz="1500" b="0" i="0">
                <a:solidFill>
                  <a:srgbClr val="243B53"/>
                </a:solidFill>
              </a:defRPr>
            </a:pPr>
            <a:r>
              <a:rPr sz="1500" b="0" i="0">
                <a:solidFill>
                  <a:srgbClr val="243B53"/>
                </a:solidFill>
              </a:rPr>
              <a:t>check postconditions  →  roll back on failure</a:t>
            </a:r>
          </a:p>
        </p:txBody>
      </p:sp>
      <p:sp>
        <p:nvSpPr>
          <p:cNvPr id="40" name="">
            <a:extLst xmlns:a="http://schemas.openxmlformats.org/drawingml/2006/main">
              <a:ext uri="{FF2B5EF4-FFF2-40B4-BE49-F238E27FC236}">
                <a16:creationId xmlns:a16="http://schemas.microsoft.com/office/drawing/2014/main" id="{A0569143-8284-4619-950F-986C4E09BEE4}"/>
              </a:ext>
            </a:extLst>
          </p:cNvPr>
          <p:cNvSpPr>
            <a:spLocks xmlns:a="http://schemas.openxmlformats.org/drawingml/2006/main" noGrp="1"/>
          </p:cNvSpPr>
          <p:nvPr/>
        </p:nvSpPr>
        <p:spPr>
          <a:xfrm xmlns:a="http://schemas.openxmlformats.org/drawingml/2006/main">
            <a:off x="1066800" y="5715000"/>
            <a:ext cx="10058400" cy="476250"/>
          </a:xfrm>
          <a:prstGeom xmlns:a="http://schemas.openxmlformats.org/drawingml/2006/main" prst="roundRect">
            <a:avLst>
              <a:gd name="adj" fmla="val 12000"/>
            </a:avLst>
          </a:prstGeom>
          <a:solidFill xmlns:a="http://schemas.openxmlformats.org/drawingml/2006/main">
            <a:srgbClr val="FCEEEA"/>
          </a:solidFill>
          <a:ln xmlns:a="http://schemas.openxmlformats.org/drawingml/2006/main" w="11430">
            <a:solidFill>
              <a:srgbClr val="E76F51"/>
            </a:solidFill>
            <a:prstDash val="solid"/>
          </a:ln>
        </p:spPr>
      </p:sp>
      <p:sp>
        <p:nvSpPr>
          <p:cNvPr id="41" name="">
            <a:extLst xmlns:a="http://schemas.openxmlformats.org/drawingml/2006/main">
              <a:ext uri="{FF2B5EF4-FFF2-40B4-BE49-F238E27FC236}">
                <a16:creationId xmlns:a16="http://schemas.microsoft.com/office/drawing/2014/main" id="{DC55C053-4056-4939-AF12-4D41DA297D2F}"/>
              </a:ext>
            </a:extLst>
          </p:cNvPr>
          <p:cNvSpPr>
            <a:spLocks xmlns:a="http://schemas.openxmlformats.org/drawingml/2006/main" noGrp="1"/>
          </p:cNvSpPr>
          <p:nvPr/>
        </p:nvSpPr>
        <p:spPr>
          <a:xfrm xmlns:a="http://schemas.openxmlformats.org/drawingml/2006/main">
            <a:off x="1219200" y="5762625"/>
            <a:ext cx="9753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E76F51"/>
                </a:solidFill>
              </a:defRPr>
            </a:pPr>
            <a:r>
              <a:rPr sz="1500" b="1" i="0">
                <a:solidFill>
                  <a:srgbClr val="E76F51"/>
                </a:solidFill>
              </a:rPr>
              <a:t>Ordinary lists expose scanning, copying, slicing, and ownership rebinding as concrete costs.</a:t>
            </a:r>
          </a:p>
        </p:txBody>
      </p:sp>
    </p:spTree>
    <p:extLst>
      <p:ext uri="{BB962C8B-B14F-4D97-AF65-F5344CB8AC3E}">
        <p14:creationId xmlns:p14="http://schemas.microsoft.com/office/powerpoint/2010/main" val="1548246679"/>
      </p:ext>
    </p:extLst>
  </p:cSld>
</p:sld>
</file>

<file path=ppt/slides/slide11.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F334F8A0-E967-4AFD-B03B-20A81E7A6BA8}"/>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VALIDATION</a:t>
            </a:r>
          </a:p>
        </p:txBody>
      </p:sp>
      <p:sp>
        <p:nvSpPr>
          <p:cNvPr id="2" name="">
            <a:extLst xmlns:a="http://schemas.openxmlformats.org/drawingml/2006/main">
              <a:ext uri="{FF2B5EF4-FFF2-40B4-BE49-F238E27FC236}">
                <a16:creationId xmlns:a16="http://schemas.microsoft.com/office/drawing/2014/main" id="{B8317E06-49A1-4BFA-9CB5-4F9ABB0ACF1A}"/>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Implementation checks and experiment consistency</a:t>
            </a:r>
          </a:p>
        </p:txBody>
      </p:sp>
      <p:sp>
        <p:nvSpPr>
          <p:cNvPr id="3" name="">
            <a:extLst xmlns:a="http://schemas.openxmlformats.org/drawingml/2006/main">
              <a:ext uri="{FF2B5EF4-FFF2-40B4-BE49-F238E27FC236}">
                <a16:creationId xmlns:a16="http://schemas.microsoft.com/office/drawing/2014/main" id="{8D4C13A2-15A8-438F-887B-E1C4A156EEAB}"/>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3F201698-0A86-4560-A5FC-B240B5403834}"/>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2CA50AB5-EDD0-41B3-8876-E93FF947EC3F}"/>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988F28EE-3734-4370-A834-8A527E3F4FFB}"/>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11 / 16</a:t>
            </a:r>
          </a:p>
        </p:txBody>
      </p:sp>
      <p:sp>
        <p:nvSpPr>
          <p:cNvPr id="7" name="">
            <a:extLst xmlns:a="http://schemas.openxmlformats.org/drawingml/2006/main">
              <a:ext uri="{FF2B5EF4-FFF2-40B4-BE49-F238E27FC236}">
                <a16:creationId xmlns:a16="http://schemas.microsoft.com/office/drawing/2014/main" id="{B06B1EAB-B27C-4F7E-A8DA-B528F586B0EB}"/>
              </a:ext>
            </a:extLst>
          </p:cNvPr>
          <p:cNvSpPr>
            <a:spLocks xmlns:a="http://schemas.openxmlformats.org/drawingml/2006/main" noGrp="1"/>
          </p:cNvSpPr>
          <p:nvPr/>
        </p:nvSpPr>
        <p:spPr>
          <a:xfrm xmlns:a="http://schemas.openxmlformats.org/drawingml/2006/main">
            <a:off x="838200" y="1390650"/>
            <a:ext cx="4476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575" b="1" i="0">
                <a:solidFill>
                  <a:srgbClr val="2A9D8F"/>
                </a:solidFill>
              </a:defRPr>
            </a:pPr>
            <a:r>
              <a:rPr sz="1575" b="1" i="0">
                <a:solidFill>
                  <a:srgbClr val="2A9D8F"/>
                </a:solidFill>
              </a:rPr>
              <a:t>Is the output and maintained state correct?</a:t>
            </a:r>
          </a:p>
        </p:txBody>
      </p:sp>
      <p:sp>
        <p:nvSpPr>
          <p:cNvPr id="8" name="">
            <a:extLst xmlns:a="http://schemas.openxmlformats.org/drawingml/2006/main">
              <a:ext uri="{FF2B5EF4-FFF2-40B4-BE49-F238E27FC236}">
                <a16:creationId xmlns:a16="http://schemas.microsoft.com/office/drawing/2014/main" id="{B25B9775-516A-4E18-B3C2-22662C5D06F7}"/>
              </a:ext>
            </a:extLst>
          </p:cNvPr>
          <p:cNvSpPr>
            <a:spLocks xmlns:a="http://schemas.openxmlformats.org/drawingml/2006/main" noGrp="1"/>
          </p:cNvSpPr>
          <p:nvPr/>
        </p:nvSpPr>
        <p:spPr>
          <a:xfrm xmlns:a="http://schemas.openxmlformats.org/drawingml/2006/main">
            <a:off x="6877050" y="1390650"/>
            <a:ext cx="44767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575" b="1" i="0">
                <a:solidFill>
                  <a:srgbClr val="E76F51"/>
                </a:solidFill>
              </a:defRPr>
            </a:pPr>
            <a:r>
              <a:rPr sz="1575" b="1" i="0">
                <a:solidFill>
                  <a:srgbClr val="E76F51"/>
                </a:solidFill>
              </a:rPr>
              <a:t>Are the experiment records and summaries consistent?</a:t>
            </a:r>
          </a:p>
        </p:txBody>
      </p:sp>
      <p:sp>
        <p:nvSpPr>
          <p:cNvPr id="9" name="">
            <a:extLst xmlns:a="http://schemas.openxmlformats.org/drawingml/2006/main">
              <a:ext uri="{FF2B5EF4-FFF2-40B4-BE49-F238E27FC236}">
                <a16:creationId xmlns:a16="http://schemas.microsoft.com/office/drawing/2014/main" id="{917C3F01-8475-44B7-9CBC-CC9B267644B2}"/>
              </a:ext>
            </a:extLst>
          </p:cNvPr>
          <p:cNvSpPr>
            <a:spLocks xmlns:a="http://schemas.openxmlformats.org/drawingml/2006/main" noGrp="1"/>
          </p:cNvSpPr>
          <p:nvPr/>
        </p:nvSpPr>
        <p:spPr>
          <a:xfrm xmlns:a="http://schemas.openxmlformats.org/drawingml/2006/main">
            <a:off x="838200" y="1924050"/>
            <a:ext cx="4476750" cy="609600"/>
          </a:xfrm>
          <a:prstGeom xmlns:a="http://schemas.openxmlformats.org/drawingml/2006/main" prst="roundRect">
            <a:avLst>
              <a:gd name="adj" fmla="val 10938"/>
            </a:avLst>
          </a:prstGeom>
          <a:solidFill xmlns:a="http://schemas.openxmlformats.org/drawingml/2006/main">
            <a:srgbClr val="E8F5F3"/>
          </a:solidFill>
          <a:ln xmlns:a="http://schemas.openxmlformats.org/drawingml/2006/main" w="11430">
            <a:solidFill>
              <a:srgbClr val="2A9D8F"/>
            </a:solidFill>
            <a:prstDash val="solid"/>
          </a:ln>
        </p:spPr>
      </p:sp>
      <p:sp>
        <p:nvSpPr>
          <p:cNvPr id="10" name="">
            <a:extLst xmlns:a="http://schemas.openxmlformats.org/drawingml/2006/main">
              <a:ext uri="{FF2B5EF4-FFF2-40B4-BE49-F238E27FC236}">
                <a16:creationId xmlns:a16="http://schemas.microsoft.com/office/drawing/2014/main" id="{C01AA11E-04F1-4D6F-90D3-8287AF4874D8}"/>
              </a:ext>
            </a:extLst>
          </p:cNvPr>
          <p:cNvSpPr>
            <a:spLocks xmlns:a="http://schemas.openxmlformats.org/drawingml/2006/main" noGrp="1"/>
          </p:cNvSpPr>
          <p:nvPr/>
        </p:nvSpPr>
        <p:spPr>
          <a:xfrm xmlns:a="http://schemas.openxmlformats.org/drawingml/2006/main">
            <a:off x="990600" y="2000250"/>
            <a:ext cx="41719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Focused regression cases</a:t>
            </a:r>
          </a:p>
        </p:txBody>
      </p:sp>
      <p:sp>
        <p:nvSpPr>
          <p:cNvPr id="11" name="">
            <a:extLst xmlns:a="http://schemas.openxmlformats.org/drawingml/2006/main">
              <a:ext uri="{FF2B5EF4-FFF2-40B4-BE49-F238E27FC236}">
                <a16:creationId xmlns:a16="http://schemas.microsoft.com/office/drawing/2014/main" id="{7D963F59-E297-4F4A-9916-DE700E1C6C71}"/>
              </a:ext>
            </a:extLst>
          </p:cNvPr>
          <p:cNvSpPr>
            <a:spLocks xmlns:a="http://schemas.openxmlformats.org/drawingml/2006/main" noGrp="1"/>
          </p:cNvSpPr>
          <p:nvPr/>
        </p:nvSpPr>
        <p:spPr>
          <a:xfrm xmlns:a="http://schemas.openxmlformats.org/drawingml/2006/main">
            <a:off x="838200" y="2800350"/>
            <a:ext cx="4476750" cy="781050"/>
          </a:xfrm>
          <a:prstGeom xmlns:a="http://schemas.openxmlformats.org/drawingml/2006/main" prst="roundRect">
            <a:avLst>
              <a:gd name="adj" fmla="val 8537"/>
            </a:avLst>
          </a:prstGeom>
          <a:solidFill xmlns:a="http://schemas.openxmlformats.org/drawingml/2006/main">
            <a:srgbClr val="E8F5F3"/>
          </a:solidFill>
          <a:ln xmlns:a="http://schemas.openxmlformats.org/drawingml/2006/main" w="11430">
            <a:solidFill>
              <a:srgbClr val="2A9D8F"/>
            </a:solidFill>
            <a:prstDash val="solid"/>
          </a:ln>
        </p:spPr>
      </p:sp>
      <p:sp>
        <p:nvSpPr>
          <p:cNvPr id="12" name="">
            <a:extLst xmlns:a="http://schemas.openxmlformats.org/drawingml/2006/main">
              <a:ext uri="{FF2B5EF4-FFF2-40B4-BE49-F238E27FC236}">
                <a16:creationId xmlns:a16="http://schemas.microsoft.com/office/drawing/2014/main" id="{35687AAD-F5F4-4AAD-91DA-9884CF991A26}"/>
              </a:ext>
            </a:extLst>
          </p:cNvPr>
          <p:cNvSpPr>
            <a:spLocks xmlns:a="http://schemas.openxmlformats.org/drawingml/2006/main" noGrp="1"/>
          </p:cNvSpPr>
          <p:nvPr/>
        </p:nvSpPr>
        <p:spPr>
          <a:xfrm xmlns:a="http://schemas.openxmlformats.org/drawingml/2006/main">
            <a:off x="990600" y="2876550"/>
            <a:ext cx="41719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243B53"/>
                </a:solidFill>
              </a:defRPr>
            </a:pPr>
            <a:r>
              <a:rPr sz="1350" b="1" i="0">
                <a:solidFill>
                  <a:srgbClr val="243B53"/>
                </a:solidFill>
              </a:rPr>
              <a:t>Bounded exhaustive validation</a:t>
            </a:r>
          </a:p>
          <a:p xmlns:a="http://schemas.openxmlformats.org/drawingml/2006/main">
            <a:pPr algn="ctr">
              <a:lnSpc>
                <a:spcPct val="105000"/>
              </a:lnSpc>
              <a:buNone/>
              <a:defRPr sz="1350" b="1" i="0">
                <a:solidFill>
                  <a:srgbClr val="243B53"/>
                </a:solidFill>
              </a:defRPr>
            </a:pPr>
            <a:r>
              <a:rPr sz="1350" b="1" i="0">
                <a:solidFill>
                  <a:srgbClr val="243B53"/>
                </a:solidFill>
              </a:rPr>
              <a:t>2,074 oracle-valid permutations, n ≤ 8</a:t>
            </a:r>
          </a:p>
        </p:txBody>
      </p:sp>
      <p:sp>
        <p:nvSpPr>
          <p:cNvPr id="13" name="">
            <a:extLst xmlns:a="http://schemas.openxmlformats.org/drawingml/2006/main">
              <a:ext uri="{FF2B5EF4-FFF2-40B4-BE49-F238E27FC236}">
                <a16:creationId xmlns:a16="http://schemas.microsoft.com/office/drawing/2014/main" id="{5515A1A7-E7D6-4919-BDAA-F5005D2E5859}"/>
              </a:ext>
            </a:extLst>
          </p:cNvPr>
          <p:cNvSpPr>
            <a:spLocks xmlns:a="http://schemas.openxmlformats.org/drawingml/2006/main" noGrp="1"/>
          </p:cNvSpPr>
          <p:nvPr/>
        </p:nvSpPr>
        <p:spPr>
          <a:xfrm xmlns:a="http://schemas.openxmlformats.org/drawingml/2006/main">
            <a:off x="838200" y="3829050"/>
            <a:ext cx="4476750" cy="609600"/>
          </a:xfrm>
          <a:prstGeom xmlns:a="http://schemas.openxmlformats.org/drawingml/2006/main" prst="roundRect">
            <a:avLst>
              <a:gd name="adj" fmla="val 10938"/>
            </a:avLst>
          </a:prstGeom>
          <a:solidFill xmlns:a="http://schemas.openxmlformats.org/drawingml/2006/main">
            <a:srgbClr val="E8F5F3"/>
          </a:solidFill>
          <a:ln xmlns:a="http://schemas.openxmlformats.org/drawingml/2006/main" w="11430">
            <a:solidFill>
              <a:srgbClr val="2A9D8F"/>
            </a:solidFill>
            <a:prstDash val="solid"/>
          </a:ln>
        </p:spPr>
      </p:sp>
      <p:sp>
        <p:nvSpPr>
          <p:cNvPr id="14" name="">
            <a:extLst xmlns:a="http://schemas.openxmlformats.org/drawingml/2006/main">
              <a:ext uri="{FF2B5EF4-FFF2-40B4-BE49-F238E27FC236}">
                <a16:creationId xmlns:a16="http://schemas.microsoft.com/office/drawing/2014/main" id="{32596DCF-ECA2-41DB-B0E4-351425103996}"/>
              </a:ext>
            </a:extLst>
          </p:cNvPr>
          <p:cNvSpPr>
            <a:spLocks xmlns:a="http://schemas.openxmlformats.org/drawingml/2006/main" noGrp="1"/>
          </p:cNvSpPr>
          <p:nvPr/>
        </p:nvSpPr>
        <p:spPr>
          <a:xfrm xmlns:a="http://schemas.openxmlformats.org/drawingml/2006/main">
            <a:off x="990600" y="3905250"/>
            <a:ext cx="41719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Checked-state audits</a:t>
            </a:r>
          </a:p>
        </p:txBody>
      </p:sp>
      <p:sp>
        <p:nvSpPr>
          <p:cNvPr id="15" name="">
            <a:extLst xmlns:a="http://schemas.openxmlformats.org/drawingml/2006/main">
              <a:ext uri="{FF2B5EF4-FFF2-40B4-BE49-F238E27FC236}">
                <a16:creationId xmlns:a16="http://schemas.microsoft.com/office/drawing/2014/main" id="{84176384-C1DE-4D4C-9DEC-BCFD75510745}"/>
              </a:ext>
            </a:extLst>
          </p:cNvPr>
          <p:cNvSpPr>
            <a:spLocks xmlns:a="http://schemas.openxmlformats.org/drawingml/2006/main" noGrp="1"/>
          </p:cNvSpPr>
          <p:nvPr/>
        </p:nvSpPr>
        <p:spPr>
          <a:xfrm xmlns:a="http://schemas.openxmlformats.org/drawingml/2006/main">
            <a:off x="838200" y="4705350"/>
            <a:ext cx="4476750" cy="609600"/>
          </a:xfrm>
          <a:prstGeom xmlns:a="http://schemas.openxmlformats.org/drawingml/2006/main" prst="roundRect">
            <a:avLst>
              <a:gd name="adj" fmla="val 10938"/>
            </a:avLst>
          </a:prstGeom>
          <a:solidFill xmlns:a="http://schemas.openxmlformats.org/drawingml/2006/main">
            <a:srgbClr val="E8F5F3"/>
          </a:solidFill>
          <a:ln xmlns:a="http://schemas.openxmlformats.org/drawingml/2006/main" w="11430">
            <a:solidFill>
              <a:srgbClr val="2A9D8F"/>
            </a:solidFill>
            <a:prstDash val="solid"/>
          </a:ln>
        </p:spPr>
      </p:sp>
      <p:sp>
        <p:nvSpPr>
          <p:cNvPr id="16" name="">
            <a:extLst xmlns:a="http://schemas.openxmlformats.org/drawingml/2006/main">
              <a:ext uri="{FF2B5EF4-FFF2-40B4-BE49-F238E27FC236}">
                <a16:creationId xmlns:a16="http://schemas.microsoft.com/office/drawing/2014/main" id="{8E086F1F-9240-4AEB-8840-D1DEF5030244}"/>
              </a:ext>
            </a:extLst>
          </p:cNvPr>
          <p:cNvSpPr>
            <a:spLocks xmlns:a="http://schemas.openxmlformats.org/drawingml/2006/main" noGrp="1"/>
          </p:cNvSpPr>
          <p:nvPr/>
        </p:nvSpPr>
        <p:spPr>
          <a:xfrm xmlns:a="http://schemas.openxmlformats.org/drawingml/2006/main">
            <a:off x="990600" y="4781550"/>
            <a:ext cx="41719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Same-core deterministic replay</a:t>
            </a:r>
          </a:p>
        </p:txBody>
      </p:sp>
      <p:sp>
        <p:nvSpPr>
          <p:cNvPr id="17" name="">
            <a:extLst xmlns:a="http://schemas.openxmlformats.org/drawingml/2006/main">
              <a:ext uri="{FF2B5EF4-FFF2-40B4-BE49-F238E27FC236}">
                <a16:creationId xmlns:a16="http://schemas.microsoft.com/office/drawing/2014/main" id="{27A90E07-4554-4817-A904-8DBE52CAC7EF}"/>
              </a:ext>
            </a:extLst>
          </p:cNvPr>
          <p:cNvSpPr>
            <a:spLocks xmlns:a="http://schemas.openxmlformats.org/drawingml/2006/main" noGrp="1"/>
          </p:cNvSpPr>
          <p:nvPr/>
        </p:nvSpPr>
        <p:spPr>
          <a:xfrm xmlns:a="http://schemas.openxmlformats.org/drawingml/2006/main">
            <a:off x="6877050" y="2209800"/>
            <a:ext cx="4476750" cy="2381250"/>
          </a:xfrm>
          <a:prstGeom xmlns:a="http://schemas.openxmlformats.org/drawingml/2006/main" prst="roundRect">
            <a:avLst>
              <a:gd name="adj" fmla="val 3200"/>
            </a:avLst>
          </a:prstGeom>
          <a:solidFill xmlns:a="http://schemas.openxmlformats.org/drawingml/2006/main">
            <a:srgbClr val="FCEEEA"/>
          </a:solidFill>
          <a:ln xmlns:a="http://schemas.openxmlformats.org/drawingml/2006/main" w="14288">
            <a:solidFill>
              <a:srgbClr val="E76F51"/>
            </a:solidFill>
            <a:prstDash val="solid"/>
          </a:ln>
        </p:spPr>
      </p:sp>
      <p:sp>
        <p:nvSpPr>
          <p:cNvPr id="18" name="">
            <a:extLst xmlns:a="http://schemas.openxmlformats.org/drawingml/2006/main">
              <a:ext uri="{FF2B5EF4-FFF2-40B4-BE49-F238E27FC236}">
                <a16:creationId xmlns:a16="http://schemas.microsoft.com/office/drawing/2014/main" id="{53AB5916-30D1-4903-8EC7-060534705758}"/>
              </a:ext>
            </a:extLst>
          </p:cNvPr>
          <p:cNvSpPr>
            <a:spLocks xmlns:a="http://schemas.openxmlformats.org/drawingml/2006/main" noGrp="1"/>
          </p:cNvSpPr>
          <p:nvPr/>
        </p:nvSpPr>
        <p:spPr>
          <a:xfrm xmlns:a="http://schemas.openxmlformats.org/drawingml/2006/main">
            <a:off x="7219950" y="2686050"/>
            <a:ext cx="379095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725" b="1" i="0">
                <a:solidFill>
                  <a:srgbClr val="243B53"/>
                </a:solidFill>
              </a:defRPr>
            </a:pPr>
            <a:r>
              <a:rPr sz="1725" b="1" i="0">
                <a:solidFill>
                  <a:srgbClr val="243B53"/>
                </a:solidFill>
              </a:rPr>
              <a:t>Check saved experiment records against the fixed setup and recompute their summaries.</a:t>
            </a:r>
          </a:p>
        </p:txBody>
      </p:sp>
      <p:sp>
        <p:nvSpPr>
          <p:cNvPr id="19" name="">
            <a:extLst xmlns:a="http://schemas.openxmlformats.org/drawingml/2006/main">
              <a:ext uri="{FF2B5EF4-FFF2-40B4-BE49-F238E27FC236}">
                <a16:creationId xmlns:a16="http://schemas.microsoft.com/office/drawing/2014/main" id="{4F5A4A6B-5190-4B25-89B6-67820F88F3A2}"/>
              </a:ext>
            </a:extLst>
          </p:cNvPr>
          <p:cNvSpPr>
            <a:spLocks xmlns:a="http://schemas.openxmlformats.org/drawingml/2006/main" noGrp="1"/>
          </p:cNvSpPr>
          <p:nvPr/>
        </p:nvSpPr>
        <p:spPr>
          <a:xfrm xmlns:a="http://schemas.openxmlformats.org/drawingml/2006/main">
            <a:off x="7239000" y="4819650"/>
            <a:ext cx="3752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52606D"/>
                </a:solidFill>
              </a:defRPr>
            </a:pPr>
            <a:r>
              <a:rPr sz="1275" b="0" i="0">
                <a:solidFill>
                  <a:srgbClr val="52606D"/>
                </a:solidFill>
              </a:rPr>
              <a:t>Experiment records and summary consistency</a:t>
            </a:r>
          </a:p>
        </p:txBody>
      </p:sp>
      <p:sp>
        <p:nvSpPr>
          <p:cNvPr id="20" name="">
            <a:extLst xmlns:a="http://schemas.openxmlformats.org/drawingml/2006/main">
              <a:ext uri="{FF2B5EF4-FFF2-40B4-BE49-F238E27FC236}">
                <a16:creationId xmlns:a16="http://schemas.microsoft.com/office/drawing/2014/main" id="{06087B60-AF6B-4C5F-B451-D34BE0ED9A24}"/>
              </a:ext>
            </a:extLst>
          </p:cNvPr>
          <p:cNvSpPr>
            <a:spLocks xmlns:a="http://schemas.openxmlformats.org/drawingml/2006/main" noGrp="1"/>
          </p:cNvSpPr>
          <p:nvPr/>
        </p:nvSpPr>
        <p:spPr>
          <a:xfrm xmlns:a="http://schemas.openxmlformats.org/drawingml/2006/main">
            <a:off x="1333500" y="5810250"/>
            <a:ext cx="952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6917"/>
          </a:bodyPr>
          <a:lstStyle xmlns:a="http://schemas.openxmlformats.org/drawingml/2006/main"/>
          <a:p xmlns:a="http://schemas.openxmlformats.org/drawingml/2006/main">
            <a:pPr algn="ctr">
              <a:lnSpc>
                <a:spcPct val="105000"/>
              </a:lnSpc>
              <a:buNone/>
              <a:defRPr sz="1575" b="1" i="0">
                <a:solidFill>
                  <a:srgbClr val="102A43"/>
                </a:solidFill>
              </a:defRPr>
            </a:pPr>
            <a:r>
              <a:rPr sz="1575" b="1" i="0">
                <a:solidFill>
                  <a:srgbClr val="102A43"/>
                </a:solidFill>
              </a:rPr>
              <a:t>These checks support the evaluated cases. They do not prove correctness for every Jordan sequence.</a:t>
            </a:r>
          </a:p>
        </p:txBody>
      </p:sp>
    </p:spTree>
    <p:extLst>
      <p:ext uri="{BB962C8B-B14F-4D97-AF65-F5344CB8AC3E}">
        <p14:creationId xmlns:p14="http://schemas.microsoft.com/office/powerpoint/2010/main" val="251941551"/>
      </p:ext>
    </p:extLst>
  </p:cSld>
</p:sld>
</file>

<file path=ppt/slides/slide12.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23383C80-CDA8-49E6-A15A-F1AD3923D7F6}"/>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EXPERIMENTAL METHOD</a:t>
            </a:r>
          </a:p>
        </p:txBody>
      </p:sp>
      <p:sp>
        <p:nvSpPr>
          <p:cNvPr id="2" name="">
            <a:extLst xmlns:a="http://schemas.openxmlformats.org/drawingml/2006/main">
              <a:ext uri="{FF2B5EF4-FFF2-40B4-BE49-F238E27FC236}">
                <a16:creationId xmlns:a16="http://schemas.microsoft.com/office/drawing/2014/main" id="{908396AC-384D-40C2-8AB8-CE5B6A0E6EF2}"/>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Runtime experiment: inputs and measurement</a:t>
            </a:r>
          </a:p>
        </p:txBody>
      </p:sp>
      <p:sp>
        <p:nvSpPr>
          <p:cNvPr id="3" name="">
            <a:extLst xmlns:a="http://schemas.openxmlformats.org/drawingml/2006/main">
              <a:ext uri="{FF2B5EF4-FFF2-40B4-BE49-F238E27FC236}">
                <a16:creationId xmlns:a16="http://schemas.microsoft.com/office/drawing/2014/main" id="{3B727B8F-FBD7-46CA-859F-7ED2D2F095CD}"/>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A7FFA0BE-E6A9-4BEC-802C-BE67A214B4ED}"/>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ED7A6DF9-59FB-49C8-B8DF-BC58A5F76A3A}"/>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3D23FF19-1B5A-40E8-B641-9B025A762104}"/>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12 / 16</a:t>
            </a:r>
          </a:p>
        </p:txBody>
      </p:sp>
      <p:sp>
        <p:nvSpPr>
          <p:cNvPr id="7" name="">
            <a:extLst xmlns:a="http://schemas.openxmlformats.org/drawingml/2006/main">
              <a:ext uri="{FF2B5EF4-FFF2-40B4-BE49-F238E27FC236}">
                <a16:creationId xmlns:a16="http://schemas.microsoft.com/office/drawing/2014/main" id="{3520776B-B0FE-4087-8AC8-49D03A7C541C}"/>
              </a:ext>
            </a:extLst>
          </p:cNvPr>
          <p:cNvSpPr>
            <a:spLocks xmlns:a="http://schemas.openxmlformats.org/drawingml/2006/main" noGrp="1"/>
          </p:cNvSpPr>
          <p:nvPr/>
        </p:nvSpPr>
        <p:spPr>
          <a:xfrm xmlns:a="http://schemas.openxmlformats.org/drawingml/2006/main">
            <a:off x="781050" y="1352550"/>
            <a:ext cx="6191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950" b="1" i="0">
                <a:solidFill>
                  <a:srgbClr val="102A43"/>
                </a:solidFill>
              </a:defRPr>
            </a:pPr>
            <a:r>
              <a:rPr sz="1950" b="1" i="0">
                <a:solidFill>
                  <a:srgbClr val="102A43"/>
                </a:solidFill>
              </a:rPr>
              <a:t>n = 32, 64, 128, 256, 512</a:t>
            </a:r>
          </a:p>
        </p:txBody>
      </p:sp>
      <p:sp>
        <p:nvSpPr>
          <p:cNvPr id="8" name="">
            <a:extLst xmlns:a="http://schemas.openxmlformats.org/drawingml/2006/main">
              <a:ext uri="{FF2B5EF4-FFF2-40B4-BE49-F238E27FC236}">
                <a16:creationId xmlns:a16="http://schemas.microsoft.com/office/drawing/2014/main" id="{15F608BA-776E-423A-9CF3-82E709FB1ED7}"/>
              </a:ext>
            </a:extLst>
          </p:cNvPr>
          <p:cNvSpPr>
            <a:spLocks xmlns:a="http://schemas.openxmlformats.org/drawingml/2006/main" noGrp="1"/>
          </p:cNvSpPr>
          <p:nvPr/>
        </p:nvSpPr>
        <p:spPr>
          <a:xfrm xmlns:a="http://schemas.openxmlformats.org/drawingml/2006/main">
            <a:off x="7239000" y="1352550"/>
            <a:ext cx="41338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r">
              <a:lnSpc>
                <a:spcPct val="105000"/>
              </a:lnSpc>
              <a:buNone/>
              <a:defRPr sz="1800" b="1" i="0">
                <a:solidFill>
                  <a:srgbClr val="2A9D8F"/>
                </a:solidFill>
              </a:defRPr>
            </a:pPr>
            <a:r>
              <a:rPr sz="1800" b="1" i="0">
                <a:solidFill>
                  <a:srgbClr val="2A9D8F"/>
                </a:solidFill>
              </a:rPr>
              <a:t>12 inputs per size · 60 total</a:t>
            </a:r>
          </a:p>
        </p:txBody>
      </p:sp>
      <p:sp>
        <p:nvSpPr>
          <p:cNvPr id="9" name="">
            <a:extLst xmlns:a="http://schemas.openxmlformats.org/drawingml/2006/main">
              <a:ext uri="{FF2B5EF4-FFF2-40B4-BE49-F238E27FC236}">
                <a16:creationId xmlns:a16="http://schemas.microsoft.com/office/drawing/2014/main" id="{0D92FB28-E364-46F1-8CFC-3FD34B782DA8}"/>
              </a:ext>
            </a:extLst>
          </p:cNvPr>
          <p:cNvSpPr>
            <a:spLocks xmlns:a="http://schemas.openxmlformats.org/drawingml/2006/main" noGrp="1"/>
          </p:cNvSpPr>
          <p:nvPr/>
        </p:nvSpPr>
        <p:spPr>
          <a:xfrm xmlns:a="http://schemas.openxmlformats.org/drawingml/2006/main">
            <a:off x="857250" y="1876425"/>
            <a:ext cx="2190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425" b="1" i="0">
                <a:solidFill>
                  <a:srgbClr val="52606D"/>
                </a:solidFill>
              </a:defRPr>
            </a:pPr>
            <a:r>
              <a:rPr sz="1425" b="1" i="0">
                <a:solidFill>
                  <a:srgbClr val="52606D"/>
                </a:solidFill>
              </a:rPr>
              <a:t>Input type</a:t>
            </a:r>
          </a:p>
        </p:txBody>
      </p:sp>
      <p:sp>
        <p:nvSpPr>
          <p:cNvPr id="10" name="">
            <a:extLst xmlns:a="http://schemas.openxmlformats.org/drawingml/2006/main">
              <a:ext uri="{FF2B5EF4-FFF2-40B4-BE49-F238E27FC236}">
                <a16:creationId xmlns:a16="http://schemas.microsoft.com/office/drawing/2014/main" id="{CEEA1FBC-084E-476A-98DE-F407598DF34B}"/>
              </a:ext>
            </a:extLst>
          </p:cNvPr>
          <p:cNvSpPr>
            <a:spLocks xmlns:a="http://schemas.openxmlformats.org/drawingml/2006/main" noGrp="1"/>
          </p:cNvSpPr>
          <p:nvPr/>
        </p:nvSpPr>
        <p:spPr>
          <a:xfrm xmlns:a="http://schemas.openxmlformats.org/drawingml/2006/main">
            <a:off x="3257550" y="1876425"/>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425" b="1" i="0">
                <a:solidFill>
                  <a:srgbClr val="52606D"/>
                </a:solidFill>
              </a:defRPr>
            </a:pPr>
            <a:r>
              <a:rPr sz="1425" b="1" i="0">
                <a:solidFill>
                  <a:srgbClr val="52606D"/>
                </a:solidFill>
              </a:rPr>
              <a:t>Per size</a:t>
            </a:r>
          </a:p>
        </p:txBody>
      </p:sp>
      <p:sp>
        <p:nvSpPr>
          <p:cNvPr id="11" name="">
            <a:extLst xmlns:a="http://schemas.openxmlformats.org/drawingml/2006/main">
              <a:ext uri="{FF2B5EF4-FFF2-40B4-BE49-F238E27FC236}">
                <a16:creationId xmlns:a16="http://schemas.microsoft.com/office/drawing/2014/main" id="{B997AC07-5484-4AE9-ABFA-B935A5FA7292}"/>
              </a:ext>
            </a:extLst>
          </p:cNvPr>
          <p:cNvSpPr>
            <a:spLocks xmlns:a="http://schemas.openxmlformats.org/drawingml/2006/main" noGrp="1"/>
          </p:cNvSpPr>
          <p:nvPr/>
        </p:nvSpPr>
        <p:spPr>
          <a:xfrm xmlns:a="http://schemas.openxmlformats.org/drawingml/2006/main">
            <a:off x="4933950" y="1876425"/>
            <a:ext cx="6305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425" b="1" i="0">
                <a:solidFill>
                  <a:srgbClr val="52606D"/>
                </a:solidFill>
              </a:defRPr>
            </a:pPr>
            <a:r>
              <a:rPr sz="1425" b="1" i="0">
                <a:solidFill>
                  <a:srgbClr val="52606D"/>
                </a:solidFill>
              </a:rPr>
              <a:t>Construction</a:t>
            </a:r>
          </a:p>
        </p:txBody>
      </p:sp>
      <p:sp>
        <p:nvSpPr>
          <p:cNvPr id="12" name="">
            <a:extLst xmlns:a="http://schemas.openxmlformats.org/drawingml/2006/main">
              <a:ext uri="{FF2B5EF4-FFF2-40B4-BE49-F238E27FC236}">
                <a16:creationId xmlns:a16="http://schemas.microsoft.com/office/drawing/2014/main" id="{EF1FBE7B-14EB-4AD4-88C8-3274722A6977}"/>
              </a:ext>
            </a:extLst>
          </p:cNvPr>
          <p:cNvSpPr>
            <a:spLocks xmlns:a="http://schemas.openxmlformats.org/drawingml/2006/main" noGrp="1"/>
          </p:cNvSpPr>
          <p:nvPr/>
        </p:nvSpPr>
        <p:spPr>
          <a:xfrm xmlns:a="http://schemas.openxmlformats.org/drawingml/2006/main">
            <a:off x="857250" y="2238375"/>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725" b="1" i="0">
                <a:solidFill>
                  <a:srgbClr val="102A43"/>
                </a:solidFill>
              </a:defRPr>
            </a:pPr>
            <a:r>
              <a:rPr sz="1725" b="1" i="0">
                <a:solidFill>
                  <a:srgbClr val="102A43"/>
                </a:solidFill>
              </a:rPr>
              <a:t>Flat</a:t>
            </a:r>
          </a:p>
        </p:txBody>
      </p:sp>
      <p:sp>
        <p:nvSpPr>
          <p:cNvPr id="13" name="">
            <a:extLst xmlns:a="http://schemas.openxmlformats.org/drawingml/2006/main">
              <a:ext uri="{FF2B5EF4-FFF2-40B4-BE49-F238E27FC236}">
                <a16:creationId xmlns:a16="http://schemas.microsoft.com/office/drawing/2014/main" id="{4379D25B-995B-4A3B-907C-8A36C59E0C31}"/>
              </a:ext>
            </a:extLst>
          </p:cNvPr>
          <p:cNvSpPr>
            <a:spLocks xmlns:a="http://schemas.openxmlformats.org/drawingml/2006/main" noGrp="1"/>
          </p:cNvSpPr>
          <p:nvPr/>
        </p:nvSpPr>
        <p:spPr>
          <a:xfrm xmlns:a="http://schemas.openxmlformats.org/drawingml/2006/main">
            <a:off x="3448050" y="2238375"/>
            <a:ext cx="95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725" b="0" i="0">
                <a:solidFill>
                  <a:srgbClr val="2A9D8F"/>
                </a:solidFill>
              </a:defRPr>
            </a:pPr>
            <a:r>
              <a:rPr sz="1725" b="0" i="0">
                <a:solidFill>
                  <a:srgbClr val="2A9D8F"/>
                </a:solidFill>
              </a:rPr>
              <a:t>1</a:t>
            </a:r>
          </a:p>
        </p:txBody>
      </p:sp>
      <p:sp>
        <p:nvSpPr>
          <p:cNvPr id="14" name="">
            <a:extLst xmlns:a="http://schemas.openxmlformats.org/drawingml/2006/main">
              <a:ext uri="{FF2B5EF4-FFF2-40B4-BE49-F238E27FC236}">
                <a16:creationId xmlns:a16="http://schemas.microsoft.com/office/drawing/2014/main" id="{CC483E1F-EBEB-4138-8171-43A3F3A41210}"/>
              </a:ext>
            </a:extLst>
          </p:cNvPr>
          <p:cNvSpPr>
            <a:spLocks xmlns:a="http://schemas.openxmlformats.org/drawingml/2006/main" noGrp="1"/>
          </p:cNvSpPr>
          <p:nvPr/>
        </p:nvSpPr>
        <p:spPr>
          <a:xfrm xmlns:a="http://schemas.openxmlformats.org/drawingml/2006/main">
            <a:off x="4933950" y="2238375"/>
            <a:ext cx="6305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650" b="0" i="0">
                <a:solidFill>
                  <a:srgbClr val="243B53"/>
                </a:solidFill>
              </a:defRPr>
            </a:pPr>
            <a:r>
              <a:rPr sz="1650" b="0" i="0">
                <a:solidFill>
                  <a:srgbClr val="243B53"/>
                </a:solidFill>
              </a:rPr>
              <a:t>[1, 2, 3, …, n]</a:t>
            </a:r>
          </a:p>
        </p:txBody>
      </p:sp>
      <p:sp>
        <p:nvSpPr>
          <p:cNvPr id="15" name="">
            <a:extLst xmlns:a="http://schemas.openxmlformats.org/drawingml/2006/main">
              <a:ext uri="{FF2B5EF4-FFF2-40B4-BE49-F238E27FC236}">
                <a16:creationId xmlns:a16="http://schemas.microsoft.com/office/drawing/2014/main" id="{6CD39CB8-910B-46F6-A7DA-5EA10774A4F0}"/>
              </a:ext>
            </a:extLst>
          </p:cNvPr>
          <p:cNvSpPr>
            <a:spLocks xmlns:a="http://schemas.openxmlformats.org/drawingml/2006/main" noGrp="1"/>
          </p:cNvSpPr>
          <p:nvPr/>
        </p:nvSpPr>
        <p:spPr>
          <a:xfrm xmlns:a="http://schemas.openxmlformats.org/drawingml/2006/main">
            <a:off x="857250" y="2676525"/>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725" b="1" i="0">
                <a:solidFill>
                  <a:srgbClr val="102A43"/>
                </a:solidFill>
              </a:defRPr>
            </a:pPr>
            <a:r>
              <a:rPr sz="1725" b="1" i="0">
                <a:solidFill>
                  <a:srgbClr val="102A43"/>
                </a:solidFill>
              </a:rPr>
              <a:t>Nested</a:t>
            </a:r>
          </a:p>
        </p:txBody>
      </p:sp>
      <p:sp>
        <p:nvSpPr>
          <p:cNvPr id="16" name="">
            <a:extLst xmlns:a="http://schemas.openxmlformats.org/drawingml/2006/main">
              <a:ext uri="{FF2B5EF4-FFF2-40B4-BE49-F238E27FC236}">
                <a16:creationId xmlns:a16="http://schemas.microsoft.com/office/drawing/2014/main" id="{E45B84A5-1C81-43B2-92BE-42178A4C41B9}"/>
              </a:ext>
            </a:extLst>
          </p:cNvPr>
          <p:cNvSpPr>
            <a:spLocks xmlns:a="http://schemas.openxmlformats.org/drawingml/2006/main" noGrp="1"/>
          </p:cNvSpPr>
          <p:nvPr/>
        </p:nvSpPr>
        <p:spPr>
          <a:xfrm xmlns:a="http://schemas.openxmlformats.org/drawingml/2006/main">
            <a:off x="3448050" y="2676525"/>
            <a:ext cx="95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725" b="0" i="0">
                <a:solidFill>
                  <a:srgbClr val="2A9D8F"/>
                </a:solidFill>
              </a:defRPr>
            </a:pPr>
            <a:r>
              <a:rPr sz="1725" b="0" i="0">
                <a:solidFill>
                  <a:srgbClr val="2A9D8F"/>
                </a:solidFill>
              </a:rPr>
              <a:t>1</a:t>
            </a:r>
          </a:p>
        </p:txBody>
      </p:sp>
      <p:sp>
        <p:nvSpPr>
          <p:cNvPr id="17" name="">
            <a:extLst xmlns:a="http://schemas.openxmlformats.org/drawingml/2006/main">
              <a:ext uri="{FF2B5EF4-FFF2-40B4-BE49-F238E27FC236}">
                <a16:creationId xmlns:a16="http://schemas.microsoft.com/office/drawing/2014/main" id="{82EAF0D6-78C4-4771-89FE-918A3060EB8C}"/>
              </a:ext>
            </a:extLst>
          </p:cNvPr>
          <p:cNvSpPr>
            <a:spLocks xmlns:a="http://schemas.openxmlformats.org/drawingml/2006/main" noGrp="1"/>
          </p:cNvSpPr>
          <p:nvPr/>
        </p:nvSpPr>
        <p:spPr>
          <a:xfrm xmlns:a="http://schemas.openxmlformats.org/drawingml/2006/main">
            <a:off x="4933950" y="2676525"/>
            <a:ext cx="6305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650" b="0" i="0">
                <a:solidFill>
                  <a:srgbClr val="243B53"/>
                </a:solidFill>
              </a:defRPr>
            </a:pPr>
            <a:r>
              <a:rPr sz="1650" b="0" i="0">
                <a:solidFill>
                  <a:srgbClr val="243B53"/>
                </a:solidFill>
              </a:rPr>
              <a:t>[1, n, 2, n−1, …]</a:t>
            </a:r>
          </a:p>
        </p:txBody>
      </p:sp>
      <p:sp>
        <p:nvSpPr>
          <p:cNvPr id="18" name="">
            <a:extLst xmlns:a="http://schemas.openxmlformats.org/drawingml/2006/main">
              <a:ext uri="{FF2B5EF4-FFF2-40B4-BE49-F238E27FC236}">
                <a16:creationId xmlns:a16="http://schemas.microsoft.com/office/drawing/2014/main" id="{471059AA-167C-4DD7-98B1-814B71F260EC}"/>
              </a:ext>
            </a:extLst>
          </p:cNvPr>
          <p:cNvSpPr>
            <a:spLocks xmlns:a="http://schemas.openxmlformats.org/drawingml/2006/main" noGrp="1"/>
          </p:cNvSpPr>
          <p:nvPr/>
        </p:nvSpPr>
        <p:spPr>
          <a:xfrm xmlns:a="http://schemas.openxmlformats.org/drawingml/2006/main">
            <a:off x="857250" y="3114675"/>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725" b="1" i="0">
                <a:solidFill>
                  <a:srgbClr val="102A43"/>
                </a:solidFill>
              </a:defRPr>
            </a:pPr>
            <a:r>
              <a:rPr sz="1725" b="1" i="0">
                <a:solidFill>
                  <a:srgbClr val="102A43"/>
                </a:solidFill>
              </a:rPr>
              <a:t>Incremental</a:t>
            </a:r>
          </a:p>
        </p:txBody>
      </p:sp>
      <p:sp>
        <p:nvSpPr>
          <p:cNvPr id="19" name="">
            <a:extLst xmlns:a="http://schemas.openxmlformats.org/drawingml/2006/main">
              <a:ext uri="{FF2B5EF4-FFF2-40B4-BE49-F238E27FC236}">
                <a16:creationId xmlns:a16="http://schemas.microsoft.com/office/drawing/2014/main" id="{0C6CB5F3-3BAB-4ECB-B7E0-C96A3D9FF44F}"/>
              </a:ext>
            </a:extLst>
          </p:cNvPr>
          <p:cNvSpPr>
            <a:spLocks xmlns:a="http://schemas.openxmlformats.org/drawingml/2006/main" noGrp="1"/>
          </p:cNvSpPr>
          <p:nvPr/>
        </p:nvSpPr>
        <p:spPr>
          <a:xfrm xmlns:a="http://schemas.openxmlformats.org/drawingml/2006/main">
            <a:off x="3448050" y="3114675"/>
            <a:ext cx="95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725" b="0" i="0">
                <a:solidFill>
                  <a:srgbClr val="2A9D8F"/>
                </a:solidFill>
              </a:defRPr>
            </a:pPr>
            <a:r>
              <a:rPr sz="1725" b="0" i="0">
                <a:solidFill>
                  <a:srgbClr val="2A9D8F"/>
                </a:solidFill>
              </a:rPr>
              <a:t>10</a:t>
            </a:r>
          </a:p>
        </p:txBody>
      </p:sp>
      <p:sp>
        <p:nvSpPr>
          <p:cNvPr id="20" name="">
            <a:extLst xmlns:a="http://schemas.openxmlformats.org/drawingml/2006/main">
              <a:ext uri="{FF2B5EF4-FFF2-40B4-BE49-F238E27FC236}">
                <a16:creationId xmlns:a16="http://schemas.microsoft.com/office/drawing/2014/main" id="{54951E98-1668-43B1-9D0B-B683B752E6C7}"/>
              </a:ext>
            </a:extLst>
          </p:cNvPr>
          <p:cNvSpPr>
            <a:spLocks xmlns:a="http://schemas.openxmlformats.org/drawingml/2006/main" noGrp="1"/>
          </p:cNvSpPr>
          <p:nvPr/>
        </p:nvSpPr>
        <p:spPr>
          <a:xfrm xmlns:a="http://schemas.openxmlformats.org/drawingml/2006/main">
            <a:off x="4933950" y="3114675"/>
            <a:ext cx="6305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650" b="0" i="0">
                <a:solidFill>
                  <a:srgbClr val="243B53"/>
                </a:solidFill>
              </a:defRPr>
            </a:pPr>
            <a:r>
              <a:rPr sz="1650" b="0" i="0">
                <a:solidFill>
                  <a:srgbClr val="243B53"/>
                </a:solidFill>
              </a:rPr>
              <a:t>Fixed seeds; validity checked during construction</a:t>
            </a:r>
          </a:p>
        </p:txBody>
      </p:sp>
      <p:sp>
        <p:nvSpPr>
          <p:cNvPr id="21" name="">
            <a:extLst xmlns:a="http://schemas.openxmlformats.org/drawingml/2006/main">
              <a:ext uri="{FF2B5EF4-FFF2-40B4-BE49-F238E27FC236}">
                <a16:creationId xmlns:a16="http://schemas.microsoft.com/office/drawing/2014/main" id="{27EC0A78-7549-48CC-9672-25FFC7AEA531}"/>
              </a:ext>
            </a:extLst>
          </p:cNvPr>
          <p:cNvSpPr>
            <a:spLocks xmlns:a="http://schemas.openxmlformats.org/drawingml/2006/main" noGrp="1"/>
          </p:cNvSpPr>
          <p:nvPr/>
        </p:nvSpPr>
        <p:spPr>
          <a:xfrm xmlns:a="http://schemas.openxmlformats.org/drawingml/2006/main">
            <a:off x="800100" y="3667125"/>
            <a:ext cx="10591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725" b="1" i="0">
                <a:solidFill>
                  <a:srgbClr val="102A43"/>
                </a:solidFill>
              </a:defRPr>
            </a:pPr>
            <a:r>
              <a:rPr sz="1725" b="1" i="0">
                <a:solidFill>
                  <a:srgbClr val="102A43"/>
                </a:solidFill>
              </a:rPr>
              <a:t>5 warm-ups, then 20 measured calls per input and algorithm</a:t>
            </a:r>
          </a:p>
        </p:txBody>
      </p:sp>
      <p:sp>
        <p:nvSpPr>
          <p:cNvPr id="22" name="">
            <a:extLst xmlns:a="http://schemas.openxmlformats.org/drawingml/2006/main">
              <a:ext uri="{FF2B5EF4-FFF2-40B4-BE49-F238E27FC236}">
                <a16:creationId xmlns:a16="http://schemas.microsoft.com/office/drawing/2014/main" id="{15E07ED1-7414-4405-AAC8-9EE30A614516}"/>
              </a:ext>
            </a:extLst>
          </p:cNvPr>
          <p:cNvSpPr>
            <a:spLocks xmlns:a="http://schemas.openxmlformats.org/drawingml/2006/main" noGrp="1"/>
          </p:cNvSpPr>
          <p:nvPr/>
        </p:nvSpPr>
        <p:spPr>
          <a:xfrm xmlns:a="http://schemas.openxmlformats.org/drawingml/2006/main">
            <a:off x="800100" y="4029075"/>
            <a:ext cx="10591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725" b="1" i="0">
                <a:solidFill>
                  <a:srgbClr val="2A9D8F"/>
                </a:solidFill>
              </a:defRPr>
            </a:pPr>
            <a:r>
              <a:rPr sz="1725" b="1" i="0">
                <a:solidFill>
                  <a:srgbClr val="2A9D8F"/>
                </a:solidFill>
              </a:rPr>
              <a:t>60 inputs × 3 algorithms × 20 calls = 3,600 measured rows</a:t>
            </a:r>
          </a:p>
        </p:txBody>
      </p:sp>
      <p:sp>
        <p:nvSpPr>
          <p:cNvPr id="23" name="">
            <a:extLst xmlns:a="http://schemas.openxmlformats.org/drawingml/2006/main">
              <a:ext uri="{FF2B5EF4-FFF2-40B4-BE49-F238E27FC236}">
                <a16:creationId xmlns:a16="http://schemas.microsoft.com/office/drawing/2014/main" id="{9A077561-659E-422F-93B8-5EBB24A0ACD1}"/>
              </a:ext>
            </a:extLst>
          </p:cNvPr>
          <p:cNvSpPr>
            <a:spLocks xmlns:a="http://schemas.openxmlformats.org/drawingml/2006/main" noGrp="1"/>
          </p:cNvSpPr>
          <p:nvPr/>
        </p:nvSpPr>
        <p:spPr>
          <a:xfrm xmlns:a="http://schemas.openxmlformats.org/drawingml/2006/main">
            <a:off x="800100" y="4514850"/>
            <a:ext cx="10591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500" b="0" i="0">
                <a:solidFill>
                  <a:srgbClr val="243B53"/>
                </a:solidFill>
              </a:defRPr>
            </a:pPr>
            <a:r>
              <a:rPr sz="1500" b="0" i="0">
                <a:solidFill>
                  <a:srgbClr val="243B53"/>
                </a:solidFill>
              </a:rPr>
              <a:t>Before paper timing: certification and one checked-state audit per case</a:t>
            </a:r>
          </a:p>
        </p:txBody>
      </p:sp>
      <p:sp>
        <p:nvSpPr>
          <p:cNvPr id="24" name="">
            <a:extLst xmlns:a="http://schemas.openxmlformats.org/drawingml/2006/main">
              <a:ext uri="{FF2B5EF4-FFF2-40B4-BE49-F238E27FC236}">
                <a16:creationId xmlns:a16="http://schemas.microsoft.com/office/drawing/2014/main" id="{0F664057-BBB4-4293-9E6D-75527D85342C}"/>
              </a:ext>
            </a:extLst>
          </p:cNvPr>
          <p:cNvSpPr>
            <a:spLocks xmlns:a="http://schemas.openxmlformats.org/drawingml/2006/main" noGrp="1"/>
          </p:cNvSpPr>
          <p:nvPr/>
        </p:nvSpPr>
        <p:spPr>
          <a:xfrm xmlns:a="http://schemas.openxmlformats.org/drawingml/2006/main">
            <a:off x="800100" y="4857750"/>
            <a:ext cx="10591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500" b="0" i="0">
                <a:solidFill>
                  <a:srgbClr val="243B53"/>
                </a:solidFill>
              </a:defRPr>
            </a:pPr>
            <a:r>
              <a:rPr sz="1500" b="0" i="0">
                <a:solidFill>
                  <a:srgbClr val="243B53"/>
                </a:solidFill>
              </a:rPr>
              <a:t>Paper minimal: same core, all points; no detailed trace, fewer diagnostic checks</a:t>
            </a:r>
          </a:p>
        </p:txBody>
      </p:sp>
      <p:sp>
        <p:nvSpPr>
          <p:cNvPr id="25" name="">
            <a:extLst xmlns:a="http://schemas.openxmlformats.org/drawingml/2006/main">
              <a:ext uri="{FF2B5EF4-FFF2-40B4-BE49-F238E27FC236}">
                <a16:creationId xmlns:a16="http://schemas.microsoft.com/office/drawing/2014/main" id="{85726E55-4107-47A9-A332-28C91FDB6A75}"/>
              </a:ext>
            </a:extLst>
          </p:cNvPr>
          <p:cNvSpPr>
            <a:spLocks xmlns:a="http://schemas.openxmlformats.org/drawingml/2006/main" noGrp="1"/>
          </p:cNvSpPr>
          <p:nvPr/>
        </p:nvSpPr>
        <p:spPr>
          <a:xfrm xmlns:a="http://schemas.openxmlformats.org/drawingml/2006/main">
            <a:off x="800100" y="5200650"/>
            <a:ext cx="10591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500" b="1" i="0">
                <a:solidFill>
                  <a:srgbClr val="E76F51"/>
                </a:solidFill>
              </a:defRPr>
            </a:pPr>
            <a:r>
              <a:rPr sz="1500" b="1" i="0">
                <a:solidFill>
                  <a:srgbClr val="E76F51"/>
                </a:solidFill>
              </a:rPr>
              <a:t>Timed paper call: initialization, Steps 1–3, and output recovery</a:t>
            </a:r>
          </a:p>
        </p:txBody>
      </p:sp>
      <p:sp>
        <p:nvSpPr>
          <p:cNvPr id="26" name="">
            <a:extLst xmlns:a="http://schemas.openxmlformats.org/drawingml/2006/main">
              <a:ext uri="{FF2B5EF4-FFF2-40B4-BE49-F238E27FC236}">
                <a16:creationId xmlns:a16="http://schemas.microsoft.com/office/drawing/2014/main" id="{E5030093-8541-4C4D-BB56-F6C31092BF06}"/>
              </a:ext>
            </a:extLst>
          </p:cNvPr>
          <p:cNvSpPr>
            <a:spLocks xmlns:a="http://schemas.openxmlformats.org/drawingml/2006/main" noGrp="1"/>
          </p:cNvSpPr>
          <p:nvPr/>
        </p:nvSpPr>
        <p:spPr>
          <a:xfrm xmlns:a="http://schemas.openxmlformats.org/drawingml/2006/main">
            <a:off x="800100" y="5619750"/>
            <a:ext cx="10591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500" b="0" i="0">
                <a:solidFill>
                  <a:srgbClr val="52606D"/>
                </a:solidFill>
              </a:defRPr>
            </a:pPr>
            <a:r>
              <a:rPr sz="1500" b="0" i="0">
                <a:solidFill>
                  <a:srgbClr val="52606D"/>
                </a:solidFill>
              </a:rPr>
              <a:t>Python: sorting call. Reference: complete oracle-backed pipeline.</a:t>
            </a:r>
          </a:p>
        </p:txBody>
      </p:sp>
      <p:sp>
        <p:nvSpPr>
          <p:cNvPr id="27" name="">
            <a:extLst xmlns:a="http://schemas.openxmlformats.org/drawingml/2006/main">
              <a:ext uri="{FF2B5EF4-FFF2-40B4-BE49-F238E27FC236}">
                <a16:creationId xmlns:a16="http://schemas.microsoft.com/office/drawing/2014/main" id="{05F5AB45-9F93-4707-B5E9-EF6FFA950E95}"/>
              </a:ext>
            </a:extLst>
          </p:cNvPr>
          <p:cNvSpPr>
            <a:spLocks xmlns:a="http://schemas.openxmlformats.org/drawingml/2006/main" noGrp="1"/>
          </p:cNvSpPr>
          <p:nvPr/>
        </p:nvSpPr>
        <p:spPr>
          <a:xfrm xmlns:a="http://schemas.openxmlformats.org/drawingml/2006/main">
            <a:off x="800100" y="5962650"/>
            <a:ext cx="10591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425" b="0" i="0">
                <a:solidFill>
                  <a:srgbClr val="52606D"/>
                </a:solidFill>
              </a:defRPr>
            </a:pPr>
            <a:r>
              <a:rPr sz="1425" b="0" i="0">
                <a:solidFill>
                  <a:srgbClr val="52606D"/>
                </a:solidFill>
              </a:rPr>
              <a:t>Output comparison follows timing. Runtime focus: paper core and Python sort.</a:t>
            </a:r>
          </a:p>
        </p:txBody>
      </p:sp>
    </p:spTree>
    <p:extLst>
      <p:ext uri="{BB962C8B-B14F-4D97-AF65-F5344CB8AC3E}">
        <p14:creationId xmlns:p14="http://schemas.microsoft.com/office/powerpoint/2010/main" val="1568400411"/>
      </p:ext>
    </p:extLst>
  </p:cSld>
</p:sld>
</file>

<file path=ppt/slides/slide13.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9A8769C-2D7E-4214-A8A3-BF97CE1A1240}"/>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RESULTS</a:t>
            </a:r>
          </a:p>
        </p:txBody>
      </p:sp>
      <p:sp>
        <p:nvSpPr>
          <p:cNvPr id="2" name="">
            <a:extLst xmlns:a="http://schemas.openxmlformats.org/drawingml/2006/main">
              <a:ext uri="{FF2B5EF4-FFF2-40B4-BE49-F238E27FC236}">
                <a16:creationId xmlns:a16="http://schemas.microsoft.com/office/drawing/2014/main" id="{45B2C44E-C055-412C-A760-FE4774AB904F}"/>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All 60 cases in the runtime experiment returned the correct output</a:t>
            </a:r>
          </a:p>
        </p:txBody>
      </p:sp>
      <p:sp>
        <p:nvSpPr>
          <p:cNvPr id="3" name="">
            <a:extLst xmlns:a="http://schemas.openxmlformats.org/drawingml/2006/main">
              <a:ext uri="{FF2B5EF4-FFF2-40B4-BE49-F238E27FC236}">
                <a16:creationId xmlns:a16="http://schemas.microsoft.com/office/drawing/2014/main" id="{49C194BD-6FFD-42E1-B8E4-474EC49CC282}"/>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74A3632D-98DE-4464-850F-70B4FD7F159B}"/>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A0714A7F-6F56-4453-BF0F-5AA7E790AB6D}"/>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1A12AC9F-9146-4CCE-83E7-88199DBA2633}"/>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13 / 16</a:t>
            </a:r>
          </a:p>
        </p:txBody>
      </p:sp>
      <p:sp>
        <p:nvSpPr>
          <p:cNvPr id="7" name="">
            <a:extLst xmlns:a="http://schemas.openxmlformats.org/drawingml/2006/main">
              <a:ext uri="{FF2B5EF4-FFF2-40B4-BE49-F238E27FC236}">
                <a16:creationId xmlns:a16="http://schemas.microsoft.com/office/drawing/2014/main" id="{F7577A72-A41C-42C7-A7EF-692C74C5E20B}"/>
              </a:ext>
            </a:extLst>
          </p:cNvPr>
          <p:cNvSpPr>
            <a:spLocks xmlns:a="http://schemas.openxmlformats.org/drawingml/2006/main" noGrp="1"/>
          </p:cNvSpPr>
          <p:nvPr/>
        </p:nvSpPr>
        <p:spPr>
          <a:xfrm xmlns:a="http://schemas.openxmlformats.org/drawingml/2006/main">
            <a:off x="1238250" y="1676400"/>
            <a:ext cx="3905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5400" b="1" i="0">
                <a:solidFill>
                  <a:srgbClr val="2A9D8F"/>
                </a:solidFill>
              </a:defRPr>
            </a:pPr>
            <a:r>
              <a:rPr sz="5400" b="1" i="0">
                <a:solidFill>
                  <a:srgbClr val="2A9D8F"/>
                </a:solidFill>
              </a:rPr>
              <a:t>60</a:t>
            </a:r>
          </a:p>
        </p:txBody>
      </p:sp>
      <p:sp>
        <p:nvSpPr>
          <p:cNvPr id="8" name="">
            <a:extLst xmlns:a="http://schemas.openxmlformats.org/drawingml/2006/main">
              <a:ext uri="{FF2B5EF4-FFF2-40B4-BE49-F238E27FC236}">
                <a16:creationId xmlns:a16="http://schemas.microsoft.com/office/drawing/2014/main" id="{5F3DE994-CA2E-4951-AFDA-102879D263BD}"/>
              </a:ext>
            </a:extLst>
          </p:cNvPr>
          <p:cNvSpPr>
            <a:spLocks xmlns:a="http://schemas.openxmlformats.org/drawingml/2006/main" noGrp="1"/>
          </p:cNvSpPr>
          <p:nvPr/>
        </p:nvSpPr>
        <p:spPr>
          <a:xfrm xmlns:a="http://schemas.openxmlformats.org/drawingml/2006/main">
            <a:off x="1238250" y="2647950"/>
            <a:ext cx="3905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102A43"/>
                </a:solidFill>
              </a:defRPr>
            </a:pPr>
            <a:r>
              <a:rPr sz="1950" b="1" i="0">
                <a:solidFill>
                  <a:srgbClr val="102A43"/>
                </a:solidFill>
              </a:rPr>
              <a:t>exact cases</a:t>
            </a:r>
          </a:p>
        </p:txBody>
      </p:sp>
      <p:sp>
        <p:nvSpPr>
          <p:cNvPr id="9" name="">
            <a:extLst xmlns:a="http://schemas.openxmlformats.org/drawingml/2006/main">
              <a:ext uri="{FF2B5EF4-FFF2-40B4-BE49-F238E27FC236}">
                <a16:creationId xmlns:a16="http://schemas.microsoft.com/office/drawing/2014/main" id="{D623F4CB-4A16-4557-8E76-4053B173FF4C}"/>
              </a:ext>
            </a:extLst>
          </p:cNvPr>
          <p:cNvSpPr>
            <a:spLocks xmlns:a="http://schemas.openxmlformats.org/drawingml/2006/main" noGrp="1"/>
          </p:cNvSpPr>
          <p:nvPr/>
        </p:nvSpPr>
        <p:spPr>
          <a:xfrm xmlns:a="http://schemas.openxmlformats.org/drawingml/2006/main">
            <a:off x="7048500" y="1676400"/>
            <a:ext cx="3905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5400" b="1" i="0">
                <a:solidFill>
                  <a:srgbClr val="1F8A70"/>
                </a:solidFill>
              </a:defRPr>
            </a:pPr>
            <a:r>
              <a:rPr sz="5400" b="1" i="0">
                <a:solidFill>
                  <a:srgbClr val="1F8A70"/>
                </a:solidFill>
              </a:rPr>
              <a:t>0</a:t>
            </a:r>
          </a:p>
        </p:txBody>
      </p:sp>
      <p:sp>
        <p:nvSpPr>
          <p:cNvPr id="10" name="">
            <a:extLst xmlns:a="http://schemas.openxmlformats.org/drawingml/2006/main">
              <a:ext uri="{FF2B5EF4-FFF2-40B4-BE49-F238E27FC236}">
                <a16:creationId xmlns:a16="http://schemas.microsoft.com/office/drawing/2014/main" id="{383979E0-5F97-4A71-9213-037D21D7BD3A}"/>
              </a:ext>
            </a:extLst>
          </p:cNvPr>
          <p:cNvSpPr>
            <a:spLocks xmlns:a="http://schemas.openxmlformats.org/drawingml/2006/main" noGrp="1"/>
          </p:cNvSpPr>
          <p:nvPr/>
        </p:nvSpPr>
        <p:spPr>
          <a:xfrm xmlns:a="http://schemas.openxmlformats.org/drawingml/2006/main">
            <a:off x="7048500" y="2647950"/>
            <a:ext cx="3905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102A43"/>
                </a:solidFill>
              </a:defRPr>
            </a:pPr>
            <a:r>
              <a:rPr sz="1950" b="1" i="0">
                <a:solidFill>
                  <a:srgbClr val="102A43"/>
                </a:solidFill>
              </a:rPr>
              <a:t>recorded correctness errors</a:t>
            </a:r>
          </a:p>
        </p:txBody>
      </p:sp>
      <p:sp>
        <p:nvSpPr>
          <p:cNvPr id="11" name="">
            <a:extLst xmlns:a="http://schemas.openxmlformats.org/drawingml/2006/main">
              <a:ext uri="{FF2B5EF4-FFF2-40B4-BE49-F238E27FC236}">
                <a16:creationId xmlns:a16="http://schemas.microsoft.com/office/drawing/2014/main" id="{9706E2E6-5028-4AEF-9676-7A7D619EF48C}"/>
              </a:ext>
            </a:extLst>
          </p:cNvPr>
          <p:cNvSpPr>
            <a:spLocks xmlns:a="http://schemas.openxmlformats.org/drawingml/2006/main" noGrp="1"/>
          </p:cNvSpPr>
          <p:nvPr/>
        </p:nvSpPr>
        <p:spPr>
          <a:xfrm xmlns:a="http://schemas.openxmlformats.org/drawingml/2006/main">
            <a:off x="723900" y="3371850"/>
            <a:ext cx="10744200" cy="9525"/>
          </a:xfrm>
          <a:prstGeom xmlns:a="http://schemas.openxmlformats.org/drawingml/2006/main" prst="line">
            <a:avLst/>
          </a:prstGeom>
          <a:noFill xmlns:a="http://schemas.openxmlformats.org/drawingml/2006/main"/>
          <a:ln xmlns:a="http://schemas.openxmlformats.org/drawingml/2006/main" w="19050">
            <a:solidFill>
              <a:srgbClr val="D9E2EC"/>
            </a:solidFill>
            <a:prstDash val="solid"/>
          </a:ln>
        </p:spPr>
      </p:sp>
      <p:sp>
        <p:nvSpPr>
          <p:cNvPr id="12" name="">
            <a:extLst xmlns:a="http://schemas.openxmlformats.org/drawingml/2006/main">
              <a:ext uri="{FF2B5EF4-FFF2-40B4-BE49-F238E27FC236}">
                <a16:creationId xmlns:a16="http://schemas.microsoft.com/office/drawing/2014/main" id="{AEA6B739-2C53-4F93-AE88-24EAB523CE86}"/>
              </a:ext>
            </a:extLst>
          </p:cNvPr>
          <p:cNvSpPr>
            <a:spLocks xmlns:a="http://schemas.openxmlformats.org/drawingml/2006/main" noGrp="1"/>
          </p:cNvSpPr>
          <p:nvPr/>
        </p:nvSpPr>
        <p:spPr>
          <a:xfrm xmlns:a="http://schemas.openxmlformats.org/drawingml/2006/main">
            <a:off x="1524000" y="3638550"/>
            <a:ext cx="9144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2175" b="1" i="0">
                <a:solidFill>
                  <a:srgbClr val="102A43"/>
                </a:solidFill>
              </a:defRPr>
            </a:pPr>
            <a:r>
              <a:rPr sz="2175" b="1" i="0">
                <a:solidFill>
                  <a:srgbClr val="102A43"/>
                </a:solidFill>
              </a:rPr>
              <a:t>Each case was oracle-certified and checked once before timing.</a:t>
            </a:r>
          </a:p>
        </p:txBody>
      </p:sp>
      <p:sp>
        <p:nvSpPr>
          <p:cNvPr id="13" name="">
            <a:extLst xmlns:a="http://schemas.openxmlformats.org/drawingml/2006/main">
              <a:ext uri="{FF2B5EF4-FFF2-40B4-BE49-F238E27FC236}">
                <a16:creationId xmlns:a16="http://schemas.microsoft.com/office/drawing/2014/main" id="{27988C07-E3AA-40C8-BFE4-09ABCD838236}"/>
              </a:ext>
            </a:extLst>
          </p:cNvPr>
          <p:cNvSpPr>
            <a:spLocks xmlns:a="http://schemas.openxmlformats.org/drawingml/2006/main" noGrp="1"/>
          </p:cNvSpPr>
          <p:nvPr/>
        </p:nvSpPr>
        <p:spPr>
          <a:xfrm xmlns:a="http://schemas.openxmlformats.org/drawingml/2006/main">
            <a:off x="1581150" y="4514850"/>
            <a:ext cx="9029700" cy="876300"/>
          </a:xfrm>
          <a:prstGeom xmlns:a="http://schemas.openxmlformats.org/drawingml/2006/main" prst="roundRect">
            <a:avLst>
              <a:gd name="adj" fmla="val 8696"/>
            </a:avLst>
          </a:prstGeom>
          <a:solidFill xmlns:a="http://schemas.openxmlformats.org/drawingml/2006/main">
            <a:srgbClr val="EAF1F8"/>
          </a:solidFill>
          <a:ln xmlns:a="http://schemas.openxmlformats.org/drawingml/2006/main" w="14288">
            <a:solidFill>
              <a:srgbClr val="102A43"/>
            </a:solidFill>
            <a:prstDash val="solid"/>
          </a:ln>
        </p:spPr>
      </p:sp>
      <p:sp>
        <p:nvSpPr>
          <p:cNvPr id="14" name="">
            <a:extLst xmlns:a="http://schemas.openxmlformats.org/drawingml/2006/main">
              <a:ext uri="{FF2B5EF4-FFF2-40B4-BE49-F238E27FC236}">
                <a16:creationId xmlns:a16="http://schemas.microsoft.com/office/drawing/2014/main" id="{6D07AFAA-2F2B-44C0-8D43-25A88AB16C65}"/>
              </a:ext>
            </a:extLst>
          </p:cNvPr>
          <p:cNvSpPr>
            <a:spLocks xmlns:a="http://schemas.openxmlformats.org/drawingml/2006/main" noGrp="1"/>
          </p:cNvSpPr>
          <p:nvPr/>
        </p:nvSpPr>
        <p:spPr>
          <a:xfrm xmlns:a="http://schemas.openxmlformats.org/drawingml/2006/main">
            <a:off x="1847850" y="4686300"/>
            <a:ext cx="84963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650" b="0" i="0">
                <a:solidFill>
                  <a:srgbClr val="243B53"/>
                </a:solidFill>
              </a:defRPr>
            </a:pPr>
            <a:r>
              <a:rPr sz="1650" b="0" i="0">
                <a:solidFill>
                  <a:srgbClr val="243B53"/>
                </a:solidFill>
              </a:rPr>
              <a:t>The 3,600 timing rows carry the corresponding case-level audit result.</a:t>
            </a:r>
          </a:p>
        </p:txBody>
      </p:sp>
      <p:sp>
        <p:nvSpPr>
          <p:cNvPr id="15" name="">
            <a:extLst xmlns:a="http://schemas.openxmlformats.org/drawingml/2006/main">
              <a:ext uri="{FF2B5EF4-FFF2-40B4-BE49-F238E27FC236}">
                <a16:creationId xmlns:a16="http://schemas.microsoft.com/office/drawing/2014/main" id="{809FCE9E-F98A-4596-B8C0-CAA0EDB88125}"/>
              </a:ext>
            </a:extLst>
          </p:cNvPr>
          <p:cNvSpPr>
            <a:spLocks xmlns:a="http://schemas.openxmlformats.org/drawingml/2006/main" noGrp="1"/>
          </p:cNvSpPr>
          <p:nvPr/>
        </p:nvSpPr>
        <p:spPr>
          <a:xfrm xmlns:a="http://schemas.openxmlformats.org/drawingml/2006/main">
            <a:off x="1485900" y="5772150"/>
            <a:ext cx="9220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E76F51"/>
                </a:solidFill>
              </a:defRPr>
            </a:pPr>
            <a:r>
              <a:rPr sz="1500" b="1" i="0">
                <a:solidFill>
                  <a:srgbClr val="E76F51"/>
                </a:solidFill>
              </a:rPr>
              <a:t>These results cover the tested valid cases only.</a:t>
            </a:r>
          </a:p>
        </p:txBody>
      </p:sp>
    </p:spTree>
    <p:extLst>
      <p:ext uri="{BB962C8B-B14F-4D97-AF65-F5344CB8AC3E}">
        <p14:creationId xmlns:p14="http://schemas.microsoft.com/office/powerpoint/2010/main" val="1155511084"/>
      </p:ext>
    </p:extLst>
  </p:cSld>
</p:sld>
</file>

<file path=ppt/slides/slide14.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0DE20C4B-E1E7-4EE4-B873-49F44EB96EC0}"/>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RESULTS</a:t>
            </a:r>
          </a:p>
        </p:txBody>
      </p:sp>
      <p:sp>
        <p:nvSpPr>
          <p:cNvPr id="2" name="">
            <a:extLst xmlns:a="http://schemas.openxmlformats.org/drawingml/2006/main">
              <a:ext uri="{FF2B5EF4-FFF2-40B4-BE49-F238E27FC236}">
                <a16:creationId xmlns:a16="http://schemas.microsoft.com/office/drawing/2014/main" id="{815368DB-4FC6-40BE-B4F0-2B712D7D19EA}"/>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Runtime baseline for the ordinary-list implementation</a:t>
            </a:r>
          </a:p>
        </p:txBody>
      </p:sp>
      <p:sp>
        <p:nvSpPr>
          <p:cNvPr id="3" name="">
            <a:extLst xmlns:a="http://schemas.openxmlformats.org/drawingml/2006/main">
              <a:ext uri="{FF2B5EF4-FFF2-40B4-BE49-F238E27FC236}">
                <a16:creationId xmlns:a16="http://schemas.microsoft.com/office/drawing/2014/main" id="{84409F26-0838-429A-A401-3C5712F35C12}"/>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F7D674A8-2F88-4ACD-A2B4-2455EA41579F}"/>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56AE8A6E-78DC-4F53-B57F-D80ACC2068B3}"/>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CD60B39F-D79A-4298-B1FB-7BC8A67FF39B}"/>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14 / 16</a:t>
            </a:r>
          </a:p>
        </p:txBody>
      </p:sp>
      <p:graphicFrame>
        <p:nvGraphicFramePr>
          <p:cNvPr id="21" name="Chart"/>
          <p:cNvGraphicFramePr/>
          <p:nvPr/>
        </p:nvGraphicFramePr>
        <p:xfrm>
          <a:off xmlns:a="http://schemas.openxmlformats.org/drawingml/2006/main" x="647700" y="1409700"/>
          <a:ext xmlns:a="http://schemas.openxmlformats.org/drawingml/2006/main" cx="7143750" cy="4286250"/>
        </p:xfrm>
        <a:graphic xmlns:a="http://schemas.openxmlformats.org/drawingml/2006/main">
          <a:graphicData uri="http://schemas.openxmlformats.org/drawingml/2006/chart">
            <c:chart xmlns:r="http://schemas.openxmlformats.org/officeDocument/2006/relationships" xmlns:c="http://schemas.openxmlformats.org/drawingml/2006/chart" r:id="rId3"/>
          </a:graphicData>
        </a:graphic>
      </p:graphicFrame>
      <p:sp>
        <p:nvSpPr>
          <p:cNvPr id="8" name="">
            <a:extLst xmlns:a="http://schemas.openxmlformats.org/drawingml/2006/main">
              <a:ext uri="{FF2B5EF4-FFF2-40B4-BE49-F238E27FC236}">
                <a16:creationId xmlns:a16="http://schemas.microsoft.com/office/drawing/2014/main" id="{64BFB22F-D6FF-4516-A271-D770A2515BDA}"/>
              </a:ext>
            </a:extLst>
          </p:cNvPr>
          <p:cNvSpPr>
            <a:spLocks xmlns:a="http://schemas.openxmlformats.org/drawingml/2006/main" noGrp="1"/>
          </p:cNvSpPr>
          <p:nvPr/>
        </p:nvSpPr>
        <p:spPr>
          <a:xfrm xmlns:a="http://schemas.openxmlformats.org/drawingml/2006/main">
            <a:off x="8096250" y="1619250"/>
            <a:ext cx="3238500" cy="1571625"/>
          </a:xfrm>
          <a:prstGeom xmlns:a="http://schemas.openxmlformats.org/drawingml/2006/main" prst="roundRect">
            <a:avLst>
              <a:gd name="adj" fmla="val 4848"/>
            </a:avLst>
          </a:prstGeom>
          <a:solidFill xmlns:a="http://schemas.openxmlformats.org/drawingml/2006/main">
            <a:srgbClr val="E8F5F3"/>
          </a:solidFill>
          <a:ln xmlns:a="http://schemas.openxmlformats.org/drawingml/2006/main" w="11430">
            <a:solidFill>
              <a:srgbClr val="2A9D8F"/>
            </a:solidFill>
            <a:prstDash val="solid"/>
          </a:ln>
        </p:spPr>
      </p:sp>
      <p:sp>
        <p:nvSpPr>
          <p:cNvPr id="9" name="">
            <a:extLst xmlns:a="http://schemas.openxmlformats.org/drawingml/2006/main">
              <a:ext uri="{FF2B5EF4-FFF2-40B4-BE49-F238E27FC236}">
                <a16:creationId xmlns:a16="http://schemas.microsoft.com/office/drawing/2014/main" id="{8E2D32D7-1785-4A8C-AB62-C3EC5123BC96}"/>
              </a:ext>
            </a:extLst>
          </p:cNvPr>
          <p:cNvSpPr>
            <a:spLocks xmlns:a="http://schemas.openxmlformats.org/drawingml/2006/main" noGrp="1"/>
          </p:cNvSpPr>
          <p:nvPr/>
        </p:nvSpPr>
        <p:spPr>
          <a:xfrm xmlns:a="http://schemas.openxmlformats.org/drawingml/2006/main">
            <a:off x="8305800" y="1790700"/>
            <a:ext cx="28194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800" b="1" i="0">
                <a:solidFill>
                  <a:srgbClr val="2A9D8F"/>
                </a:solidFill>
              </a:defRPr>
            </a:pPr>
            <a:r>
              <a:rPr sz="1800" b="1" i="0">
                <a:solidFill>
                  <a:srgbClr val="2A9D8F"/>
                </a:solidFill>
              </a:rPr>
              <a:t>Observed result</a:t>
            </a:r>
          </a:p>
        </p:txBody>
      </p:sp>
      <p:sp>
        <p:nvSpPr>
          <p:cNvPr id="10" name="">
            <a:extLst xmlns:a="http://schemas.openxmlformats.org/drawingml/2006/main">
              <a:ext uri="{FF2B5EF4-FFF2-40B4-BE49-F238E27FC236}">
                <a16:creationId xmlns:a16="http://schemas.microsoft.com/office/drawing/2014/main" id="{D0E7ECC3-485B-4CBD-AD0B-24626DF9638F}"/>
              </a:ext>
            </a:extLst>
          </p:cNvPr>
          <p:cNvSpPr>
            <a:spLocks xmlns:a="http://schemas.openxmlformats.org/drawingml/2006/main" noGrp="1"/>
          </p:cNvSpPr>
          <p:nvPr/>
        </p:nvSpPr>
        <p:spPr>
          <a:xfrm xmlns:a="http://schemas.openxmlformats.org/drawingml/2006/main">
            <a:off x="8305800" y="2276475"/>
            <a:ext cx="28194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85116"/>
          </a:bodyPr>
          <a:lstStyle xmlns:a="http://schemas.openxmlformats.org/drawingml/2006/main"/>
          <a:p xmlns:a="http://schemas.openxmlformats.org/drawingml/2006/main">
            <a:pPr algn="l">
              <a:lnSpc>
                <a:spcPct val="105000"/>
              </a:lnSpc>
              <a:buNone/>
              <a:defRPr sz="1725" b="0" i="0">
                <a:solidFill>
                  <a:srgbClr val="243B53"/>
                </a:solidFill>
              </a:defRPr>
            </a:pPr>
            <a:r>
              <a:rPr sz="1725" b="0" i="0">
                <a:solidFill>
                  <a:srgbClr val="243B53"/>
                </a:solidFill>
              </a:rPr>
              <a:t>Python sort has a much lower median call time at every tested size.</a:t>
            </a:r>
          </a:p>
        </p:txBody>
      </p:sp>
      <p:sp>
        <p:nvSpPr>
          <p:cNvPr id="11" name="">
            <a:extLst xmlns:a="http://schemas.openxmlformats.org/drawingml/2006/main">
              <a:ext uri="{FF2B5EF4-FFF2-40B4-BE49-F238E27FC236}">
                <a16:creationId xmlns:a16="http://schemas.microsoft.com/office/drawing/2014/main" id="{7B57C8D2-9EBE-4220-B39A-F5B8E4FD3799}"/>
              </a:ext>
            </a:extLst>
          </p:cNvPr>
          <p:cNvSpPr>
            <a:spLocks xmlns:a="http://schemas.openxmlformats.org/drawingml/2006/main" noGrp="1"/>
          </p:cNvSpPr>
          <p:nvPr/>
        </p:nvSpPr>
        <p:spPr>
          <a:xfrm xmlns:a="http://schemas.openxmlformats.org/drawingml/2006/main">
            <a:off x="8096250" y="3524250"/>
            <a:ext cx="3238500" cy="1571625"/>
          </a:xfrm>
          <a:prstGeom xmlns:a="http://schemas.openxmlformats.org/drawingml/2006/main" prst="roundRect">
            <a:avLst>
              <a:gd name="adj" fmla="val 4848"/>
            </a:avLst>
          </a:prstGeom>
          <a:solidFill xmlns:a="http://schemas.openxmlformats.org/drawingml/2006/main">
            <a:srgbClr val="EAF1F8"/>
          </a:solidFill>
          <a:ln xmlns:a="http://schemas.openxmlformats.org/drawingml/2006/main" w="11430">
            <a:solidFill>
              <a:srgbClr val="102A43"/>
            </a:solidFill>
            <a:prstDash val="solid"/>
          </a:ln>
        </p:spPr>
      </p:sp>
      <p:sp>
        <p:nvSpPr>
          <p:cNvPr id="12" name="">
            <a:extLst xmlns:a="http://schemas.openxmlformats.org/drawingml/2006/main">
              <a:ext uri="{FF2B5EF4-FFF2-40B4-BE49-F238E27FC236}">
                <a16:creationId xmlns:a16="http://schemas.microsoft.com/office/drawing/2014/main" id="{FD3FEFF4-5583-48F3-846F-BD0E26F2F930}"/>
              </a:ext>
            </a:extLst>
          </p:cNvPr>
          <p:cNvSpPr>
            <a:spLocks xmlns:a="http://schemas.openxmlformats.org/drawingml/2006/main" noGrp="1"/>
          </p:cNvSpPr>
          <p:nvPr/>
        </p:nvSpPr>
        <p:spPr>
          <a:xfrm xmlns:a="http://schemas.openxmlformats.org/drawingml/2006/main">
            <a:off x="8305800" y="3695700"/>
            <a:ext cx="28194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Use of this baseline</a:t>
            </a:r>
          </a:p>
        </p:txBody>
      </p:sp>
      <p:sp>
        <p:nvSpPr>
          <p:cNvPr id="13" name="">
            <a:extLst xmlns:a="http://schemas.openxmlformats.org/drawingml/2006/main">
              <a:ext uri="{FF2B5EF4-FFF2-40B4-BE49-F238E27FC236}">
                <a16:creationId xmlns:a16="http://schemas.microsoft.com/office/drawing/2014/main" id="{18AA5519-F61E-48CF-B4A5-DCB114D508E0}"/>
              </a:ext>
            </a:extLst>
          </p:cNvPr>
          <p:cNvSpPr>
            <a:spLocks xmlns:a="http://schemas.openxmlformats.org/drawingml/2006/main" noGrp="1"/>
          </p:cNvSpPr>
          <p:nvPr/>
        </p:nvSpPr>
        <p:spPr>
          <a:xfrm xmlns:a="http://schemas.openxmlformats.org/drawingml/2006/main">
            <a:off x="8305800" y="4181475"/>
            <a:ext cx="28194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85116"/>
          </a:bodyPr>
          <a:lstStyle xmlns:a="http://schemas.openxmlformats.org/drawingml/2006/main"/>
          <a:p xmlns:a="http://schemas.openxmlformats.org/drawingml/2006/main">
            <a:pPr algn="l">
              <a:lnSpc>
                <a:spcPct val="105000"/>
              </a:lnSpc>
              <a:buNone/>
              <a:defRPr sz="1725" b="0" i="0">
                <a:solidFill>
                  <a:srgbClr val="243B53"/>
                </a:solidFill>
              </a:defRPr>
            </a:pPr>
            <a:r>
              <a:rPr sz="1725" b="0" i="0">
                <a:solidFill>
                  <a:srgbClr val="243B53"/>
                </a:solidFill>
              </a:rPr>
              <a:t>A reference point for future optimization and backend comparisons.</a:t>
            </a:r>
          </a:p>
        </p:txBody>
      </p:sp>
      <p:sp>
        <p:nvSpPr>
          <p:cNvPr id="14" name="">
            <a:extLst xmlns:a="http://schemas.openxmlformats.org/drawingml/2006/main">
              <a:ext uri="{FF2B5EF4-FFF2-40B4-BE49-F238E27FC236}">
                <a16:creationId xmlns:a16="http://schemas.microsoft.com/office/drawing/2014/main" id="{93D34DAA-9E17-4F13-BD78-5BCCF51769DB}"/>
              </a:ext>
            </a:extLst>
          </p:cNvPr>
          <p:cNvSpPr>
            <a:spLocks xmlns:a="http://schemas.openxmlformats.org/drawingml/2006/main" noGrp="1"/>
          </p:cNvSpPr>
          <p:nvPr/>
        </p:nvSpPr>
        <p:spPr>
          <a:xfrm xmlns:a="http://schemas.openxmlformats.org/drawingml/2006/main">
            <a:off x="800100" y="5924550"/>
            <a:ext cx="10591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52606D"/>
                </a:solidFill>
              </a:defRPr>
            </a:pPr>
            <a:r>
              <a:rPr sz="1425" b="0" i="0">
                <a:solidFill>
                  <a:srgbClr val="52606D"/>
                </a:solidFill>
              </a:rPr>
              <a:t>60 valid cases · Apple M4 / CPython 3.12.4 · no asymptotic conclusion</a:t>
            </a:r>
          </a:p>
        </p:txBody>
      </p:sp>
    </p:spTree>
    <p:extLst>
      <p:ext uri="{BB962C8B-B14F-4D97-AF65-F5344CB8AC3E}">
        <p14:creationId xmlns:p14="http://schemas.microsoft.com/office/powerpoint/2010/main" val="739505973"/>
      </p:ext>
    </p:extLst>
  </p:cSld>
</p:sld>
</file>

<file path=ppt/slides/slide15.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58BD3B7E-758B-483D-8E7E-2A0404E3945C}"/>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INTERPRETATION</a:t>
            </a:r>
          </a:p>
        </p:txBody>
      </p:sp>
      <p:sp>
        <p:nvSpPr>
          <p:cNvPr id="2" name="">
            <a:extLst xmlns:a="http://schemas.openxmlformats.org/drawingml/2006/main">
              <a:ext uri="{FF2B5EF4-FFF2-40B4-BE49-F238E27FC236}">
                <a16:creationId xmlns:a16="http://schemas.microsoft.com/office/drawing/2014/main" id="{50D796F0-047C-45DD-9541-54E5DCA989A1}"/>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What the current evidence shows</a:t>
            </a:r>
          </a:p>
        </p:txBody>
      </p:sp>
      <p:sp>
        <p:nvSpPr>
          <p:cNvPr id="3" name="">
            <a:extLst xmlns:a="http://schemas.openxmlformats.org/drawingml/2006/main">
              <a:ext uri="{FF2B5EF4-FFF2-40B4-BE49-F238E27FC236}">
                <a16:creationId xmlns:a16="http://schemas.microsoft.com/office/drawing/2014/main" id="{48A31EF3-6BE4-4BD2-AD76-72E292070CC8}"/>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4BD447D8-71E2-40CF-9936-39034E60AE3C}"/>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63902E01-3F7D-4B65-A456-56D16A3597FD}"/>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341BAA53-6C7E-4BA8-9CC1-9771DF5A943D}"/>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15 / 16</a:t>
            </a:r>
          </a:p>
        </p:txBody>
      </p:sp>
      <p:sp>
        <p:nvSpPr>
          <p:cNvPr id="7" name="">
            <a:extLst xmlns:a="http://schemas.openxmlformats.org/drawingml/2006/main">
              <a:ext uri="{FF2B5EF4-FFF2-40B4-BE49-F238E27FC236}">
                <a16:creationId xmlns:a16="http://schemas.microsoft.com/office/drawing/2014/main" id="{9D45C8C5-2A7F-4EAF-8184-560BE01E77CB}"/>
              </a:ext>
            </a:extLst>
          </p:cNvPr>
          <p:cNvSpPr>
            <a:spLocks xmlns:a="http://schemas.openxmlformats.org/drawingml/2006/main" noGrp="1"/>
          </p:cNvSpPr>
          <p:nvPr/>
        </p:nvSpPr>
        <p:spPr>
          <a:xfrm xmlns:a="http://schemas.openxmlformats.org/drawingml/2006/main">
            <a:off x="742950" y="1447800"/>
            <a:ext cx="5105400" cy="3848100"/>
          </a:xfrm>
          <a:prstGeom xmlns:a="http://schemas.openxmlformats.org/drawingml/2006/main" prst="roundRect">
            <a:avLst>
              <a:gd name="adj" fmla="val 1980"/>
            </a:avLst>
          </a:prstGeom>
          <a:solidFill xmlns:a="http://schemas.openxmlformats.org/drawingml/2006/main">
            <a:srgbClr val="E8F5F3"/>
          </a:solidFill>
          <a:ln xmlns:a="http://schemas.openxmlformats.org/drawingml/2006/main" w="19050">
            <a:solidFill>
              <a:srgbClr val="2A9D8F"/>
            </a:solidFill>
            <a:prstDash val="solid"/>
          </a:ln>
        </p:spPr>
      </p:sp>
      <p:sp>
        <p:nvSpPr>
          <p:cNvPr id="8" name="">
            <a:extLst xmlns:a="http://schemas.openxmlformats.org/drawingml/2006/main">
              <a:ext uri="{FF2B5EF4-FFF2-40B4-BE49-F238E27FC236}">
                <a16:creationId xmlns:a16="http://schemas.microsoft.com/office/drawing/2014/main" id="{E6281862-FF1B-472E-BBA6-0A4EF217CFC8}"/>
              </a:ext>
            </a:extLst>
          </p:cNvPr>
          <p:cNvSpPr>
            <a:spLocks xmlns:a="http://schemas.openxmlformats.org/drawingml/2006/main" noGrp="1"/>
          </p:cNvSpPr>
          <p:nvPr/>
        </p:nvSpPr>
        <p:spPr>
          <a:xfrm xmlns:a="http://schemas.openxmlformats.org/drawingml/2006/main">
            <a:off x="6343650" y="1447800"/>
            <a:ext cx="5105400" cy="3848100"/>
          </a:xfrm>
          <a:prstGeom xmlns:a="http://schemas.openxmlformats.org/drawingml/2006/main" prst="roundRect">
            <a:avLst>
              <a:gd name="adj" fmla="val 1980"/>
            </a:avLst>
          </a:prstGeom>
          <a:solidFill xmlns:a="http://schemas.openxmlformats.org/drawingml/2006/main">
            <a:srgbClr val="FCEEEA"/>
          </a:solidFill>
          <a:ln xmlns:a="http://schemas.openxmlformats.org/drawingml/2006/main" w="19050">
            <a:solidFill>
              <a:srgbClr val="E76F51"/>
            </a:solidFill>
            <a:prstDash val="solid"/>
          </a:ln>
        </p:spPr>
      </p:sp>
      <p:sp>
        <p:nvSpPr>
          <p:cNvPr id="9" name="">
            <a:extLst xmlns:a="http://schemas.openxmlformats.org/drawingml/2006/main">
              <a:ext uri="{FF2B5EF4-FFF2-40B4-BE49-F238E27FC236}">
                <a16:creationId xmlns:a16="http://schemas.microsoft.com/office/drawing/2014/main" id="{64DFC983-2082-4B33-A34F-98EFA20DCD5B}"/>
              </a:ext>
            </a:extLst>
          </p:cNvPr>
          <p:cNvSpPr>
            <a:spLocks xmlns:a="http://schemas.openxmlformats.org/drawingml/2006/main" noGrp="1"/>
          </p:cNvSpPr>
          <p:nvPr/>
        </p:nvSpPr>
        <p:spPr>
          <a:xfrm xmlns:a="http://schemas.openxmlformats.org/drawingml/2006/main">
            <a:off x="1009650" y="1695450"/>
            <a:ext cx="4572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2A9D8F"/>
                </a:solidFill>
              </a:defRPr>
            </a:pPr>
            <a:r>
              <a:rPr sz="1950" b="1" i="0">
                <a:solidFill>
                  <a:srgbClr val="2A9D8F"/>
                </a:solidFill>
              </a:rPr>
              <a:t>Current results</a:t>
            </a:r>
          </a:p>
        </p:txBody>
      </p:sp>
      <p:sp>
        <p:nvSpPr>
          <p:cNvPr id="10" name="">
            <a:extLst xmlns:a="http://schemas.openxmlformats.org/drawingml/2006/main">
              <a:ext uri="{FF2B5EF4-FFF2-40B4-BE49-F238E27FC236}">
                <a16:creationId xmlns:a16="http://schemas.microsoft.com/office/drawing/2014/main" id="{FCE50F9B-5CD2-4978-A5BD-31318361AC71}"/>
              </a:ext>
            </a:extLst>
          </p:cNvPr>
          <p:cNvSpPr>
            <a:spLocks xmlns:a="http://schemas.openxmlformats.org/drawingml/2006/main" noGrp="1"/>
          </p:cNvSpPr>
          <p:nvPr/>
        </p:nvSpPr>
        <p:spPr>
          <a:xfrm xmlns:a="http://schemas.openxmlformats.org/drawingml/2006/main">
            <a:off x="6610350" y="1695450"/>
            <a:ext cx="4572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Main limits</a:t>
            </a:r>
          </a:p>
        </p:txBody>
      </p:sp>
      <p:sp>
        <p:nvSpPr>
          <p:cNvPr id="11" name="">
            <a:extLst xmlns:a="http://schemas.openxmlformats.org/drawingml/2006/main">
              <a:ext uri="{FF2B5EF4-FFF2-40B4-BE49-F238E27FC236}">
                <a16:creationId xmlns:a16="http://schemas.microsoft.com/office/drawing/2014/main" id="{731D4A8F-6280-4509-B399-21588843090D}"/>
              </a:ext>
            </a:extLst>
          </p:cNvPr>
          <p:cNvSpPr>
            <a:spLocks xmlns:a="http://schemas.openxmlformats.org/drawingml/2006/main" noGrp="1"/>
          </p:cNvSpPr>
          <p:nvPr/>
        </p:nvSpPr>
        <p:spPr>
          <a:xfrm xmlns:a="http://schemas.openxmlformats.org/drawingml/2006/main">
            <a:off x="1066800" y="26479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12" name="">
            <a:extLst xmlns:a="http://schemas.openxmlformats.org/drawingml/2006/main">
              <a:ext uri="{FF2B5EF4-FFF2-40B4-BE49-F238E27FC236}">
                <a16:creationId xmlns:a16="http://schemas.microsoft.com/office/drawing/2014/main" id="{5EE921BA-CB7A-49D5-AEDE-A193D9F94A16}"/>
              </a:ext>
            </a:extLst>
          </p:cNvPr>
          <p:cNvSpPr>
            <a:spLocks xmlns:a="http://schemas.openxmlformats.org/drawingml/2006/main" noGrp="1"/>
          </p:cNvSpPr>
          <p:nvPr/>
        </p:nvSpPr>
        <p:spPr>
          <a:xfrm xmlns:a="http://schemas.openxmlformats.org/drawingml/2006/main">
            <a:off x="1276350" y="2571750"/>
            <a:ext cx="41338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650" b="0" i="0">
                <a:solidFill>
                  <a:srgbClr val="243B53"/>
                </a:solidFill>
              </a:defRPr>
            </a:pPr>
            <a:r>
              <a:rPr sz="1650" b="0" i="0">
                <a:solidFill>
                  <a:srgbClr val="243B53"/>
                </a:solidFill>
              </a:rPr>
              <a:t>Executable reconstruction with output recovered from maintained state</a:t>
            </a:r>
          </a:p>
        </p:txBody>
      </p:sp>
      <p:sp>
        <p:nvSpPr>
          <p:cNvPr id="13" name="">
            <a:extLst xmlns:a="http://schemas.openxmlformats.org/drawingml/2006/main">
              <a:ext uri="{FF2B5EF4-FFF2-40B4-BE49-F238E27FC236}">
                <a16:creationId xmlns:a16="http://schemas.microsoft.com/office/drawing/2014/main" id="{85E4D424-42AC-4604-B025-9CF16C18D516}"/>
              </a:ext>
            </a:extLst>
          </p:cNvPr>
          <p:cNvSpPr>
            <a:spLocks xmlns:a="http://schemas.openxmlformats.org/drawingml/2006/main" noGrp="1"/>
          </p:cNvSpPr>
          <p:nvPr/>
        </p:nvSpPr>
        <p:spPr>
          <a:xfrm xmlns:a="http://schemas.openxmlformats.org/drawingml/2006/main">
            <a:off x="1066800" y="39052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14" name="">
            <a:extLst xmlns:a="http://schemas.openxmlformats.org/drawingml/2006/main">
              <a:ext uri="{FF2B5EF4-FFF2-40B4-BE49-F238E27FC236}">
                <a16:creationId xmlns:a16="http://schemas.microsoft.com/office/drawing/2014/main" id="{7AAF8BB5-7AC4-4CAE-A2EB-53F8397BFEA6}"/>
              </a:ext>
            </a:extLst>
          </p:cNvPr>
          <p:cNvSpPr>
            <a:spLocks xmlns:a="http://schemas.openxmlformats.org/drawingml/2006/main" noGrp="1"/>
          </p:cNvSpPr>
          <p:nvPr/>
        </p:nvSpPr>
        <p:spPr>
          <a:xfrm xmlns:a="http://schemas.openxmlformats.org/drawingml/2006/main">
            <a:off x="1276350" y="3829050"/>
            <a:ext cx="41338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650" b="0" i="0">
                <a:solidFill>
                  <a:srgbClr val="243B53"/>
                </a:solidFill>
              </a:defRPr>
            </a:pPr>
            <a:r>
              <a:rPr sz="1650" b="0" i="0">
                <a:solidFill>
                  <a:srgbClr val="243B53"/>
                </a:solidFill>
              </a:rPr>
              <a:t>Correct outputs and runtime results for the 60 cases in this experiment</a:t>
            </a:r>
          </a:p>
        </p:txBody>
      </p:sp>
      <p:sp>
        <p:nvSpPr>
          <p:cNvPr id="15" name="">
            <a:extLst xmlns:a="http://schemas.openxmlformats.org/drawingml/2006/main">
              <a:ext uri="{FF2B5EF4-FFF2-40B4-BE49-F238E27FC236}">
                <a16:creationId xmlns:a16="http://schemas.microsoft.com/office/drawing/2014/main" id="{1BC4E310-9A42-49D1-BA2D-CA4CA8601558}"/>
              </a:ext>
            </a:extLst>
          </p:cNvPr>
          <p:cNvSpPr>
            <a:spLocks xmlns:a="http://schemas.openxmlformats.org/drawingml/2006/main" noGrp="1"/>
          </p:cNvSpPr>
          <p:nvPr/>
        </p:nvSpPr>
        <p:spPr>
          <a:xfrm xmlns:a="http://schemas.openxmlformats.org/drawingml/2006/main">
            <a:off x="6667500" y="2647950"/>
            <a:ext cx="95250" cy="95250"/>
          </a:xfrm>
          <a:prstGeom xmlns:a="http://schemas.openxmlformats.org/drawingml/2006/main" prst="ellipse">
            <a:avLst/>
          </a:prstGeom>
          <a:solidFill xmlns:a="http://schemas.openxmlformats.org/drawingml/2006/main">
            <a:srgbClr val="E76F51"/>
          </a:solidFill>
          <a:ln xmlns:a="http://schemas.openxmlformats.org/drawingml/2006/main" w="0">
            <a:solidFill>
              <a:srgbClr val="E76F51"/>
            </a:solidFill>
            <a:prstDash val="solid"/>
          </a:ln>
        </p:spPr>
      </p:sp>
      <p:sp>
        <p:nvSpPr>
          <p:cNvPr id="16" name="">
            <a:extLst xmlns:a="http://schemas.openxmlformats.org/drawingml/2006/main">
              <a:ext uri="{FF2B5EF4-FFF2-40B4-BE49-F238E27FC236}">
                <a16:creationId xmlns:a16="http://schemas.microsoft.com/office/drawing/2014/main" id="{D7D933C7-2996-4B27-95B9-05858D34B642}"/>
              </a:ext>
            </a:extLst>
          </p:cNvPr>
          <p:cNvSpPr>
            <a:spLocks xmlns:a="http://schemas.openxmlformats.org/drawingml/2006/main" noGrp="1"/>
          </p:cNvSpPr>
          <p:nvPr/>
        </p:nvSpPr>
        <p:spPr>
          <a:xfrm xmlns:a="http://schemas.openxmlformats.org/drawingml/2006/main">
            <a:off x="6877050" y="2571750"/>
            <a:ext cx="41338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650" b="0" i="0">
                <a:solidFill>
                  <a:srgbClr val="243B53"/>
                </a:solidFill>
              </a:defRPr>
            </a:pPr>
            <a:r>
              <a:rPr sz="1650" b="0" i="0">
                <a:solidFill>
                  <a:srgbClr val="243B53"/>
                </a:solidFill>
              </a:rPr>
              <a:t>Ordinary lists do not establish a linear-time implementation</a:t>
            </a:r>
          </a:p>
        </p:txBody>
      </p:sp>
      <p:sp>
        <p:nvSpPr>
          <p:cNvPr id="17" name="">
            <a:extLst xmlns:a="http://schemas.openxmlformats.org/drawingml/2006/main">
              <a:ext uri="{FF2B5EF4-FFF2-40B4-BE49-F238E27FC236}">
                <a16:creationId xmlns:a16="http://schemas.microsoft.com/office/drawing/2014/main" id="{C71BA648-2A21-4AD8-8289-570878CB46F1}"/>
              </a:ext>
            </a:extLst>
          </p:cNvPr>
          <p:cNvSpPr>
            <a:spLocks xmlns:a="http://schemas.openxmlformats.org/drawingml/2006/main" noGrp="1"/>
          </p:cNvSpPr>
          <p:nvPr/>
        </p:nvSpPr>
        <p:spPr>
          <a:xfrm xmlns:a="http://schemas.openxmlformats.org/drawingml/2006/main">
            <a:off x="6667500" y="3905250"/>
            <a:ext cx="95250" cy="95250"/>
          </a:xfrm>
          <a:prstGeom xmlns:a="http://schemas.openxmlformats.org/drawingml/2006/main" prst="ellipse">
            <a:avLst/>
          </a:prstGeom>
          <a:solidFill xmlns:a="http://schemas.openxmlformats.org/drawingml/2006/main">
            <a:srgbClr val="E76F51"/>
          </a:solidFill>
          <a:ln xmlns:a="http://schemas.openxmlformats.org/drawingml/2006/main" w="0">
            <a:solidFill>
              <a:srgbClr val="E76F51"/>
            </a:solidFill>
            <a:prstDash val="solid"/>
          </a:ln>
        </p:spPr>
      </p:sp>
      <p:sp>
        <p:nvSpPr>
          <p:cNvPr id="18" name="">
            <a:extLst xmlns:a="http://schemas.openxmlformats.org/drawingml/2006/main">
              <a:ext uri="{FF2B5EF4-FFF2-40B4-BE49-F238E27FC236}">
                <a16:creationId xmlns:a16="http://schemas.microsoft.com/office/drawing/2014/main" id="{93658816-F241-45C0-8CF2-0CD3DA6CC697}"/>
              </a:ext>
            </a:extLst>
          </p:cNvPr>
          <p:cNvSpPr>
            <a:spLocks xmlns:a="http://schemas.openxmlformats.org/drawingml/2006/main" noGrp="1"/>
          </p:cNvSpPr>
          <p:nvPr/>
        </p:nvSpPr>
        <p:spPr>
          <a:xfrm xmlns:a="http://schemas.openxmlformats.org/drawingml/2006/main">
            <a:off x="6877050" y="3829050"/>
            <a:ext cx="41338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650" b="0" i="0">
                <a:solidFill>
                  <a:srgbClr val="243B53"/>
                </a:solidFill>
              </a:defRPr>
            </a:pPr>
            <a:r>
              <a:rPr sz="1650" b="0" i="0">
                <a:solidFill>
                  <a:srgbClr val="243B53"/>
                </a:solidFill>
              </a:rPr>
              <a:t>Five tested sizes do not establish asymptotic complexity</a:t>
            </a:r>
          </a:p>
        </p:txBody>
      </p:sp>
      <p:sp>
        <p:nvSpPr>
          <p:cNvPr id="19" name="">
            <a:extLst xmlns:a="http://schemas.openxmlformats.org/drawingml/2006/main">
              <a:ext uri="{FF2B5EF4-FFF2-40B4-BE49-F238E27FC236}">
                <a16:creationId xmlns:a16="http://schemas.microsoft.com/office/drawing/2014/main" id="{C5DBBD18-E9FC-4554-A0D2-9CA47F69A950}"/>
              </a:ext>
            </a:extLst>
          </p:cNvPr>
          <p:cNvSpPr>
            <a:spLocks xmlns:a="http://schemas.openxmlformats.org/drawingml/2006/main" noGrp="1"/>
          </p:cNvSpPr>
          <p:nvPr/>
        </p:nvSpPr>
        <p:spPr>
          <a:xfrm xmlns:a="http://schemas.openxmlformats.org/drawingml/2006/main">
            <a:off x="1428750" y="5715000"/>
            <a:ext cx="9334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Recognition was not evaluated. Paper and reference use different timing scopes.</a:t>
            </a:r>
          </a:p>
        </p:txBody>
      </p:sp>
    </p:spTree>
    <p:extLst>
      <p:ext uri="{BB962C8B-B14F-4D97-AF65-F5344CB8AC3E}">
        <p14:creationId xmlns:p14="http://schemas.microsoft.com/office/powerpoint/2010/main" val="48080285"/>
      </p:ext>
    </p:extLst>
  </p:cSld>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45431129"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NEXT STEP</a:t>
            </a:r>
            <a:endParaRPr/>
          </a:p>
        </p:txBody>
      </p:sp>
      <p:sp>
        <p:nvSpPr>
          <p:cNvPr id="412599512"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Possible next step: a finger-tree backend</a:t>
            </a:r>
            <a:endParaRPr/>
          </a:p>
        </p:txBody>
      </p:sp>
      <p:sp>
        <p:nvSpPr>
          <p:cNvPr id="1486370621" name=""/>
          <p:cNvSpPr>
            <a:spLocks noGrp="1"/>
          </p:cNvSpPr>
          <p:nvPr/>
        </p:nvSpPr>
        <p:spPr bwMode="auto">
          <a:xfrm>
            <a:off x="609600" y="1085850"/>
            <a:ext cx="10972800" cy="9525"/>
          </a:xfrm>
          <a:prstGeom prst="line">
            <a:avLst/>
          </a:prstGeom>
          <a:noFill/>
          <a:ln w="28575">
            <a:solidFill>
              <a:srgbClr val="2A9D8F"/>
            </a:solidFill>
            <a:prstDash val="solid"/>
          </a:ln>
        </p:spPr>
      </p:sp>
      <p:sp>
        <p:nvSpPr>
          <p:cNvPr id="1036754347" name=""/>
          <p:cNvSpPr>
            <a:spLocks noGrp="1"/>
          </p:cNvSpPr>
          <p:nvPr/>
        </p:nvSpPr>
        <p:spPr bwMode="auto">
          <a:xfrm>
            <a:off x="609600" y="6477000"/>
            <a:ext cx="10972800" cy="9525"/>
          </a:xfrm>
          <a:prstGeom prst="line">
            <a:avLst/>
          </a:prstGeom>
          <a:noFill/>
          <a:ln w="9525">
            <a:solidFill>
              <a:srgbClr val="D9E2EC"/>
            </a:solidFill>
            <a:prstDash val="solid"/>
          </a:ln>
        </p:spPr>
      </p:sp>
      <p:sp>
        <p:nvSpPr>
          <p:cNvPr id="849113037"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2018599268"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16 / 16</a:t>
            </a:r>
            <a:endParaRPr/>
          </a:p>
        </p:txBody>
      </p:sp>
      <p:sp>
        <p:nvSpPr>
          <p:cNvPr id="1137892886" name=""/>
          <p:cNvSpPr>
            <a:spLocks noGrp="1"/>
          </p:cNvSpPr>
          <p:nvPr/>
        </p:nvSpPr>
        <p:spPr bwMode="auto">
          <a:xfrm>
            <a:off x="1066800" y="1485900"/>
            <a:ext cx="10058400" cy="5143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2100" b="1" i="0">
                <a:solidFill>
                  <a:srgbClr val="102A43"/>
                </a:solidFill>
              </a:defRPr>
            </a:pPr>
            <a:r>
              <a:rPr sz="2100" b="1" i="0">
                <a:solidFill>
                  <a:srgbClr val="102A43"/>
                </a:solidFill>
              </a:rPr>
              <a:t>The ordinary-list implementation provides a tested reference point.</a:t>
            </a:r>
            <a:endParaRPr/>
          </a:p>
        </p:txBody>
      </p:sp>
      <p:sp>
        <p:nvSpPr>
          <p:cNvPr id="1987979404" name=""/>
          <p:cNvSpPr>
            <a:spLocks noGrp="1"/>
          </p:cNvSpPr>
          <p:nvPr/>
        </p:nvSpPr>
        <p:spPr bwMode="auto">
          <a:xfrm>
            <a:off x="1638300" y="2324100"/>
            <a:ext cx="8915400" cy="952500"/>
          </a:xfrm>
          <a:prstGeom prst="roundRect">
            <a:avLst>
              <a:gd name="adj" fmla="val 8000"/>
            </a:avLst>
          </a:prstGeom>
          <a:solidFill>
            <a:srgbClr val="E8F5F3"/>
          </a:solidFill>
          <a:ln w="14288">
            <a:solidFill>
              <a:srgbClr val="2A9D8F"/>
            </a:solidFill>
            <a:prstDash val="solid"/>
          </a:ln>
        </p:spPr>
      </p:sp>
      <p:sp>
        <p:nvSpPr>
          <p:cNvPr id="1709749983" name=""/>
          <p:cNvSpPr>
            <a:spLocks noGrp="1"/>
          </p:cNvSpPr>
          <p:nvPr/>
        </p:nvSpPr>
        <p:spPr bwMode="auto">
          <a:xfrm>
            <a:off x="1943100" y="2552700"/>
            <a:ext cx="8305800" cy="514350"/>
          </a:xfrm>
          <a:prstGeom prst="rect">
            <a:avLst/>
          </a:prstGeom>
          <a:noFill/>
          <a:ln w="0">
            <a:noFill/>
            <a:prstDash val="solid"/>
          </a:ln>
        </p:spPr>
        <p:txBody>
          <a:bodyPr wrap="square" lIns="38100" tIns="19050" rIns="38100" bIns="19050" anchor="ctr">
            <a:normAutofit fontScale="82672"/>
          </a:bodyPr>
          <a:lstStyle/>
          <a:p>
            <a:pPr algn="ctr">
              <a:lnSpc>
                <a:spcPct val="105000"/>
              </a:lnSpc>
              <a:buNone/>
              <a:defRPr sz="1800" b="0" i="0">
                <a:solidFill>
                  <a:srgbClr val="243B53"/>
                </a:solidFill>
              </a:defRPr>
            </a:pPr>
            <a:r>
              <a:rPr sz="1800" b="0" i="0">
                <a:solidFill>
                  <a:srgbClr val="243B53"/>
                </a:solidFill>
              </a:rPr>
              <a:t>A new backend would keep the same Step 1/2/3 behavior while changing the sibling-list operations.</a:t>
            </a:r>
            <a:endParaRPr/>
          </a:p>
        </p:txBody>
      </p:sp>
      <p:sp>
        <p:nvSpPr>
          <p:cNvPr id="1761006603" name=""/>
          <p:cNvSpPr>
            <a:spLocks noGrp="1"/>
          </p:cNvSpPr>
          <p:nvPr/>
        </p:nvSpPr>
        <p:spPr bwMode="auto">
          <a:xfrm>
            <a:off x="1066800" y="3829050"/>
            <a:ext cx="1005840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00" b="1" i="0">
                <a:solidFill>
                  <a:srgbClr val="2A9D8F"/>
                </a:solidFill>
              </a:defRPr>
            </a:pPr>
            <a:r>
              <a:rPr sz="1900" b="1" i="0">
                <a:solidFill>
                  <a:srgbClr val="2A9D8F"/>
                </a:solidFill>
              </a:rPr>
              <a:t>Discussion with the supervisor</a:t>
            </a:r>
            <a:endParaRPr/>
          </a:p>
        </p:txBody>
      </p:sp>
      <p:sp>
        <p:nvSpPr>
          <p:cNvPr id="720231410" name=""/>
          <p:cNvSpPr>
            <a:spLocks noGrp="1"/>
          </p:cNvSpPr>
          <p:nvPr/>
        </p:nvSpPr>
        <p:spPr bwMode="auto">
          <a:xfrm>
            <a:off x="1066800" y="4343400"/>
            <a:ext cx="10058400" cy="1543050"/>
          </a:xfrm>
          <a:prstGeom prst="roundRect">
            <a:avLst>
              <a:gd name="adj" fmla="val 4938"/>
            </a:avLst>
          </a:prstGeom>
          <a:solidFill>
            <a:srgbClr val="102A43"/>
          </a:solidFill>
          <a:ln w="11430">
            <a:solidFill>
              <a:srgbClr val="102A43"/>
            </a:solidFill>
            <a:prstDash val="solid"/>
          </a:ln>
        </p:spPr>
      </p:sp>
      <p:sp>
        <p:nvSpPr>
          <p:cNvPr id="1617572224" name=""/>
          <p:cNvSpPr>
            <a:spLocks noGrp="1"/>
          </p:cNvSpPr>
          <p:nvPr/>
        </p:nvSpPr>
        <p:spPr bwMode="auto">
          <a:xfrm>
            <a:off x="1466849" y="4533900"/>
            <a:ext cx="9258300" cy="11620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0" i="0">
                <a:solidFill>
                  <a:srgbClr val="FFFFFF"/>
                </a:solidFill>
              </a:defRPr>
            </a:pPr>
            <a:r>
              <a:rPr sz="1800" b="0" i="0">
                <a:solidFill>
                  <a:srgbClr val="FFFFFF"/>
                </a:solidFill>
              </a:rPr>
              <a:t>1. Should I target the historical heterogeneous finger tree or an equivalent backend?</a:t>
            </a:r>
            <a:endParaRPr/>
          </a:p>
          <a:p>
            <a:pPr algn="l">
              <a:lnSpc>
                <a:spcPct val="105000"/>
              </a:lnSpc>
              <a:buNone/>
              <a:defRPr sz="1800" b="0" i="0">
                <a:solidFill>
                  <a:srgbClr val="FFFFFF"/>
                </a:solidFill>
              </a:defRPr>
            </a:pPr>
            <a:r>
              <a:rPr sz="1800" b="0" i="0">
                <a:solidFill>
                  <a:srgbClr val="FFFFFF"/>
                </a:solidFill>
              </a:rPr>
              <a:t>2. Is a tested, semantically equivalent prototype enough, or should I also prove the required amortized operation bounds?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ns1="http://schemas.openxmlformats.org/officeDocument/2006/docPropsVTypes">
  <TotalTime>0</TotalTime>
  <Words>0</Words>
  <Application>ONLYOFFICE/9.4.0.129</Application>
  <PresentationFormat>On-screen Show (4:3)</PresentationFormat>
  <Paragraphs>0</Paragraphs>
  <Slides>16</Slides>
  <Notes>16</Notes>
  <HiddenSlides>0</HiddenSlides>
  <MMClips>2</MMClips>
  <ScaleCrop>0</ScaleCrop>
  <HeadingPairs>
    <ns1:vector size="4" baseType="variant">
      <ns1:variant>
        <ns1:lpstr>Theme</ns1:lpstr>
      </ns1:variant>
      <ns1:variant>
        <ns1:i4>1</ns1:i4>
      </ns1:variant>
      <ns1:variant>
        <ns1:lpstr>Slide Titles</ns1:lpstr>
      </ns1:variant>
      <ns1:variant>
        <ns1:i4>16</ns1:i4>
      </ns1:variant>
    </ns1:vector>
  </HeadingPairs>
  <TitlesOfParts>
    <ns1:vector size="17" baseType="lpstr">
      <ns1:lpstr>Theme 1</ns1:lpstr>
      <ns1:lpstr>Slide 1</ns1:lpstr>
      <ns1:lpstr>Slide 2</ns1:lpstr>
      <ns1:lpstr>Slide 3</ns1:lpstr>
      <ns1:lpstr>Slide 4</ns1:lpstr>
      <ns1:lpstr>Slide 5</ns1:lpstr>
      <ns1:lpstr>Slide 6</ns1:lpstr>
      <ns1:lpstr>Slide 7</ns1:lpstr>
      <ns1:lpstr>Slide 8</ns1:lpstr>
      <ns1:lpstr>Slide 9</ns1:lpstr>
      <ns1:lpstr>Slide 10</ns1:lpstr>
      <ns1:lpstr>Slide 11</ns1:lpstr>
      <ns1:lpstr>Slide 12</ns1:lpstr>
      <ns1:lpstr>Slide 13</ns1:lpstr>
      <ns1:lpstr>Slide 14</ns1:lpstr>
      <ns1:lpstr>Slide 15</ns1:lpstr>
      <ns1:lpstr>Slide 16</ns1:lpstr>
    </ns1: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
  <cp:revision>2</cp:revision>
  <dcterms:modified xsi:type="dcterms:W3CDTF">2026-09-15T12:11:04Z</dcterms:modified>
</cp:coreProperties>
</file>